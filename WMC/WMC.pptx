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69" r:id="rId3"/>
    <p:sldMasterId id="2147483675" r:id="rId4"/>
  </p:sldMasterIdLst>
  <p:notesMasterIdLst>
    <p:notesMasterId r:id="rId327"/>
  </p:notesMasterIdLst>
  <p:sldIdLst>
    <p:sldId id="266" r:id="rId5"/>
    <p:sldId id="267" r:id="rId6"/>
    <p:sldId id="316" r:id="rId7"/>
    <p:sldId id="268" r:id="rId8"/>
    <p:sldId id="317" r:id="rId9"/>
    <p:sldId id="269" r:id="rId10"/>
    <p:sldId id="318" r:id="rId11"/>
    <p:sldId id="270" r:id="rId12"/>
    <p:sldId id="319" r:id="rId13"/>
    <p:sldId id="271" r:id="rId14"/>
    <p:sldId id="320" r:id="rId15"/>
    <p:sldId id="272" r:id="rId16"/>
    <p:sldId id="321" r:id="rId17"/>
    <p:sldId id="273" r:id="rId18"/>
    <p:sldId id="322" r:id="rId19"/>
    <p:sldId id="274" r:id="rId20"/>
    <p:sldId id="323" r:id="rId21"/>
    <p:sldId id="275" r:id="rId22"/>
    <p:sldId id="324" r:id="rId23"/>
    <p:sldId id="276" r:id="rId24"/>
    <p:sldId id="325" r:id="rId25"/>
    <p:sldId id="326" r:id="rId26"/>
    <p:sldId id="277" r:id="rId27"/>
    <p:sldId id="327" r:id="rId28"/>
    <p:sldId id="328" r:id="rId29"/>
    <p:sldId id="278" r:id="rId30"/>
    <p:sldId id="329" r:id="rId31"/>
    <p:sldId id="330" r:id="rId32"/>
    <p:sldId id="279" r:id="rId33"/>
    <p:sldId id="331" r:id="rId34"/>
    <p:sldId id="332" r:id="rId35"/>
    <p:sldId id="280" r:id="rId36"/>
    <p:sldId id="333" r:id="rId37"/>
    <p:sldId id="334" r:id="rId38"/>
    <p:sldId id="281" r:id="rId39"/>
    <p:sldId id="282" r:id="rId40"/>
    <p:sldId id="335" r:id="rId41"/>
    <p:sldId id="283" r:id="rId42"/>
    <p:sldId id="336" r:id="rId43"/>
    <p:sldId id="284" r:id="rId44"/>
    <p:sldId id="337" r:id="rId45"/>
    <p:sldId id="338" r:id="rId46"/>
    <p:sldId id="339" r:id="rId47"/>
    <p:sldId id="340" r:id="rId48"/>
    <p:sldId id="285" r:id="rId49"/>
    <p:sldId id="341" r:id="rId50"/>
    <p:sldId id="286" r:id="rId51"/>
    <p:sldId id="342" r:id="rId52"/>
    <p:sldId id="287" r:id="rId53"/>
    <p:sldId id="343" r:id="rId54"/>
    <p:sldId id="288" r:id="rId55"/>
    <p:sldId id="344" r:id="rId56"/>
    <p:sldId id="345" r:id="rId57"/>
    <p:sldId id="289" r:id="rId58"/>
    <p:sldId id="346" r:id="rId59"/>
    <p:sldId id="347" r:id="rId60"/>
    <p:sldId id="290" r:id="rId61"/>
    <p:sldId id="348" r:id="rId62"/>
    <p:sldId id="349" r:id="rId63"/>
    <p:sldId id="291" r:id="rId64"/>
    <p:sldId id="350" r:id="rId65"/>
    <p:sldId id="351" r:id="rId66"/>
    <p:sldId id="352" r:id="rId67"/>
    <p:sldId id="292" r:id="rId68"/>
    <p:sldId id="293" r:id="rId69"/>
    <p:sldId id="294" r:id="rId70"/>
    <p:sldId id="295" r:id="rId71"/>
    <p:sldId id="296" r:id="rId72"/>
    <p:sldId id="297" r:id="rId73"/>
    <p:sldId id="298" r:id="rId74"/>
    <p:sldId id="299" r:id="rId75"/>
    <p:sldId id="300" r:id="rId76"/>
    <p:sldId id="301" r:id="rId77"/>
    <p:sldId id="302" r:id="rId78"/>
    <p:sldId id="303" r:id="rId79"/>
    <p:sldId id="304" r:id="rId80"/>
    <p:sldId id="305" r:id="rId81"/>
    <p:sldId id="353" r:id="rId82"/>
    <p:sldId id="354" r:id="rId83"/>
    <p:sldId id="306" r:id="rId84"/>
    <p:sldId id="355" r:id="rId85"/>
    <p:sldId id="356" r:id="rId86"/>
    <p:sldId id="357" r:id="rId87"/>
    <p:sldId id="307" r:id="rId88"/>
    <p:sldId id="308" r:id="rId89"/>
    <p:sldId id="358" r:id="rId90"/>
    <p:sldId id="359" r:id="rId91"/>
    <p:sldId id="309" r:id="rId92"/>
    <p:sldId id="360" r:id="rId93"/>
    <p:sldId id="310" r:id="rId94"/>
    <p:sldId id="361" r:id="rId95"/>
    <p:sldId id="311" r:id="rId96"/>
    <p:sldId id="312" r:id="rId97"/>
    <p:sldId id="313" r:id="rId98"/>
    <p:sldId id="314" r:id="rId99"/>
    <p:sldId id="401" r:id="rId100"/>
    <p:sldId id="402" r:id="rId101"/>
    <p:sldId id="403" r:id="rId102"/>
    <p:sldId id="404" r:id="rId103"/>
    <p:sldId id="406" r:id="rId104"/>
    <p:sldId id="405" r:id="rId105"/>
    <p:sldId id="391" r:id="rId106"/>
    <p:sldId id="407" r:id="rId107"/>
    <p:sldId id="409" r:id="rId108"/>
    <p:sldId id="410" r:id="rId109"/>
    <p:sldId id="411" r:id="rId110"/>
    <p:sldId id="412" r:id="rId111"/>
    <p:sldId id="413" r:id="rId112"/>
    <p:sldId id="414" r:id="rId113"/>
    <p:sldId id="415" r:id="rId114"/>
    <p:sldId id="416" r:id="rId115"/>
    <p:sldId id="417" r:id="rId116"/>
    <p:sldId id="418" r:id="rId117"/>
    <p:sldId id="419" r:id="rId118"/>
    <p:sldId id="420" r:id="rId119"/>
    <p:sldId id="421" r:id="rId120"/>
    <p:sldId id="422" r:id="rId121"/>
    <p:sldId id="423" r:id="rId122"/>
    <p:sldId id="424" r:id="rId123"/>
    <p:sldId id="425" r:id="rId124"/>
    <p:sldId id="426" r:id="rId125"/>
    <p:sldId id="427" r:id="rId126"/>
    <p:sldId id="428" r:id="rId127"/>
    <p:sldId id="429" r:id="rId128"/>
    <p:sldId id="430" r:id="rId129"/>
    <p:sldId id="431" r:id="rId130"/>
    <p:sldId id="432" r:id="rId131"/>
    <p:sldId id="433" r:id="rId132"/>
    <p:sldId id="434" r:id="rId133"/>
    <p:sldId id="435" r:id="rId134"/>
    <p:sldId id="264" r:id="rId135"/>
    <p:sldId id="265" r:id="rId136"/>
    <p:sldId id="436" r:id="rId137"/>
    <p:sldId id="437" r:id="rId138"/>
    <p:sldId id="438" r:id="rId139"/>
    <p:sldId id="439" r:id="rId140"/>
    <p:sldId id="440" r:id="rId141"/>
    <p:sldId id="441" r:id="rId142"/>
    <p:sldId id="442" r:id="rId143"/>
    <p:sldId id="443" r:id="rId144"/>
    <p:sldId id="444" r:id="rId145"/>
    <p:sldId id="445" r:id="rId146"/>
    <p:sldId id="446" r:id="rId147"/>
    <p:sldId id="447" r:id="rId148"/>
    <p:sldId id="448" r:id="rId149"/>
    <p:sldId id="449" r:id="rId150"/>
    <p:sldId id="450" r:id="rId151"/>
    <p:sldId id="451" r:id="rId152"/>
    <p:sldId id="452" r:id="rId153"/>
    <p:sldId id="453" r:id="rId154"/>
    <p:sldId id="454" r:id="rId155"/>
    <p:sldId id="455" r:id="rId156"/>
    <p:sldId id="456" r:id="rId157"/>
    <p:sldId id="457" r:id="rId158"/>
    <p:sldId id="458" r:id="rId159"/>
    <p:sldId id="459" r:id="rId160"/>
    <p:sldId id="460" r:id="rId161"/>
    <p:sldId id="461" r:id="rId162"/>
    <p:sldId id="462" r:id="rId163"/>
    <p:sldId id="463" r:id="rId164"/>
    <p:sldId id="464" r:id="rId165"/>
    <p:sldId id="465" r:id="rId166"/>
    <p:sldId id="466" r:id="rId167"/>
    <p:sldId id="467" r:id="rId168"/>
    <p:sldId id="468" r:id="rId169"/>
    <p:sldId id="469" r:id="rId170"/>
    <p:sldId id="470" r:id="rId171"/>
    <p:sldId id="471" r:id="rId172"/>
    <p:sldId id="472" r:id="rId173"/>
    <p:sldId id="473" r:id="rId174"/>
    <p:sldId id="474" r:id="rId175"/>
    <p:sldId id="475" r:id="rId176"/>
    <p:sldId id="476" r:id="rId177"/>
    <p:sldId id="477" r:id="rId178"/>
    <p:sldId id="392" r:id="rId179"/>
    <p:sldId id="393" r:id="rId180"/>
    <p:sldId id="394" r:id="rId181"/>
    <p:sldId id="395" r:id="rId182"/>
    <p:sldId id="397" r:id="rId183"/>
    <p:sldId id="478" r:id="rId184"/>
    <p:sldId id="479" r:id="rId185"/>
    <p:sldId id="480" r:id="rId186"/>
    <p:sldId id="481" r:id="rId187"/>
    <p:sldId id="482" r:id="rId188"/>
    <p:sldId id="396" r:id="rId189"/>
    <p:sldId id="483" r:id="rId190"/>
    <p:sldId id="398" r:id="rId191"/>
    <p:sldId id="399" r:id="rId192"/>
    <p:sldId id="484" r:id="rId193"/>
    <p:sldId id="400" r:id="rId194"/>
    <p:sldId id="485" r:id="rId195"/>
    <p:sldId id="486" r:id="rId196"/>
    <p:sldId id="487" r:id="rId197"/>
    <p:sldId id="488" r:id="rId198"/>
    <p:sldId id="489" r:id="rId199"/>
    <p:sldId id="490" r:id="rId200"/>
    <p:sldId id="491" r:id="rId201"/>
    <p:sldId id="408" r:id="rId202"/>
    <p:sldId id="492" r:id="rId203"/>
    <p:sldId id="493" r:id="rId204"/>
    <p:sldId id="494" r:id="rId205"/>
    <p:sldId id="495" r:id="rId206"/>
    <p:sldId id="496" r:id="rId207"/>
    <p:sldId id="497" r:id="rId208"/>
    <p:sldId id="498" r:id="rId209"/>
    <p:sldId id="499" r:id="rId210"/>
    <p:sldId id="500" r:id="rId211"/>
    <p:sldId id="501" r:id="rId212"/>
    <p:sldId id="502" r:id="rId213"/>
    <p:sldId id="503" r:id="rId214"/>
    <p:sldId id="504" r:id="rId215"/>
    <p:sldId id="505" r:id="rId216"/>
    <p:sldId id="506" r:id="rId217"/>
    <p:sldId id="507" r:id="rId218"/>
    <p:sldId id="508" r:id="rId219"/>
    <p:sldId id="509" r:id="rId220"/>
    <p:sldId id="510" r:id="rId221"/>
    <p:sldId id="511" r:id="rId222"/>
    <p:sldId id="512" r:id="rId223"/>
    <p:sldId id="513" r:id="rId224"/>
    <p:sldId id="514" r:id="rId225"/>
    <p:sldId id="515" r:id="rId226"/>
    <p:sldId id="516" r:id="rId227"/>
    <p:sldId id="517" r:id="rId228"/>
    <p:sldId id="518" r:id="rId229"/>
    <p:sldId id="519" r:id="rId230"/>
    <p:sldId id="520" r:id="rId231"/>
    <p:sldId id="521" r:id="rId232"/>
    <p:sldId id="522" r:id="rId233"/>
    <p:sldId id="523" r:id="rId234"/>
    <p:sldId id="524" r:id="rId235"/>
    <p:sldId id="525" r:id="rId236"/>
    <p:sldId id="526" r:id="rId237"/>
    <p:sldId id="527" r:id="rId238"/>
    <p:sldId id="528" r:id="rId239"/>
    <p:sldId id="529" r:id="rId240"/>
    <p:sldId id="530" r:id="rId241"/>
    <p:sldId id="531" r:id="rId242"/>
    <p:sldId id="532" r:id="rId243"/>
    <p:sldId id="533" r:id="rId244"/>
    <p:sldId id="534" r:id="rId245"/>
    <p:sldId id="535" r:id="rId246"/>
    <p:sldId id="536" r:id="rId247"/>
    <p:sldId id="537" r:id="rId248"/>
    <p:sldId id="538" r:id="rId249"/>
    <p:sldId id="539" r:id="rId250"/>
    <p:sldId id="540" r:id="rId251"/>
    <p:sldId id="541" r:id="rId252"/>
    <p:sldId id="542" r:id="rId253"/>
    <p:sldId id="543" r:id="rId254"/>
    <p:sldId id="544" r:id="rId255"/>
    <p:sldId id="545" r:id="rId256"/>
    <p:sldId id="546" r:id="rId257"/>
    <p:sldId id="547" r:id="rId258"/>
    <p:sldId id="548" r:id="rId259"/>
    <p:sldId id="549" r:id="rId260"/>
    <p:sldId id="550" r:id="rId261"/>
    <p:sldId id="551" r:id="rId262"/>
    <p:sldId id="552" r:id="rId263"/>
    <p:sldId id="553" r:id="rId264"/>
    <p:sldId id="554" r:id="rId265"/>
    <p:sldId id="555" r:id="rId266"/>
    <p:sldId id="556" r:id="rId267"/>
    <p:sldId id="557" r:id="rId268"/>
    <p:sldId id="558" r:id="rId269"/>
    <p:sldId id="559" r:id="rId270"/>
    <p:sldId id="560" r:id="rId271"/>
    <p:sldId id="561" r:id="rId272"/>
    <p:sldId id="562" r:id="rId273"/>
    <p:sldId id="563" r:id="rId274"/>
    <p:sldId id="564" r:id="rId275"/>
    <p:sldId id="565" r:id="rId276"/>
    <p:sldId id="566" r:id="rId277"/>
    <p:sldId id="567" r:id="rId278"/>
    <p:sldId id="568" r:id="rId279"/>
    <p:sldId id="569" r:id="rId280"/>
    <p:sldId id="570" r:id="rId281"/>
    <p:sldId id="571" r:id="rId282"/>
    <p:sldId id="572" r:id="rId283"/>
    <p:sldId id="573" r:id="rId284"/>
    <p:sldId id="574" r:id="rId285"/>
    <p:sldId id="575" r:id="rId286"/>
    <p:sldId id="576" r:id="rId287"/>
    <p:sldId id="577" r:id="rId288"/>
    <p:sldId id="578" r:id="rId289"/>
    <p:sldId id="579" r:id="rId290"/>
    <p:sldId id="580" r:id="rId291"/>
    <p:sldId id="581" r:id="rId292"/>
    <p:sldId id="582" r:id="rId293"/>
    <p:sldId id="583" r:id="rId294"/>
    <p:sldId id="584" r:id="rId295"/>
    <p:sldId id="585" r:id="rId296"/>
    <p:sldId id="586" r:id="rId297"/>
    <p:sldId id="587" r:id="rId298"/>
    <p:sldId id="588" r:id="rId299"/>
    <p:sldId id="589" r:id="rId300"/>
    <p:sldId id="590" r:id="rId301"/>
    <p:sldId id="591" r:id="rId302"/>
    <p:sldId id="592" r:id="rId303"/>
    <p:sldId id="593" r:id="rId304"/>
    <p:sldId id="594" r:id="rId305"/>
    <p:sldId id="595" r:id="rId306"/>
    <p:sldId id="596" r:id="rId307"/>
    <p:sldId id="597" r:id="rId308"/>
    <p:sldId id="598" r:id="rId309"/>
    <p:sldId id="599" r:id="rId310"/>
    <p:sldId id="600" r:id="rId311"/>
    <p:sldId id="601" r:id="rId312"/>
    <p:sldId id="602" r:id="rId313"/>
    <p:sldId id="603" r:id="rId314"/>
    <p:sldId id="604" r:id="rId315"/>
    <p:sldId id="605" r:id="rId316"/>
    <p:sldId id="606" r:id="rId317"/>
    <p:sldId id="607" r:id="rId318"/>
    <p:sldId id="608" r:id="rId319"/>
    <p:sldId id="609" r:id="rId320"/>
    <p:sldId id="610" r:id="rId321"/>
    <p:sldId id="611" r:id="rId322"/>
    <p:sldId id="612" r:id="rId323"/>
    <p:sldId id="613" r:id="rId324"/>
    <p:sldId id="614" r:id="rId325"/>
    <p:sldId id="615" r:id="rId32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714"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324" Type="http://schemas.openxmlformats.org/officeDocument/2006/relationships/slide" Target="slides/slide320.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slide" Target="slides/slide311.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326" Type="http://schemas.openxmlformats.org/officeDocument/2006/relationships/slide" Target="slides/slide322.xml"/><Relationship Id="rId65" Type="http://schemas.openxmlformats.org/officeDocument/2006/relationships/slide" Target="slides/slide61.xml"/><Relationship Id="rId130" Type="http://schemas.openxmlformats.org/officeDocument/2006/relationships/slide" Target="slides/slide126.xml"/><Relationship Id="rId172" Type="http://schemas.openxmlformats.org/officeDocument/2006/relationships/slide" Target="slides/slide168.xml"/><Relationship Id="rId228" Type="http://schemas.openxmlformats.org/officeDocument/2006/relationships/slide" Target="slides/slide224.xml"/><Relationship Id="rId281" Type="http://schemas.openxmlformats.org/officeDocument/2006/relationships/slide" Target="slides/slide277.xml"/><Relationship Id="rId34" Type="http://schemas.openxmlformats.org/officeDocument/2006/relationships/slide" Target="slides/slide30.xml"/><Relationship Id="rId76" Type="http://schemas.openxmlformats.org/officeDocument/2006/relationships/slide" Target="slides/slide72.xml"/><Relationship Id="rId141" Type="http://schemas.openxmlformats.org/officeDocument/2006/relationships/slide" Target="slides/slide137.xml"/><Relationship Id="rId7" Type="http://schemas.openxmlformats.org/officeDocument/2006/relationships/slide" Target="slides/slide3.xml"/><Relationship Id="rId183" Type="http://schemas.openxmlformats.org/officeDocument/2006/relationships/slide" Target="slides/slide179.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92" Type="http://schemas.openxmlformats.org/officeDocument/2006/relationships/slide" Target="slides/slide288.xml"/><Relationship Id="rId306" Type="http://schemas.openxmlformats.org/officeDocument/2006/relationships/slide" Target="slides/slide302.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327" Type="http://schemas.openxmlformats.org/officeDocument/2006/relationships/notesMaster" Target="notesMasters/notesMaster1.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17" Type="http://schemas.openxmlformats.org/officeDocument/2006/relationships/slide" Target="slides/slide313.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slide" Target="slides/slide303.xml"/><Relationship Id="rId328" Type="http://schemas.openxmlformats.org/officeDocument/2006/relationships/presProps" Target="presProps.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318" Type="http://schemas.openxmlformats.org/officeDocument/2006/relationships/slide" Target="slides/slide314.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slide" Target="slides/slide304.xml"/><Relationship Id="rId329" Type="http://schemas.openxmlformats.org/officeDocument/2006/relationships/viewProps" Target="viewProps.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19" Type="http://schemas.openxmlformats.org/officeDocument/2006/relationships/slide" Target="slides/slide315.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330" Type="http://schemas.openxmlformats.org/officeDocument/2006/relationships/theme" Target="theme/theme1.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slide" Target="slides/slide305.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320" Type="http://schemas.openxmlformats.org/officeDocument/2006/relationships/slide" Target="slides/slide316.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slide" Target="slides/slide306.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331" Type="http://schemas.openxmlformats.org/officeDocument/2006/relationships/tableStyles" Target="tableStyles.xml"/><Relationship Id="rId1" Type="http://schemas.openxmlformats.org/officeDocument/2006/relationships/slideMaster" Target="slideMasters/slideMaster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321" Type="http://schemas.openxmlformats.org/officeDocument/2006/relationships/slide" Target="slides/slide317.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slide" Target="slides/slide307.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slideMaster" Target="slideMasters/slideMaster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322" Type="http://schemas.openxmlformats.org/officeDocument/2006/relationships/slide" Target="slides/slide318.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slideMaster" Target="slideMasters/slideMaster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323" Type="http://schemas.openxmlformats.org/officeDocument/2006/relationships/slide" Target="slides/slide319.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313" Type="http://schemas.openxmlformats.org/officeDocument/2006/relationships/slide" Target="slides/slide309.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4.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slide" Target="slides/slide310.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325" Type="http://schemas.openxmlformats.org/officeDocument/2006/relationships/slide" Target="slides/slide321.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6" Type="http://schemas.openxmlformats.org/officeDocument/2006/relationships/slide" Target="slides/slide2.xml"/><Relationship Id="rId238" Type="http://schemas.openxmlformats.org/officeDocument/2006/relationships/slide" Target="slides/slide234.xml"/><Relationship Id="rId291" Type="http://schemas.openxmlformats.org/officeDocument/2006/relationships/slide" Target="slides/slide287.xml"/><Relationship Id="rId305" Type="http://schemas.openxmlformats.org/officeDocument/2006/relationships/slide" Target="slides/slide301.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16" Type="http://schemas.openxmlformats.org/officeDocument/2006/relationships/slide" Target="slides/slide312.xml"/><Relationship Id="rId55" Type="http://schemas.openxmlformats.org/officeDocument/2006/relationships/slide" Target="slides/slide51.xml"/><Relationship Id="rId97" Type="http://schemas.openxmlformats.org/officeDocument/2006/relationships/slide" Target="slides/slide93.xml"/><Relationship Id="rId120" Type="http://schemas.openxmlformats.org/officeDocument/2006/relationships/slide" Target="slides/slide116.xml"/><Relationship Id="rId162" Type="http://schemas.openxmlformats.org/officeDocument/2006/relationships/slide" Target="slides/slide158.xml"/><Relationship Id="rId218" Type="http://schemas.openxmlformats.org/officeDocument/2006/relationships/slide" Target="slides/slide2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E3007FB8-C913-4951-A2B3-6646327080BA}" type="datetimeFigureOut">
              <a:rPr lang="en-IN" smtClean="0"/>
              <a:t>17-04-2025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807F31C-885E-4C21-B356-34FCD48949AF}" type="slidenum">
              <a:rPr lang="en-IN" smtClean="0"/>
              <a:t>‹#›</a:t>
            </a:fld>
            <a:endParaRPr lang="en-IN"/>
          </a:p>
        </p:txBody>
      </p:sp>
    </p:spTree>
    <p:extLst>
      <p:ext uri="{BB962C8B-B14F-4D97-AF65-F5344CB8AC3E}">
        <p14:creationId xmlns:p14="http://schemas.microsoft.com/office/powerpoint/2010/main" val="961783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wirelesscommunication.nl/reference/chaptr03/antgain.htm" TargetMode="External"/><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8DE6F-CB63-4507-A312-B89798DB40F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2673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8DE6F-CB63-4507-A312-B89798DB40F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2673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8DE6F-CB63-4507-A312-B89798DB40F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35125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8DE6F-CB63-4507-A312-B89798DB40F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47619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the energy radiated by an </a:t>
            </a:r>
            <a:r>
              <a:rPr lang="en-IN" sz="1200" b="0" i="0" kern="1200" dirty="0" err="1">
                <a:solidFill>
                  <a:schemeClr val="tx1"/>
                </a:solidFill>
                <a:effectLst/>
                <a:latin typeface="+mn-lt"/>
                <a:ea typeface="+mn-ea"/>
                <a:cs typeface="+mn-cs"/>
                <a:hlinkClick r:id="rId3"/>
              </a:rPr>
              <a:t>omni</a:t>
            </a:r>
            <a:r>
              <a:rPr lang="en-IN" sz="1200" b="0" i="0" kern="1200" dirty="0">
                <a:solidFill>
                  <a:schemeClr val="tx1"/>
                </a:solidFill>
                <a:effectLst/>
                <a:latin typeface="+mn-lt"/>
                <a:ea typeface="+mn-ea"/>
                <a:cs typeface="+mn-cs"/>
                <a:hlinkClick r:id="rId3"/>
              </a:rPr>
              <a:t>-directional antenna</a:t>
            </a:r>
            <a:r>
              <a:rPr lang="en-IN" sz="1200" b="0" i="0" kern="1200" dirty="0">
                <a:solidFill>
                  <a:schemeClr val="tx1"/>
                </a:solidFill>
                <a:effectLst/>
                <a:latin typeface="+mn-lt"/>
                <a:ea typeface="+mn-ea"/>
                <a:cs typeface="+mn-cs"/>
              </a:rPr>
              <a:t> is spread over the surface of a sphere. Transmit antenna modelled as a point source. Transmit power is spread over the surface area of a hypothetical sphere. </a:t>
            </a:r>
            <a:r>
              <a:rPr lang="en-IN" dirty="0"/>
              <a:t>Electromagnetic Radiation implies that the energy radiates uniformly in all directions, at the speed of light (3×108 m/s or 3.3 µs/km) [1]. This may be viewed as a sphere, expanding in time and space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8DE6F-CB63-4507-A312-B89798DB40F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830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Antenna </a:t>
            </a:r>
            <a:r>
              <a:rPr lang="en-IN" sz="1200" b="0" i="0" kern="1200" dirty="0" err="1">
                <a:solidFill>
                  <a:schemeClr val="tx1"/>
                </a:solidFill>
                <a:effectLst/>
                <a:latin typeface="+mn-lt"/>
                <a:ea typeface="+mn-ea"/>
                <a:cs typeface="+mn-cs"/>
              </a:rPr>
              <a:t>gain:A</a:t>
            </a:r>
            <a:r>
              <a:rPr lang="en-IN" sz="1200" b="0" i="0" kern="1200" dirty="0">
                <a:solidFill>
                  <a:schemeClr val="tx1"/>
                </a:solidFill>
                <a:effectLst/>
                <a:latin typeface="+mn-lt"/>
                <a:ea typeface="+mn-ea"/>
                <a:cs typeface="+mn-cs"/>
              </a:rPr>
              <a:t> relative measure of an </a:t>
            </a:r>
            <a:r>
              <a:rPr lang="en-IN" sz="1200" b="1" i="0" kern="1200" dirty="0" err="1">
                <a:solidFill>
                  <a:schemeClr val="tx1"/>
                </a:solidFill>
                <a:effectLst/>
                <a:latin typeface="+mn-lt"/>
                <a:ea typeface="+mn-ea"/>
                <a:cs typeface="+mn-cs"/>
              </a:rPr>
              <a:t>antenna's</a:t>
            </a:r>
            <a:r>
              <a:rPr lang="en-IN" sz="1200" b="0" i="0" kern="1200" dirty="0" err="1">
                <a:solidFill>
                  <a:schemeClr val="tx1"/>
                </a:solidFill>
                <a:effectLst/>
                <a:latin typeface="+mn-lt"/>
                <a:ea typeface="+mn-ea"/>
                <a:cs typeface="+mn-cs"/>
              </a:rPr>
              <a:t>ability</a:t>
            </a:r>
            <a:r>
              <a:rPr lang="en-IN" sz="1200" b="0" i="0" kern="1200" dirty="0">
                <a:solidFill>
                  <a:schemeClr val="tx1"/>
                </a:solidFill>
                <a:effectLst/>
                <a:latin typeface="+mn-lt"/>
                <a:ea typeface="+mn-ea"/>
                <a:cs typeface="+mn-cs"/>
              </a:rPr>
              <a:t> to direct or concentrate radio frequency energy in a particular direction or pattern</a:t>
            </a:r>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8DE6F-CB63-4507-A312-B89798DB40F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1195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32485" y="378917"/>
            <a:ext cx="8479028" cy="1031331"/>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6950836" y="0"/>
            <a:ext cx="2193163" cy="692658"/>
          </a:xfrm>
          <a:prstGeom prst="rect">
            <a:avLst/>
          </a:prstGeom>
        </p:spPr>
      </p:pic>
      <p:sp>
        <p:nvSpPr>
          <p:cNvPr id="20" name="bg object 20"/>
          <p:cNvSpPr/>
          <p:nvPr/>
        </p:nvSpPr>
        <p:spPr>
          <a:xfrm>
            <a:off x="4495800" y="6553201"/>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1" name="bg object 21"/>
          <p:cNvSpPr/>
          <p:nvPr/>
        </p:nvSpPr>
        <p:spPr>
          <a:xfrm>
            <a:off x="2133600" y="6553201"/>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6815454" y="6553201"/>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16"/>
          <p:cNvSpPr>
            <a:spLocks noGrp="1"/>
          </p:cNvSpPr>
          <p:nvPr>
            <p:ph sz="quarter" idx="10" hasCustomPrompt="1"/>
          </p:nvPr>
        </p:nvSpPr>
        <p:spPr>
          <a:xfrm>
            <a:off x="245444" y="155608"/>
            <a:ext cx="6537960" cy="777240"/>
          </a:xfrm>
          <a:prstGeom prst="rect">
            <a:avLst/>
          </a:prstGeom>
        </p:spPr>
        <p:txBody>
          <a:bodyPr lIns="0" tIns="0" rIns="0" bIns="0" anchor="ctr">
            <a:noAutofit/>
          </a:bodyPr>
          <a:lstStyle>
            <a:lvl1pPr marL="0" indent="0" algn="l">
              <a:lnSpc>
                <a:spcPct val="100000"/>
              </a:lnSpc>
              <a:spcBef>
                <a:spcPts val="0"/>
              </a:spcBef>
              <a:buNone/>
              <a:defRPr sz="2200" b="1" spc="225" baseline="0">
                <a:solidFill>
                  <a:srgbClr val="FF0000"/>
                </a:solidFill>
                <a:effectLst/>
                <a:latin typeface="Arial" pitchFamily="34" charset="0"/>
                <a:cs typeface="Arial" pitchFamily="34" charset="0"/>
              </a:defRPr>
            </a:lvl1pPr>
          </a:lstStyle>
          <a:p>
            <a:pPr lvl="0"/>
            <a:r>
              <a:rPr lang="en-US" dirty="0"/>
              <a:t>Topic name here</a:t>
            </a:r>
          </a:p>
        </p:txBody>
      </p:sp>
      <p:sp>
        <p:nvSpPr>
          <p:cNvPr id="4" name="Content Placeholder 2"/>
          <p:cNvSpPr>
            <a:spLocks noGrp="1"/>
          </p:cNvSpPr>
          <p:nvPr>
            <p:ph idx="1"/>
          </p:nvPr>
        </p:nvSpPr>
        <p:spPr>
          <a:xfrm>
            <a:off x="274320" y="1005840"/>
            <a:ext cx="8503920" cy="5486400"/>
          </a:xfrm>
          <a:prstGeom prst="rect">
            <a:avLst/>
          </a:prstGeom>
        </p:spPr>
        <p:txBody>
          <a:bodyPr lIns="0" rIns="0"/>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dirty="0"/>
              <a:t>Click to edit Master text styles</a:t>
            </a:r>
          </a:p>
        </p:txBody>
      </p:sp>
      <p:grpSp>
        <p:nvGrpSpPr>
          <p:cNvPr id="5" name="Group 4"/>
          <p:cNvGrpSpPr/>
          <p:nvPr userDrawn="1"/>
        </p:nvGrpSpPr>
        <p:grpSpPr>
          <a:xfrm>
            <a:off x="0" y="914402"/>
            <a:ext cx="7010400" cy="45719"/>
            <a:chOff x="1905000" y="6553200"/>
            <a:chExt cx="7010400" cy="45719"/>
          </a:xfrm>
        </p:grpSpPr>
        <p:sp>
          <p:nvSpPr>
            <p:cNvPr id="6" name="Rectangle 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8" name="Rectangle 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grpSp>
    </p:spTree>
    <p:extLst>
      <p:ext uri="{BB962C8B-B14F-4D97-AF65-F5344CB8AC3E}">
        <p14:creationId xmlns:p14="http://schemas.microsoft.com/office/powerpoint/2010/main" val="2459055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5488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7999"/>
          </a:xfrm>
          <a:prstGeom prst="rect">
            <a:avLst/>
          </a:prstGeom>
        </p:spPr>
      </p:pic>
      <p:sp>
        <p:nvSpPr>
          <p:cNvPr id="17" name="bg object 17"/>
          <p:cNvSpPr/>
          <p:nvPr/>
        </p:nvSpPr>
        <p:spPr>
          <a:xfrm>
            <a:off x="0" y="4282185"/>
            <a:ext cx="9144000" cy="2576195"/>
          </a:xfrm>
          <a:custGeom>
            <a:avLst/>
            <a:gdLst/>
            <a:ahLst/>
            <a:cxnLst/>
            <a:rect l="l" t="t" r="r" b="b"/>
            <a:pathLst>
              <a:path w="9144000" h="2576195">
                <a:moveTo>
                  <a:pt x="9144000" y="0"/>
                </a:moveTo>
                <a:lnTo>
                  <a:pt x="0" y="0"/>
                </a:lnTo>
                <a:lnTo>
                  <a:pt x="0" y="2575814"/>
                </a:lnTo>
                <a:lnTo>
                  <a:pt x="9144000" y="2575814"/>
                </a:lnTo>
                <a:lnTo>
                  <a:pt x="9144000" y="0"/>
                </a:lnTo>
                <a:close/>
              </a:path>
            </a:pathLst>
          </a:custGeom>
          <a:solidFill>
            <a:srgbClr val="FFFFFF"/>
          </a:solidFill>
        </p:spPr>
        <p:txBody>
          <a:bodyPr wrap="square" lIns="0" tIns="0" rIns="0" bIns="0" rtlCol="0"/>
          <a:lstStyle/>
          <a:p>
            <a:endParaRPr/>
          </a:p>
        </p:txBody>
      </p:sp>
      <p:sp>
        <p:nvSpPr>
          <p:cNvPr id="18" name="bg object 18"/>
          <p:cNvSpPr/>
          <p:nvPr/>
        </p:nvSpPr>
        <p:spPr>
          <a:xfrm>
            <a:off x="0" y="4282185"/>
            <a:ext cx="9144000" cy="2576195"/>
          </a:xfrm>
          <a:custGeom>
            <a:avLst/>
            <a:gdLst/>
            <a:ahLst/>
            <a:cxnLst/>
            <a:rect l="l" t="t" r="r" b="b"/>
            <a:pathLst>
              <a:path w="9144000" h="2576195">
                <a:moveTo>
                  <a:pt x="0" y="2575814"/>
                </a:moveTo>
                <a:lnTo>
                  <a:pt x="9144000" y="2575814"/>
                </a:lnTo>
                <a:lnTo>
                  <a:pt x="9144000" y="0"/>
                </a:lnTo>
                <a:lnTo>
                  <a:pt x="0" y="0"/>
                </a:lnTo>
                <a:lnTo>
                  <a:pt x="0" y="2575814"/>
                </a:lnTo>
                <a:close/>
              </a:path>
            </a:pathLst>
          </a:custGeom>
          <a:ln w="9525">
            <a:solidFill>
              <a:srgbClr val="497DBA"/>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6629400" y="0"/>
            <a:ext cx="2193163" cy="692658"/>
          </a:xfrm>
          <a:prstGeom prst="rect">
            <a:avLst/>
          </a:prstGeom>
        </p:spPr>
      </p:pic>
      <p:sp>
        <p:nvSpPr>
          <p:cNvPr id="20" name="bg object 20"/>
          <p:cNvSpPr/>
          <p:nvPr/>
        </p:nvSpPr>
        <p:spPr>
          <a:xfrm>
            <a:off x="2882900" y="677545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21" name="bg object 21"/>
          <p:cNvSpPr/>
          <p:nvPr/>
        </p:nvSpPr>
        <p:spPr>
          <a:xfrm>
            <a:off x="0" y="6775450"/>
            <a:ext cx="2882900" cy="76200"/>
          </a:xfrm>
          <a:custGeom>
            <a:avLst/>
            <a:gdLst/>
            <a:ahLst/>
            <a:cxnLst/>
            <a:rect l="l" t="t" r="r" b="b"/>
            <a:pathLst>
              <a:path w="2882900" h="76200">
                <a:moveTo>
                  <a:pt x="2882900" y="0"/>
                </a:moveTo>
                <a:lnTo>
                  <a:pt x="0" y="0"/>
                </a:lnTo>
                <a:lnTo>
                  <a:pt x="0" y="76200"/>
                </a:lnTo>
                <a:lnTo>
                  <a:pt x="2882900" y="76200"/>
                </a:lnTo>
                <a:lnTo>
                  <a:pt x="2882900" y="0"/>
                </a:lnTo>
                <a:close/>
              </a:path>
            </a:pathLst>
          </a:custGeom>
          <a:solidFill>
            <a:srgbClr val="FBAF17"/>
          </a:solidFill>
        </p:spPr>
        <p:txBody>
          <a:bodyPr wrap="square" lIns="0" tIns="0" rIns="0" bIns="0" rtlCol="0"/>
          <a:lstStyle/>
          <a:p>
            <a:endParaRPr/>
          </a:p>
        </p:txBody>
      </p:sp>
      <p:sp>
        <p:nvSpPr>
          <p:cNvPr id="22" name="bg object 22"/>
          <p:cNvSpPr/>
          <p:nvPr/>
        </p:nvSpPr>
        <p:spPr>
          <a:xfrm>
            <a:off x="5778500" y="677545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sp>
        <p:nvSpPr>
          <p:cNvPr id="2" name="Holder 2"/>
          <p:cNvSpPr>
            <a:spLocks noGrp="1"/>
          </p:cNvSpPr>
          <p:nvPr>
            <p:ph type="ctrTitle"/>
          </p:nvPr>
        </p:nvSpPr>
        <p:spPr>
          <a:xfrm>
            <a:off x="7135114" y="719368"/>
            <a:ext cx="1676400" cy="69088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100734" y="4589145"/>
            <a:ext cx="6885940" cy="11684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1564047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4185306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796340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6950836" y="0"/>
            <a:ext cx="2193163" cy="692658"/>
          </a:xfrm>
          <a:prstGeom prst="rect">
            <a:avLst/>
          </a:prstGeom>
        </p:spPr>
      </p:pic>
      <p:sp>
        <p:nvSpPr>
          <p:cNvPr id="20" name="bg object 20"/>
          <p:cNvSpPr/>
          <p:nvPr/>
        </p:nvSpPr>
        <p:spPr>
          <a:xfrm>
            <a:off x="4495800" y="6553201"/>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1" name="bg object 21"/>
          <p:cNvSpPr/>
          <p:nvPr/>
        </p:nvSpPr>
        <p:spPr>
          <a:xfrm>
            <a:off x="2133600" y="6553201"/>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6815454" y="6553201"/>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84136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243835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2639948"/>
            <a:ext cx="7651115" cy="1489075"/>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358140" y="4484370"/>
            <a:ext cx="8041640" cy="77660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814426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2636921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331594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758679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9488519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1.jp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1.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4.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0" name="bg object 20"/>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7" cstate="print"/>
          <a:stretch>
            <a:fillRect/>
          </a:stretch>
        </p:blipFill>
        <p:spPr>
          <a:xfrm>
            <a:off x="6629400" y="0"/>
            <a:ext cx="2193163" cy="692658"/>
          </a:xfrm>
          <a:prstGeom prst="rect">
            <a:avLst/>
          </a:prstGeom>
        </p:spPr>
      </p:pic>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383540" y="150367"/>
            <a:ext cx="6093460" cy="1031875"/>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869950" y="2948940"/>
            <a:ext cx="8312150" cy="36556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585842" y="6639430"/>
            <a:ext cx="44780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a:xfrm>
            <a:off x="8843518" y="6191005"/>
            <a:ext cx="259715" cy="196214"/>
          </a:xfrm>
          <a:prstGeom prst="rect">
            <a:avLst/>
          </a:prstGeom>
        </p:spPr>
        <p:txBody>
          <a:bodyPr wrap="square" lIns="0" tIns="0" rIns="0" bIns="0">
            <a:spAutoFit/>
          </a:bodyPr>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457200" y="1600203"/>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Title Placeholder 1"/>
          <p:cNvSpPr>
            <a:spLocks noGrp="1"/>
          </p:cNvSpPr>
          <p:nvPr>
            <p:ph type="title"/>
          </p:nvPr>
        </p:nvSpPr>
        <p:spPr>
          <a:xfrm>
            <a:off x="628650" y="366185"/>
            <a:ext cx="7886700" cy="1325033"/>
          </a:xfrm>
          <a:prstGeom prst="rect">
            <a:avLst/>
          </a:prstGeom>
        </p:spPr>
        <p:txBody>
          <a:bodyPr vert="horz" lIns="91440" tIns="45720" rIns="91440" bIns="45720" rtlCol="0" anchor="ctr">
            <a:normAutofit/>
          </a:bodyPr>
          <a:lstStyle/>
          <a:p>
            <a:r>
              <a:rPr lang="en-US" dirty="0"/>
              <a:t>Click to edit Master title style</a:t>
            </a:r>
            <a:endParaRPr lang="en-IN" dirty="0"/>
          </a:p>
        </p:txBody>
      </p:sp>
    </p:spTree>
    <p:extLst>
      <p:ext uri="{BB962C8B-B14F-4D97-AF65-F5344CB8AC3E}">
        <p14:creationId xmlns:p14="http://schemas.microsoft.com/office/powerpoint/2010/main" val="413766487"/>
      </p:ext>
    </p:extLst>
  </p:cSld>
  <p:clrMap bg1="lt1" tx1="dk1" bg2="lt2" tx2="dk2" accent1="accent1" accent2="accent2" accent3="accent3" accent4="accent4" accent5="accent5" accent6="accent6" hlink="hlink" folHlink="folHlink"/>
  <p:sldLayoutIdLst>
    <p:sldLayoutId id="2147483667" r:id="rId1"/>
    <p:sldLayoutId id="2147483668" r:id="rId2"/>
  </p:sldLayoutIdLst>
  <p:hf hdr="0" dt="0"/>
  <p:txStyles>
    <p:titleStyle>
      <a:lvl1pPr algn="ctr" rtl="0" eaLnBrk="1" fontAlgn="base" hangingPunct="1">
        <a:spcBef>
          <a:spcPct val="0"/>
        </a:spcBef>
        <a:spcAft>
          <a:spcPct val="0"/>
        </a:spcAft>
        <a:defRPr sz="3300" kern="1200">
          <a:solidFill>
            <a:schemeClr val="tx1"/>
          </a:solidFill>
          <a:latin typeface="Arial" pitchFamily="34" charset="0"/>
          <a:ea typeface="+mj-ea"/>
          <a:cs typeface="Arial" pitchFamily="34" charset="0"/>
        </a:defRPr>
      </a:lvl1pPr>
      <a:lvl2pPr algn="ctr" rtl="0" eaLnBrk="1" fontAlgn="base" hangingPunct="1">
        <a:spcBef>
          <a:spcPct val="0"/>
        </a:spcBef>
        <a:spcAft>
          <a:spcPct val="0"/>
        </a:spcAft>
        <a:defRPr sz="3300">
          <a:solidFill>
            <a:schemeClr val="tx1"/>
          </a:solidFill>
          <a:latin typeface="Calibri" pitchFamily="34" charset="0"/>
        </a:defRPr>
      </a:lvl2pPr>
      <a:lvl3pPr algn="ctr" rtl="0" eaLnBrk="1" fontAlgn="base" hangingPunct="1">
        <a:spcBef>
          <a:spcPct val="0"/>
        </a:spcBef>
        <a:spcAft>
          <a:spcPct val="0"/>
        </a:spcAft>
        <a:defRPr sz="3300">
          <a:solidFill>
            <a:schemeClr val="tx1"/>
          </a:solidFill>
          <a:latin typeface="Calibri" pitchFamily="34" charset="0"/>
        </a:defRPr>
      </a:lvl3pPr>
      <a:lvl4pPr algn="ctr" rtl="0" eaLnBrk="1" fontAlgn="base" hangingPunct="1">
        <a:spcBef>
          <a:spcPct val="0"/>
        </a:spcBef>
        <a:spcAft>
          <a:spcPct val="0"/>
        </a:spcAft>
        <a:defRPr sz="3300">
          <a:solidFill>
            <a:schemeClr val="tx1"/>
          </a:solidFill>
          <a:latin typeface="Calibri" pitchFamily="34" charset="0"/>
        </a:defRPr>
      </a:lvl4pPr>
      <a:lvl5pPr algn="ctr" rtl="0" eaLnBrk="1" fontAlgn="base" hangingPunct="1">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Font typeface="Arial" panose="020B0604020202020204" pitchFamily="34" charset="0"/>
        <a:buChar char="–"/>
        <a:defRPr sz="2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0" name="bg object 20"/>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7" cstate="print"/>
          <a:stretch>
            <a:fillRect/>
          </a:stretch>
        </p:blipFill>
        <p:spPr>
          <a:xfrm>
            <a:off x="6629400" y="0"/>
            <a:ext cx="2193163" cy="692658"/>
          </a:xfrm>
          <a:prstGeom prst="rect">
            <a:avLst/>
          </a:prstGeom>
        </p:spPr>
      </p:pic>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383540" y="-27797"/>
            <a:ext cx="5812155" cy="121004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383540" y="1443355"/>
            <a:ext cx="8529320" cy="470852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585842" y="6639430"/>
            <a:ext cx="44780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a:xfrm>
            <a:off x="8843518" y="6191005"/>
            <a:ext cx="259715" cy="196214"/>
          </a:xfrm>
          <a:prstGeom prst="rect">
            <a:avLst/>
          </a:prstGeom>
        </p:spPr>
        <p:txBody>
          <a:bodyPr wrap="square" lIns="0" tIns="0" rIns="0" bIns="0">
            <a:spAutoFit/>
          </a:bodyPr>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59792399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17" name="bg object 17"/>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18" name="bg object 18"/>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0" name="bg object 20"/>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7" cstate="print"/>
          <a:stretch>
            <a:fillRect/>
          </a:stretch>
        </p:blipFill>
        <p:spPr>
          <a:xfrm>
            <a:off x="6629400" y="0"/>
            <a:ext cx="2193163" cy="692658"/>
          </a:xfrm>
          <a:prstGeom prst="rect">
            <a:avLst/>
          </a:prstGeom>
        </p:spPr>
      </p:pic>
      <p:sp>
        <p:nvSpPr>
          <p:cNvPr id="23" name="bg object 23"/>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24" name="bg object 24"/>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383540" y="147320"/>
            <a:ext cx="6072505" cy="1031875"/>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95731" y="1516507"/>
            <a:ext cx="8056245" cy="273875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585842" y="6639430"/>
            <a:ext cx="44780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4/17/2025</a:t>
            </a:fld>
            <a:endParaRPr lang="en-US"/>
          </a:p>
        </p:txBody>
      </p:sp>
      <p:sp>
        <p:nvSpPr>
          <p:cNvPr id="6" name="Holder 6"/>
          <p:cNvSpPr>
            <a:spLocks noGrp="1"/>
          </p:cNvSpPr>
          <p:nvPr>
            <p:ph type="sldNum" sz="quarter" idx="7"/>
          </p:nvPr>
        </p:nvSpPr>
        <p:spPr>
          <a:xfrm>
            <a:off x="8843518" y="6191005"/>
            <a:ext cx="259715" cy="196214"/>
          </a:xfrm>
          <a:prstGeom prst="rect">
            <a:avLst/>
          </a:prstGeom>
        </p:spPr>
        <p:txBody>
          <a:bodyPr wrap="square" lIns="0" tIns="0" rIns="0" bIns="0">
            <a:spAutoFit/>
          </a:bodyPr>
          <a:lstStyle>
            <a:lvl1pPr>
              <a:defRPr sz="1200" b="0" i="0">
                <a:solidFill>
                  <a:srgbClr val="888888"/>
                </a:solidFill>
                <a:latin typeface="Arial MT"/>
                <a:cs typeface="Arial MT"/>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10094481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1.jpg"/><Relationship Id="rId1" Type="http://schemas.openxmlformats.org/officeDocument/2006/relationships/slideLayout" Target="../slideLayouts/slideLayout1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gif"/><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55.jpeg"/><Relationship Id="rId4" Type="http://schemas.openxmlformats.org/officeDocument/2006/relationships/image" Target="../media/image54.png"/></Relationships>
</file>

<file path=ppt/slides/_rels/slide19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4.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1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2.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17.xml"/></Relationships>
</file>

<file path=ppt/slides/_rels/slide2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6.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1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5.png"/><Relationship Id="rId1" Type="http://schemas.openxmlformats.org/officeDocument/2006/relationships/slideLayout" Target="../slideLayouts/slideLayout1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9.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17.xml"/></Relationships>
</file>

<file path=ppt/slides/_rels/slide250.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14.xml"/></Relationships>
</file>

<file path=ppt/slides/_rels/slide251.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1.jpg"/><Relationship Id="rId1" Type="http://schemas.openxmlformats.org/officeDocument/2006/relationships/slideLayout" Target="../slideLayouts/slideLayout1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3.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14.xml"/></Relationships>
</file>

<file path=ppt/slides/_rels/slide254.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1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6.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1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6.xml"/><Relationship Id="rId4" Type="http://schemas.openxmlformats.org/officeDocument/2006/relationships/image" Target="../media/image74.jpeg"/></Relationships>
</file>

<file path=ppt/slides/_rels/slide262.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26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 Id="rId4" Type="http://schemas.openxmlformats.org/officeDocument/2006/relationships/image" Target="../media/image79.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27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2" Type="http://schemas.openxmlformats.org/officeDocument/2006/relationships/image" Target="../media/image86.gif"/><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2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27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27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3.png"/></Relationships>
</file>

<file path=ppt/slides/_rels/slide28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95.png"/></Relationships>
</file>

<file path=ppt/slides/_rels/slide28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6.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6.xml"/></Relationships>
</file>

<file path=ppt/slides/_rels/slide28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jpeg"/><Relationship Id="rId1" Type="http://schemas.openxmlformats.org/officeDocument/2006/relationships/slideLayout" Target="../slideLayouts/slideLayout6.xml"/></Relationships>
</file>

<file path=ppt/slides/_rels/slide28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6.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 Id="rId4" Type="http://schemas.openxmlformats.org/officeDocument/2006/relationships/image" Target="../media/image79.png"/></Relationships>
</file>

<file path=ppt/slides/_rels/slide29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 Id="rId4" Type="http://schemas.openxmlformats.org/officeDocument/2006/relationships/image" Target="../media/image79.png"/></Relationships>
</file>

<file path=ppt/slides/_rels/slide29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29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29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29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29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6.xml"/><Relationship Id="rId4" Type="http://schemas.openxmlformats.org/officeDocument/2006/relationships/image" Target="../media/image106.png"/></Relationships>
</file>

<file path=ppt/slides/_rels/slide29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 Id="rId4" Type="http://schemas.openxmlformats.org/officeDocument/2006/relationships/image" Target="../media/image106.png"/></Relationships>
</file>

<file path=ppt/slides/_rels/slide29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30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6.xml"/></Relationships>
</file>

<file path=ppt/slides/_rels/slide30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9.png"/><Relationship Id="rId1" Type="http://schemas.openxmlformats.org/officeDocument/2006/relationships/slideLayout" Target="../slideLayouts/slideLayout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6.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29152"/>
            <a:ext cx="8680322" cy="5448928"/>
          </a:xfrm>
          <a:prstGeom prst="rect">
            <a:avLst/>
          </a:prstGeom>
        </p:spPr>
        <p:txBody>
          <a:bodyPr vert="horz" wrap="square" lIns="0" tIns="97790" rIns="0" bIns="0" rtlCol="0">
            <a:spAutoFit/>
          </a:bodyPr>
          <a:lstStyle/>
          <a:p>
            <a:pPr marL="367030" indent="-354330">
              <a:lnSpc>
                <a:spcPct val="100000"/>
              </a:lnSpc>
              <a:spcBef>
                <a:spcPts val="770"/>
              </a:spcBef>
              <a:buClr>
                <a:srgbClr val="3333B3"/>
              </a:buClr>
              <a:buAutoNum type="arabicPeriod"/>
              <a:tabLst>
                <a:tab pos="367030" algn="l"/>
              </a:tabLst>
            </a:pPr>
            <a:r>
              <a:rPr sz="2800" spc="-10" dirty="0">
                <a:latin typeface="Times New Roman"/>
                <a:cs typeface="Times New Roman"/>
              </a:rPr>
              <a:t>MATLAB/SIMULINK.</a:t>
            </a:r>
            <a:endParaRPr lang="en-US" sz="2800" spc="-10" dirty="0">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MATLAB (Matrix Laboratory):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 high-level language and environment used for </a:t>
            </a:r>
            <a:r>
              <a:rPr kumimoji="0" lang="en-US" altLang="en-US" sz="1600" b="1" i="0" u="none" strike="noStrike" cap="none" normalizeH="0" baseline="0" dirty="0">
                <a:ln>
                  <a:noFill/>
                </a:ln>
                <a:solidFill>
                  <a:schemeClr val="tx1"/>
                </a:solidFill>
                <a:effectLst/>
                <a:latin typeface="Arial" panose="020B0604020202020204" pitchFamily="34" charset="0"/>
              </a:rPr>
              <a:t>numerical computation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data visualization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signal processing</a:t>
            </a:r>
            <a:r>
              <a:rPr kumimoji="0" lang="en-US" altLang="en-US" sz="1600" b="0" i="0" u="none" strike="noStrike" cap="none" normalizeH="0" baseline="0" dirty="0">
                <a:ln>
                  <a:noFill/>
                </a:ln>
                <a:solidFill>
                  <a:schemeClr val="tx1"/>
                </a:solidFill>
                <a:effectLst/>
                <a:latin typeface="Arial" panose="020B0604020202020204" pitchFamily="34" charset="0"/>
              </a:rPr>
              <a:t>, and </a:t>
            </a:r>
            <a:r>
              <a:rPr kumimoji="0" lang="en-US" altLang="en-US" sz="1600" b="1" i="0" u="none" strike="noStrike" cap="none" normalizeH="0" baseline="0" dirty="0">
                <a:ln>
                  <a:noFill/>
                </a:ln>
                <a:solidFill>
                  <a:schemeClr val="tx1"/>
                </a:solidFill>
                <a:effectLst/>
                <a:latin typeface="Arial" panose="020B0604020202020204" pitchFamily="34" charset="0"/>
              </a:rPr>
              <a:t>algorithm development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Especially popular in </a:t>
            </a:r>
            <a:r>
              <a:rPr kumimoji="0" lang="en-US" altLang="en-US" sz="1600" b="1" i="0" u="none" strike="noStrike" cap="none" normalizeH="0" baseline="0" dirty="0">
                <a:ln>
                  <a:noFill/>
                </a:ln>
                <a:solidFill>
                  <a:schemeClr val="tx1"/>
                </a:solidFill>
                <a:effectLst/>
                <a:latin typeface="Arial" panose="020B0604020202020204" pitchFamily="34" charset="0"/>
              </a:rPr>
              <a:t>engineering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telecommunications</a:t>
            </a:r>
            <a:r>
              <a:rPr kumimoji="0" lang="en-US" altLang="en-US" sz="1600" b="0" i="0" u="none" strike="noStrike" cap="none" normalizeH="0" baseline="0" dirty="0">
                <a:ln>
                  <a:noFill/>
                </a:ln>
                <a:solidFill>
                  <a:schemeClr val="tx1"/>
                </a:solidFill>
                <a:effectLst/>
                <a:latin typeface="Arial" panose="020B0604020202020204" pitchFamily="34" charset="0"/>
              </a:rPr>
              <a:t>, and </a:t>
            </a:r>
            <a:r>
              <a:rPr kumimoji="0" lang="en-US" altLang="en-US" sz="1600" b="1" i="0" u="none" strike="noStrike" cap="none" normalizeH="0" baseline="0" dirty="0">
                <a:ln>
                  <a:noFill/>
                </a:ln>
                <a:solidFill>
                  <a:schemeClr val="tx1"/>
                </a:solidFill>
                <a:effectLst/>
                <a:latin typeface="Arial" panose="020B0604020202020204" pitchFamily="34" charset="0"/>
              </a:rPr>
              <a:t>control systems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Works well with </a:t>
            </a:r>
            <a:r>
              <a:rPr kumimoji="0" lang="en-US" altLang="en-US" sz="1600" b="1" i="0" u="none" strike="noStrike" cap="none" normalizeH="0" baseline="0" dirty="0">
                <a:ln>
                  <a:noFill/>
                </a:ln>
                <a:solidFill>
                  <a:schemeClr val="tx1"/>
                </a:solidFill>
                <a:effectLst/>
                <a:latin typeface="Arial" panose="020B0604020202020204" pitchFamily="34" charset="0"/>
              </a:rPr>
              <a:t>matrices</a:t>
            </a:r>
            <a:r>
              <a:rPr kumimoji="0" lang="en-US" altLang="en-US" sz="1600" b="0" i="0" u="none" strike="noStrike" cap="none" normalizeH="0" baseline="0" dirty="0">
                <a:ln>
                  <a:noFill/>
                </a:ln>
                <a:solidFill>
                  <a:schemeClr val="tx1"/>
                </a:solidFill>
                <a:effectLst/>
                <a:latin typeface="Arial" panose="020B0604020202020204" pitchFamily="34" charset="0"/>
              </a:rPr>
              <a:t>, and has powerful toolboxes for specialized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Simulink:</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An </a:t>
            </a:r>
            <a:r>
              <a:rPr kumimoji="0" lang="en-US" altLang="en-US" sz="1600" b="1" i="0" u="none" strike="noStrike" cap="none" normalizeH="0" baseline="0" dirty="0">
                <a:ln>
                  <a:noFill/>
                </a:ln>
                <a:solidFill>
                  <a:schemeClr val="tx1"/>
                </a:solidFill>
                <a:effectLst/>
                <a:latin typeface="Arial" panose="020B0604020202020204" pitchFamily="34" charset="0"/>
              </a:rPr>
              <a:t>add-on to MATLAB</a:t>
            </a:r>
            <a:r>
              <a:rPr kumimoji="0" lang="en-US" altLang="en-US" sz="1600" b="0" i="0" u="none" strike="noStrike" cap="none" normalizeH="0" baseline="0" dirty="0">
                <a:ln>
                  <a:noFill/>
                </a:ln>
                <a:solidFill>
                  <a:schemeClr val="tx1"/>
                </a:solidFill>
                <a:effectLst/>
                <a:latin typeface="Arial" panose="020B0604020202020204" pitchFamily="34" charset="0"/>
              </a:rPr>
              <a:t> that provides a </a:t>
            </a:r>
            <a:r>
              <a:rPr kumimoji="0" lang="en-US" altLang="en-US" sz="1600" b="1" i="0" u="none" strike="noStrike" cap="none" normalizeH="0" baseline="0" dirty="0">
                <a:ln>
                  <a:noFill/>
                </a:ln>
                <a:solidFill>
                  <a:schemeClr val="tx1"/>
                </a:solidFill>
                <a:effectLst/>
                <a:latin typeface="Arial" panose="020B0604020202020204" pitchFamily="34" charset="0"/>
              </a:rPr>
              <a:t>graphical environment</a:t>
            </a:r>
            <a:r>
              <a:rPr kumimoji="0" lang="en-US" altLang="en-US" sz="1600" b="0" i="0" u="none" strike="noStrike" cap="none" normalizeH="0" baseline="0" dirty="0">
                <a:ln>
                  <a:noFill/>
                </a:ln>
                <a:solidFill>
                  <a:schemeClr val="tx1"/>
                </a:solidFill>
                <a:effectLst/>
                <a:latin typeface="Arial" panose="020B0604020202020204" pitchFamily="34" charset="0"/>
              </a:rPr>
              <a:t> for </a:t>
            </a:r>
            <a:r>
              <a:rPr kumimoji="0" lang="en-US" altLang="en-US" sz="1600" b="1" i="0" u="none" strike="noStrike" cap="none" normalizeH="0" baseline="0" dirty="0">
                <a:ln>
                  <a:noFill/>
                </a:ln>
                <a:solidFill>
                  <a:schemeClr val="tx1"/>
                </a:solidFill>
                <a:effectLst/>
                <a:latin typeface="Arial" panose="020B0604020202020204" pitchFamily="34" charset="0"/>
              </a:rPr>
              <a:t>modeling, simulating, and analyzing</a:t>
            </a:r>
            <a:r>
              <a:rPr kumimoji="0" lang="en-US" altLang="en-US" sz="1600" b="0" i="0" u="none" strike="noStrike" cap="none" normalizeH="0" baseline="0" dirty="0">
                <a:ln>
                  <a:noFill/>
                </a:ln>
                <a:solidFill>
                  <a:schemeClr val="tx1"/>
                </a:solidFill>
                <a:effectLst/>
                <a:latin typeface="Arial" panose="020B0604020202020204" pitchFamily="34" charset="0"/>
              </a:rPr>
              <a:t> dynamic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Ideal for control systems, signal processing, communications, and embedded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Uses </a:t>
            </a:r>
            <a:r>
              <a:rPr kumimoji="0" lang="en-US" altLang="en-US" sz="1600" b="1" i="0" u="none" strike="noStrike" cap="none" normalizeH="0" baseline="0" dirty="0">
                <a:ln>
                  <a:noFill/>
                </a:ln>
                <a:solidFill>
                  <a:schemeClr val="tx1"/>
                </a:solidFill>
                <a:effectLst/>
                <a:latin typeface="Arial" panose="020B0604020202020204" pitchFamily="34" charset="0"/>
              </a:rPr>
              <a:t>block diagrams</a:t>
            </a:r>
            <a:r>
              <a:rPr kumimoji="0" lang="en-US" altLang="en-US" sz="1600" b="0" i="0" u="none" strike="noStrike" cap="none" normalizeH="0" baseline="0" dirty="0">
                <a:ln>
                  <a:noFill/>
                </a:ln>
                <a:solidFill>
                  <a:schemeClr val="tx1"/>
                </a:solidFill>
                <a:effectLst/>
                <a:latin typeface="Arial" panose="020B0604020202020204" pitchFamily="34" charset="0"/>
              </a:rPr>
              <a:t> for simulation instead of traditional coding.</a:t>
            </a:r>
            <a:endParaRPr lang="en-US" sz="3600" dirty="0">
              <a:latin typeface="Times New Roman"/>
              <a:cs typeface="Times New Roman"/>
            </a:endParaRPr>
          </a:p>
          <a:p>
            <a:pPr marL="367030" indent="-354330">
              <a:lnSpc>
                <a:spcPct val="100000"/>
              </a:lnSpc>
              <a:spcBef>
                <a:spcPts val="675"/>
              </a:spcBef>
              <a:buClr>
                <a:srgbClr val="3333B3"/>
              </a:buClr>
              <a:buAutoNum type="arabicPeriod"/>
              <a:tabLst>
                <a:tab pos="367030" algn="l"/>
              </a:tabLst>
            </a:pPr>
            <a:r>
              <a:rPr sz="2800" dirty="0">
                <a:latin typeface="Times New Roman"/>
                <a:cs typeface="Times New Roman"/>
              </a:rPr>
              <a:t>Python</a:t>
            </a:r>
            <a:r>
              <a:rPr sz="2800" spc="-55" dirty="0">
                <a:latin typeface="Times New Roman"/>
                <a:cs typeface="Times New Roman"/>
              </a:rPr>
              <a:t> </a:t>
            </a:r>
            <a:r>
              <a:rPr sz="2800" dirty="0">
                <a:latin typeface="Times New Roman"/>
                <a:cs typeface="Times New Roman"/>
              </a:rPr>
              <a:t>-</a:t>
            </a:r>
            <a:r>
              <a:rPr sz="2800" spc="-40" dirty="0">
                <a:latin typeface="Times New Roman"/>
                <a:cs typeface="Times New Roman"/>
              </a:rPr>
              <a:t> </a:t>
            </a:r>
            <a:r>
              <a:rPr sz="2800" dirty="0">
                <a:latin typeface="Times New Roman"/>
                <a:cs typeface="Times New Roman"/>
              </a:rPr>
              <a:t>NumPy</a:t>
            </a:r>
            <a:r>
              <a:rPr sz="2800" spc="-40" dirty="0">
                <a:latin typeface="Times New Roman"/>
                <a:cs typeface="Times New Roman"/>
              </a:rPr>
              <a:t> </a:t>
            </a:r>
            <a:r>
              <a:rPr sz="2800" spc="-10" dirty="0">
                <a:latin typeface="Times New Roman"/>
                <a:cs typeface="Times New Roman"/>
              </a:rPr>
              <a:t>Package.</a:t>
            </a:r>
            <a:endParaRPr lang="en-US" sz="2800" spc="-10" dirty="0">
              <a:latin typeface="Times New Roman"/>
              <a:cs typeface="Times New Roman"/>
            </a:endParaRPr>
          </a:p>
          <a:p>
            <a:pPr>
              <a:buFont typeface="Arial" panose="020B0604020202020204" pitchFamily="34" charset="0"/>
              <a:buChar char="•"/>
            </a:pPr>
            <a:r>
              <a:rPr lang="en-IN" sz="1600" b="1" dirty="0"/>
              <a:t>NumPy (Numerical Python):</a:t>
            </a:r>
            <a:endParaRPr lang="en-IN" sz="1600" dirty="0"/>
          </a:p>
          <a:p>
            <a:pPr marL="742950" lvl="1" indent="-285750">
              <a:buFont typeface="Arial" panose="020B0604020202020204" pitchFamily="34" charset="0"/>
              <a:buChar char="•"/>
            </a:pPr>
            <a:r>
              <a:rPr lang="en-IN" sz="1600" dirty="0"/>
              <a:t>A core scientific library in Python for </a:t>
            </a:r>
            <a:r>
              <a:rPr lang="en-IN" sz="1600" b="1" dirty="0"/>
              <a:t>efficient numerical computations</a:t>
            </a:r>
            <a:r>
              <a:rPr lang="en-IN" sz="1600" dirty="0"/>
              <a:t>.</a:t>
            </a:r>
          </a:p>
          <a:p>
            <a:pPr marL="742950" lvl="1" indent="-285750">
              <a:buFont typeface="Arial" panose="020B0604020202020204" pitchFamily="34" charset="0"/>
              <a:buChar char="•"/>
            </a:pPr>
            <a:r>
              <a:rPr lang="en-IN" sz="1600" dirty="0"/>
              <a:t>Provides powerful </a:t>
            </a:r>
            <a:r>
              <a:rPr lang="en-IN" sz="1600" b="1" dirty="0"/>
              <a:t>multi-dimensional arrays (</a:t>
            </a:r>
            <a:r>
              <a:rPr lang="en-IN" sz="1600" b="1" dirty="0" err="1"/>
              <a:t>ndarrays</a:t>
            </a:r>
            <a:r>
              <a:rPr lang="en-IN" sz="1600" b="1" dirty="0"/>
              <a:t>)</a:t>
            </a:r>
            <a:r>
              <a:rPr lang="en-IN" sz="1600" dirty="0"/>
              <a:t>, </a:t>
            </a:r>
            <a:r>
              <a:rPr lang="en-IN" sz="1600" b="1" dirty="0"/>
              <a:t>mathematical functions</a:t>
            </a:r>
            <a:r>
              <a:rPr lang="en-IN" sz="1600" dirty="0"/>
              <a:t>, </a:t>
            </a:r>
            <a:r>
              <a:rPr lang="en-IN" sz="1600" b="1" dirty="0"/>
              <a:t>linear algebra</a:t>
            </a:r>
            <a:r>
              <a:rPr lang="en-IN" sz="1600" dirty="0"/>
              <a:t>, and </a:t>
            </a:r>
            <a:r>
              <a:rPr lang="en-IN" sz="1600" b="1" dirty="0"/>
              <a:t>Fourier transforms</a:t>
            </a:r>
            <a:r>
              <a:rPr lang="en-IN" sz="1600" dirty="0"/>
              <a:t>.</a:t>
            </a:r>
          </a:p>
          <a:p>
            <a:pPr marL="742950" lvl="1" indent="-285750">
              <a:buFont typeface="Arial" panose="020B0604020202020204" pitchFamily="34" charset="0"/>
              <a:buChar char="•"/>
            </a:pPr>
            <a:r>
              <a:rPr lang="en-IN" sz="1600" dirty="0"/>
              <a:t>It’s the foundation for many other Python libraries like SciPy, Pandas, and TensorFlow.</a:t>
            </a:r>
          </a:p>
          <a:p>
            <a:pPr marL="742950" lvl="1" indent="-285750">
              <a:buFont typeface="Arial" panose="020B0604020202020204" pitchFamily="34" charset="0"/>
              <a:buChar char="•"/>
            </a:pPr>
            <a:r>
              <a:rPr lang="en-IN" sz="1600" dirty="0"/>
              <a:t>Known for being </a:t>
            </a:r>
            <a:r>
              <a:rPr lang="en-IN" sz="1600" b="1" dirty="0"/>
              <a:t>fast</a:t>
            </a:r>
            <a:r>
              <a:rPr lang="en-IN" sz="1600" dirty="0"/>
              <a:t>, </a:t>
            </a:r>
            <a:r>
              <a:rPr lang="en-IN" sz="1600" b="1" dirty="0"/>
              <a:t>open-source</a:t>
            </a:r>
            <a:r>
              <a:rPr lang="en-IN" sz="1600" dirty="0"/>
              <a:t>, and </a:t>
            </a:r>
            <a:r>
              <a:rPr lang="en-IN" sz="1600" b="1" dirty="0"/>
              <a:t>easy to integrate</a:t>
            </a:r>
            <a:r>
              <a:rPr lang="en-IN" sz="1600" dirty="0"/>
              <a:t> with C/C++ code.</a:t>
            </a:r>
          </a:p>
          <a:p>
            <a:pPr marL="12700">
              <a:lnSpc>
                <a:spcPct val="100000"/>
              </a:lnSpc>
              <a:spcBef>
                <a:spcPts val="675"/>
              </a:spcBef>
              <a:buClr>
                <a:srgbClr val="3333B3"/>
              </a:buClr>
              <a:tabLst>
                <a:tab pos="367030" algn="l"/>
              </a:tabLst>
            </a:pPr>
            <a:endParaRPr sz="24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38201" rIns="0" bIns="0" rtlCol="0">
            <a:spAutoFit/>
          </a:bodyPr>
          <a:lstStyle/>
          <a:p>
            <a:pPr marL="12700">
              <a:lnSpc>
                <a:spcPct val="100000"/>
              </a:lnSpc>
              <a:spcBef>
                <a:spcPts val="100"/>
              </a:spcBef>
            </a:pPr>
            <a:r>
              <a:rPr spc="-160" dirty="0">
                <a:latin typeface="Times New Roman"/>
                <a:cs typeface="Times New Roman"/>
              </a:rPr>
              <a:t>Programming</a:t>
            </a:r>
            <a:r>
              <a:rPr spc="-170" dirty="0">
                <a:latin typeface="Times New Roman"/>
                <a:cs typeface="Times New Roman"/>
              </a:rPr>
              <a:t> </a:t>
            </a:r>
            <a:r>
              <a:rPr spc="-135" dirty="0">
                <a:latin typeface="Times New Roman"/>
                <a:cs typeface="Times New Roman"/>
              </a:rPr>
              <a:t>Language:</a:t>
            </a:r>
          </a:p>
        </p:txBody>
      </p:sp>
      <p:sp>
        <p:nvSpPr>
          <p:cNvPr id="6" name="Rectangle 1">
            <a:extLst>
              <a:ext uri="{FF2B5EF4-FFF2-40B4-BE49-F238E27FC236}">
                <a16:creationId xmlns:a16="http://schemas.microsoft.com/office/drawing/2014/main" id="{B84C2976-EBCC-597B-5E19-37D1B483904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67675" cy="3830320"/>
          </a:xfrm>
          <a:prstGeom prst="rect">
            <a:avLst/>
          </a:prstGeom>
        </p:spPr>
        <p:txBody>
          <a:bodyPr vert="horz" wrap="square" lIns="0" tIns="12700" rIns="0" bIns="0" rtlCol="0">
            <a:spAutoFit/>
          </a:bodyPr>
          <a:lstStyle/>
          <a:p>
            <a:pPr marL="355600" marR="318770" indent="-342900">
              <a:lnSpc>
                <a:spcPct val="100000"/>
              </a:lnSpc>
              <a:spcBef>
                <a:spcPts val="100"/>
              </a:spcBef>
              <a:buClr>
                <a:srgbClr val="0F1141"/>
              </a:buClr>
              <a:buFont typeface="Arial MT"/>
              <a:buChar char="•"/>
              <a:tabLst>
                <a:tab pos="355600" algn="l"/>
              </a:tabLst>
            </a:pPr>
            <a:r>
              <a:rPr sz="2400" spc="-10" dirty="0">
                <a:latin typeface="Times New Roman"/>
                <a:cs typeface="Times New Roman"/>
              </a:rPr>
              <a:t>Wireless</a:t>
            </a:r>
            <a:r>
              <a:rPr sz="2400" spc="-40" dirty="0">
                <a:latin typeface="Times New Roman"/>
                <a:cs typeface="Times New Roman"/>
              </a:rPr>
              <a:t> </a:t>
            </a:r>
            <a:r>
              <a:rPr sz="2400" dirty="0">
                <a:latin typeface="Times New Roman"/>
                <a:cs typeface="Times New Roman"/>
              </a:rPr>
              <a:t>communications</a:t>
            </a:r>
            <a:r>
              <a:rPr sz="2400" spc="-30" dirty="0">
                <a:latin typeface="Times New Roman"/>
                <a:cs typeface="Times New Roman"/>
              </a:rPr>
              <a:t> </a:t>
            </a:r>
            <a:r>
              <a:rPr sz="2400" dirty="0">
                <a:latin typeface="Times New Roman"/>
                <a:cs typeface="Times New Roman"/>
              </a:rPr>
              <a:t>has</a:t>
            </a:r>
            <a:r>
              <a:rPr sz="2400" spc="-40" dirty="0">
                <a:latin typeface="Times New Roman"/>
                <a:cs typeface="Times New Roman"/>
              </a:rPr>
              <a:t> </a:t>
            </a:r>
            <a:r>
              <a:rPr sz="2400" dirty="0">
                <a:latin typeface="Times New Roman"/>
                <a:cs typeface="Times New Roman"/>
              </a:rPr>
              <a:t>been</a:t>
            </a:r>
            <a:r>
              <a:rPr sz="2400" spc="-30" dirty="0">
                <a:latin typeface="Times New Roman"/>
                <a:cs typeface="Times New Roman"/>
              </a:rPr>
              <a:t> </a:t>
            </a:r>
            <a:r>
              <a:rPr sz="2400" dirty="0">
                <a:latin typeface="Times New Roman"/>
                <a:cs typeface="Times New Roman"/>
              </a:rPr>
              <a:t>associated</a:t>
            </a:r>
            <a:r>
              <a:rPr sz="2400" spc="-65"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spc="-10" dirty="0">
                <a:latin typeface="Times New Roman"/>
                <a:cs typeface="Times New Roman"/>
              </a:rPr>
              <a:t>cellular telephony,</a:t>
            </a:r>
            <a:r>
              <a:rPr sz="2400" spc="-55" dirty="0">
                <a:latin typeface="Times New Roman"/>
                <a:cs typeface="Times New Roman"/>
              </a:rPr>
              <a:t> </a:t>
            </a:r>
            <a:r>
              <a:rPr sz="2400" dirty="0">
                <a:latin typeface="Times New Roman"/>
                <a:cs typeface="Times New Roman"/>
              </a:rPr>
              <a:t>as</a:t>
            </a:r>
            <a:r>
              <a:rPr sz="2400" spc="-15" dirty="0">
                <a:latin typeface="Times New Roman"/>
                <a:cs typeface="Times New Roman"/>
              </a:rPr>
              <a:t> </a:t>
            </a:r>
            <a:r>
              <a:rPr sz="2400" dirty="0">
                <a:latin typeface="Times New Roman"/>
                <a:cs typeface="Times New Roman"/>
              </a:rPr>
              <a:t>this</a:t>
            </a:r>
            <a:r>
              <a:rPr sz="2400" spc="-15"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biggest</a:t>
            </a:r>
            <a:r>
              <a:rPr sz="2400" spc="-35" dirty="0">
                <a:latin typeface="Times New Roman"/>
                <a:cs typeface="Times New Roman"/>
              </a:rPr>
              <a:t> </a:t>
            </a:r>
            <a:r>
              <a:rPr sz="2400" dirty="0">
                <a:latin typeface="Times New Roman"/>
                <a:cs typeface="Times New Roman"/>
              </a:rPr>
              <a:t>market</a:t>
            </a:r>
            <a:r>
              <a:rPr sz="2400" spc="-25" dirty="0">
                <a:latin typeface="Times New Roman"/>
                <a:cs typeface="Times New Roman"/>
              </a:rPr>
              <a:t> </a:t>
            </a:r>
            <a:r>
              <a:rPr sz="2400" dirty="0">
                <a:latin typeface="Times New Roman"/>
                <a:cs typeface="Times New Roman"/>
              </a:rPr>
              <a:t>segment,</a:t>
            </a:r>
            <a:r>
              <a:rPr sz="2400" spc="-1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has</a:t>
            </a:r>
            <a:r>
              <a:rPr sz="2400" spc="-15" dirty="0">
                <a:latin typeface="Times New Roman"/>
                <a:cs typeface="Times New Roman"/>
              </a:rPr>
              <a:t> </a:t>
            </a:r>
            <a:r>
              <a:rPr sz="2400" spc="-25" dirty="0">
                <a:latin typeface="Times New Roman"/>
                <a:cs typeface="Times New Roman"/>
              </a:rPr>
              <a:t>had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highest</a:t>
            </a:r>
            <a:r>
              <a:rPr sz="2400" spc="-20" dirty="0">
                <a:latin typeface="Times New Roman"/>
                <a:cs typeface="Times New Roman"/>
              </a:rPr>
              <a:t> </a:t>
            </a:r>
            <a:r>
              <a:rPr sz="2400" dirty="0">
                <a:latin typeface="Times New Roman"/>
                <a:cs typeface="Times New Roman"/>
              </a:rPr>
              <a:t>impact</a:t>
            </a:r>
            <a:r>
              <a:rPr sz="2400" spc="-5" dirty="0">
                <a:latin typeface="Times New Roman"/>
                <a:cs typeface="Times New Roman"/>
              </a:rPr>
              <a:t> </a:t>
            </a:r>
            <a:r>
              <a:rPr sz="2400" dirty="0">
                <a:latin typeface="Times New Roman"/>
                <a:cs typeface="Times New Roman"/>
              </a:rPr>
              <a:t>on everyday</a:t>
            </a:r>
            <a:r>
              <a:rPr sz="2400" spc="-25" dirty="0">
                <a:latin typeface="Times New Roman"/>
                <a:cs typeface="Times New Roman"/>
              </a:rPr>
              <a:t> </a:t>
            </a:r>
            <a:r>
              <a:rPr sz="2400" spc="-10" dirty="0">
                <a:latin typeface="Times New Roman"/>
                <a:cs typeface="Times New Roman"/>
              </a:rPr>
              <a:t>lives.</a:t>
            </a:r>
            <a:endParaRPr sz="2400">
              <a:latin typeface="Times New Roman"/>
              <a:cs typeface="Times New Roman"/>
            </a:endParaRPr>
          </a:p>
          <a:p>
            <a:pPr marL="355600" marR="139700"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recent</a:t>
            </a:r>
            <a:r>
              <a:rPr sz="2400" spc="-60" dirty="0">
                <a:latin typeface="Times New Roman"/>
                <a:cs typeface="Times New Roman"/>
              </a:rPr>
              <a:t> </a:t>
            </a:r>
            <a:r>
              <a:rPr sz="2400" dirty="0">
                <a:latin typeface="Times New Roman"/>
                <a:cs typeface="Times New Roman"/>
              </a:rPr>
              <a:t>times,</a:t>
            </a:r>
            <a:r>
              <a:rPr sz="2400" spc="-25" dirty="0">
                <a:latin typeface="Times New Roman"/>
                <a:cs typeface="Times New Roman"/>
              </a:rPr>
              <a:t> </a:t>
            </a:r>
            <a:r>
              <a:rPr sz="2400" dirty="0">
                <a:latin typeface="Times New Roman"/>
                <a:cs typeface="Times New Roman"/>
              </a:rPr>
              <a:t>wireless</a:t>
            </a:r>
            <a:r>
              <a:rPr sz="2400" spc="-35" dirty="0">
                <a:latin typeface="Times New Roman"/>
                <a:cs typeface="Times New Roman"/>
              </a:rPr>
              <a:t> </a:t>
            </a:r>
            <a:r>
              <a:rPr sz="2400" dirty="0">
                <a:latin typeface="Times New Roman"/>
                <a:cs typeface="Times New Roman"/>
              </a:rPr>
              <a:t>computer</a:t>
            </a:r>
            <a:r>
              <a:rPr sz="2400" spc="-25" dirty="0">
                <a:latin typeface="Times New Roman"/>
                <a:cs typeface="Times New Roman"/>
              </a:rPr>
              <a:t> </a:t>
            </a:r>
            <a:r>
              <a:rPr sz="2400" dirty="0">
                <a:latin typeface="Times New Roman"/>
                <a:cs typeface="Times New Roman"/>
              </a:rPr>
              <a:t>networks</a:t>
            </a:r>
            <a:r>
              <a:rPr sz="2400" spc="-40" dirty="0">
                <a:latin typeface="Times New Roman"/>
                <a:cs typeface="Times New Roman"/>
              </a:rPr>
              <a:t> </a:t>
            </a:r>
            <a:r>
              <a:rPr sz="2400" dirty="0">
                <a:latin typeface="Times New Roman"/>
                <a:cs typeface="Times New Roman"/>
              </a:rPr>
              <a:t>have</a:t>
            </a:r>
            <a:r>
              <a:rPr sz="2400" spc="-35" dirty="0">
                <a:latin typeface="Times New Roman"/>
                <a:cs typeface="Times New Roman"/>
              </a:rPr>
              <a:t> </a:t>
            </a:r>
            <a:r>
              <a:rPr sz="2400" dirty="0">
                <a:latin typeface="Times New Roman"/>
                <a:cs typeface="Times New Roman"/>
              </a:rPr>
              <a:t>also</a:t>
            </a:r>
            <a:r>
              <a:rPr sz="2400" spc="-35" dirty="0">
                <a:latin typeface="Times New Roman"/>
                <a:cs typeface="Times New Roman"/>
              </a:rPr>
              <a:t> </a:t>
            </a:r>
            <a:r>
              <a:rPr sz="2400" dirty="0">
                <a:latin typeface="Times New Roman"/>
                <a:cs typeface="Times New Roman"/>
              </a:rPr>
              <a:t>led</a:t>
            </a:r>
            <a:r>
              <a:rPr sz="2400" spc="-40"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50" dirty="0">
                <a:latin typeface="Times New Roman"/>
                <a:cs typeface="Times New Roman"/>
              </a:rPr>
              <a:t>a </a:t>
            </a:r>
            <a:r>
              <a:rPr sz="2400" dirty="0">
                <a:latin typeface="Times New Roman"/>
                <a:cs typeface="Times New Roman"/>
              </a:rPr>
              <a:t>significant</a:t>
            </a:r>
            <a:r>
              <a:rPr sz="2400" spc="-45" dirty="0">
                <a:latin typeface="Times New Roman"/>
                <a:cs typeface="Times New Roman"/>
              </a:rPr>
              <a:t> </a:t>
            </a:r>
            <a:r>
              <a:rPr sz="2400" dirty="0">
                <a:latin typeface="Times New Roman"/>
                <a:cs typeface="Times New Roman"/>
              </a:rPr>
              <a:t>change</a:t>
            </a:r>
            <a:r>
              <a:rPr sz="2400" spc="-3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working</a:t>
            </a:r>
            <a:r>
              <a:rPr sz="2400" spc="-20" dirty="0">
                <a:latin typeface="Times New Roman"/>
                <a:cs typeface="Times New Roman"/>
              </a:rPr>
              <a:t> </a:t>
            </a:r>
            <a:r>
              <a:rPr sz="2400" dirty="0">
                <a:latin typeface="Times New Roman"/>
                <a:cs typeface="Times New Roman"/>
              </a:rPr>
              <a:t>habits</a:t>
            </a:r>
            <a:r>
              <a:rPr sz="2400" spc="-35" dirty="0">
                <a:latin typeface="Times New Roman"/>
                <a:cs typeface="Times New Roman"/>
              </a:rPr>
              <a:t> </a:t>
            </a:r>
            <a:r>
              <a:rPr sz="2400" dirty="0">
                <a:latin typeface="Times New Roman"/>
                <a:cs typeface="Times New Roman"/>
              </a:rPr>
              <a:t>and</a:t>
            </a:r>
            <a:r>
              <a:rPr sz="2400" spc="-10" dirty="0">
                <a:latin typeface="Times New Roman"/>
                <a:cs typeface="Times New Roman"/>
              </a:rPr>
              <a:t> mobility</a:t>
            </a:r>
            <a:endParaRPr sz="2400">
              <a:latin typeface="Times New Roman"/>
              <a:cs typeface="Times New Roman"/>
            </a:endParaRPr>
          </a:p>
          <a:p>
            <a:pPr marL="355600" marR="88900">
              <a:lnSpc>
                <a:spcPct val="100000"/>
              </a:lnSpc>
            </a:pP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workers</a:t>
            </a:r>
            <a:r>
              <a:rPr sz="2400" spc="-35" dirty="0">
                <a:latin typeface="Times New Roman"/>
                <a:cs typeface="Times New Roman"/>
              </a:rPr>
              <a:t> </a:t>
            </a:r>
            <a:r>
              <a:rPr sz="2400" dirty="0">
                <a:latin typeface="Times New Roman"/>
                <a:cs typeface="Times New Roman"/>
              </a:rPr>
              <a:t>–</a:t>
            </a:r>
            <a:r>
              <a:rPr sz="2400" spc="-30" dirty="0">
                <a:latin typeface="Times New Roman"/>
                <a:cs typeface="Times New Roman"/>
              </a:rPr>
              <a:t> </a:t>
            </a:r>
            <a:r>
              <a:rPr sz="2400" dirty="0">
                <a:latin typeface="Times New Roman"/>
                <a:cs typeface="Times New Roman"/>
              </a:rPr>
              <a:t>answering</a:t>
            </a:r>
            <a:r>
              <a:rPr sz="2400" spc="-40" dirty="0">
                <a:latin typeface="Times New Roman"/>
                <a:cs typeface="Times New Roman"/>
              </a:rPr>
              <a:t> </a:t>
            </a:r>
            <a:r>
              <a:rPr sz="2400" dirty="0">
                <a:latin typeface="Times New Roman"/>
                <a:cs typeface="Times New Roman"/>
              </a:rPr>
              <a:t>emails</a:t>
            </a:r>
            <a:r>
              <a:rPr sz="2400" spc="-30" dirty="0">
                <a:latin typeface="Times New Roman"/>
                <a:cs typeface="Times New Roman"/>
              </a:rPr>
              <a:t> </a:t>
            </a:r>
            <a:r>
              <a:rPr sz="2400" dirty="0">
                <a:latin typeface="Times New Roman"/>
                <a:cs typeface="Times New Roman"/>
              </a:rPr>
              <a:t>in</a:t>
            </a:r>
            <a:r>
              <a:rPr sz="2400" spc="-45"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coffee</a:t>
            </a:r>
            <a:r>
              <a:rPr sz="2400" spc="-35" dirty="0">
                <a:latin typeface="Times New Roman"/>
                <a:cs typeface="Times New Roman"/>
              </a:rPr>
              <a:t> </a:t>
            </a:r>
            <a:r>
              <a:rPr sz="2400" dirty="0">
                <a:latin typeface="Times New Roman"/>
                <a:cs typeface="Times New Roman"/>
              </a:rPr>
              <a:t>shop</a:t>
            </a:r>
            <a:r>
              <a:rPr sz="2400" spc="-30" dirty="0">
                <a:latin typeface="Times New Roman"/>
                <a:cs typeface="Times New Roman"/>
              </a:rPr>
              <a:t> </a:t>
            </a:r>
            <a:r>
              <a:rPr sz="2400" dirty="0">
                <a:latin typeface="Times New Roman"/>
                <a:cs typeface="Times New Roman"/>
              </a:rPr>
              <a:t>has</a:t>
            </a:r>
            <a:r>
              <a:rPr sz="2400" spc="-30" dirty="0">
                <a:latin typeface="Times New Roman"/>
                <a:cs typeface="Times New Roman"/>
              </a:rPr>
              <a:t> </a:t>
            </a:r>
            <a:r>
              <a:rPr sz="2400" dirty="0">
                <a:latin typeface="Times New Roman"/>
                <a:cs typeface="Times New Roman"/>
              </a:rPr>
              <a:t>become</a:t>
            </a:r>
            <a:r>
              <a:rPr sz="2400" spc="-30" dirty="0">
                <a:latin typeface="Times New Roman"/>
                <a:cs typeface="Times New Roman"/>
              </a:rPr>
              <a:t> </a:t>
            </a:r>
            <a:r>
              <a:rPr sz="2400" spc="-25" dirty="0">
                <a:latin typeface="Times New Roman"/>
                <a:cs typeface="Times New Roman"/>
              </a:rPr>
              <a:t>an </a:t>
            </a:r>
            <a:r>
              <a:rPr sz="2400" dirty="0">
                <a:latin typeface="Times New Roman"/>
                <a:cs typeface="Times New Roman"/>
              </a:rPr>
              <a:t>everyday</a:t>
            </a:r>
            <a:r>
              <a:rPr sz="2400" spc="-20" dirty="0">
                <a:latin typeface="Times New Roman"/>
                <a:cs typeface="Times New Roman"/>
              </a:rPr>
              <a:t> </a:t>
            </a:r>
            <a:r>
              <a:rPr sz="2400" spc="-10" dirty="0">
                <a:latin typeface="Times New Roman"/>
                <a:cs typeface="Times New Roman"/>
              </a:rPr>
              <a:t>occurrence.</a:t>
            </a:r>
            <a:endParaRPr sz="2400">
              <a:latin typeface="Times New Roman"/>
              <a:cs typeface="Times New Roman"/>
            </a:endParaRPr>
          </a:p>
          <a:p>
            <a:pPr marL="355600" marR="5080" indent="-342900">
              <a:lnSpc>
                <a:spcPct val="100000"/>
              </a:lnSpc>
              <a:spcBef>
                <a:spcPts val="580"/>
              </a:spcBef>
              <a:buClr>
                <a:srgbClr val="0F1141"/>
              </a:buClr>
              <a:buFont typeface="Arial MT"/>
              <a:buChar char="•"/>
              <a:tabLst>
                <a:tab pos="355600" algn="l"/>
              </a:tabLst>
            </a:pPr>
            <a:r>
              <a:rPr sz="2400" dirty="0">
                <a:latin typeface="Times New Roman"/>
                <a:cs typeface="Times New Roman"/>
              </a:rPr>
              <a:t>But</a:t>
            </a:r>
            <a:r>
              <a:rPr sz="2400" spc="-20" dirty="0">
                <a:latin typeface="Times New Roman"/>
                <a:cs typeface="Times New Roman"/>
              </a:rPr>
              <a:t> </a:t>
            </a:r>
            <a:r>
              <a:rPr sz="2400" dirty="0">
                <a:latin typeface="Times New Roman"/>
                <a:cs typeface="Times New Roman"/>
              </a:rPr>
              <a:t>besides</a:t>
            </a:r>
            <a:r>
              <a:rPr sz="2400" spc="-30" dirty="0">
                <a:latin typeface="Times New Roman"/>
                <a:cs typeface="Times New Roman"/>
              </a:rPr>
              <a:t> </a:t>
            </a:r>
            <a:r>
              <a:rPr sz="2400" dirty="0">
                <a:latin typeface="Times New Roman"/>
                <a:cs typeface="Times New Roman"/>
              </a:rPr>
              <a:t>these</a:t>
            </a:r>
            <a:r>
              <a:rPr sz="2400" spc="-25" dirty="0">
                <a:latin typeface="Times New Roman"/>
                <a:cs typeface="Times New Roman"/>
              </a:rPr>
              <a:t> </a:t>
            </a:r>
            <a:r>
              <a:rPr sz="2400" dirty="0">
                <a:latin typeface="Times New Roman"/>
                <a:cs typeface="Times New Roman"/>
              </a:rPr>
              <a:t>widely</a:t>
            </a:r>
            <a:r>
              <a:rPr sz="2400" spc="-40" dirty="0">
                <a:latin typeface="Times New Roman"/>
                <a:cs typeface="Times New Roman"/>
              </a:rPr>
              <a:t> </a:t>
            </a:r>
            <a:r>
              <a:rPr sz="2400" dirty="0">
                <a:latin typeface="Times New Roman"/>
                <a:cs typeface="Times New Roman"/>
              </a:rPr>
              <a:t>publicized</a:t>
            </a:r>
            <a:r>
              <a:rPr sz="2400" spc="-50" dirty="0">
                <a:latin typeface="Times New Roman"/>
                <a:cs typeface="Times New Roman"/>
              </a:rPr>
              <a:t> </a:t>
            </a:r>
            <a:r>
              <a:rPr sz="2400" dirty="0">
                <a:latin typeface="Times New Roman"/>
                <a:cs typeface="Times New Roman"/>
              </a:rPr>
              <a:t>cases,</a:t>
            </a:r>
            <a:r>
              <a:rPr sz="2400" spc="-3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large</a:t>
            </a:r>
            <a:r>
              <a:rPr sz="2400" spc="-40" dirty="0">
                <a:latin typeface="Times New Roman"/>
                <a:cs typeface="Times New Roman"/>
              </a:rPr>
              <a:t> </a:t>
            </a:r>
            <a:r>
              <a:rPr sz="2400" dirty="0">
                <a:latin typeface="Times New Roman"/>
                <a:cs typeface="Times New Roman"/>
              </a:rPr>
              <a:t>number</a:t>
            </a:r>
            <a:r>
              <a:rPr sz="2400" spc="-5" dirty="0">
                <a:latin typeface="Times New Roman"/>
                <a:cs typeface="Times New Roman"/>
              </a:rPr>
              <a:t> </a:t>
            </a:r>
            <a:r>
              <a:rPr sz="2400" spc="-25" dirty="0">
                <a:latin typeface="Times New Roman"/>
                <a:cs typeface="Times New Roman"/>
              </a:rPr>
              <a:t>of </a:t>
            </a:r>
            <a:r>
              <a:rPr sz="2400" dirty="0">
                <a:latin typeface="Times New Roman"/>
                <a:cs typeface="Times New Roman"/>
              </a:rPr>
              <a:t>less</a:t>
            </a:r>
            <a:r>
              <a:rPr sz="2400" spc="-20" dirty="0">
                <a:latin typeface="Times New Roman"/>
                <a:cs typeface="Times New Roman"/>
              </a:rPr>
              <a:t> </a:t>
            </a:r>
            <a:r>
              <a:rPr sz="2400" dirty="0">
                <a:latin typeface="Times New Roman"/>
                <a:cs typeface="Times New Roman"/>
              </a:rPr>
              <a:t>obvious</a:t>
            </a:r>
            <a:r>
              <a:rPr sz="2400" spc="-15" dirty="0">
                <a:latin typeface="Times New Roman"/>
                <a:cs typeface="Times New Roman"/>
              </a:rPr>
              <a:t> </a:t>
            </a:r>
            <a:r>
              <a:rPr sz="2400" dirty="0">
                <a:latin typeface="Times New Roman"/>
                <a:cs typeface="Times New Roman"/>
              </a:rPr>
              <a:t>applications</a:t>
            </a:r>
            <a:r>
              <a:rPr sz="2400" spc="-40" dirty="0">
                <a:latin typeface="Times New Roman"/>
                <a:cs typeface="Times New Roman"/>
              </a:rPr>
              <a:t> </a:t>
            </a:r>
            <a:r>
              <a:rPr sz="2400" dirty="0">
                <a:latin typeface="Times New Roman"/>
                <a:cs typeface="Times New Roman"/>
              </a:rPr>
              <a:t>have</a:t>
            </a:r>
            <a:r>
              <a:rPr sz="2400" spc="-15" dirty="0">
                <a:latin typeface="Times New Roman"/>
                <a:cs typeface="Times New Roman"/>
              </a:rPr>
              <a:t> </a:t>
            </a:r>
            <a:r>
              <a:rPr sz="2400" dirty="0">
                <a:latin typeface="Times New Roman"/>
                <a:cs typeface="Times New Roman"/>
              </a:rPr>
              <a:t>been</a:t>
            </a:r>
            <a:r>
              <a:rPr sz="2400" spc="-15" dirty="0">
                <a:latin typeface="Times New Roman"/>
                <a:cs typeface="Times New Roman"/>
              </a:rPr>
              <a:t> </a:t>
            </a:r>
            <a:r>
              <a:rPr sz="2400" dirty="0">
                <a:latin typeface="Times New Roman"/>
                <a:cs typeface="Times New Roman"/>
              </a:rPr>
              <a:t>developed,</a:t>
            </a:r>
            <a:r>
              <a:rPr sz="2400" spc="-3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spc="-10" dirty="0">
                <a:latin typeface="Times New Roman"/>
                <a:cs typeface="Times New Roman"/>
              </a:rPr>
              <a:t>starting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change</a:t>
            </a:r>
            <a:r>
              <a:rPr sz="2400" spc="-20" dirty="0">
                <a:latin typeface="Times New Roman"/>
                <a:cs typeface="Times New Roman"/>
              </a:rPr>
              <a:t> </a:t>
            </a:r>
            <a:r>
              <a:rPr sz="2400" dirty="0">
                <a:latin typeface="Times New Roman"/>
                <a:cs typeface="Times New Roman"/>
              </a:rPr>
              <a:t>our</a:t>
            </a:r>
            <a:r>
              <a:rPr sz="2400" spc="-10" dirty="0">
                <a:latin typeface="Times New Roman"/>
                <a:cs typeface="Times New Roman"/>
              </a:rPr>
              <a:t> lives.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5" dirty="0"/>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06D8-E048-658E-57ED-AAE02D5659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3FB060-B794-B188-5973-667EEBC23EDD}"/>
              </a:ext>
            </a:extLst>
          </p:cNvPr>
          <p:cNvSpPr txBox="1"/>
          <p:nvPr/>
        </p:nvSpPr>
        <p:spPr>
          <a:xfrm>
            <a:off x="383540" y="1516507"/>
            <a:ext cx="8067675" cy="4334520"/>
          </a:xfrm>
          <a:prstGeom prst="rect">
            <a:avLst/>
          </a:prstGeom>
        </p:spPr>
        <p:txBody>
          <a:bodyPr vert="horz" wrap="square" lIns="0" tIns="12700" rIns="0" bIns="0" rtlCol="0">
            <a:spAutoFit/>
          </a:bodyPr>
          <a:lstStyle/>
          <a:p>
            <a:pPr>
              <a:buNone/>
            </a:pPr>
            <a:r>
              <a:rPr lang="en-US" sz="2000" dirty="0"/>
              <a:t>Wireless communication plays a crucial role in modern society, particularly in the field of </a:t>
            </a:r>
            <a:r>
              <a:rPr lang="en-US" sz="2000" b="1" dirty="0"/>
              <a:t>cellular telephony</a:t>
            </a:r>
            <a:r>
              <a:rPr lang="en-US" sz="2000" dirty="0"/>
              <a:t>, which represents the largest market segment. This technology has significantly impacted everyday life by enabling seamless communication across vast distances.</a:t>
            </a:r>
          </a:p>
          <a:p>
            <a:pPr>
              <a:buNone/>
            </a:pPr>
            <a:r>
              <a:rPr lang="en-US" sz="2000" dirty="0"/>
              <a:t>In recent years, </a:t>
            </a:r>
            <a:r>
              <a:rPr lang="en-US" sz="2000" b="1" dirty="0"/>
              <a:t>wireless computer networks</a:t>
            </a:r>
            <a:r>
              <a:rPr lang="en-US" sz="2000" dirty="0"/>
              <a:t> have transformed workplace mobility. Employees can now work remotely, access emails, and communicate efficiently from any location, such as coffee shops, without being restricted to a fixed workstation.</a:t>
            </a:r>
          </a:p>
          <a:p>
            <a:r>
              <a:rPr lang="en-US" sz="2000" dirty="0"/>
              <a:t>Beyond widely known applications like mobile phones and internet connectivity, wireless communication has also enabled </a:t>
            </a:r>
            <a:r>
              <a:rPr lang="en-US" sz="2000" b="1" dirty="0"/>
              <a:t>less obvious but impactful innovations</a:t>
            </a:r>
            <a:r>
              <a:rPr lang="en-US" sz="2000" dirty="0"/>
              <a:t>. These emerging applications continue to evolve, influencing various aspects of daily life and industries.</a:t>
            </a:r>
          </a:p>
          <a:p>
            <a:pPr marL="355600" marR="318770" indent="-342900">
              <a:lnSpc>
                <a:spcPct val="100000"/>
              </a:lnSpc>
              <a:spcBef>
                <a:spcPts val="100"/>
              </a:spcBef>
              <a:buClr>
                <a:srgbClr val="0F1141"/>
              </a:buClr>
              <a:buFont typeface="Arial MT"/>
              <a:buChar char="•"/>
              <a:tabLst>
                <a:tab pos="355600" algn="l"/>
              </a:tabLst>
            </a:pPr>
            <a:endParaRPr sz="2000" dirty="0">
              <a:latin typeface="Times New Roman"/>
              <a:cs typeface="Times New Roman"/>
            </a:endParaRPr>
          </a:p>
        </p:txBody>
      </p:sp>
      <p:sp>
        <p:nvSpPr>
          <p:cNvPr id="4" name="object 4">
            <a:extLst>
              <a:ext uri="{FF2B5EF4-FFF2-40B4-BE49-F238E27FC236}">
                <a16:creationId xmlns:a16="http://schemas.microsoft.com/office/drawing/2014/main" id="{BB3BB629-80B4-7F86-39AA-C3CDDB0ED66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a:t>
            </a:fld>
            <a:endParaRPr spc="-25" dirty="0"/>
          </a:p>
        </p:txBody>
      </p:sp>
      <p:sp>
        <p:nvSpPr>
          <p:cNvPr id="5" name="object 5">
            <a:extLst>
              <a:ext uri="{FF2B5EF4-FFF2-40B4-BE49-F238E27FC236}">
                <a16:creationId xmlns:a16="http://schemas.microsoft.com/office/drawing/2014/main" id="{7DF2EB79-6D01-1A15-26E3-76ACA1FAF1DB}"/>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43A9917A-4199-3C81-F782-68B3C672EFEF}"/>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5" dirty="0"/>
              <a:t>Introduction</a:t>
            </a:r>
          </a:p>
        </p:txBody>
      </p:sp>
    </p:spTree>
    <p:extLst>
      <p:ext uri="{BB962C8B-B14F-4D97-AF65-F5344CB8AC3E}">
        <p14:creationId xmlns:p14="http://schemas.microsoft.com/office/powerpoint/2010/main" val="781686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665720" cy="3977004"/>
          </a:xfrm>
          <a:prstGeom prst="rect">
            <a:avLst/>
          </a:prstGeom>
        </p:spPr>
        <p:txBody>
          <a:bodyPr vert="horz" wrap="square" lIns="0" tIns="12700" rIns="0" bIns="0" rtlCol="0">
            <a:spAutoFit/>
          </a:bodyPr>
          <a:lstStyle/>
          <a:p>
            <a:pPr marL="355600" marR="16510" indent="-342900">
              <a:lnSpc>
                <a:spcPct val="100000"/>
              </a:lnSpc>
              <a:spcBef>
                <a:spcPts val="100"/>
              </a:spcBef>
              <a:buClr>
                <a:srgbClr val="0F1141"/>
              </a:buClr>
              <a:buFont typeface="Arial MT"/>
              <a:buChar char="•"/>
              <a:tabLst>
                <a:tab pos="355600" algn="l"/>
              </a:tabLst>
            </a:pPr>
            <a:r>
              <a:rPr lang="en-US" sz="2400" dirty="0">
                <a:latin typeface="Times New Roman"/>
                <a:cs typeface="Times New Roman"/>
              </a:rPr>
              <a:t>This</a:t>
            </a:r>
            <a:r>
              <a:rPr lang="en-US" sz="2400" spc="-25" dirty="0">
                <a:latin typeface="Times New Roman"/>
                <a:cs typeface="Times New Roman"/>
              </a:rPr>
              <a:t> </a:t>
            </a:r>
            <a:r>
              <a:rPr lang="en-US" sz="2400" dirty="0">
                <a:latin typeface="Times New Roman"/>
                <a:cs typeface="Times New Roman"/>
              </a:rPr>
              <a:t>variety</a:t>
            </a:r>
            <a:r>
              <a:rPr lang="en-US" sz="2400" spc="-50" dirty="0">
                <a:latin typeface="Times New Roman"/>
                <a:cs typeface="Times New Roman"/>
              </a:rPr>
              <a:t> </a:t>
            </a:r>
            <a:r>
              <a:rPr lang="en-US" sz="2400" dirty="0">
                <a:latin typeface="Times New Roman"/>
                <a:cs typeface="Times New Roman"/>
              </a:rPr>
              <a:t>of</a:t>
            </a:r>
            <a:r>
              <a:rPr lang="en-US" sz="2400" spc="-15" dirty="0">
                <a:latin typeface="Times New Roman"/>
                <a:cs typeface="Times New Roman"/>
              </a:rPr>
              <a:t> </a:t>
            </a:r>
            <a:r>
              <a:rPr lang="en-US" sz="2400" dirty="0">
                <a:latin typeface="Times New Roman"/>
                <a:cs typeface="Times New Roman"/>
              </a:rPr>
              <a:t>new</a:t>
            </a:r>
            <a:r>
              <a:rPr lang="en-US" sz="2400" spc="-15" dirty="0">
                <a:latin typeface="Times New Roman"/>
                <a:cs typeface="Times New Roman"/>
              </a:rPr>
              <a:t> </a:t>
            </a:r>
            <a:r>
              <a:rPr lang="en-US" sz="2400" dirty="0">
                <a:latin typeface="Times New Roman"/>
                <a:cs typeface="Times New Roman"/>
              </a:rPr>
              <a:t>applications</a:t>
            </a:r>
            <a:r>
              <a:rPr lang="en-US" sz="2400" spc="-50" dirty="0">
                <a:latin typeface="Times New Roman"/>
                <a:cs typeface="Times New Roman"/>
              </a:rPr>
              <a:t> </a:t>
            </a:r>
            <a:r>
              <a:rPr lang="en-US" sz="2400" dirty="0">
                <a:latin typeface="Times New Roman"/>
                <a:cs typeface="Times New Roman"/>
              </a:rPr>
              <a:t>causes</a:t>
            </a:r>
            <a:r>
              <a:rPr lang="en-US" sz="2400" spc="-15" dirty="0">
                <a:latin typeface="Times New Roman"/>
                <a:cs typeface="Times New Roman"/>
              </a:rPr>
              <a:t> </a:t>
            </a:r>
            <a:r>
              <a:rPr lang="en-US" sz="2400" dirty="0">
                <a:latin typeface="Times New Roman"/>
                <a:cs typeface="Times New Roman"/>
              </a:rPr>
              <a:t>the</a:t>
            </a:r>
            <a:r>
              <a:rPr lang="en-US" sz="2400" spc="-30" dirty="0">
                <a:latin typeface="Times New Roman"/>
                <a:cs typeface="Times New Roman"/>
              </a:rPr>
              <a:t> </a:t>
            </a:r>
            <a:r>
              <a:rPr lang="en-US" sz="2400" spc="-10" dirty="0">
                <a:latin typeface="Times New Roman"/>
                <a:cs typeface="Times New Roman"/>
              </a:rPr>
              <a:t>technical </a:t>
            </a:r>
            <a:r>
              <a:rPr lang="en-US" sz="2400" dirty="0">
                <a:latin typeface="Times New Roman"/>
                <a:cs typeface="Times New Roman"/>
              </a:rPr>
              <a:t>challenges</a:t>
            </a:r>
            <a:r>
              <a:rPr lang="en-US" sz="2400" spc="-55" dirty="0">
                <a:latin typeface="Times New Roman"/>
                <a:cs typeface="Times New Roman"/>
              </a:rPr>
              <a:t> </a:t>
            </a:r>
            <a:r>
              <a:rPr lang="en-US" sz="2400" dirty="0">
                <a:latin typeface="Times New Roman"/>
                <a:cs typeface="Times New Roman"/>
              </a:rPr>
              <a:t>for</a:t>
            </a:r>
            <a:r>
              <a:rPr lang="en-US" sz="2400" spc="-20" dirty="0">
                <a:latin typeface="Times New Roman"/>
                <a:cs typeface="Times New Roman"/>
              </a:rPr>
              <a:t> </a:t>
            </a:r>
            <a:r>
              <a:rPr lang="en-US" sz="2400" dirty="0">
                <a:latin typeface="Times New Roman"/>
                <a:cs typeface="Times New Roman"/>
              </a:rPr>
              <a:t>the</a:t>
            </a:r>
            <a:r>
              <a:rPr lang="en-US" sz="2400" spc="-15" dirty="0">
                <a:latin typeface="Times New Roman"/>
                <a:cs typeface="Times New Roman"/>
              </a:rPr>
              <a:t> </a:t>
            </a:r>
            <a:r>
              <a:rPr lang="en-US" sz="2400" dirty="0">
                <a:latin typeface="Times New Roman"/>
                <a:cs typeface="Times New Roman"/>
              </a:rPr>
              <a:t>wireless</a:t>
            </a:r>
            <a:r>
              <a:rPr lang="en-US" sz="2400" spc="-40" dirty="0">
                <a:latin typeface="Times New Roman"/>
                <a:cs typeface="Times New Roman"/>
              </a:rPr>
              <a:t> </a:t>
            </a:r>
            <a:r>
              <a:rPr lang="en-US" sz="2400" dirty="0">
                <a:latin typeface="Times New Roman"/>
                <a:cs typeface="Times New Roman"/>
              </a:rPr>
              <a:t>engineers</a:t>
            </a:r>
            <a:r>
              <a:rPr lang="en-US" sz="2400" spc="-40" dirty="0">
                <a:latin typeface="Times New Roman"/>
                <a:cs typeface="Times New Roman"/>
              </a:rPr>
              <a:t> </a:t>
            </a:r>
            <a:r>
              <a:rPr lang="en-US" sz="2400" dirty="0">
                <a:latin typeface="Times New Roman"/>
                <a:cs typeface="Times New Roman"/>
              </a:rPr>
              <a:t>to</a:t>
            </a:r>
            <a:r>
              <a:rPr lang="en-US" sz="2400" spc="-30" dirty="0">
                <a:latin typeface="Times New Roman"/>
                <a:cs typeface="Times New Roman"/>
              </a:rPr>
              <a:t> </a:t>
            </a:r>
            <a:r>
              <a:rPr lang="en-US" sz="2400" dirty="0">
                <a:latin typeface="Times New Roman"/>
                <a:cs typeface="Times New Roman"/>
              </a:rPr>
              <a:t>become</a:t>
            </a:r>
            <a:r>
              <a:rPr lang="en-US" sz="2400" spc="-20" dirty="0">
                <a:latin typeface="Times New Roman"/>
                <a:cs typeface="Times New Roman"/>
              </a:rPr>
              <a:t> </a:t>
            </a:r>
            <a:r>
              <a:rPr lang="en-US" sz="2400" dirty="0">
                <a:latin typeface="Times New Roman"/>
                <a:cs typeface="Times New Roman"/>
              </a:rPr>
              <a:t>bigger</a:t>
            </a:r>
            <a:r>
              <a:rPr lang="en-US" sz="2400" spc="-35" dirty="0">
                <a:latin typeface="Times New Roman"/>
                <a:cs typeface="Times New Roman"/>
              </a:rPr>
              <a:t> </a:t>
            </a:r>
            <a:r>
              <a:rPr lang="en-US" sz="2400" spc="-20" dirty="0">
                <a:latin typeface="Times New Roman"/>
                <a:cs typeface="Times New Roman"/>
              </a:rPr>
              <a:t>with </a:t>
            </a:r>
            <a:r>
              <a:rPr lang="en-US" sz="2400" dirty="0">
                <a:latin typeface="Times New Roman"/>
                <a:cs typeface="Times New Roman"/>
              </a:rPr>
              <a:t>each</a:t>
            </a:r>
            <a:r>
              <a:rPr lang="en-US" sz="2400" spc="-25" dirty="0">
                <a:latin typeface="Times New Roman"/>
                <a:cs typeface="Times New Roman"/>
              </a:rPr>
              <a:t> </a:t>
            </a:r>
            <a:r>
              <a:rPr lang="en-US" sz="2400" spc="-20" dirty="0">
                <a:latin typeface="Times New Roman"/>
                <a:cs typeface="Times New Roman"/>
              </a:rPr>
              <a:t>day.</a:t>
            </a:r>
            <a:endParaRPr lang="en-US" sz="2400" dirty="0">
              <a:latin typeface="Times New Roman"/>
              <a:cs typeface="Times New Roman"/>
            </a:endParaRPr>
          </a:p>
          <a:p>
            <a:pPr marL="355600" marR="172085" indent="-342900">
              <a:lnSpc>
                <a:spcPct val="100000"/>
              </a:lnSpc>
              <a:spcBef>
                <a:spcPts val="575"/>
              </a:spcBef>
              <a:buClr>
                <a:srgbClr val="0F1141"/>
              </a:buClr>
              <a:buFont typeface="Arial MT"/>
              <a:buChar char="•"/>
              <a:tabLst>
                <a:tab pos="355600" algn="l"/>
              </a:tabLst>
            </a:pPr>
            <a:r>
              <a:rPr lang="en-US" sz="2400" spc="-30" dirty="0">
                <a:latin typeface="Times New Roman"/>
                <a:cs typeface="Times New Roman"/>
              </a:rPr>
              <a:t>To</a:t>
            </a:r>
            <a:r>
              <a:rPr lang="en-US" sz="2400" spc="-25" dirty="0">
                <a:latin typeface="Times New Roman"/>
                <a:cs typeface="Times New Roman"/>
              </a:rPr>
              <a:t> </a:t>
            </a:r>
            <a:r>
              <a:rPr lang="en-US" sz="2400" dirty="0">
                <a:latin typeface="Times New Roman"/>
                <a:cs typeface="Times New Roman"/>
              </a:rPr>
              <a:t>give</a:t>
            </a:r>
            <a:r>
              <a:rPr lang="en-US" sz="2400" spc="-35" dirty="0">
                <a:latin typeface="Times New Roman"/>
                <a:cs typeface="Times New Roman"/>
              </a:rPr>
              <a:t> </a:t>
            </a:r>
            <a:r>
              <a:rPr lang="en-US" sz="2400" dirty="0">
                <a:latin typeface="Times New Roman"/>
                <a:cs typeface="Times New Roman"/>
              </a:rPr>
              <a:t>an</a:t>
            </a:r>
            <a:r>
              <a:rPr lang="en-US" sz="2400" spc="-35" dirty="0">
                <a:latin typeface="Times New Roman"/>
                <a:cs typeface="Times New Roman"/>
              </a:rPr>
              <a:t> </a:t>
            </a:r>
            <a:r>
              <a:rPr lang="en-US" sz="2400" dirty="0">
                <a:latin typeface="Times New Roman"/>
                <a:cs typeface="Times New Roman"/>
              </a:rPr>
              <a:t>overview</a:t>
            </a:r>
            <a:r>
              <a:rPr lang="en-US" sz="2400" spc="-45" dirty="0">
                <a:latin typeface="Times New Roman"/>
                <a:cs typeface="Times New Roman"/>
              </a:rPr>
              <a:t> </a:t>
            </a:r>
            <a:r>
              <a:rPr lang="en-US" sz="2400" dirty="0">
                <a:latin typeface="Times New Roman"/>
                <a:cs typeface="Times New Roman"/>
              </a:rPr>
              <a:t>of</a:t>
            </a:r>
            <a:r>
              <a:rPr lang="en-US" sz="2400" spc="-25" dirty="0">
                <a:latin typeface="Times New Roman"/>
                <a:cs typeface="Times New Roman"/>
              </a:rPr>
              <a:t> </a:t>
            </a:r>
            <a:r>
              <a:rPr lang="en-US" sz="2400" dirty="0">
                <a:latin typeface="Times New Roman"/>
                <a:cs typeface="Times New Roman"/>
              </a:rPr>
              <a:t>the</a:t>
            </a:r>
            <a:r>
              <a:rPr lang="en-US" sz="2400" spc="-40" dirty="0">
                <a:latin typeface="Times New Roman"/>
                <a:cs typeface="Times New Roman"/>
              </a:rPr>
              <a:t> </a:t>
            </a:r>
            <a:r>
              <a:rPr lang="en-US" sz="2400" dirty="0">
                <a:latin typeface="Times New Roman"/>
                <a:cs typeface="Times New Roman"/>
              </a:rPr>
              <a:t>solution</a:t>
            </a:r>
            <a:r>
              <a:rPr lang="en-US" sz="2400" spc="-45" dirty="0">
                <a:latin typeface="Times New Roman"/>
                <a:cs typeface="Times New Roman"/>
              </a:rPr>
              <a:t> </a:t>
            </a:r>
            <a:r>
              <a:rPr lang="en-US" sz="2400" dirty="0">
                <a:latin typeface="Times New Roman"/>
                <a:cs typeface="Times New Roman"/>
              </a:rPr>
              <a:t>methods</a:t>
            </a:r>
            <a:r>
              <a:rPr lang="en-US" sz="2400" spc="-25" dirty="0">
                <a:latin typeface="Times New Roman"/>
                <a:cs typeface="Times New Roman"/>
              </a:rPr>
              <a:t> </a:t>
            </a:r>
            <a:r>
              <a:rPr lang="en-US" sz="2400" dirty="0">
                <a:latin typeface="Times New Roman"/>
                <a:cs typeface="Times New Roman"/>
              </a:rPr>
              <a:t>for</a:t>
            </a:r>
            <a:r>
              <a:rPr lang="en-US" sz="2400" spc="-20" dirty="0">
                <a:latin typeface="Times New Roman"/>
                <a:cs typeface="Times New Roman"/>
              </a:rPr>
              <a:t> </a:t>
            </a:r>
            <a:r>
              <a:rPr lang="en-US" sz="2400" dirty="0">
                <a:latin typeface="Times New Roman"/>
                <a:cs typeface="Times New Roman"/>
              </a:rPr>
              <a:t>current</a:t>
            </a:r>
            <a:r>
              <a:rPr lang="en-US" sz="2400" spc="-60" dirty="0">
                <a:latin typeface="Times New Roman"/>
                <a:cs typeface="Times New Roman"/>
              </a:rPr>
              <a:t> </a:t>
            </a:r>
            <a:r>
              <a:rPr lang="en-US" sz="2400" spc="-25" dirty="0">
                <a:latin typeface="Times New Roman"/>
                <a:cs typeface="Times New Roman"/>
              </a:rPr>
              <a:t>as </a:t>
            </a:r>
            <a:r>
              <a:rPr lang="en-US" sz="2400" dirty="0">
                <a:latin typeface="Times New Roman"/>
                <a:cs typeface="Times New Roman"/>
              </a:rPr>
              <a:t>well</a:t>
            </a:r>
            <a:r>
              <a:rPr lang="en-US" sz="2400" spc="-25" dirty="0">
                <a:latin typeface="Times New Roman"/>
                <a:cs typeface="Times New Roman"/>
              </a:rPr>
              <a:t> </a:t>
            </a:r>
            <a:r>
              <a:rPr lang="en-US" sz="2400" dirty="0">
                <a:latin typeface="Times New Roman"/>
                <a:cs typeface="Times New Roman"/>
              </a:rPr>
              <a:t>as</a:t>
            </a:r>
            <a:r>
              <a:rPr lang="en-US" sz="2400" spc="-15" dirty="0">
                <a:latin typeface="Times New Roman"/>
                <a:cs typeface="Times New Roman"/>
              </a:rPr>
              <a:t> </a:t>
            </a:r>
            <a:r>
              <a:rPr lang="en-US" sz="2400" dirty="0">
                <a:latin typeface="Times New Roman"/>
                <a:cs typeface="Times New Roman"/>
              </a:rPr>
              <a:t>future</a:t>
            </a:r>
            <a:r>
              <a:rPr lang="en-US" sz="2400" spc="-10" dirty="0">
                <a:latin typeface="Times New Roman"/>
                <a:cs typeface="Times New Roman"/>
              </a:rPr>
              <a:t> challenges.</a:t>
            </a:r>
            <a:endParaRPr lang="en-US" sz="2400" dirty="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lang="en-US" sz="2400" dirty="0">
                <a:latin typeface="Times New Roman"/>
                <a:cs typeface="Times New Roman"/>
              </a:rPr>
              <a:t>There</a:t>
            </a:r>
            <a:r>
              <a:rPr lang="en-US" sz="2400" spc="-15" dirty="0">
                <a:latin typeface="Times New Roman"/>
                <a:cs typeface="Times New Roman"/>
              </a:rPr>
              <a:t> </a:t>
            </a:r>
            <a:r>
              <a:rPr lang="en-US" sz="2400" dirty="0">
                <a:latin typeface="Times New Roman"/>
                <a:cs typeface="Times New Roman"/>
              </a:rPr>
              <a:t>are</a:t>
            </a:r>
            <a:r>
              <a:rPr lang="en-US" sz="2400" spc="-30" dirty="0">
                <a:latin typeface="Times New Roman"/>
                <a:cs typeface="Times New Roman"/>
              </a:rPr>
              <a:t> </a:t>
            </a:r>
            <a:r>
              <a:rPr lang="en-US" sz="2400" dirty="0">
                <a:latin typeface="Times New Roman"/>
                <a:cs typeface="Times New Roman"/>
              </a:rPr>
              <a:t>two</a:t>
            </a:r>
            <a:r>
              <a:rPr lang="en-US" sz="2400" spc="-5" dirty="0">
                <a:latin typeface="Times New Roman"/>
                <a:cs typeface="Times New Roman"/>
              </a:rPr>
              <a:t> </a:t>
            </a:r>
            <a:r>
              <a:rPr lang="en-US" sz="2400" dirty="0">
                <a:latin typeface="Times New Roman"/>
                <a:cs typeface="Times New Roman"/>
              </a:rPr>
              <a:t>paths</a:t>
            </a:r>
            <a:r>
              <a:rPr lang="en-US" sz="2400" spc="-10" dirty="0">
                <a:latin typeface="Times New Roman"/>
                <a:cs typeface="Times New Roman"/>
              </a:rPr>
              <a:t> </a:t>
            </a:r>
            <a:r>
              <a:rPr lang="en-US" sz="2400" dirty="0">
                <a:latin typeface="Times New Roman"/>
                <a:cs typeface="Times New Roman"/>
              </a:rPr>
              <a:t>to</a:t>
            </a:r>
            <a:r>
              <a:rPr lang="en-US" sz="2400" spc="-15" dirty="0">
                <a:latin typeface="Times New Roman"/>
                <a:cs typeface="Times New Roman"/>
              </a:rPr>
              <a:t> </a:t>
            </a:r>
            <a:r>
              <a:rPr lang="en-US" sz="2400" dirty="0">
                <a:latin typeface="Times New Roman"/>
                <a:cs typeface="Times New Roman"/>
              </a:rPr>
              <a:t>developing</a:t>
            </a:r>
            <a:r>
              <a:rPr lang="en-US" sz="2400" spc="-25" dirty="0">
                <a:latin typeface="Times New Roman"/>
                <a:cs typeface="Times New Roman"/>
              </a:rPr>
              <a:t> </a:t>
            </a:r>
            <a:r>
              <a:rPr lang="en-US" sz="2400" dirty="0">
                <a:latin typeface="Times New Roman"/>
                <a:cs typeface="Times New Roman"/>
              </a:rPr>
              <a:t>new</a:t>
            </a:r>
            <a:r>
              <a:rPr lang="en-US" sz="2400" spc="-5" dirty="0">
                <a:latin typeface="Times New Roman"/>
                <a:cs typeface="Times New Roman"/>
              </a:rPr>
              <a:t> </a:t>
            </a:r>
            <a:r>
              <a:rPr lang="en-US" sz="2400" dirty="0">
                <a:latin typeface="Times New Roman"/>
                <a:cs typeface="Times New Roman"/>
              </a:rPr>
              <a:t>technical</a:t>
            </a:r>
            <a:r>
              <a:rPr lang="en-US" sz="2400" spc="-45" dirty="0">
                <a:latin typeface="Times New Roman"/>
                <a:cs typeface="Times New Roman"/>
              </a:rPr>
              <a:t> </a:t>
            </a:r>
            <a:r>
              <a:rPr lang="en-US" sz="2400" spc="-10" dirty="0">
                <a:latin typeface="Times New Roman"/>
                <a:cs typeface="Times New Roman"/>
              </a:rPr>
              <a:t>solutions:</a:t>
            </a:r>
            <a:endParaRPr lang="en-US" sz="2400" dirty="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lang="en-US" sz="2400" dirty="0">
                <a:latin typeface="Times New Roman"/>
                <a:cs typeface="Times New Roman"/>
              </a:rPr>
              <a:t>Engineering</a:t>
            </a:r>
            <a:r>
              <a:rPr lang="en-US" sz="2400" spc="-45" dirty="0">
                <a:latin typeface="Times New Roman"/>
                <a:cs typeface="Times New Roman"/>
              </a:rPr>
              <a:t> </a:t>
            </a:r>
            <a:r>
              <a:rPr lang="en-US" sz="2400" dirty="0">
                <a:latin typeface="Times New Roman"/>
                <a:cs typeface="Times New Roman"/>
              </a:rPr>
              <a:t>Driven</a:t>
            </a:r>
            <a:r>
              <a:rPr lang="en-US" sz="2400" spc="-20" dirty="0">
                <a:latin typeface="Times New Roman"/>
                <a:cs typeface="Times New Roman"/>
              </a:rPr>
              <a:t> </a:t>
            </a:r>
            <a:r>
              <a:rPr lang="en-US" sz="2400" dirty="0">
                <a:latin typeface="Times New Roman"/>
                <a:cs typeface="Times New Roman"/>
              </a:rPr>
              <a:t>and</a:t>
            </a:r>
            <a:r>
              <a:rPr lang="en-US" sz="2400" spc="-10" dirty="0">
                <a:latin typeface="Times New Roman"/>
                <a:cs typeface="Times New Roman"/>
              </a:rPr>
              <a:t> </a:t>
            </a:r>
            <a:r>
              <a:rPr lang="en-US" sz="2400" dirty="0">
                <a:latin typeface="Times New Roman"/>
                <a:cs typeface="Times New Roman"/>
              </a:rPr>
              <a:t>Market</a:t>
            </a:r>
            <a:r>
              <a:rPr lang="en-US" sz="2400" spc="-25" dirty="0">
                <a:latin typeface="Times New Roman"/>
                <a:cs typeface="Times New Roman"/>
              </a:rPr>
              <a:t> </a:t>
            </a:r>
            <a:r>
              <a:rPr lang="en-US" sz="2400" spc="-10" dirty="0">
                <a:latin typeface="Times New Roman"/>
                <a:cs typeface="Times New Roman"/>
              </a:rPr>
              <a:t>Driven.</a:t>
            </a:r>
            <a:endParaRPr lang="en-US" sz="2400" dirty="0">
              <a:latin typeface="Times New Roman"/>
              <a:cs typeface="Times New Roman"/>
            </a:endParaRPr>
          </a:p>
          <a:p>
            <a:pPr marL="355600" marR="5080" indent="-342900">
              <a:lnSpc>
                <a:spcPct val="100000"/>
              </a:lnSpc>
              <a:spcBef>
                <a:spcPts val="580"/>
              </a:spcBef>
              <a:buClr>
                <a:srgbClr val="0F1141"/>
              </a:buClr>
              <a:buFont typeface="Arial MT"/>
              <a:buChar char="•"/>
              <a:tabLst>
                <a:tab pos="355600" algn="l"/>
              </a:tabLst>
            </a:pPr>
            <a:r>
              <a:rPr lang="en-US" sz="2400" dirty="0">
                <a:latin typeface="Times New Roman"/>
                <a:cs typeface="Times New Roman"/>
              </a:rPr>
              <a:t>In</a:t>
            </a:r>
            <a:r>
              <a:rPr lang="en-US" sz="2400" spc="-5" dirty="0">
                <a:latin typeface="Times New Roman"/>
                <a:cs typeface="Times New Roman"/>
              </a:rPr>
              <a:t> </a:t>
            </a:r>
            <a:r>
              <a:rPr lang="en-US" sz="2400" dirty="0">
                <a:latin typeface="Times New Roman"/>
                <a:cs typeface="Times New Roman"/>
              </a:rPr>
              <a:t>the</a:t>
            </a:r>
            <a:r>
              <a:rPr lang="en-US" sz="2400" spc="-30" dirty="0">
                <a:latin typeface="Times New Roman"/>
                <a:cs typeface="Times New Roman"/>
              </a:rPr>
              <a:t> </a:t>
            </a:r>
            <a:r>
              <a:rPr lang="en-US" sz="2400" dirty="0">
                <a:latin typeface="Times New Roman"/>
                <a:cs typeface="Times New Roman"/>
              </a:rPr>
              <a:t>first</a:t>
            </a:r>
            <a:r>
              <a:rPr lang="en-US" sz="2400" spc="-10" dirty="0">
                <a:latin typeface="Times New Roman"/>
                <a:cs typeface="Times New Roman"/>
              </a:rPr>
              <a:t> </a:t>
            </a:r>
            <a:r>
              <a:rPr lang="en-US" sz="2400" dirty="0">
                <a:latin typeface="Times New Roman"/>
                <a:cs typeface="Times New Roman"/>
              </a:rPr>
              <a:t>case,</a:t>
            </a:r>
            <a:r>
              <a:rPr lang="en-US" sz="2400" spc="-15" dirty="0">
                <a:latin typeface="Times New Roman"/>
                <a:cs typeface="Times New Roman"/>
              </a:rPr>
              <a:t> </a:t>
            </a:r>
            <a:r>
              <a:rPr lang="en-US" sz="2400" dirty="0">
                <a:latin typeface="Times New Roman"/>
                <a:cs typeface="Times New Roman"/>
              </a:rPr>
              <a:t>the</a:t>
            </a:r>
            <a:r>
              <a:rPr lang="en-US" sz="2400" spc="-10" dirty="0">
                <a:latin typeface="Times New Roman"/>
                <a:cs typeface="Times New Roman"/>
              </a:rPr>
              <a:t> </a:t>
            </a:r>
            <a:r>
              <a:rPr lang="en-US" sz="2400" dirty="0">
                <a:latin typeface="Times New Roman"/>
                <a:cs typeface="Times New Roman"/>
              </a:rPr>
              <a:t>engineers</a:t>
            </a:r>
            <a:r>
              <a:rPr lang="en-US" sz="2400" spc="-40" dirty="0">
                <a:latin typeface="Times New Roman"/>
                <a:cs typeface="Times New Roman"/>
              </a:rPr>
              <a:t> </a:t>
            </a:r>
            <a:r>
              <a:rPr lang="en-US" sz="2400" dirty="0">
                <a:latin typeface="Times New Roman"/>
                <a:cs typeface="Times New Roman"/>
              </a:rPr>
              <a:t>come</a:t>
            </a:r>
            <a:r>
              <a:rPr lang="en-US" sz="2400" spc="5" dirty="0">
                <a:latin typeface="Times New Roman"/>
                <a:cs typeface="Times New Roman"/>
              </a:rPr>
              <a:t> </a:t>
            </a:r>
            <a:r>
              <a:rPr lang="en-US" sz="2400" dirty="0">
                <a:latin typeface="Times New Roman"/>
                <a:cs typeface="Times New Roman"/>
              </a:rPr>
              <a:t>up</a:t>
            </a:r>
            <a:r>
              <a:rPr lang="en-US" sz="2400" spc="-5" dirty="0">
                <a:latin typeface="Times New Roman"/>
                <a:cs typeface="Times New Roman"/>
              </a:rPr>
              <a:t> </a:t>
            </a:r>
            <a:r>
              <a:rPr lang="en-US" sz="2400" dirty="0">
                <a:latin typeface="Times New Roman"/>
                <a:cs typeface="Times New Roman"/>
              </a:rPr>
              <a:t>with</a:t>
            </a:r>
            <a:r>
              <a:rPr lang="en-US" sz="2400" spc="-5" dirty="0">
                <a:latin typeface="Times New Roman"/>
                <a:cs typeface="Times New Roman"/>
              </a:rPr>
              <a:t> </a:t>
            </a:r>
            <a:r>
              <a:rPr lang="en-US" sz="2400" dirty="0">
                <a:latin typeface="Times New Roman"/>
                <a:cs typeface="Times New Roman"/>
              </a:rPr>
              <a:t>a</a:t>
            </a:r>
            <a:r>
              <a:rPr lang="en-US" sz="2400" spc="-20" dirty="0">
                <a:latin typeface="Times New Roman"/>
                <a:cs typeface="Times New Roman"/>
              </a:rPr>
              <a:t> </a:t>
            </a:r>
            <a:r>
              <a:rPr lang="en-US" sz="2400" spc="-10" dirty="0">
                <a:latin typeface="Times New Roman"/>
                <a:cs typeface="Times New Roman"/>
              </a:rPr>
              <a:t>brilliant </a:t>
            </a:r>
            <a:r>
              <a:rPr lang="en-US" sz="2400" dirty="0">
                <a:latin typeface="Times New Roman"/>
                <a:cs typeface="Times New Roman"/>
              </a:rPr>
              <a:t>scientific</a:t>
            </a:r>
            <a:r>
              <a:rPr lang="en-US" sz="2400" spc="-55" dirty="0">
                <a:latin typeface="Times New Roman"/>
                <a:cs typeface="Times New Roman"/>
              </a:rPr>
              <a:t> </a:t>
            </a:r>
            <a:r>
              <a:rPr lang="en-US" sz="2400" dirty="0">
                <a:latin typeface="Times New Roman"/>
                <a:cs typeface="Times New Roman"/>
              </a:rPr>
              <a:t>idea</a:t>
            </a:r>
            <a:r>
              <a:rPr lang="en-US" sz="2400" spc="-5" dirty="0">
                <a:latin typeface="Times New Roman"/>
                <a:cs typeface="Times New Roman"/>
              </a:rPr>
              <a:t> </a:t>
            </a:r>
            <a:r>
              <a:rPr lang="en-US" sz="2400" dirty="0">
                <a:latin typeface="Times New Roman"/>
                <a:cs typeface="Times New Roman"/>
              </a:rPr>
              <a:t>–</a:t>
            </a:r>
            <a:r>
              <a:rPr lang="en-US" sz="2400" spc="-5" dirty="0">
                <a:latin typeface="Times New Roman"/>
                <a:cs typeface="Times New Roman"/>
              </a:rPr>
              <a:t> </a:t>
            </a:r>
            <a:r>
              <a:rPr lang="en-US" sz="2400" dirty="0">
                <a:latin typeface="Times New Roman"/>
                <a:cs typeface="Times New Roman"/>
              </a:rPr>
              <a:t>without</a:t>
            </a:r>
            <a:r>
              <a:rPr lang="en-US" sz="2400" spc="-25" dirty="0">
                <a:latin typeface="Times New Roman"/>
                <a:cs typeface="Times New Roman"/>
              </a:rPr>
              <a:t> </a:t>
            </a:r>
            <a:r>
              <a:rPr lang="en-US" sz="2400" dirty="0">
                <a:latin typeface="Times New Roman"/>
                <a:cs typeface="Times New Roman"/>
              </a:rPr>
              <a:t>having</a:t>
            </a:r>
            <a:r>
              <a:rPr lang="en-US" sz="2400" spc="-5" dirty="0">
                <a:latin typeface="Times New Roman"/>
                <a:cs typeface="Times New Roman"/>
              </a:rPr>
              <a:t> </a:t>
            </a:r>
            <a:r>
              <a:rPr lang="en-US" sz="2400" dirty="0">
                <a:latin typeface="Times New Roman"/>
                <a:cs typeface="Times New Roman"/>
              </a:rPr>
              <a:t>an</a:t>
            </a:r>
            <a:r>
              <a:rPr lang="en-US" sz="2400" spc="-20" dirty="0">
                <a:latin typeface="Times New Roman"/>
                <a:cs typeface="Times New Roman"/>
              </a:rPr>
              <a:t> </a:t>
            </a:r>
            <a:r>
              <a:rPr lang="en-US" sz="2400" dirty="0">
                <a:latin typeface="Times New Roman"/>
                <a:cs typeface="Times New Roman"/>
              </a:rPr>
              <a:t>immediate</a:t>
            </a:r>
            <a:r>
              <a:rPr lang="en-US" sz="2400" spc="-15" dirty="0">
                <a:latin typeface="Times New Roman"/>
                <a:cs typeface="Times New Roman"/>
              </a:rPr>
              <a:t> </a:t>
            </a:r>
            <a:r>
              <a:rPr lang="en-US" sz="2400" dirty="0">
                <a:latin typeface="Times New Roman"/>
                <a:cs typeface="Times New Roman"/>
              </a:rPr>
              <a:t>application</a:t>
            </a:r>
            <a:r>
              <a:rPr lang="en-US" sz="2400" spc="-45" dirty="0">
                <a:latin typeface="Times New Roman"/>
                <a:cs typeface="Times New Roman"/>
              </a:rPr>
              <a:t> </a:t>
            </a:r>
            <a:r>
              <a:rPr lang="en-US" sz="2400" spc="-25" dirty="0">
                <a:latin typeface="Times New Roman"/>
                <a:cs typeface="Times New Roman"/>
              </a:rPr>
              <a:t>in </a:t>
            </a:r>
            <a:r>
              <a:rPr lang="en-US" sz="2400" spc="-10" dirty="0">
                <a:latin typeface="Times New Roman"/>
                <a:cs typeface="Times New Roman"/>
              </a:rPr>
              <a:t>mind.</a:t>
            </a:r>
            <a:endParaRPr lang="en-US" sz="2400" dirty="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EE266-38F7-1ED4-6562-FA5F97FBC3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9C44C26-EA80-3D32-B40F-E1979DB75F5C}"/>
              </a:ext>
            </a:extLst>
          </p:cNvPr>
          <p:cNvSpPr txBox="1"/>
          <p:nvPr/>
        </p:nvSpPr>
        <p:spPr>
          <a:xfrm>
            <a:off x="40767" y="1371600"/>
            <a:ext cx="9062466" cy="4996240"/>
          </a:xfrm>
          <a:prstGeom prst="rect">
            <a:avLst/>
          </a:prstGeom>
        </p:spPr>
        <p:txBody>
          <a:bodyPr vert="horz" wrap="square" lIns="0" tIns="12700" rIns="0" bIns="0" rtlCol="0">
            <a:spAutoFit/>
          </a:bodyPr>
          <a:lstStyle/>
          <a:p>
            <a:pPr>
              <a:buNone/>
            </a:pPr>
            <a:r>
              <a:rPr lang="en-US" sz="1700" b="1" dirty="0"/>
              <a:t>Technical Challenges and Solution Approaches in Wireless Communication</a:t>
            </a:r>
          </a:p>
          <a:p>
            <a:pPr>
              <a:buNone/>
            </a:pPr>
            <a:r>
              <a:rPr lang="en-US" sz="1700" dirty="0"/>
              <a:t>The continuous evolution of wireless communication has led to </a:t>
            </a:r>
            <a:r>
              <a:rPr lang="en-US" sz="1700" b="1" dirty="0"/>
              <a:t>various new applications</a:t>
            </a:r>
            <a:r>
              <a:rPr lang="en-US" sz="1700" dirty="0"/>
              <a:t>, which in turn pose </a:t>
            </a:r>
            <a:r>
              <a:rPr lang="en-US" sz="1700" b="1" dirty="0"/>
              <a:t>increasing technical challenges</a:t>
            </a:r>
            <a:r>
              <a:rPr lang="en-US" sz="1700" dirty="0"/>
              <a:t> for wireless engineers. These challenges require innovative solutions to keep up with the growing demands of wireless technology.</a:t>
            </a:r>
          </a:p>
          <a:p>
            <a:pPr>
              <a:buNone/>
            </a:pPr>
            <a:r>
              <a:rPr lang="en-US" sz="1700" dirty="0"/>
              <a:t>To address </a:t>
            </a:r>
            <a:r>
              <a:rPr lang="en-US" sz="1700" b="1" dirty="0"/>
              <a:t>current and future</a:t>
            </a:r>
            <a:r>
              <a:rPr lang="en-US" sz="1700" dirty="0"/>
              <a:t> challenges, solution methods can be classified into </a:t>
            </a:r>
            <a:r>
              <a:rPr lang="en-US" sz="1700" b="1" dirty="0"/>
              <a:t>two approaches</a:t>
            </a:r>
            <a:r>
              <a:rPr lang="en-US" sz="1700" dirty="0"/>
              <a:t>:</a:t>
            </a:r>
          </a:p>
          <a:p>
            <a:pPr>
              <a:buFont typeface="+mj-lt"/>
              <a:buAutoNum type="arabicPeriod"/>
            </a:pPr>
            <a:r>
              <a:rPr lang="en-US" sz="1700" b="1" dirty="0"/>
              <a:t>Engineering-Driven Approach:</a:t>
            </a:r>
            <a:endParaRPr lang="en-US" sz="1700" dirty="0"/>
          </a:p>
          <a:p>
            <a:pPr marL="742950" lvl="1" indent="-285750">
              <a:buFont typeface="+mj-lt"/>
              <a:buAutoNum type="arabicPeriod"/>
            </a:pPr>
            <a:r>
              <a:rPr lang="en-US" sz="1700" dirty="0"/>
              <a:t>Engineers develop </a:t>
            </a:r>
            <a:r>
              <a:rPr lang="en-US" sz="1700" b="1" dirty="0"/>
              <a:t>new scientific ideas</a:t>
            </a:r>
            <a:r>
              <a:rPr lang="en-US" sz="1700" dirty="0"/>
              <a:t> without initially considering their immediate application.</a:t>
            </a:r>
          </a:p>
          <a:p>
            <a:pPr marL="742950" lvl="1" indent="-285750">
              <a:buFont typeface="+mj-lt"/>
              <a:buAutoNum type="arabicPeriod"/>
            </a:pPr>
            <a:r>
              <a:rPr lang="en-US" sz="1700" dirty="0"/>
              <a:t>This method focuses on </a:t>
            </a:r>
            <a:r>
              <a:rPr lang="en-US" sz="1700" b="1" dirty="0"/>
              <a:t>pure research and innovation</a:t>
            </a:r>
            <a:r>
              <a:rPr lang="en-US" sz="1700" dirty="0"/>
              <a:t>, which may later be adapted for practical use.</a:t>
            </a:r>
          </a:p>
          <a:p>
            <a:pPr>
              <a:buFont typeface="+mj-lt"/>
              <a:buAutoNum type="arabicPeriod"/>
            </a:pPr>
            <a:r>
              <a:rPr lang="en-US" sz="1700" b="1" dirty="0"/>
              <a:t>Market-Driven Approach:</a:t>
            </a:r>
            <a:endParaRPr lang="en-US" sz="1700" dirty="0"/>
          </a:p>
          <a:p>
            <a:pPr marL="742950" lvl="1" indent="-285750">
              <a:buFont typeface="+mj-lt"/>
              <a:buAutoNum type="arabicPeriod"/>
            </a:pPr>
            <a:r>
              <a:rPr lang="en-US" sz="1700" dirty="0"/>
              <a:t>Solutions are developed based on the </a:t>
            </a:r>
            <a:r>
              <a:rPr lang="en-US" sz="1700" b="1" dirty="0"/>
              <a:t>current market demands and consumer needs</a:t>
            </a:r>
            <a:r>
              <a:rPr lang="en-US" sz="1700" dirty="0"/>
              <a:t>.</a:t>
            </a:r>
          </a:p>
          <a:p>
            <a:pPr marL="742950" lvl="1" indent="-285750">
              <a:buFont typeface="+mj-lt"/>
              <a:buAutoNum type="arabicPeriod"/>
            </a:pPr>
            <a:r>
              <a:rPr lang="en-US" sz="1700" dirty="0"/>
              <a:t>Engineers work on refining and optimizing existing technologies to meet industry requirements.</a:t>
            </a:r>
          </a:p>
          <a:p>
            <a:r>
              <a:rPr lang="en-US" sz="1700" dirty="0"/>
              <a:t>Both approaches play a crucial role in shaping the future of </a:t>
            </a:r>
            <a:r>
              <a:rPr lang="en-US" sz="1700" b="1" dirty="0"/>
              <a:t>wireless communication</a:t>
            </a:r>
            <a:r>
              <a:rPr lang="en-US" sz="1700" dirty="0"/>
              <a:t> by balancing theoretical advancements with real-world applications.</a:t>
            </a:r>
          </a:p>
          <a:p>
            <a:pPr marL="355600" marR="16510" indent="-342900">
              <a:lnSpc>
                <a:spcPct val="100000"/>
              </a:lnSpc>
              <a:spcBef>
                <a:spcPts val="100"/>
              </a:spcBef>
              <a:buClr>
                <a:srgbClr val="0F1141"/>
              </a:buClr>
              <a:buFont typeface="Arial MT"/>
              <a:buChar char="•"/>
              <a:tabLst>
                <a:tab pos="355600" algn="l"/>
              </a:tabLst>
            </a:pPr>
            <a:endParaRPr lang="en-US" sz="1700" dirty="0">
              <a:latin typeface="Times New Roman"/>
              <a:cs typeface="Times New Roman"/>
            </a:endParaRPr>
          </a:p>
        </p:txBody>
      </p:sp>
      <p:sp>
        <p:nvSpPr>
          <p:cNvPr id="3" name="object 3">
            <a:extLst>
              <a:ext uri="{FF2B5EF4-FFF2-40B4-BE49-F238E27FC236}">
                <a16:creationId xmlns:a16="http://schemas.microsoft.com/office/drawing/2014/main" id="{BBB700E2-A0A6-3ABD-51B9-718159DBB94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a:t>
            </a:fld>
            <a:endParaRPr spc="-25" dirty="0"/>
          </a:p>
        </p:txBody>
      </p:sp>
      <p:sp>
        <p:nvSpPr>
          <p:cNvPr id="4" name="object 4">
            <a:extLst>
              <a:ext uri="{FF2B5EF4-FFF2-40B4-BE49-F238E27FC236}">
                <a16:creationId xmlns:a16="http://schemas.microsoft.com/office/drawing/2014/main" id="{1087ACC9-7BD1-9EA1-7437-7DBA4415F9E8}"/>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1200176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06055" cy="1927860"/>
          </a:xfrm>
          <a:prstGeom prst="rect">
            <a:avLst/>
          </a:prstGeom>
        </p:spPr>
        <p:txBody>
          <a:bodyPr vert="horz" wrap="square" lIns="0" tIns="12700" rIns="0" bIns="0" rtlCol="0">
            <a:spAutoFit/>
          </a:bodyPr>
          <a:lstStyle/>
          <a:p>
            <a:pPr marL="355600" marR="46355" indent="-342900">
              <a:lnSpc>
                <a:spcPct val="100000"/>
              </a:lnSpc>
              <a:spcBef>
                <a:spcPts val="100"/>
              </a:spcBef>
              <a:buClr>
                <a:srgbClr val="0F1141"/>
              </a:buClr>
              <a:buFont typeface="Arial MT"/>
              <a:buChar char="•"/>
              <a:tabLst>
                <a:tab pos="355600" algn="l"/>
              </a:tabLst>
            </a:pPr>
            <a:r>
              <a:rPr sz="2400" dirty="0">
                <a:latin typeface="Times New Roman"/>
                <a:cs typeface="Times New Roman"/>
              </a:rPr>
              <a:t>As</a:t>
            </a:r>
            <a:r>
              <a:rPr sz="2400" spc="-25" dirty="0">
                <a:latin typeface="Times New Roman"/>
                <a:cs typeface="Times New Roman"/>
              </a:rPr>
              <a:t> </a:t>
            </a:r>
            <a:r>
              <a:rPr sz="2400" dirty="0">
                <a:latin typeface="Times New Roman"/>
                <a:cs typeface="Times New Roman"/>
              </a:rPr>
              <a:t>time</a:t>
            </a:r>
            <a:r>
              <a:rPr sz="2400" spc="-35" dirty="0">
                <a:latin typeface="Times New Roman"/>
                <a:cs typeface="Times New Roman"/>
              </a:rPr>
              <a:t> </a:t>
            </a:r>
            <a:r>
              <a:rPr sz="2400" dirty="0">
                <a:latin typeface="Times New Roman"/>
                <a:cs typeface="Times New Roman"/>
              </a:rPr>
              <a:t>progresses,</a:t>
            </a:r>
            <a:r>
              <a:rPr sz="2400" spc="-2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market</a:t>
            </a:r>
            <a:r>
              <a:rPr sz="2400" spc="-35" dirty="0">
                <a:latin typeface="Times New Roman"/>
                <a:cs typeface="Times New Roman"/>
              </a:rPr>
              <a:t> </a:t>
            </a:r>
            <a:r>
              <a:rPr sz="2400" dirty="0">
                <a:latin typeface="Times New Roman"/>
                <a:cs typeface="Times New Roman"/>
              </a:rPr>
              <a:t>finds</a:t>
            </a:r>
            <a:r>
              <a:rPr sz="2400" spc="-25" dirty="0">
                <a:latin typeface="Times New Roman"/>
                <a:cs typeface="Times New Roman"/>
              </a:rPr>
              <a:t> </a:t>
            </a:r>
            <a:r>
              <a:rPr sz="2400" dirty="0">
                <a:latin typeface="Times New Roman"/>
                <a:cs typeface="Times New Roman"/>
              </a:rPr>
              <a:t>applications</a:t>
            </a:r>
            <a:r>
              <a:rPr sz="2400" spc="-60" dirty="0">
                <a:latin typeface="Times New Roman"/>
                <a:cs typeface="Times New Roman"/>
              </a:rPr>
              <a:t> </a:t>
            </a:r>
            <a:r>
              <a:rPr sz="2400" dirty="0">
                <a:latin typeface="Times New Roman"/>
                <a:cs typeface="Times New Roman"/>
              </a:rPr>
              <a:t>enabled</a:t>
            </a:r>
            <a:r>
              <a:rPr sz="2400" spc="-50" dirty="0">
                <a:latin typeface="Times New Roman"/>
                <a:cs typeface="Times New Roman"/>
              </a:rPr>
              <a:t> </a:t>
            </a:r>
            <a:r>
              <a:rPr sz="2400" spc="-25" dirty="0">
                <a:latin typeface="Times New Roman"/>
                <a:cs typeface="Times New Roman"/>
              </a:rPr>
              <a:t>by </a:t>
            </a:r>
            <a:r>
              <a:rPr sz="2400" dirty="0">
                <a:latin typeface="Times New Roman"/>
                <a:cs typeface="Times New Roman"/>
              </a:rPr>
              <a:t>this</a:t>
            </a:r>
            <a:r>
              <a:rPr sz="2400" spc="-15" dirty="0">
                <a:latin typeface="Times New Roman"/>
                <a:cs typeface="Times New Roman"/>
              </a:rPr>
              <a:t> </a:t>
            </a:r>
            <a:r>
              <a:rPr sz="2400" spc="-10" dirty="0">
                <a:latin typeface="Times New Roman"/>
                <a:cs typeface="Times New Roman"/>
              </a:rPr>
              <a:t>idea.</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other</a:t>
            </a:r>
            <a:r>
              <a:rPr sz="2400" spc="-15" dirty="0">
                <a:latin typeface="Times New Roman"/>
                <a:cs typeface="Times New Roman"/>
              </a:rPr>
              <a:t> </a:t>
            </a:r>
            <a:r>
              <a:rPr sz="2400" dirty="0">
                <a:latin typeface="Times New Roman"/>
                <a:cs typeface="Times New Roman"/>
              </a:rPr>
              <a:t>approach,</a:t>
            </a:r>
            <a:r>
              <a:rPr sz="2400" spc="-3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market</a:t>
            </a:r>
            <a:r>
              <a:rPr sz="2400" spc="-25" dirty="0">
                <a:latin typeface="Times New Roman"/>
                <a:cs typeface="Times New Roman"/>
              </a:rPr>
              <a:t> </a:t>
            </a:r>
            <a:r>
              <a:rPr sz="2400" dirty="0">
                <a:latin typeface="Times New Roman"/>
                <a:cs typeface="Times New Roman"/>
              </a:rPr>
              <a:t>demands</a:t>
            </a:r>
            <a:r>
              <a:rPr sz="2400" spc="-1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specific</a:t>
            </a:r>
            <a:r>
              <a:rPr sz="2400" spc="-30" dirty="0">
                <a:latin typeface="Times New Roman"/>
                <a:cs typeface="Times New Roman"/>
              </a:rPr>
              <a:t> </a:t>
            </a:r>
            <a:r>
              <a:rPr sz="2400" spc="-10" dirty="0">
                <a:latin typeface="Times New Roman"/>
                <a:cs typeface="Times New Roman"/>
              </a:rPr>
              <a:t>product </a:t>
            </a:r>
            <a:r>
              <a:rPr sz="2400" dirty="0">
                <a:latin typeface="Times New Roman"/>
                <a:cs typeface="Times New Roman"/>
              </a:rPr>
              <a:t>and the</a:t>
            </a:r>
            <a:r>
              <a:rPr sz="2400" spc="-25" dirty="0">
                <a:latin typeface="Times New Roman"/>
                <a:cs typeface="Times New Roman"/>
              </a:rPr>
              <a:t> </a:t>
            </a:r>
            <a:r>
              <a:rPr sz="2400" dirty="0">
                <a:latin typeface="Times New Roman"/>
                <a:cs typeface="Times New Roman"/>
              </a:rPr>
              <a:t>engineers</a:t>
            </a:r>
            <a:r>
              <a:rPr sz="2400" spc="-20" dirty="0">
                <a:latin typeface="Times New Roman"/>
                <a:cs typeface="Times New Roman"/>
              </a:rPr>
              <a:t> </a:t>
            </a:r>
            <a:r>
              <a:rPr sz="2400" dirty="0">
                <a:latin typeface="Times New Roman"/>
                <a:cs typeface="Times New Roman"/>
              </a:rPr>
              <a:t>try</a:t>
            </a:r>
            <a:r>
              <a:rPr sz="2400" spc="-1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develop</a:t>
            </a:r>
            <a:r>
              <a:rPr sz="2400" spc="-20" dirty="0">
                <a:latin typeface="Times New Roman"/>
                <a:cs typeface="Times New Roman"/>
              </a:rPr>
              <a:t> </a:t>
            </a:r>
            <a:r>
              <a:rPr sz="2400" dirty="0">
                <a:latin typeface="Times New Roman"/>
                <a:cs typeface="Times New Roman"/>
              </a:rPr>
              <a:t>a technical</a:t>
            </a:r>
            <a:r>
              <a:rPr sz="2400" spc="-40" dirty="0">
                <a:latin typeface="Times New Roman"/>
                <a:cs typeface="Times New Roman"/>
              </a:rPr>
              <a:t> </a:t>
            </a:r>
            <a:r>
              <a:rPr sz="2400" dirty="0">
                <a:latin typeface="Times New Roman"/>
                <a:cs typeface="Times New Roman"/>
              </a:rPr>
              <a:t>solution</a:t>
            </a:r>
            <a:r>
              <a:rPr sz="2400" spc="-30" dirty="0">
                <a:latin typeface="Times New Roman"/>
                <a:cs typeface="Times New Roman"/>
              </a:rPr>
              <a:t> </a:t>
            </a:r>
            <a:r>
              <a:rPr sz="2400" spc="-20" dirty="0">
                <a:latin typeface="Times New Roman"/>
                <a:cs typeface="Times New Roman"/>
              </a:rPr>
              <a:t>that </a:t>
            </a:r>
            <a:r>
              <a:rPr sz="2400" dirty="0">
                <a:latin typeface="Times New Roman"/>
                <a:cs typeface="Times New Roman"/>
              </a:rPr>
              <a:t>fulfills</a:t>
            </a:r>
            <a:r>
              <a:rPr sz="2400" spc="-25" dirty="0">
                <a:latin typeface="Times New Roman"/>
                <a:cs typeface="Times New Roman"/>
              </a:rPr>
              <a:t> </a:t>
            </a:r>
            <a:r>
              <a:rPr sz="2400" dirty="0">
                <a:latin typeface="Times New Roman"/>
                <a:cs typeface="Times New Roman"/>
              </a:rPr>
              <a:t>this</a:t>
            </a:r>
            <a:r>
              <a:rPr sz="2400" spc="-15" dirty="0">
                <a:latin typeface="Times New Roman"/>
                <a:cs typeface="Times New Roman"/>
              </a:rPr>
              <a:t> </a:t>
            </a:r>
            <a:r>
              <a:rPr sz="2400" spc="-10" dirty="0">
                <a:latin typeface="Times New Roman"/>
                <a:cs typeface="Times New Roman"/>
              </a:rPr>
              <a:t>demand.</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97435-EC3D-4A3B-438E-319AF18F225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835404-D19D-8085-5637-492E1998C0B7}"/>
              </a:ext>
            </a:extLst>
          </p:cNvPr>
          <p:cNvSpPr txBox="1"/>
          <p:nvPr/>
        </p:nvSpPr>
        <p:spPr>
          <a:xfrm>
            <a:off x="383540" y="1516507"/>
            <a:ext cx="7806055" cy="4444807"/>
          </a:xfrm>
          <a:prstGeom prst="rect">
            <a:avLst/>
          </a:prstGeom>
        </p:spPr>
        <p:txBody>
          <a:bodyPr vert="horz" wrap="square" lIns="0" tIns="12700" rIns="0" bIns="0" rtlCol="0">
            <a:spAutoFit/>
          </a:bodyPr>
          <a:lstStyle/>
          <a:p>
            <a:pPr>
              <a:buNone/>
            </a:pPr>
            <a:r>
              <a:rPr lang="en-US" b="1" dirty="0"/>
              <a:t>Market-Driven vs. Engineering-Driven Approach in Wireless Communication</a:t>
            </a:r>
          </a:p>
          <a:p>
            <a:pPr>
              <a:buNone/>
            </a:pPr>
            <a:r>
              <a:rPr lang="en-US" dirty="0"/>
              <a:t>In wireless communication, technological advancements arise from two primary approaches:</a:t>
            </a:r>
          </a:p>
          <a:p>
            <a:pPr>
              <a:buFont typeface="+mj-lt"/>
              <a:buAutoNum type="arabicPeriod"/>
            </a:pPr>
            <a:r>
              <a:rPr lang="en-US" b="1" dirty="0"/>
              <a:t>Engineering-Driven Approach:</a:t>
            </a:r>
            <a:endParaRPr lang="en-US" dirty="0"/>
          </a:p>
          <a:p>
            <a:pPr marL="742950" lvl="1" indent="-285750">
              <a:buFont typeface="+mj-lt"/>
              <a:buAutoNum type="arabicPeriod"/>
            </a:pPr>
            <a:r>
              <a:rPr lang="en-US" dirty="0"/>
              <a:t>Engineers develop innovative </a:t>
            </a:r>
            <a:r>
              <a:rPr lang="en-US" b="1" dirty="0"/>
              <a:t>scientific ideas</a:t>
            </a:r>
            <a:r>
              <a:rPr lang="en-US" dirty="0"/>
              <a:t> without immediate application.</a:t>
            </a:r>
          </a:p>
          <a:p>
            <a:pPr marL="742950" lvl="1" indent="-285750">
              <a:buFont typeface="+mj-lt"/>
              <a:buAutoNum type="arabicPeriod"/>
            </a:pPr>
            <a:r>
              <a:rPr lang="en-US" dirty="0"/>
              <a:t>Over time, </a:t>
            </a:r>
            <a:r>
              <a:rPr lang="en-US" b="1" dirty="0"/>
              <a:t>markets identify practical applications</a:t>
            </a:r>
            <a:r>
              <a:rPr lang="en-US" dirty="0"/>
              <a:t> for these innovations, leading to new products and solutions.</a:t>
            </a:r>
          </a:p>
          <a:p>
            <a:pPr>
              <a:buFont typeface="+mj-lt"/>
              <a:buAutoNum type="arabicPeriod"/>
            </a:pPr>
            <a:r>
              <a:rPr lang="en-US" b="1" dirty="0"/>
              <a:t>Market-Driven Approach:</a:t>
            </a:r>
            <a:endParaRPr lang="en-US" dirty="0"/>
          </a:p>
          <a:p>
            <a:pPr marL="742950" lvl="1" indent="-285750">
              <a:buFont typeface="+mj-lt"/>
              <a:buAutoNum type="arabicPeriod"/>
            </a:pPr>
            <a:r>
              <a:rPr lang="en-US" dirty="0"/>
              <a:t>The market has </a:t>
            </a:r>
            <a:r>
              <a:rPr lang="en-US" b="1" dirty="0"/>
              <a:t>specific demands</a:t>
            </a:r>
            <a:r>
              <a:rPr lang="en-US" dirty="0"/>
              <a:t> for products and services.</a:t>
            </a:r>
          </a:p>
          <a:p>
            <a:pPr marL="742950" lvl="1" indent="-285750">
              <a:buFont typeface="+mj-lt"/>
              <a:buAutoNum type="arabicPeriod"/>
            </a:pPr>
            <a:r>
              <a:rPr lang="en-US" dirty="0"/>
              <a:t>Engineers work towards </a:t>
            </a:r>
            <a:r>
              <a:rPr lang="en-US" b="1" dirty="0"/>
              <a:t>developing solutions</a:t>
            </a:r>
            <a:r>
              <a:rPr lang="en-US" dirty="0"/>
              <a:t> that fulfill these demands, ensuring that technology aligns with industry needs.</a:t>
            </a:r>
          </a:p>
          <a:p>
            <a:r>
              <a:rPr lang="en-US" dirty="0"/>
              <a:t>Both approaches play a significant role in technological evolution, as some breakthroughs originate from research, while others are driven by market needs.</a:t>
            </a:r>
          </a:p>
        </p:txBody>
      </p:sp>
      <p:sp>
        <p:nvSpPr>
          <p:cNvPr id="3" name="object 3">
            <a:extLst>
              <a:ext uri="{FF2B5EF4-FFF2-40B4-BE49-F238E27FC236}">
                <a16:creationId xmlns:a16="http://schemas.microsoft.com/office/drawing/2014/main" id="{61A5D87B-10B8-AF51-0117-1A8DEF8230D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a:t>
            </a:fld>
            <a:endParaRPr spc="-25" dirty="0"/>
          </a:p>
        </p:txBody>
      </p:sp>
      <p:sp>
        <p:nvSpPr>
          <p:cNvPr id="4" name="object 4">
            <a:extLst>
              <a:ext uri="{FF2B5EF4-FFF2-40B4-BE49-F238E27FC236}">
                <a16:creationId xmlns:a16="http://schemas.microsoft.com/office/drawing/2014/main" id="{4BEDECE2-3C82-CB84-65F5-109275D02930}"/>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419067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49650"/>
            <a:ext cx="7858125" cy="4415790"/>
          </a:xfrm>
          <a:prstGeom prst="rect">
            <a:avLst/>
          </a:prstGeom>
        </p:spPr>
        <p:txBody>
          <a:bodyPr vert="horz" wrap="square" lIns="0" tIns="85725" rIns="0" bIns="0" rtlCol="0">
            <a:spAutoFit/>
          </a:bodyPr>
          <a:lstStyle/>
          <a:p>
            <a:pPr marL="353060" indent="-340360" algn="just">
              <a:lnSpc>
                <a:spcPct val="100000"/>
              </a:lnSpc>
              <a:spcBef>
                <a:spcPts val="675"/>
              </a:spcBef>
              <a:buClr>
                <a:srgbClr val="0F1141"/>
              </a:buClr>
              <a:buFont typeface="Arial MT"/>
              <a:buChar char="•"/>
              <a:tabLst>
                <a:tab pos="353060" algn="l"/>
              </a:tabLst>
            </a:pPr>
            <a:r>
              <a:rPr sz="2400" dirty="0">
                <a:latin typeface="Times New Roman"/>
                <a:cs typeface="Times New Roman"/>
              </a:rPr>
              <a:t>Market</a:t>
            </a:r>
            <a:r>
              <a:rPr sz="2400" spc="-55" dirty="0">
                <a:latin typeface="Times New Roman"/>
                <a:cs typeface="Times New Roman"/>
              </a:rPr>
              <a:t> </a:t>
            </a:r>
            <a:r>
              <a:rPr sz="2400" spc="-10" dirty="0">
                <a:latin typeface="Times New Roman"/>
                <a:cs typeface="Times New Roman"/>
              </a:rPr>
              <a:t>Demands.</a:t>
            </a:r>
            <a:endParaRPr sz="2400">
              <a:latin typeface="Times New Roman"/>
              <a:cs typeface="Times New Roman"/>
            </a:endParaRPr>
          </a:p>
          <a:p>
            <a:pPr marL="353060" marR="5080" indent="-340360" algn="just">
              <a:lnSpc>
                <a:spcPct val="100000"/>
              </a:lnSpc>
              <a:spcBef>
                <a:spcPts val="580"/>
              </a:spcBef>
              <a:buClr>
                <a:srgbClr val="0F1141"/>
              </a:buClr>
              <a:buFont typeface="Arial MT"/>
              <a:buChar char="•"/>
              <a:tabLst>
                <a:tab pos="355600" algn="l"/>
              </a:tabLst>
            </a:pPr>
            <a:r>
              <a:rPr sz="2400" spc="-65" dirty="0">
                <a:latin typeface="Times New Roman"/>
                <a:cs typeface="Times New Roman"/>
              </a:rPr>
              <a:t>We</a:t>
            </a:r>
            <a:r>
              <a:rPr sz="2400" spc="-5" dirty="0">
                <a:latin typeface="Times New Roman"/>
                <a:cs typeface="Times New Roman"/>
              </a:rPr>
              <a:t> </a:t>
            </a:r>
            <a:r>
              <a:rPr sz="2400" dirty="0">
                <a:latin typeface="Times New Roman"/>
                <a:cs typeface="Times New Roman"/>
              </a:rPr>
              <a:t>start</a:t>
            </a:r>
            <a:r>
              <a:rPr sz="2400" spc="-35" dirty="0">
                <a:latin typeface="Times New Roman"/>
                <a:cs typeface="Times New Roman"/>
              </a:rPr>
              <a:t> </a:t>
            </a:r>
            <a:r>
              <a:rPr sz="2400" dirty="0">
                <a:latin typeface="Times New Roman"/>
                <a:cs typeface="Times New Roman"/>
              </a:rPr>
              <a:t>out</a:t>
            </a:r>
            <a:r>
              <a:rPr sz="2400" spc="-25"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brief</a:t>
            </a:r>
            <a:r>
              <a:rPr sz="2400" spc="-30" dirty="0">
                <a:latin typeface="Times New Roman"/>
                <a:cs typeface="Times New Roman"/>
              </a:rPr>
              <a:t> </a:t>
            </a:r>
            <a:r>
              <a:rPr sz="2400" dirty="0">
                <a:latin typeface="Times New Roman"/>
                <a:cs typeface="Times New Roman"/>
              </a:rPr>
              <a:t>history</a:t>
            </a:r>
            <a:r>
              <a:rPr sz="2400" spc="-3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wireless</a:t>
            </a:r>
            <a:r>
              <a:rPr sz="2400" spc="-35" dirty="0">
                <a:latin typeface="Times New Roman"/>
                <a:cs typeface="Times New Roman"/>
              </a:rPr>
              <a:t> </a:t>
            </a:r>
            <a:r>
              <a:rPr sz="2400" spc="-10" dirty="0">
                <a:latin typeface="Times New Roman"/>
                <a:cs typeface="Times New Roman"/>
              </a:rPr>
              <a:t>communications,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order</a:t>
            </a:r>
            <a:r>
              <a:rPr sz="2400" spc="-1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convey</a:t>
            </a:r>
            <a:r>
              <a:rPr sz="2400" spc="-1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feeling</a:t>
            </a:r>
            <a:r>
              <a:rPr sz="2400" spc="-3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how</a:t>
            </a:r>
            <a:r>
              <a:rPr sz="2400" spc="-1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science,</a:t>
            </a:r>
            <a:r>
              <a:rPr sz="2400" spc="-35" dirty="0">
                <a:latin typeface="Times New Roman"/>
                <a:cs typeface="Times New Roman"/>
              </a:rPr>
              <a:t> </a:t>
            </a:r>
            <a:r>
              <a:rPr sz="2400" dirty="0">
                <a:latin typeface="Times New Roman"/>
                <a:cs typeface="Times New Roman"/>
              </a:rPr>
              <a:t>as</a:t>
            </a:r>
            <a:r>
              <a:rPr sz="2400" spc="-15" dirty="0">
                <a:latin typeface="Times New Roman"/>
                <a:cs typeface="Times New Roman"/>
              </a:rPr>
              <a:t> </a:t>
            </a:r>
            <a:r>
              <a:rPr sz="2400" dirty="0">
                <a:latin typeface="Times New Roman"/>
                <a:cs typeface="Times New Roman"/>
              </a:rPr>
              <a:t>well</a:t>
            </a:r>
            <a:r>
              <a:rPr sz="2400" spc="-20"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spc="-25" dirty="0">
                <a:latin typeface="Times New Roman"/>
                <a:cs typeface="Times New Roman"/>
              </a:rPr>
              <a:t>the 	</a:t>
            </a:r>
            <a:r>
              <a:rPr sz="2400" dirty="0">
                <a:latin typeface="Times New Roman"/>
                <a:cs typeface="Times New Roman"/>
              </a:rPr>
              <a:t>market,</a:t>
            </a:r>
            <a:r>
              <a:rPr sz="2400" spc="-25" dirty="0">
                <a:latin typeface="Times New Roman"/>
                <a:cs typeface="Times New Roman"/>
              </a:rPr>
              <a:t> </a:t>
            </a:r>
            <a:r>
              <a:rPr sz="2400" dirty="0">
                <a:latin typeface="Times New Roman"/>
                <a:cs typeface="Times New Roman"/>
              </a:rPr>
              <a:t>has</a:t>
            </a:r>
            <a:r>
              <a:rPr sz="2400" spc="-5" dirty="0">
                <a:latin typeface="Times New Roman"/>
                <a:cs typeface="Times New Roman"/>
              </a:rPr>
              <a:t> </a:t>
            </a:r>
            <a:r>
              <a:rPr sz="2400" dirty="0">
                <a:latin typeface="Times New Roman"/>
                <a:cs typeface="Times New Roman"/>
              </a:rPr>
              <a:t>developed</a:t>
            </a:r>
            <a:r>
              <a:rPr sz="2400" spc="-35"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past</a:t>
            </a:r>
            <a:r>
              <a:rPr sz="2400" spc="-10" dirty="0">
                <a:latin typeface="Times New Roman"/>
                <a:cs typeface="Times New Roman"/>
              </a:rPr>
              <a:t> </a:t>
            </a:r>
            <a:r>
              <a:rPr sz="2400" dirty="0">
                <a:latin typeface="Times New Roman"/>
                <a:cs typeface="Times New Roman"/>
              </a:rPr>
              <a:t>100</a:t>
            </a:r>
            <a:r>
              <a:rPr sz="2400" spc="-10" dirty="0">
                <a:latin typeface="Times New Roman"/>
                <a:cs typeface="Times New Roman"/>
              </a:rPr>
              <a:t> years.</a:t>
            </a:r>
            <a:endParaRPr sz="2400">
              <a:latin typeface="Times New Roman"/>
              <a:cs typeface="Times New Roman"/>
            </a:endParaRPr>
          </a:p>
          <a:p>
            <a:pPr marL="355600" marR="822960" indent="-342900">
              <a:lnSpc>
                <a:spcPct val="100000"/>
              </a:lnSpc>
              <a:spcBef>
                <a:spcPts val="575"/>
              </a:spcBef>
              <a:buClr>
                <a:srgbClr val="0F1141"/>
              </a:buClr>
              <a:buFont typeface="Arial MT"/>
              <a:buChar char="•"/>
              <a:tabLst>
                <a:tab pos="355600" algn="l"/>
              </a:tabLst>
            </a:pPr>
            <a:r>
              <a:rPr sz="2400" dirty="0">
                <a:latin typeface="Times New Roman"/>
                <a:cs typeface="Times New Roman"/>
              </a:rPr>
              <a:t>Then</a:t>
            </a:r>
            <a:r>
              <a:rPr sz="2400" spc="-25" dirty="0">
                <a:latin typeface="Times New Roman"/>
                <a:cs typeface="Times New Roman"/>
              </a:rPr>
              <a:t> </a:t>
            </a:r>
            <a:r>
              <a:rPr sz="2400" dirty="0">
                <a:latin typeface="Times New Roman"/>
                <a:cs typeface="Times New Roman"/>
              </a:rPr>
              <a:t>follows</a:t>
            </a:r>
            <a:r>
              <a:rPr sz="2400" spc="-1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description</a:t>
            </a:r>
            <a:r>
              <a:rPr sz="2400" spc="-5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types</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services</a:t>
            </a:r>
            <a:r>
              <a:rPr sz="2400" spc="-30" dirty="0">
                <a:latin typeface="Times New Roman"/>
                <a:cs typeface="Times New Roman"/>
              </a:rPr>
              <a:t> </a:t>
            </a:r>
            <a:r>
              <a:rPr sz="2400" spc="-20" dirty="0">
                <a:latin typeface="Times New Roman"/>
                <a:cs typeface="Times New Roman"/>
              </a:rPr>
              <a:t>that </a:t>
            </a:r>
            <a:r>
              <a:rPr sz="2400" dirty="0">
                <a:latin typeface="Times New Roman"/>
                <a:cs typeface="Times New Roman"/>
              </a:rPr>
              <a:t>constitute</a:t>
            </a:r>
            <a:r>
              <a:rPr sz="2400" spc="-5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majority</a:t>
            </a:r>
            <a:r>
              <a:rPr sz="2400" spc="-4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wireless</a:t>
            </a:r>
            <a:r>
              <a:rPr sz="2400" spc="-30" dirty="0">
                <a:latin typeface="Times New Roman"/>
                <a:cs typeface="Times New Roman"/>
              </a:rPr>
              <a:t> </a:t>
            </a:r>
            <a:r>
              <a:rPr sz="2400" dirty="0">
                <a:latin typeface="Times New Roman"/>
                <a:cs typeface="Times New Roman"/>
              </a:rPr>
              <a:t>market</a:t>
            </a:r>
            <a:r>
              <a:rPr sz="2400" spc="-5" dirty="0">
                <a:latin typeface="Times New Roman"/>
                <a:cs typeface="Times New Roman"/>
              </a:rPr>
              <a:t> </a:t>
            </a:r>
            <a:r>
              <a:rPr sz="2400" spc="-10" dirty="0">
                <a:latin typeface="Times New Roman"/>
                <a:cs typeface="Times New Roman"/>
              </a:rPr>
              <a:t>today.</a:t>
            </a:r>
            <a:endParaRPr sz="2400">
              <a:latin typeface="Times New Roman"/>
              <a:cs typeface="Times New Roman"/>
            </a:endParaRPr>
          </a:p>
          <a:p>
            <a:pPr marL="355600" marR="370205" indent="-342900">
              <a:lnSpc>
                <a:spcPct val="100000"/>
              </a:lnSpc>
              <a:spcBef>
                <a:spcPts val="580"/>
              </a:spcBef>
              <a:buClr>
                <a:srgbClr val="0F1141"/>
              </a:buClr>
              <a:buFont typeface="Arial MT"/>
              <a:buChar char="•"/>
              <a:tabLst>
                <a:tab pos="355600" algn="l"/>
              </a:tabLst>
            </a:pPr>
            <a:r>
              <a:rPr sz="2400" dirty="0">
                <a:latin typeface="Times New Roman"/>
                <a:cs typeface="Times New Roman"/>
              </a:rPr>
              <a:t>Each</a:t>
            </a:r>
            <a:r>
              <a:rPr sz="2400" spc="-3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these</a:t>
            </a:r>
            <a:r>
              <a:rPr sz="2400" spc="-40" dirty="0">
                <a:latin typeface="Times New Roman"/>
                <a:cs typeface="Times New Roman"/>
              </a:rPr>
              <a:t> </a:t>
            </a:r>
            <a:r>
              <a:rPr sz="2400" dirty="0">
                <a:latin typeface="Times New Roman"/>
                <a:cs typeface="Times New Roman"/>
              </a:rPr>
              <a:t>services</a:t>
            </a:r>
            <a:r>
              <a:rPr sz="2400" spc="-40" dirty="0">
                <a:latin typeface="Times New Roman"/>
                <a:cs typeface="Times New Roman"/>
              </a:rPr>
              <a:t> </a:t>
            </a:r>
            <a:r>
              <a:rPr sz="2400" dirty="0">
                <a:latin typeface="Times New Roman"/>
                <a:cs typeface="Times New Roman"/>
              </a:rPr>
              <a:t>makes</a:t>
            </a:r>
            <a:r>
              <a:rPr sz="2400" spc="-20" dirty="0">
                <a:latin typeface="Times New Roman"/>
                <a:cs typeface="Times New Roman"/>
              </a:rPr>
              <a:t> </a:t>
            </a:r>
            <a:r>
              <a:rPr sz="2400" dirty="0">
                <a:latin typeface="Times New Roman"/>
                <a:cs typeface="Times New Roman"/>
              </a:rPr>
              <a:t>specific</a:t>
            </a:r>
            <a:r>
              <a:rPr sz="2400" spc="-40" dirty="0">
                <a:latin typeface="Times New Roman"/>
                <a:cs typeface="Times New Roman"/>
              </a:rPr>
              <a:t> </a:t>
            </a:r>
            <a:r>
              <a:rPr sz="2400" dirty="0">
                <a:latin typeface="Times New Roman"/>
                <a:cs typeface="Times New Roman"/>
              </a:rPr>
              <a:t>demands</a:t>
            </a:r>
            <a:r>
              <a:rPr sz="2400" spc="-2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terms</a:t>
            </a:r>
            <a:r>
              <a:rPr sz="2400" spc="-30" dirty="0">
                <a:latin typeface="Times New Roman"/>
                <a:cs typeface="Times New Roman"/>
              </a:rPr>
              <a:t> </a:t>
            </a:r>
            <a:r>
              <a:rPr sz="2400" spc="-25" dirty="0">
                <a:latin typeface="Times New Roman"/>
                <a:cs typeface="Times New Roman"/>
              </a:rPr>
              <a:t>of </a:t>
            </a:r>
            <a:r>
              <a:rPr sz="2400" dirty="0">
                <a:latin typeface="Times New Roman"/>
                <a:cs typeface="Times New Roman"/>
              </a:rPr>
              <a:t>data</a:t>
            </a:r>
            <a:r>
              <a:rPr sz="2400" spc="-45" dirty="0">
                <a:latin typeface="Times New Roman"/>
                <a:cs typeface="Times New Roman"/>
              </a:rPr>
              <a:t> </a:t>
            </a:r>
            <a:r>
              <a:rPr sz="2400" dirty="0">
                <a:latin typeface="Times New Roman"/>
                <a:cs typeface="Times New Roman"/>
              </a:rPr>
              <a:t>rate,</a:t>
            </a:r>
            <a:r>
              <a:rPr sz="2400" spc="-45" dirty="0">
                <a:latin typeface="Times New Roman"/>
                <a:cs typeface="Times New Roman"/>
              </a:rPr>
              <a:t> </a:t>
            </a:r>
            <a:r>
              <a:rPr sz="2400" dirty="0">
                <a:latin typeface="Times New Roman"/>
                <a:cs typeface="Times New Roman"/>
              </a:rPr>
              <a:t>range,</a:t>
            </a:r>
            <a:r>
              <a:rPr sz="2400" spc="-25" dirty="0">
                <a:latin typeface="Times New Roman"/>
                <a:cs typeface="Times New Roman"/>
              </a:rPr>
              <a:t> </a:t>
            </a:r>
            <a:r>
              <a:rPr sz="2400" dirty="0">
                <a:latin typeface="Times New Roman"/>
                <a:cs typeface="Times New Roman"/>
              </a:rPr>
              <a:t>number</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users,</a:t>
            </a:r>
            <a:r>
              <a:rPr sz="2400" spc="-20" dirty="0">
                <a:latin typeface="Times New Roman"/>
                <a:cs typeface="Times New Roman"/>
              </a:rPr>
              <a:t> </a:t>
            </a:r>
            <a:r>
              <a:rPr sz="2400" dirty="0">
                <a:latin typeface="Times New Roman"/>
                <a:cs typeface="Times New Roman"/>
              </a:rPr>
              <a:t>energy</a:t>
            </a:r>
            <a:r>
              <a:rPr sz="2400" spc="-30" dirty="0">
                <a:latin typeface="Times New Roman"/>
                <a:cs typeface="Times New Roman"/>
              </a:rPr>
              <a:t> </a:t>
            </a:r>
            <a:r>
              <a:rPr sz="2400" spc="-10" dirty="0">
                <a:latin typeface="Times New Roman"/>
                <a:cs typeface="Times New Roman"/>
              </a:rPr>
              <a:t>consumption, mobility,</a:t>
            </a:r>
            <a:r>
              <a:rPr sz="2400" spc="-60"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so</a:t>
            </a:r>
            <a:r>
              <a:rPr sz="2400" spc="-35" dirty="0">
                <a:latin typeface="Times New Roman"/>
                <a:cs typeface="Times New Roman"/>
              </a:rPr>
              <a:t> </a:t>
            </a:r>
            <a:r>
              <a:rPr sz="2400" spc="-25" dirty="0">
                <a:latin typeface="Times New Roman"/>
                <a:cs typeface="Times New Roman"/>
              </a:rPr>
              <a:t>on.</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A</a:t>
            </a:r>
            <a:r>
              <a:rPr sz="2400" spc="-135" dirty="0">
                <a:latin typeface="Times New Roman"/>
                <a:cs typeface="Times New Roman"/>
              </a:rPr>
              <a:t> </a:t>
            </a:r>
            <a:r>
              <a:rPr sz="2400" dirty="0">
                <a:latin typeface="Times New Roman"/>
                <a:cs typeface="Times New Roman"/>
              </a:rPr>
              <a:t>description</a:t>
            </a:r>
            <a:r>
              <a:rPr sz="2400" spc="-4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interaction</a:t>
            </a:r>
            <a:r>
              <a:rPr sz="2400" spc="-45" dirty="0">
                <a:latin typeface="Times New Roman"/>
                <a:cs typeface="Times New Roman"/>
              </a:rPr>
              <a:t> </a:t>
            </a:r>
            <a:r>
              <a:rPr sz="2400" dirty="0">
                <a:latin typeface="Times New Roman"/>
                <a:cs typeface="Times New Roman"/>
              </a:rPr>
              <a:t>between</a:t>
            </a:r>
            <a:r>
              <a:rPr sz="2400" spc="-3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engineering</a:t>
            </a:r>
            <a:r>
              <a:rPr sz="2400" spc="-40" dirty="0">
                <a:latin typeface="Times New Roman"/>
                <a:cs typeface="Times New Roman"/>
              </a:rPr>
              <a:t> </a:t>
            </a:r>
            <a:r>
              <a:rPr sz="2400" spc="-25" dirty="0">
                <a:latin typeface="Times New Roman"/>
                <a:cs typeface="Times New Roman"/>
              </a:rPr>
              <a:t>of</a:t>
            </a:r>
            <a:endParaRPr sz="2400">
              <a:latin typeface="Times New Roman"/>
              <a:cs typeface="Times New Roman"/>
            </a:endParaRPr>
          </a:p>
          <a:p>
            <a:pPr marL="355600">
              <a:lnSpc>
                <a:spcPct val="100000"/>
              </a:lnSpc>
            </a:pPr>
            <a:r>
              <a:rPr sz="2400" dirty="0">
                <a:latin typeface="Times New Roman"/>
                <a:cs typeface="Times New Roman"/>
              </a:rPr>
              <a:t>wireless</a:t>
            </a:r>
            <a:r>
              <a:rPr sz="2400" spc="-25" dirty="0">
                <a:latin typeface="Times New Roman"/>
                <a:cs typeface="Times New Roman"/>
              </a:rPr>
              <a:t> </a:t>
            </a:r>
            <a:r>
              <a:rPr sz="2400" dirty="0">
                <a:latin typeface="Times New Roman"/>
                <a:cs typeface="Times New Roman"/>
              </a:rPr>
              <a:t>devices</a:t>
            </a:r>
            <a:r>
              <a:rPr sz="2400" spc="-2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behavioral</a:t>
            </a:r>
            <a:r>
              <a:rPr sz="2400" spc="-40" dirty="0">
                <a:latin typeface="Times New Roman"/>
                <a:cs typeface="Times New Roman"/>
              </a:rPr>
              <a:t> </a:t>
            </a:r>
            <a:r>
              <a:rPr sz="2400" dirty="0">
                <a:latin typeface="Times New Roman"/>
                <a:cs typeface="Times New Roman"/>
              </a:rPr>
              <a:t>changes</a:t>
            </a:r>
            <a:r>
              <a:rPr sz="2400" spc="-10" dirty="0">
                <a:latin typeface="Times New Roman"/>
                <a:cs typeface="Times New Roman"/>
              </a:rPr>
              <a:t> </a:t>
            </a:r>
            <a:r>
              <a:rPr sz="2400" dirty="0">
                <a:latin typeface="Times New Roman"/>
                <a:cs typeface="Times New Roman"/>
              </a:rPr>
              <a:t>induced</a:t>
            </a:r>
            <a:r>
              <a:rPr sz="2400" spc="-30"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spc="-20" dirty="0">
                <a:latin typeface="Times New Roman"/>
                <a:cs typeface="Times New Roman"/>
              </a:rPr>
              <a:t>them</a:t>
            </a:r>
            <a:endParaRPr sz="2400">
              <a:latin typeface="Times New Roman"/>
              <a:cs typeface="Times New Roman"/>
            </a:endParaRPr>
          </a:p>
        </p:txBody>
      </p:sp>
      <p:sp>
        <p:nvSpPr>
          <p:cNvPr id="3" name="object 3"/>
          <p:cNvSpPr txBox="1"/>
          <p:nvPr/>
        </p:nvSpPr>
        <p:spPr>
          <a:xfrm>
            <a:off x="726440" y="5972928"/>
            <a:ext cx="1259205" cy="363220"/>
          </a:xfrm>
          <a:prstGeom prst="rect">
            <a:avLst/>
          </a:prstGeom>
        </p:spPr>
        <p:txBody>
          <a:bodyPr vert="horz" wrap="square" lIns="0" tIns="0" rIns="0" bIns="0" rtlCol="0">
            <a:spAutoFit/>
          </a:bodyPr>
          <a:lstStyle/>
          <a:p>
            <a:pPr marL="12700">
              <a:lnSpc>
                <a:spcPts val="2720"/>
              </a:lnSpc>
            </a:pPr>
            <a:r>
              <a:rPr sz="2400" dirty="0">
                <a:latin typeface="Times New Roman"/>
                <a:cs typeface="Times New Roman"/>
              </a:rPr>
              <a:t>in</a:t>
            </a:r>
            <a:r>
              <a:rPr sz="2400" spc="-10" dirty="0">
                <a:latin typeface="Times New Roman"/>
                <a:cs typeface="Times New Roman"/>
              </a:rPr>
              <a:t> society.</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63045-2319-F436-44DD-4198A1B8118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812C343-A3B5-8432-F525-8AA2066381A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a:t>
            </a:fld>
            <a:endParaRPr spc="-25" dirty="0"/>
          </a:p>
        </p:txBody>
      </p:sp>
      <p:sp>
        <p:nvSpPr>
          <p:cNvPr id="5" name="object 5">
            <a:extLst>
              <a:ext uri="{FF2B5EF4-FFF2-40B4-BE49-F238E27FC236}">
                <a16:creationId xmlns:a16="http://schemas.microsoft.com/office/drawing/2014/main" id="{9257A139-758F-DB67-8C7D-4D919BA102B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TextBox 5">
            <a:extLst>
              <a:ext uri="{FF2B5EF4-FFF2-40B4-BE49-F238E27FC236}">
                <a16:creationId xmlns:a16="http://schemas.microsoft.com/office/drawing/2014/main" id="{3C6ACEBE-B611-71EF-59C9-213BA6AC3813}"/>
              </a:ext>
            </a:extLst>
          </p:cNvPr>
          <p:cNvSpPr txBox="1"/>
          <p:nvPr/>
        </p:nvSpPr>
        <p:spPr>
          <a:xfrm>
            <a:off x="0" y="1371600"/>
            <a:ext cx="9103233" cy="5586145"/>
          </a:xfrm>
          <a:prstGeom prst="rect">
            <a:avLst/>
          </a:prstGeom>
          <a:noFill/>
        </p:spPr>
        <p:txBody>
          <a:bodyPr wrap="square" rtlCol="0">
            <a:spAutoFit/>
          </a:bodyPr>
          <a:lstStyle/>
          <a:p>
            <a:pPr>
              <a:buNone/>
            </a:pPr>
            <a:r>
              <a:rPr lang="en-US" sz="1700" b="1" dirty="0"/>
              <a:t>Market Demands in Wireless Communication</a:t>
            </a:r>
          </a:p>
          <a:p>
            <a:pPr>
              <a:buFont typeface="+mj-lt"/>
              <a:buAutoNum type="arabicPeriod"/>
            </a:pPr>
            <a:r>
              <a:rPr lang="en-US" sz="1700" b="1" dirty="0"/>
              <a:t>Historical Development:</a:t>
            </a:r>
            <a:endParaRPr lang="en-US" sz="1700" dirty="0"/>
          </a:p>
          <a:p>
            <a:pPr marL="742950" lvl="1" indent="-285750">
              <a:buFont typeface="+mj-lt"/>
              <a:buAutoNum type="arabicPeriod"/>
            </a:pPr>
            <a:r>
              <a:rPr lang="en-US" sz="1700" dirty="0"/>
              <a:t>Wireless communication has evolved significantly over the past </a:t>
            </a:r>
            <a:r>
              <a:rPr lang="en-US" sz="1700" b="1" dirty="0"/>
              <a:t>100 years</a:t>
            </a:r>
            <a:r>
              <a:rPr lang="en-US" sz="1700" dirty="0"/>
              <a:t>.</a:t>
            </a:r>
          </a:p>
          <a:p>
            <a:pPr marL="742950" lvl="1" indent="-285750">
              <a:buFont typeface="+mj-lt"/>
              <a:buAutoNum type="arabicPeriod"/>
            </a:pPr>
            <a:r>
              <a:rPr lang="en-US" sz="1700" dirty="0"/>
              <a:t>Both </a:t>
            </a:r>
            <a:r>
              <a:rPr lang="en-US" sz="1700" b="1" dirty="0"/>
              <a:t>scientific advancements</a:t>
            </a:r>
            <a:r>
              <a:rPr lang="en-US" sz="1700" dirty="0"/>
              <a:t> and </a:t>
            </a:r>
            <a:r>
              <a:rPr lang="en-US" sz="1700" b="1" dirty="0"/>
              <a:t>market growth</a:t>
            </a:r>
            <a:r>
              <a:rPr lang="en-US" sz="1700" dirty="0"/>
              <a:t> have contributed to its development.</a:t>
            </a:r>
          </a:p>
          <a:p>
            <a:pPr>
              <a:buFont typeface="+mj-lt"/>
              <a:buAutoNum type="arabicPeriod"/>
            </a:pPr>
            <a:r>
              <a:rPr lang="en-US" sz="1700" b="1" dirty="0"/>
              <a:t>Types of Wireless Services:</a:t>
            </a:r>
            <a:endParaRPr lang="en-US" sz="1700" dirty="0"/>
          </a:p>
          <a:p>
            <a:pPr marL="742950" lvl="1" indent="-285750">
              <a:buFont typeface="+mj-lt"/>
              <a:buAutoNum type="arabicPeriod"/>
            </a:pPr>
            <a:r>
              <a:rPr lang="en-US" sz="1700" dirty="0"/>
              <a:t>The modern wireless market consists of various services, each designed to meet specific demands.</a:t>
            </a:r>
          </a:p>
          <a:p>
            <a:pPr>
              <a:buFont typeface="+mj-lt"/>
              <a:buAutoNum type="arabicPeriod"/>
            </a:pPr>
            <a:r>
              <a:rPr lang="en-US" sz="1700" b="1" dirty="0"/>
              <a:t>Service-Specific Demands:</a:t>
            </a:r>
            <a:endParaRPr lang="en-US" sz="1700" dirty="0"/>
          </a:p>
          <a:p>
            <a:pPr marL="742950" lvl="1" indent="-285750">
              <a:buFont typeface="+mj-lt"/>
              <a:buAutoNum type="arabicPeriod"/>
            </a:pPr>
            <a:r>
              <a:rPr lang="en-US" sz="1700" dirty="0"/>
              <a:t>Key factors influencing wireless services include:</a:t>
            </a:r>
          </a:p>
          <a:p>
            <a:pPr marL="1143000" lvl="2" indent="-228600">
              <a:buFont typeface="+mj-lt"/>
              <a:buAutoNum type="arabicPeriod"/>
            </a:pPr>
            <a:r>
              <a:rPr lang="en-US" sz="1700" b="1" dirty="0"/>
              <a:t>Data Rate</a:t>
            </a:r>
            <a:r>
              <a:rPr lang="en-US" sz="1700" dirty="0"/>
              <a:t> (speed of communication)</a:t>
            </a:r>
          </a:p>
          <a:p>
            <a:pPr marL="1143000" lvl="2" indent="-228600">
              <a:buFont typeface="+mj-lt"/>
              <a:buAutoNum type="arabicPeriod"/>
            </a:pPr>
            <a:r>
              <a:rPr lang="en-US" sz="1700" b="1" dirty="0"/>
              <a:t>Range</a:t>
            </a:r>
            <a:r>
              <a:rPr lang="en-US" sz="1700" dirty="0"/>
              <a:t> (coverage area)</a:t>
            </a:r>
          </a:p>
          <a:p>
            <a:pPr marL="1143000" lvl="2" indent="-228600">
              <a:buFont typeface="+mj-lt"/>
              <a:buAutoNum type="arabicPeriod"/>
            </a:pPr>
            <a:r>
              <a:rPr lang="en-US" sz="1700" b="1" dirty="0"/>
              <a:t>Number of Users</a:t>
            </a:r>
            <a:r>
              <a:rPr lang="en-US" sz="1700" dirty="0"/>
              <a:t> (network capacity)</a:t>
            </a:r>
          </a:p>
          <a:p>
            <a:pPr marL="1143000" lvl="2" indent="-228600">
              <a:buFont typeface="+mj-lt"/>
              <a:buAutoNum type="arabicPeriod"/>
            </a:pPr>
            <a:r>
              <a:rPr lang="en-US" sz="1700" b="1" dirty="0"/>
              <a:t>Energy Consumption</a:t>
            </a:r>
            <a:r>
              <a:rPr lang="en-US" sz="1700" dirty="0"/>
              <a:t> (battery efficiency)</a:t>
            </a:r>
          </a:p>
          <a:p>
            <a:pPr marL="1143000" lvl="2" indent="-228600">
              <a:buFont typeface="+mj-lt"/>
              <a:buAutoNum type="arabicPeriod"/>
            </a:pPr>
            <a:r>
              <a:rPr lang="en-US" sz="1700" b="1" dirty="0"/>
              <a:t>Mobility</a:t>
            </a:r>
            <a:r>
              <a:rPr lang="en-US" sz="1700" dirty="0"/>
              <a:t> (support for movement and handovers)</a:t>
            </a:r>
          </a:p>
          <a:p>
            <a:pPr>
              <a:buNone/>
            </a:pPr>
            <a:r>
              <a:rPr lang="en-US" sz="1700" b="1" dirty="0"/>
              <a:t>4.Impact on Society:</a:t>
            </a:r>
            <a:endParaRPr lang="en-US" sz="1700" dirty="0"/>
          </a:p>
          <a:p>
            <a:pPr>
              <a:buFont typeface="Arial" panose="020B0604020202020204" pitchFamily="34" charset="0"/>
              <a:buChar char="•"/>
            </a:pPr>
            <a:r>
              <a:rPr lang="en-US" sz="1700" dirty="0"/>
              <a:t>Wireless technology influences both </a:t>
            </a:r>
            <a:r>
              <a:rPr lang="en-US" sz="1700" b="1" dirty="0"/>
              <a:t>engineering advancements</a:t>
            </a:r>
            <a:r>
              <a:rPr lang="en-US" sz="1700" dirty="0"/>
              <a:t> and </a:t>
            </a:r>
            <a:r>
              <a:rPr lang="en-US" sz="1700" b="1" dirty="0"/>
              <a:t>human behavior</a:t>
            </a:r>
            <a:r>
              <a:rPr lang="en-US" sz="1700" dirty="0"/>
              <a:t>.</a:t>
            </a:r>
          </a:p>
          <a:p>
            <a:pPr>
              <a:buFont typeface="Arial" panose="020B0604020202020204" pitchFamily="34" charset="0"/>
              <a:buChar char="•"/>
            </a:pPr>
            <a:r>
              <a:rPr lang="en-US" sz="1700" dirty="0"/>
              <a:t>The increasing use of wireless devices has led to changes in communication habits, work culture, and social interactions.</a:t>
            </a:r>
          </a:p>
          <a:p>
            <a:pPr marL="914400" lvl="2"/>
            <a:endParaRPr lang="en-US" sz="1700" dirty="0"/>
          </a:p>
          <a:p>
            <a:endParaRPr lang="en-IN" sz="1700" dirty="0"/>
          </a:p>
        </p:txBody>
      </p:sp>
    </p:spTree>
    <p:extLst>
      <p:ext uri="{BB962C8B-B14F-4D97-AF65-F5344CB8AC3E}">
        <p14:creationId xmlns:p14="http://schemas.microsoft.com/office/powerpoint/2010/main" val="1012462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268970" cy="4634865"/>
          </a:xfrm>
          <a:prstGeom prst="rect">
            <a:avLst/>
          </a:prstGeom>
        </p:spPr>
        <p:txBody>
          <a:bodyPr vert="horz" wrap="square" lIns="0" tIns="12700" rIns="0" bIns="0" rtlCol="0">
            <a:spAutoFit/>
          </a:bodyPr>
          <a:lstStyle/>
          <a:p>
            <a:pPr marL="355600" marR="388620" indent="-342900">
              <a:lnSpc>
                <a:spcPct val="100000"/>
              </a:lnSpc>
              <a:spcBef>
                <a:spcPts val="100"/>
              </a:spcBef>
              <a:buClr>
                <a:srgbClr val="0F1141"/>
              </a:buClr>
              <a:buFont typeface="Arial MT"/>
              <a:buChar char="•"/>
              <a:tabLst>
                <a:tab pos="355600" algn="l"/>
              </a:tabLst>
            </a:pPr>
            <a:r>
              <a:rPr sz="2400" spc="-10" dirty="0">
                <a:latin typeface="Times New Roman"/>
                <a:cs typeface="Times New Roman"/>
              </a:rPr>
              <a:t>Wireless</a:t>
            </a:r>
            <a:r>
              <a:rPr sz="2400" spc="-30" dirty="0">
                <a:latin typeface="Times New Roman"/>
                <a:cs typeface="Times New Roman"/>
              </a:rPr>
              <a:t> </a:t>
            </a:r>
            <a:r>
              <a:rPr sz="2400" dirty="0">
                <a:latin typeface="Times New Roman"/>
                <a:cs typeface="Times New Roman"/>
              </a:rPr>
              <a:t>communication</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oldest</a:t>
            </a:r>
            <a:r>
              <a:rPr sz="2400" spc="-35" dirty="0">
                <a:latin typeface="Times New Roman"/>
                <a:cs typeface="Times New Roman"/>
              </a:rPr>
              <a:t> </a:t>
            </a:r>
            <a:r>
              <a:rPr sz="2400" dirty="0">
                <a:latin typeface="Times New Roman"/>
                <a:cs typeface="Times New Roman"/>
              </a:rPr>
              <a:t>form</a:t>
            </a:r>
            <a:r>
              <a:rPr sz="2400" spc="-3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spc="-10" dirty="0">
                <a:latin typeface="Times New Roman"/>
                <a:cs typeface="Times New Roman"/>
              </a:rPr>
              <a:t>communication </a:t>
            </a:r>
            <a:r>
              <a:rPr sz="2400" dirty="0">
                <a:latin typeface="Times New Roman"/>
                <a:cs typeface="Times New Roman"/>
              </a:rPr>
              <a:t>like</a:t>
            </a:r>
            <a:r>
              <a:rPr sz="2400" spc="-40" dirty="0">
                <a:latin typeface="Times New Roman"/>
                <a:cs typeface="Times New Roman"/>
              </a:rPr>
              <a:t> </a:t>
            </a:r>
            <a:r>
              <a:rPr sz="2400" dirty="0">
                <a:latin typeface="Times New Roman"/>
                <a:cs typeface="Times New Roman"/>
              </a:rPr>
              <a:t>shouts</a:t>
            </a:r>
            <a:r>
              <a:rPr sz="2400" spc="-2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drums</a:t>
            </a:r>
            <a:r>
              <a:rPr sz="2400" spc="-5" dirty="0">
                <a:latin typeface="Times New Roman"/>
                <a:cs typeface="Times New Roman"/>
              </a:rPr>
              <a:t> </a:t>
            </a:r>
            <a:r>
              <a:rPr sz="2400" dirty="0">
                <a:latin typeface="Times New Roman"/>
                <a:cs typeface="Times New Roman"/>
              </a:rPr>
              <a:t>did</a:t>
            </a:r>
            <a:r>
              <a:rPr sz="2400" spc="-20" dirty="0">
                <a:latin typeface="Times New Roman"/>
                <a:cs typeface="Times New Roman"/>
              </a:rPr>
              <a:t> </a:t>
            </a:r>
            <a:r>
              <a:rPr sz="2400" dirty="0">
                <a:latin typeface="Times New Roman"/>
                <a:cs typeface="Times New Roman"/>
              </a:rPr>
              <a:t>not</a:t>
            </a:r>
            <a:r>
              <a:rPr sz="2400" spc="-25" dirty="0">
                <a:latin typeface="Times New Roman"/>
                <a:cs typeface="Times New Roman"/>
              </a:rPr>
              <a:t> </a:t>
            </a:r>
            <a:r>
              <a:rPr sz="2400" dirty="0">
                <a:latin typeface="Times New Roman"/>
                <a:cs typeface="Times New Roman"/>
              </a:rPr>
              <a:t>require</a:t>
            </a:r>
            <a:r>
              <a:rPr sz="2400" spc="-35" dirty="0">
                <a:latin typeface="Times New Roman"/>
                <a:cs typeface="Times New Roman"/>
              </a:rPr>
              <a:t> </a:t>
            </a:r>
            <a:r>
              <a:rPr sz="2400" dirty="0">
                <a:latin typeface="Times New Roman"/>
                <a:cs typeface="Times New Roman"/>
              </a:rPr>
              <a:t>any</a:t>
            </a:r>
            <a:r>
              <a:rPr sz="2400" spc="-15" dirty="0">
                <a:latin typeface="Times New Roman"/>
                <a:cs typeface="Times New Roman"/>
              </a:rPr>
              <a:t> </a:t>
            </a:r>
            <a:r>
              <a:rPr sz="2400" dirty="0">
                <a:latin typeface="Times New Roman"/>
                <a:cs typeface="Times New Roman"/>
              </a:rPr>
              <a:t>wires</a:t>
            </a:r>
            <a:r>
              <a:rPr sz="2400" spc="-15" dirty="0">
                <a:latin typeface="Times New Roman"/>
                <a:cs typeface="Times New Roman"/>
              </a:rPr>
              <a:t> </a:t>
            </a:r>
            <a:r>
              <a:rPr sz="2400" dirty="0">
                <a:latin typeface="Times New Roman"/>
                <a:cs typeface="Times New Roman"/>
              </a:rPr>
              <a:t>or</a:t>
            </a:r>
            <a:r>
              <a:rPr sz="2400" spc="-10" dirty="0">
                <a:latin typeface="Times New Roman"/>
                <a:cs typeface="Times New Roman"/>
              </a:rPr>
              <a:t> </a:t>
            </a:r>
            <a:r>
              <a:rPr sz="2400" dirty="0">
                <a:latin typeface="Times New Roman"/>
                <a:cs typeface="Times New Roman"/>
              </a:rPr>
              <a:t>cables</a:t>
            </a:r>
            <a:r>
              <a:rPr sz="2400" spc="-35" dirty="0">
                <a:latin typeface="Times New Roman"/>
                <a:cs typeface="Times New Roman"/>
              </a:rPr>
              <a:t> </a:t>
            </a:r>
            <a:r>
              <a:rPr sz="2400" spc="-25" dirty="0">
                <a:latin typeface="Times New Roman"/>
                <a:cs typeface="Times New Roman"/>
              </a:rPr>
              <a:t>to </a:t>
            </a:r>
            <a:r>
              <a:rPr sz="2400" spc="-10" dirty="0">
                <a:latin typeface="Times New Roman"/>
                <a:cs typeface="Times New Roman"/>
              </a:rPr>
              <a:t>function.</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spc="-10" dirty="0">
                <a:latin typeface="Times New Roman"/>
                <a:cs typeface="Times New Roman"/>
              </a:rPr>
              <a:t>Wireless</a:t>
            </a:r>
            <a:r>
              <a:rPr sz="2400" spc="-40" dirty="0">
                <a:latin typeface="Times New Roman"/>
                <a:cs typeface="Times New Roman"/>
              </a:rPr>
              <a:t> </a:t>
            </a:r>
            <a:r>
              <a:rPr sz="2400" dirty="0">
                <a:latin typeface="Times New Roman"/>
                <a:cs typeface="Times New Roman"/>
              </a:rPr>
              <a:t>communications</a:t>
            </a:r>
            <a:r>
              <a:rPr sz="2400" spc="-25" dirty="0">
                <a:latin typeface="Times New Roman"/>
                <a:cs typeface="Times New Roman"/>
              </a:rPr>
              <a:t> </a:t>
            </a:r>
            <a:r>
              <a:rPr sz="2400" dirty="0">
                <a:latin typeface="Times New Roman"/>
                <a:cs typeface="Times New Roman"/>
              </a:rPr>
              <a:t>started</a:t>
            </a:r>
            <a:r>
              <a:rPr sz="2400" spc="-65" dirty="0">
                <a:latin typeface="Times New Roman"/>
                <a:cs typeface="Times New Roman"/>
              </a:rPr>
              <a:t> </a:t>
            </a:r>
            <a:r>
              <a:rPr sz="2400" dirty="0">
                <a:latin typeface="Times New Roman"/>
                <a:cs typeface="Times New Roman"/>
              </a:rPr>
              <a:t>only</a:t>
            </a:r>
            <a:r>
              <a:rPr sz="2400" spc="-25" dirty="0">
                <a:latin typeface="Times New Roman"/>
                <a:cs typeface="Times New Roman"/>
              </a:rPr>
              <a:t> </a:t>
            </a:r>
            <a:r>
              <a:rPr sz="2400" dirty="0">
                <a:latin typeface="Times New Roman"/>
                <a:cs typeface="Times New Roman"/>
              </a:rPr>
              <a:t>with</a:t>
            </a:r>
            <a:r>
              <a:rPr sz="2400" spc="-4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work</a:t>
            </a:r>
            <a:r>
              <a:rPr sz="2400" spc="-20"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spc="-10" dirty="0">
                <a:latin typeface="Times New Roman"/>
                <a:cs typeface="Times New Roman"/>
              </a:rPr>
              <a:t>Maxwell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Hertz,</a:t>
            </a:r>
            <a:r>
              <a:rPr sz="2400" spc="-35" dirty="0">
                <a:latin typeface="Times New Roman"/>
                <a:cs typeface="Times New Roman"/>
              </a:rPr>
              <a:t> </a:t>
            </a:r>
            <a:r>
              <a:rPr sz="2400" dirty="0">
                <a:latin typeface="Times New Roman"/>
                <a:cs typeface="Times New Roman"/>
              </a:rPr>
              <a:t>who</a:t>
            </a:r>
            <a:r>
              <a:rPr sz="2400" spc="-10" dirty="0">
                <a:latin typeface="Times New Roman"/>
                <a:cs typeface="Times New Roman"/>
              </a:rPr>
              <a:t> </a:t>
            </a:r>
            <a:r>
              <a:rPr sz="2400" dirty="0">
                <a:latin typeface="Times New Roman"/>
                <a:cs typeface="Times New Roman"/>
              </a:rPr>
              <a:t>laid</a:t>
            </a:r>
            <a:r>
              <a:rPr sz="2400" spc="-3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basis</a:t>
            </a:r>
            <a:r>
              <a:rPr sz="2400" spc="-20"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understanding</a:t>
            </a:r>
            <a:r>
              <a:rPr sz="2400" spc="-4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spc="-25" dirty="0">
                <a:latin typeface="Times New Roman"/>
                <a:cs typeface="Times New Roman"/>
              </a:rPr>
              <a:t>the </a:t>
            </a:r>
            <a:r>
              <a:rPr sz="2400" dirty="0">
                <a:latin typeface="Times New Roman"/>
                <a:cs typeface="Times New Roman"/>
              </a:rPr>
              <a:t>transmission</a:t>
            </a:r>
            <a:r>
              <a:rPr sz="2400" spc="-4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electromagnetic</a:t>
            </a:r>
            <a:r>
              <a:rPr sz="2400" spc="-65" dirty="0">
                <a:latin typeface="Times New Roman"/>
                <a:cs typeface="Times New Roman"/>
              </a:rPr>
              <a:t> </a:t>
            </a:r>
            <a:r>
              <a:rPr sz="2400" spc="-10" dirty="0">
                <a:latin typeface="Times New Roman"/>
                <a:cs typeface="Times New Roman"/>
              </a:rPr>
              <a:t>waves.</a:t>
            </a:r>
            <a:endParaRPr sz="2400">
              <a:latin typeface="Times New Roman"/>
              <a:cs typeface="Times New Roman"/>
            </a:endParaRPr>
          </a:p>
          <a:p>
            <a:pPr marL="355600" marR="155575" indent="-342900">
              <a:lnSpc>
                <a:spcPct val="100000"/>
              </a:lnSpc>
              <a:spcBef>
                <a:spcPts val="580"/>
              </a:spcBef>
              <a:buClr>
                <a:srgbClr val="0F1141"/>
              </a:buClr>
              <a:buFont typeface="Arial MT"/>
              <a:buChar char="•"/>
              <a:tabLst>
                <a:tab pos="355600" algn="l"/>
              </a:tabLst>
            </a:pP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1898,</a:t>
            </a:r>
            <a:r>
              <a:rPr sz="2400" spc="-10" dirty="0">
                <a:latin typeface="Times New Roman"/>
                <a:cs typeface="Times New Roman"/>
              </a:rPr>
              <a:t> </a:t>
            </a:r>
            <a:r>
              <a:rPr sz="2400" dirty="0">
                <a:latin typeface="Times New Roman"/>
                <a:cs typeface="Times New Roman"/>
              </a:rPr>
              <a:t>Marconi</a:t>
            </a:r>
            <a:r>
              <a:rPr sz="2400" spc="-30"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made</a:t>
            </a:r>
            <a:r>
              <a:rPr sz="2400" spc="-10" dirty="0">
                <a:latin typeface="Times New Roman"/>
                <a:cs typeface="Times New Roman"/>
              </a:rPr>
              <a:t> </a:t>
            </a:r>
            <a:r>
              <a:rPr sz="2400" dirty="0">
                <a:latin typeface="Times New Roman"/>
                <a:cs typeface="Times New Roman"/>
              </a:rPr>
              <a:t>his</a:t>
            </a:r>
            <a:r>
              <a:rPr sz="2400" spc="-20" dirty="0">
                <a:latin typeface="Times New Roman"/>
                <a:cs typeface="Times New Roman"/>
              </a:rPr>
              <a:t> </a:t>
            </a:r>
            <a:r>
              <a:rPr sz="2400" dirty="0">
                <a:latin typeface="Times New Roman"/>
                <a:cs typeface="Times New Roman"/>
              </a:rPr>
              <a:t>well-publicized</a:t>
            </a:r>
            <a:r>
              <a:rPr sz="2400" spc="-50" dirty="0">
                <a:latin typeface="Times New Roman"/>
                <a:cs typeface="Times New Roman"/>
              </a:rPr>
              <a:t> </a:t>
            </a:r>
            <a:r>
              <a:rPr sz="2400" dirty="0">
                <a:latin typeface="Times New Roman"/>
                <a:cs typeface="Times New Roman"/>
              </a:rPr>
              <a:t>demonstration</a:t>
            </a:r>
            <a:r>
              <a:rPr sz="2400" spc="-35" dirty="0">
                <a:latin typeface="Times New Roman"/>
                <a:cs typeface="Times New Roman"/>
              </a:rPr>
              <a:t> </a:t>
            </a:r>
            <a:r>
              <a:rPr sz="2400" spc="-25" dirty="0">
                <a:latin typeface="Times New Roman"/>
                <a:cs typeface="Times New Roman"/>
              </a:rPr>
              <a:t>of </a:t>
            </a:r>
            <a:r>
              <a:rPr sz="2400" dirty="0">
                <a:latin typeface="Times New Roman"/>
                <a:cs typeface="Times New Roman"/>
              </a:rPr>
              <a:t>wireless</a:t>
            </a:r>
            <a:r>
              <a:rPr sz="2400" spc="-45" dirty="0">
                <a:latin typeface="Times New Roman"/>
                <a:cs typeface="Times New Roman"/>
              </a:rPr>
              <a:t> </a:t>
            </a:r>
            <a:r>
              <a:rPr sz="2400" dirty="0">
                <a:latin typeface="Times New Roman"/>
                <a:cs typeface="Times New Roman"/>
              </a:rPr>
              <a:t>communications</a:t>
            </a:r>
            <a:r>
              <a:rPr sz="2400" spc="-20" dirty="0">
                <a:latin typeface="Times New Roman"/>
                <a:cs typeface="Times New Roman"/>
              </a:rPr>
              <a:t> </a:t>
            </a:r>
            <a:r>
              <a:rPr sz="2400" dirty="0">
                <a:latin typeface="Times New Roman"/>
                <a:cs typeface="Times New Roman"/>
              </a:rPr>
              <a:t>from</a:t>
            </a:r>
            <a:r>
              <a:rPr sz="2400" spc="-20"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boat</a:t>
            </a:r>
            <a:r>
              <a:rPr sz="2400" spc="-30"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Isle</a:t>
            </a:r>
            <a:r>
              <a:rPr sz="2400" spc="-40" dirty="0">
                <a:latin typeface="Times New Roman"/>
                <a:cs typeface="Times New Roman"/>
              </a:rPr>
              <a:t> </a:t>
            </a:r>
            <a:r>
              <a:rPr sz="2400" dirty="0">
                <a:latin typeface="Times New Roman"/>
                <a:cs typeface="Times New Roman"/>
              </a:rPr>
              <a:t>of</a:t>
            </a:r>
            <a:r>
              <a:rPr sz="2400" spc="-65" dirty="0">
                <a:latin typeface="Times New Roman"/>
                <a:cs typeface="Times New Roman"/>
              </a:rPr>
              <a:t> </a:t>
            </a:r>
            <a:r>
              <a:rPr sz="2400" dirty="0">
                <a:latin typeface="Times New Roman"/>
                <a:cs typeface="Times New Roman"/>
              </a:rPr>
              <a:t>Wight</a:t>
            </a:r>
            <a:r>
              <a:rPr sz="2400" spc="-2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spc="-25" dirty="0">
                <a:latin typeface="Times New Roman"/>
                <a:cs typeface="Times New Roman"/>
              </a:rPr>
              <a:t>the </a:t>
            </a:r>
            <a:r>
              <a:rPr sz="2400" dirty="0">
                <a:latin typeface="Times New Roman"/>
                <a:cs typeface="Times New Roman"/>
              </a:rPr>
              <a:t>English</a:t>
            </a:r>
            <a:r>
              <a:rPr sz="2400" spc="-50" dirty="0">
                <a:latin typeface="Times New Roman"/>
                <a:cs typeface="Times New Roman"/>
              </a:rPr>
              <a:t> </a:t>
            </a:r>
            <a:r>
              <a:rPr sz="2400" spc="-10" dirty="0">
                <a:latin typeface="Times New Roman"/>
                <a:cs typeface="Times New Roman"/>
              </a:rPr>
              <a:t>Channel.</a:t>
            </a:r>
            <a:endParaRPr sz="2400">
              <a:latin typeface="Times New Roman"/>
              <a:cs typeface="Times New Roman"/>
            </a:endParaRPr>
          </a:p>
          <a:p>
            <a:pPr marL="355600" marR="78105" indent="-342900">
              <a:lnSpc>
                <a:spcPct val="100000"/>
              </a:lnSpc>
              <a:spcBef>
                <a:spcPts val="575"/>
              </a:spcBef>
              <a:buClr>
                <a:srgbClr val="0F1141"/>
              </a:buClr>
              <a:buFont typeface="Arial MT"/>
              <a:buChar char="•"/>
              <a:tabLst>
                <a:tab pos="355600" algn="l"/>
              </a:tabLst>
            </a:pPr>
            <a:r>
              <a:rPr sz="2400" dirty="0">
                <a:latin typeface="Times New Roman"/>
                <a:cs typeface="Times New Roman"/>
              </a:rPr>
              <a:t>It</a:t>
            </a:r>
            <a:r>
              <a:rPr sz="2400" spc="-1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noteworthy</a:t>
            </a:r>
            <a:r>
              <a:rPr sz="2400" spc="-10" dirty="0">
                <a:latin typeface="Times New Roman"/>
                <a:cs typeface="Times New Roman"/>
              </a:rPr>
              <a:t> </a:t>
            </a:r>
            <a:r>
              <a:rPr sz="2400" dirty="0">
                <a:latin typeface="Times New Roman"/>
                <a:cs typeface="Times New Roman"/>
              </a:rPr>
              <a:t>that</a:t>
            </a:r>
            <a:r>
              <a:rPr sz="2400" spc="-30" dirty="0">
                <a:latin typeface="Times New Roman"/>
                <a:cs typeface="Times New Roman"/>
              </a:rPr>
              <a:t> </a:t>
            </a:r>
            <a:r>
              <a:rPr sz="2400" dirty="0">
                <a:latin typeface="Times New Roman"/>
                <a:cs typeface="Times New Roman"/>
              </a:rPr>
              <a:t>while</a:t>
            </a:r>
            <a:r>
              <a:rPr sz="2400" spc="-60" dirty="0">
                <a:latin typeface="Times New Roman"/>
                <a:cs typeface="Times New Roman"/>
              </a:rPr>
              <a:t> </a:t>
            </a:r>
            <a:r>
              <a:rPr sz="2400" spc="-20" dirty="0">
                <a:latin typeface="Times New Roman"/>
                <a:cs typeface="Times New Roman"/>
              </a:rPr>
              <a:t>Tesla</a:t>
            </a:r>
            <a:r>
              <a:rPr sz="2400" spc="-35" dirty="0">
                <a:latin typeface="Times New Roman"/>
                <a:cs typeface="Times New Roman"/>
              </a:rPr>
              <a:t> </a:t>
            </a:r>
            <a:r>
              <a:rPr sz="2400" dirty="0">
                <a:latin typeface="Times New Roman"/>
                <a:cs typeface="Times New Roman"/>
              </a:rPr>
              <a:t>was</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first</a:t>
            </a:r>
            <a:r>
              <a:rPr sz="2400" spc="-1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succeed</a:t>
            </a:r>
            <a:r>
              <a:rPr sz="2400" spc="-1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spc="-20" dirty="0">
                <a:latin typeface="Times New Roman"/>
                <a:cs typeface="Times New Roman"/>
              </a:rPr>
              <a:t>this </a:t>
            </a:r>
            <a:r>
              <a:rPr sz="2400" dirty="0">
                <a:latin typeface="Times New Roman"/>
                <a:cs typeface="Times New Roman"/>
              </a:rPr>
              <a:t>important</a:t>
            </a:r>
            <a:r>
              <a:rPr sz="2400" spc="-35" dirty="0">
                <a:latin typeface="Times New Roman"/>
                <a:cs typeface="Times New Roman"/>
              </a:rPr>
              <a:t> </a:t>
            </a:r>
            <a:r>
              <a:rPr sz="2400" spc="-10" dirty="0">
                <a:latin typeface="Times New Roman"/>
                <a:cs typeface="Times New Roman"/>
              </a:rPr>
              <a:t>endeavor,</a:t>
            </a:r>
            <a:r>
              <a:rPr sz="2400" spc="-35" dirty="0">
                <a:latin typeface="Times New Roman"/>
                <a:cs typeface="Times New Roman"/>
              </a:rPr>
              <a:t> </a:t>
            </a:r>
            <a:r>
              <a:rPr sz="2400" dirty="0">
                <a:latin typeface="Times New Roman"/>
                <a:cs typeface="Times New Roman"/>
              </a:rPr>
              <a:t>Marconi</a:t>
            </a:r>
            <a:r>
              <a:rPr sz="2400" spc="-30" dirty="0">
                <a:latin typeface="Times New Roman"/>
                <a:cs typeface="Times New Roman"/>
              </a:rPr>
              <a:t> </a:t>
            </a:r>
            <a:r>
              <a:rPr sz="2400" dirty="0">
                <a:latin typeface="Times New Roman"/>
                <a:cs typeface="Times New Roman"/>
              </a:rPr>
              <a:t>had</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better</a:t>
            </a:r>
            <a:r>
              <a:rPr sz="2400" spc="-45" dirty="0">
                <a:latin typeface="Times New Roman"/>
                <a:cs typeface="Times New Roman"/>
              </a:rPr>
              <a:t> </a:t>
            </a:r>
            <a:r>
              <a:rPr sz="2400" dirty="0">
                <a:latin typeface="Times New Roman"/>
                <a:cs typeface="Times New Roman"/>
              </a:rPr>
              <a:t>public</a:t>
            </a:r>
            <a:r>
              <a:rPr sz="2400" spc="-35" dirty="0">
                <a:latin typeface="Times New Roman"/>
                <a:cs typeface="Times New Roman"/>
              </a:rPr>
              <a:t> </a:t>
            </a:r>
            <a:r>
              <a:rPr sz="2400" dirty="0">
                <a:latin typeface="Times New Roman"/>
                <a:cs typeface="Times New Roman"/>
              </a:rPr>
              <a:t>relations,</a:t>
            </a:r>
            <a:r>
              <a:rPr sz="2400" spc="-50" dirty="0">
                <a:latin typeface="Times New Roman"/>
                <a:cs typeface="Times New Roman"/>
              </a:rPr>
              <a:t> </a:t>
            </a:r>
            <a:r>
              <a:rPr sz="2400" spc="-25" dirty="0">
                <a:latin typeface="Times New Roman"/>
                <a:cs typeface="Times New Roman"/>
              </a:rPr>
              <a:t>and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widely</a:t>
            </a:r>
            <a:r>
              <a:rPr sz="2400" spc="-20" dirty="0">
                <a:latin typeface="Times New Roman"/>
                <a:cs typeface="Times New Roman"/>
              </a:rPr>
              <a:t> </a:t>
            </a:r>
            <a:r>
              <a:rPr sz="2400" dirty="0">
                <a:latin typeface="Times New Roman"/>
                <a:cs typeface="Times New Roman"/>
              </a:rPr>
              <a:t>cited</a:t>
            </a:r>
            <a:r>
              <a:rPr sz="2400" spc="-35"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inventor</a:t>
            </a:r>
            <a:r>
              <a:rPr sz="2400" spc="-3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wireless</a:t>
            </a:r>
            <a:r>
              <a:rPr sz="2400" spc="-20" dirty="0">
                <a:latin typeface="Times New Roman"/>
                <a:cs typeface="Times New Roman"/>
              </a:rPr>
              <a:t> </a:t>
            </a:r>
            <a:r>
              <a:rPr sz="2400" spc="-10" dirty="0">
                <a:latin typeface="Times New Roman"/>
                <a:cs typeface="Times New Roman"/>
              </a:rPr>
              <a:t>communications,</a:t>
            </a:r>
            <a:endParaRPr sz="2400">
              <a:latin typeface="Times New Roman"/>
              <a:cs typeface="Times New Roman"/>
            </a:endParaRPr>
          </a:p>
        </p:txBody>
      </p:sp>
      <p:sp>
        <p:nvSpPr>
          <p:cNvPr id="4" name="object 4"/>
          <p:cNvSpPr txBox="1"/>
          <p:nvPr/>
        </p:nvSpPr>
        <p:spPr>
          <a:xfrm>
            <a:off x="726440" y="6159160"/>
            <a:ext cx="3946525" cy="363220"/>
          </a:xfrm>
          <a:prstGeom prst="rect">
            <a:avLst/>
          </a:prstGeom>
        </p:spPr>
        <p:txBody>
          <a:bodyPr vert="horz" wrap="square" lIns="0" tIns="0" rIns="0" bIns="0" rtlCol="0">
            <a:spAutoFit/>
          </a:bodyPr>
          <a:lstStyle/>
          <a:p>
            <a:pPr marL="12700">
              <a:lnSpc>
                <a:spcPts val="2720"/>
              </a:lnSpc>
            </a:pPr>
            <a:r>
              <a:rPr sz="2400" dirty="0">
                <a:latin typeface="Times New Roman"/>
                <a:cs typeface="Times New Roman"/>
              </a:rPr>
              <a:t>receiving</a:t>
            </a:r>
            <a:r>
              <a:rPr sz="2400" spc="-4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Nobel prize</a:t>
            </a:r>
            <a:r>
              <a:rPr sz="2400" spc="-30" dirty="0">
                <a:latin typeface="Times New Roman"/>
                <a:cs typeface="Times New Roman"/>
              </a:rPr>
              <a:t> </a:t>
            </a:r>
            <a:r>
              <a:rPr sz="2400" dirty="0">
                <a:latin typeface="Times New Roman"/>
                <a:cs typeface="Times New Roman"/>
              </a:rPr>
              <a:t>in</a:t>
            </a:r>
            <a:r>
              <a:rPr sz="2400" spc="-10" dirty="0">
                <a:latin typeface="Times New Roman"/>
                <a:cs typeface="Times New Roman"/>
              </a:rPr>
              <a:t> 1909.</a:t>
            </a:r>
            <a:endParaRPr sz="2400">
              <a:latin typeface="Times New Roman"/>
              <a:cs typeface="Times New Roman"/>
            </a:endParaRPr>
          </a:p>
        </p:txBody>
      </p:sp>
      <p:sp>
        <p:nvSpPr>
          <p:cNvPr id="5" name="object 5"/>
          <p:cNvSpPr txBox="1"/>
          <p:nvPr/>
        </p:nvSpPr>
        <p:spPr>
          <a:xfrm>
            <a:off x="8868918" y="6191005"/>
            <a:ext cx="196215" cy="196215"/>
          </a:xfrm>
          <a:prstGeom prst="rect">
            <a:avLst/>
          </a:prstGeom>
        </p:spPr>
        <p:txBody>
          <a:bodyPr vert="horz" wrap="square" lIns="0" tIns="0" rIns="0" bIns="0" rtlCol="0">
            <a:spAutoFit/>
          </a:bodyPr>
          <a:lstStyle/>
          <a:p>
            <a:pPr marL="12700">
              <a:lnSpc>
                <a:spcPts val="1425"/>
              </a:lnSpc>
            </a:pPr>
            <a:r>
              <a:rPr sz="1200" spc="-25" dirty="0">
                <a:solidFill>
                  <a:srgbClr val="888888"/>
                </a:solidFill>
                <a:latin typeface="Arial MT"/>
                <a:cs typeface="Arial MT"/>
              </a:rPr>
              <a:t>16</a:t>
            </a:r>
            <a:endParaRPr sz="1200">
              <a:latin typeface="Arial MT"/>
              <a:cs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b="0" i="1" spc="-110" dirty="0">
                <a:latin typeface="Arial"/>
                <a:cs typeface="Arial"/>
              </a:rPr>
              <a:t>How</a:t>
            </a:r>
            <a:r>
              <a:rPr b="0" i="1" spc="-305" dirty="0">
                <a:latin typeface="Arial"/>
                <a:cs typeface="Arial"/>
              </a:rPr>
              <a:t> </a:t>
            </a:r>
            <a:r>
              <a:rPr b="0" i="1" spc="-90" dirty="0">
                <a:latin typeface="Arial"/>
                <a:cs typeface="Arial"/>
              </a:rPr>
              <a:t>It</a:t>
            </a:r>
            <a:r>
              <a:rPr b="0" i="1" spc="-409" dirty="0">
                <a:latin typeface="Arial"/>
                <a:cs typeface="Arial"/>
              </a:rPr>
              <a:t> </a:t>
            </a:r>
            <a:r>
              <a:rPr b="0" i="1" dirty="0">
                <a:latin typeface="Arial"/>
                <a:cs typeface="Arial"/>
              </a:rPr>
              <a:t>A</a:t>
            </a:r>
            <a:r>
              <a:rPr b="0" i="1" spc="-500" dirty="0">
                <a:latin typeface="Arial"/>
                <a:cs typeface="Arial"/>
              </a:rPr>
              <a:t> </a:t>
            </a:r>
            <a:r>
              <a:rPr i="1" spc="-200" dirty="0">
                <a:latin typeface="Arial"/>
                <a:cs typeface="Arial"/>
              </a:rPr>
              <a:t>l</a:t>
            </a:r>
            <a:r>
              <a:rPr i="1" spc="-290" dirty="0">
                <a:latin typeface="Arial"/>
                <a:cs typeface="Arial"/>
              </a:rPr>
              <a:t> </a:t>
            </a:r>
            <a:r>
              <a:rPr b="0" i="1" spc="-130" dirty="0">
                <a:latin typeface="Arial"/>
                <a:cs typeface="Arial"/>
              </a:rPr>
              <a:t>Started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EF1C6-9141-B906-8CE5-4985DA534F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0FB20DE-506F-415B-44AF-9F969876D2F0}"/>
              </a:ext>
            </a:extLst>
          </p:cNvPr>
          <p:cNvSpPr txBox="1"/>
          <p:nvPr/>
        </p:nvSpPr>
        <p:spPr>
          <a:xfrm>
            <a:off x="0" y="1371600"/>
            <a:ext cx="9063862" cy="4734629"/>
          </a:xfrm>
          <a:prstGeom prst="rect">
            <a:avLst/>
          </a:prstGeom>
        </p:spPr>
        <p:txBody>
          <a:bodyPr vert="horz" wrap="square" lIns="0" tIns="12700"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Early Forms of Wireless Communication: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a:ln>
                  <a:noFill/>
                </a:ln>
                <a:solidFill>
                  <a:schemeClr val="tx1"/>
                </a:solidFill>
                <a:effectLst/>
                <a:latin typeface="Arial" panose="020B0604020202020204" pitchFamily="34" charset="0"/>
              </a:rPr>
              <a:t>oldest</a:t>
            </a:r>
            <a:r>
              <a:rPr kumimoji="0" lang="en-US" altLang="en-US" b="0" i="0" u="none" strike="noStrike" cap="none" normalizeH="0" baseline="0" dirty="0">
                <a:ln>
                  <a:noFill/>
                </a:ln>
                <a:solidFill>
                  <a:schemeClr val="tx1"/>
                </a:solidFill>
                <a:effectLst/>
                <a:latin typeface="Arial" panose="020B0604020202020204" pitchFamily="34" charset="0"/>
              </a:rPr>
              <a:t> forms included </a:t>
            </a:r>
            <a:r>
              <a:rPr kumimoji="0" lang="en-US" altLang="en-US" b="1" i="0" u="none" strike="noStrike" cap="none" normalizeH="0" baseline="0" dirty="0">
                <a:ln>
                  <a:noFill/>
                </a:ln>
                <a:solidFill>
                  <a:schemeClr val="tx1"/>
                </a:solidFill>
                <a:effectLst/>
                <a:latin typeface="Arial" panose="020B0604020202020204" pitchFamily="34" charset="0"/>
              </a:rPr>
              <a:t>shouts, drum signals, and smoke signals</a:t>
            </a:r>
            <a:r>
              <a:rPr kumimoji="0" lang="en-US" altLang="en-US" b="0" i="0" u="none" strike="noStrike" cap="none" normalizeH="0" baseline="0" dirty="0">
                <a:ln>
                  <a:noFill/>
                </a:ln>
                <a:solidFill>
                  <a:schemeClr val="tx1"/>
                </a:solidFill>
                <a:effectLst/>
                <a:latin typeface="Arial" panose="020B0604020202020204" pitchFamily="34" charset="0"/>
              </a:rPr>
              <a:t>, which did not rely on wires.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Scientific Foundation: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Wireless communication became feasible only after the </a:t>
            </a:r>
            <a:r>
              <a:rPr kumimoji="0" lang="en-US" altLang="en-US" b="1" i="0" u="none" strike="noStrike" cap="none" normalizeH="0" baseline="0" dirty="0">
                <a:ln>
                  <a:noFill/>
                </a:ln>
                <a:solidFill>
                  <a:schemeClr val="tx1"/>
                </a:solidFill>
                <a:effectLst/>
                <a:latin typeface="Arial" panose="020B0604020202020204" pitchFamily="34" charset="0"/>
              </a:rPr>
              <a:t>work of James Clerk Maxwell and Heinrich Hertz</a:t>
            </a:r>
            <a:r>
              <a:rPr kumimoji="0" lang="en-US" altLang="en-US" b="0" i="0" u="none" strike="noStrike" cap="none" normalizeH="0" baseline="0" dirty="0">
                <a:ln>
                  <a:noFill/>
                </a:ln>
                <a:solidFill>
                  <a:schemeClr val="tx1"/>
                </a:solidFill>
                <a:effectLst/>
                <a:latin typeface="Arial" panose="020B0604020202020204" pitchFamily="34" charset="0"/>
              </a:rPr>
              <a:t>, who established the principles of </a:t>
            </a:r>
            <a:r>
              <a:rPr kumimoji="0" lang="en-US" altLang="en-US" b="1" i="0" u="none" strike="noStrike" cap="none" normalizeH="0" baseline="0" dirty="0">
                <a:ln>
                  <a:noFill/>
                </a:ln>
                <a:solidFill>
                  <a:schemeClr val="tx1"/>
                </a:solidFill>
                <a:effectLst/>
                <a:latin typeface="Arial" panose="020B0604020202020204" pitchFamily="34" charset="0"/>
              </a:rPr>
              <a:t>electromagnetic wave transmission</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Marconi's Contribution (1898):</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Guglielmo Marconi</a:t>
            </a:r>
            <a:r>
              <a:rPr kumimoji="0" lang="en-US" altLang="en-US" b="0" i="0" u="none" strike="noStrike" cap="none" normalizeH="0" baseline="0" dirty="0">
                <a:ln>
                  <a:noFill/>
                </a:ln>
                <a:solidFill>
                  <a:schemeClr val="tx1"/>
                </a:solidFill>
                <a:effectLst/>
                <a:latin typeface="Arial" panose="020B0604020202020204" pitchFamily="34" charset="0"/>
              </a:rPr>
              <a:t> conducted a </a:t>
            </a:r>
            <a:r>
              <a:rPr kumimoji="0" lang="en-US" altLang="en-US" b="1" i="0" u="none" strike="noStrike" cap="none" normalizeH="0" baseline="0" dirty="0">
                <a:ln>
                  <a:noFill/>
                </a:ln>
                <a:solidFill>
                  <a:schemeClr val="tx1"/>
                </a:solidFill>
                <a:effectLst/>
                <a:latin typeface="Arial" panose="020B0604020202020204" pitchFamily="34" charset="0"/>
              </a:rPr>
              <a:t>famous demonstration</a:t>
            </a:r>
            <a:r>
              <a:rPr kumimoji="0" lang="en-US" altLang="en-US" b="0" i="0" u="none" strike="noStrike" cap="none" normalizeH="0" baseline="0" dirty="0">
                <a:ln>
                  <a:noFill/>
                </a:ln>
                <a:solidFill>
                  <a:schemeClr val="tx1"/>
                </a:solidFill>
                <a:effectLst/>
                <a:latin typeface="Arial" panose="020B0604020202020204" pitchFamily="34" charset="0"/>
              </a:rPr>
              <a:t> of wireless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He transmitted signals from a </a:t>
            </a:r>
            <a:r>
              <a:rPr kumimoji="0" lang="en-US" altLang="en-US" b="1" i="0" u="none" strike="noStrike" cap="none" normalizeH="0" baseline="0" dirty="0">
                <a:ln>
                  <a:noFill/>
                </a:ln>
                <a:solidFill>
                  <a:schemeClr val="tx1"/>
                </a:solidFill>
                <a:effectLst/>
                <a:latin typeface="Arial" panose="020B0604020202020204" pitchFamily="34" charset="0"/>
              </a:rPr>
              <a:t>boat to the Isle of Wight</a:t>
            </a:r>
            <a:r>
              <a:rPr kumimoji="0" lang="en-US" altLang="en-US" b="0" i="0" u="none" strike="noStrike" cap="none" normalizeH="0" baseline="0" dirty="0">
                <a:ln>
                  <a:noFill/>
                </a:ln>
                <a:solidFill>
                  <a:schemeClr val="tx1"/>
                </a:solidFill>
                <a:effectLst/>
                <a:latin typeface="Arial" panose="020B0604020202020204" pitchFamily="34" charset="0"/>
              </a:rPr>
              <a:t> in the </a:t>
            </a:r>
            <a:r>
              <a:rPr kumimoji="0" lang="en-US" altLang="en-US" b="1" i="0" u="none" strike="noStrike" cap="none" normalizeH="0" baseline="0" dirty="0">
                <a:ln>
                  <a:noFill/>
                </a:ln>
                <a:solidFill>
                  <a:schemeClr val="tx1"/>
                </a:solidFill>
                <a:effectLst/>
                <a:latin typeface="Arial" panose="020B0604020202020204" pitchFamily="34" charset="0"/>
              </a:rPr>
              <a:t>English Channel</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Tesla vs. Marconi Controversy: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Nikola Tesla</a:t>
            </a:r>
            <a:r>
              <a:rPr kumimoji="0" lang="en-US" altLang="en-US" b="0" i="0" u="none" strike="noStrike" cap="none" normalizeH="0" baseline="0" dirty="0">
                <a:ln>
                  <a:noFill/>
                </a:ln>
                <a:solidFill>
                  <a:schemeClr val="tx1"/>
                </a:solidFill>
                <a:effectLst/>
                <a:latin typeface="Arial" panose="020B0604020202020204" pitchFamily="34" charset="0"/>
              </a:rPr>
              <a:t> made earlier advancements in wireless transmission.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However, </a:t>
            </a:r>
            <a:r>
              <a:rPr kumimoji="0" lang="en-US" altLang="en-US" b="1" i="0" u="none" strike="noStrike" cap="none" normalizeH="0" baseline="0" dirty="0">
                <a:ln>
                  <a:noFill/>
                </a:ln>
                <a:solidFill>
                  <a:schemeClr val="tx1"/>
                </a:solidFill>
                <a:effectLst/>
                <a:latin typeface="Arial" panose="020B0604020202020204" pitchFamily="34" charset="0"/>
              </a:rPr>
              <a:t>Marconi's superior public relations</a:t>
            </a:r>
            <a:r>
              <a:rPr kumimoji="0" lang="en-US" altLang="en-US" b="0" i="0" u="none" strike="noStrike" cap="none" normalizeH="0" baseline="0" dirty="0">
                <a:ln>
                  <a:noFill/>
                </a:ln>
                <a:solidFill>
                  <a:schemeClr val="tx1"/>
                </a:solidFill>
                <a:effectLst/>
                <a:latin typeface="Arial" panose="020B0604020202020204" pitchFamily="34" charset="0"/>
              </a:rPr>
              <a:t> efforts led to him being recognized as the </a:t>
            </a:r>
            <a:r>
              <a:rPr kumimoji="0" lang="en-US" altLang="en-US" b="1" i="0" u="none" strike="noStrike" cap="none" normalizeH="0" baseline="0" dirty="0">
                <a:ln>
                  <a:noFill/>
                </a:ln>
                <a:solidFill>
                  <a:schemeClr val="tx1"/>
                </a:solidFill>
                <a:effectLst/>
                <a:latin typeface="Arial" panose="020B0604020202020204" pitchFamily="34" charset="0"/>
              </a:rPr>
              <a:t>inventor of wireless communication</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Marconi received the </a:t>
            </a:r>
            <a:r>
              <a:rPr kumimoji="0" lang="en-US" altLang="en-US" b="1" i="0" u="none" strike="noStrike" cap="none" normalizeH="0" baseline="0" dirty="0">
                <a:ln>
                  <a:noFill/>
                </a:ln>
                <a:solidFill>
                  <a:schemeClr val="tx1"/>
                </a:solidFill>
                <a:effectLst/>
                <a:latin typeface="Arial" panose="020B0604020202020204" pitchFamily="34" charset="0"/>
              </a:rPr>
              <a:t>Nobel Prize in 1909</a:t>
            </a:r>
            <a:r>
              <a:rPr kumimoji="0" lang="en-US" altLang="en-US" b="0" i="0" u="none" strike="noStrike" cap="none" normalizeH="0" baseline="0" dirty="0">
                <a:ln>
                  <a:noFill/>
                </a:ln>
                <a:solidFill>
                  <a:schemeClr val="tx1"/>
                </a:solidFill>
                <a:effectLst/>
                <a:latin typeface="Arial" panose="020B0604020202020204" pitchFamily="34" charset="0"/>
              </a:rPr>
              <a:t> for his contributions.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12700" marR="388620">
              <a:lnSpc>
                <a:spcPct val="100000"/>
              </a:lnSpc>
              <a:spcBef>
                <a:spcPts val="100"/>
              </a:spcBef>
              <a:buClr>
                <a:srgbClr val="0F1141"/>
              </a:buClr>
              <a:tabLst>
                <a:tab pos="355600" algn="l"/>
              </a:tabLst>
            </a:pPr>
            <a:endParaRPr dirty="0">
              <a:latin typeface="Times New Roman"/>
              <a:cs typeface="Times New Roman"/>
            </a:endParaRPr>
          </a:p>
        </p:txBody>
      </p:sp>
      <p:sp>
        <p:nvSpPr>
          <p:cNvPr id="5" name="object 5">
            <a:extLst>
              <a:ext uri="{FF2B5EF4-FFF2-40B4-BE49-F238E27FC236}">
                <a16:creationId xmlns:a16="http://schemas.microsoft.com/office/drawing/2014/main" id="{0D8F763E-912E-2292-B2B5-460B2F40B7ED}"/>
              </a:ext>
            </a:extLst>
          </p:cNvPr>
          <p:cNvSpPr txBox="1"/>
          <p:nvPr/>
        </p:nvSpPr>
        <p:spPr>
          <a:xfrm>
            <a:off x="8868918" y="6191005"/>
            <a:ext cx="196215" cy="196215"/>
          </a:xfrm>
          <a:prstGeom prst="rect">
            <a:avLst/>
          </a:prstGeom>
        </p:spPr>
        <p:txBody>
          <a:bodyPr vert="horz" wrap="square" lIns="0" tIns="0" rIns="0" bIns="0" rtlCol="0">
            <a:spAutoFit/>
          </a:bodyPr>
          <a:lstStyle/>
          <a:p>
            <a:pPr marL="12700">
              <a:lnSpc>
                <a:spcPts val="1425"/>
              </a:lnSpc>
            </a:pPr>
            <a:r>
              <a:rPr sz="1200" spc="-25" dirty="0">
                <a:solidFill>
                  <a:srgbClr val="888888"/>
                </a:solidFill>
                <a:latin typeface="Arial MT"/>
                <a:cs typeface="Arial MT"/>
              </a:rPr>
              <a:t>16</a:t>
            </a:r>
            <a:endParaRPr sz="1200">
              <a:latin typeface="Arial MT"/>
              <a:cs typeface="Arial MT"/>
            </a:endParaRPr>
          </a:p>
        </p:txBody>
      </p:sp>
      <p:sp>
        <p:nvSpPr>
          <p:cNvPr id="6" name="object 6">
            <a:extLst>
              <a:ext uri="{FF2B5EF4-FFF2-40B4-BE49-F238E27FC236}">
                <a16:creationId xmlns:a16="http://schemas.microsoft.com/office/drawing/2014/main" id="{A8DBFAF2-B0AD-8744-6C93-067AA973AA05}"/>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F85BC1ED-720F-463A-3E69-535A399472EB}"/>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b="0" i="1" spc="-110" dirty="0">
                <a:latin typeface="Arial"/>
                <a:cs typeface="Arial"/>
              </a:rPr>
              <a:t>How</a:t>
            </a:r>
            <a:r>
              <a:rPr b="0" i="1" spc="-305" dirty="0">
                <a:latin typeface="Arial"/>
                <a:cs typeface="Arial"/>
              </a:rPr>
              <a:t> </a:t>
            </a:r>
            <a:r>
              <a:rPr b="0" i="1" spc="-90" dirty="0">
                <a:latin typeface="Arial"/>
                <a:cs typeface="Arial"/>
              </a:rPr>
              <a:t>It</a:t>
            </a:r>
            <a:r>
              <a:rPr b="0" i="1" spc="-409" dirty="0">
                <a:latin typeface="Arial"/>
                <a:cs typeface="Arial"/>
              </a:rPr>
              <a:t> </a:t>
            </a:r>
            <a:r>
              <a:rPr b="0" i="1" dirty="0">
                <a:latin typeface="Arial"/>
                <a:cs typeface="Arial"/>
              </a:rPr>
              <a:t>A</a:t>
            </a:r>
            <a:r>
              <a:rPr b="0" i="1" spc="-500" dirty="0">
                <a:latin typeface="Arial"/>
                <a:cs typeface="Arial"/>
              </a:rPr>
              <a:t> </a:t>
            </a:r>
            <a:r>
              <a:rPr i="1" spc="-200" dirty="0">
                <a:latin typeface="Arial"/>
                <a:cs typeface="Arial"/>
              </a:rPr>
              <a:t>l</a:t>
            </a:r>
            <a:r>
              <a:rPr i="1" spc="-290" dirty="0">
                <a:latin typeface="Arial"/>
                <a:cs typeface="Arial"/>
              </a:rPr>
              <a:t> </a:t>
            </a:r>
            <a:r>
              <a:rPr b="0" i="1" spc="-130" dirty="0">
                <a:latin typeface="Arial"/>
                <a:cs typeface="Arial"/>
              </a:rPr>
              <a:t>Started</a:t>
            </a:r>
          </a:p>
        </p:txBody>
      </p:sp>
    </p:spTree>
    <p:extLst>
      <p:ext uri="{BB962C8B-B14F-4D97-AF65-F5344CB8AC3E}">
        <p14:creationId xmlns:p14="http://schemas.microsoft.com/office/powerpoint/2010/main" val="391284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4102735" cy="3537585"/>
          </a:xfrm>
          <a:prstGeom prst="rect">
            <a:avLst/>
          </a:prstGeom>
        </p:spPr>
        <p:txBody>
          <a:bodyPr vert="horz" wrap="square" lIns="0" tIns="85725" rIns="0" bIns="0" rtlCol="0">
            <a:spAutoFit/>
          </a:bodyPr>
          <a:lstStyle/>
          <a:p>
            <a:pPr marL="354965" indent="-342265">
              <a:lnSpc>
                <a:spcPct val="100000"/>
              </a:lnSpc>
              <a:spcBef>
                <a:spcPts val="675"/>
              </a:spcBef>
              <a:buClr>
                <a:srgbClr val="0F1141"/>
              </a:buClr>
              <a:buFont typeface="Arial MT"/>
              <a:buChar char="•"/>
              <a:tabLst>
                <a:tab pos="354965" algn="l"/>
              </a:tabLst>
            </a:pPr>
            <a:r>
              <a:rPr sz="2400" spc="-10" dirty="0">
                <a:latin typeface="Times New Roman"/>
                <a:cs typeface="Times New Roman"/>
              </a:rPr>
              <a:t>Broadcast</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spc="-10" dirty="0">
                <a:latin typeface="Times New Roman"/>
                <a:cs typeface="Times New Roman"/>
              </a:rPr>
              <a:t>Paging</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Cellular</a:t>
            </a:r>
            <a:r>
              <a:rPr sz="2400" spc="-90" dirty="0">
                <a:latin typeface="Times New Roman"/>
                <a:cs typeface="Times New Roman"/>
              </a:rPr>
              <a:t> </a:t>
            </a:r>
            <a:r>
              <a:rPr sz="2400" spc="-10" dirty="0">
                <a:latin typeface="Times New Roman"/>
                <a:cs typeface="Times New Roman"/>
              </a:rPr>
              <a:t>Telephony</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Trunking</a:t>
            </a:r>
            <a:r>
              <a:rPr sz="2400" spc="-95" dirty="0">
                <a:latin typeface="Times New Roman"/>
                <a:cs typeface="Times New Roman"/>
              </a:rPr>
              <a:t> </a:t>
            </a:r>
            <a:r>
              <a:rPr sz="2400" spc="-10" dirty="0">
                <a:latin typeface="Times New Roman"/>
                <a:cs typeface="Times New Roman"/>
              </a:rPr>
              <a:t>Radio</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Cordless</a:t>
            </a:r>
            <a:r>
              <a:rPr sz="2400" spc="-80" dirty="0">
                <a:latin typeface="Times New Roman"/>
                <a:cs typeface="Times New Roman"/>
              </a:rPr>
              <a:t> </a:t>
            </a:r>
            <a:r>
              <a:rPr sz="2400" spc="-10" dirty="0">
                <a:latin typeface="Times New Roman"/>
                <a:cs typeface="Times New Roman"/>
              </a:rPr>
              <a:t>Telephony</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Wireless</a:t>
            </a:r>
            <a:r>
              <a:rPr sz="2400" spc="-100" dirty="0">
                <a:latin typeface="Times New Roman"/>
                <a:cs typeface="Times New Roman"/>
              </a:rPr>
              <a:t> </a:t>
            </a:r>
            <a:r>
              <a:rPr sz="2400" dirty="0">
                <a:latin typeface="Times New Roman"/>
                <a:cs typeface="Times New Roman"/>
              </a:rPr>
              <a:t>Local</a:t>
            </a:r>
            <a:r>
              <a:rPr sz="2400" spc="-155" dirty="0">
                <a:latin typeface="Times New Roman"/>
                <a:cs typeface="Times New Roman"/>
              </a:rPr>
              <a:t> </a:t>
            </a:r>
            <a:r>
              <a:rPr sz="2400" dirty="0">
                <a:latin typeface="Times New Roman"/>
                <a:cs typeface="Times New Roman"/>
              </a:rPr>
              <a:t>Area</a:t>
            </a:r>
            <a:r>
              <a:rPr sz="2400" spc="-50" dirty="0">
                <a:latin typeface="Times New Roman"/>
                <a:cs typeface="Times New Roman"/>
              </a:rPr>
              <a:t> </a:t>
            </a:r>
            <a:r>
              <a:rPr sz="2400" spc="-10" dirty="0">
                <a:latin typeface="Times New Roman"/>
                <a:cs typeface="Times New Roman"/>
              </a:rPr>
              <a:t>Networks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spc="-10" dirty="0">
                <a:latin typeface="Times New Roman"/>
                <a:cs typeface="Times New Roman"/>
              </a:rPr>
              <a:t>Personal</a:t>
            </a:r>
            <a:r>
              <a:rPr sz="2400" spc="-140" dirty="0">
                <a:latin typeface="Times New Roman"/>
                <a:cs typeface="Times New Roman"/>
              </a:rPr>
              <a:t> </a:t>
            </a:r>
            <a:r>
              <a:rPr sz="2400" dirty="0">
                <a:latin typeface="Times New Roman"/>
                <a:cs typeface="Times New Roman"/>
              </a:rPr>
              <a:t>Area</a:t>
            </a:r>
            <a:r>
              <a:rPr sz="2400" spc="20" dirty="0">
                <a:latin typeface="Times New Roman"/>
                <a:cs typeface="Times New Roman"/>
              </a:rPr>
              <a:t> </a:t>
            </a:r>
            <a:r>
              <a:rPr sz="2400" spc="-10" dirty="0">
                <a:latin typeface="Times New Roman"/>
                <a:cs typeface="Times New Roman"/>
              </a:rPr>
              <a:t>Networks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Fixed</a:t>
            </a:r>
            <a:r>
              <a:rPr sz="2400" spc="-20" dirty="0">
                <a:latin typeface="Times New Roman"/>
                <a:cs typeface="Times New Roman"/>
              </a:rPr>
              <a:t> </a:t>
            </a:r>
            <a:r>
              <a:rPr sz="2400" spc="-25" dirty="0">
                <a:latin typeface="Times New Roman"/>
                <a:cs typeface="Times New Roman"/>
              </a:rPr>
              <a:t>Wireless</a:t>
            </a:r>
            <a:r>
              <a:rPr sz="2400" spc="-120" dirty="0">
                <a:latin typeface="Times New Roman"/>
                <a:cs typeface="Times New Roman"/>
              </a:rPr>
              <a:t> </a:t>
            </a:r>
            <a:r>
              <a:rPr sz="2400" spc="-10" dirty="0">
                <a:latin typeface="Times New Roman"/>
                <a:cs typeface="Times New Roman"/>
              </a:rPr>
              <a:t>Access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90" dirty="0"/>
              <a:t>Types</a:t>
            </a:r>
            <a:r>
              <a:rPr spc="-254" dirty="0"/>
              <a:t> </a:t>
            </a:r>
            <a:r>
              <a:rPr spc="-95" dirty="0"/>
              <a:t>of</a:t>
            </a:r>
            <a:r>
              <a:rPr spc="-265" dirty="0"/>
              <a:t> </a:t>
            </a:r>
            <a:r>
              <a:rPr spc="-130" dirty="0"/>
              <a:t>Services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9A0A-64EF-8D56-A038-A50C8934E9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26CC30-4669-D9F8-9428-4F1B798F0899}"/>
              </a:ext>
            </a:extLst>
          </p:cNvPr>
          <p:cNvSpPr txBox="1"/>
          <p:nvPr/>
        </p:nvSpPr>
        <p:spPr>
          <a:xfrm>
            <a:off x="40767" y="1295400"/>
            <a:ext cx="9038221" cy="5408532"/>
          </a:xfrm>
          <a:prstGeom prst="rect">
            <a:avLst/>
          </a:prstGeom>
        </p:spPr>
        <p:txBody>
          <a:bodyPr vert="horz" wrap="square" lIns="0" tIns="85725" rIns="0" bIns="0" rtlCol="0">
            <a:spAutoFit/>
          </a:bodyPr>
          <a:lstStyle/>
          <a:p>
            <a:pPr>
              <a:buNone/>
            </a:pPr>
            <a:r>
              <a:rPr lang="en-US" sz="1700" b="1" dirty="0"/>
              <a:t>Types of Wireless Communication Services</a:t>
            </a:r>
          </a:p>
          <a:p>
            <a:pPr>
              <a:buFont typeface="+mj-lt"/>
              <a:buAutoNum type="arabicPeriod"/>
            </a:pPr>
            <a:r>
              <a:rPr lang="en-US" sz="1700" b="1" dirty="0"/>
              <a:t>Broadcast:</a:t>
            </a:r>
            <a:endParaRPr lang="en-US" sz="1700" dirty="0"/>
          </a:p>
          <a:p>
            <a:pPr marL="742950" lvl="1" indent="-285750">
              <a:buFont typeface="+mj-lt"/>
              <a:buAutoNum type="arabicPeriod"/>
            </a:pPr>
            <a:r>
              <a:rPr lang="en-US" sz="1700" dirty="0"/>
              <a:t>Used for radio and television transmission to a wide audience.</a:t>
            </a:r>
          </a:p>
          <a:p>
            <a:pPr>
              <a:buFont typeface="+mj-lt"/>
              <a:buAutoNum type="arabicPeriod"/>
            </a:pPr>
            <a:r>
              <a:rPr lang="en-US" sz="1700" b="1" dirty="0"/>
              <a:t>Paging:</a:t>
            </a:r>
            <a:endParaRPr lang="en-US" sz="1700" dirty="0"/>
          </a:p>
          <a:p>
            <a:pPr marL="742950" lvl="1" indent="-285750">
              <a:buFont typeface="+mj-lt"/>
              <a:buAutoNum type="arabicPeriod"/>
            </a:pPr>
            <a:r>
              <a:rPr lang="en-US" sz="1700" dirty="0"/>
              <a:t>One-way communication used for sending short messages or alerts to a receiver.</a:t>
            </a:r>
          </a:p>
          <a:p>
            <a:pPr>
              <a:buFont typeface="+mj-lt"/>
              <a:buAutoNum type="arabicPeriod"/>
            </a:pPr>
            <a:r>
              <a:rPr lang="en-US" sz="1700" b="1" dirty="0"/>
              <a:t>Cellular Telephony:</a:t>
            </a:r>
            <a:endParaRPr lang="en-US" sz="1700" dirty="0"/>
          </a:p>
          <a:p>
            <a:pPr marL="742950" lvl="1" indent="-285750">
              <a:buFont typeface="+mj-lt"/>
              <a:buAutoNum type="arabicPeriod"/>
            </a:pPr>
            <a:r>
              <a:rPr lang="en-US" sz="1700" dirty="0"/>
              <a:t>Mobile phone networks that provide voice, SMS, and data services.</a:t>
            </a:r>
          </a:p>
          <a:p>
            <a:pPr>
              <a:buFont typeface="+mj-lt"/>
              <a:buAutoNum type="arabicPeriod"/>
            </a:pPr>
            <a:r>
              <a:rPr lang="en-US" sz="1700" b="1" dirty="0" err="1"/>
              <a:t>Trunking</a:t>
            </a:r>
            <a:r>
              <a:rPr lang="en-US" sz="1700" b="1" dirty="0"/>
              <a:t> Radio:</a:t>
            </a:r>
            <a:endParaRPr lang="en-US" sz="1700" dirty="0"/>
          </a:p>
          <a:p>
            <a:pPr marL="742950" lvl="1" indent="-285750">
              <a:buFont typeface="+mj-lt"/>
              <a:buAutoNum type="arabicPeriod"/>
            </a:pPr>
            <a:r>
              <a:rPr lang="en-US" sz="1700" dirty="0"/>
              <a:t>A specialized two-way radio system used for emergency services and public safety.</a:t>
            </a:r>
          </a:p>
          <a:p>
            <a:pPr>
              <a:buFont typeface="+mj-lt"/>
              <a:buAutoNum type="arabicPeriod"/>
            </a:pPr>
            <a:r>
              <a:rPr lang="en-US" sz="1700" b="1" dirty="0"/>
              <a:t>Cordless Telephony:</a:t>
            </a:r>
            <a:endParaRPr lang="en-US" sz="1700" dirty="0"/>
          </a:p>
          <a:p>
            <a:pPr marL="742950" lvl="1" indent="-285750">
              <a:buFont typeface="+mj-lt"/>
              <a:buAutoNum type="arabicPeriod"/>
            </a:pPr>
            <a:r>
              <a:rPr lang="en-US" sz="1700" dirty="0"/>
              <a:t>Short-range wireless telephony systems, such as landline phones with cordless handsets.</a:t>
            </a:r>
          </a:p>
          <a:p>
            <a:pPr>
              <a:buFont typeface="+mj-lt"/>
              <a:buAutoNum type="arabicPeriod"/>
            </a:pPr>
            <a:r>
              <a:rPr lang="en-US" sz="1700" b="1" dirty="0"/>
              <a:t>Wireless Local Area Networks (WLAN):</a:t>
            </a:r>
            <a:endParaRPr lang="en-US" sz="1700" dirty="0"/>
          </a:p>
          <a:p>
            <a:pPr marL="742950" lvl="1" indent="-285750">
              <a:buFont typeface="+mj-lt"/>
              <a:buAutoNum type="arabicPeriod"/>
            </a:pPr>
            <a:r>
              <a:rPr lang="en-US" sz="1700" dirty="0"/>
              <a:t>Enables internet and network access within a limited area (e.g., Wi-Fi).</a:t>
            </a:r>
          </a:p>
          <a:p>
            <a:pPr>
              <a:buFont typeface="+mj-lt"/>
              <a:buAutoNum type="arabicPeriod"/>
            </a:pPr>
            <a:r>
              <a:rPr lang="en-US" sz="1700" b="1" dirty="0"/>
              <a:t>Personal Area Networks (PAN):</a:t>
            </a:r>
            <a:endParaRPr lang="en-US" sz="1700" dirty="0"/>
          </a:p>
          <a:p>
            <a:pPr marL="742950" lvl="1" indent="-285750">
              <a:buFont typeface="+mj-lt"/>
              <a:buAutoNum type="arabicPeriod"/>
            </a:pPr>
            <a:r>
              <a:rPr lang="en-US" sz="1700" dirty="0"/>
              <a:t>Short-range communication for personal devices (e.g., Bluetooth, Zigbee).</a:t>
            </a:r>
          </a:p>
          <a:p>
            <a:pPr>
              <a:buFont typeface="+mj-lt"/>
              <a:buAutoNum type="arabicPeriod"/>
            </a:pPr>
            <a:r>
              <a:rPr lang="en-US" sz="1700" b="1" dirty="0"/>
              <a:t>Fixed Wireless Access:</a:t>
            </a:r>
            <a:endParaRPr lang="en-US" sz="1700" dirty="0"/>
          </a:p>
          <a:p>
            <a:pPr marL="742950" lvl="1" indent="-285750">
              <a:buFont typeface="+mj-lt"/>
              <a:buAutoNum type="arabicPeriod"/>
            </a:pPr>
            <a:r>
              <a:rPr lang="en-US" sz="1700" dirty="0"/>
              <a:t>Provides broadband internet using wireless technology as an alternative to fiber or cable connections.</a:t>
            </a:r>
          </a:p>
          <a:p>
            <a:pPr marL="12700">
              <a:lnSpc>
                <a:spcPct val="100000"/>
              </a:lnSpc>
              <a:spcBef>
                <a:spcPts val="675"/>
              </a:spcBef>
              <a:buClr>
                <a:srgbClr val="0F1141"/>
              </a:buClr>
              <a:tabLst>
                <a:tab pos="354965" algn="l"/>
              </a:tabLst>
            </a:pPr>
            <a:endParaRPr sz="1700" dirty="0">
              <a:latin typeface="Times New Roman"/>
              <a:cs typeface="Times New Roman"/>
            </a:endParaRPr>
          </a:p>
        </p:txBody>
      </p:sp>
      <p:sp>
        <p:nvSpPr>
          <p:cNvPr id="4" name="object 4">
            <a:extLst>
              <a:ext uri="{FF2B5EF4-FFF2-40B4-BE49-F238E27FC236}">
                <a16:creationId xmlns:a16="http://schemas.microsoft.com/office/drawing/2014/main" id="{679E67CE-4EFF-3B9B-7FF2-794A68DA382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13</a:t>
            </a:fld>
            <a:endParaRPr spc="-25" dirty="0"/>
          </a:p>
        </p:txBody>
      </p:sp>
      <p:sp>
        <p:nvSpPr>
          <p:cNvPr id="5" name="object 5">
            <a:extLst>
              <a:ext uri="{FF2B5EF4-FFF2-40B4-BE49-F238E27FC236}">
                <a16:creationId xmlns:a16="http://schemas.microsoft.com/office/drawing/2014/main" id="{E244F311-6F70-9531-BEE5-0FC28A156F11}"/>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3519B4DA-CC13-A79F-A1AC-45F94683BC27}"/>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90" dirty="0"/>
              <a:t>Types</a:t>
            </a:r>
            <a:r>
              <a:rPr spc="-254" dirty="0"/>
              <a:t> </a:t>
            </a:r>
            <a:r>
              <a:rPr spc="-95" dirty="0"/>
              <a:t>of</a:t>
            </a:r>
            <a:r>
              <a:rPr spc="-265" dirty="0"/>
              <a:t> </a:t>
            </a:r>
            <a:r>
              <a:rPr spc="-130" dirty="0"/>
              <a:t>Services</a:t>
            </a:r>
          </a:p>
        </p:txBody>
      </p:sp>
    </p:spTree>
    <p:extLst>
      <p:ext uri="{BB962C8B-B14F-4D97-AF65-F5344CB8AC3E}">
        <p14:creationId xmlns:p14="http://schemas.microsoft.com/office/powerpoint/2010/main" val="2088448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668259" cy="3903345"/>
          </a:xfrm>
          <a:prstGeom prst="rect">
            <a:avLst/>
          </a:prstGeom>
        </p:spPr>
        <p:txBody>
          <a:bodyPr vert="horz" wrap="square" lIns="0" tIns="12700" rIns="0" bIns="0" rtlCol="0">
            <a:spAutoFit/>
          </a:bodyPr>
          <a:lstStyle/>
          <a:p>
            <a:pPr marL="12700" marR="2024380">
              <a:lnSpc>
                <a:spcPct val="120000"/>
              </a:lnSpc>
              <a:spcBef>
                <a:spcPts val="100"/>
              </a:spcBef>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first</a:t>
            </a:r>
            <a:r>
              <a:rPr sz="2400" spc="-20" dirty="0">
                <a:latin typeface="Times New Roman"/>
                <a:cs typeface="Times New Roman"/>
              </a:rPr>
              <a:t> </a:t>
            </a:r>
            <a:r>
              <a:rPr sz="2400" dirty="0">
                <a:latin typeface="Times New Roman"/>
                <a:cs typeface="Times New Roman"/>
              </a:rPr>
              <a:t>wireless</a:t>
            </a:r>
            <a:r>
              <a:rPr sz="2400" spc="-20" dirty="0">
                <a:latin typeface="Times New Roman"/>
                <a:cs typeface="Times New Roman"/>
              </a:rPr>
              <a:t> </a:t>
            </a:r>
            <a:r>
              <a:rPr sz="2400" dirty="0">
                <a:latin typeface="Times New Roman"/>
                <a:cs typeface="Times New Roman"/>
              </a:rPr>
              <a:t>service</a:t>
            </a:r>
            <a:r>
              <a:rPr sz="2400" spc="-50" dirty="0">
                <a:latin typeface="Times New Roman"/>
                <a:cs typeface="Times New Roman"/>
              </a:rPr>
              <a:t> </a:t>
            </a:r>
            <a:r>
              <a:rPr sz="2400" dirty="0">
                <a:latin typeface="Times New Roman"/>
                <a:cs typeface="Times New Roman"/>
              </a:rPr>
              <a:t>was</a:t>
            </a:r>
            <a:r>
              <a:rPr sz="2400" spc="-10" dirty="0">
                <a:latin typeface="Times New Roman"/>
                <a:cs typeface="Times New Roman"/>
              </a:rPr>
              <a:t> </a:t>
            </a:r>
            <a:r>
              <a:rPr sz="2400" dirty="0">
                <a:latin typeface="Times New Roman"/>
                <a:cs typeface="Times New Roman"/>
              </a:rPr>
              <a:t>broadcast</a:t>
            </a:r>
            <a:r>
              <a:rPr sz="2400" spc="-45" dirty="0">
                <a:latin typeface="Times New Roman"/>
                <a:cs typeface="Times New Roman"/>
              </a:rPr>
              <a:t> </a:t>
            </a:r>
            <a:r>
              <a:rPr sz="2400" spc="-10" dirty="0">
                <a:latin typeface="Times New Roman"/>
                <a:cs typeface="Times New Roman"/>
              </a:rPr>
              <a:t>radio. </a:t>
            </a:r>
            <a:r>
              <a:rPr sz="2400" dirty="0">
                <a:latin typeface="Times New Roman"/>
                <a:cs typeface="Times New Roman"/>
              </a:rPr>
              <a:t>Four</a:t>
            </a:r>
            <a:r>
              <a:rPr sz="2400" spc="-40" dirty="0">
                <a:latin typeface="Times New Roman"/>
                <a:cs typeface="Times New Roman"/>
              </a:rPr>
              <a:t> </a:t>
            </a:r>
            <a:r>
              <a:rPr sz="2400" dirty="0">
                <a:latin typeface="Times New Roman"/>
                <a:cs typeface="Times New Roman"/>
              </a:rPr>
              <a:t>properties</a:t>
            </a:r>
            <a:r>
              <a:rPr sz="2400" spc="-65" dirty="0">
                <a:latin typeface="Times New Roman"/>
                <a:cs typeface="Times New Roman"/>
              </a:rPr>
              <a:t> </a:t>
            </a:r>
            <a:r>
              <a:rPr sz="2400" dirty="0">
                <a:latin typeface="Times New Roman"/>
                <a:cs typeface="Times New Roman"/>
              </a:rPr>
              <a:t>differentiate</a:t>
            </a:r>
            <a:r>
              <a:rPr sz="2400" spc="-80" dirty="0">
                <a:latin typeface="Times New Roman"/>
                <a:cs typeface="Times New Roman"/>
              </a:rPr>
              <a:t> </a:t>
            </a:r>
            <a:r>
              <a:rPr sz="2400" dirty="0">
                <a:latin typeface="Times New Roman"/>
                <a:cs typeface="Times New Roman"/>
              </a:rPr>
              <a:t>broadcast</a:t>
            </a:r>
            <a:r>
              <a:rPr sz="2400" spc="-55" dirty="0">
                <a:latin typeface="Times New Roman"/>
                <a:cs typeface="Times New Roman"/>
              </a:rPr>
              <a:t> </a:t>
            </a:r>
            <a:r>
              <a:rPr sz="2400" spc="-10" dirty="0">
                <a:latin typeface="Times New Roman"/>
                <a:cs typeface="Times New Roman"/>
              </a:rPr>
              <a:t>radio</a:t>
            </a:r>
            <a:endParaRPr sz="2400">
              <a:latin typeface="Times New Roman"/>
              <a:cs typeface="Times New Roman"/>
            </a:endParaRPr>
          </a:p>
          <a:p>
            <a:pPr marL="469900" marR="5080" indent="-457200">
              <a:lnSpc>
                <a:spcPct val="100000"/>
              </a:lnSpc>
              <a:spcBef>
                <a:spcPts val="575"/>
              </a:spcBef>
              <a:buClr>
                <a:srgbClr val="0F1141"/>
              </a:buClr>
              <a:buAutoNum type="arabicPeriod"/>
              <a:tabLst>
                <a:tab pos="46990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information</a:t>
            </a:r>
            <a:r>
              <a:rPr sz="2400" spc="-1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sent</a:t>
            </a:r>
            <a:r>
              <a:rPr sz="2400" spc="-5" dirty="0">
                <a:latin typeface="Times New Roman"/>
                <a:cs typeface="Times New Roman"/>
              </a:rPr>
              <a:t> </a:t>
            </a:r>
            <a:r>
              <a:rPr sz="2400" dirty="0">
                <a:latin typeface="Times New Roman"/>
                <a:cs typeface="Times New Roman"/>
              </a:rPr>
              <a:t>unidirectional,</a:t>
            </a:r>
            <a:r>
              <a:rPr sz="2400" spc="-40" dirty="0">
                <a:latin typeface="Times New Roman"/>
                <a:cs typeface="Times New Roman"/>
              </a:rPr>
              <a:t> </a:t>
            </a:r>
            <a:r>
              <a:rPr sz="2400" dirty="0">
                <a:latin typeface="Times New Roman"/>
                <a:cs typeface="Times New Roman"/>
              </a:rPr>
              <a:t>i.e.,</a:t>
            </a:r>
            <a:r>
              <a:rPr sz="2400" spc="-25"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one</a:t>
            </a:r>
            <a:r>
              <a:rPr sz="2400" spc="-10" dirty="0">
                <a:latin typeface="Times New Roman"/>
                <a:cs typeface="Times New Roman"/>
              </a:rPr>
              <a:t> direction only.</a:t>
            </a:r>
            <a:endParaRPr sz="2400">
              <a:latin typeface="Times New Roman"/>
              <a:cs typeface="Times New Roman"/>
            </a:endParaRPr>
          </a:p>
          <a:p>
            <a:pPr marL="469265" indent="-456565">
              <a:lnSpc>
                <a:spcPct val="100000"/>
              </a:lnSpc>
              <a:spcBef>
                <a:spcPts val="575"/>
              </a:spcBef>
              <a:buClr>
                <a:srgbClr val="0F1141"/>
              </a:buClr>
              <a:buAutoNum type="arabicPeriod"/>
              <a:tabLst>
                <a:tab pos="469265" algn="l"/>
              </a:tabLst>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information</a:t>
            </a:r>
            <a:r>
              <a:rPr sz="2400" spc="-20" dirty="0">
                <a:latin typeface="Times New Roman"/>
                <a:cs typeface="Times New Roman"/>
              </a:rPr>
              <a:t> </a:t>
            </a:r>
            <a:r>
              <a:rPr sz="2400" dirty="0">
                <a:latin typeface="Times New Roman"/>
                <a:cs typeface="Times New Roman"/>
              </a:rPr>
              <a:t>transmitted</a:t>
            </a:r>
            <a:r>
              <a:rPr sz="2400" spc="-50"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same for</a:t>
            </a:r>
            <a:r>
              <a:rPr sz="2400" spc="-10" dirty="0">
                <a:latin typeface="Times New Roman"/>
                <a:cs typeface="Times New Roman"/>
              </a:rPr>
              <a:t> </a:t>
            </a:r>
            <a:r>
              <a:rPr sz="2400" dirty="0">
                <a:latin typeface="Times New Roman"/>
                <a:cs typeface="Times New Roman"/>
              </a:rPr>
              <a:t>all</a:t>
            </a:r>
            <a:r>
              <a:rPr sz="2400" spc="-30" dirty="0">
                <a:latin typeface="Times New Roman"/>
                <a:cs typeface="Times New Roman"/>
              </a:rPr>
              <a:t> </a:t>
            </a:r>
            <a:r>
              <a:rPr sz="2400" spc="-10" dirty="0">
                <a:latin typeface="Times New Roman"/>
                <a:cs typeface="Times New Roman"/>
              </a:rPr>
              <a:t>receivers.</a:t>
            </a:r>
            <a:endParaRPr sz="2400">
              <a:latin typeface="Times New Roman"/>
              <a:cs typeface="Times New Roman"/>
            </a:endParaRPr>
          </a:p>
          <a:p>
            <a:pPr marL="469265" indent="-456565">
              <a:lnSpc>
                <a:spcPct val="100000"/>
              </a:lnSpc>
              <a:spcBef>
                <a:spcPts val="580"/>
              </a:spcBef>
              <a:buClr>
                <a:srgbClr val="0F1141"/>
              </a:buClr>
              <a:buAutoNum type="arabicPeriod"/>
              <a:tabLst>
                <a:tab pos="469265" algn="l"/>
              </a:tabLst>
            </a:pP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information</a:t>
            </a:r>
            <a:r>
              <a:rPr sz="2400" spc="-25"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transmitted</a:t>
            </a:r>
            <a:r>
              <a:rPr sz="2400" spc="-40" dirty="0">
                <a:latin typeface="Times New Roman"/>
                <a:cs typeface="Times New Roman"/>
              </a:rPr>
              <a:t> </a:t>
            </a:r>
            <a:r>
              <a:rPr sz="2400" spc="-10" dirty="0">
                <a:latin typeface="Times New Roman"/>
                <a:cs typeface="Times New Roman"/>
              </a:rPr>
              <a:t>continuously.</a:t>
            </a:r>
            <a:endParaRPr sz="2400">
              <a:latin typeface="Times New Roman"/>
              <a:cs typeface="Times New Roman"/>
            </a:endParaRPr>
          </a:p>
          <a:p>
            <a:pPr marL="469265" indent="-456565">
              <a:lnSpc>
                <a:spcPct val="100000"/>
              </a:lnSpc>
              <a:spcBef>
                <a:spcPts val="575"/>
              </a:spcBef>
              <a:buClr>
                <a:srgbClr val="0F1141"/>
              </a:buClr>
              <a:buAutoNum type="arabicPeriod"/>
              <a:tabLst>
                <a:tab pos="469265" algn="l"/>
              </a:tabLst>
            </a:pP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many</a:t>
            </a:r>
            <a:r>
              <a:rPr sz="2400" spc="-15" dirty="0">
                <a:latin typeface="Times New Roman"/>
                <a:cs typeface="Times New Roman"/>
              </a:rPr>
              <a:t> </a:t>
            </a:r>
            <a:r>
              <a:rPr sz="2400" dirty="0">
                <a:latin typeface="Times New Roman"/>
                <a:cs typeface="Times New Roman"/>
              </a:rPr>
              <a:t>cases</a:t>
            </a:r>
            <a:r>
              <a:rPr sz="2400" spc="-15" dirty="0">
                <a:latin typeface="Times New Roman"/>
                <a:cs typeface="Times New Roman"/>
              </a:rPr>
              <a:t> </a:t>
            </a:r>
            <a:r>
              <a:rPr sz="2400" dirty="0">
                <a:latin typeface="Times New Roman"/>
                <a:cs typeface="Times New Roman"/>
              </a:rPr>
              <a:t>like</a:t>
            </a:r>
            <a:r>
              <a:rPr sz="2400" spc="-75" dirty="0">
                <a:latin typeface="Times New Roman"/>
                <a:cs typeface="Times New Roman"/>
              </a:rPr>
              <a:t> </a:t>
            </a:r>
            <a:r>
              <a:rPr sz="2400" spc="-25" dirty="0">
                <a:latin typeface="Times New Roman"/>
                <a:cs typeface="Times New Roman"/>
              </a:rPr>
              <a:t>TV</a:t>
            </a:r>
            <a:endParaRPr sz="2400">
              <a:latin typeface="Times New Roman"/>
              <a:cs typeface="Times New Roman"/>
            </a:endParaRPr>
          </a:p>
          <a:p>
            <a:pPr marL="12700" marR="3935095" indent="76200">
              <a:lnSpc>
                <a:spcPct val="120000"/>
              </a:lnSpc>
            </a:pPr>
            <a:r>
              <a:rPr sz="2400" dirty="0">
                <a:latin typeface="Times New Roman"/>
                <a:cs typeface="Times New Roman"/>
              </a:rPr>
              <a:t>or</a:t>
            </a:r>
            <a:r>
              <a:rPr sz="2400" spc="-15" dirty="0">
                <a:latin typeface="Times New Roman"/>
                <a:cs typeface="Times New Roman"/>
              </a:rPr>
              <a:t> </a:t>
            </a:r>
            <a:r>
              <a:rPr sz="2400" dirty="0">
                <a:latin typeface="Times New Roman"/>
                <a:cs typeface="Times New Roman"/>
              </a:rPr>
              <a:t>radio,</a:t>
            </a:r>
            <a:r>
              <a:rPr sz="2400" spc="-35" dirty="0">
                <a:latin typeface="Times New Roman"/>
                <a:cs typeface="Times New Roman"/>
              </a:rPr>
              <a:t> </a:t>
            </a:r>
            <a:r>
              <a:rPr sz="2400" dirty="0">
                <a:latin typeface="Times New Roman"/>
                <a:cs typeface="Times New Roman"/>
              </a:rPr>
              <a:t>multiple</a:t>
            </a:r>
            <a:r>
              <a:rPr sz="2400" spc="-35" dirty="0">
                <a:latin typeface="Times New Roman"/>
                <a:cs typeface="Times New Roman"/>
              </a:rPr>
              <a:t> </a:t>
            </a:r>
            <a:r>
              <a:rPr sz="2400" spc="-10" dirty="0">
                <a:latin typeface="Times New Roman"/>
                <a:cs typeface="Times New Roman"/>
              </a:rPr>
              <a:t>transmitters </a:t>
            </a:r>
            <a:r>
              <a:rPr sz="2400" dirty="0">
                <a:latin typeface="Times New Roman"/>
                <a:cs typeface="Times New Roman"/>
              </a:rPr>
              <a:t>send</a:t>
            </a:r>
            <a:r>
              <a:rPr sz="2400" spc="-20" dirty="0">
                <a:latin typeface="Times New Roman"/>
                <a:cs typeface="Times New Roman"/>
              </a:rPr>
              <a:t> </a:t>
            </a:r>
            <a:r>
              <a:rPr sz="2400" dirty="0">
                <a:latin typeface="Times New Roman"/>
                <a:cs typeface="Times New Roman"/>
              </a:rPr>
              <a:t>the</a:t>
            </a:r>
            <a:r>
              <a:rPr sz="2400" spc="-45" dirty="0">
                <a:latin typeface="Times New Roman"/>
                <a:cs typeface="Times New Roman"/>
              </a:rPr>
              <a:t> </a:t>
            </a:r>
            <a:r>
              <a:rPr sz="2400" dirty="0">
                <a:latin typeface="Times New Roman"/>
                <a:cs typeface="Times New Roman"/>
              </a:rPr>
              <a:t>same</a:t>
            </a:r>
            <a:r>
              <a:rPr sz="2400" spc="-5" dirty="0">
                <a:latin typeface="Times New Roman"/>
                <a:cs typeface="Times New Roman"/>
              </a:rPr>
              <a:t> </a:t>
            </a:r>
            <a:r>
              <a:rPr sz="2400" spc="-10" dirty="0">
                <a:latin typeface="Times New Roman"/>
                <a:cs typeface="Times New Roman"/>
              </a:rPr>
              <a:t>information</a:t>
            </a:r>
            <a:endParaRPr sz="240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Broadcast</a:t>
            </a:r>
          </a:p>
        </p:txBody>
      </p:sp>
      <p:pic>
        <p:nvPicPr>
          <p:cNvPr id="4" name="object 4"/>
          <p:cNvPicPr/>
          <p:nvPr/>
        </p:nvPicPr>
        <p:blipFill>
          <a:blip r:embed="rId2" cstate="print"/>
          <a:stretch>
            <a:fillRect/>
          </a:stretch>
        </p:blipFill>
        <p:spPr>
          <a:xfrm>
            <a:off x="4495800" y="4029075"/>
            <a:ext cx="4619625" cy="282892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14</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C1878-9228-AF0C-F1B7-E998A7C8D2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E2A828A-DF4E-F6CE-08A7-FB88CBF12AEC}"/>
              </a:ext>
            </a:extLst>
          </p:cNvPr>
          <p:cNvSpPr txBox="1"/>
          <p:nvPr/>
        </p:nvSpPr>
        <p:spPr>
          <a:xfrm>
            <a:off x="40767" y="1443355"/>
            <a:ext cx="9023095" cy="5183470"/>
          </a:xfrm>
          <a:prstGeom prst="rect">
            <a:avLst/>
          </a:prstGeom>
        </p:spPr>
        <p:txBody>
          <a:bodyPr vert="horz" wrap="square" lIns="0" tIns="12700" rIns="0" bIns="0" rtlCol="0">
            <a:spAutoFit/>
          </a:bodyPr>
          <a:lstStyle/>
          <a:p>
            <a:pPr>
              <a:buNone/>
            </a:pPr>
            <a:r>
              <a:rPr lang="en-US" sz="2400" b="1" dirty="0"/>
              <a:t>Broadcast Communication</a:t>
            </a:r>
          </a:p>
          <a:p>
            <a:pPr>
              <a:buNone/>
            </a:pPr>
            <a:r>
              <a:rPr lang="en-US" sz="2400" dirty="0"/>
              <a:t>Broadcast communication is the first wireless communication service, primarily used for radio and television transmissions.</a:t>
            </a:r>
          </a:p>
          <a:p>
            <a:pPr>
              <a:buNone/>
            </a:pPr>
            <a:r>
              <a:rPr lang="en-US" sz="2400" b="1" dirty="0"/>
              <a:t>Key Properties of Broadcast Radio:</a:t>
            </a:r>
          </a:p>
          <a:p>
            <a:pPr>
              <a:buFont typeface="+mj-lt"/>
              <a:buAutoNum type="arabicPeriod"/>
            </a:pPr>
            <a:r>
              <a:rPr lang="en-US" sz="2400" b="1" dirty="0"/>
              <a:t>Unidirectional Transmission:</a:t>
            </a:r>
            <a:r>
              <a:rPr lang="en-US" sz="2400" dirty="0"/>
              <a:t> Information flows in one direction, from the transmitter to the receiver.</a:t>
            </a:r>
          </a:p>
          <a:p>
            <a:pPr>
              <a:buFont typeface="+mj-lt"/>
              <a:buAutoNum type="arabicPeriod"/>
            </a:pPr>
            <a:r>
              <a:rPr lang="en-US" sz="2400" b="1" dirty="0"/>
              <a:t>Same Information for All Receivers:</a:t>
            </a:r>
            <a:r>
              <a:rPr lang="en-US" sz="2400" dirty="0"/>
              <a:t> Every receiver within range gets the same content.</a:t>
            </a:r>
          </a:p>
          <a:p>
            <a:pPr>
              <a:buFont typeface="+mj-lt"/>
              <a:buAutoNum type="arabicPeriod"/>
            </a:pPr>
            <a:r>
              <a:rPr lang="en-US" sz="2400" b="1" dirty="0"/>
              <a:t>Continuous Transmission:</a:t>
            </a:r>
            <a:r>
              <a:rPr lang="en-US" sz="2400" dirty="0"/>
              <a:t> The broadcast signal is transmitted without interruption.</a:t>
            </a:r>
          </a:p>
          <a:p>
            <a:pPr>
              <a:buFont typeface="+mj-lt"/>
              <a:buAutoNum type="arabicPeriod"/>
            </a:pPr>
            <a:r>
              <a:rPr lang="en-US" sz="2400" b="1" dirty="0"/>
              <a:t>Multiple Transmitters:</a:t>
            </a:r>
            <a:r>
              <a:rPr lang="en-US" sz="2400" dirty="0"/>
              <a:t> In cases like TV and radio, multiple transmitters send the same information to cover a larger area.</a:t>
            </a:r>
          </a:p>
          <a:p>
            <a:r>
              <a:rPr lang="en-US" sz="2400" dirty="0"/>
              <a:t>This makes broadcast communication ideal for mass media services like AM/FM radio and television.</a:t>
            </a:r>
          </a:p>
        </p:txBody>
      </p:sp>
      <p:sp>
        <p:nvSpPr>
          <p:cNvPr id="3" name="object 3">
            <a:extLst>
              <a:ext uri="{FF2B5EF4-FFF2-40B4-BE49-F238E27FC236}">
                <a16:creationId xmlns:a16="http://schemas.microsoft.com/office/drawing/2014/main" id="{4368F2A1-886E-A7DD-0139-397238A6F78B}"/>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Broadcast</a:t>
            </a:r>
          </a:p>
        </p:txBody>
      </p:sp>
      <p:sp>
        <p:nvSpPr>
          <p:cNvPr id="5" name="object 5">
            <a:extLst>
              <a:ext uri="{FF2B5EF4-FFF2-40B4-BE49-F238E27FC236}">
                <a16:creationId xmlns:a16="http://schemas.microsoft.com/office/drawing/2014/main" id="{78199968-CAC2-DE5A-064F-B86891D4490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15</a:t>
            </a:fld>
            <a:endParaRPr spc="-25" dirty="0"/>
          </a:p>
        </p:txBody>
      </p:sp>
      <p:sp>
        <p:nvSpPr>
          <p:cNvPr id="6" name="object 6">
            <a:extLst>
              <a:ext uri="{FF2B5EF4-FFF2-40B4-BE49-F238E27FC236}">
                <a16:creationId xmlns:a16="http://schemas.microsoft.com/office/drawing/2014/main" id="{AC913294-60F0-1A85-7DDD-B09536DF1B94}"/>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4004652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837805" cy="3464560"/>
          </a:xfrm>
          <a:prstGeom prst="rect">
            <a:avLst/>
          </a:prstGeom>
        </p:spPr>
        <p:txBody>
          <a:bodyPr vert="horz" wrap="square" lIns="0" tIns="12700" rIns="0" bIns="0" rtlCol="0">
            <a:spAutoFit/>
          </a:bodyPr>
          <a:lstStyle/>
          <a:p>
            <a:pPr marL="12700" marR="1129030">
              <a:lnSpc>
                <a:spcPct val="120000"/>
              </a:lnSpc>
              <a:spcBef>
                <a:spcPts val="100"/>
              </a:spcBef>
            </a:pPr>
            <a:r>
              <a:rPr sz="2400" dirty="0">
                <a:latin typeface="Times New Roman"/>
                <a:cs typeface="Times New Roman"/>
              </a:rPr>
              <a:t>Similar</a:t>
            </a:r>
            <a:r>
              <a:rPr sz="2400" spc="-3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broadcast,</a:t>
            </a:r>
            <a:r>
              <a:rPr sz="2400" spc="-35" dirty="0">
                <a:latin typeface="Times New Roman"/>
                <a:cs typeface="Times New Roman"/>
              </a:rPr>
              <a:t> </a:t>
            </a:r>
            <a:r>
              <a:rPr sz="2400" dirty="0">
                <a:latin typeface="Times New Roman"/>
                <a:cs typeface="Times New Roman"/>
              </a:rPr>
              <a:t>paging</a:t>
            </a:r>
            <a:r>
              <a:rPr sz="2400" spc="-10" dirty="0">
                <a:latin typeface="Times New Roman"/>
                <a:cs typeface="Times New Roman"/>
              </a:rPr>
              <a:t> </a:t>
            </a:r>
            <a:r>
              <a:rPr sz="2400" dirty="0">
                <a:latin typeface="Times New Roman"/>
                <a:cs typeface="Times New Roman"/>
              </a:rPr>
              <a:t>systems</a:t>
            </a:r>
            <a:r>
              <a:rPr sz="2400" spc="-10" dirty="0">
                <a:latin typeface="Times New Roman"/>
                <a:cs typeface="Times New Roman"/>
              </a:rPr>
              <a:t> </a:t>
            </a:r>
            <a:r>
              <a:rPr sz="2400" dirty="0">
                <a:latin typeface="Times New Roman"/>
                <a:cs typeface="Times New Roman"/>
              </a:rPr>
              <a:t>are</a:t>
            </a:r>
            <a:r>
              <a:rPr sz="2400" spc="-15" dirty="0">
                <a:latin typeface="Times New Roman"/>
                <a:cs typeface="Times New Roman"/>
              </a:rPr>
              <a:t> </a:t>
            </a:r>
            <a:r>
              <a:rPr sz="2400" spc="-10" dirty="0">
                <a:latin typeface="Times New Roman"/>
                <a:cs typeface="Times New Roman"/>
              </a:rPr>
              <a:t>unidirectional </a:t>
            </a:r>
            <a:r>
              <a:rPr sz="2400" dirty="0">
                <a:latin typeface="Times New Roman"/>
                <a:cs typeface="Times New Roman"/>
              </a:rPr>
              <a:t>wireless</a:t>
            </a:r>
            <a:r>
              <a:rPr sz="2400" spc="-45" dirty="0">
                <a:latin typeface="Times New Roman"/>
                <a:cs typeface="Times New Roman"/>
              </a:rPr>
              <a:t> </a:t>
            </a:r>
            <a:r>
              <a:rPr sz="2400" dirty="0">
                <a:latin typeface="Times New Roman"/>
                <a:cs typeface="Times New Roman"/>
              </a:rPr>
              <a:t>communications</a:t>
            </a:r>
            <a:r>
              <a:rPr sz="2400" spc="-25" dirty="0">
                <a:latin typeface="Times New Roman"/>
                <a:cs typeface="Times New Roman"/>
              </a:rPr>
              <a:t> </a:t>
            </a:r>
            <a:r>
              <a:rPr sz="2400" dirty="0">
                <a:latin typeface="Times New Roman"/>
                <a:cs typeface="Times New Roman"/>
              </a:rPr>
              <a:t>systems.</a:t>
            </a:r>
            <a:r>
              <a:rPr sz="2400" spc="-5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10" dirty="0">
                <a:latin typeface="Times New Roman"/>
                <a:cs typeface="Times New Roman"/>
              </a:rPr>
              <a:t>following </a:t>
            </a:r>
            <a:r>
              <a:rPr sz="2400" dirty="0">
                <a:latin typeface="Times New Roman"/>
                <a:cs typeface="Times New Roman"/>
              </a:rPr>
              <a:t>properties</a:t>
            </a:r>
            <a:r>
              <a:rPr sz="2400" spc="-40" dirty="0">
                <a:latin typeface="Times New Roman"/>
                <a:cs typeface="Times New Roman"/>
              </a:rPr>
              <a:t> </a:t>
            </a:r>
            <a:r>
              <a:rPr sz="2400" dirty="0">
                <a:latin typeface="Times New Roman"/>
                <a:cs typeface="Times New Roman"/>
              </a:rPr>
              <a:t>characterize</a:t>
            </a:r>
            <a:r>
              <a:rPr sz="2400" spc="-40" dirty="0">
                <a:latin typeface="Times New Roman"/>
                <a:cs typeface="Times New Roman"/>
              </a:rPr>
              <a:t> </a:t>
            </a:r>
            <a:r>
              <a:rPr sz="2400" spc="-10" dirty="0">
                <a:latin typeface="Times New Roman"/>
                <a:cs typeface="Times New Roman"/>
              </a:rPr>
              <a:t>them:</a:t>
            </a:r>
            <a:endParaRPr sz="2400">
              <a:latin typeface="Times New Roman"/>
              <a:cs typeface="Times New Roman"/>
            </a:endParaRPr>
          </a:p>
          <a:p>
            <a:pPr marL="311150" indent="-298450">
              <a:lnSpc>
                <a:spcPct val="100000"/>
              </a:lnSpc>
              <a:spcBef>
                <a:spcPts val="575"/>
              </a:spcBef>
              <a:buAutoNum type="arabicPeriod"/>
              <a:tabLst>
                <a:tab pos="31115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user</a:t>
            </a:r>
            <a:r>
              <a:rPr sz="2400" spc="-10" dirty="0">
                <a:latin typeface="Times New Roman"/>
                <a:cs typeface="Times New Roman"/>
              </a:rPr>
              <a:t> </a:t>
            </a:r>
            <a:r>
              <a:rPr sz="2400" dirty="0">
                <a:latin typeface="Times New Roman"/>
                <a:cs typeface="Times New Roman"/>
              </a:rPr>
              <a:t>can</a:t>
            </a:r>
            <a:r>
              <a:rPr sz="2400" spc="-10" dirty="0">
                <a:latin typeface="Times New Roman"/>
                <a:cs typeface="Times New Roman"/>
              </a:rPr>
              <a:t> </a:t>
            </a:r>
            <a:r>
              <a:rPr sz="2400" dirty="0">
                <a:latin typeface="Times New Roman"/>
                <a:cs typeface="Times New Roman"/>
              </a:rPr>
              <a:t>only</a:t>
            </a:r>
            <a:r>
              <a:rPr sz="2400" spc="-20" dirty="0">
                <a:latin typeface="Times New Roman"/>
                <a:cs typeface="Times New Roman"/>
              </a:rPr>
              <a:t> </a:t>
            </a:r>
            <a:r>
              <a:rPr sz="2400" dirty="0">
                <a:latin typeface="Times New Roman"/>
                <a:cs typeface="Times New Roman"/>
              </a:rPr>
              <a:t>receive</a:t>
            </a:r>
            <a:r>
              <a:rPr sz="2400" spc="-40" dirty="0">
                <a:latin typeface="Times New Roman"/>
                <a:cs typeface="Times New Roman"/>
              </a:rPr>
              <a:t> </a:t>
            </a:r>
            <a:r>
              <a:rPr sz="2400" dirty="0">
                <a:latin typeface="Times New Roman"/>
                <a:cs typeface="Times New Roman"/>
              </a:rPr>
              <a:t>information,</a:t>
            </a:r>
            <a:r>
              <a:rPr sz="2400" spc="-20" dirty="0">
                <a:latin typeface="Times New Roman"/>
                <a:cs typeface="Times New Roman"/>
              </a:rPr>
              <a:t> </a:t>
            </a:r>
            <a:r>
              <a:rPr sz="2400" dirty="0">
                <a:latin typeface="Times New Roman"/>
                <a:cs typeface="Times New Roman"/>
              </a:rPr>
              <a:t>but</a:t>
            </a:r>
            <a:r>
              <a:rPr sz="2400" spc="-15" dirty="0">
                <a:latin typeface="Times New Roman"/>
                <a:cs typeface="Times New Roman"/>
              </a:rPr>
              <a:t> </a:t>
            </a:r>
            <a:r>
              <a:rPr sz="2400" dirty="0">
                <a:latin typeface="Times New Roman"/>
                <a:cs typeface="Times New Roman"/>
              </a:rPr>
              <a:t>cannot</a:t>
            </a:r>
            <a:r>
              <a:rPr sz="2400" spc="-10" dirty="0">
                <a:latin typeface="Times New Roman"/>
                <a:cs typeface="Times New Roman"/>
              </a:rPr>
              <a:t> transmit.</a:t>
            </a:r>
            <a:endParaRPr sz="2400">
              <a:latin typeface="Times New Roman"/>
              <a:cs typeface="Times New Roman"/>
            </a:endParaRPr>
          </a:p>
          <a:p>
            <a:pPr marL="311150" marR="5080" indent="-298450">
              <a:lnSpc>
                <a:spcPct val="100000"/>
              </a:lnSpc>
              <a:spcBef>
                <a:spcPts val="575"/>
              </a:spcBef>
              <a:buAutoNum type="arabicPeriod"/>
              <a:tabLst>
                <a:tab pos="35560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information</a:t>
            </a:r>
            <a:r>
              <a:rPr sz="2400" spc="-25"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intended</a:t>
            </a:r>
            <a:r>
              <a:rPr sz="2400" spc="-50"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received</a:t>
            </a:r>
            <a:r>
              <a:rPr sz="2400" spc="-55" dirty="0">
                <a:latin typeface="Times New Roman"/>
                <a:cs typeface="Times New Roman"/>
              </a:rPr>
              <a:t> </a:t>
            </a:r>
            <a:r>
              <a:rPr sz="2400" spc="-10" dirty="0">
                <a:latin typeface="Times New Roman"/>
                <a:cs typeface="Times New Roman"/>
              </a:rPr>
              <a:t>by,</a:t>
            </a:r>
            <a:r>
              <a:rPr sz="2400" spc="-15" dirty="0">
                <a:latin typeface="Times New Roman"/>
                <a:cs typeface="Times New Roman"/>
              </a:rPr>
              <a:t> </a:t>
            </a:r>
            <a:r>
              <a:rPr sz="2400" dirty="0">
                <a:latin typeface="Times New Roman"/>
                <a:cs typeface="Times New Roman"/>
              </a:rPr>
              <a:t>only</a:t>
            </a:r>
            <a:r>
              <a:rPr sz="2400" spc="-2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spc="-10" dirty="0">
                <a:latin typeface="Times New Roman"/>
                <a:cs typeface="Times New Roman"/>
              </a:rPr>
              <a:t>single 	user.</a:t>
            </a:r>
            <a:endParaRPr sz="2400">
              <a:latin typeface="Times New Roman"/>
              <a:cs typeface="Times New Roman"/>
            </a:endParaRPr>
          </a:p>
          <a:p>
            <a:pPr marL="12700" marR="4277995" indent="298450">
              <a:lnSpc>
                <a:spcPct val="120000"/>
              </a:lnSpc>
              <a:spcBef>
                <a:spcPts val="5"/>
              </a:spcBef>
              <a:buAutoNum type="arabicPeriod"/>
              <a:tabLst>
                <a:tab pos="311150" algn="l"/>
              </a:tabLst>
            </a:pP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amount</a:t>
            </a:r>
            <a:r>
              <a:rPr sz="2400" spc="-15" dirty="0">
                <a:latin typeface="Times New Roman"/>
                <a:cs typeface="Times New Roman"/>
              </a:rPr>
              <a:t> </a:t>
            </a:r>
            <a:r>
              <a:rPr sz="2400" dirty="0">
                <a:latin typeface="Times New Roman"/>
                <a:cs typeface="Times New Roman"/>
              </a:rPr>
              <a:t>of</a:t>
            </a:r>
            <a:r>
              <a:rPr sz="2400" spc="-10" dirty="0">
                <a:latin typeface="Times New Roman"/>
                <a:cs typeface="Times New Roman"/>
              </a:rPr>
              <a:t> transmitted </a:t>
            </a:r>
            <a:r>
              <a:rPr sz="2400" dirty="0">
                <a:latin typeface="Times New Roman"/>
                <a:cs typeface="Times New Roman"/>
              </a:rPr>
              <a:t>information</a:t>
            </a:r>
            <a:r>
              <a:rPr sz="2400" spc="-20"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very</a:t>
            </a:r>
            <a:r>
              <a:rPr sz="2400" spc="-15" dirty="0">
                <a:latin typeface="Times New Roman"/>
                <a:cs typeface="Times New Roman"/>
              </a:rPr>
              <a:t> </a:t>
            </a:r>
            <a:r>
              <a:rPr sz="2400" spc="-10" dirty="0">
                <a:latin typeface="Times New Roman"/>
                <a:cs typeface="Times New Roman"/>
              </a:rPr>
              <a:t>small.</a:t>
            </a:r>
            <a:endParaRPr sz="2400">
              <a:latin typeface="Times New Roman"/>
              <a:cs typeface="Times New Roman"/>
            </a:endParaRPr>
          </a:p>
        </p:txBody>
      </p:sp>
      <p:sp>
        <p:nvSpPr>
          <p:cNvPr id="3" name="object 3"/>
          <p:cNvSpPr txBox="1">
            <a:spLocks noGrp="1"/>
          </p:cNvSpPr>
          <p:nvPr>
            <p:ph type="title"/>
          </p:nvPr>
        </p:nvSpPr>
        <p:spPr>
          <a:xfrm>
            <a:off x="383540" y="378917"/>
            <a:ext cx="1449070" cy="574675"/>
          </a:xfrm>
          <a:prstGeom prst="rect">
            <a:avLst/>
          </a:prstGeom>
        </p:spPr>
        <p:txBody>
          <a:bodyPr vert="horz" wrap="square" lIns="0" tIns="12700" rIns="0" bIns="0" rtlCol="0">
            <a:spAutoFit/>
          </a:bodyPr>
          <a:lstStyle/>
          <a:p>
            <a:pPr marL="12700">
              <a:lnSpc>
                <a:spcPct val="100000"/>
              </a:lnSpc>
              <a:spcBef>
                <a:spcPts val="100"/>
              </a:spcBef>
            </a:pPr>
            <a:r>
              <a:rPr spc="-130" dirty="0"/>
              <a:t>Paging</a:t>
            </a:r>
          </a:p>
        </p:txBody>
      </p:sp>
      <p:pic>
        <p:nvPicPr>
          <p:cNvPr id="4" name="object 4"/>
          <p:cNvPicPr/>
          <p:nvPr/>
        </p:nvPicPr>
        <p:blipFill>
          <a:blip r:embed="rId2" cstate="print"/>
          <a:stretch>
            <a:fillRect/>
          </a:stretch>
        </p:blipFill>
        <p:spPr>
          <a:xfrm>
            <a:off x="4191000" y="3733784"/>
            <a:ext cx="4191000" cy="303390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16</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F2A20-2F5C-CE3D-5A1F-70B453F760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F46A4F-E14B-8991-7FB0-AF5F556B055D}"/>
              </a:ext>
            </a:extLst>
          </p:cNvPr>
          <p:cNvSpPr txBox="1"/>
          <p:nvPr/>
        </p:nvSpPr>
        <p:spPr>
          <a:xfrm>
            <a:off x="383540" y="1443355"/>
            <a:ext cx="7837805" cy="4814138"/>
          </a:xfrm>
          <a:prstGeom prst="rect">
            <a:avLst/>
          </a:prstGeom>
        </p:spPr>
        <p:txBody>
          <a:bodyPr vert="horz" wrap="square" lIns="0" tIns="12700" rIns="0" bIns="0" rtlCol="0">
            <a:spAutoFit/>
          </a:bodyPr>
          <a:lstStyle/>
          <a:p>
            <a:pPr>
              <a:buNone/>
            </a:pPr>
            <a:r>
              <a:rPr lang="en-US" sz="2400" dirty="0"/>
              <a:t>Paging systems are a type of unidirectional wireless communication, similar to broadcast but designed for individual users.</a:t>
            </a:r>
          </a:p>
          <a:p>
            <a:pPr>
              <a:buNone/>
            </a:pPr>
            <a:r>
              <a:rPr lang="en-US" sz="2400" b="1" dirty="0"/>
              <a:t>Key Properties of Paging Systems:</a:t>
            </a:r>
          </a:p>
          <a:p>
            <a:pPr>
              <a:buFont typeface="+mj-lt"/>
              <a:buAutoNum type="arabicPeriod"/>
            </a:pPr>
            <a:r>
              <a:rPr lang="en-US" sz="2400" b="1" dirty="0"/>
              <a:t>Receive-Only Communication:</a:t>
            </a:r>
            <a:r>
              <a:rPr lang="en-US" sz="2400" dirty="0"/>
              <a:t> The user can only receive information but cannot transmit back.</a:t>
            </a:r>
          </a:p>
          <a:p>
            <a:pPr>
              <a:buFont typeface="+mj-lt"/>
              <a:buAutoNum type="arabicPeriod"/>
            </a:pPr>
            <a:r>
              <a:rPr lang="en-US" sz="2400" b="1" dirty="0"/>
              <a:t>Single-User Targeting:</a:t>
            </a:r>
            <a:r>
              <a:rPr lang="en-US" sz="2400" dirty="0"/>
              <a:t> Unlike broadcast, paging messages are sent to specific individuals.</a:t>
            </a:r>
          </a:p>
          <a:p>
            <a:pPr>
              <a:buFont typeface="+mj-lt"/>
              <a:buAutoNum type="arabicPeriod"/>
            </a:pPr>
            <a:r>
              <a:rPr lang="en-US" sz="2400" b="1" dirty="0"/>
              <a:t>Small Data Transmission:</a:t>
            </a:r>
            <a:r>
              <a:rPr lang="en-US" sz="2400" dirty="0"/>
              <a:t> The transmitted information is minimal, often just a short message or alert.</a:t>
            </a:r>
          </a:p>
          <a:p>
            <a:r>
              <a:rPr lang="en-US" sz="2400" dirty="0"/>
              <a:t>Paging was widely used before mobile phones became common, especially in emergency services and business communications.</a:t>
            </a:r>
          </a:p>
        </p:txBody>
      </p:sp>
      <p:sp>
        <p:nvSpPr>
          <p:cNvPr id="3" name="object 3">
            <a:extLst>
              <a:ext uri="{FF2B5EF4-FFF2-40B4-BE49-F238E27FC236}">
                <a16:creationId xmlns:a16="http://schemas.microsoft.com/office/drawing/2014/main" id="{CA28BDEA-1D87-D053-B236-E18E089BB6F8}"/>
              </a:ext>
            </a:extLst>
          </p:cNvPr>
          <p:cNvSpPr txBox="1">
            <a:spLocks noGrp="1"/>
          </p:cNvSpPr>
          <p:nvPr>
            <p:ph type="title"/>
          </p:nvPr>
        </p:nvSpPr>
        <p:spPr>
          <a:xfrm>
            <a:off x="383540" y="378917"/>
            <a:ext cx="1449070" cy="574675"/>
          </a:xfrm>
          <a:prstGeom prst="rect">
            <a:avLst/>
          </a:prstGeom>
        </p:spPr>
        <p:txBody>
          <a:bodyPr vert="horz" wrap="square" lIns="0" tIns="12700" rIns="0" bIns="0" rtlCol="0">
            <a:spAutoFit/>
          </a:bodyPr>
          <a:lstStyle/>
          <a:p>
            <a:pPr marL="12700">
              <a:lnSpc>
                <a:spcPct val="100000"/>
              </a:lnSpc>
              <a:spcBef>
                <a:spcPts val="100"/>
              </a:spcBef>
            </a:pPr>
            <a:r>
              <a:rPr spc="-130" dirty="0"/>
              <a:t>Paging</a:t>
            </a:r>
          </a:p>
        </p:txBody>
      </p:sp>
      <p:sp>
        <p:nvSpPr>
          <p:cNvPr id="5" name="object 5">
            <a:extLst>
              <a:ext uri="{FF2B5EF4-FFF2-40B4-BE49-F238E27FC236}">
                <a16:creationId xmlns:a16="http://schemas.microsoft.com/office/drawing/2014/main" id="{0BB4210F-9A81-7537-57DB-74DA20F483B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17</a:t>
            </a:fld>
            <a:endParaRPr spc="-25" dirty="0"/>
          </a:p>
        </p:txBody>
      </p:sp>
      <p:sp>
        <p:nvSpPr>
          <p:cNvPr id="6" name="object 6">
            <a:extLst>
              <a:ext uri="{FF2B5EF4-FFF2-40B4-BE49-F238E27FC236}">
                <a16:creationId xmlns:a16="http://schemas.microsoft.com/office/drawing/2014/main" id="{3FBBB015-182E-6920-9B67-847250741F4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3758159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83942" y="6550673"/>
            <a:ext cx="7060565" cy="53340"/>
            <a:chOff x="2083942" y="6550673"/>
            <a:chExt cx="7060565" cy="53340"/>
          </a:xfrm>
        </p:grpSpPr>
        <p:sp>
          <p:nvSpPr>
            <p:cNvPr id="3" name="object 3"/>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9" name="object 9"/>
          <p:cNvPicPr/>
          <p:nvPr/>
        </p:nvPicPr>
        <p:blipFill>
          <a:blip r:embed="rId2" cstate="print"/>
          <a:stretch>
            <a:fillRect/>
          </a:stretch>
        </p:blipFill>
        <p:spPr>
          <a:xfrm>
            <a:off x="6629400" y="0"/>
            <a:ext cx="2193163" cy="692658"/>
          </a:xfrm>
          <a:prstGeom prst="rect">
            <a:avLst/>
          </a:prstGeom>
        </p:spPr>
      </p:pic>
      <p:grpSp>
        <p:nvGrpSpPr>
          <p:cNvPr id="10" name="object 10"/>
          <p:cNvGrpSpPr/>
          <p:nvPr/>
        </p:nvGrpSpPr>
        <p:grpSpPr>
          <a:xfrm>
            <a:off x="0" y="1295401"/>
            <a:ext cx="7010400" cy="45720"/>
            <a:chOff x="0" y="1295401"/>
            <a:chExt cx="7010400" cy="45720"/>
          </a:xfrm>
        </p:grpSpPr>
        <p:sp>
          <p:nvSpPr>
            <p:cNvPr id="11" name="object 11"/>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2" name="object 12"/>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3" name="object 13"/>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p:cNvSpPr txBox="1"/>
          <p:nvPr/>
        </p:nvSpPr>
        <p:spPr>
          <a:xfrm>
            <a:off x="383540" y="1443355"/>
            <a:ext cx="7850505" cy="1342390"/>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Cellular</a:t>
            </a:r>
            <a:r>
              <a:rPr sz="2400" spc="-45" dirty="0">
                <a:latin typeface="Times New Roman"/>
                <a:cs typeface="Times New Roman"/>
              </a:rPr>
              <a:t> </a:t>
            </a:r>
            <a:r>
              <a:rPr sz="2400" dirty="0">
                <a:latin typeface="Times New Roman"/>
                <a:cs typeface="Times New Roman"/>
              </a:rPr>
              <a:t>telephony</a:t>
            </a:r>
            <a:r>
              <a:rPr sz="2400" spc="-4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economically</a:t>
            </a:r>
            <a:r>
              <a:rPr sz="2400" spc="-40" dirty="0">
                <a:latin typeface="Times New Roman"/>
                <a:cs typeface="Times New Roman"/>
              </a:rPr>
              <a:t> </a:t>
            </a:r>
            <a:r>
              <a:rPr sz="2400" dirty="0">
                <a:latin typeface="Times New Roman"/>
                <a:cs typeface="Times New Roman"/>
              </a:rPr>
              <a:t>most</a:t>
            </a:r>
            <a:r>
              <a:rPr sz="2400" spc="5" dirty="0">
                <a:latin typeface="Times New Roman"/>
                <a:cs typeface="Times New Roman"/>
              </a:rPr>
              <a:t> </a:t>
            </a:r>
            <a:r>
              <a:rPr sz="2400" dirty="0">
                <a:latin typeface="Times New Roman"/>
                <a:cs typeface="Times New Roman"/>
              </a:rPr>
              <a:t>important</a:t>
            </a:r>
            <a:r>
              <a:rPr sz="2400" spc="-25" dirty="0">
                <a:latin typeface="Times New Roman"/>
                <a:cs typeface="Times New Roman"/>
              </a:rPr>
              <a:t> </a:t>
            </a:r>
            <a:r>
              <a:rPr sz="2400" dirty="0">
                <a:latin typeface="Times New Roman"/>
                <a:cs typeface="Times New Roman"/>
              </a:rPr>
              <a:t>form</a:t>
            </a:r>
            <a:r>
              <a:rPr sz="2400" spc="-20" dirty="0">
                <a:latin typeface="Times New Roman"/>
                <a:cs typeface="Times New Roman"/>
              </a:rPr>
              <a:t> </a:t>
            </a:r>
            <a:r>
              <a:rPr sz="2400" spc="-25" dirty="0">
                <a:latin typeface="Times New Roman"/>
                <a:cs typeface="Times New Roman"/>
              </a:rPr>
              <a:t>of </a:t>
            </a:r>
            <a:r>
              <a:rPr sz="2400" dirty="0">
                <a:latin typeface="Times New Roman"/>
                <a:cs typeface="Times New Roman"/>
              </a:rPr>
              <a:t>wireless</a:t>
            </a:r>
            <a:r>
              <a:rPr sz="2400" spc="-45" dirty="0">
                <a:latin typeface="Times New Roman"/>
                <a:cs typeface="Times New Roman"/>
              </a:rPr>
              <a:t> </a:t>
            </a:r>
            <a:r>
              <a:rPr sz="2400" dirty="0">
                <a:latin typeface="Times New Roman"/>
                <a:cs typeface="Times New Roman"/>
              </a:rPr>
              <a:t>communications.</a:t>
            </a:r>
            <a:r>
              <a:rPr sz="2400" spc="-7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information</a:t>
            </a:r>
            <a:r>
              <a:rPr sz="2400" spc="-30" dirty="0">
                <a:latin typeface="Times New Roman"/>
                <a:cs typeface="Times New Roman"/>
              </a:rPr>
              <a:t> </a:t>
            </a:r>
            <a:r>
              <a:rPr sz="2400" dirty="0">
                <a:latin typeface="Times New Roman"/>
                <a:cs typeface="Times New Roman"/>
              </a:rPr>
              <a:t>flow</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spc="-10" dirty="0">
                <a:latin typeface="Times New Roman"/>
                <a:cs typeface="Times New Roman"/>
              </a:rPr>
              <a:t>bidirectional. </a:t>
            </a:r>
            <a:r>
              <a:rPr sz="2400" dirty="0">
                <a:latin typeface="Times New Roman"/>
                <a:cs typeface="Times New Roman"/>
              </a:rPr>
              <a:t>A</a:t>
            </a:r>
            <a:r>
              <a:rPr sz="2400" spc="-140" dirty="0">
                <a:latin typeface="Times New Roman"/>
                <a:cs typeface="Times New Roman"/>
              </a:rPr>
              <a:t> </a:t>
            </a:r>
            <a:r>
              <a:rPr sz="2400" dirty="0">
                <a:latin typeface="Times New Roman"/>
                <a:cs typeface="Times New Roman"/>
              </a:rPr>
              <a:t>user</a:t>
            </a:r>
            <a:r>
              <a:rPr sz="2400" spc="-20" dirty="0">
                <a:latin typeface="Times New Roman"/>
                <a:cs typeface="Times New Roman"/>
              </a:rPr>
              <a:t> </a:t>
            </a:r>
            <a:r>
              <a:rPr sz="2400" dirty="0">
                <a:latin typeface="Times New Roman"/>
                <a:cs typeface="Times New Roman"/>
              </a:rPr>
              <a:t>can</a:t>
            </a:r>
            <a:r>
              <a:rPr sz="2400" spc="-10" dirty="0">
                <a:latin typeface="Times New Roman"/>
                <a:cs typeface="Times New Roman"/>
              </a:rPr>
              <a:t> </a:t>
            </a:r>
            <a:r>
              <a:rPr sz="2400" dirty="0">
                <a:latin typeface="Times New Roman"/>
                <a:cs typeface="Times New Roman"/>
              </a:rPr>
              <a:t>transmit</a:t>
            </a:r>
            <a:r>
              <a:rPr sz="2400" spc="-3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receive</a:t>
            </a:r>
            <a:r>
              <a:rPr sz="2400" spc="-50" dirty="0">
                <a:latin typeface="Times New Roman"/>
                <a:cs typeface="Times New Roman"/>
              </a:rPr>
              <a:t> </a:t>
            </a:r>
            <a:r>
              <a:rPr sz="2400" dirty="0">
                <a:latin typeface="Times New Roman"/>
                <a:cs typeface="Times New Roman"/>
              </a:rPr>
              <a:t>information</a:t>
            </a:r>
            <a:r>
              <a:rPr sz="2400" spc="-20" dirty="0">
                <a:latin typeface="Times New Roman"/>
                <a:cs typeface="Times New Roman"/>
              </a:rPr>
              <a:t> </a:t>
            </a:r>
            <a:r>
              <a:rPr sz="2400" dirty="0">
                <a:latin typeface="Times New Roman"/>
                <a:cs typeface="Times New Roman"/>
              </a:rPr>
              <a:t>at</a:t>
            </a:r>
            <a:r>
              <a:rPr sz="2400" spc="-3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same</a:t>
            </a:r>
            <a:r>
              <a:rPr sz="2400" spc="-5" dirty="0">
                <a:latin typeface="Times New Roman"/>
                <a:cs typeface="Times New Roman"/>
              </a:rPr>
              <a:t> </a:t>
            </a:r>
            <a:r>
              <a:rPr sz="2400" spc="-10" dirty="0">
                <a:latin typeface="Times New Roman"/>
                <a:cs typeface="Times New Roman"/>
              </a:rPr>
              <a:t>time.</a:t>
            </a:r>
            <a:endParaRPr sz="2400">
              <a:latin typeface="Times New Roman"/>
              <a:cs typeface="Times New Roman"/>
            </a:endParaRPr>
          </a:p>
        </p:txBody>
      </p:sp>
      <p:sp>
        <p:nvSpPr>
          <p:cNvPr id="15" name="object 15"/>
          <p:cNvSpPr txBox="1">
            <a:spLocks noGrp="1"/>
          </p:cNvSpPr>
          <p:nvPr>
            <p:ph type="ctrTitle"/>
          </p:nvPr>
        </p:nvSpPr>
        <p:spPr>
          <a:prstGeom prst="rect">
            <a:avLst/>
          </a:prstGeom>
        </p:spPr>
        <p:txBody>
          <a:bodyPr vert="horz" wrap="square" lIns="0" tIns="12700" rIns="0" bIns="0" rtlCol="0">
            <a:spAutoFit/>
          </a:bodyPr>
          <a:lstStyle/>
          <a:p>
            <a:pPr marL="63500">
              <a:lnSpc>
                <a:spcPct val="100000"/>
              </a:lnSpc>
              <a:spcBef>
                <a:spcPts val="100"/>
              </a:spcBef>
            </a:pPr>
            <a:r>
              <a:rPr spc="-150" dirty="0"/>
              <a:t>Cellular</a:t>
            </a:r>
            <a:r>
              <a:rPr spc="-180" dirty="0"/>
              <a:t> </a:t>
            </a:r>
            <a:r>
              <a:rPr spc="-170" dirty="0"/>
              <a:t>Telephony</a:t>
            </a:r>
          </a:p>
        </p:txBody>
      </p:sp>
      <p:pic>
        <p:nvPicPr>
          <p:cNvPr id="16" name="object 16"/>
          <p:cNvPicPr/>
          <p:nvPr/>
        </p:nvPicPr>
        <p:blipFill>
          <a:blip r:embed="rId3" cstate="print"/>
          <a:stretch>
            <a:fillRect/>
          </a:stretch>
        </p:blipFill>
        <p:spPr>
          <a:xfrm>
            <a:off x="1066800" y="2971800"/>
            <a:ext cx="7757414" cy="3447737"/>
          </a:xfrm>
          <a:prstGeom prst="rect">
            <a:avLst/>
          </a:prstGeom>
        </p:spPr>
      </p:pic>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18</a:t>
            </a:fld>
            <a:endParaRPr spc="-25" dirty="0"/>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D5E479-6F3D-7511-9AD7-51D801F7F74F}"/>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7C13AB2-D02E-D8C0-54E4-97E951C049C0}"/>
              </a:ext>
            </a:extLst>
          </p:cNvPr>
          <p:cNvGrpSpPr/>
          <p:nvPr/>
        </p:nvGrpSpPr>
        <p:grpSpPr>
          <a:xfrm>
            <a:off x="2083942" y="6550673"/>
            <a:ext cx="7060565" cy="53340"/>
            <a:chOff x="2083942" y="6550673"/>
            <a:chExt cx="7060565" cy="53340"/>
          </a:xfrm>
        </p:grpSpPr>
        <p:sp>
          <p:nvSpPr>
            <p:cNvPr id="3" name="object 3">
              <a:extLst>
                <a:ext uri="{FF2B5EF4-FFF2-40B4-BE49-F238E27FC236}">
                  <a16:creationId xmlns:a16="http://schemas.microsoft.com/office/drawing/2014/main" id="{D80B2AFB-E570-0E7E-DA1E-84C63B82B153}"/>
                </a:ext>
              </a:extLst>
            </p:cNvPr>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E58E8FE8-5595-3522-8F9A-E71B5C42DC49}"/>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A18C1C96-DEE1-B601-00F0-573B5D89A8AC}"/>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a:extLst>
                <a:ext uri="{FF2B5EF4-FFF2-40B4-BE49-F238E27FC236}">
                  <a16:creationId xmlns:a16="http://schemas.microsoft.com/office/drawing/2014/main" id="{B855DC5B-7737-521B-1A3E-8D1246C2638E}"/>
                </a:ext>
              </a:extLst>
            </p:cNvPr>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a:extLst>
                <a:ext uri="{FF2B5EF4-FFF2-40B4-BE49-F238E27FC236}">
                  <a16:creationId xmlns:a16="http://schemas.microsoft.com/office/drawing/2014/main" id="{74E4931A-8773-2E15-4B7A-4F781505E492}"/>
                </a:ext>
              </a:extLst>
            </p:cNvPr>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a:extLst>
                <a:ext uri="{FF2B5EF4-FFF2-40B4-BE49-F238E27FC236}">
                  <a16:creationId xmlns:a16="http://schemas.microsoft.com/office/drawing/2014/main" id="{EF446BE1-DCE3-915B-3FE3-27BCE2461C13}"/>
                </a:ext>
              </a:extLst>
            </p:cNvPr>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9" name="object 9">
            <a:extLst>
              <a:ext uri="{FF2B5EF4-FFF2-40B4-BE49-F238E27FC236}">
                <a16:creationId xmlns:a16="http://schemas.microsoft.com/office/drawing/2014/main" id="{38F5B2AD-9C30-D982-2C1C-B446C79C6461}"/>
              </a:ext>
            </a:extLst>
          </p:cNvPr>
          <p:cNvPicPr/>
          <p:nvPr/>
        </p:nvPicPr>
        <p:blipFill>
          <a:blip r:embed="rId2" cstate="print"/>
          <a:stretch>
            <a:fillRect/>
          </a:stretch>
        </p:blipFill>
        <p:spPr>
          <a:xfrm>
            <a:off x="6629400" y="0"/>
            <a:ext cx="2193163" cy="692658"/>
          </a:xfrm>
          <a:prstGeom prst="rect">
            <a:avLst/>
          </a:prstGeom>
        </p:spPr>
      </p:pic>
      <p:grpSp>
        <p:nvGrpSpPr>
          <p:cNvPr id="10" name="object 10">
            <a:extLst>
              <a:ext uri="{FF2B5EF4-FFF2-40B4-BE49-F238E27FC236}">
                <a16:creationId xmlns:a16="http://schemas.microsoft.com/office/drawing/2014/main" id="{5D71C160-DC89-0B02-BDBB-608119FC43D1}"/>
              </a:ext>
            </a:extLst>
          </p:cNvPr>
          <p:cNvGrpSpPr/>
          <p:nvPr/>
        </p:nvGrpSpPr>
        <p:grpSpPr>
          <a:xfrm>
            <a:off x="0" y="1295401"/>
            <a:ext cx="7010400" cy="45720"/>
            <a:chOff x="0" y="1295401"/>
            <a:chExt cx="7010400" cy="45720"/>
          </a:xfrm>
        </p:grpSpPr>
        <p:sp>
          <p:nvSpPr>
            <p:cNvPr id="11" name="object 11">
              <a:extLst>
                <a:ext uri="{FF2B5EF4-FFF2-40B4-BE49-F238E27FC236}">
                  <a16:creationId xmlns:a16="http://schemas.microsoft.com/office/drawing/2014/main" id="{EE7CC1BA-1DCA-E7B2-13C2-9B1473BAF4E8}"/>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2" name="object 12">
              <a:extLst>
                <a:ext uri="{FF2B5EF4-FFF2-40B4-BE49-F238E27FC236}">
                  <a16:creationId xmlns:a16="http://schemas.microsoft.com/office/drawing/2014/main" id="{BF309738-E0B3-B6FB-45B2-1E76B62B6E69}"/>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3" name="object 13">
              <a:extLst>
                <a:ext uri="{FF2B5EF4-FFF2-40B4-BE49-F238E27FC236}">
                  <a16:creationId xmlns:a16="http://schemas.microsoft.com/office/drawing/2014/main" id="{B215E36E-0123-23CA-E3B6-7D8C92DE7A1E}"/>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DD297D4E-1FCF-ED83-7680-7BE447FC4D95}"/>
              </a:ext>
            </a:extLst>
          </p:cNvPr>
          <p:cNvSpPr txBox="1"/>
          <p:nvPr/>
        </p:nvSpPr>
        <p:spPr>
          <a:xfrm>
            <a:off x="80138" y="1443355"/>
            <a:ext cx="8983724" cy="3336811"/>
          </a:xfrm>
          <a:prstGeom prst="rect">
            <a:avLst/>
          </a:prstGeom>
        </p:spPr>
        <p:txBody>
          <a:bodyPr vert="horz" wrap="square" lIns="0" tIns="12700" rIns="0" bIns="0" rtlCol="0">
            <a:spAutoFit/>
          </a:bodyPr>
          <a:lstStyle/>
          <a:p>
            <a:pPr>
              <a:buNone/>
            </a:pPr>
            <a:r>
              <a:rPr lang="en-US" dirty="0"/>
              <a:t>Cellular telephony is the most economically significant form of wireless communication. It allows </a:t>
            </a:r>
            <a:r>
              <a:rPr lang="en-US" b="1" dirty="0"/>
              <a:t>bidirectional</a:t>
            </a:r>
            <a:r>
              <a:rPr lang="en-US" dirty="0"/>
              <a:t> information flow, meaning users can both </a:t>
            </a:r>
            <a:r>
              <a:rPr lang="en-US" b="1" dirty="0"/>
              <a:t>transmit and receive</a:t>
            </a:r>
            <a:r>
              <a:rPr lang="en-US" dirty="0"/>
              <a:t> data simultaneously.</a:t>
            </a:r>
          </a:p>
          <a:p>
            <a:pPr>
              <a:buNone/>
            </a:pPr>
            <a:r>
              <a:rPr lang="en-US" b="1" dirty="0"/>
              <a:t>Key Features of Cellular Telephony:</a:t>
            </a:r>
          </a:p>
          <a:p>
            <a:pPr>
              <a:buFont typeface="+mj-lt"/>
              <a:buAutoNum type="arabicPeriod"/>
            </a:pPr>
            <a:r>
              <a:rPr lang="en-US" b="1" dirty="0"/>
              <a:t>Two-Way Communication:</a:t>
            </a:r>
            <a:r>
              <a:rPr lang="en-US" dirty="0"/>
              <a:t> Users can talk and listen at the same time.</a:t>
            </a:r>
          </a:p>
          <a:p>
            <a:pPr>
              <a:buFont typeface="+mj-lt"/>
              <a:buAutoNum type="arabicPeriod"/>
            </a:pPr>
            <a:r>
              <a:rPr lang="en-US" b="1" dirty="0"/>
              <a:t>Cell-Based Infrastructure:</a:t>
            </a:r>
            <a:r>
              <a:rPr lang="en-US" dirty="0"/>
              <a:t> Divides areas into "cells," each served by a </a:t>
            </a:r>
            <a:r>
              <a:rPr lang="en-US" b="1" dirty="0"/>
              <a:t>Base Station (BS)</a:t>
            </a:r>
            <a:r>
              <a:rPr lang="en-US" dirty="0"/>
              <a:t>.</a:t>
            </a:r>
          </a:p>
          <a:p>
            <a:pPr>
              <a:buFont typeface="+mj-lt"/>
              <a:buAutoNum type="arabicPeriod"/>
            </a:pPr>
            <a:r>
              <a:rPr lang="en-US" b="1" dirty="0"/>
              <a:t>Mobile Switching Center (MSC):</a:t>
            </a:r>
            <a:r>
              <a:rPr lang="en-US" dirty="0"/>
              <a:t> Manages connections between mobile users and the </a:t>
            </a:r>
            <a:r>
              <a:rPr lang="en-US" b="1" dirty="0"/>
              <a:t>Public Switched Telephone Network (PSTN)</a:t>
            </a:r>
            <a:r>
              <a:rPr lang="en-US" dirty="0"/>
              <a:t>.</a:t>
            </a:r>
          </a:p>
          <a:p>
            <a:pPr>
              <a:buFont typeface="+mj-lt"/>
              <a:buAutoNum type="arabicPeriod"/>
            </a:pPr>
            <a:r>
              <a:rPr lang="en-US" b="1" dirty="0"/>
              <a:t>Mobility Support:</a:t>
            </a:r>
            <a:r>
              <a:rPr lang="en-US" dirty="0"/>
              <a:t> Enables communication even while moving (e.g., in a car).</a:t>
            </a:r>
          </a:p>
          <a:p>
            <a:r>
              <a:rPr lang="en-US" dirty="0"/>
              <a:t>This system forms the backbone of modern mobile networks, enabling voice calls, SMS, and internet access.</a:t>
            </a:r>
          </a:p>
        </p:txBody>
      </p:sp>
      <p:sp>
        <p:nvSpPr>
          <p:cNvPr id="15" name="object 15">
            <a:extLst>
              <a:ext uri="{FF2B5EF4-FFF2-40B4-BE49-F238E27FC236}">
                <a16:creationId xmlns:a16="http://schemas.microsoft.com/office/drawing/2014/main" id="{E3A0C943-A8F6-103E-2E41-DBEA248DA4F7}"/>
              </a:ext>
            </a:extLst>
          </p:cNvPr>
          <p:cNvSpPr txBox="1">
            <a:spLocks noGrp="1"/>
          </p:cNvSpPr>
          <p:nvPr>
            <p:ph type="ctrTitle"/>
          </p:nvPr>
        </p:nvSpPr>
        <p:spPr>
          <a:prstGeom prst="rect">
            <a:avLst/>
          </a:prstGeom>
        </p:spPr>
        <p:txBody>
          <a:bodyPr vert="horz" wrap="square" lIns="0" tIns="12700" rIns="0" bIns="0" rtlCol="0">
            <a:spAutoFit/>
          </a:bodyPr>
          <a:lstStyle/>
          <a:p>
            <a:pPr marL="63500">
              <a:lnSpc>
                <a:spcPct val="100000"/>
              </a:lnSpc>
              <a:spcBef>
                <a:spcPts val="100"/>
              </a:spcBef>
            </a:pPr>
            <a:r>
              <a:rPr spc="-150" dirty="0"/>
              <a:t>Cellular</a:t>
            </a:r>
            <a:r>
              <a:rPr spc="-180" dirty="0"/>
              <a:t> </a:t>
            </a:r>
            <a:r>
              <a:rPr spc="-170" dirty="0"/>
              <a:t>Telephony</a:t>
            </a:r>
          </a:p>
        </p:txBody>
      </p:sp>
      <p:sp>
        <p:nvSpPr>
          <p:cNvPr id="17" name="object 17">
            <a:extLst>
              <a:ext uri="{FF2B5EF4-FFF2-40B4-BE49-F238E27FC236}">
                <a16:creationId xmlns:a16="http://schemas.microsoft.com/office/drawing/2014/main" id="{4AE3B079-054F-120C-A6FA-C01A57E9055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19</a:t>
            </a:fld>
            <a:endParaRPr spc="-25" dirty="0"/>
          </a:p>
        </p:txBody>
      </p:sp>
      <p:sp>
        <p:nvSpPr>
          <p:cNvPr id="18" name="object 18">
            <a:extLst>
              <a:ext uri="{FF2B5EF4-FFF2-40B4-BE49-F238E27FC236}">
                <a16:creationId xmlns:a16="http://schemas.microsoft.com/office/drawing/2014/main" id="{5A1A2867-8D0B-FFD5-4809-D3A3090A0AC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179056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270115" cy="4415790"/>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Trunking</a:t>
            </a:r>
            <a:r>
              <a:rPr sz="2400" spc="-35" dirty="0">
                <a:latin typeface="Times New Roman"/>
                <a:cs typeface="Times New Roman"/>
              </a:rPr>
              <a:t> </a:t>
            </a:r>
            <a:r>
              <a:rPr sz="2400" dirty="0">
                <a:latin typeface="Times New Roman"/>
                <a:cs typeface="Times New Roman"/>
              </a:rPr>
              <a:t>radio</a:t>
            </a:r>
            <a:r>
              <a:rPr sz="2400" spc="-40" dirty="0">
                <a:latin typeface="Times New Roman"/>
                <a:cs typeface="Times New Roman"/>
              </a:rPr>
              <a:t> </a:t>
            </a:r>
            <a:r>
              <a:rPr sz="2400" dirty="0">
                <a:latin typeface="Times New Roman"/>
                <a:cs typeface="Times New Roman"/>
              </a:rPr>
              <a:t>systems</a:t>
            </a:r>
            <a:r>
              <a:rPr sz="2400" spc="-25" dirty="0">
                <a:latin typeface="Times New Roman"/>
                <a:cs typeface="Times New Roman"/>
              </a:rPr>
              <a:t> </a:t>
            </a:r>
            <a:r>
              <a:rPr sz="2400" dirty="0">
                <a:latin typeface="Times New Roman"/>
                <a:cs typeface="Times New Roman"/>
              </a:rPr>
              <a:t>are</a:t>
            </a:r>
            <a:r>
              <a:rPr sz="2400" spc="-30" dirty="0">
                <a:latin typeface="Times New Roman"/>
                <a:cs typeface="Times New Roman"/>
              </a:rPr>
              <a:t> </a:t>
            </a:r>
            <a:r>
              <a:rPr sz="2400" dirty="0">
                <a:latin typeface="Times New Roman"/>
                <a:cs typeface="Times New Roman"/>
              </a:rPr>
              <a:t>an</a:t>
            </a:r>
            <a:r>
              <a:rPr sz="2400" spc="-25" dirty="0">
                <a:latin typeface="Times New Roman"/>
                <a:cs typeface="Times New Roman"/>
              </a:rPr>
              <a:t> </a:t>
            </a:r>
            <a:r>
              <a:rPr sz="2400" dirty="0">
                <a:latin typeface="Times New Roman"/>
                <a:cs typeface="Times New Roman"/>
              </a:rPr>
              <a:t>important</a:t>
            </a:r>
            <a:r>
              <a:rPr sz="2400" spc="-40" dirty="0">
                <a:latin typeface="Times New Roman"/>
                <a:cs typeface="Times New Roman"/>
              </a:rPr>
              <a:t> </a:t>
            </a:r>
            <a:r>
              <a:rPr sz="2400" dirty="0">
                <a:latin typeface="Times New Roman"/>
                <a:cs typeface="Times New Roman"/>
              </a:rPr>
              <a:t>variant</a:t>
            </a:r>
            <a:r>
              <a:rPr sz="2400" spc="-5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spc="-10" dirty="0">
                <a:latin typeface="Times New Roman"/>
                <a:cs typeface="Times New Roman"/>
              </a:rPr>
              <a:t>cellular </a:t>
            </a:r>
            <a:r>
              <a:rPr sz="2400" dirty="0">
                <a:latin typeface="Times New Roman"/>
                <a:cs typeface="Times New Roman"/>
              </a:rPr>
              <a:t>phones,</a:t>
            </a:r>
            <a:r>
              <a:rPr sz="2400" spc="-15" dirty="0">
                <a:latin typeface="Times New Roman"/>
                <a:cs typeface="Times New Roman"/>
              </a:rPr>
              <a:t> </a:t>
            </a:r>
            <a:r>
              <a:rPr sz="2400" dirty="0">
                <a:latin typeface="Times New Roman"/>
                <a:cs typeface="Times New Roman"/>
              </a:rPr>
              <a:t>where</a:t>
            </a:r>
            <a:r>
              <a:rPr sz="2400" spc="-25" dirty="0">
                <a:latin typeface="Times New Roman"/>
                <a:cs typeface="Times New Roman"/>
              </a:rPr>
              <a:t> </a:t>
            </a:r>
            <a:r>
              <a:rPr sz="2400" dirty="0">
                <a:latin typeface="Times New Roman"/>
                <a:cs typeface="Times New Roman"/>
              </a:rPr>
              <a:t>there</a:t>
            </a:r>
            <a:r>
              <a:rPr sz="2400" spc="-35"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no</a:t>
            </a:r>
            <a:r>
              <a:rPr sz="2400" spc="-15" dirty="0">
                <a:latin typeface="Times New Roman"/>
                <a:cs typeface="Times New Roman"/>
              </a:rPr>
              <a:t> </a:t>
            </a:r>
            <a:r>
              <a:rPr sz="2400" dirty="0">
                <a:latin typeface="Times New Roman"/>
                <a:cs typeface="Times New Roman"/>
              </a:rPr>
              <a:t>connection</a:t>
            </a:r>
            <a:r>
              <a:rPr sz="2400" spc="-55" dirty="0">
                <a:latin typeface="Times New Roman"/>
                <a:cs typeface="Times New Roman"/>
              </a:rPr>
              <a:t> </a:t>
            </a:r>
            <a:r>
              <a:rPr sz="2400" dirty="0">
                <a:latin typeface="Times New Roman"/>
                <a:cs typeface="Times New Roman"/>
              </a:rPr>
              <a:t>between</a:t>
            </a:r>
            <a:r>
              <a:rPr sz="2400" spc="-4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wireless </a:t>
            </a:r>
            <a:r>
              <a:rPr sz="2400" dirty="0">
                <a:latin typeface="Times New Roman"/>
                <a:cs typeface="Times New Roman"/>
              </a:rPr>
              <a:t>system</a:t>
            </a:r>
            <a:r>
              <a:rPr sz="2400" spc="-3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public</a:t>
            </a:r>
            <a:r>
              <a:rPr sz="2400" spc="-45" dirty="0">
                <a:latin typeface="Times New Roman"/>
                <a:cs typeface="Times New Roman"/>
              </a:rPr>
              <a:t> </a:t>
            </a:r>
            <a:r>
              <a:rPr sz="2400" dirty="0">
                <a:latin typeface="Times New Roman"/>
                <a:cs typeface="Times New Roman"/>
              </a:rPr>
              <a:t>switched</a:t>
            </a:r>
            <a:r>
              <a:rPr sz="2400" spc="-20" dirty="0">
                <a:latin typeface="Times New Roman"/>
                <a:cs typeface="Times New Roman"/>
              </a:rPr>
              <a:t> </a:t>
            </a:r>
            <a:r>
              <a:rPr sz="2400" dirty="0">
                <a:latin typeface="Times New Roman"/>
                <a:cs typeface="Times New Roman"/>
              </a:rPr>
              <a:t>telephone</a:t>
            </a:r>
            <a:r>
              <a:rPr sz="2400" spc="-45" dirty="0">
                <a:latin typeface="Times New Roman"/>
                <a:cs typeface="Times New Roman"/>
              </a:rPr>
              <a:t> </a:t>
            </a:r>
            <a:r>
              <a:rPr sz="2400" dirty="0">
                <a:latin typeface="Times New Roman"/>
                <a:cs typeface="Times New Roman"/>
              </a:rPr>
              <a:t>network</a:t>
            </a:r>
            <a:r>
              <a:rPr sz="2400" spc="-25" dirty="0">
                <a:latin typeface="Times New Roman"/>
                <a:cs typeface="Times New Roman"/>
              </a:rPr>
              <a:t> </a:t>
            </a:r>
            <a:r>
              <a:rPr sz="2400" spc="-10" dirty="0">
                <a:latin typeface="Times New Roman"/>
                <a:cs typeface="Times New Roman"/>
              </a:rPr>
              <a:t>(PSTN); </a:t>
            </a:r>
            <a:r>
              <a:rPr sz="2400" dirty="0">
                <a:latin typeface="Times New Roman"/>
                <a:cs typeface="Times New Roman"/>
              </a:rPr>
              <a:t>therefore,</a:t>
            </a:r>
            <a:r>
              <a:rPr sz="2400" spc="-40" dirty="0">
                <a:latin typeface="Times New Roman"/>
                <a:cs typeface="Times New Roman"/>
              </a:rPr>
              <a:t> </a:t>
            </a:r>
            <a:r>
              <a:rPr sz="2400" dirty="0">
                <a:latin typeface="Times New Roman"/>
                <a:cs typeface="Times New Roman"/>
              </a:rPr>
              <a:t>it</a:t>
            </a:r>
            <a:r>
              <a:rPr sz="2400" spc="-35" dirty="0">
                <a:latin typeface="Times New Roman"/>
                <a:cs typeface="Times New Roman"/>
              </a:rPr>
              <a:t> </a:t>
            </a:r>
            <a:r>
              <a:rPr sz="2400" dirty="0">
                <a:latin typeface="Times New Roman"/>
                <a:cs typeface="Times New Roman"/>
              </a:rPr>
              <a:t>allows</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communications</a:t>
            </a:r>
            <a:r>
              <a:rPr sz="2400" spc="-15"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closed</a:t>
            </a:r>
            <a:r>
              <a:rPr sz="2400" spc="-25" dirty="0">
                <a:latin typeface="Times New Roman"/>
                <a:cs typeface="Times New Roman"/>
              </a:rPr>
              <a:t> </a:t>
            </a:r>
            <a:r>
              <a:rPr sz="2400" spc="-20" dirty="0">
                <a:latin typeface="Times New Roman"/>
                <a:cs typeface="Times New Roman"/>
              </a:rPr>
              <a:t>user </a:t>
            </a:r>
            <a:r>
              <a:rPr sz="2400" dirty="0">
                <a:latin typeface="Times New Roman"/>
                <a:cs typeface="Times New Roman"/>
              </a:rPr>
              <a:t>groups.</a:t>
            </a:r>
            <a:r>
              <a:rPr sz="2400" spc="-40" dirty="0">
                <a:latin typeface="Times New Roman"/>
                <a:cs typeface="Times New Roman"/>
              </a:rPr>
              <a:t> </a:t>
            </a:r>
            <a:r>
              <a:rPr sz="2400" dirty="0">
                <a:latin typeface="Times New Roman"/>
                <a:cs typeface="Times New Roman"/>
              </a:rPr>
              <a:t>Obvious</a:t>
            </a:r>
            <a:r>
              <a:rPr sz="2400" spc="-40" dirty="0">
                <a:latin typeface="Times New Roman"/>
                <a:cs typeface="Times New Roman"/>
              </a:rPr>
              <a:t> </a:t>
            </a:r>
            <a:r>
              <a:rPr sz="2400" dirty="0">
                <a:latin typeface="Times New Roman"/>
                <a:cs typeface="Times New Roman"/>
              </a:rPr>
              <a:t>applications</a:t>
            </a:r>
            <a:r>
              <a:rPr sz="2400" spc="-60" dirty="0">
                <a:latin typeface="Times New Roman"/>
                <a:cs typeface="Times New Roman"/>
              </a:rPr>
              <a:t> </a:t>
            </a:r>
            <a:r>
              <a:rPr sz="2400" dirty="0">
                <a:latin typeface="Times New Roman"/>
                <a:cs typeface="Times New Roman"/>
              </a:rPr>
              <a:t>include</a:t>
            </a:r>
            <a:r>
              <a:rPr sz="2400" spc="-70" dirty="0">
                <a:latin typeface="Times New Roman"/>
                <a:cs typeface="Times New Roman"/>
              </a:rPr>
              <a:t> </a:t>
            </a:r>
            <a:r>
              <a:rPr sz="2400" dirty="0">
                <a:latin typeface="Times New Roman"/>
                <a:cs typeface="Times New Roman"/>
              </a:rPr>
              <a:t>police</a:t>
            </a:r>
            <a:r>
              <a:rPr sz="2400" spc="-60" dirty="0">
                <a:latin typeface="Times New Roman"/>
                <a:cs typeface="Times New Roman"/>
              </a:rPr>
              <a:t> </a:t>
            </a:r>
            <a:r>
              <a:rPr sz="2400" spc="-10" dirty="0">
                <a:latin typeface="Times New Roman"/>
                <a:cs typeface="Times New Roman"/>
              </a:rPr>
              <a:t>departments, </a:t>
            </a:r>
            <a:r>
              <a:rPr sz="2400" dirty="0">
                <a:latin typeface="Times New Roman"/>
                <a:cs typeface="Times New Roman"/>
              </a:rPr>
              <a:t>fire</a:t>
            </a:r>
            <a:r>
              <a:rPr sz="2400" spc="-25" dirty="0">
                <a:latin typeface="Times New Roman"/>
                <a:cs typeface="Times New Roman"/>
              </a:rPr>
              <a:t> </a:t>
            </a:r>
            <a:r>
              <a:rPr sz="2400" dirty="0">
                <a:latin typeface="Times New Roman"/>
                <a:cs typeface="Times New Roman"/>
              </a:rPr>
              <a:t>departments,</a:t>
            </a:r>
            <a:r>
              <a:rPr sz="2400" spc="-30" dirty="0">
                <a:latin typeface="Times New Roman"/>
                <a:cs typeface="Times New Roman"/>
              </a:rPr>
              <a:t> </a:t>
            </a:r>
            <a:r>
              <a:rPr sz="2400" dirty="0">
                <a:latin typeface="Times New Roman"/>
                <a:cs typeface="Times New Roman"/>
              </a:rPr>
              <a:t>taxis,</a:t>
            </a:r>
            <a:r>
              <a:rPr sz="2400" spc="-3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similar</a:t>
            </a:r>
            <a:r>
              <a:rPr sz="2400" spc="-30" dirty="0">
                <a:latin typeface="Times New Roman"/>
                <a:cs typeface="Times New Roman"/>
              </a:rPr>
              <a:t> </a:t>
            </a:r>
            <a:r>
              <a:rPr sz="2400" dirty="0">
                <a:latin typeface="Times New Roman"/>
                <a:cs typeface="Times New Roman"/>
              </a:rPr>
              <a:t>services.</a:t>
            </a:r>
            <a:r>
              <a:rPr sz="2400" spc="-8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10" dirty="0">
                <a:latin typeface="Times New Roman"/>
                <a:cs typeface="Times New Roman"/>
              </a:rPr>
              <a:t>closed </a:t>
            </a:r>
            <a:r>
              <a:rPr sz="2400" dirty="0">
                <a:latin typeface="Times New Roman"/>
                <a:cs typeface="Times New Roman"/>
              </a:rPr>
              <a:t>user</a:t>
            </a:r>
            <a:r>
              <a:rPr sz="2400" spc="-40" dirty="0">
                <a:latin typeface="Times New Roman"/>
                <a:cs typeface="Times New Roman"/>
              </a:rPr>
              <a:t> </a:t>
            </a:r>
            <a:r>
              <a:rPr sz="2400" dirty="0">
                <a:latin typeface="Times New Roman"/>
                <a:cs typeface="Times New Roman"/>
              </a:rPr>
              <a:t>group</a:t>
            </a:r>
            <a:r>
              <a:rPr sz="2400" spc="-35" dirty="0">
                <a:latin typeface="Times New Roman"/>
                <a:cs typeface="Times New Roman"/>
              </a:rPr>
              <a:t> </a:t>
            </a:r>
            <a:r>
              <a:rPr sz="2400" dirty="0">
                <a:latin typeface="Times New Roman"/>
                <a:cs typeface="Times New Roman"/>
              </a:rPr>
              <a:t>allows</a:t>
            </a:r>
            <a:r>
              <a:rPr sz="2400" spc="-45" dirty="0">
                <a:latin typeface="Times New Roman"/>
                <a:cs typeface="Times New Roman"/>
              </a:rPr>
              <a:t> </a:t>
            </a:r>
            <a:r>
              <a:rPr sz="2400" dirty="0">
                <a:latin typeface="Times New Roman"/>
                <a:cs typeface="Times New Roman"/>
              </a:rPr>
              <a:t>following</a:t>
            </a:r>
            <a:r>
              <a:rPr sz="2400" spc="-40" dirty="0">
                <a:latin typeface="Times New Roman"/>
                <a:cs typeface="Times New Roman"/>
              </a:rPr>
              <a:t> </a:t>
            </a:r>
            <a:r>
              <a:rPr sz="2400" spc="-10" dirty="0">
                <a:latin typeface="Times New Roman"/>
                <a:cs typeface="Times New Roman"/>
              </a:rPr>
              <a:t>operations</a:t>
            </a:r>
            <a:endParaRPr sz="2400">
              <a:latin typeface="Times New Roman"/>
              <a:cs typeface="Times New Roman"/>
            </a:endParaRPr>
          </a:p>
          <a:p>
            <a:pPr marL="317500" indent="-304800">
              <a:lnSpc>
                <a:spcPct val="100000"/>
              </a:lnSpc>
              <a:spcBef>
                <a:spcPts val="575"/>
              </a:spcBef>
              <a:buAutoNum type="arabicPeriod"/>
              <a:tabLst>
                <a:tab pos="317500" algn="l"/>
              </a:tabLst>
            </a:pPr>
            <a:r>
              <a:rPr sz="2400" dirty="0">
                <a:latin typeface="Times New Roman"/>
                <a:cs typeface="Times New Roman"/>
              </a:rPr>
              <a:t>Group</a:t>
            </a:r>
            <a:r>
              <a:rPr sz="2400" spc="-65" dirty="0">
                <a:latin typeface="Times New Roman"/>
                <a:cs typeface="Times New Roman"/>
              </a:rPr>
              <a:t> </a:t>
            </a:r>
            <a:r>
              <a:rPr sz="2400" spc="-10" dirty="0">
                <a:latin typeface="Times New Roman"/>
                <a:cs typeface="Times New Roman"/>
              </a:rPr>
              <a:t>calls</a:t>
            </a:r>
            <a:endParaRPr sz="2400">
              <a:latin typeface="Times New Roman"/>
              <a:cs typeface="Times New Roman"/>
            </a:endParaRPr>
          </a:p>
          <a:p>
            <a:pPr marL="317500" indent="-304800">
              <a:lnSpc>
                <a:spcPct val="100000"/>
              </a:lnSpc>
              <a:spcBef>
                <a:spcPts val="575"/>
              </a:spcBef>
              <a:buAutoNum type="arabicPeriod"/>
              <a:tabLst>
                <a:tab pos="317500" algn="l"/>
              </a:tabLst>
            </a:pPr>
            <a:r>
              <a:rPr sz="2400" dirty="0">
                <a:latin typeface="Times New Roman"/>
                <a:cs typeface="Times New Roman"/>
              </a:rPr>
              <a:t>Call</a:t>
            </a:r>
            <a:r>
              <a:rPr sz="2400" spc="-20" dirty="0">
                <a:latin typeface="Times New Roman"/>
                <a:cs typeface="Times New Roman"/>
              </a:rPr>
              <a:t> </a:t>
            </a:r>
            <a:r>
              <a:rPr sz="2400" spc="-10" dirty="0">
                <a:latin typeface="Times New Roman"/>
                <a:cs typeface="Times New Roman"/>
              </a:rPr>
              <a:t>priorities</a:t>
            </a:r>
            <a:endParaRPr sz="2400">
              <a:latin typeface="Times New Roman"/>
              <a:cs typeface="Times New Roman"/>
            </a:endParaRPr>
          </a:p>
          <a:p>
            <a:pPr marL="317500" indent="-304800">
              <a:lnSpc>
                <a:spcPct val="100000"/>
              </a:lnSpc>
              <a:spcBef>
                <a:spcPts val="580"/>
              </a:spcBef>
              <a:buAutoNum type="arabicPeriod"/>
              <a:tabLst>
                <a:tab pos="317500" algn="l"/>
              </a:tabLst>
            </a:pPr>
            <a:r>
              <a:rPr sz="2400" dirty="0">
                <a:latin typeface="Times New Roman"/>
                <a:cs typeface="Times New Roman"/>
              </a:rPr>
              <a:t>Relay</a:t>
            </a:r>
            <a:r>
              <a:rPr sz="2400" spc="-10" dirty="0">
                <a:latin typeface="Times New Roman"/>
                <a:cs typeface="Times New Roman"/>
              </a:rPr>
              <a:t> networks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70" dirty="0"/>
              <a:t>Trunking</a:t>
            </a:r>
            <a:r>
              <a:rPr spc="-204" dirty="0"/>
              <a:t> </a:t>
            </a:r>
            <a:r>
              <a:rPr spc="-120" dirty="0"/>
              <a:t>Radio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631A-54F1-7ED8-C261-EC5D3143793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BB1D7CA-797D-B334-7BF4-90851B316FBF}"/>
              </a:ext>
            </a:extLst>
          </p:cNvPr>
          <p:cNvSpPr txBox="1"/>
          <p:nvPr/>
        </p:nvSpPr>
        <p:spPr>
          <a:xfrm>
            <a:off x="80138" y="1443355"/>
            <a:ext cx="8983724" cy="5183470"/>
          </a:xfrm>
          <a:prstGeom prst="rect">
            <a:avLst/>
          </a:prstGeom>
        </p:spPr>
        <p:txBody>
          <a:bodyPr vert="horz" wrap="square" lIns="0" tIns="12700" rIns="0" bIns="0" rtlCol="0">
            <a:spAutoFit/>
          </a:bodyPr>
          <a:lstStyle/>
          <a:p>
            <a:pPr>
              <a:buNone/>
            </a:pPr>
            <a:r>
              <a:rPr lang="en-US" sz="1600" dirty="0" err="1"/>
              <a:t>Trunking</a:t>
            </a:r>
            <a:r>
              <a:rPr lang="en-US" sz="1600" dirty="0"/>
              <a:t> radio systems are a specialized form of wireless communication used primarily in public safety and critical communication sectors. Unlike traditional cellular networks, </a:t>
            </a:r>
            <a:r>
              <a:rPr lang="en-US" sz="1600" dirty="0" err="1"/>
              <a:t>trunking</a:t>
            </a:r>
            <a:r>
              <a:rPr lang="en-US" sz="1600" dirty="0"/>
              <a:t> radio does not connect to the Public Switched Telephone Network (PSTN), making it an independent communication system for closed user groups.</a:t>
            </a:r>
          </a:p>
          <a:p>
            <a:pPr>
              <a:buNone/>
            </a:pPr>
            <a:r>
              <a:rPr lang="en-US" sz="1600" b="1" dirty="0"/>
              <a:t>Key Features of </a:t>
            </a:r>
            <a:r>
              <a:rPr lang="en-US" sz="1600" b="1" dirty="0" err="1"/>
              <a:t>Trunking</a:t>
            </a:r>
            <a:r>
              <a:rPr lang="en-US" sz="1600" b="1" dirty="0"/>
              <a:t> Radio</a:t>
            </a:r>
          </a:p>
          <a:p>
            <a:pPr>
              <a:buFont typeface="+mj-lt"/>
              <a:buAutoNum type="arabicPeriod"/>
            </a:pPr>
            <a:r>
              <a:rPr lang="en-US" sz="1600" b="1" dirty="0"/>
              <a:t>Efficient Channel Utilization</a:t>
            </a:r>
            <a:r>
              <a:rPr lang="en-US" sz="1600" dirty="0"/>
              <a:t> – Uses a pool of radio channels dynamically assigned to users as needed, ensuring optimal frequency usage.</a:t>
            </a:r>
          </a:p>
          <a:p>
            <a:pPr>
              <a:buFont typeface="+mj-lt"/>
              <a:buAutoNum type="arabicPeriod"/>
            </a:pPr>
            <a:r>
              <a:rPr lang="en-US" sz="1600" b="1" dirty="0"/>
              <a:t>Closed User Groups</a:t>
            </a:r>
            <a:r>
              <a:rPr lang="en-US" sz="1600" dirty="0"/>
              <a:t> – Designed for organizations like police, fire departments, and emergency services that require secure and dedicated communication.</a:t>
            </a:r>
          </a:p>
          <a:p>
            <a:pPr>
              <a:buFont typeface="+mj-lt"/>
              <a:buAutoNum type="arabicPeriod"/>
            </a:pPr>
            <a:r>
              <a:rPr lang="en-US" sz="1600" b="1" dirty="0"/>
              <a:t>No PSTN Dependency</a:t>
            </a:r>
            <a:r>
              <a:rPr lang="en-US" sz="1600" dirty="0"/>
              <a:t> – Works independently of public telephone networks, enhancing security and reliability.</a:t>
            </a:r>
          </a:p>
          <a:p>
            <a:pPr>
              <a:buFont typeface="+mj-lt"/>
              <a:buAutoNum type="arabicPeriod"/>
            </a:pPr>
            <a:r>
              <a:rPr lang="en-US" sz="1600" b="1" dirty="0"/>
              <a:t>Fast Call Setup</a:t>
            </a:r>
            <a:r>
              <a:rPr lang="en-US" sz="1600" dirty="0"/>
              <a:t> – Offers near-instantaneous connectivity without the delays of conventional mobile networks.</a:t>
            </a:r>
          </a:p>
          <a:p>
            <a:pPr>
              <a:buNone/>
            </a:pPr>
            <a:r>
              <a:rPr lang="en-US" sz="1600" b="1" dirty="0"/>
              <a:t>Operations in </a:t>
            </a:r>
            <a:r>
              <a:rPr lang="en-US" sz="1600" b="1" dirty="0" err="1"/>
              <a:t>Trunking</a:t>
            </a:r>
            <a:r>
              <a:rPr lang="en-US" sz="1600" b="1" dirty="0"/>
              <a:t> Radio</a:t>
            </a:r>
          </a:p>
          <a:p>
            <a:pPr>
              <a:buFont typeface="Arial" panose="020B0604020202020204" pitchFamily="34" charset="0"/>
              <a:buChar char="•"/>
            </a:pPr>
            <a:r>
              <a:rPr lang="en-US" sz="1600" b="1" dirty="0"/>
              <a:t>Group Calls</a:t>
            </a:r>
            <a:r>
              <a:rPr lang="en-US" sz="1600" dirty="0"/>
              <a:t> – Enables communication among multiple users in a closed group, useful for emergency and coordinated operations.</a:t>
            </a:r>
          </a:p>
          <a:p>
            <a:pPr>
              <a:buFont typeface="Arial" panose="020B0604020202020204" pitchFamily="34" charset="0"/>
              <a:buChar char="•"/>
            </a:pPr>
            <a:r>
              <a:rPr lang="en-US" sz="1600" b="1" dirty="0"/>
              <a:t>Call Priorities</a:t>
            </a:r>
            <a:r>
              <a:rPr lang="en-US" sz="1600" dirty="0"/>
              <a:t> – Ensures priority access to channels for high-importance users, such as emergency responders.</a:t>
            </a:r>
          </a:p>
          <a:p>
            <a:pPr>
              <a:buFont typeface="Arial" panose="020B0604020202020204" pitchFamily="34" charset="0"/>
              <a:buChar char="•"/>
            </a:pPr>
            <a:r>
              <a:rPr lang="en-US" sz="1600" b="1" dirty="0"/>
              <a:t>Relay Networks</a:t>
            </a:r>
            <a:r>
              <a:rPr lang="en-US" sz="1600" dirty="0"/>
              <a:t> – Extends communication range using relay stations to cover large geographical areas.</a:t>
            </a:r>
          </a:p>
          <a:p>
            <a:endParaRPr lang="en-US" sz="1600" dirty="0"/>
          </a:p>
        </p:txBody>
      </p:sp>
      <p:sp>
        <p:nvSpPr>
          <p:cNvPr id="4" name="object 4">
            <a:extLst>
              <a:ext uri="{FF2B5EF4-FFF2-40B4-BE49-F238E27FC236}">
                <a16:creationId xmlns:a16="http://schemas.microsoft.com/office/drawing/2014/main" id="{E59E4DFE-E930-6F7C-C26A-B313C60FAFB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21</a:t>
            </a:fld>
            <a:endParaRPr spc="-25" dirty="0"/>
          </a:p>
        </p:txBody>
      </p:sp>
      <p:sp>
        <p:nvSpPr>
          <p:cNvPr id="5" name="object 5">
            <a:extLst>
              <a:ext uri="{FF2B5EF4-FFF2-40B4-BE49-F238E27FC236}">
                <a16:creationId xmlns:a16="http://schemas.microsoft.com/office/drawing/2014/main" id="{B1FC8887-274E-F03F-1E77-6D35A0297EF3}"/>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E8515CA3-1CEB-0B40-8C9F-EC3231EB21D5}"/>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70" dirty="0"/>
              <a:t>Trunking</a:t>
            </a:r>
            <a:r>
              <a:rPr spc="-204" dirty="0"/>
              <a:t> </a:t>
            </a:r>
            <a:r>
              <a:rPr spc="-120" dirty="0"/>
              <a:t>Radio</a:t>
            </a:r>
          </a:p>
        </p:txBody>
      </p:sp>
    </p:spTree>
    <p:extLst>
      <p:ext uri="{BB962C8B-B14F-4D97-AF65-F5344CB8AC3E}">
        <p14:creationId xmlns:p14="http://schemas.microsoft.com/office/powerpoint/2010/main" val="580971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A04C0-EBBF-B6D8-1E4E-AC75A0E643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4CE7872-840C-0CF1-5951-8CB162CA6D71}"/>
              </a:ext>
            </a:extLst>
          </p:cNvPr>
          <p:cNvSpPr txBox="1"/>
          <p:nvPr/>
        </p:nvSpPr>
        <p:spPr>
          <a:xfrm>
            <a:off x="80138" y="1443355"/>
            <a:ext cx="8983724" cy="2228815"/>
          </a:xfrm>
          <a:prstGeom prst="rect">
            <a:avLst/>
          </a:prstGeom>
        </p:spPr>
        <p:txBody>
          <a:bodyPr vert="horz" wrap="square" lIns="0" tIns="12700" rIns="0" bIns="0" rtlCol="0">
            <a:spAutoFit/>
          </a:bodyPr>
          <a:lstStyle/>
          <a:p>
            <a:pPr>
              <a:buNone/>
            </a:pPr>
            <a:r>
              <a:rPr lang="en-US" sz="1600" b="1" dirty="0"/>
              <a:t>Applications</a:t>
            </a:r>
          </a:p>
          <a:p>
            <a:pPr>
              <a:buFont typeface="Arial" panose="020B0604020202020204" pitchFamily="34" charset="0"/>
              <a:buChar char="•"/>
            </a:pPr>
            <a:r>
              <a:rPr lang="en-US" sz="1600" b="1" dirty="0"/>
              <a:t>Public Safety</a:t>
            </a:r>
            <a:r>
              <a:rPr lang="en-US" sz="1600" dirty="0"/>
              <a:t> – Used by police, fire, and medical emergency services.</a:t>
            </a:r>
          </a:p>
          <a:p>
            <a:pPr>
              <a:buFont typeface="Arial" panose="020B0604020202020204" pitchFamily="34" charset="0"/>
              <a:buChar char="•"/>
            </a:pPr>
            <a:r>
              <a:rPr lang="en-US" sz="1600" b="1" dirty="0"/>
              <a:t>Transportation</a:t>
            </a:r>
            <a:r>
              <a:rPr lang="en-US" sz="1600" dirty="0"/>
              <a:t> – Taxis, railways, and aviation for seamless coordination.</a:t>
            </a:r>
          </a:p>
          <a:p>
            <a:pPr>
              <a:buFont typeface="Arial" panose="020B0604020202020204" pitchFamily="34" charset="0"/>
              <a:buChar char="•"/>
            </a:pPr>
            <a:r>
              <a:rPr lang="en-US" sz="1600" b="1" dirty="0"/>
              <a:t>Industrial Use</a:t>
            </a:r>
            <a:r>
              <a:rPr lang="en-US" sz="1600" dirty="0"/>
              <a:t> – Factories, power plants, and military applications for secure communication.</a:t>
            </a:r>
          </a:p>
          <a:p>
            <a:pPr>
              <a:buFont typeface="Arial" panose="020B0604020202020204" pitchFamily="34" charset="0"/>
              <a:buChar char="•"/>
            </a:pPr>
            <a:endParaRPr lang="en-US" sz="1600" dirty="0"/>
          </a:p>
          <a:p>
            <a:endParaRPr lang="en-US" sz="1600" dirty="0"/>
          </a:p>
          <a:p>
            <a:r>
              <a:rPr lang="en-US" sz="1600" dirty="0"/>
              <a:t>In the </a:t>
            </a:r>
            <a:r>
              <a:rPr lang="en-US" sz="1600" b="1" dirty="0"/>
              <a:t>Wireless and Mobile Communication</a:t>
            </a:r>
            <a:r>
              <a:rPr lang="en-US" sz="1600" dirty="0"/>
              <a:t> course, </a:t>
            </a:r>
            <a:r>
              <a:rPr lang="en-US" sz="1600" dirty="0" err="1"/>
              <a:t>trunking</a:t>
            </a:r>
            <a:r>
              <a:rPr lang="en-US" sz="1600" dirty="0"/>
              <a:t> radio is studied as an alternative to cellular systems, focusing on </a:t>
            </a:r>
            <a:r>
              <a:rPr lang="en-US" sz="1600" b="1" dirty="0"/>
              <a:t>resource allocation</a:t>
            </a:r>
            <a:r>
              <a:rPr lang="en-US" sz="1600" dirty="0"/>
              <a:t>, </a:t>
            </a:r>
            <a:r>
              <a:rPr lang="en-US" sz="1600" b="1" dirty="0"/>
              <a:t>spectrum efficiency</a:t>
            </a:r>
            <a:r>
              <a:rPr lang="en-US" sz="1600" dirty="0"/>
              <a:t>, and </a:t>
            </a:r>
            <a:r>
              <a:rPr lang="en-US" sz="1600" b="1" dirty="0"/>
              <a:t>reliability in mission-critical environments</a:t>
            </a:r>
            <a:r>
              <a:rPr lang="en-US" sz="1600" dirty="0"/>
              <a:t>.</a:t>
            </a:r>
          </a:p>
        </p:txBody>
      </p:sp>
      <p:sp>
        <p:nvSpPr>
          <p:cNvPr id="4" name="object 4">
            <a:extLst>
              <a:ext uri="{FF2B5EF4-FFF2-40B4-BE49-F238E27FC236}">
                <a16:creationId xmlns:a16="http://schemas.microsoft.com/office/drawing/2014/main" id="{B02EDFED-E70D-A82D-168B-0628ECCA6D9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22</a:t>
            </a:fld>
            <a:endParaRPr spc="-25" dirty="0"/>
          </a:p>
        </p:txBody>
      </p:sp>
      <p:sp>
        <p:nvSpPr>
          <p:cNvPr id="5" name="object 5">
            <a:extLst>
              <a:ext uri="{FF2B5EF4-FFF2-40B4-BE49-F238E27FC236}">
                <a16:creationId xmlns:a16="http://schemas.microsoft.com/office/drawing/2014/main" id="{FCF1CD4C-1B20-BBAA-5FFF-866FC5EF02E5}"/>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8416FC3C-D3B6-32B3-FD5A-2153EC43338B}"/>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70" dirty="0"/>
              <a:t>Trunking</a:t>
            </a:r>
            <a:r>
              <a:rPr spc="-204" dirty="0"/>
              <a:t> </a:t>
            </a:r>
            <a:r>
              <a:rPr spc="-120" dirty="0"/>
              <a:t>Radio</a:t>
            </a:r>
          </a:p>
        </p:txBody>
      </p:sp>
    </p:spTree>
    <p:extLst>
      <p:ext uri="{BB962C8B-B14F-4D97-AF65-F5344CB8AC3E}">
        <p14:creationId xmlns:p14="http://schemas.microsoft.com/office/powerpoint/2010/main" val="1567418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5250" y="228600"/>
            <a:ext cx="9048750" cy="6591300"/>
            <a:chOff x="95250" y="228600"/>
            <a:chExt cx="9048750" cy="6591300"/>
          </a:xfrm>
        </p:grpSpPr>
        <p:pic>
          <p:nvPicPr>
            <p:cNvPr id="3" name="object 3"/>
            <p:cNvPicPr/>
            <p:nvPr/>
          </p:nvPicPr>
          <p:blipFill>
            <a:blip r:embed="rId2" cstate="print"/>
            <a:stretch>
              <a:fillRect/>
            </a:stretch>
          </p:blipFill>
          <p:spPr>
            <a:xfrm>
              <a:off x="95250" y="228600"/>
              <a:ext cx="4099814" cy="3048000"/>
            </a:xfrm>
            <a:prstGeom prst="rect">
              <a:avLst/>
            </a:prstGeom>
          </p:spPr>
        </p:pic>
        <p:pic>
          <p:nvPicPr>
            <p:cNvPr id="4" name="object 4"/>
            <p:cNvPicPr/>
            <p:nvPr/>
          </p:nvPicPr>
          <p:blipFill>
            <a:blip r:embed="rId3" cstate="print"/>
            <a:stretch>
              <a:fillRect/>
            </a:stretch>
          </p:blipFill>
          <p:spPr>
            <a:xfrm>
              <a:off x="4191000" y="3276598"/>
              <a:ext cx="4953000" cy="3543300"/>
            </a:xfrm>
            <a:prstGeom prst="rect">
              <a:avLst/>
            </a:prstGeom>
          </p:spPr>
        </p:pic>
      </p:gr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23</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CC2E-5090-A8B6-AB3A-FFF58AC3A155}"/>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09089862-C215-25F7-38B4-F409E1EF5F6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24</a:t>
            </a:fld>
            <a:endParaRPr spc="-25" dirty="0"/>
          </a:p>
        </p:txBody>
      </p:sp>
      <p:sp>
        <p:nvSpPr>
          <p:cNvPr id="6" name="object 6">
            <a:extLst>
              <a:ext uri="{FF2B5EF4-FFF2-40B4-BE49-F238E27FC236}">
                <a16:creationId xmlns:a16="http://schemas.microsoft.com/office/drawing/2014/main" id="{9BD36A03-8C2E-944F-7F84-A5E11EB89C8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7" name="TextBox 6">
            <a:extLst>
              <a:ext uri="{FF2B5EF4-FFF2-40B4-BE49-F238E27FC236}">
                <a16:creationId xmlns:a16="http://schemas.microsoft.com/office/drawing/2014/main" id="{1BA390A9-DC14-721B-A8B2-885DA9B64AFE}"/>
              </a:ext>
            </a:extLst>
          </p:cNvPr>
          <p:cNvSpPr txBox="1"/>
          <p:nvPr/>
        </p:nvSpPr>
        <p:spPr>
          <a:xfrm>
            <a:off x="0" y="1371600"/>
            <a:ext cx="9063862" cy="5478423"/>
          </a:xfrm>
          <a:prstGeom prst="rect">
            <a:avLst/>
          </a:prstGeom>
          <a:noFill/>
        </p:spPr>
        <p:txBody>
          <a:bodyPr wrap="square" rtlCol="0">
            <a:spAutoFit/>
          </a:bodyPr>
          <a:lstStyle/>
          <a:p>
            <a:r>
              <a:rPr lang="en-US" sz="1400" dirty="0"/>
              <a:t>Cordless phones and wireless Private Automatic Branch Exchange (PABX) systems are fundamental concepts in </a:t>
            </a:r>
            <a:r>
              <a:rPr lang="en-US" sz="1400" b="1" dirty="0"/>
              <a:t>Wireless and Mobile Communication</a:t>
            </a:r>
            <a:r>
              <a:rPr lang="en-US" sz="1400" dirty="0"/>
              <a:t>, dealing with short-range communication within a specific area.</a:t>
            </a:r>
          </a:p>
          <a:p>
            <a:pPr>
              <a:buNone/>
            </a:pPr>
            <a:r>
              <a:rPr lang="en-US" sz="1400" b="1" dirty="0"/>
              <a:t>1. Cordless Phone</a:t>
            </a:r>
          </a:p>
          <a:p>
            <a:pPr>
              <a:buNone/>
            </a:pPr>
            <a:r>
              <a:rPr lang="en-US" sz="1400" dirty="0"/>
              <a:t>A </a:t>
            </a:r>
            <a:r>
              <a:rPr lang="en-US" sz="1400" b="1" dirty="0"/>
              <a:t>cordless phone</a:t>
            </a:r>
            <a:r>
              <a:rPr lang="en-US" sz="1400" dirty="0"/>
              <a:t> consists of a base station (</a:t>
            </a:r>
            <a:r>
              <a:rPr lang="en-US" sz="1400" b="1" dirty="0"/>
              <a:t>BS</a:t>
            </a:r>
            <a:r>
              <a:rPr lang="en-US" sz="1400" dirty="0"/>
              <a:t>) connected to the </a:t>
            </a:r>
            <a:r>
              <a:rPr lang="en-US" sz="1400" b="1" dirty="0"/>
              <a:t>Public Switched Telephone Network (PSTN)</a:t>
            </a:r>
            <a:r>
              <a:rPr lang="en-US" sz="1400" dirty="0"/>
              <a:t> and a wireless handset.</a:t>
            </a:r>
          </a:p>
          <a:p>
            <a:pPr>
              <a:buFont typeface="Arial" panose="020B0604020202020204" pitchFamily="34" charset="0"/>
              <a:buChar char="•"/>
            </a:pPr>
            <a:r>
              <a:rPr lang="en-US" sz="1400" b="1" dirty="0"/>
              <a:t>Principle</a:t>
            </a:r>
            <a:r>
              <a:rPr lang="en-US" sz="1400" dirty="0"/>
              <a:t>: The BS acts as an interface between the PSTN and the cordless handset, enabling wireless communication within a limited range (typically within a home or office).</a:t>
            </a:r>
          </a:p>
          <a:p>
            <a:pPr>
              <a:buFont typeface="Arial" panose="020B0604020202020204" pitchFamily="34" charset="0"/>
              <a:buChar char="•"/>
            </a:pPr>
            <a:r>
              <a:rPr lang="en-US" sz="1400" b="1" dirty="0"/>
              <a:t>Technology</a:t>
            </a:r>
            <a:r>
              <a:rPr lang="en-US" sz="1400" dirty="0"/>
              <a:t>: Operates on radio frequencies (e.g., DECT – Digital Enhanced Cordless Telecommunications).</a:t>
            </a:r>
          </a:p>
          <a:p>
            <a:pPr>
              <a:buFont typeface="Arial" panose="020B0604020202020204" pitchFamily="34" charset="0"/>
              <a:buChar char="•"/>
            </a:pPr>
            <a:r>
              <a:rPr lang="en-US" sz="1400" b="1" dirty="0"/>
              <a:t>Limitations</a:t>
            </a:r>
            <a:r>
              <a:rPr lang="en-US" sz="1400" dirty="0"/>
              <a:t>: Works only within a small radius (typically 50–300 meters) and does not support mobility beyond the BS coverage.</a:t>
            </a:r>
          </a:p>
          <a:p>
            <a:pPr>
              <a:buNone/>
            </a:pPr>
            <a:r>
              <a:rPr lang="en-US" sz="1400" b="1" dirty="0"/>
              <a:t>2. Wireless PABX (Private Automatic Branch Exchange)</a:t>
            </a:r>
          </a:p>
          <a:p>
            <a:pPr>
              <a:buNone/>
            </a:pPr>
            <a:r>
              <a:rPr lang="en-US" sz="1400" dirty="0"/>
              <a:t>A </a:t>
            </a:r>
            <a:r>
              <a:rPr lang="en-US" sz="1400" b="1" dirty="0"/>
              <a:t>wireless PABX</a:t>
            </a:r>
            <a:r>
              <a:rPr lang="en-US" sz="1400" dirty="0"/>
              <a:t> extends the concept of a cordless phone by integrating multiple handsets within an organization's internal network.</a:t>
            </a:r>
          </a:p>
          <a:p>
            <a:pPr>
              <a:buFont typeface="Arial" panose="020B0604020202020204" pitchFamily="34" charset="0"/>
              <a:buChar char="•"/>
            </a:pPr>
            <a:r>
              <a:rPr lang="en-US" sz="1400" b="1" dirty="0"/>
              <a:t>Principle</a:t>
            </a:r>
            <a:r>
              <a:rPr lang="en-US" sz="1400" dirty="0"/>
              <a:t>: The </a:t>
            </a:r>
            <a:r>
              <a:rPr lang="en-US" sz="1400" b="1" dirty="0"/>
              <a:t>PABX system</a:t>
            </a:r>
            <a:r>
              <a:rPr lang="en-US" sz="1400" dirty="0"/>
              <a:t> connects to the </a:t>
            </a:r>
            <a:r>
              <a:rPr lang="en-US" sz="1400" b="1" dirty="0"/>
              <a:t>PSTN</a:t>
            </a:r>
            <a:r>
              <a:rPr lang="en-US" sz="1400" dirty="0"/>
              <a:t> and manages multiple internal wireless extensions, allowing internal and external communication.</a:t>
            </a:r>
          </a:p>
          <a:p>
            <a:pPr>
              <a:buFont typeface="Arial" panose="020B0604020202020204" pitchFamily="34" charset="0"/>
              <a:buChar char="•"/>
            </a:pPr>
            <a:r>
              <a:rPr lang="en-US" sz="1400" b="1" dirty="0"/>
              <a:t>Features</a:t>
            </a:r>
            <a:r>
              <a:rPr lang="en-US" sz="1400" dirty="0"/>
              <a:t>:</a:t>
            </a:r>
          </a:p>
          <a:p>
            <a:pPr marL="742950" lvl="1" indent="-285750">
              <a:buFont typeface="Arial" panose="020B0604020202020204" pitchFamily="34" charset="0"/>
              <a:buChar char="•"/>
            </a:pPr>
            <a:r>
              <a:rPr lang="en-US" sz="1400" dirty="0"/>
              <a:t>Supports multiple users within an enterprise.</a:t>
            </a:r>
          </a:p>
          <a:p>
            <a:pPr marL="742950" lvl="1" indent="-285750">
              <a:buFont typeface="Arial" panose="020B0604020202020204" pitchFamily="34" charset="0"/>
              <a:buChar char="•"/>
            </a:pPr>
            <a:r>
              <a:rPr lang="en-US" sz="1400" dirty="0"/>
              <a:t>Facilitates both </a:t>
            </a:r>
            <a:r>
              <a:rPr lang="en-US" sz="1400" b="1" dirty="0"/>
              <a:t>internal (intercom) and external</a:t>
            </a:r>
            <a:r>
              <a:rPr lang="en-US" sz="1400" dirty="0"/>
              <a:t> calls without wired connections.</a:t>
            </a:r>
          </a:p>
          <a:p>
            <a:pPr marL="742950" lvl="1" indent="-285750">
              <a:buFont typeface="Arial" panose="020B0604020202020204" pitchFamily="34" charset="0"/>
              <a:buChar char="•"/>
            </a:pPr>
            <a:r>
              <a:rPr lang="en-US" sz="1400" dirty="0"/>
              <a:t>Provides mobility within an office building or campus.</a:t>
            </a:r>
          </a:p>
          <a:p>
            <a:pPr>
              <a:buFont typeface="Arial" panose="020B0604020202020204" pitchFamily="34" charset="0"/>
              <a:buChar char="•"/>
            </a:pPr>
            <a:r>
              <a:rPr lang="en-US" sz="1400" b="1" dirty="0"/>
              <a:t>Advantages over Cordless Phones</a:t>
            </a:r>
            <a:r>
              <a:rPr lang="en-US" sz="1400" dirty="0"/>
              <a:t>:</a:t>
            </a:r>
          </a:p>
          <a:p>
            <a:pPr marL="742950" lvl="1" indent="-285750">
              <a:buFont typeface="Arial" panose="020B0604020202020204" pitchFamily="34" charset="0"/>
              <a:buChar char="•"/>
            </a:pPr>
            <a:r>
              <a:rPr lang="en-US" sz="1400" dirty="0"/>
              <a:t>Supports multiple users.</a:t>
            </a:r>
          </a:p>
          <a:p>
            <a:pPr marL="742950" lvl="1" indent="-285750">
              <a:buFont typeface="Arial" panose="020B0604020202020204" pitchFamily="34" charset="0"/>
              <a:buChar char="•"/>
            </a:pPr>
            <a:r>
              <a:rPr lang="en-US" sz="1400" dirty="0"/>
              <a:t>Covers a larger area using multiple base stations.</a:t>
            </a:r>
          </a:p>
          <a:p>
            <a:pPr marL="742950" lvl="1" indent="-285750">
              <a:buFont typeface="Arial" panose="020B0604020202020204" pitchFamily="34" charset="0"/>
              <a:buChar char="•"/>
            </a:pPr>
            <a:r>
              <a:rPr lang="en-US" sz="1400" dirty="0"/>
              <a:t>Reduces wiring costs and enhances mobility.</a:t>
            </a:r>
          </a:p>
          <a:p>
            <a:endParaRPr lang="en-US" sz="1400" dirty="0"/>
          </a:p>
          <a:p>
            <a:endParaRPr lang="en-IN" sz="1400" dirty="0"/>
          </a:p>
        </p:txBody>
      </p:sp>
    </p:spTree>
    <p:extLst>
      <p:ext uri="{BB962C8B-B14F-4D97-AF65-F5344CB8AC3E}">
        <p14:creationId xmlns:p14="http://schemas.microsoft.com/office/powerpoint/2010/main" val="2704465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82929-9AEA-8F7C-5939-C299A87B7B43}"/>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04C00196-2E10-1212-94FB-4EA995B9578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25</a:t>
            </a:fld>
            <a:endParaRPr spc="-25" dirty="0"/>
          </a:p>
        </p:txBody>
      </p:sp>
      <p:sp>
        <p:nvSpPr>
          <p:cNvPr id="6" name="object 6">
            <a:extLst>
              <a:ext uri="{FF2B5EF4-FFF2-40B4-BE49-F238E27FC236}">
                <a16:creationId xmlns:a16="http://schemas.microsoft.com/office/drawing/2014/main" id="{23942ED2-0518-A528-C164-958AFE9828F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7" name="TextBox 6">
            <a:extLst>
              <a:ext uri="{FF2B5EF4-FFF2-40B4-BE49-F238E27FC236}">
                <a16:creationId xmlns:a16="http://schemas.microsoft.com/office/drawing/2014/main" id="{9B86519E-DF56-C224-4620-412F50559F0F}"/>
              </a:ext>
            </a:extLst>
          </p:cNvPr>
          <p:cNvSpPr txBox="1"/>
          <p:nvPr/>
        </p:nvSpPr>
        <p:spPr>
          <a:xfrm>
            <a:off x="0" y="1371600"/>
            <a:ext cx="9063862" cy="1384995"/>
          </a:xfrm>
          <a:prstGeom prst="rect">
            <a:avLst/>
          </a:prstGeom>
          <a:noFill/>
        </p:spPr>
        <p:txBody>
          <a:bodyPr wrap="square" rtlCol="0">
            <a:spAutoFit/>
          </a:bodyPr>
          <a:lstStyle/>
          <a:p>
            <a:pPr>
              <a:buNone/>
            </a:pPr>
            <a:r>
              <a:rPr lang="en-US" sz="1400" b="1" dirty="0"/>
              <a:t>Applications in Wireless Communication</a:t>
            </a:r>
          </a:p>
          <a:p>
            <a:pPr>
              <a:buFont typeface="Arial" panose="020B0604020202020204" pitchFamily="34" charset="0"/>
              <a:buChar char="•"/>
            </a:pPr>
            <a:r>
              <a:rPr lang="en-US" sz="1400" b="1" dirty="0"/>
              <a:t>Cordless Phones</a:t>
            </a:r>
            <a:r>
              <a:rPr lang="en-US" sz="1400" dirty="0"/>
              <a:t>: Used in homes and small offices for landline communication with limited mobility.</a:t>
            </a:r>
          </a:p>
          <a:p>
            <a:pPr>
              <a:buFont typeface="Arial" panose="020B0604020202020204" pitchFamily="34" charset="0"/>
              <a:buChar char="•"/>
            </a:pPr>
            <a:r>
              <a:rPr lang="en-US" sz="1400" b="1" dirty="0"/>
              <a:t>Wireless PABX</a:t>
            </a:r>
            <a:r>
              <a:rPr lang="en-US" sz="1400" dirty="0"/>
              <a:t>: Used in large offices, industries, and corporate buildings for efficient internal and external communication.</a:t>
            </a:r>
          </a:p>
          <a:p>
            <a:r>
              <a:rPr lang="en-US" sz="1400" dirty="0"/>
              <a:t>In </a:t>
            </a:r>
            <a:r>
              <a:rPr lang="en-US" sz="1400" b="1" dirty="0"/>
              <a:t>Wireless and Mobile Communication</a:t>
            </a:r>
            <a:r>
              <a:rPr lang="en-US" sz="1400" dirty="0"/>
              <a:t>, these systems are studied under </a:t>
            </a:r>
            <a:r>
              <a:rPr lang="en-US" sz="1400" b="1" dirty="0"/>
              <a:t>short-range wireless communication</a:t>
            </a:r>
            <a:r>
              <a:rPr lang="en-US" sz="1400" dirty="0"/>
              <a:t>, focusing on frequency allocation, mobility support, and spectrum efficiency.</a:t>
            </a:r>
          </a:p>
        </p:txBody>
      </p:sp>
    </p:spTree>
    <p:extLst>
      <p:ext uri="{BB962C8B-B14F-4D97-AF65-F5344CB8AC3E}">
        <p14:creationId xmlns:p14="http://schemas.microsoft.com/office/powerpoint/2010/main" val="4222492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28305" cy="3025775"/>
          </a:xfrm>
          <a:prstGeom prst="rect">
            <a:avLst/>
          </a:prstGeom>
        </p:spPr>
        <p:txBody>
          <a:bodyPr vert="horz" wrap="square" lIns="0" tIns="12700" rIns="0" bIns="0" rtlCol="0">
            <a:spAutoFit/>
          </a:bodyPr>
          <a:lstStyle/>
          <a:p>
            <a:pPr marL="355600" marR="120014" indent="-342900">
              <a:lnSpc>
                <a:spcPct val="100000"/>
              </a:lnSpc>
              <a:spcBef>
                <a:spcPts val="100"/>
              </a:spcBef>
              <a:buClr>
                <a:srgbClr val="0F1141"/>
              </a:buClr>
              <a:buFont typeface="Arial MT"/>
              <a:buChar char="•"/>
              <a:tabLst>
                <a:tab pos="355600" algn="l"/>
              </a:tabLst>
            </a:pPr>
            <a:r>
              <a:rPr sz="2400" dirty="0">
                <a:latin typeface="Times New Roman"/>
                <a:cs typeface="Times New Roman"/>
              </a:rPr>
              <a:t>The</a:t>
            </a:r>
            <a:r>
              <a:rPr sz="2400" spc="-55" dirty="0">
                <a:latin typeface="Times New Roman"/>
                <a:cs typeface="Times New Roman"/>
              </a:rPr>
              <a:t> </a:t>
            </a:r>
            <a:r>
              <a:rPr sz="2400" dirty="0">
                <a:latin typeface="Times New Roman"/>
                <a:cs typeface="Times New Roman"/>
              </a:rPr>
              <a:t>functionality</a:t>
            </a:r>
            <a:r>
              <a:rPr sz="2400" spc="-65" dirty="0">
                <a:latin typeface="Times New Roman"/>
                <a:cs typeface="Times New Roman"/>
              </a:rPr>
              <a:t> </a:t>
            </a:r>
            <a:r>
              <a:rPr sz="2400" dirty="0">
                <a:latin typeface="Times New Roman"/>
                <a:cs typeface="Times New Roman"/>
              </a:rPr>
              <a:t>of</a:t>
            </a:r>
            <a:r>
              <a:rPr sz="2400" spc="-65" dirty="0">
                <a:latin typeface="Times New Roman"/>
                <a:cs typeface="Times New Roman"/>
              </a:rPr>
              <a:t> </a:t>
            </a:r>
            <a:r>
              <a:rPr sz="2400" spc="-10" dirty="0">
                <a:latin typeface="Times New Roman"/>
                <a:cs typeface="Times New Roman"/>
              </a:rPr>
              <a:t>Wireless</a:t>
            </a:r>
            <a:r>
              <a:rPr sz="2400" spc="-35" dirty="0">
                <a:latin typeface="Times New Roman"/>
                <a:cs typeface="Times New Roman"/>
              </a:rPr>
              <a:t> </a:t>
            </a:r>
            <a:r>
              <a:rPr sz="2400" dirty="0">
                <a:latin typeface="Times New Roman"/>
                <a:cs typeface="Times New Roman"/>
              </a:rPr>
              <a:t>Local</a:t>
            </a:r>
            <a:r>
              <a:rPr sz="2400" spc="-155" dirty="0">
                <a:latin typeface="Times New Roman"/>
                <a:cs typeface="Times New Roman"/>
              </a:rPr>
              <a:t> </a:t>
            </a:r>
            <a:r>
              <a:rPr sz="2400" dirty="0">
                <a:latin typeface="Times New Roman"/>
                <a:cs typeface="Times New Roman"/>
              </a:rPr>
              <a:t>Area</a:t>
            </a:r>
            <a:r>
              <a:rPr sz="2400" spc="-20" dirty="0">
                <a:latin typeface="Times New Roman"/>
                <a:cs typeface="Times New Roman"/>
              </a:rPr>
              <a:t> </a:t>
            </a:r>
            <a:r>
              <a:rPr sz="2400" dirty="0">
                <a:latin typeface="Times New Roman"/>
                <a:cs typeface="Times New Roman"/>
              </a:rPr>
              <a:t>Networks</a:t>
            </a:r>
            <a:r>
              <a:rPr sz="2400" spc="-25" dirty="0">
                <a:latin typeface="Times New Roman"/>
                <a:cs typeface="Times New Roman"/>
              </a:rPr>
              <a:t> </a:t>
            </a:r>
            <a:r>
              <a:rPr sz="2400" spc="-10" dirty="0">
                <a:latin typeface="Times New Roman"/>
                <a:cs typeface="Times New Roman"/>
              </a:rPr>
              <a:t>(WLANs)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very</a:t>
            </a:r>
            <a:r>
              <a:rPr sz="2400" spc="-10" dirty="0">
                <a:latin typeface="Times New Roman"/>
                <a:cs typeface="Times New Roman"/>
              </a:rPr>
              <a:t> </a:t>
            </a:r>
            <a:r>
              <a:rPr sz="2400" dirty="0">
                <a:latin typeface="Times New Roman"/>
                <a:cs typeface="Times New Roman"/>
              </a:rPr>
              <a:t>similar</a:t>
            </a:r>
            <a:r>
              <a:rPr sz="2400" spc="-3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cordless</a:t>
            </a:r>
            <a:r>
              <a:rPr sz="2400" spc="-30" dirty="0">
                <a:latin typeface="Times New Roman"/>
                <a:cs typeface="Times New Roman"/>
              </a:rPr>
              <a:t> </a:t>
            </a:r>
            <a:r>
              <a:rPr sz="2400" dirty="0">
                <a:latin typeface="Times New Roman"/>
                <a:cs typeface="Times New Roman"/>
              </a:rPr>
              <a:t>phones</a:t>
            </a:r>
            <a:r>
              <a:rPr sz="2400" spc="-20" dirty="0">
                <a:latin typeface="Times New Roman"/>
                <a:cs typeface="Times New Roman"/>
              </a:rPr>
              <a:t> </a:t>
            </a:r>
            <a:r>
              <a:rPr sz="2400" dirty="0">
                <a:latin typeface="Times New Roman"/>
                <a:cs typeface="Times New Roman"/>
              </a:rPr>
              <a:t>connecting</a:t>
            </a:r>
            <a:r>
              <a:rPr sz="2400" spc="-55" dirty="0">
                <a:latin typeface="Times New Roman"/>
                <a:cs typeface="Times New Roman"/>
              </a:rPr>
              <a:t> </a:t>
            </a:r>
            <a:r>
              <a:rPr sz="2400" dirty="0">
                <a:latin typeface="Times New Roman"/>
                <a:cs typeface="Times New Roman"/>
              </a:rPr>
              <a:t>a</a:t>
            </a:r>
            <a:r>
              <a:rPr sz="2400" spc="-10" dirty="0">
                <a:latin typeface="Times New Roman"/>
                <a:cs typeface="Times New Roman"/>
              </a:rPr>
              <a:t> single </a:t>
            </a:r>
            <a:r>
              <a:rPr sz="2400" dirty="0">
                <a:latin typeface="Times New Roman"/>
                <a:cs typeface="Times New Roman"/>
              </a:rPr>
              <a:t>mobile</a:t>
            </a:r>
            <a:r>
              <a:rPr sz="2400" spc="-30" dirty="0">
                <a:latin typeface="Times New Roman"/>
                <a:cs typeface="Times New Roman"/>
              </a:rPr>
              <a:t> </a:t>
            </a:r>
            <a:r>
              <a:rPr sz="2400" dirty="0">
                <a:latin typeface="Times New Roman"/>
                <a:cs typeface="Times New Roman"/>
              </a:rPr>
              <a:t>user</a:t>
            </a:r>
            <a:r>
              <a:rPr sz="2400" spc="-10" dirty="0">
                <a:latin typeface="Times New Roman"/>
                <a:cs typeface="Times New Roman"/>
              </a:rPr>
              <a:t> </a:t>
            </a:r>
            <a:r>
              <a:rPr sz="2400" dirty="0">
                <a:latin typeface="Times New Roman"/>
                <a:cs typeface="Times New Roman"/>
              </a:rPr>
              <a:t>device</a:t>
            </a:r>
            <a:r>
              <a:rPr sz="2400" spc="-3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public</a:t>
            </a:r>
            <a:r>
              <a:rPr sz="2400" spc="-30" dirty="0">
                <a:latin typeface="Times New Roman"/>
                <a:cs typeface="Times New Roman"/>
              </a:rPr>
              <a:t> </a:t>
            </a:r>
            <a:r>
              <a:rPr sz="2400" dirty="0">
                <a:latin typeface="Times New Roman"/>
                <a:cs typeface="Times New Roman"/>
              </a:rPr>
              <a:t>landline</a:t>
            </a:r>
            <a:r>
              <a:rPr sz="2400" spc="-4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dirty="0">
                <a:latin typeface="Times New Roman"/>
                <a:cs typeface="Times New Roman"/>
              </a:rPr>
              <a:t>A</a:t>
            </a:r>
            <a:r>
              <a:rPr sz="2400" spc="-150" dirty="0">
                <a:latin typeface="Times New Roman"/>
                <a:cs typeface="Times New Roman"/>
              </a:rPr>
              <a:t> </a:t>
            </a:r>
            <a:r>
              <a:rPr sz="2400" dirty="0">
                <a:latin typeface="Times New Roman"/>
                <a:cs typeface="Times New Roman"/>
              </a:rPr>
              <a:t>major</a:t>
            </a:r>
            <a:r>
              <a:rPr sz="2400" spc="-45" dirty="0">
                <a:latin typeface="Times New Roman"/>
                <a:cs typeface="Times New Roman"/>
              </a:rPr>
              <a:t> </a:t>
            </a:r>
            <a:r>
              <a:rPr sz="2400" dirty="0">
                <a:latin typeface="Times New Roman"/>
                <a:cs typeface="Times New Roman"/>
              </a:rPr>
              <a:t>difference</a:t>
            </a:r>
            <a:r>
              <a:rPr sz="2400" spc="-40" dirty="0">
                <a:latin typeface="Times New Roman"/>
                <a:cs typeface="Times New Roman"/>
              </a:rPr>
              <a:t> </a:t>
            </a:r>
            <a:r>
              <a:rPr sz="2400" dirty="0">
                <a:latin typeface="Times New Roman"/>
                <a:cs typeface="Times New Roman"/>
              </a:rPr>
              <a:t>between</a:t>
            </a:r>
            <a:r>
              <a:rPr sz="2400" spc="-45" dirty="0">
                <a:latin typeface="Times New Roman"/>
                <a:cs typeface="Times New Roman"/>
              </a:rPr>
              <a:t> </a:t>
            </a:r>
            <a:r>
              <a:rPr sz="2400" dirty="0">
                <a:latin typeface="Times New Roman"/>
                <a:cs typeface="Times New Roman"/>
              </a:rPr>
              <a:t>wireless</a:t>
            </a:r>
            <a:r>
              <a:rPr sz="2400" spc="-50" dirty="0">
                <a:latin typeface="Times New Roman"/>
                <a:cs typeface="Times New Roman"/>
              </a:rPr>
              <a:t> </a:t>
            </a:r>
            <a:r>
              <a:rPr sz="2400" dirty="0">
                <a:latin typeface="Times New Roman"/>
                <a:cs typeface="Times New Roman"/>
              </a:rPr>
              <a:t>LANs</a:t>
            </a:r>
            <a:r>
              <a:rPr sz="2400" spc="-1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spc="-10" dirty="0">
                <a:latin typeface="Times New Roman"/>
                <a:cs typeface="Times New Roman"/>
              </a:rPr>
              <a:t>cordless </a:t>
            </a:r>
            <a:r>
              <a:rPr sz="2400" dirty="0">
                <a:latin typeface="Times New Roman"/>
                <a:cs typeface="Times New Roman"/>
              </a:rPr>
              <a:t>phones</a:t>
            </a:r>
            <a:r>
              <a:rPr sz="2400" spc="-2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required</a:t>
            </a:r>
            <a:r>
              <a:rPr sz="2400" spc="-50" dirty="0">
                <a:latin typeface="Times New Roman"/>
                <a:cs typeface="Times New Roman"/>
              </a:rPr>
              <a:t> </a:t>
            </a:r>
            <a:r>
              <a:rPr sz="2400" dirty="0">
                <a:latin typeface="Times New Roman"/>
                <a:cs typeface="Times New Roman"/>
              </a:rPr>
              <a:t>data</a:t>
            </a:r>
            <a:r>
              <a:rPr sz="2400" spc="-30" dirty="0">
                <a:latin typeface="Times New Roman"/>
                <a:cs typeface="Times New Roman"/>
              </a:rPr>
              <a:t> </a:t>
            </a:r>
            <a:r>
              <a:rPr sz="2400" dirty="0">
                <a:latin typeface="Times New Roman"/>
                <a:cs typeface="Times New Roman"/>
              </a:rPr>
              <a:t>rate.</a:t>
            </a:r>
            <a:r>
              <a:rPr sz="2400" spc="-90" dirty="0">
                <a:latin typeface="Times New Roman"/>
                <a:cs typeface="Times New Roman"/>
              </a:rPr>
              <a:t> </a:t>
            </a:r>
            <a:r>
              <a:rPr sz="2400" dirty="0">
                <a:latin typeface="Times New Roman"/>
                <a:cs typeface="Times New Roman"/>
              </a:rPr>
              <a:t>While</a:t>
            </a:r>
            <a:r>
              <a:rPr sz="2400" spc="-15" dirty="0">
                <a:latin typeface="Times New Roman"/>
                <a:cs typeface="Times New Roman"/>
              </a:rPr>
              <a:t> </a:t>
            </a:r>
            <a:r>
              <a:rPr sz="2400" dirty="0">
                <a:latin typeface="Times New Roman"/>
                <a:cs typeface="Times New Roman"/>
              </a:rPr>
              <a:t>cordless</a:t>
            </a:r>
            <a:r>
              <a:rPr sz="2400" spc="-35" dirty="0">
                <a:latin typeface="Times New Roman"/>
                <a:cs typeface="Times New Roman"/>
              </a:rPr>
              <a:t> </a:t>
            </a:r>
            <a:r>
              <a:rPr sz="2400" dirty="0">
                <a:latin typeface="Times New Roman"/>
                <a:cs typeface="Times New Roman"/>
              </a:rPr>
              <a:t>phones</a:t>
            </a:r>
            <a:r>
              <a:rPr sz="2400" spc="-30" dirty="0">
                <a:latin typeface="Times New Roman"/>
                <a:cs typeface="Times New Roman"/>
              </a:rPr>
              <a:t> </a:t>
            </a:r>
            <a:r>
              <a:rPr sz="2400" dirty="0">
                <a:latin typeface="Times New Roman"/>
                <a:cs typeface="Times New Roman"/>
              </a:rPr>
              <a:t>need</a:t>
            </a:r>
            <a:r>
              <a:rPr sz="2400" spc="-25" dirty="0">
                <a:latin typeface="Times New Roman"/>
                <a:cs typeface="Times New Roman"/>
              </a:rPr>
              <a:t> to </a:t>
            </a:r>
            <a:r>
              <a:rPr sz="2400" dirty="0">
                <a:latin typeface="Times New Roman"/>
                <a:cs typeface="Times New Roman"/>
              </a:rPr>
              <a:t>transmit</a:t>
            </a:r>
            <a:r>
              <a:rPr sz="2400" spc="-25" dirty="0">
                <a:latin typeface="Times New Roman"/>
                <a:cs typeface="Times New Roman"/>
              </a:rPr>
              <a:t> </a:t>
            </a:r>
            <a:r>
              <a:rPr sz="2400" dirty="0">
                <a:latin typeface="Times New Roman"/>
                <a:cs typeface="Times New Roman"/>
              </a:rPr>
              <a:t>(digitized)</a:t>
            </a:r>
            <a:r>
              <a:rPr sz="2400" spc="-55" dirty="0">
                <a:latin typeface="Times New Roman"/>
                <a:cs typeface="Times New Roman"/>
              </a:rPr>
              <a:t> </a:t>
            </a:r>
            <a:r>
              <a:rPr sz="2400" dirty="0">
                <a:latin typeface="Times New Roman"/>
                <a:cs typeface="Times New Roman"/>
              </a:rPr>
              <a:t>speech,</a:t>
            </a:r>
            <a:r>
              <a:rPr sz="2400" spc="-15" dirty="0">
                <a:latin typeface="Times New Roman"/>
                <a:cs typeface="Times New Roman"/>
              </a:rPr>
              <a:t> </a:t>
            </a:r>
            <a:r>
              <a:rPr sz="2400" dirty="0">
                <a:latin typeface="Times New Roman"/>
                <a:cs typeface="Times New Roman"/>
              </a:rPr>
              <a:t>which</a:t>
            </a:r>
            <a:r>
              <a:rPr sz="2400" spc="-5" dirty="0">
                <a:latin typeface="Times New Roman"/>
                <a:cs typeface="Times New Roman"/>
              </a:rPr>
              <a:t> </a:t>
            </a:r>
            <a:r>
              <a:rPr sz="2400" dirty="0">
                <a:latin typeface="Times New Roman"/>
                <a:cs typeface="Times New Roman"/>
              </a:rPr>
              <a:t>requires</a:t>
            </a:r>
            <a:r>
              <a:rPr sz="2400" spc="-40" dirty="0">
                <a:latin typeface="Times New Roman"/>
                <a:cs typeface="Times New Roman"/>
              </a:rPr>
              <a:t> </a:t>
            </a:r>
            <a:r>
              <a:rPr sz="2400" dirty="0">
                <a:latin typeface="Times New Roman"/>
                <a:cs typeface="Times New Roman"/>
              </a:rPr>
              <a:t>at</a:t>
            </a:r>
            <a:r>
              <a:rPr sz="2400" spc="-15" dirty="0">
                <a:latin typeface="Times New Roman"/>
                <a:cs typeface="Times New Roman"/>
              </a:rPr>
              <a:t> </a:t>
            </a:r>
            <a:r>
              <a:rPr sz="2400" dirty="0">
                <a:latin typeface="Times New Roman"/>
                <a:cs typeface="Times New Roman"/>
              </a:rPr>
              <a:t>most</a:t>
            </a:r>
            <a:r>
              <a:rPr sz="2400" spc="10" dirty="0">
                <a:latin typeface="Times New Roman"/>
                <a:cs typeface="Times New Roman"/>
              </a:rPr>
              <a:t> </a:t>
            </a:r>
            <a:r>
              <a:rPr sz="2400" dirty="0">
                <a:latin typeface="Times New Roman"/>
                <a:cs typeface="Times New Roman"/>
              </a:rPr>
              <a:t>64</a:t>
            </a:r>
            <a:r>
              <a:rPr sz="2400" spc="-5" dirty="0">
                <a:latin typeface="Times New Roman"/>
                <a:cs typeface="Times New Roman"/>
              </a:rPr>
              <a:t> </a:t>
            </a:r>
            <a:r>
              <a:rPr sz="2400" spc="-10" dirty="0">
                <a:latin typeface="Times New Roman"/>
                <a:cs typeface="Times New Roman"/>
              </a:rPr>
              <a:t>Kbit/s, </a:t>
            </a:r>
            <a:r>
              <a:rPr sz="2400" dirty="0">
                <a:latin typeface="Times New Roman"/>
                <a:cs typeface="Times New Roman"/>
              </a:rPr>
              <a:t>wireless</a:t>
            </a:r>
            <a:r>
              <a:rPr sz="2400" spc="-35" dirty="0">
                <a:latin typeface="Times New Roman"/>
                <a:cs typeface="Times New Roman"/>
              </a:rPr>
              <a:t> </a:t>
            </a:r>
            <a:r>
              <a:rPr sz="2400" dirty="0">
                <a:latin typeface="Times New Roman"/>
                <a:cs typeface="Times New Roman"/>
              </a:rPr>
              <a:t>LANs</a:t>
            </a:r>
            <a:r>
              <a:rPr sz="2400" spc="10" dirty="0">
                <a:latin typeface="Times New Roman"/>
                <a:cs typeface="Times New Roman"/>
              </a:rPr>
              <a:t> </a:t>
            </a:r>
            <a:r>
              <a:rPr sz="2400" dirty="0">
                <a:latin typeface="Times New Roman"/>
                <a:cs typeface="Times New Roman"/>
              </a:rPr>
              <a:t>should</a:t>
            </a:r>
            <a:r>
              <a:rPr sz="2400" spc="-25" dirty="0">
                <a:latin typeface="Times New Roman"/>
                <a:cs typeface="Times New Roman"/>
              </a:rPr>
              <a:t> </a:t>
            </a:r>
            <a:r>
              <a:rPr sz="2400" dirty="0">
                <a:latin typeface="Times New Roman"/>
                <a:cs typeface="Times New Roman"/>
              </a:rPr>
              <a:t>be</a:t>
            </a:r>
            <a:r>
              <a:rPr sz="2400" spc="-10" dirty="0">
                <a:latin typeface="Times New Roman"/>
                <a:cs typeface="Times New Roman"/>
              </a:rPr>
              <a:t> </a:t>
            </a:r>
            <a:r>
              <a:rPr sz="2400" dirty="0">
                <a:latin typeface="Times New Roman"/>
                <a:cs typeface="Times New Roman"/>
              </a:rPr>
              <a:t>at</a:t>
            </a:r>
            <a:r>
              <a:rPr sz="2400" spc="-35" dirty="0">
                <a:latin typeface="Times New Roman"/>
                <a:cs typeface="Times New Roman"/>
              </a:rPr>
              <a:t> </a:t>
            </a:r>
            <a:r>
              <a:rPr sz="2400" dirty="0">
                <a:latin typeface="Times New Roman"/>
                <a:cs typeface="Times New Roman"/>
              </a:rPr>
              <a:t>least</a:t>
            </a:r>
            <a:r>
              <a:rPr sz="2400" spc="-30"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dirty="0">
                <a:latin typeface="Times New Roman"/>
                <a:cs typeface="Times New Roman"/>
              </a:rPr>
              <a:t>fast</a:t>
            </a:r>
            <a:r>
              <a:rPr sz="2400" spc="-20" dirty="0">
                <a:latin typeface="Times New Roman"/>
                <a:cs typeface="Times New Roman"/>
              </a:rPr>
              <a:t> </a:t>
            </a:r>
            <a:r>
              <a:rPr sz="2400" dirty="0">
                <a:latin typeface="Times New Roman"/>
                <a:cs typeface="Times New Roman"/>
              </a:rPr>
              <a:t>as</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Internet</a:t>
            </a:r>
            <a:r>
              <a:rPr sz="2400" spc="-45" dirty="0">
                <a:latin typeface="Times New Roman"/>
                <a:cs typeface="Times New Roman"/>
              </a:rPr>
              <a:t> </a:t>
            </a:r>
            <a:r>
              <a:rPr sz="2400" spc="-20" dirty="0">
                <a:latin typeface="Times New Roman"/>
                <a:cs typeface="Times New Roman"/>
              </a:rPr>
              <a:t>that </a:t>
            </a:r>
            <a:r>
              <a:rPr sz="2400" dirty="0">
                <a:latin typeface="Times New Roman"/>
                <a:cs typeface="Times New Roman"/>
              </a:rPr>
              <a:t>they</a:t>
            </a:r>
            <a:r>
              <a:rPr sz="2400" spc="-15"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spc="-10" dirty="0">
                <a:latin typeface="Times New Roman"/>
                <a:cs typeface="Times New Roman"/>
              </a:rPr>
              <a:t>connected.</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26</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0" dirty="0"/>
              <a:t>Wireless</a:t>
            </a:r>
            <a:r>
              <a:rPr spc="-225" dirty="0"/>
              <a:t> </a:t>
            </a:r>
            <a:r>
              <a:rPr spc="-135" dirty="0"/>
              <a:t>Local</a:t>
            </a:r>
            <a:r>
              <a:rPr spc="-385" dirty="0"/>
              <a:t> </a:t>
            </a:r>
            <a:r>
              <a:rPr spc="-125" dirty="0"/>
              <a:t>Area</a:t>
            </a:r>
            <a:r>
              <a:rPr spc="-250" dirty="0"/>
              <a:t> </a:t>
            </a:r>
            <a:r>
              <a:rPr spc="-130" dirty="0"/>
              <a:t>Networks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12280-CFA9-65C0-5E97-74E58CC6A1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E9BC8B-3D48-F7F5-4C2C-0A5F6C32613F}"/>
              </a:ext>
            </a:extLst>
          </p:cNvPr>
          <p:cNvSpPr txBox="1"/>
          <p:nvPr/>
        </p:nvSpPr>
        <p:spPr>
          <a:xfrm>
            <a:off x="80138" y="1516507"/>
            <a:ext cx="8983724" cy="5288627"/>
          </a:xfrm>
          <a:prstGeom prst="rect">
            <a:avLst/>
          </a:prstGeom>
        </p:spPr>
        <p:txBody>
          <a:bodyPr vert="horz" wrap="square" lIns="0" tIns="12700" rIns="0" bIns="0" rtlCol="0">
            <a:spAutoFit/>
          </a:bodyPr>
          <a:lstStyle/>
          <a:p>
            <a:pPr marL="12700" marR="120014">
              <a:lnSpc>
                <a:spcPct val="100000"/>
              </a:lnSpc>
              <a:spcBef>
                <a:spcPts val="100"/>
              </a:spcBef>
              <a:buClr>
                <a:srgbClr val="0F1141"/>
              </a:buClr>
              <a:tabLst>
                <a:tab pos="355600" algn="l"/>
              </a:tabLst>
            </a:pPr>
            <a:r>
              <a:rPr lang="en-US" dirty="0"/>
              <a:t>Wireless Local Area Networks (</a:t>
            </a:r>
            <a:r>
              <a:rPr lang="en-US" b="1" dirty="0"/>
              <a:t>WLANs</a:t>
            </a:r>
            <a:r>
              <a:rPr lang="en-US" dirty="0"/>
              <a:t>) provide high-speed wireless connectivity within a limited geographical area, such as homes, offices, and campuses. They operate similarly to cordless phones by connecting mobile devices to a fixed communication network, but with a much higher data rate.</a:t>
            </a:r>
          </a:p>
          <a:p>
            <a:pPr>
              <a:buNone/>
            </a:pPr>
            <a:r>
              <a:rPr lang="en-US" b="1" dirty="0"/>
              <a:t>Key Characteristics of WLANs</a:t>
            </a:r>
          </a:p>
          <a:p>
            <a:pPr>
              <a:buFont typeface="Arial" panose="020B0604020202020204" pitchFamily="34" charset="0"/>
              <a:buChar char="•"/>
            </a:pPr>
            <a:r>
              <a:rPr lang="en-US" b="1" dirty="0"/>
              <a:t>Functionality Similar to Cordless Phones</a:t>
            </a:r>
            <a:r>
              <a:rPr lang="en-US" dirty="0"/>
              <a:t>: Like cordless phones, WLANs allow devices to communicate wirelessly with a central access point, which connects to a wired network (such as the internet or a local server).</a:t>
            </a:r>
          </a:p>
          <a:p>
            <a:pPr>
              <a:buFont typeface="Arial" panose="020B0604020202020204" pitchFamily="34" charset="0"/>
              <a:buChar char="•"/>
            </a:pPr>
            <a:r>
              <a:rPr lang="en-US" b="1" dirty="0"/>
              <a:t>High Data Rate Requirement</a:t>
            </a:r>
            <a:r>
              <a:rPr lang="en-US" dirty="0"/>
              <a:t>:</a:t>
            </a:r>
          </a:p>
          <a:p>
            <a:pPr marL="742950" lvl="1" indent="-285750">
              <a:buFont typeface="Arial" panose="020B0604020202020204" pitchFamily="34" charset="0"/>
              <a:buChar char="•"/>
            </a:pPr>
            <a:r>
              <a:rPr lang="en-US" dirty="0"/>
              <a:t>Cordless phones primarily transmit </a:t>
            </a:r>
            <a:r>
              <a:rPr lang="en-US" b="1" dirty="0"/>
              <a:t>digitized speech</a:t>
            </a:r>
            <a:r>
              <a:rPr lang="en-US" dirty="0"/>
              <a:t> at a low data rate (≤64 Kbit/s).</a:t>
            </a:r>
          </a:p>
          <a:p>
            <a:pPr marL="742950" lvl="1" indent="-285750">
              <a:buFont typeface="Arial" panose="020B0604020202020204" pitchFamily="34" charset="0"/>
              <a:buChar char="•"/>
            </a:pPr>
            <a:r>
              <a:rPr lang="en-US" dirty="0"/>
              <a:t>WLANs must support high-speed data transmission to match internet speeds, typically in the range of </a:t>
            </a:r>
            <a:r>
              <a:rPr lang="en-US" b="1" dirty="0"/>
              <a:t>Mbps to Gbps</a:t>
            </a:r>
            <a:r>
              <a:rPr lang="en-US" dirty="0"/>
              <a:t> (e.g., Wi-Fi standards like IEEE 802.11ac, 802.11ax).</a:t>
            </a:r>
          </a:p>
          <a:p>
            <a:pPr>
              <a:buFont typeface="Arial" panose="020B0604020202020204" pitchFamily="34" charset="0"/>
              <a:buChar char="•"/>
            </a:pPr>
            <a:r>
              <a:rPr lang="en-US" b="1" dirty="0"/>
              <a:t>Operates on Unlicensed Frequency Bands</a:t>
            </a:r>
            <a:r>
              <a:rPr lang="en-US" dirty="0"/>
              <a:t>: Uses ISM bands (2.4 GHz, 5 GHz, and 6 GHz) for communication.</a:t>
            </a:r>
          </a:p>
          <a:p>
            <a:pPr>
              <a:buFont typeface="Arial" panose="020B0604020202020204" pitchFamily="34" charset="0"/>
              <a:buChar char="•"/>
            </a:pPr>
            <a:r>
              <a:rPr lang="en-US" b="1" dirty="0"/>
              <a:t>Supports Multiple Devices</a:t>
            </a:r>
            <a:r>
              <a:rPr lang="en-US" dirty="0"/>
              <a:t>: Unlike cordless phones, which usually support only one handset, WLANs allow multiple users to connect simultaneously.</a:t>
            </a:r>
          </a:p>
          <a:p>
            <a:pPr marL="12700" marR="120014">
              <a:lnSpc>
                <a:spcPct val="100000"/>
              </a:lnSpc>
              <a:spcBef>
                <a:spcPts val="100"/>
              </a:spcBef>
              <a:buClr>
                <a:srgbClr val="0F1141"/>
              </a:buClr>
              <a:tabLst>
                <a:tab pos="355600" algn="l"/>
              </a:tabLst>
            </a:pPr>
            <a:endParaRPr dirty="0">
              <a:latin typeface="Times New Roman"/>
              <a:cs typeface="Times New Roman"/>
            </a:endParaRPr>
          </a:p>
        </p:txBody>
      </p:sp>
      <p:sp>
        <p:nvSpPr>
          <p:cNvPr id="4" name="object 4">
            <a:extLst>
              <a:ext uri="{FF2B5EF4-FFF2-40B4-BE49-F238E27FC236}">
                <a16:creationId xmlns:a16="http://schemas.microsoft.com/office/drawing/2014/main" id="{1D0AA966-6656-DB47-819F-33B53FF7F19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27</a:t>
            </a:fld>
            <a:endParaRPr spc="-25" dirty="0"/>
          </a:p>
        </p:txBody>
      </p:sp>
      <p:sp>
        <p:nvSpPr>
          <p:cNvPr id="5" name="object 5">
            <a:extLst>
              <a:ext uri="{FF2B5EF4-FFF2-40B4-BE49-F238E27FC236}">
                <a16:creationId xmlns:a16="http://schemas.microsoft.com/office/drawing/2014/main" id="{4F76EA21-E2AA-6BFE-0F30-0895E73CF41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66C02EC4-B9B9-E3DE-9EDE-A5361919E261}"/>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0" dirty="0"/>
              <a:t>Wireless</a:t>
            </a:r>
            <a:r>
              <a:rPr spc="-225" dirty="0"/>
              <a:t> </a:t>
            </a:r>
            <a:r>
              <a:rPr spc="-135" dirty="0"/>
              <a:t>Local</a:t>
            </a:r>
            <a:r>
              <a:rPr spc="-385" dirty="0"/>
              <a:t> </a:t>
            </a:r>
            <a:r>
              <a:rPr spc="-125" dirty="0"/>
              <a:t>Area</a:t>
            </a:r>
            <a:r>
              <a:rPr spc="-250" dirty="0"/>
              <a:t> </a:t>
            </a:r>
            <a:r>
              <a:rPr spc="-130" dirty="0"/>
              <a:t>Networks</a:t>
            </a:r>
          </a:p>
        </p:txBody>
      </p:sp>
    </p:spTree>
    <p:extLst>
      <p:ext uri="{BB962C8B-B14F-4D97-AF65-F5344CB8AC3E}">
        <p14:creationId xmlns:p14="http://schemas.microsoft.com/office/powerpoint/2010/main" val="2566377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6C3AE-CC33-A3C8-DFCA-3BC97BDD266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010388-83B7-5557-D6D9-5AE010DE8CE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28</a:t>
            </a:fld>
            <a:endParaRPr spc="-25" dirty="0"/>
          </a:p>
        </p:txBody>
      </p:sp>
      <p:sp>
        <p:nvSpPr>
          <p:cNvPr id="5" name="object 5">
            <a:extLst>
              <a:ext uri="{FF2B5EF4-FFF2-40B4-BE49-F238E27FC236}">
                <a16:creationId xmlns:a16="http://schemas.microsoft.com/office/drawing/2014/main" id="{6ADA4F0D-C698-F381-425F-DC39005C85F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5184CE4F-FAD2-98C8-04CD-7E9705F37C6A}"/>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0" dirty="0"/>
              <a:t>Wireless</a:t>
            </a:r>
            <a:r>
              <a:rPr spc="-225" dirty="0"/>
              <a:t> </a:t>
            </a:r>
            <a:r>
              <a:rPr spc="-135" dirty="0"/>
              <a:t>Local</a:t>
            </a:r>
            <a:r>
              <a:rPr spc="-385" dirty="0"/>
              <a:t> </a:t>
            </a:r>
            <a:r>
              <a:rPr spc="-125" dirty="0"/>
              <a:t>Area</a:t>
            </a:r>
            <a:r>
              <a:rPr spc="-250" dirty="0"/>
              <a:t> </a:t>
            </a:r>
            <a:r>
              <a:rPr spc="-130" dirty="0"/>
              <a:t>Networks</a:t>
            </a:r>
          </a:p>
        </p:txBody>
      </p:sp>
      <p:graphicFrame>
        <p:nvGraphicFramePr>
          <p:cNvPr id="6" name="Table 5">
            <a:extLst>
              <a:ext uri="{FF2B5EF4-FFF2-40B4-BE49-F238E27FC236}">
                <a16:creationId xmlns:a16="http://schemas.microsoft.com/office/drawing/2014/main" id="{51A5A9B7-FA28-5AE9-7136-688301AE9122}"/>
              </a:ext>
            </a:extLst>
          </p:cNvPr>
          <p:cNvGraphicFramePr>
            <a:graphicFrameLocks noGrp="1"/>
          </p:cNvGraphicFramePr>
          <p:nvPr>
            <p:extLst>
              <p:ext uri="{D42A27DB-BD31-4B8C-83A1-F6EECF244321}">
                <p14:modId xmlns:p14="http://schemas.microsoft.com/office/powerpoint/2010/main" val="1878880893"/>
              </p:ext>
            </p:extLst>
          </p:nvPr>
        </p:nvGraphicFramePr>
        <p:xfrm>
          <a:off x="152400" y="1396999"/>
          <a:ext cx="8691117" cy="1879600"/>
        </p:xfrm>
        <a:graphic>
          <a:graphicData uri="http://schemas.openxmlformats.org/drawingml/2006/table">
            <a:tbl>
              <a:tblPr firstRow="1" bandRow="1">
                <a:tableStyleId>{073A0DAA-6AF3-43AB-8588-CEC1D06C72B9}</a:tableStyleId>
              </a:tblPr>
              <a:tblGrid>
                <a:gridCol w="2897039">
                  <a:extLst>
                    <a:ext uri="{9D8B030D-6E8A-4147-A177-3AD203B41FA5}">
                      <a16:colId xmlns:a16="http://schemas.microsoft.com/office/drawing/2014/main" val="141148413"/>
                    </a:ext>
                  </a:extLst>
                </a:gridCol>
                <a:gridCol w="2897039">
                  <a:extLst>
                    <a:ext uri="{9D8B030D-6E8A-4147-A177-3AD203B41FA5}">
                      <a16:colId xmlns:a16="http://schemas.microsoft.com/office/drawing/2014/main" val="1938338005"/>
                    </a:ext>
                  </a:extLst>
                </a:gridCol>
                <a:gridCol w="2897039">
                  <a:extLst>
                    <a:ext uri="{9D8B030D-6E8A-4147-A177-3AD203B41FA5}">
                      <a16:colId xmlns:a16="http://schemas.microsoft.com/office/drawing/2014/main" val="3677047803"/>
                    </a:ext>
                  </a:extLst>
                </a:gridCol>
              </a:tblGrid>
              <a:tr h="375920">
                <a:tc>
                  <a:txBody>
                    <a:bodyPr/>
                    <a:lstStyle/>
                    <a:p>
                      <a:pPr lvl="0" algn="ctr"/>
                      <a:r>
                        <a:rPr lang="en-IN" dirty="0">
                          <a:solidFill>
                            <a:schemeClr val="tx1"/>
                          </a:solidFill>
                        </a:rPr>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solidFill>
                            <a:schemeClr val="tx1"/>
                          </a:solidFill>
                        </a:rPr>
                        <a:t>WLANs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solidFill>
                        </a:rPr>
                        <a:t>Cordless Phones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0360825"/>
                  </a:ext>
                </a:extLst>
              </a:tr>
              <a:tr h="375920">
                <a:tc>
                  <a:txBody>
                    <a:bodyPr/>
                    <a:lstStyle/>
                    <a:p>
                      <a:r>
                        <a:rPr lang="en-IN" dirty="0"/>
                        <a:t>Purpose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Wireless internet access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Voice communication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033713"/>
                  </a:ext>
                </a:extLst>
              </a:tr>
              <a:tr h="375920">
                <a:tc>
                  <a:txBody>
                    <a:bodyPr/>
                    <a:lstStyle/>
                    <a:p>
                      <a:r>
                        <a:rPr lang="en-IN" dirty="0"/>
                        <a:t>Data Rate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Mbps to Gbps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≤64 Kbit/s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3776311"/>
                  </a:ext>
                </a:extLst>
              </a:tr>
              <a:tr h="375920">
                <a:tc>
                  <a:txBody>
                    <a:bodyPr/>
                    <a:lstStyle/>
                    <a:p>
                      <a:r>
                        <a:rPr lang="en-IN" dirty="0"/>
                        <a:t>Coverage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30–100 meters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50–300 meters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7341128"/>
                  </a:ext>
                </a:extLst>
              </a:tr>
              <a:tr h="375920">
                <a:tc>
                  <a:txBody>
                    <a:bodyPr/>
                    <a:lstStyle/>
                    <a:p>
                      <a:r>
                        <a:rPr lang="en-IN" dirty="0"/>
                        <a:t>Network</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Connects to the internet</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Connects to PSTN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600196"/>
                  </a:ext>
                </a:extLst>
              </a:tr>
            </a:tbl>
          </a:graphicData>
        </a:graphic>
      </p:graphicFrame>
      <p:sp>
        <p:nvSpPr>
          <p:cNvPr id="7" name="TextBox 6">
            <a:extLst>
              <a:ext uri="{FF2B5EF4-FFF2-40B4-BE49-F238E27FC236}">
                <a16:creationId xmlns:a16="http://schemas.microsoft.com/office/drawing/2014/main" id="{3D23FD8F-2775-4FB2-5278-AC5DF23DE19F}"/>
              </a:ext>
            </a:extLst>
          </p:cNvPr>
          <p:cNvSpPr txBox="1"/>
          <p:nvPr/>
        </p:nvSpPr>
        <p:spPr>
          <a:xfrm>
            <a:off x="152400" y="3429000"/>
            <a:ext cx="8911462" cy="2585323"/>
          </a:xfrm>
          <a:prstGeom prst="rect">
            <a:avLst/>
          </a:prstGeom>
          <a:noFill/>
        </p:spPr>
        <p:txBody>
          <a:bodyPr wrap="square" rtlCol="0">
            <a:spAutoFit/>
          </a:bodyPr>
          <a:lstStyle/>
          <a:p>
            <a:pPr>
              <a:buNone/>
            </a:pPr>
            <a:r>
              <a:rPr lang="en-US" b="1" dirty="0"/>
              <a:t>Applications of WLANs</a:t>
            </a:r>
          </a:p>
          <a:p>
            <a:pPr>
              <a:buFont typeface="Arial" panose="020B0604020202020204" pitchFamily="34" charset="0"/>
              <a:buChar char="•"/>
            </a:pPr>
            <a:r>
              <a:rPr lang="en-US" b="1" dirty="0"/>
              <a:t>Home and Office Networks</a:t>
            </a:r>
            <a:r>
              <a:rPr lang="en-US" dirty="0"/>
              <a:t> – Provides seamless internet access to multiple users.</a:t>
            </a:r>
          </a:p>
          <a:p>
            <a:pPr>
              <a:buFont typeface="Arial" panose="020B0604020202020204" pitchFamily="34" charset="0"/>
              <a:buChar char="•"/>
            </a:pPr>
            <a:r>
              <a:rPr lang="en-US" b="1" dirty="0"/>
              <a:t>Public Wi-Fi Hotspots</a:t>
            </a:r>
            <a:r>
              <a:rPr lang="en-US" dirty="0"/>
              <a:t> – Used in airports, cafes, and shopping malls.</a:t>
            </a:r>
          </a:p>
          <a:p>
            <a:pPr>
              <a:buFont typeface="Arial" panose="020B0604020202020204" pitchFamily="34" charset="0"/>
              <a:buChar char="•"/>
            </a:pPr>
            <a:r>
              <a:rPr lang="en-US" b="1" dirty="0"/>
              <a:t>Enterprise Networks</a:t>
            </a:r>
            <a:r>
              <a:rPr lang="en-US" dirty="0"/>
              <a:t> – Supports internal communications and cloud-based applications.</a:t>
            </a:r>
          </a:p>
          <a:p>
            <a:r>
              <a:rPr lang="en-US" dirty="0"/>
              <a:t>In </a:t>
            </a:r>
            <a:r>
              <a:rPr lang="en-US" b="1" dirty="0"/>
              <a:t>Wireless and Mobile Communication</a:t>
            </a:r>
            <a:r>
              <a:rPr lang="en-US" dirty="0"/>
              <a:t>, WLANs are studied under </a:t>
            </a:r>
            <a:r>
              <a:rPr lang="en-US" b="1" dirty="0"/>
              <a:t>wireless networking protocols, data transmission rates, frequency spectrum utilization, and security mechanisms</a:t>
            </a:r>
            <a:r>
              <a:rPr lang="en-US" dirty="0"/>
              <a:t> like encryption (WPA2, WPA3).</a:t>
            </a:r>
          </a:p>
          <a:p>
            <a:endParaRPr lang="en-IN" dirty="0"/>
          </a:p>
        </p:txBody>
      </p:sp>
    </p:spTree>
    <p:extLst>
      <p:ext uri="{BB962C8B-B14F-4D97-AF65-F5344CB8AC3E}">
        <p14:creationId xmlns:p14="http://schemas.microsoft.com/office/powerpoint/2010/main" val="953507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675245" cy="3757295"/>
          </a:xfrm>
          <a:prstGeom prst="rect">
            <a:avLst/>
          </a:prstGeom>
        </p:spPr>
        <p:txBody>
          <a:bodyPr vert="horz" wrap="square" lIns="0" tIns="12700" rIns="0" bIns="0" rtlCol="0">
            <a:spAutoFit/>
          </a:bodyPr>
          <a:lstStyle/>
          <a:p>
            <a:pPr marL="355600" marR="1574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When the</a:t>
            </a:r>
            <a:r>
              <a:rPr sz="2400" spc="-20" dirty="0">
                <a:latin typeface="Times New Roman"/>
                <a:cs typeface="Times New Roman"/>
              </a:rPr>
              <a:t> </a:t>
            </a:r>
            <a:r>
              <a:rPr sz="2400" dirty="0">
                <a:latin typeface="Times New Roman"/>
                <a:cs typeface="Times New Roman"/>
              </a:rPr>
              <a:t>coverage</a:t>
            </a:r>
            <a:r>
              <a:rPr sz="2400" spc="-30" dirty="0">
                <a:latin typeface="Times New Roman"/>
                <a:cs typeface="Times New Roman"/>
              </a:rPr>
              <a:t> </a:t>
            </a:r>
            <a:r>
              <a:rPr sz="2400" dirty="0">
                <a:latin typeface="Times New Roman"/>
                <a:cs typeface="Times New Roman"/>
              </a:rPr>
              <a:t>area</a:t>
            </a:r>
            <a:r>
              <a:rPr sz="2400" spc="-30" dirty="0">
                <a:latin typeface="Times New Roman"/>
                <a:cs typeface="Times New Roman"/>
              </a:rPr>
              <a:t> </a:t>
            </a:r>
            <a:r>
              <a:rPr sz="2400" dirty="0">
                <a:latin typeface="Times New Roman"/>
                <a:cs typeface="Times New Roman"/>
              </a:rPr>
              <a:t>becomes</a:t>
            </a:r>
            <a:r>
              <a:rPr sz="2400" spc="-10" dirty="0">
                <a:latin typeface="Times New Roman"/>
                <a:cs typeface="Times New Roman"/>
              </a:rPr>
              <a:t> </a:t>
            </a:r>
            <a:r>
              <a:rPr sz="2400" dirty="0">
                <a:latin typeface="Times New Roman"/>
                <a:cs typeface="Times New Roman"/>
              </a:rPr>
              <a:t>even</a:t>
            </a:r>
            <a:r>
              <a:rPr sz="2400" spc="-20" dirty="0">
                <a:latin typeface="Times New Roman"/>
                <a:cs typeface="Times New Roman"/>
              </a:rPr>
              <a:t> </a:t>
            </a:r>
            <a:r>
              <a:rPr sz="2400" dirty="0">
                <a:latin typeface="Times New Roman"/>
                <a:cs typeface="Times New Roman"/>
              </a:rPr>
              <a:t>smaller</a:t>
            </a:r>
            <a:r>
              <a:rPr sz="2400" spc="-5" dirty="0">
                <a:latin typeface="Times New Roman"/>
                <a:cs typeface="Times New Roman"/>
              </a:rPr>
              <a:t> </a:t>
            </a:r>
            <a:r>
              <a:rPr sz="2400" dirty="0">
                <a:latin typeface="Times New Roman"/>
                <a:cs typeface="Times New Roman"/>
              </a:rPr>
              <a:t>than</a:t>
            </a:r>
            <a:r>
              <a:rPr sz="2400" spc="-35" dirty="0">
                <a:latin typeface="Times New Roman"/>
                <a:cs typeface="Times New Roman"/>
              </a:rPr>
              <a:t> </a:t>
            </a:r>
            <a:r>
              <a:rPr sz="2400" dirty="0">
                <a:latin typeface="Times New Roman"/>
                <a:cs typeface="Times New Roman"/>
              </a:rPr>
              <a:t>that</a:t>
            </a:r>
            <a:r>
              <a:rPr sz="2400" spc="-30" dirty="0">
                <a:latin typeface="Times New Roman"/>
                <a:cs typeface="Times New Roman"/>
              </a:rPr>
              <a:t> </a:t>
            </a:r>
            <a:r>
              <a:rPr sz="2400" spc="-25" dirty="0">
                <a:latin typeface="Times New Roman"/>
                <a:cs typeface="Times New Roman"/>
              </a:rPr>
              <a:t>of </a:t>
            </a:r>
            <a:r>
              <a:rPr sz="2400" dirty="0">
                <a:latin typeface="Times New Roman"/>
                <a:cs typeface="Times New Roman"/>
              </a:rPr>
              <a:t>WLANs,</a:t>
            </a:r>
            <a:r>
              <a:rPr sz="2400" spc="-20" dirty="0">
                <a:latin typeface="Times New Roman"/>
                <a:cs typeface="Times New Roman"/>
              </a:rPr>
              <a:t> </a:t>
            </a:r>
            <a:r>
              <a:rPr sz="2400" dirty="0">
                <a:latin typeface="Times New Roman"/>
                <a:cs typeface="Times New Roman"/>
              </a:rPr>
              <a:t>we</a:t>
            </a:r>
            <a:r>
              <a:rPr sz="2400" spc="-35" dirty="0">
                <a:latin typeface="Times New Roman"/>
                <a:cs typeface="Times New Roman"/>
              </a:rPr>
              <a:t> </a:t>
            </a:r>
            <a:r>
              <a:rPr sz="2400" dirty="0">
                <a:latin typeface="Times New Roman"/>
                <a:cs typeface="Times New Roman"/>
              </a:rPr>
              <a:t>speak</a:t>
            </a:r>
            <a:r>
              <a:rPr sz="2400" spc="-3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Personal</a:t>
            </a:r>
            <a:r>
              <a:rPr sz="2400" spc="-150" dirty="0">
                <a:latin typeface="Times New Roman"/>
                <a:cs typeface="Times New Roman"/>
              </a:rPr>
              <a:t> </a:t>
            </a:r>
            <a:r>
              <a:rPr sz="2400" dirty="0">
                <a:latin typeface="Times New Roman"/>
                <a:cs typeface="Times New Roman"/>
              </a:rPr>
              <a:t>Area</a:t>
            </a:r>
            <a:r>
              <a:rPr sz="2400" spc="-45" dirty="0">
                <a:latin typeface="Times New Roman"/>
                <a:cs typeface="Times New Roman"/>
              </a:rPr>
              <a:t> </a:t>
            </a:r>
            <a:r>
              <a:rPr sz="2400" dirty="0">
                <a:latin typeface="Times New Roman"/>
                <a:cs typeface="Times New Roman"/>
              </a:rPr>
              <a:t>Networks</a:t>
            </a:r>
            <a:r>
              <a:rPr sz="2400" spc="-30" dirty="0">
                <a:latin typeface="Times New Roman"/>
                <a:cs typeface="Times New Roman"/>
              </a:rPr>
              <a:t> </a:t>
            </a:r>
            <a:r>
              <a:rPr sz="2400" spc="-10" dirty="0">
                <a:latin typeface="Times New Roman"/>
                <a:cs typeface="Times New Roman"/>
              </a:rPr>
              <a:t>(PANs).</a:t>
            </a:r>
            <a:endParaRPr sz="2400">
              <a:latin typeface="Times New Roman"/>
              <a:cs typeface="Times New Roman"/>
            </a:endParaRPr>
          </a:p>
          <a:p>
            <a:pPr marL="355600" marR="994410" indent="-342900">
              <a:lnSpc>
                <a:spcPct val="100000"/>
              </a:lnSpc>
              <a:spcBef>
                <a:spcPts val="575"/>
              </a:spcBef>
              <a:buClr>
                <a:srgbClr val="0F1141"/>
              </a:buClr>
              <a:buFont typeface="Arial MT"/>
              <a:buChar char="•"/>
              <a:tabLst>
                <a:tab pos="355600" algn="l"/>
              </a:tabLst>
            </a:pPr>
            <a:r>
              <a:rPr sz="2400" dirty="0">
                <a:latin typeface="Times New Roman"/>
                <a:cs typeface="Times New Roman"/>
              </a:rPr>
              <a:t>Such</a:t>
            </a:r>
            <a:r>
              <a:rPr sz="2400" spc="-25" dirty="0">
                <a:latin typeface="Times New Roman"/>
                <a:cs typeface="Times New Roman"/>
              </a:rPr>
              <a:t> </a:t>
            </a:r>
            <a:r>
              <a:rPr sz="2400" dirty="0">
                <a:latin typeface="Times New Roman"/>
                <a:cs typeface="Times New Roman"/>
              </a:rPr>
              <a:t>networks</a:t>
            </a:r>
            <a:r>
              <a:rPr sz="2400" spc="-25" dirty="0">
                <a:latin typeface="Times New Roman"/>
                <a:cs typeface="Times New Roman"/>
              </a:rPr>
              <a:t> </a:t>
            </a:r>
            <a:r>
              <a:rPr sz="2400" dirty="0">
                <a:latin typeface="Times New Roman"/>
                <a:cs typeface="Times New Roman"/>
              </a:rPr>
              <a:t>are</a:t>
            </a:r>
            <a:r>
              <a:rPr sz="2400" spc="-30" dirty="0">
                <a:latin typeface="Times New Roman"/>
                <a:cs typeface="Times New Roman"/>
              </a:rPr>
              <a:t> </a:t>
            </a:r>
            <a:r>
              <a:rPr sz="2400" dirty="0">
                <a:latin typeface="Times New Roman"/>
                <a:cs typeface="Times New Roman"/>
              </a:rPr>
              <a:t>mostly</a:t>
            </a:r>
            <a:r>
              <a:rPr sz="2400" spc="-20" dirty="0">
                <a:latin typeface="Times New Roman"/>
                <a:cs typeface="Times New Roman"/>
              </a:rPr>
              <a:t> </a:t>
            </a:r>
            <a:r>
              <a:rPr sz="2400" dirty="0">
                <a:latin typeface="Times New Roman"/>
                <a:cs typeface="Times New Roman"/>
              </a:rPr>
              <a:t>intended</a:t>
            </a:r>
            <a:r>
              <a:rPr sz="2400" spc="-55"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simple</a:t>
            </a:r>
            <a:r>
              <a:rPr sz="2400" spc="-30" dirty="0">
                <a:latin typeface="Times New Roman"/>
                <a:cs typeface="Times New Roman"/>
              </a:rPr>
              <a:t> </a:t>
            </a:r>
            <a:r>
              <a:rPr sz="2400" spc="-10" dirty="0">
                <a:latin typeface="Times New Roman"/>
                <a:cs typeface="Times New Roman"/>
              </a:rPr>
              <a:t>cable </a:t>
            </a:r>
            <a:r>
              <a:rPr sz="2400" dirty="0">
                <a:latin typeface="Times New Roman"/>
                <a:cs typeface="Times New Roman"/>
              </a:rPr>
              <a:t>replacement</a:t>
            </a:r>
            <a:r>
              <a:rPr sz="2400" spc="-50" dirty="0">
                <a:latin typeface="Times New Roman"/>
                <a:cs typeface="Times New Roman"/>
              </a:rPr>
              <a:t> </a:t>
            </a:r>
            <a:r>
              <a:rPr sz="2400" spc="-10" dirty="0">
                <a:latin typeface="Times New Roman"/>
                <a:cs typeface="Times New Roman"/>
              </a:rPr>
              <a:t>duties.</a:t>
            </a:r>
            <a:endParaRPr sz="2400">
              <a:latin typeface="Times New Roman"/>
              <a:cs typeface="Times New Roman"/>
            </a:endParaRPr>
          </a:p>
          <a:p>
            <a:pPr>
              <a:lnSpc>
                <a:spcPct val="100000"/>
              </a:lnSpc>
              <a:spcBef>
                <a:spcPts val="700"/>
              </a:spcBef>
            </a:pPr>
            <a:endParaRPr sz="2400">
              <a:latin typeface="Times New Roman"/>
              <a:cs typeface="Times New Roman"/>
            </a:endParaRPr>
          </a:p>
          <a:p>
            <a:pPr marL="12700" marR="5080">
              <a:lnSpc>
                <a:spcPct val="120000"/>
              </a:lnSpc>
            </a:pP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example,</a:t>
            </a:r>
            <a:r>
              <a:rPr sz="2400" spc="-20" dirty="0">
                <a:latin typeface="Times New Roman"/>
                <a:cs typeface="Times New Roman"/>
              </a:rPr>
              <a:t> </a:t>
            </a:r>
            <a:r>
              <a:rPr sz="2400" dirty="0">
                <a:latin typeface="Times New Roman"/>
                <a:cs typeface="Times New Roman"/>
              </a:rPr>
              <a:t>devices</a:t>
            </a:r>
            <a:r>
              <a:rPr sz="2400" spc="-30" dirty="0">
                <a:latin typeface="Times New Roman"/>
                <a:cs typeface="Times New Roman"/>
              </a:rPr>
              <a:t> </a:t>
            </a:r>
            <a:r>
              <a:rPr sz="2400" dirty="0">
                <a:latin typeface="Times New Roman"/>
                <a:cs typeface="Times New Roman"/>
              </a:rPr>
              <a:t>following</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Bluetooth</a:t>
            </a:r>
            <a:r>
              <a:rPr sz="2400" spc="-45" dirty="0">
                <a:latin typeface="Times New Roman"/>
                <a:cs typeface="Times New Roman"/>
              </a:rPr>
              <a:t> </a:t>
            </a:r>
            <a:r>
              <a:rPr sz="2400" dirty="0">
                <a:latin typeface="Times New Roman"/>
                <a:cs typeface="Times New Roman"/>
              </a:rPr>
              <a:t>standard</a:t>
            </a:r>
            <a:r>
              <a:rPr sz="2400" spc="-20" dirty="0">
                <a:latin typeface="Times New Roman"/>
                <a:cs typeface="Times New Roman"/>
              </a:rPr>
              <a:t> </a:t>
            </a:r>
            <a:r>
              <a:rPr sz="2400" spc="-10" dirty="0">
                <a:latin typeface="Times New Roman"/>
                <a:cs typeface="Times New Roman"/>
              </a:rPr>
              <a:t>allow </a:t>
            </a:r>
            <a:r>
              <a:rPr sz="2400" dirty="0">
                <a:latin typeface="Times New Roman"/>
                <a:cs typeface="Times New Roman"/>
              </a:rPr>
              <a:t>connecting</a:t>
            </a:r>
            <a:r>
              <a:rPr sz="2400" spc="-40" dirty="0">
                <a:latin typeface="Times New Roman"/>
                <a:cs typeface="Times New Roman"/>
              </a:rPr>
              <a:t> </a:t>
            </a:r>
            <a:r>
              <a:rPr sz="2400" dirty="0">
                <a:latin typeface="Times New Roman"/>
                <a:cs typeface="Times New Roman"/>
              </a:rPr>
              <a:t>a </a:t>
            </a:r>
            <a:r>
              <a:rPr sz="2400" spc="-10" dirty="0">
                <a:latin typeface="Times New Roman"/>
                <a:cs typeface="Times New Roman"/>
              </a:rPr>
              <a:t>hands-</a:t>
            </a:r>
            <a:r>
              <a:rPr sz="2400" dirty="0">
                <a:latin typeface="Times New Roman"/>
                <a:cs typeface="Times New Roman"/>
              </a:rPr>
              <a:t>free</a:t>
            </a:r>
            <a:r>
              <a:rPr sz="2400" spc="-20" dirty="0">
                <a:latin typeface="Times New Roman"/>
                <a:cs typeface="Times New Roman"/>
              </a:rPr>
              <a:t> </a:t>
            </a:r>
            <a:r>
              <a:rPr sz="2400" dirty="0">
                <a:latin typeface="Times New Roman"/>
                <a:cs typeface="Times New Roman"/>
              </a:rPr>
              <a:t>headset</a:t>
            </a:r>
            <a:r>
              <a:rPr sz="2400" spc="-2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phone</a:t>
            </a:r>
            <a:r>
              <a:rPr sz="2400" spc="5" dirty="0">
                <a:latin typeface="Times New Roman"/>
                <a:cs typeface="Times New Roman"/>
              </a:rPr>
              <a:t> </a:t>
            </a:r>
            <a:r>
              <a:rPr sz="2400" dirty="0">
                <a:latin typeface="Times New Roman"/>
                <a:cs typeface="Times New Roman"/>
              </a:rPr>
              <a:t>without</a:t>
            </a:r>
            <a:r>
              <a:rPr sz="2400" spc="-20" dirty="0">
                <a:latin typeface="Times New Roman"/>
                <a:cs typeface="Times New Roman"/>
              </a:rPr>
              <a:t> </a:t>
            </a:r>
            <a:r>
              <a:rPr sz="2400" dirty="0">
                <a:latin typeface="Times New Roman"/>
                <a:cs typeface="Times New Roman"/>
              </a:rPr>
              <a:t>requiring</a:t>
            </a:r>
            <a:r>
              <a:rPr sz="2400" spc="-30" dirty="0">
                <a:latin typeface="Times New Roman"/>
                <a:cs typeface="Times New Roman"/>
              </a:rPr>
              <a:t> </a:t>
            </a:r>
            <a:r>
              <a:rPr sz="2400" spc="-50" dirty="0">
                <a:latin typeface="Times New Roman"/>
                <a:cs typeface="Times New Roman"/>
              </a:rPr>
              <a:t>a </a:t>
            </a:r>
            <a:r>
              <a:rPr sz="2400" dirty="0">
                <a:latin typeface="Times New Roman"/>
                <a:cs typeface="Times New Roman"/>
              </a:rPr>
              <a:t>cable;</a:t>
            </a:r>
            <a:r>
              <a:rPr sz="2400" spc="-5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case,</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distance</a:t>
            </a:r>
            <a:r>
              <a:rPr sz="2400" spc="-35" dirty="0">
                <a:latin typeface="Times New Roman"/>
                <a:cs typeface="Times New Roman"/>
              </a:rPr>
              <a:t> </a:t>
            </a:r>
            <a:r>
              <a:rPr sz="2400" dirty="0">
                <a:latin typeface="Times New Roman"/>
                <a:cs typeface="Times New Roman"/>
              </a:rPr>
              <a:t>between</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two devices</a:t>
            </a:r>
            <a:r>
              <a:rPr sz="2400" spc="-20" dirty="0">
                <a:latin typeface="Times New Roman"/>
                <a:cs typeface="Times New Roman"/>
              </a:rPr>
              <a:t> </a:t>
            </a:r>
            <a:r>
              <a:rPr sz="2400" dirty="0">
                <a:latin typeface="Times New Roman"/>
                <a:cs typeface="Times New Roman"/>
              </a:rPr>
              <a:t>is </a:t>
            </a:r>
            <a:r>
              <a:rPr sz="2400" spc="-20" dirty="0">
                <a:latin typeface="Times New Roman"/>
                <a:cs typeface="Times New Roman"/>
              </a:rPr>
              <a:t>less </a:t>
            </a:r>
            <a:r>
              <a:rPr sz="2400" dirty="0">
                <a:latin typeface="Times New Roman"/>
                <a:cs typeface="Times New Roman"/>
              </a:rPr>
              <a:t>than</a:t>
            </a:r>
            <a:r>
              <a:rPr sz="2400" spc="-15" dirty="0">
                <a:latin typeface="Times New Roman"/>
                <a:cs typeface="Times New Roman"/>
              </a:rPr>
              <a:t> </a:t>
            </a:r>
            <a:r>
              <a:rPr sz="2400" dirty="0">
                <a:latin typeface="Times New Roman"/>
                <a:cs typeface="Times New Roman"/>
              </a:rPr>
              <a:t>a</a:t>
            </a:r>
            <a:r>
              <a:rPr sz="2400" spc="-10" dirty="0">
                <a:latin typeface="Times New Roman"/>
                <a:cs typeface="Times New Roman"/>
              </a:rPr>
              <a:t> meter.</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5" dirty="0"/>
              <a:t>Personal</a:t>
            </a:r>
            <a:r>
              <a:rPr spc="-385" dirty="0"/>
              <a:t> </a:t>
            </a:r>
            <a:r>
              <a:rPr spc="-125" dirty="0"/>
              <a:t>Area</a:t>
            </a:r>
            <a:r>
              <a:rPr spc="-245" dirty="0"/>
              <a:t> </a:t>
            </a:r>
            <a:r>
              <a:rPr spc="-130" dirty="0"/>
              <a:t>Networks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A4366-61CC-DFBA-28E6-74984AC3B6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B7B6582-BE6E-961C-1037-F123B1A0CD69}"/>
              </a:ext>
            </a:extLst>
          </p:cNvPr>
          <p:cNvSpPr txBox="1"/>
          <p:nvPr/>
        </p:nvSpPr>
        <p:spPr>
          <a:xfrm>
            <a:off x="383540" y="1516507"/>
            <a:ext cx="7675245" cy="5196294"/>
          </a:xfrm>
          <a:prstGeom prst="rect">
            <a:avLst/>
          </a:prstGeom>
        </p:spPr>
        <p:txBody>
          <a:bodyPr vert="horz" wrap="square" lIns="0" tIns="12700" rIns="0" bIns="0" rtlCol="0">
            <a:spAutoFit/>
          </a:bodyPr>
          <a:lstStyle/>
          <a:p>
            <a:pPr marL="12700" marR="157480">
              <a:spcBef>
                <a:spcPts val="100"/>
              </a:spcBef>
              <a:buClr>
                <a:srgbClr val="0F1141"/>
              </a:buClr>
              <a:tabLst>
                <a:tab pos="355600" algn="l"/>
              </a:tabLst>
            </a:pPr>
            <a:r>
              <a:rPr lang="en-US" sz="1600" dirty="0"/>
              <a:t>Personal Area Networks (</a:t>
            </a:r>
            <a:r>
              <a:rPr lang="en-US" sz="1600" b="1" dirty="0"/>
              <a:t>PANs</a:t>
            </a:r>
            <a:r>
              <a:rPr lang="en-US" sz="1600" dirty="0"/>
              <a:t>) are the smallest type of wireless networks, designed for short-range communication between personal devices.</a:t>
            </a:r>
          </a:p>
          <a:p>
            <a:pPr>
              <a:buNone/>
            </a:pPr>
            <a:r>
              <a:rPr lang="en-US" sz="1600" b="1" dirty="0"/>
              <a:t>Characteristics of PANs</a:t>
            </a:r>
          </a:p>
          <a:p>
            <a:pPr>
              <a:buFont typeface="Arial" panose="020B0604020202020204" pitchFamily="34" charset="0"/>
              <a:buChar char="•"/>
            </a:pPr>
            <a:r>
              <a:rPr lang="en-US" sz="1600" b="1" dirty="0"/>
              <a:t>Smaller Coverage Area</a:t>
            </a:r>
            <a:r>
              <a:rPr lang="en-US" sz="1600" dirty="0"/>
              <a:t>: Covers a few meters (typically </a:t>
            </a:r>
            <a:r>
              <a:rPr lang="en-US" sz="1600" b="1" dirty="0"/>
              <a:t>1–10 meters</a:t>
            </a:r>
            <a:r>
              <a:rPr lang="en-US" sz="1600" dirty="0"/>
              <a:t>), much smaller than </a:t>
            </a:r>
            <a:r>
              <a:rPr lang="en-US" sz="1600" b="1" dirty="0"/>
              <a:t>WLANs</a:t>
            </a:r>
            <a:r>
              <a:rPr lang="en-US" sz="1600" dirty="0"/>
              <a:t>.</a:t>
            </a:r>
          </a:p>
          <a:p>
            <a:pPr>
              <a:buFont typeface="Arial" panose="020B0604020202020204" pitchFamily="34" charset="0"/>
              <a:buChar char="•"/>
            </a:pPr>
            <a:r>
              <a:rPr lang="en-US" sz="1600" b="1" dirty="0"/>
              <a:t>Purpose</a:t>
            </a:r>
            <a:r>
              <a:rPr lang="en-US" sz="1600" dirty="0"/>
              <a:t>: Primarily used for </a:t>
            </a:r>
            <a:r>
              <a:rPr lang="en-US" sz="1600" b="1" dirty="0"/>
              <a:t>cable replacement</a:t>
            </a:r>
            <a:r>
              <a:rPr lang="en-US" sz="1600" dirty="0"/>
              <a:t>, enabling </a:t>
            </a:r>
            <a:r>
              <a:rPr lang="en-US" sz="1600" b="1" dirty="0"/>
              <a:t>wireless communication between personal devices</a:t>
            </a:r>
            <a:r>
              <a:rPr lang="en-US" sz="1600" dirty="0"/>
              <a:t>.</a:t>
            </a:r>
          </a:p>
          <a:p>
            <a:pPr>
              <a:buFont typeface="Arial" panose="020B0604020202020204" pitchFamily="34" charset="0"/>
              <a:buChar char="•"/>
            </a:pPr>
            <a:r>
              <a:rPr lang="en-US" sz="1600" b="1" dirty="0"/>
              <a:t>Technology Used</a:t>
            </a:r>
            <a:r>
              <a:rPr lang="en-US" sz="1600" dirty="0"/>
              <a:t>:</a:t>
            </a:r>
          </a:p>
          <a:p>
            <a:pPr marL="742950" lvl="1" indent="-285750">
              <a:buFont typeface="Arial" panose="020B0604020202020204" pitchFamily="34" charset="0"/>
              <a:buChar char="•"/>
            </a:pPr>
            <a:r>
              <a:rPr lang="en-US" sz="1600" b="1" dirty="0"/>
              <a:t>Bluetooth</a:t>
            </a:r>
            <a:r>
              <a:rPr lang="en-US" sz="1600" dirty="0"/>
              <a:t> (e.g., hands-free headsets, wireless keyboards, and smartwatches).</a:t>
            </a:r>
          </a:p>
          <a:p>
            <a:pPr marL="742950" lvl="1" indent="-285750">
              <a:buFont typeface="Arial" panose="020B0604020202020204" pitchFamily="34" charset="0"/>
              <a:buChar char="•"/>
            </a:pPr>
            <a:r>
              <a:rPr lang="en-US" sz="1600" b="1" dirty="0"/>
              <a:t>Infrared (IR)</a:t>
            </a:r>
            <a:r>
              <a:rPr lang="en-US" sz="1600" dirty="0"/>
              <a:t> (e.g., TV remotes, old file transfer systems).</a:t>
            </a:r>
          </a:p>
          <a:p>
            <a:pPr marL="742950" lvl="1" indent="-285750">
              <a:buFont typeface="Arial" panose="020B0604020202020204" pitchFamily="34" charset="0"/>
              <a:buChar char="•"/>
            </a:pPr>
            <a:r>
              <a:rPr lang="en-US" sz="1600" b="1" dirty="0"/>
              <a:t>Zigbee</a:t>
            </a:r>
            <a:r>
              <a:rPr lang="en-US" sz="1600" dirty="0"/>
              <a:t> (used in IoT devices for low-power, short-range communication).</a:t>
            </a:r>
          </a:p>
          <a:p>
            <a:pPr>
              <a:buFont typeface="Arial" panose="020B0604020202020204" pitchFamily="34" charset="0"/>
              <a:buChar char="•"/>
            </a:pPr>
            <a:r>
              <a:rPr lang="en-US" sz="1600" b="1" dirty="0"/>
              <a:t>Low Power Consumption</a:t>
            </a:r>
            <a:r>
              <a:rPr lang="en-US" sz="1600" dirty="0"/>
              <a:t>: Optimized for </a:t>
            </a:r>
            <a:r>
              <a:rPr lang="en-US" sz="1600" b="1" dirty="0"/>
              <a:t>low-energy</a:t>
            </a:r>
            <a:r>
              <a:rPr lang="en-US" sz="1600" dirty="0"/>
              <a:t> communication between devices.</a:t>
            </a:r>
          </a:p>
          <a:p>
            <a:pPr>
              <a:buNone/>
            </a:pPr>
            <a:r>
              <a:rPr lang="en-US" sz="1600" b="1" dirty="0"/>
              <a:t>Example Applications</a:t>
            </a:r>
          </a:p>
          <a:p>
            <a:pPr>
              <a:buFont typeface="Arial" panose="020B0604020202020204" pitchFamily="34" charset="0"/>
              <a:buChar char="•"/>
            </a:pPr>
            <a:r>
              <a:rPr lang="en-US" sz="1600" b="1" dirty="0"/>
              <a:t>Wireless Accessories</a:t>
            </a:r>
            <a:r>
              <a:rPr lang="en-US" sz="1600" dirty="0"/>
              <a:t>: Connecting Bluetooth headsets, speakers, keyboards, and mice.</a:t>
            </a:r>
          </a:p>
          <a:p>
            <a:pPr>
              <a:buFont typeface="Arial" panose="020B0604020202020204" pitchFamily="34" charset="0"/>
              <a:buChar char="•"/>
            </a:pPr>
            <a:r>
              <a:rPr lang="en-US" sz="1600" b="1" dirty="0"/>
              <a:t>IoT Devices</a:t>
            </a:r>
            <a:r>
              <a:rPr lang="en-US" sz="1600" dirty="0"/>
              <a:t>: Smart home automation (e.g., smart bulbs, fitness bands).</a:t>
            </a:r>
          </a:p>
          <a:p>
            <a:pPr>
              <a:buFont typeface="Arial" panose="020B0604020202020204" pitchFamily="34" charset="0"/>
              <a:buChar char="•"/>
            </a:pPr>
            <a:r>
              <a:rPr lang="en-US" sz="1600" b="1" dirty="0"/>
              <a:t>File Transfer</a:t>
            </a:r>
            <a:r>
              <a:rPr lang="en-US" sz="1600" dirty="0"/>
              <a:t>: Using Bluetooth to transfer files between mobile phones.</a:t>
            </a:r>
          </a:p>
          <a:p>
            <a:endParaRPr lang="en-US" sz="1600" dirty="0"/>
          </a:p>
          <a:p>
            <a:pPr marL="12700" marR="157480">
              <a:lnSpc>
                <a:spcPct val="100000"/>
              </a:lnSpc>
              <a:spcBef>
                <a:spcPts val="100"/>
              </a:spcBef>
              <a:buClr>
                <a:srgbClr val="0F1141"/>
              </a:buClr>
              <a:tabLst>
                <a:tab pos="355600" algn="l"/>
              </a:tabLst>
            </a:pPr>
            <a:endParaRPr sz="1600" dirty="0">
              <a:latin typeface="Times New Roman"/>
              <a:cs typeface="Times New Roman"/>
            </a:endParaRPr>
          </a:p>
        </p:txBody>
      </p:sp>
      <p:sp>
        <p:nvSpPr>
          <p:cNvPr id="4" name="object 4">
            <a:extLst>
              <a:ext uri="{FF2B5EF4-FFF2-40B4-BE49-F238E27FC236}">
                <a16:creationId xmlns:a16="http://schemas.microsoft.com/office/drawing/2014/main" id="{AA693730-2287-2D87-9ECB-A438418473F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30</a:t>
            </a:fld>
            <a:endParaRPr spc="-25" dirty="0"/>
          </a:p>
        </p:txBody>
      </p:sp>
      <p:sp>
        <p:nvSpPr>
          <p:cNvPr id="5" name="object 5">
            <a:extLst>
              <a:ext uri="{FF2B5EF4-FFF2-40B4-BE49-F238E27FC236}">
                <a16:creationId xmlns:a16="http://schemas.microsoft.com/office/drawing/2014/main" id="{7D28057A-027C-E9D2-5840-C38AA6937875}"/>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260F7CA2-55A2-AB2F-004D-1A0931F559CF}"/>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5" dirty="0"/>
              <a:t>Personal</a:t>
            </a:r>
            <a:r>
              <a:rPr spc="-385" dirty="0"/>
              <a:t> </a:t>
            </a:r>
            <a:r>
              <a:rPr spc="-125" dirty="0"/>
              <a:t>Area</a:t>
            </a:r>
            <a:r>
              <a:rPr spc="-245" dirty="0"/>
              <a:t> </a:t>
            </a:r>
            <a:r>
              <a:rPr spc="-130" dirty="0"/>
              <a:t>Networks</a:t>
            </a:r>
          </a:p>
        </p:txBody>
      </p:sp>
    </p:spTree>
    <p:extLst>
      <p:ext uri="{BB962C8B-B14F-4D97-AF65-F5344CB8AC3E}">
        <p14:creationId xmlns:p14="http://schemas.microsoft.com/office/powerpoint/2010/main" val="2066827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F807-68C3-5720-24F2-146D3712F3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626C6D-0234-A66B-7411-F706DA2062B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31</a:t>
            </a:fld>
            <a:endParaRPr spc="-25" dirty="0"/>
          </a:p>
        </p:txBody>
      </p:sp>
      <p:sp>
        <p:nvSpPr>
          <p:cNvPr id="5" name="object 5">
            <a:extLst>
              <a:ext uri="{FF2B5EF4-FFF2-40B4-BE49-F238E27FC236}">
                <a16:creationId xmlns:a16="http://schemas.microsoft.com/office/drawing/2014/main" id="{6484C42F-9A24-3EB1-C32F-D9330887BC33}"/>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717130F2-260F-CE57-EF62-1F4D89681090}"/>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5" dirty="0"/>
              <a:t>Personal</a:t>
            </a:r>
            <a:r>
              <a:rPr spc="-385" dirty="0"/>
              <a:t> </a:t>
            </a:r>
            <a:r>
              <a:rPr spc="-125" dirty="0"/>
              <a:t>Area</a:t>
            </a:r>
            <a:r>
              <a:rPr spc="-245" dirty="0"/>
              <a:t> </a:t>
            </a:r>
            <a:r>
              <a:rPr spc="-130" dirty="0"/>
              <a:t>Networks</a:t>
            </a:r>
          </a:p>
        </p:txBody>
      </p:sp>
      <p:graphicFrame>
        <p:nvGraphicFramePr>
          <p:cNvPr id="6" name="Table 5">
            <a:extLst>
              <a:ext uri="{FF2B5EF4-FFF2-40B4-BE49-F238E27FC236}">
                <a16:creationId xmlns:a16="http://schemas.microsoft.com/office/drawing/2014/main" id="{43CE3270-D201-6989-9188-20175180E9DB}"/>
              </a:ext>
            </a:extLst>
          </p:cNvPr>
          <p:cNvGraphicFramePr>
            <a:graphicFrameLocks noGrp="1"/>
          </p:cNvGraphicFramePr>
          <p:nvPr>
            <p:extLst>
              <p:ext uri="{D42A27DB-BD31-4B8C-83A1-F6EECF244321}">
                <p14:modId xmlns:p14="http://schemas.microsoft.com/office/powerpoint/2010/main" val="4104649108"/>
              </p:ext>
            </p:extLst>
          </p:nvPr>
        </p:nvGraphicFramePr>
        <p:xfrm>
          <a:off x="304800" y="1325880"/>
          <a:ext cx="8312151" cy="2103120"/>
        </p:xfrm>
        <a:graphic>
          <a:graphicData uri="http://schemas.openxmlformats.org/drawingml/2006/table">
            <a:tbl>
              <a:tblPr/>
              <a:tblGrid>
                <a:gridCol w="2770717">
                  <a:extLst>
                    <a:ext uri="{9D8B030D-6E8A-4147-A177-3AD203B41FA5}">
                      <a16:colId xmlns:a16="http://schemas.microsoft.com/office/drawing/2014/main" val="859626564"/>
                    </a:ext>
                  </a:extLst>
                </a:gridCol>
                <a:gridCol w="2770717">
                  <a:extLst>
                    <a:ext uri="{9D8B030D-6E8A-4147-A177-3AD203B41FA5}">
                      <a16:colId xmlns:a16="http://schemas.microsoft.com/office/drawing/2014/main" val="1697444547"/>
                    </a:ext>
                  </a:extLst>
                </a:gridCol>
                <a:gridCol w="2770717">
                  <a:extLst>
                    <a:ext uri="{9D8B030D-6E8A-4147-A177-3AD203B41FA5}">
                      <a16:colId xmlns:a16="http://schemas.microsoft.com/office/drawing/2014/main" val="3350175687"/>
                    </a:ext>
                  </a:extLst>
                </a:gridCol>
              </a:tblGrid>
              <a:tr h="365760">
                <a:tc>
                  <a:txBody>
                    <a:bodyPr/>
                    <a:lstStyle/>
                    <a:p>
                      <a:r>
                        <a:rPr lang="en-IN" sz="1800"/>
                        <a:t>Feature</a:t>
                      </a:r>
                    </a:p>
                  </a:txBody>
                  <a:tcPr anchor="ctr">
                    <a:lnL>
                      <a:noFill/>
                    </a:lnL>
                    <a:lnR>
                      <a:noFill/>
                    </a:lnR>
                    <a:lnT>
                      <a:noFill/>
                    </a:lnT>
                    <a:lnB>
                      <a:noFill/>
                    </a:lnB>
                    <a:noFill/>
                  </a:tcPr>
                </a:tc>
                <a:tc>
                  <a:txBody>
                    <a:bodyPr/>
                    <a:lstStyle/>
                    <a:p>
                      <a:r>
                        <a:rPr lang="en-IN" sz="1800"/>
                        <a:t>PANs</a:t>
                      </a:r>
                    </a:p>
                  </a:txBody>
                  <a:tcPr anchor="ctr">
                    <a:lnL>
                      <a:noFill/>
                    </a:lnL>
                    <a:lnR>
                      <a:noFill/>
                    </a:lnR>
                    <a:lnT>
                      <a:noFill/>
                    </a:lnT>
                    <a:lnB>
                      <a:noFill/>
                    </a:lnB>
                    <a:noFill/>
                  </a:tcPr>
                </a:tc>
                <a:tc>
                  <a:txBody>
                    <a:bodyPr/>
                    <a:lstStyle/>
                    <a:p>
                      <a:r>
                        <a:rPr lang="en-IN" sz="1800"/>
                        <a:t>WLANs</a:t>
                      </a:r>
                    </a:p>
                  </a:txBody>
                  <a:tcPr anchor="ctr">
                    <a:lnL>
                      <a:noFill/>
                    </a:lnL>
                    <a:lnR>
                      <a:noFill/>
                    </a:lnR>
                    <a:lnT>
                      <a:noFill/>
                    </a:lnT>
                    <a:lnB>
                      <a:noFill/>
                    </a:lnB>
                    <a:noFill/>
                  </a:tcPr>
                </a:tc>
                <a:extLst>
                  <a:ext uri="{0D108BD9-81ED-4DB2-BD59-A6C34878D82A}">
                    <a16:rowId xmlns:a16="http://schemas.microsoft.com/office/drawing/2014/main" val="1589122632"/>
                  </a:ext>
                </a:extLst>
              </a:tr>
              <a:tr h="365760">
                <a:tc>
                  <a:txBody>
                    <a:bodyPr/>
                    <a:lstStyle/>
                    <a:p>
                      <a:r>
                        <a:rPr lang="en-IN" sz="1800" b="1"/>
                        <a:t>Coverage</a:t>
                      </a:r>
                      <a:endParaRPr lang="en-IN" sz="1800"/>
                    </a:p>
                  </a:txBody>
                  <a:tcPr anchor="ctr">
                    <a:lnL>
                      <a:noFill/>
                    </a:lnL>
                    <a:lnR>
                      <a:noFill/>
                    </a:lnR>
                    <a:lnT>
                      <a:noFill/>
                    </a:lnT>
                    <a:lnB>
                      <a:noFill/>
                    </a:lnB>
                    <a:noFill/>
                  </a:tcPr>
                </a:tc>
                <a:tc>
                  <a:txBody>
                    <a:bodyPr/>
                    <a:lstStyle/>
                    <a:p>
                      <a:r>
                        <a:rPr lang="en-IN" sz="1800"/>
                        <a:t>1–10 meters</a:t>
                      </a:r>
                    </a:p>
                  </a:txBody>
                  <a:tcPr anchor="ctr">
                    <a:lnL>
                      <a:noFill/>
                    </a:lnL>
                    <a:lnR>
                      <a:noFill/>
                    </a:lnR>
                    <a:lnT>
                      <a:noFill/>
                    </a:lnT>
                    <a:lnB>
                      <a:noFill/>
                    </a:lnB>
                    <a:noFill/>
                  </a:tcPr>
                </a:tc>
                <a:tc>
                  <a:txBody>
                    <a:bodyPr/>
                    <a:lstStyle/>
                    <a:p>
                      <a:r>
                        <a:rPr lang="en-IN" sz="1800"/>
                        <a:t>30–100 meters</a:t>
                      </a:r>
                    </a:p>
                  </a:txBody>
                  <a:tcPr anchor="ctr">
                    <a:lnL>
                      <a:noFill/>
                    </a:lnL>
                    <a:lnR>
                      <a:noFill/>
                    </a:lnR>
                    <a:lnT>
                      <a:noFill/>
                    </a:lnT>
                    <a:lnB>
                      <a:noFill/>
                    </a:lnB>
                    <a:noFill/>
                  </a:tcPr>
                </a:tc>
                <a:extLst>
                  <a:ext uri="{0D108BD9-81ED-4DB2-BD59-A6C34878D82A}">
                    <a16:rowId xmlns:a16="http://schemas.microsoft.com/office/drawing/2014/main" val="758747286"/>
                  </a:ext>
                </a:extLst>
              </a:tr>
              <a:tr h="365760">
                <a:tc>
                  <a:txBody>
                    <a:bodyPr/>
                    <a:lstStyle/>
                    <a:p>
                      <a:r>
                        <a:rPr lang="en-IN" sz="1800" b="1"/>
                        <a:t>Technology</a:t>
                      </a:r>
                      <a:endParaRPr lang="en-IN" sz="1800"/>
                    </a:p>
                  </a:txBody>
                  <a:tcPr anchor="ctr">
                    <a:lnL>
                      <a:noFill/>
                    </a:lnL>
                    <a:lnR>
                      <a:noFill/>
                    </a:lnR>
                    <a:lnT>
                      <a:noFill/>
                    </a:lnT>
                    <a:lnB>
                      <a:noFill/>
                    </a:lnB>
                    <a:noFill/>
                  </a:tcPr>
                </a:tc>
                <a:tc>
                  <a:txBody>
                    <a:bodyPr/>
                    <a:lstStyle/>
                    <a:p>
                      <a:r>
                        <a:rPr lang="en-IN" sz="1800"/>
                        <a:t>Bluetooth, Zigbee, IR</a:t>
                      </a:r>
                    </a:p>
                  </a:txBody>
                  <a:tcPr anchor="ctr">
                    <a:lnL>
                      <a:noFill/>
                    </a:lnL>
                    <a:lnR>
                      <a:noFill/>
                    </a:lnR>
                    <a:lnT>
                      <a:noFill/>
                    </a:lnT>
                    <a:lnB>
                      <a:noFill/>
                    </a:lnB>
                    <a:noFill/>
                  </a:tcPr>
                </a:tc>
                <a:tc>
                  <a:txBody>
                    <a:bodyPr/>
                    <a:lstStyle/>
                    <a:p>
                      <a:r>
                        <a:rPr lang="en-IN" sz="1800"/>
                        <a:t>Wi-Fi (IEEE 802.11)</a:t>
                      </a:r>
                    </a:p>
                  </a:txBody>
                  <a:tcPr anchor="ctr">
                    <a:lnL>
                      <a:noFill/>
                    </a:lnL>
                    <a:lnR>
                      <a:noFill/>
                    </a:lnR>
                    <a:lnT>
                      <a:noFill/>
                    </a:lnT>
                    <a:lnB>
                      <a:noFill/>
                    </a:lnB>
                    <a:noFill/>
                  </a:tcPr>
                </a:tc>
                <a:extLst>
                  <a:ext uri="{0D108BD9-81ED-4DB2-BD59-A6C34878D82A}">
                    <a16:rowId xmlns:a16="http://schemas.microsoft.com/office/drawing/2014/main" val="564063452"/>
                  </a:ext>
                </a:extLst>
              </a:tr>
              <a:tr h="640080">
                <a:tc>
                  <a:txBody>
                    <a:bodyPr/>
                    <a:lstStyle/>
                    <a:p>
                      <a:r>
                        <a:rPr lang="en-IN" sz="1800" b="1"/>
                        <a:t>Purpose</a:t>
                      </a:r>
                      <a:endParaRPr lang="en-IN" sz="1800"/>
                    </a:p>
                  </a:txBody>
                  <a:tcPr anchor="ctr">
                    <a:lnL>
                      <a:noFill/>
                    </a:lnL>
                    <a:lnR>
                      <a:noFill/>
                    </a:lnR>
                    <a:lnT>
                      <a:noFill/>
                    </a:lnT>
                    <a:lnB>
                      <a:noFill/>
                    </a:lnB>
                    <a:noFill/>
                  </a:tcPr>
                </a:tc>
                <a:tc>
                  <a:txBody>
                    <a:bodyPr/>
                    <a:lstStyle/>
                    <a:p>
                      <a:r>
                        <a:rPr lang="en-IN" sz="1800"/>
                        <a:t>Personal device connectivity</a:t>
                      </a:r>
                    </a:p>
                  </a:txBody>
                  <a:tcPr anchor="ctr">
                    <a:lnL>
                      <a:noFill/>
                    </a:lnL>
                    <a:lnR>
                      <a:noFill/>
                    </a:lnR>
                    <a:lnT>
                      <a:noFill/>
                    </a:lnT>
                    <a:lnB>
                      <a:noFill/>
                    </a:lnB>
                    <a:noFill/>
                  </a:tcPr>
                </a:tc>
                <a:tc>
                  <a:txBody>
                    <a:bodyPr/>
                    <a:lstStyle/>
                    <a:p>
                      <a:r>
                        <a:rPr lang="en-US" sz="1800"/>
                        <a:t>Internet access for multiple users</a:t>
                      </a:r>
                    </a:p>
                  </a:txBody>
                  <a:tcPr anchor="ctr">
                    <a:lnL>
                      <a:noFill/>
                    </a:lnL>
                    <a:lnR>
                      <a:noFill/>
                    </a:lnR>
                    <a:lnT>
                      <a:noFill/>
                    </a:lnT>
                    <a:lnB>
                      <a:noFill/>
                    </a:lnB>
                    <a:noFill/>
                  </a:tcPr>
                </a:tc>
                <a:extLst>
                  <a:ext uri="{0D108BD9-81ED-4DB2-BD59-A6C34878D82A}">
                    <a16:rowId xmlns:a16="http://schemas.microsoft.com/office/drawing/2014/main" val="299749248"/>
                  </a:ext>
                </a:extLst>
              </a:tr>
              <a:tr h="365760">
                <a:tc>
                  <a:txBody>
                    <a:bodyPr/>
                    <a:lstStyle/>
                    <a:p>
                      <a:r>
                        <a:rPr lang="en-IN" sz="1800" b="1"/>
                        <a:t>Speed</a:t>
                      </a:r>
                      <a:endParaRPr lang="en-IN" sz="1800"/>
                    </a:p>
                  </a:txBody>
                  <a:tcPr anchor="ctr">
                    <a:lnL>
                      <a:noFill/>
                    </a:lnL>
                    <a:lnR>
                      <a:noFill/>
                    </a:lnR>
                    <a:lnT>
                      <a:noFill/>
                    </a:lnT>
                    <a:lnB>
                      <a:noFill/>
                    </a:lnB>
                    <a:noFill/>
                  </a:tcPr>
                </a:tc>
                <a:tc>
                  <a:txBody>
                    <a:bodyPr/>
                    <a:lstStyle/>
                    <a:p>
                      <a:r>
                        <a:rPr lang="en-IN" sz="1800"/>
                        <a:t>Kbps to Mbps</a:t>
                      </a:r>
                    </a:p>
                  </a:txBody>
                  <a:tcPr anchor="ctr">
                    <a:lnL>
                      <a:noFill/>
                    </a:lnL>
                    <a:lnR>
                      <a:noFill/>
                    </a:lnR>
                    <a:lnT>
                      <a:noFill/>
                    </a:lnT>
                    <a:lnB>
                      <a:noFill/>
                    </a:lnB>
                    <a:noFill/>
                  </a:tcPr>
                </a:tc>
                <a:tc>
                  <a:txBody>
                    <a:bodyPr/>
                    <a:lstStyle/>
                    <a:p>
                      <a:r>
                        <a:rPr lang="en-IN" sz="1800" dirty="0"/>
                        <a:t>Mbps to Gbps</a:t>
                      </a:r>
                    </a:p>
                  </a:txBody>
                  <a:tcPr anchor="ctr">
                    <a:lnL>
                      <a:noFill/>
                    </a:lnL>
                    <a:lnR>
                      <a:noFill/>
                    </a:lnR>
                    <a:lnT>
                      <a:noFill/>
                    </a:lnT>
                    <a:lnB>
                      <a:noFill/>
                    </a:lnB>
                    <a:noFill/>
                  </a:tcPr>
                </a:tc>
                <a:extLst>
                  <a:ext uri="{0D108BD9-81ED-4DB2-BD59-A6C34878D82A}">
                    <a16:rowId xmlns:a16="http://schemas.microsoft.com/office/drawing/2014/main" val="179059560"/>
                  </a:ext>
                </a:extLst>
              </a:tr>
            </a:tbl>
          </a:graphicData>
        </a:graphic>
      </p:graphicFrame>
      <p:sp>
        <p:nvSpPr>
          <p:cNvPr id="7" name="TextBox 6">
            <a:extLst>
              <a:ext uri="{FF2B5EF4-FFF2-40B4-BE49-F238E27FC236}">
                <a16:creationId xmlns:a16="http://schemas.microsoft.com/office/drawing/2014/main" id="{0733C85B-30E9-260D-2168-A00B95381E48}"/>
              </a:ext>
            </a:extLst>
          </p:cNvPr>
          <p:cNvSpPr txBox="1"/>
          <p:nvPr/>
        </p:nvSpPr>
        <p:spPr>
          <a:xfrm>
            <a:off x="304800" y="3810000"/>
            <a:ext cx="7620000" cy="923330"/>
          </a:xfrm>
          <a:prstGeom prst="rect">
            <a:avLst/>
          </a:prstGeom>
          <a:noFill/>
        </p:spPr>
        <p:txBody>
          <a:bodyPr wrap="square" rtlCol="0">
            <a:spAutoFit/>
          </a:bodyPr>
          <a:lstStyle/>
          <a:p>
            <a:r>
              <a:rPr lang="en-US" dirty="0"/>
              <a:t>PANs are crucial in </a:t>
            </a:r>
            <a:r>
              <a:rPr lang="en-US" b="1" dirty="0"/>
              <a:t>short-range communication protocols</a:t>
            </a:r>
            <a:r>
              <a:rPr lang="en-US" dirty="0"/>
              <a:t> and </a:t>
            </a:r>
            <a:r>
              <a:rPr lang="en-US" b="1" dirty="0"/>
              <a:t>low-power wireless networks</a:t>
            </a:r>
            <a:r>
              <a:rPr lang="en-US" dirty="0"/>
              <a:t>, especially in </a:t>
            </a:r>
            <a:r>
              <a:rPr lang="en-US" b="1" dirty="0"/>
              <a:t>wearable technology, IoT, and smart devices</a:t>
            </a:r>
            <a:r>
              <a:rPr lang="en-US" dirty="0"/>
              <a:t>.</a:t>
            </a:r>
            <a:endParaRPr lang="en-IN" dirty="0"/>
          </a:p>
        </p:txBody>
      </p:sp>
    </p:spTree>
    <p:extLst>
      <p:ext uri="{BB962C8B-B14F-4D97-AF65-F5344CB8AC3E}">
        <p14:creationId xmlns:p14="http://schemas.microsoft.com/office/powerpoint/2010/main" val="1611684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08620" cy="3244850"/>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Fixed</a:t>
            </a:r>
            <a:r>
              <a:rPr sz="2400" spc="-25" dirty="0">
                <a:latin typeface="Times New Roman"/>
                <a:cs typeface="Times New Roman"/>
              </a:rPr>
              <a:t> </a:t>
            </a:r>
            <a:r>
              <a:rPr sz="2400" dirty="0">
                <a:latin typeface="Times New Roman"/>
                <a:cs typeface="Times New Roman"/>
              </a:rPr>
              <a:t>wireless</a:t>
            </a:r>
            <a:r>
              <a:rPr sz="2400" spc="-40" dirty="0">
                <a:latin typeface="Times New Roman"/>
                <a:cs typeface="Times New Roman"/>
              </a:rPr>
              <a:t> </a:t>
            </a:r>
            <a:r>
              <a:rPr sz="2400" dirty="0">
                <a:latin typeface="Times New Roman"/>
                <a:cs typeface="Times New Roman"/>
              </a:rPr>
              <a:t>access</a:t>
            </a:r>
            <a:r>
              <a:rPr sz="2400" spc="-30" dirty="0">
                <a:latin typeface="Times New Roman"/>
                <a:cs typeface="Times New Roman"/>
              </a:rPr>
              <a:t> </a:t>
            </a:r>
            <a:r>
              <a:rPr sz="2400" dirty="0">
                <a:latin typeface="Times New Roman"/>
                <a:cs typeface="Times New Roman"/>
              </a:rPr>
              <a:t>systems</a:t>
            </a:r>
            <a:r>
              <a:rPr sz="2400" spc="-20" dirty="0">
                <a:latin typeface="Times New Roman"/>
                <a:cs typeface="Times New Roman"/>
              </a:rPr>
              <a:t> </a:t>
            </a: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also</a:t>
            </a:r>
            <a:r>
              <a:rPr sz="2400" spc="-30" dirty="0">
                <a:latin typeface="Times New Roman"/>
                <a:cs typeface="Times New Roman"/>
              </a:rPr>
              <a:t> </a:t>
            </a:r>
            <a:r>
              <a:rPr sz="2400" dirty="0">
                <a:latin typeface="Times New Roman"/>
                <a:cs typeface="Times New Roman"/>
              </a:rPr>
              <a:t>be</a:t>
            </a:r>
            <a:r>
              <a:rPr sz="2400" spc="-20" dirty="0">
                <a:latin typeface="Times New Roman"/>
                <a:cs typeface="Times New Roman"/>
              </a:rPr>
              <a:t> </a:t>
            </a:r>
            <a:r>
              <a:rPr sz="2400" dirty="0">
                <a:latin typeface="Times New Roman"/>
                <a:cs typeface="Times New Roman"/>
              </a:rPr>
              <a:t>considered</a:t>
            </a:r>
            <a:r>
              <a:rPr sz="2400" spc="-55" dirty="0">
                <a:latin typeface="Times New Roman"/>
                <a:cs typeface="Times New Roman"/>
              </a:rPr>
              <a:t> </a:t>
            </a:r>
            <a:r>
              <a:rPr sz="2400" dirty="0">
                <a:latin typeface="Times New Roman"/>
                <a:cs typeface="Times New Roman"/>
              </a:rPr>
              <a:t>as</a:t>
            </a:r>
            <a:r>
              <a:rPr sz="2400" spc="-20" dirty="0">
                <a:latin typeface="Times New Roman"/>
                <a:cs typeface="Times New Roman"/>
              </a:rPr>
              <a:t> </a:t>
            </a:r>
            <a:r>
              <a:rPr sz="2400" spc="-50" dirty="0">
                <a:latin typeface="Times New Roman"/>
                <a:cs typeface="Times New Roman"/>
              </a:rPr>
              <a:t>a </a:t>
            </a:r>
            <a:r>
              <a:rPr sz="2400" dirty="0">
                <a:latin typeface="Times New Roman"/>
                <a:cs typeface="Times New Roman"/>
              </a:rPr>
              <a:t>derivative</a:t>
            </a:r>
            <a:r>
              <a:rPr sz="2400" spc="-80"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dirty="0">
                <a:latin typeface="Times New Roman"/>
                <a:cs typeface="Times New Roman"/>
              </a:rPr>
              <a:t>cordless</a:t>
            </a:r>
            <a:r>
              <a:rPr sz="2400" spc="-60" dirty="0">
                <a:latin typeface="Times New Roman"/>
                <a:cs typeface="Times New Roman"/>
              </a:rPr>
              <a:t> </a:t>
            </a:r>
            <a:r>
              <a:rPr sz="2400" dirty="0">
                <a:latin typeface="Times New Roman"/>
                <a:cs typeface="Times New Roman"/>
              </a:rPr>
              <a:t>phones</a:t>
            </a:r>
            <a:r>
              <a:rPr sz="2400" spc="-50" dirty="0">
                <a:latin typeface="Times New Roman"/>
                <a:cs typeface="Times New Roman"/>
              </a:rPr>
              <a:t> </a:t>
            </a:r>
            <a:r>
              <a:rPr sz="2400" dirty="0">
                <a:latin typeface="Times New Roman"/>
                <a:cs typeface="Times New Roman"/>
              </a:rPr>
              <a:t>or</a:t>
            </a:r>
            <a:r>
              <a:rPr sz="2400" spc="-75" dirty="0">
                <a:latin typeface="Times New Roman"/>
                <a:cs typeface="Times New Roman"/>
              </a:rPr>
              <a:t> </a:t>
            </a:r>
            <a:r>
              <a:rPr sz="2400" dirty="0">
                <a:latin typeface="Times New Roman"/>
                <a:cs typeface="Times New Roman"/>
              </a:rPr>
              <a:t>WLANs,</a:t>
            </a:r>
            <a:r>
              <a:rPr sz="2400" spc="-5" dirty="0">
                <a:latin typeface="Times New Roman"/>
                <a:cs typeface="Times New Roman"/>
              </a:rPr>
              <a:t> </a:t>
            </a:r>
            <a:r>
              <a:rPr sz="2400" dirty="0">
                <a:latin typeface="Times New Roman"/>
                <a:cs typeface="Times New Roman"/>
              </a:rPr>
              <a:t>essentially</a:t>
            </a:r>
            <a:r>
              <a:rPr sz="2400" spc="-80" dirty="0">
                <a:latin typeface="Times New Roman"/>
                <a:cs typeface="Times New Roman"/>
              </a:rPr>
              <a:t> </a:t>
            </a:r>
            <a:r>
              <a:rPr sz="2400" spc="-10" dirty="0">
                <a:latin typeface="Times New Roman"/>
                <a:cs typeface="Times New Roman"/>
              </a:rPr>
              <a:t>replacing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dedicated</a:t>
            </a:r>
            <a:r>
              <a:rPr sz="2400" spc="-45" dirty="0">
                <a:latin typeface="Times New Roman"/>
                <a:cs typeface="Times New Roman"/>
              </a:rPr>
              <a:t> </a:t>
            </a:r>
            <a:r>
              <a:rPr sz="2400" dirty="0">
                <a:latin typeface="Times New Roman"/>
                <a:cs typeface="Times New Roman"/>
              </a:rPr>
              <a:t>cable</a:t>
            </a:r>
            <a:r>
              <a:rPr sz="2400" spc="-25" dirty="0">
                <a:latin typeface="Times New Roman"/>
                <a:cs typeface="Times New Roman"/>
              </a:rPr>
              <a:t> </a:t>
            </a:r>
            <a:r>
              <a:rPr sz="2400" dirty="0">
                <a:latin typeface="Times New Roman"/>
                <a:cs typeface="Times New Roman"/>
              </a:rPr>
              <a:t>connection</a:t>
            </a:r>
            <a:r>
              <a:rPr sz="2400" spc="-45" dirty="0">
                <a:latin typeface="Times New Roman"/>
                <a:cs typeface="Times New Roman"/>
              </a:rPr>
              <a:t> </a:t>
            </a:r>
            <a:r>
              <a:rPr sz="2400" dirty="0">
                <a:latin typeface="Times New Roman"/>
                <a:cs typeface="Times New Roman"/>
              </a:rPr>
              <a:t>between</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user and</a:t>
            </a:r>
            <a:r>
              <a:rPr sz="2400" spc="-15" dirty="0">
                <a:latin typeface="Times New Roman"/>
                <a:cs typeface="Times New Roman"/>
              </a:rPr>
              <a:t> </a:t>
            </a:r>
            <a:r>
              <a:rPr sz="2400" dirty="0">
                <a:latin typeface="Times New Roman"/>
                <a:cs typeface="Times New Roman"/>
              </a:rPr>
              <a:t>the</a:t>
            </a:r>
            <a:r>
              <a:rPr sz="2400" spc="-10" dirty="0">
                <a:latin typeface="Times New Roman"/>
                <a:cs typeface="Times New Roman"/>
              </a:rPr>
              <a:t> public </a:t>
            </a:r>
            <a:r>
              <a:rPr sz="2400" dirty="0">
                <a:latin typeface="Times New Roman"/>
                <a:cs typeface="Times New Roman"/>
              </a:rPr>
              <a:t>landline</a:t>
            </a:r>
            <a:r>
              <a:rPr sz="2400" spc="-3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a:p>
            <a:pPr>
              <a:lnSpc>
                <a:spcPct val="100000"/>
              </a:lnSpc>
              <a:spcBef>
                <a:spcPts val="1270"/>
              </a:spcBef>
            </a:pPr>
            <a:endParaRPr sz="2400">
              <a:latin typeface="Times New Roman"/>
              <a:cs typeface="Times New Roman"/>
            </a:endParaRPr>
          </a:p>
          <a:p>
            <a:pPr marL="12700">
              <a:lnSpc>
                <a:spcPct val="100000"/>
              </a:lnSpc>
              <a:spcBef>
                <a:spcPts val="5"/>
              </a:spcBef>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main</a:t>
            </a:r>
            <a:r>
              <a:rPr sz="2400" spc="-15" dirty="0">
                <a:latin typeface="Times New Roman"/>
                <a:cs typeface="Times New Roman"/>
              </a:rPr>
              <a:t> </a:t>
            </a:r>
            <a:r>
              <a:rPr sz="2400" dirty="0">
                <a:latin typeface="Times New Roman"/>
                <a:cs typeface="Times New Roman"/>
              </a:rPr>
              <a:t>difference</a:t>
            </a:r>
            <a:r>
              <a:rPr sz="2400" spc="-25" dirty="0">
                <a:latin typeface="Times New Roman"/>
                <a:cs typeface="Times New Roman"/>
              </a:rPr>
              <a:t> </a:t>
            </a:r>
            <a:r>
              <a:rPr sz="2400" dirty="0">
                <a:latin typeface="Times New Roman"/>
                <a:cs typeface="Times New Roman"/>
              </a:rPr>
              <a:t>from</a:t>
            </a:r>
            <a:r>
              <a:rPr sz="2400" spc="-1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cordless</a:t>
            </a:r>
            <a:r>
              <a:rPr sz="2400" spc="-35"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spc="-20" dirty="0">
                <a:latin typeface="Times New Roman"/>
                <a:cs typeface="Times New Roman"/>
              </a:rPr>
              <a:t>that</a:t>
            </a:r>
            <a:endParaRPr sz="2400">
              <a:latin typeface="Times New Roman"/>
              <a:cs typeface="Times New Roman"/>
            </a:endParaRPr>
          </a:p>
          <a:p>
            <a:pPr marL="527685" indent="-514984">
              <a:lnSpc>
                <a:spcPct val="100000"/>
              </a:lnSpc>
              <a:spcBef>
                <a:spcPts val="575"/>
              </a:spcBef>
              <a:buClr>
                <a:srgbClr val="0F1141"/>
              </a:buClr>
              <a:buAutoNum type="romanLcParenBoth"/>
              <a:tabLst>
                <a:tab pos="527685" algn="l"/>
              </a:tabLst>
            </a:pPr>
            <a:r>
              <a:rPr sz="2400" dirty="0">
                <a:latin typeface="Times New Roman"/>
                <a:cs typeface="Times New Roman"/>
              </a:rPr>
              <a:t>there</a:t>
            </a:r>
            <a:r>
              <a:rPr sz="2400" spc="-3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no</a:t>
            </a:r>
            <a:r>
              <a:rPr sz="2400" spc="-10" dirty="0">
                <a:latin typeface="Times New Roman"/>
                <a:cs typeface="Times New Roman"/>
              </a:rPr>
              <a:t> </a:t>
            </a:r>
            <a:r>
              <a:rPr sz="2400" dirty="0">
                <a:latin typeface="Times New Roman"/>
                <a:cs typeface="Times New Roman"/>
              </a:rPr>
              <a:t>mobility</a:t>
            </a:r>
            <a:r>
              <a:rPr sz="2400" spc="-3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user</a:t>
            </a:r>
            <a:r>
              <a:rPr sz="2400" spc="-15" dirty="0">
                <a:latin typeface="Times New Roman"/>
                <a:cs typeface="Times New Roman"/>
              </a:rPr>
              <a:t> </a:t>
            </a:r>
            <a:r>
              <a:rPr sz="2400" dirty="0">
                <a:latin typeface="Times New Roman"/>
                <a:cs typeface="Times New Roman"/>
              </a:rPr>
              <a:t>devices</a:t>
            </a:r>
            <a:r>
              <a:rPr sz="2400" spc="-30" dirty="0">
                <a:latin typeface="Times New Roman"/>
                <a:cs typeface="Times New Roman"/>
              </a:rPr>
              <a:t> </a:t>
            </a:r>
            <a:r>
              <a:rPr sz="2400" spc="-25" dirty="0">
                <a:latin typeface="Times New Roman"/>
                <a:cs typeface="Times New Roman"/>
              </a:rPr>
              <a:t>and</a:t>
            </a:r>
            <a:endParaRPr sz="2400">
              <a:latin typeface="Times New Roman"/>
              <a:cs typeface="Times New Roman"/>
            </a:endParaRPr>
          </a:p>
          <a:p>
            <a:pPr marL="527685" indent="-514984">
              <a:lnSpc>
                <a:spcPct val="100000"/>
              </a:lnSpc>
              <a:spcBef>
                <a:spcPts val="580"/>
              </a:spcBef>
              <a:buClr>
                <a:srgbClr val="0F1141"/>
              </a:buClr>
              <a:buAutoNum type="romanLcParenBoth"/>
              <a:tabLst>
                <a:tab pos="527685" algn="l"/>
              </a:tabLst>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BS</a:t>
            </a:r>
            <a:r>
              <a:rPr sz="2400" spc="-20" dirty="0">
                <a:latin typeface="Times New Roman"/>
                <a:cs typeface="Times New Roman"/>
              </a:rPr>
              <a:t> </a:t>
            </a:r>
            <a:r>
              <a:rPr sz="2400" dirty="0">
                <a:latin typeface="Times New Roman"/>
                <a:cs typeface="Times New Roman"/>
              </a:rPr>
              <a:t>almost</a:t>
            </a:r>
            <a:r>
              <a:rPr sz="2400" spc="-20" dirty="0">
                <a:latin typeface="Times New Roman"/>
                <a:cs typeface="Times New Roman"/>
              </a:rPr>
              <a:t> </a:t>
            </a:r>
            <a:r>
              <a:rPr sz="2400" dirty="0">
                <a:latin typeface="Times New Roman"/>
                <a:cs typeface="Times New Roman"/>
              </a:rPr>
              <a:t>always</a:t>
            </a:r>
            <a:r>
              <a:rPr sz="2400" spc="-30" dirty="0">
                <a:latin typeface="Times New Roman"/>
                <a:cs typeface="Times New Roman"/>
              </a:rPr>
              <a:t> </a:t>
            </a:r>
            <a:r>
              <a:rPr sz="2400" dirty="0">
                <a:latin typeface="Times New Roman"/>
                <a:cs typeface="Times New Roman"/>
              </a:rPr>
              <a:t>serves</a:t>
            </a:r>
            <a:r>
              <a:rPr sz="2400" spc="-20" dirty="0">
                <a:latin typeface="Times New Roman"/>
                <a:cs typeface="Times New Roman"/>
              </a:rPr>
              <a:t> </a:t>
            </a:r>
            <a:r>
              <a:rPr sz="2400" dirty="0">
                <a:latin typeface="Times New Roman"/>
                <a:cs typeface="Times New Roman"/>
              </a:rPr>
              <a:t>multiple</a:t>
            </a:r>
            <a:r>
              <a:rPr sz="2400" spc="-45" dirty="0">
                <a:latin typeface="Times New Roman"/>
                <a:cs typeface="Times New Roman"/>
              </a:rPr>
              <a:t> </a:t>
            </a:r>
            <a:r>
              <a:rPr sz="2400" spc="-10" dirty="0">
                <a:latin typeface="Times New Roman"/>
                <a:cs typeface="Times New Roman"/>
              </a:rPr>
              <a:t>users.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378917"/>
            <a:ext cx="4550410" cy="574675"/>
          </a:xfrm>
          <a:prstGeom prst="rect">
            <a:avLst/>
          </a:prstGeom>
        </p:spPr>
        <p:txBody>
          <a:bodyPr vert="horz" wrap="square" lIns="0" tIns="12700" rIns="0" bIns="0" rtlCol="0">
            <a:spAutoFit/>
          </a:bodyPr>
          <a:lstStyle/>
          <a:p>
            <a:pPr marL="12700">
              <a:lnSpc>
                <a:spcPct val="100000"/>
              </a:lnSpc>
              <a:spcBef>
                <a:spcPts val="100"/>
              </a:spcBef>
            </a:pPr>
            <a:r>
              <a:rPr spc="-135" dirty="0"/>
              <a:t>Fixed</a:t>
            </a:r>
            <a:r>
              <a:rPr spc="-229" dirty="0"/>
              <a:t> </a:t>
            </a:r>
            <a:r>
              <a:rPr spc="-150" dirty="0"/>
              <a:t>Wireless</a:t>
            </a:r>
            <a:r>
              <a:rPr spc="-360" dirty="0"/>
              <a:t> </a:t>
            </a:r>
            <a:r>
              <a:rPr spc="-114" dirty="0"/>
              <a:t>Access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41DDD-1451-FEB0-9418-DEA40C3384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206A2D6-E9DC-5E35-1EFA-54B314AF3D28}"/>
              </a:ext>
            </a:extLst>
          </p:cNvPr>
          <p:cNvSpPr txBox="1"/>
          <p:nvPr/>
        </p:nvSpPr>
        <p:spPr>
          <a:xfrm>
            <a:off x="383540" y="1516507"/>
            <a:ext cx="8008620" cy="4444807"/>
          </a:xfrm>
          <a:prstGeom prst="rect">
            <a:avLst/>
          </a:prstGeom>
        </p:spPr>
        <p:txBody>
          <a:bodyPr vert="horz" wrap="square" lIns="0" tIns="12700" rIns="0" bIns="0" rtlCol="0">
            <a:spAutoFit/>
          </a:bodyPr>
          <a:lstStyle/>
          <a:p>
            <a:pPr marL="12700" marR="5080">
              <a:spcBef>
                <a:spcPts val="100"/>
              </a:spcBef>
              <a:buClr>
                <a:srgbClr val="0F1141"/>
              </a:buClr>
              <a:tabLst>
                <a:tab pos="355600" algn="l"/>
              </a:tabLst>
            </a:pPr>
            <a:r>
              <a:rPr lang="en-US" sz="1600" dirty="0"/>
              <a:t>Fixed Wireless Access (</a:t>
            </a:r>
            <a:r>
              <a:rPr lang="en-US" sz="1600" b="1" dirty="0"/>
              <a:t>FWA</a:t>
            </a:r>
            <a:r>
              <a:rPr lang="en-US" sz="1600" dirty="0"/>
              <a:t>) is a technology that provides </a:t>
            </a:r>
            <a:r>
              <a:rPr lang="en-US" sz="1600" b="1" dirty="0"/>
              <a:t>wireless broadband connectivity</a:t>
            </a:r>
            <a:r>
              <a:rPr lang="en-US" sz="1600" dirty="0"/>
              <a:t> to homes and businesses without requiring a </a:t>
            </a:r>
            <a:r>
              <a:rPr lang="en-US" sz="1600" b="1" dirty="0"/>
              <a:t>physical cable connection</a:t>
            </a:r>
            <a:r>
              <a:rPr lang="en-US" sz="1600" dirty="0"/>
              <a:t>.</a:t>
            </a:r>
          </a:p>
          <a:p>
            <a:pPr>
              <a:buNone/>
            </a:pPr>
            <a:r>
              <a:rPr lang="en-US" sz="1600" b="1" dirty="0"/>
              <a:t>Key Characteristics of Fixed Wireless Access (FWA)</a:t>
            </a:r>
          </a:p>
          <a:p>
            <a:pPr>
              <a:buFont typeface="Arial" panose="020B0604020202020204" pitchFamily="34" charset="0"/>
              <a:buChar char="•"/>
            </a:pPr>
            <a:r>
              <a:rPr lang="en-US" sz="1600" b="1" dirty="0"/>
              <a:t>Alternative to Wired Networks</a:t>
            </a:r>
            <a:r>
              <a:rPr lang="en-US" sz="1600" dirty="0"/>
              <a:t>: Functions as a replacement for </a:t>
            </a:r>
            <a:r>
              <a:rPr lang="en-US" sz="1600" b="1" dirty="0"/>
              <a:t>DSL, fiber, or cable broadband</a:t>
            </a:r>
            <a:r>
              <a:rPr lang="en-US" sz="1600" dirty="0"/>
              <a:t>.</a:t>
            </a:r>
          </a:p>
          <a:p>
            <a:pPr>
              <a:buFont typeface="Arial" panose="020B0604020202020204" pitchFamily="34" charset="0"/>
              <a:buChar char="•"/>
            </a:pPr>
            <a:r>
              <a:rPr lang="en-US" sz="1600" b="1" dirty="0"/>
              <a:t>No Mobility</a:t>
            </a:r>
            <a:r>
              <a:rPr lang="en-US" sz="1600" dirty="0"/>
              <a:t>: Unlike mobile networks, </a:t>
            </a:r>
            <a:r>
              <a:rPr lang="en-US" sz="1600" b="1" dirty="0"/>
              <a:t>FWA devices remain stationary</a:t>
            </a:r>
            <a:r>
              <a:rPr lang="en-US" sz="1600" dirty="0"/>
              <a:t> at a fixed location.</a:t>
            </a:r>
          </a:p>
          <a:p>
            <a:pPr>
              <a:buFont typeface="Arial" panose="020B0604020202020204" pitchFamily="34" charset="0"/>
              <a:buChar char="•"/>
            </a:pPr>
            <a:r>
              <a:rPr lang="en-US" sz="1600" b="1" dirty="0"/>
              <a:t>Base Station (BS) Serves Multiple Users</a:t>
            </a:r>
            <a:r>
              <a:rPr lang="en-US" sz="1600" dirty="0"/>
              <a:t>: One </a:t>
            </a:r>
            <a:r>
              <a:rPr lang="en-US" sz="1600" b="1" dirty="0"/>
              <a:t>BS</a:t>
            </a:r>
            <a:r>
              <a:rPr lang="en-US" sz="1600" dirty="0"/>
              <a:t> can connect several homes, offices, or businesses.</a:t>
            </a:r>
          </a:p>
          <a:p>
            <a:pPr>
              <a:buFont typeface="Arial" panose="020B0604020202020204" pitchFamily="34" charset="0"/>
              <a:buChar char="•"/>
            </a:pPr>
            <a:r>
              <a:rPr lang="en-US" sz="1600" b="1" dirty="0"/>
              <a:t>High-Speed Internet</a:t>
            </a:r>
            <a:r>
              <a:rPr lang="en-US" sz="1600" dirty="0"/>
              <a:t>: Often delivers </a:t>
            </a:r>
            <a:r>
              <a:rPr lang="en-US" sz="1600" b="1" dirty="0"/>
              <a:t>broadband speeds comparable to fiber or DSL</a:t>
            </a:r>
            <a:r>
              <a:rPr lang="en-US" sz="1600" dirty="0"/>
              <a:t>.</a:t>
            </a:r>
          </a:p>
          <a:p>
            <a:pPr>
              <a:buFont typeface="Arial" panose="020B0604020202020204" pitchFamily="34" charset="0"/>
              <a:buChar char="•"/>
            </a:pPr>
            <a:r>
              <a:rPr lang="en-US" sz="1600" b="1" dirty="0"/>
              <a:t>Uses Licensed &amp; Unlicensed Spectrum</a:t>
            </a:r>
            <a:r>
              <a:rPr lang="en-US" sz="1600" dirty="0"/>
              <a:t>: Operates on frequencies like </a:t>
            </a:r>
            <a:r>
              <a:rPr lang="en-US" sz="1600" b="1" dirty="0"/>
              <a:t>4G LTE, 5G, WiMAX, and </a:t>
            </a:r>
            <a:r>
              <a:rPr lang="en-US" sz="1600" b="1" dirty="0" err="1"/>
              <a:t>mmWave</a:t>
            </a:r>
            <a:r>
              <a:rPr lang="en-US" sz="1600" b="1" dirty="0"/>
              <a:t> bands</a:t>
            </a:r>
            <a:r>
              <a:rPr lang="en-US" sz="1600" dirty="0"/>
              <a:t>.</a:t>
            </a:r>
          </a:p>
          <a:p>
            <a:pPr>
              <a:buNone/>
            </a:pPr>
            <a:r>
              <a:rPr lang="en-US" sz="1600" b="1" dirty="0"/>
              <a:t>Examples of Fixed Wireless Access Usage</a:t>
            </a:r>
          </a:p>
          <a:p>
            <a:pPr>
              <a:buFont typeface="Arial" panose="020B0604020202020204" pitchFamily="34" charset="0"/>
              <a:buChar char="•"/>
            </a:pPr>
            <a:r>
              <a:rPr lang="en-US" sz="1600" b="1" dirty="0"/>
              <a:t>5G Home Internet Services</a:t>
            </a:r>
            <a:r>
              <a:rPr lang="en-US" sz="1600" dirty="0"/>
              <a:t> (e.g., Verizon 5G Home, T-Mobile 5G Home).</a:t>
            </a:r>
          </a:p>
          <a:p>
            <a:pPr>
              <a:buFont typeface="Arial" panose="020B0604020202020204" pitchFamily="34" charset="0"/>
              <a:buChar char="•"/>
            </a:pPr>
            <a:r>
              <a:rPr lang="en-US" sz="1600" b="1" dirty="0"/>
              <a:t>Rural Internet Providers</a:t>
            </a:r>
            <a:r>
              <a:rPr lang="en-US" sz="1600" dirty="0"/>
              <a:t> using FWA to bridge the digital divide.</a:t>
            </a:r>
          </a:p>
          <a:p>
            <a:pPr>
              <a:buFont typeface="Arial" panose="020B0604020202020204" pitchFamily="34" charset="0"/>
              <a:buChar char="•"/>
            </a:pPr>
            <a:r>
              <a:rPr lang="en-US" sz="1600" b="1" dirty="0"/>
              <a:t>Enterprise Networks</a:t>
            </a:r>
            <a:r>
              <a:rPr lang="en-US" sz="1600" dirty="0"/>
              <a:t> using FWA for </a:t>
            </a:r>
            <a:r>
              <a:rPr lang="en-US" sz="1600" b="1" dirty="0"/>
              <a:t>backup internet connections</a:t>
            </a:r>
            <a:r>
              <a:rPr lang="en-US" sz="1600" dirty="0"/>
              <a:t>.</a:t>
            </a:r>
          </a:p>
          <a:p>
            <a:r>
              <a:rPr lang="en-US" sz="1600" dirty="0"/>
              <a:t>Fixed Wireless Access is a crucial technology in </a:t>
            </a:r>
            <a:r>
              <a:rPr lang="en-US" sz="1600" b="1" dirty="0"/>
              <a:t>next-generation broadband</a:t>
            </a:r>
            <a:r>
              <a:rPr lang="en-US" sz="1600" dirty="0"/>
              <a:t> and is a </a:t>
            </a:r>
            <a:r>
              <a:rPr lang="en-US" sz="1600" b="1" dirty="0"/>
              <a:t>key enabler of 5G networks</a:t>
            </a:r>
            <a:r>
              <a:rPr lang="en-US" sz="1600" dirty="0"/>
              <a:t>. </a:t>
            </a:r>
          </a:p>
        </p:txBody>
      </p:sp>
      <p:sp>
        <p:nvSpPr>
          <p:cNvPr id="4" name="object 4">
            <a:extLst>
              <a:ext uri="{FF2B5EF4-FFF2-40B4-BE49-F238E27FC236}">
                <a16:creationId xmlns:a16="http://schemas.microsoft.com/office/drawing/2014/main" id="{3BB8F901-CC5B-A80A-B682-9629C232A1F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33</a:t>
            </a:fld>
            <a:endParaRPr spc="-25" dirty="0"/>
          </a:p>
        </p:txBody>
      </p:sp>
      <p:sp>
        <p:nvSpPr>
          <p:cNvPr id="5" name="object 5">
            <a:extLst>
              <a:ext uri="{FF2B5EF4-FFF2-40B4-BE49-F238E27FC236}">
                <a16:creationId xmlns:a16="http://schemas.microsoft.com/office/drawing/2014/main" id="{371AA18A-E8EF-E19C-0452-FE8C8AC0F09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23118AA3-1ED7-8E75-C358-5A0C08516E6E}"/>
              </a:ext>
            </a:extLst>
          </p:cNvPr>
          <p:cNvSpPr txBox="1">
            <a:spLocks noGrp="1"/>
          </p:cNvSpPr>
          <p:nvPr>
            <p:ph type="title"/>
          </p:nvPr>
        </p:nvSpPr>
        <p:spPr>
          <a:xfrm>
            <a:off x="383540" y="378917"/>
            <a:ext cx="4550410" cy="574675"/>
          </a:xfrm>
          <a:prstGeom prst="rect">
            <a:avLst/>
          </a:prstGeom>
        </p:spPr>
        <p:txBody>
          <a:bodyPr vert="horz" wrap="square" lIns="0" tIns="12700" rIns="0" bIns="0" rtlCol="0">
            <a:spAutoFit/>
          </a:bodyPr>
          <a:lstStyle/>
          <a:p>
            <a:pPr marL="12700">
              <a:lnSpc>
                <a:spcPct val="100000"/>
              </a:lnSpc>
              <a:spcBef>
                <a:spcPts val="100"/>
              </a:spcBef>
            </a:pPr>
            <a:r>
              <a:rPr spc="-135" dirty="0"/>
              <a:t>Fixed</a:t>
            </a:r>
            <a:r>
              <a:rPr spc="-229" dirty="0"/>
              <a:t> </a:t>
            </a:r>
            <a:r>
              <a:rPr spc="-150" dirty="0"/>
              <a:t>Wireless</a:t>
            </a:r>
            <a:r>
              <a:rPr spc="-360" dirty="0"/>
              <a:t> </a:t>
            </a:r>
            <a:r>
              <a:rPr spc="-114" dirty="0"/>
              <a:t>Access</a:t>
            </a:r>
          </a:p>
        </p:txBody>
      </p:sp>
    </p:spTree>
    <p:extLst>
      <p:ext uri="{BB962C8B-B14F-4D97-AF65-F5344CB8AC3E}">
        <p14:creationId xmlns:p14="http://schemas.microsoft.com/office/powerpoint/2010/main" val="9503353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3FF6B-CB40-B6EB-34A5-2CCFAC6683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B3D55E-EC5B-8F12-BC9C-7941B92CF3F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34</a:t>
            </a:fld>
            <a:endParaRPr spc="-25" dirty="0"/>
          </a:p>
        </p:txBody>
      </p:sp>
      <p:sp>
        <p:nvSpPr>
          <p:cNvPr id="5" name="object 5">
            <a:extLst>
              <a:ext uri="{FF2B5EF4-FFF2-40B4-BE49-F238E27FC236}">
                <a16:creationId xmlns:a16="http://schemas.microsoft.com/office/drawing/2014/main" id="{1720ED4B-B2D5-E594-A642-0A3CDB13604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02C07C72-B8BB-28EF-A60A-39648179C549}"/>
              </a:ext>
            </a:extLst>
          </p:cNvPr>
          <p:cNvSpPr txBox="1">
            <a:spLocks noGrp="1"/>
          </p:cNvSpPr>
          <p:nvPr>
            <p:ph type="title"/>
          </p:nvPr>
        </p:nvSpPr>
        <p:spPr>
          <a:xfrm>
            <a:off x="383540" y="378917"/>
            <a:ext cx="4550410" cy="574675"/>
          </a:xfrm>
          <a:prstGeom prst="rect">
            <a:avLst/>
          </a:prstGeom>
        </p:spPr>
        <p:txBody>
          <a:bodyPr vert="horz" wrap="square" lIns="0" tIns="12700" rIns="0" bIns="0" rtlCol="0">
            <a:spAutoFit/>
          </a:bodyPr>
          <a:lstStyle/>
          <a:p>
            <a:pPr marL="12700">
              <a:lnSpc>
                <a:spcPct val="100000"/>
              </a:lnSpc>
              <a:spcBef>
                <a:spcPts val="100"/>
              </a:spcBef>
            </a:pPr>
            <a:r>
              <a:rPr spc="-135" dirty="0"/>
              <a:t>Fixed</a:t>
            </a:r>
            <a:r>
              <a:rPr spc="-229" dirty="0"/>
              <a:t> </a:t>
            </a:r>
            <a:r>
              <a:rPr spc="-150" dirty="0"/>
              <a:t>Wireless</a:t>
            </a:r>
            <a:r>
              <a:rPr spc="-360" dirty="0"/>
              <a:t> </a:t>
            </a:r>
            <a:r>
              <a:rPr spc="-114" dirty="0"/>
              <a:t>Access</a:t>
            </a:r>
          </a:p>
        </p:txBody>
      </p:sp>
      <p:graphicFrame>
        <p:nvGraphicFramePr>
          <p:cNvPr id="6" name="Table 5">
            <a:extLst>
              <a:ext uri="{FF2B5EF4-FFF2-40B4-BE49-F238E27FC236}">
                <a16:creationId xmlns:a16="http://schemas.microsoft.com/office/drawing/2014/main" id="{8413F25C-D65A-2D2E-546B-99E9AA17B8F0}"/>
              </a:ext>
            </a:extLst>
          </p:cNvPr>
          <p:cNvGraphicFramePr>
            <a:graphicFrameLocks noGrp="1"/>
          </p:cNvGraphicFramePr>
          <p:nvPr>
            <p:extLst>
              <p:ext uri="{D42A27DB-BD31-4B8C-83A1-F6EECF244321}">
                <p14:modId xmlns:p14="http://schemas.microsoft.com/office/powerpoint/2010/main" val="1081941880"/>
              </p:ext>
            </p:extLst>
          </p:nvPr>
        </p:nvGraphicFramePr>
        <p:xfrm>
          <a:off x="231774" y="1454162"/>
          <a:ext cx="8312151" cy="2651760"/>
        </p:xfrm>
        <a:graphic>
          <a:graphicData uri="http://schemas.openxmlformats.org/drawingml/2006/table">
            <a:tbl>
              <a:tblPr/>
              <a:tblGrid>
                <a:gridCol w="2770717">
                  <a:extLst>
                    <a:ext uri="{9D8B030D-6E8A-4147-A177-3AD203B41FA5}">
                      <a16:colId xmlns:a16="http://schemas.microsoft.com/office/drawing/2014/main" val="1577994560"/>
                    </a:ext>
                  </a:extLst>
                </a:gridCol>
                <a:gridCol w="2770717">
                  <a:extLst>
                    <a:ext uri="{9D8B030D-6E8A-4147-A177-3AD203B41FA5}">
                      <a16:colId xmlns:a16="http://schemas.microsoft.com/office/drawing/2014/main" val="3610633441"/>
                    </a:ext>
                  </a:extLst>
                </a:gridCol>
                <a:gridCol w="2770717">
                  <a:extLst>
                    <a:ext uri="{9D8B030D-6E8A-4147-A177-3AD203B41FA5}">
                      <a16:colId xmlns:a16="http://schemas.microsoft.com/office/drawing/2014/main" val="372178700"/>
                    </a:ext>
                  </a:extLst>
                </a:gridCol>
              </a:tblGrid>
              <a:tr h="640080">
                <a:tc>
                  <a:txBody>
                    <a:bodyPr/>
                    <a:lstStyle/>
                    <a:p>
                      <a:r>
                        <a:rPr lang="en-IN" sz="1800"/>
                        <a:t>Feature</a:t>
                      </a:r>
                    </a:p>
                  </a:txBody>
                  <a:tcPr anchor="ctr">
                    <a:lnL>
                      <a:noFill/>
                    </a:lnL>
                    <a:lnR>
                      <a:noFill/>
                    </a:lnR>
                    <a:lnT>
                      <a:noFill/>
                    </a:lnT>
                    <a:lnB>
                      <a:noFill/>
                    </a:lnB>
                    <a:noFill/>
                  </a:tcPr>
                </a:tc>
                <a:tc>
                  <a:txBody>
                    <a:bodyPr/>
                    <a:lstStyle/>
                    <a:p>
                      <a:r>
                        <a:rPr lang="en-IN" sz="1800"/>
                        <a:t>Fixed Wireless Access (FWA)</a:t>
                      </a:r>
                    </a:p>
                  </a:txBody>
                  <a:tcPr anchor="ctr">
                    <a:lnL>
                      <a:noFill/>
                    </a:lnL>
                    <a:lnR>
                      <a:noFill/>
                    </a:lnR>
                    <a:lnT>
                      <a:noFill/>
                    </a:lnT>
                    <a:lnB>
                      <a:noFill/>
                    </a:lnB>
                    <a:noFill/>
                  </a:tcPr>
                </a:tc>
                <a:tc>
                  <a:txBody>
                    <a:bodyPr/>
                    <a:lstStyle/>
                    <a:p>
                      <a:r>
                        <a:rPr lang="en-IN" sz="1800"/>
                        <a:t>Cordless System</a:t>
                      </a:r>
                    </a:p>
                  </a:txBody>
                  <a:tcPr anchor="ctr">
                    <a:lnL>
                      <a:noFill/>
                    </a:lnL>
                    <a:lnR>
                      <a:noFill/>
                    </a:lnR>
                    <a:lnT>
                      <a:noFill/>
                    </a:lnT>
                    <a:lnB>
                      <a:noFill/>
                    </a:lnB>
                    <a:noFill/>
                  </a:tcPr>
                </a:tc>
                <a:extLst>
                  <a:ext uri="{0D108BD9-81ED-4DB2-BD59-A6C34878D82A}">
                    <a16:rowId xmlns:a16="http://schemas.microsoft.com/office/drawing/2014/main" val="3625025703"/>
                  </a:ext>
                </a:extLst>
              </a:tr>
              <a:tr h="640080">
                <a:tc>
                  <a:txBody>
                    <a:bodyPr/>
                    <a:lstStyle/>
                    <a:p>
                      <a:r>
                        <a:rPr lang="en-IN" sz="1800" b="1"/>
                        <a:t>Mobility</a:t>
                      </a:r>
                      <a:endParaRPr lang="en-IN" sz="1800"/>
                    </a:p>
                  </a:txBody>
                  <a:tcPr anchor="ctr">
                    <a:lnL>
                      <a:noFill/>
                    </a:lnL>
                    <a:lnR>
                      <a:noFill/>
                    </a:lnR>
                    <a:lnT>
                      <a:noFill/>
                    </a:lnT>
                    <a:lnB>
                      <a:noFill/>
                    </a:lnB>
                    <a:noFill/>
                  </a:tcPr>
                </a:tc>
                <a:tc>
                  <a:txBody>
                    <a:bodyPr/>
                    <a:lstStyle/>
                    <a:p>
                      <a:r>
                        <a:rPr lang="en-IN" sz="1800"/>
                        <a:t>No (Stationary devices)</a:t>
                      </a:r>
                    </a:p>
                  </a:txBody>
                  <a:tcPr anchor="ctr">
                    <a:lnL>
                      <a:noFill/>
                    </a:lnL>
                    <a:lnR>
                      <a:noFill/>
                    </a:lnR>
                    <a:lnT>
                      <a:noFill/>
                    </a:lnT>
                    <a:lnB>
                      <a:noFill/>
                    </a:lnB>
                    <a:noFill/>
                  </a:tcPr>
                </a:tc>
                <a:tc>
                  <a:txBody>
                    <a:bodyPr/>
                    <a:lstStyle/>
                    <a:p>
                      <a:r>
                        <a:rPr lang="en-US" sz="1800"/>
                        <a:t>Yes (Limited mobility within range)</a:t>
                      </a:r>
                    </a:p>
                  </a:txBody>
                  <a:tcPr anchor="ctr">
                    <a:lnL>
                      <a:noFill/>
                    </a:lnL>
                    <a:lnR>
                      <a:noFill/>
                    </a:lnR>
                    <a:lnT>
                      <a:noFill/>
                    </a:lnT>
                    <a:lnB>
                      <a:noFill/>
                    </a:lnB>
                    <a:noFill/>
                  </a:tcPr>
                </a:tc>
                <a:extLst>
                  <a:ext uri="{0D108BD9-81ED-4DB2-BD59-A6C34878D82A}">
                    <a16:rowId xmlns:a16="http://schemas.microsoft.com/office/drawing/2014/main" val="2945420389"/>
                  </a:ext>
                </a:extLst>
              </a:tr>
              <a:tr h="365760">
                <a:tc>
                  <a:txBody>
                    <a:bodyPr/>
                    <a:lstStyle/>
                    <a:p>
                      <a:r>
                        <a:rPr lang="en-IN" sz="1800" b="1"/>
                        <a:t>Usage</a:t>
                      </a:r>
                      <a:endParaRPr lang="en-IN" sz="1800"/>
                    </a:p>
                  </a:txBody>
                  <a:tcPr anchor="ctr">
                    <a:lnL>
                      <a:noFill/>
                    </a:lnL>
                    <a:lnR>
                      <a:noFill/>
                    </a:lnR>
                    <a:lnT>
                      <a:noFill/>
                    </a:lnT>
                    <a:lnB>
                      <a:noFill/>
                    </a:lnB>
                    <a:noFill/>
                  </a:tcPr>
                </a:tc>
                <a:tc>
                  <a:txBody>
                    <a:bodyPr/>
                    <a:lstStyle/>
                    <a:p>
                      <a:r>
                        <a:rPr lang="en-IN" sz="1800"/>
                        <a:t>Broadband internet</a:t>
                      </a:r>
                    </a:p>
                  </a:txBody>
                  <a:tcPr anchor="ctr">
                    <a:lnL>
                      <a:noFill/>
                    </a:lnL>
                    <a:lnR>
                      <a:noFill/>
                    </a:lnR>
                    <a:lnT>
                      <a:noFill/>
                    </a:lnT>
                    <a:lnB>
                      <a:noFill/>
                    </a:lnB>
                    <a:noFill/>
                  </a:tcPr>
                </a:tc>
                <a:tc>
                  <a:txBody>
                    <a:bodyPr/>
                    <a:lstStyle/>
                    <a:p>
                      <a:r>
                        <a:rPr lang="en-IN" sz="1800"/>
                        <a:t>Voice communication</a:t>
                      </a:r>
                    </a:p>
                  </a:txBody>
                  <a:tcPr anchor="ctr">
                    <a:lnL>
                      <a:noFill/>
                    </a:lnL>
                    <a:lnR>
                      <a:noFill/>
                    </a:lnR>
                    <a:lnT>
                      <a:noFill/>
                    </a:lnT>
                    <a:lnB>
                      <a:noFill/>
                    </a:lnB>
                    <a:noFill/>
                  </a:tcPr>
                </a:tc>
                <a:extLst>
                  <a:ext uri="{0D108BD9-81ED-4DB2-BD59-A6C34878D82A}">
                    <a16:rowId xmlns:a16="http://schemas.microsoft.com/office/drawing/2014/main" val="2491918413"/>
                  </a:ext>
                </a:extLst>
              </a:tr>
              <a:tr h="365760">
                <a:tc>
                  <a:txBody>
                    <a:bodyPr/>
                    <a:lstStyle/>
                    <a:p>
                      <a:r>
                        <a:rPr lang="en-IN" sz="1800" b="1"/>
                        <a:t>Base Station Role</a:t>
                      </a:r>
                      <a:endParaRPr lang="en-IN" sz="1800"/>
                    </a:p>
                  </a:txBody>
                  <a:tcPr anchor="ctr">
                    <a:lnL>
                      <a:noFill/>
                    </a:lnL>
                    <a:lnR>
                      <a:noFill/>
                    </a:lnR>
                    <a:lnT>
                      <a:noFill/>
                    </a:lnT>
                    <a:lnB>
                      <a:noFill/>
                    </a:lnB>
                    <a:noFill/>
                  </a:tcPr>
                </a:tc>
                <a:tc>
                  <a:txBody>
                    <a:bodyPr/>
                    <a:lstStyle/>
                    <a:p>
                      <a:r>
                        <a:rPr lang="en-IN" sz="1800"/>
                        <a:t>Serves multiple users</a:t>
                      </a:r>
                    </a:p>
                  </a:txBody>
                  <a:tcPr anchor="ctr">
                    <a:lnL>
                      <a:noFill/>
                    </a:lnL>
                    <a:lnR>
                      <a:noFill/>
                    </a:lnR>
                    <a:lnT>
                      <a:noFill/>
                    </a:lnT>
                    <a:lnB>
                      <a:noFill/>
                    </a:lnB>
                    <a:noFill/>
                  </a:tcPr>
                </a:tc>
                <a:tc>
                  <a:txBody>
                    <a:bodyPr/>
                    <a:lstStyle/>
                    <a:p>
                      <a:r>
                        <a:rPr lang="en-US" sz="1800"/>
                        <a:t>Usually serves a single user</a:t>
                      </a:r>
                    </a:p>
                  </a:txBody>
                  <a:tcPr anchor="ctr">
                    <a:lnL>
                      <a:noFill/>
                    </a:lnL>
                    <a:lnR>
                      <a:noFill/>
                    </a:lnR>
                    <a:lnT>
                      <a:noFill/>
                    </a:lnT>
                    <a:lnB>
                      <a:noFill/>
                    </a:lnB>
                    <a:noFill/>
                  </a:tcPr>
                </a:tc>
                <a:extLst>
                  <a:ext uri="{0D108BD9-81ED-4DB2-BD59-A6C34878D82A}">
                    <a16:rowId xmlns:a16="http://schemas.microsoft.com/office/drawing/2014/main" val="2606967170"/>
                  </a:ext>
                </a:extLst>
              </a:tr>
              <a:tr h="640080">
                <a:tc>
                  <a:txBody>
                    <a:bodyPr/>
                    <a:lstStyle/>
                    <a:p>
                      <a:r>
                        <a:rPr lang="en-IN" sz="1800" b="1"/>
                        <a:t>Technology</a:t>
                      </a:r>
                      <a:endParaRPr lang="en-IN" sz="1800"/>
                    </a:p>
                  </a:txBody>
                  <a:tcPr anchor="ctr">
                    <a:lnL>
                      <a:noFill/>
                    </a:lnL>
                    <a:lnR>
                      <a:noFill/>
                    </a:lnR>
                    <a:lnT>
                      <a:noFill/>
                    </a:lnT>
                    <a:lnB>
                      <a:noFill/>
                    </a:lnB>
                    <a:noFill/>
                  </a:tcPr>
                </a:tc>
                <a:tc>
                  <a:txBody>
                    <a:bodyPr/>
                    <a:lstStyle/>
                    <a:p>
                      <a:r>
                        <a:rPr lang="en-IN" sz="1800"/>
                        <a:t>4G, 5G, WiMAX</a:t>
                      </a:r>
                    </a:p>
                  </a:txBody>
                  <a:tcPr anchor="ctr">
                    <a:lnL>
                      <a:noFill/>
                    </a:lnL>
                    <a:lnR>
                      <a:noFill/>
                    </a:lnR>
                    <a:lnT>
                      <a:noFill/>
                    </a:lnT>
                    <a:lnB>
                      <a:noFill/>
                    </a:lnB>
                    <a:noFill/>
                  </a:tcPr>
                </a:tc>
                <a:tc>
                  <a:txBody>
                    <a:bodyPr/>
                    <a:lstStyle/>
                    <a:p>
                      <a:r>
                        <a:rPr lang="en-IN" sz="1800" dirty="0"/>
                        <a:t>Analog/Digital cordless telephony</a:t>
                      </a:r>
                    </a:p>
                  </a:txBody>
                  <a:tcPr anchor="ctr">
                    <a:lnL>
                      <a:noFill/>
                    </a:lnL>
                    <a:lnR>
                      <a:noFill/>
                    </a:lnR>
                    <a:lnT>
                      <a:noFill/>
                    </a:lnT>
                    <a:lnB>
                      <a:noFill/>
                    </a:lnB>
                    <a:noFill/>
                  </a:tcPr>
                </a:tc>
                <a:extLst>
                  <a:ext uri="{0D108BD9-81ED-4DB2-BD59-A6C34878D82A}">
                    <a16:rowId xmlns:a16="http://schemas.microsoft.com/office/drawing/2014/main" val="3251324347"/>
                  </a:ext>
                </a:extLst>
              </a:tr>
            </a:tbl>
          </a:graphicData>
        </a:graphic>
      </p:graphicFrame>
      <p:sp>
        <p:nvSpPr>
          <p:cNvPr id="7" name="TextBox 6">
            <a:extLst>
              <a:ext uri="{FF2B5EF4-FFF2-40B4-BE49-F238E27FC236}">
                <a16:creationId xmlns:a16="http://schemas.microsoft.com/office/drawing/2014/main" id="{A713DEDF-B6DF-34EA-700E-4AE7228E2A56}"/>
              </a:ext>
            </a:extLst>
          </p:cNvPr>
          <p:cNvSpPr txBox="1"/>
          <p:nvPr/>
        </p:nvSpPr>
        <p:spPr>
          <a:xfrm>
            <a:off x="228600" y="4267200"/>
            <a:ext cx="8686800" cy="2308324"/>
          </a:xfrm>
          <a:prstGeom prst="rect">
            <a:avLst/>
          </a:prstGeom>
          <a:noFill/>
        </p:spPr>
        <p:txBody>
          <a:bodyPr wrap="square" rtlCol="0">
            <a:spAutoFit/>
          </a:bodyPr>
          <a:lstStyle/>
          <a:p>
            <a:pPr>
              <a:buNone/>
            </a:pPr>
            <a:r>
              <a:rPr lang="en-US" b="1" dirty="0"/>
              <a:t>Advantages of FWA</a:t>
            </a:r>
          </a:p>
          <a:p>
            <a:pPr>
              <a:buFont typeface="Arial" panose="020B0604020202020204" pitchFamily="34" charset="0"/>
              <a:buChar char="•"/>
            </a:pPr>
            <a:r>
              <a:rPr lang="en-US" b="1" dirty="0"/>
              <a:t>Faster Deployment</a:t>
            </a:r>
            <a:r>
              <a:rPr lang="en-US" dirty="0"/>
              <a:t>: No need for physical cables, reducing installation time.</a:t>
            </a:r>
          </a:p>
          <a:p>
            <a:pPr>
              <a:buFont typeface="Arial" panose="020B0604020202020204" pitchFamily="34" charset="0"/>
              <a:buChar char="•"/>
            </a:pPr>
            <a:r>
              <a:rPr lang="en-US" b="1" dirty="0"/>
              <a:t>Cost-Effective</a:t>
            </a:r>
            <a:r>
              <a:rPr lang="en-US" dirty="0"/>
              <a:t>: Eliminates expensive fiber/cable laying.</a:t>
            </a:r>
          </a:p>
          <a:p>
            <a:pPr>
              <a:buFont typeface="Arial" panose="020B0604020202020204" pitchFamily="34" charset="0"/>
              <a:buChar char="•"/>
            </a:pPr>
            <a:r>
              <a:rPr lang="en-US" b="1" dirty="0"/>
              <a:t>Ideal for Rural &amp; Remote Areas</a:t>
            </a:r>
            <a:r>
              <a:rPr lang="en-US" dirty="0"/>
              <a:t>: Provides connectivity where </a:t>
            </a:r>
            <a:r>
              <a:rPr lang="en-US" b="1" dirty="0"/>
              <a:t>fiber or DSL is unavailable</a:t>
            </a:r>
            <a:r>
              <a:rPr lang="en-US" dirty="0"/>
              <a:t>.</a:t>
            </a:r>
          </a:p>
          <a:p>
            <a:pPr>
              <a:buFont typeface="Arial" panose="020B0604020202020204" pitchFamily="34" charset="0"/>
              <a:buChar char="•"/>
            </a:pPr>
            <a:r>
              <a:rPr lang="en-US" b="1" dirty="0"/>
              <a:t>Supports High Bandwidth Applications</a:t>
            </a:r>
            <a:r>
              <a:rPr lang="en-US" dirty="0"/>
              <a:t>: Enables </a:t>
            </a:r>
            <a:r>
              <a:rPr lang="en-US" b="1" dirty="0"/>
              <a:t>HD streaming, gaming, and remote work</a:t>
            </a:r>
            <a:r>
              <a:rPr lang="en-US" dirty="0"/>
              <a:t>.</a:t>
            </a:r>
          </a:p>
          <a:p>
            <a:endParaRPr lang="en-IN" dirty="0"/>
          </a:p>
        </p:txBody>
      </p:sp>
    </p:spTree>
    <p:extLst>
      <p:ext uri="{BB962C8B-B14F-4D97-AF65-F5344CB8AC3E}">
        <p14:creationId xmlns:p14="http://schemas.microsoft.com/office/powerpoint/2010/main" val="571370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3836670" cy="2220595"/>
          </a:xfrm>
          <a:prstGeom prst="rect">
            <a:avLst/>
          </a:prstGeom>
        </p:spPr>
        <p:txBody>
          <a:bodyPr vert="horz" wrap="square" lIns="0" tIns="85725" rIns="0" bIns="0" rtlCol="0">
            <a:spAutoFit/>
          </a:bodyPr>
          <a:lstStyle/>
          <a:p>
            <a:pPr marL="354965" indent="-342265">
              <a:lnSpc>
                <a:spcPct val="100000"/>
              </a:lnSpc>
              <a:spcBef>
                <a:spcPts val="675"/>
              </a:spcBef>
              <a:buClr>
                <a:srgbClr val="0F1141"/>
              </a:buClr>
              <a:buFont typeface="Arial MT"/>
              <a:buChar char="•"/>
              <a:tabLst>
                <a:tab pos="354965" algn="l"/>
              </a:tabLst>
            </a:pPr>
            <a:r>
              <a:rPr sz="2400" dirty="0">
                <a:latin typeface="Times New Roman"/>
                <a:cs typeface="Times New Roman"/>
              </a:rPr>
              <a:t>Data </a:t>
            </a:r>
            <a:r>
              <a:rPr sz="2400" spc="-20" dirty="0">
                <a:latin typeface="Times New Roman"/>
                <a:cs typeface="Times New Roman"/>
              </a:rPr>
              <a:t>Rate</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Range</a:t>
            </a:r>
            <a:r>
              <a:rPr sz="2400" spc="-3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Number of</a:t>
            </a:r>
            <a:r>
              <a:rPr sz="2400" spc="-10" dirty="0">
                <a:latin typeface="Times New Roman"/>
                <a:cs typeface="Times New Roman"/>
              </a:rPr>
              <a:t> Users</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spc="-10" dirty="0">
                <a:latin typeface="Times New Roman"/>
                <a:cs typeface="Times New Roman"/>
              </a:rPr>
              <a:t>Mobility</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Energy</a:t>
            </a:r>
            <a:r>
              <a:rPr sz="2400" spc="-60" dirty="0">
                <a:latin typeface="Times New Roman"/>
                <a:cs typeface="Times New Roman"/>
              </a:rPr>
              <a:t> </a:t>
            </a:r>
            <a:r>
              <a:rPr sz="2400" spc="-10" dirty="0">
                <a:latin typeface="Times New Roman"/>
                <a:cs typeface="Times New Roman"/>
              </a:rPr>
              <a:t>Consumption</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Use</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spc="-10" dirty="0">
                <a:latin typeface="Times New Roman"/>
                <a:cs typeface="Times New Roman"/>
              </a:rPr>
              <a:t>Spectrum</a:t>
            </a:r>
            <a:endParaRPr sz="240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5" dirty="0"/>
              <a:t>Requirements</a:t>
            </a:r>
            <a:r>
              <a:rPr spc="-190" dirty="0"/>
              <a:t> </a:t>
            </a:r>
            <a:r>
              <a:rPr spc="-120" dirty="0"/>
              <a:t>for</a:t>
            </a:r>
            <a:r>
              <a:rPr spc="-245" dirty="0"/>
              <a:t> </a:t>
            </a:r>
            <a:r>
              <a:rPr spc="-120" dirty="0"/>
              <a:t>the</a:t>
            </a:r>
            <a:r>
              <a:rPr spc="-229" dirty="0"/>
              <a:t> </a:t>
            </a:r>
            <a:r>
              <a:rPr spc="-125" dirty="0"/>
              <a:t>Services</a:t>
            </a:r>
          </a:p>
        </p:txBody>
      </p:sp>
      <p:sp>
        <p:nvSpPr>
          <p:cNvPr id="4" name="object 4"/>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26</a:t>
            </a:r>
            <a:endParaRPr sz="1200">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08050" y="2948940"/>
          <a:ext cx="8229600" cy="3655689"/>
        </p:xfrm>
        <a:graphic>
          <a:graphicData uri="http://schemas.openxmlformats.org/drawingml/2006/table">
            <a:tbl>
              <a:tblPr firstRow="1" bandRow="1">
                <a:tableStyleId>{2D5ABB26-0587-4C30-8999-92F81FD0307C}</a:tableStyleId>
              </a:tblPr>
              <a:tblGrid>
                <a:gridCol w="3543300">
                  <a:extLst>
                    <a:ext uri="{9D8B030D-6E8A-4147-A177-3AD203B41FA5}">
                      <a16:colId xmlns:a16="http://schemas.microsoft.com/office/drawing/2014/main" val="20000"/>
                    </a:ext>
                  </a:extLst>
                </a:gridCol>
                <a:gridCol w="35433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70534">
                <a:tc>
                  <a:txBody>
                    <a:bodyPr/>
                    <a:lstStyle/>
                    <a:p>
                      <a:pPr marL="91440">
                        <a:lnSpc>
                          <a:spcPct val="100000"/>
                        </a:lnSpc>
                        <a:spcBef>
                          <a:spcPts val="295"/>
                        </a:spcBef>
                      </a:pPr>
                      <a:r>
                        <a:rPr sz="2000" b="1" spc="-20" dirty="0">
                          <a:solidFill>
                            <a:srgbClr val="FFFFFF"/>
                          </a:solidFill>
                          <a:latin typeface="Times New Roman"/>
                          <a:cs typeface="Times New Roman"/>
                        </a:rPr>
                        <a:t>Type</a:t>
                      </a:r>
                      <a:r>
                        <a:rPr sz="2000" b="1" spc="-50" dirty="0">
                          <a:solidFill>
                            <a:srgbClr val="FFFFFF"/>
                          </a:solidFill>
                          <a:latin typeface="Times New Roman"/>
                          <a:cs typeface="Times New Roman"/>
                        </a:rPr>
                        <a:t> </a:t>
                      </a:r>
                      <a:r>
                        <a:rPr sz="2000" b="1" dirty="0">
                          <a:solidFill>
                            <a:srgbClr val="FFFFFF"/>
                          </a:solidFill>
                          <a:latin typeface="Times New Roman"/>
                          <a:cs typeface="Times New Roman"/>
                        </a:rPr>
                        <a:t>of</a:t>
                      </a:r>
                      <a:r>
                        <a:rPr sz="2000" b="1" spc="-55" dirty="0">
                          <a:solidFill>
                            <a:srgbClr val="FFFFFF"/>
                          </a:solidFill>
                          <a:latin typeface="Times New Roman"/>
                          <a:cs typeface="Times New Roman"/>
                        </a:rPr>
                        <a:t> </a:t>
                      </a:r>
                      <a:r>
                        <a:rPr sz="2000" b="1" spc="-10" dirty="0">
                          <a:solidFill>
                            <a:srgbClr val="FFFFFF"/>
                          </a:solidFill>
                          <a:latin typeface="Times New Roman"/>
                          <a:cs typeface="Times New Roman"/>
                        </a:rPr>
                        <a:t>application</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95"/>
                        </a:spcBef>
                      </a:pPr>
                      <a:r>
                        <a:rPr sz="2000" b="1" dirty="0">
                          <a:solidFill>
                            <a:srgbClr val="FFFFFF"/>
                          </a:solidFill>
                          <a:latin typeface="Times New Roman"/>
                          <a:cs typeface="Times New Roman"/>
                        </a:rPr>
                        <a:t>Data</a:t>
                      </a:r>
                      <a:r>
                        <a:rPr sz="2000" b="1" spc="-40" dirty="0">
                          <a:solidFill>
                            <a:srgbClr val="FFFFFF"/>
                          </a:solidFill>
                          <a:latin typeface="Times New Roman"/>
                          <a:cs typeface="Times New Roman"/>
                        </a:rPr>
                        <a:t> </a:t>
                      </a:r>
                      <a:r>
                        <a:rPr sz="2000" b="1" spc="-20" dirty="0">
                          <a:solidFill>
                            <a:srgbClr val="FFFFFF"/>
                          </a:solidFill>
                          <a:latin typeface="Times New Roman"/>
                          <a:cs typeface="Times New Roman"/>
                        </a:rPr>
                        <a:t>rate</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rowSpan="7">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95"/>
                        </a:spcBef>
                      </a:pPr>
                      <a:endParaRPr sz="1200">
                        <a:latin typeface="Times New Roman"/>
                        <a:cs typeface="Times New Roman"/>
                      </a:endParaRPr>
                    </a:p>
                    <a:p>
                      <a:pPr marR="83820" algn="r">
                        <a:lnSpc>
                          <a:spcPct val="100000"/>
                        </a:lnSpc>
                      </a:pPr>
                      <a:r>
                        <a:rPr sz="1200" spc="-25" dirty="0">
                          <a:solidFill>
                            <a:srgbClr val="888888"/>
                          </a:solidFill>
                          <a:latin typeface="Arial MT"/>
                          <a:cs typeface="Arial MT"/>
                        </a:rPr>
                        <a:t>27</a:t>
                      </a:r>
                      <a:endParaRPr sz="1200">
                        <a:latin typeface="Arial MT"/>
                        <a:cs typeface="Arial MT"/>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0"/>
                  </a:ext>
                </a:extLst>
              </a:tr>
              <a:tr h="470534">
                <a:tc>
                  <a:txBody>
                    <a:bodyPr/>
                    <a:lstStyle/>
                    <a:p>
                      <a:pPr marL="91440">
                        <a:lnSpc>
                          <a:spcPct val="100000"/>
                        </a:lnSpc>
                        <a:spcBef>
                          <a:spcPts val="295"/>
                        </a:spcBef>
                      </a:pPr>
                      <a:r>
                        <a:rPr sz="2000" dirty="0">
                          <a:latin typeface="Times New Roman"/>
                          <a:cs typeface="Times New Roman"/>
                        </a:rPr>
                        <a:t>Sensor</a:t>
                      </a:r>
                      <a:r>
                        <a:rPr sz="2000" spc="-25" dirty="0">
                          <a:latin typeface="Times New Roman"/>
                          <a:cs typeface="Times New Roman"/>
                        </a:rPr>
                        <a:t> </a:t>
                      </a:r>
                      <a:r>
                        <a:rPr sz="2000" spc="-10" dirty="0">
                          <a:latin typeface="Times New Roman"/>
                          <a:cs typeface="Times New Roman"/>
                        </a:rPr>
                        <a:t>networks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95"/>
                        </a:spcBef>
                      </a:pPr>
                      <a:r>
                        <a:rPr sz="2000" dirty="0">
                          <a:latin typeface="Times New Roman"/>
                          <a:cs typeface="Times New Roman"/>
                        </a:rPr>
                        <a:t>1</a:t>
                      </a:r>
                      <a:r>
                        <a:rPr sz="2000" spc="-10" dirty="0">
                          <a:latin typeface="Times New Roman"/>
                          <a:cs typeface="Times New Roman"/>
                        </a:rPr>
                        <a:t> Kbit/s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1"/>
                  </a:ext>
                </a:extLst>
              </a:tr>
              <a:tr h="470534">
                <a:tc>
                  <a:txBody>
                    <a:bodyPr/>
                    <a:lstStyle/>
                    <a:p>
                      <a:pPr marL="91440">
                        <a:lnSpc>
                          <a:spcPct val="100000"/>
                        </a:lnSpc>
                        <a:spcBef>
                          <a:spcPts val="300"/>
                        </a:spcBef>
                      </a:pPr>
                      <a:r>
                        <a:rPr sz="2000" dirty="0">
                          <a:latin typeface="Times New Roman"/>
                          <a:cs typeface="Times New Roman"/>
                        </a:rPr>
                        <a:t>Speech</a:t>
                      </a:r>
                      <a:r>
                        <a:rPr sz="2000" spc="-15" dirty="0">
                          <a:latin typeface="Times New Roman"/>
                          <a:cs typeface="Times New Roman"/>
                        </a:rPr>
                        <a:t> </a:t>
                      </a:r>
                      <a:r>
                        <a:rPr sz="2000" spc="-10" dirty="0">
                          <a:latin typeface="Times New Roman"/>
                          <a:cs typeface="Times New Roman"/>
                        </a:rPr>
                        <a:t>communications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300"/>
                        </a:spcBef>
                      </a:pPr>
                      <a:r>
                        <a:rPr sz="2000" dirty="0">
                          <a:latin typeface="Times New Roman"/>
                          <a:cs typeface="Times New Roman"/>
                        </a:rPr>
                        <a:t>5 and</a:t>
                      </a:r>
                      <a:r>
                        <a:rPr sz="2000" spc="-15" dirty="0">
                          <a:latin typeface="Times New Roman"/>
                          <a:cs typeface="Times New Roman"/>
                        </a:rPr>
                        <a:t> </a:t>
                      </a:r>
                      <a:r>
                        <a:rPr sz="2000" dirty="0">
                          <a:latin typeface="Times New Roman"/>
                          <a:cs typeface="Times New Roman"/>
                        </a:rPr>
                        <a:t>64 </a:t>
                      </a:r>
                      <a:r>
                        <a:rPr sz="2000" spc="-10" dirty="0">
                          <a:latin typeface="Times New Roman"/>
                          <a:cs typeface="Times New Roman"/>
                        </a:rPr>
                        <a:t>Kbit/s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2"/>
                  </a:ext>
                </a:extLst>
              </a:tr>
              <a:tr h="470534">
                <a:tc>
                  <a:txBody>
                    <a:bodyPr/>
                    <a:lstStyle/>
                    <a:p>
                      <a:pPr marL="91440">
                        <a:lnSpc>
                          <a:spcPct val="100000"/>
                        </a:lnSpc>
                        <a:spcBef>
                          <a:spcPts val="300"/>
                        </a:spcBef>
                      </a:pPr>
                      <a:r>
                        <a:rPr sz="2000" dirty="0">
                          <a:latin typeface="Times New Roman"/>
                          <a:cs typeface="Times New Roman"/>
                        </a:rPr>
                        <a:t>Elementary</a:t>
                      </a:r>
                      <a:r>
                        <a:rPr sz="2000" spc="-35" dirty="0">
                          <a:latin typeface="Times New Roman"/>
                          <a:cs typeface="Times New Roman"/>
                        </a:rPr>
                        <a:t> </a:t>
                      </a:r>
                      <a:r>
                        <a:rPr sz="2000" dirty="0">
                          <a:latin typeface="Times New Roman"/>
                          <a:cs typeface="Times New Roman"/>
                        </a:rPr>
                        <a:t>data</a:t>
                      </a:r>
                      <a:r>
                        <a:rPr sz="2000" spc="-30" dirty="0">
                          <a:latin typeface="Times New Roman"/>
                          <a:cs typeface="Times New Roman"/>
                        </a:rPr>
                        <a:t> </a:t>
                      </a:r>
                      <a:r>
                        <a:rPr sz="2000" spc="-10" dirty="0">
                          <a:latin typeface="Times New Roman"/>
                          <a:cs typeface="Times New Roman"/>
                        </a:rPr>
                        <a:t>services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300"/>
                        </a:spcBef>
                      </a:pPr>
                      <a:r>
                        <a:rPr sz="2000" dirty="0">
                          <a:latin typeface="Times New Roman"/>
                          <a:cs typeface="Times New Roman"/>
                        </a:rPr>
                        <a:t>10</a:t>
                      </a:r>
                      <a:r>
                        <a:rPr sz="2000" spc="-1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100</a:t>
                      </a:r>
                      <a:r>
                        <a:rPr sz="2000" spc="-25" dirty="0">
                          <a:latin typeface="Times New Roman"/>
                          <a:cs typeface="Times New Roman"/>
                        </a:rPr>
                        <a:t> </a:t>
                      </a:r>
                      <a:r>
                        <a:rPr sz="2000" spc="-10" dirty="0">
                          <a:latin typeface="Times New Roman"/>
                          <a:cs typeface="Times New Roman"/>
                        </a:rPr>
                        <a:t>Kbit/s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3"/>
                  </a:ext>
                </a:extLst>
              </a:tr>
              <a:tr h="832485">
                <a:tc>
                  <a:txBody>
                    <a:bodyPr/>
                    <a:lstStyle/>
                    <a:p>
                      <a:pPr marL="91440">
                        <a:lnSpc>
                          <a:spcPct val="100000"/>
                        </a:lnSpc>
                        <a:spcBef>
                          <a:spcPts val="300"/>
                        </a:spcBef>
                      </a:pPr>
                      <a:r>
                        <a:rPr sz="2000" dirty="0">
                          <a:latin typeface="Times New Roman"/>
                          <a:cs typeface="Times New Roman"/>
                        </a:rPr>
                        <a:t>Computer</a:t>
                      </a:r>
                      <a:r>
                        <a:rPr sz="2000" spc="-50" dirty="0">
                          <a:latin typeface="Times New Roman"/>
                          <a:cs typeface="Times New Roman"/>
                        </a:rPr>
                        <a:t> </a:t>
                      </a:r>
                      <a:r>
                        <a:rPr sz="2000" dirty="0">
                          <a:latin typeface="Times New Roman"/>
                          <a:cs typeface="Times New Roman"/>
                        </a:rPr>
                        <a:t>peripherals</a:t>
                      </a:r>
                      <a:r>
                        <a:rPr sz="2000" spc="-60"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91440">
                        <a:lnSpc>
                          <a:spcPct val="100000"/>
                        </a:lnSpc>
                      </a:pPr>
                      <a:r>
                        <a:rPr sz="2000" dirty="0">
                          <a:latin typeface="Times New Roman"/>
                          <a:cs typeface="Times New Roman"/>
                        </a:rPr>
                        <a:t>similar</a:t>
                      </a:r>
                      <a:r>
                        <a:rPr sz="2000" spc="-35" dirty="0">
                          <a:latin typeface="Times New Roman"/>
                          <a:cs typeface="Times New Roman"/>
                        </a:rPr>
                        <a:t> </a:t>
                      </a:r>
                      <a:r>
                        <a:rPr sz="2000" spc="-10" dirty="0">
                          <a:latin typeface="Times New Roman"/>
                          <a:cs typeface="Times New Roman"/>
                        </a:rPr>
                        <a:t>devices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300"/>
                        </a:spcBef>
                      </a:pPr>
                      <a:r>
                        <a:rPr sz="2000" spc="-10" dirty="0">
                          <a:latin typeface="Times New Roman"/>
                          <a:cs typeface="Times New Roman"/>
                        </a:rPr>
                        <a:t>1Mbit/s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4"/>
                  </a:ext>
                </a:extLst>
              </a:tr>
              <a:tr h="470534">
                <a:tc>
                  <a:txBody>
                    <a:bodyPr/>
                    <a:lstStyle/>
                    <a:p>
                      <a:pPr marL="91440">
                        <a:lnSpc>
                          <a:spcPct val="100000"/>
                        </a:lnSpc>
                        <a:spcBef>
                          <a:spcPts val="300"/>
                        </a:spcBef>
                      </a:pPr>
                      <a:r>
                        <a:rPr sz="2000" dirty="0">
                          <a:latin typeface="Times New Roman"/>
                          <a:cs typeface="Times New Roman"/>
                        </a:rPr>
                        <a:t>High-speed</a:t>
                      </a:r>
                      <a:r>
                        <a:rPr sz="2000" spc="-40" dirty="0">
                          <a:latin typeface="Times New Roman"/>
                          <a:cs typeface="Times New Roman"/>
                        </a:rPr>
                        <a:t> </a:t>
                      </a:r>
                      <a:r>
                        <a:rPr sz="2000" dirty="0">
                          <a:latin typeface="Times New Roman"/>
                          <a:cs typeface="Times New Roman"/>
                        </a:rPr>
                        <a:t>data</a:t>
                      </a:r>
                      <a:r>
                        <a:rPr sz="2000" spc="-15" dirty="0">
                          <a:latin typeface="Times New Roman"/>
                          <a:cs typeface="Times New Roman"/>
                        </a:rPr>
                        <a:t> </a:t>
                      </a:r>
                      <a:r>
                        <a:rPr sz="2000" spc="-10" dirty="0">
                          <a:latin typeface="Times New Roman"/>
                          <a:cs typeface="Times New Roman"/>
                        </a:rPr>
                        <a:t>services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300"/>
                        </a:spcBef>
                      </a:pPr>
                      <a:r>
                        <a:rPr sz="2000" dirty="0">
                          <a:latin typeface="Times New Roman"/>
                          <a:cs typeface="Times New Roman"/>
                        </a:rPr>
                        <a:t>0.5</a:t>
                      </a:r>
                      <a:r>
                        <a:rPr sz="2000" spc="-1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100</a:t>
                      </a:r>
                      <a:r>
                        <a:rPr sz="2000" spc="-25" dirty="0">
                          <a:latin typeface="Times New Roman"/>
                          <a:cs typeface="Times New Roman"/>
                        </a:rPr>
                        <a:t> </a:t>
                      </a:r>
                      <a:r>
                        <a:rPr sz="2000" spc="-10" dirty="0">
                          <a:latin typeface="Times New Roman"/>
                          <a:cs typeface="Times New Roman"/>
                        </a:rPr>
                        <a:t>Mbit/s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5"/>
                  </a:ext>
                </a:extLst>
              </a:tr>
              <a:tr h="470534">
                <a:tc>
                  <a:txBody>
                    <a:bodyPr/>
                    <a:lstStyle/>
                    <a:p>
                      <a:pPr marL="91440">
                        <a:lnSpc>
                          <a:spcPct val="100000"/>
                        </a:lnSpc>
                        <a:spcBef>
                          <a:spcPts val="300"/>
                        </a:spcBef>
                      </a:pPr>
                      <a:r>
                        <a:rPr sz="2000" dirty="0">
                          <a:latin typeface="Times New Roman"/>
                          <a:cs typeface="Times New Roman"/>
                        </a:rPr>
                        <a:t>Personal</a:t>
                      </a:r>
                      <a:r>
                        <a:rPr sz="2000" spc="-165" dirty="0">
                          <a:latin typeface="Times New Roman"/>
                          <a:cs typeface="Times New Roman"/>
                        </a:rPr>
                        <a:t> </a:t>
                      </a:r>
                      <a:r>
                        <a:rPr sz="2000" dirty="0">
                          <a:latin typeface="Times New Roman"/>
                          <a:cs typeface="Times New Roman"/>
                        </a:rPr>
                        <a:t>Area</a:t>
                      </a:r>
                      <a:r>
                        <a:rPr sz="2000" spc="-5" dirty="0">
                          <a:latin typeface="Times New Roman"/>
                          <a:cs typeface="Times New Roman"/>
                        </a:rPr>
                        <a:t> </a:t>
                      </a:r>
                      <a:r>
                        <a:rPr sz="2000" spc="-10" dirty="0">
                          <a:latin typeface="Times New Roman"/>
                          <a:cs typeface="Times New Roman"/>
                        </a:rPr>
                        <a:t>Networks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300"/>
                        </a:spcBef>
                      </a:pPr>
                      <a:r>
                        <a:rPr sz="2000" dirty="0">
                          <a:latin typeface="Times New Roman"/>
                          <a:cs typeface="Times New Roman"/>
                        </a:rPr>
                        <a:t>100</a:t>
                      </a:r>
                      <a:r>
                        <a:rPr sz="2000" spc="-10" dirty="0">
                          <a:latin typeface="Times New Roman"/>
                          <a:cs typeface="Times New Roman"/>
                        </a:rPr>
                        <a:t> Mbit/s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6"/>
                  </a:ext>
                </a:extLst>
              </a:tr>
            </a:tbl>
          </a:graphicData>
        </a:graphic>
      </p:graphicFrame>
      <p:pic>
        <p:nvPicPr>
          <p:cNvPr id="3" name="object 3"/>
          <p:cNvPicPr/>
          <p:nvPr/>
        </p:nvPicPr>
        <p:blipFill>
          <a:blip r:embed="rId2" cstate="print"/>
          <a:stretch>
            <a:fillRect/>
          </a:stretch>
        </p:blipFill>
        <p:spPr>
          <a:xfrm>
            <a:off x="6629400" y="0"/>
            <a:ext cx="2193163" cy="692658"/>
          </a:xfrm>
          <a:prstGeom prst="rect">
            <a:avLst/>
          </a:prstGeom>
        </p:spPr>
      </p:pic>
      <p:grpSp>
        <p:nvGrpSpPr>
          <p:cNvPr id="4" name="object 4"/>
          <p:cNvGrpSpPr/>
          <p:nvPr/>
        </p:nvGrpSpPr>
        <p:grpSpPr>
          <a:xfrm>
            <a:off x="0" y="1295401"/>
            <a:ext cx="7010400" cy="45720"/>
            <a:chOff x="0" y="1295401"/>
            <a:chExt cx="7010400" cy="45720"/>
          </a:xfrm>
        </p:grpSpPr>
        <p:sp>
          <p:nvSpPr>
            <p:cNvPr id="5" name="object 5"/>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6" name="object 6"/>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8" name="object 8"/>
          <p:cNvSpPr txBox="1"/>
          <p:nvPr/>
        </p:nvSpPr>
        <p:spPr>
          <a:xfrm>
            <a:off x="383540" y="1443355"/>
            <a:ext cx="6865620" cy="1342390"/>
          </a:xfrm>
          <a:prstGeom prst="rect">
            <a:avLst/>
          </a:prstGeom>
        </p:spPr>
        <p:txBody>
          <a:bodyPr vert="horz" wrap="square" lIns="0" tIns="12700" rIns="0" bIns="0" rtlCol="0">
            <a:spAutoFit/>
          </a:bodyPr>
          <a:lstStyle/>
          <a:p>
            <a:pPr marL="12700" marR="5080" algn="just">
              <a:lnSpc>
                <a:spcPct val="120000"/>
              </a:lnSpc>
              <a:spcBef>
                <a:spcPts val="100"/>
              </a:spcBef>
            </a:pPr>
            <a:r>
              <a:rPr sz="2400" dirty="0">
                <a:latin typeface="Times New Roman"/>
                <a:cs typeface="Times New Roman"/>
              </a:rPr>
              <a:t>Data</a:t>
            </a:r>
            <a:r>
              <a:rPr sz="2400" spc="-25" dirty="0">
                <a:latin typeface="Times New Roman"/>
                <a:cs typeface="Times New Roman"/>
              </a:rPr>
              <a:t> </a:t>
            </a:r>
            <a:r>
              <a:rPr sz="2400" dirty="0">
                <a:latin typeface="Times New Roman"/>
                <a:cs typeface="Times New Roman"/>
              </a:rPr>
              <a:t>rates</a:t>
            </a:r>
            <a:r>
              <a:rPr sz="2400" spc="-45"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wireless</a:t>
            </a:r>
            <a:r>
              <a:rPr sz="2400" spc="-40" dirty="0">
                <a:latin typeface="Times New Roman"/>
                <a:cs typeface="Times New Roman"/>
              </a:rPr>
              <a:t> </a:t>
            </a:r>
            <a:r>
              <a:rPr sz="2400" dirty="0">
                <a:latin typeface="Times New Roman"/>
                <a:cs typeface="Times New Roman"/>
              </a:rPr>
              <a:t>services</a:t>
            </a:r>
            <a:r>
              <a:rPr sz="2400" spc="-55" dirty="0">
                <a:latin typeface="Times New Roman"/>
                <a:cs typeface="Times New Roman"/>
              </a:rPr>
              <a:t> </a:t>
            </a:r>
            <a:r>
              <a:rPr sz="2400" dirty="0">
                <a:latin typeface="Times New Roman"/>
                <a:cs typeface="Times New Roman"/>
              </a:rPr>
              <a:t>ranges</a:t>
            </a:r>
            <a:r>
              <a:rPr sz="2400" spc="-30" dirty="0">
                <a:latin typeface="Times New Roman"/>
                <a:cs typeface="Times New Roman"/>
              </a:rPr>
              <a:t> </a:t>
            </a:r>
            <a:r>
              <a:rPr sz="2400" dirty="0">
                <a:latin typeface="Times New Roman"/>
                <a:cs typeface="Times New Roman"/>
              </a:rPr>
              <a:t>from</a:t>
            </a:r>
            <a:r>
              <a:rPr sz="2400" spc="-20" dirty="0">
                <a:latin typeface="Times New Roman"/>
                <a:cs typeface="Times New Roman"/>
              </a:rPr>
              <a:t> </a:t>
            </a:r>
            <a:r>
              <a:rPr sz="2400" dirty="0">
                <a:latin typeface="Times New Roman"/>
                <a:cs typeface="Times New Roman"/>
              </a:rPr>
              <a:t>few</a:t>
            </a:r>
            <a:r>
              <a:rPr sz="2400" spc="-20" dirty="0">
                <a:latin typeface="Times New Roman"/>
                <a:cs typeface="Times New Roman"/>
              </a:rPr>
              <a:t> </a:t>
            </a:r>
            <a:r>
              <a:rPr sz="2400" dirty="0">
                <a:latin typeface="Times New Roman"/>
                <a:cs typeface="Times New Roman"/>
              </a:rPr>
              <a:t>bits</a:t>
            </a:r>
            <a:r>
              <a:rPr sz="2400" spc="-45" dirty="0">
                <a:latin typeface="Times New Roman"/>
                <a:cs typeface="Times New Roman"/>
              </a:rPr>
              <a:t> </a:t>
            </a:r>
            <a:r>
              <a:rPr sz="2400" spc="-25" dirty="0">
                <a:latin typeface="Times New Roman"/>
                <a:cs typeface="Times New Roman"/>
              </a:rPr>
              <a:t>per </a:t>
            </a:r>
            <a:r>
              <a:rPr sz="2400" dirty="0">
                <a:latin typeface="Times New Roman"/>
                <a:cs typeface="Times New Roman"/>
              </a:rPr>
              <a:t>second</a:t>
            </a:r>
            <a:r>
              <a:rPr sz="2400" spc="-1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several</a:t>
            </a:r>
            <a:r>
              <a:rPr sz="2400" spc="-20" dirty="0">
                <a:latin typeface="Times New Roman"/>
                <a:cs typeface="Times New Roman"/>
              </a:rPr>
              <a:t> </a:t>
            </a:r>
            <a:r>
              <a:rPr sz="2400" dirty="0">
                <a:latin typeface="Times New Roman"/>
                <a:cs typeface="Times New Roman"/>
              </a:rPr>
              <a:t>gigabits</a:t>
            </a:r>
            <a:r>
              <a:rPr sz="2400" spc="-35" dirty="0">
                <a:latin typeface="Times New Roman"/>
                <a:cs typeface="Times New Roman"/>
              </a:rPr>
              <a:t> </a:t>
            </a:r>
            <a:r>
              <a:rPr sz="2400" dirty="0">
                <a:latin typeface="Times New Roman"/>
                <a:cs typeface="Times New Roman"/>
              </a:rPr>
              <a:t>per second,</a:t>
            </a:r>
            <a:r>
              <a:rPr sz="2400" spc="-15" dirty="0">
                <a:latin typeface="Times New Roman"/>
                <a:cs typeface="Times New Roman"/>
              </a:rPr>
              <a:t> </a:t>
            </a:r>
            <a:r>
              <a:rPr sz="2400" dirty="0">
                <a:latin typeface="Times New Roman"/>
                <a:cs typeface="Times New Roman"/>
              </a:rPr>
              <a:t>depending</a:t>
            </a:r>
            <a:r>
              <a:rPr sz="2400" spc="-25" dirty="0">
                <a:latin typeface="Times New Roman"/>
                <a:cs typeface="Times New Roman"/>
              </a:rPr>
              <a:t> </a:t>
            </a:r>
            <a:r>
              <a:rPr sz="2400" dirty="0">
                <a:latin typeface="Times New Roman"/>
                <a:cs typeface="Times New Roman"/>
              </a:rPr>
              <a:t>on </a:t>
            </a:r>
            <a:r>
              <a:rPr sz="2400" spc="-25" dirty="0">
                <a:latin typeface="Times New Roman"/>
                <a:cs typeface="Times New Roman"/>
              </a:rPr>
              <a:t>the </a:t>
            </a:r>
            <a:r>
              <a:rPr sz="2400" spc="-10" dirty="0">
                <a:latin typeface="Times New Roman"/>
                <a:cs typeface="Times New Roman"/>
              </a:rPr>
              <a:t>application.</a:t>
            </a:r>
            <a:endParaRPr sz="24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9" name="object 9"/>
          <p:cNvSpPr txBox="1">
            <a:spLocks noGrp="1"/>
          </p:cNvSpPr>
          <p:nvPr>
            <p:ph type="title"/>
          </p:nvPr>
        </p:nvSpPr>
        <p:spPr>
          <a:xfrm>
            <a:off x="383540" y="378917"/>
            <a:ext cx="1981835" cy="574675"/>
          </a:xfrm>
          <a:prstGeom prst="rect">
            <a:avLst/>
          </a:prstGeom>
        </p:spPr>
        <p:txBody>
          <a:bodyPr vert="horz" wrap="square" lIns="0" tIns="12700" rIns="0" bIns="0" rtlCol="0">
            <a:spAutoFit/>
          </a:bodyPr>
          <a:lstStyle/>
          <a:p>
            <a:pPr marL="12700">
              <a:lnSpc>
                <a:spcPct val="100000"/>
              </a:lnSpc>
              <a:spcBef>
                <a:spcPts val="100"/>
              </a:spcBef>
            </a:pPr>
            <a:r>
              <a:rPr spc="-125" dirty="0"/>
              <a:t>Data</a:t>
            </a:r>
            <a:r>
              <a:rPr spc="-275" dirty="0"/>
              <a:t> </a:t>
            </a:r>
            <a:r>
              <a:rPr spc="-100" dirty="0"/>
              <a:t>Rate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813350F-DAEC-20A4-2C64-B10CF4D4E947}"/>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73BCCE6-A562-1FA0-AD2E-7F79AA9857D2}"/>
              </a:ext>
            </a:extLst>
          </p:cNvPr>
          <p:cNvPicPr/>
          <p:nvPr/>
        </p:nvPicPr>
        <p:blipFill>
          <a:blip r:embed="rId2" cstate="print"/>
          <a:stretch>
            <a:fillRect/>
          </a:stretch>
        </p:blipFill>
        <p:spPr>
          <a:xfrm>
            <a:off x="6629400" y="0"/>
            <a:ext cx="2193163" cy="692658"/>
          </a:xfrm>
          <a:prstGeom prst="rect">
            <a:avLst/>
          </a:prstGeom>
        </p:spPr>
      </p:pic>
      <p:grpSp>
        <p:nvGrpSpPr>
          <p:cNvPr id="4" name="object 4">
            <a:extLst>
              <a:ext uri="{FF2B5EF4-FFF2-40B4-BE49-F238E27FC236}">
                <a16:creationId xmlns:a16="http://schemas.microsoft.com/office/drawing/2014/main" id="{468ADA88-4104-30AD-ABFC-FD82BE7B12D6}"/>
              </a:ext>
            </a:extLst>
          </p:cNvPr>
          <p:cNvGrpSpPr/>
          <p:nvPr/>
        </p:nvGrpSpPr>
        <p:grpSpPr>
          <a:xfrm>
            <a:off x="0" y="1295401"/>
            <a:ext cx="7010400" cy="45720"/>
            <a:chOff x="0" y="1295401"/>
            <a:chExt cx="7010400" cy="45720"/>
          </a:xfrm>
        </p:grpSpPr>
        <p:sp>
          <p:nvSpPr>
            <p:cNvPr id="5" name="object 5">
              <a:extLst>
                <a:ext uri="{FF2B5EF4-FFF2-40B4-BE49-F238E27FC236}">
                  <a16:creationId xmlns:a16="http://schemas.microsoft.com/office/drawing/2014/main" id="{7DDCF8C1-C29E-71ED-CF15-826C1538BBB1}"/>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6" name="object 6">
              <a:extLst>
                <a:ext uri="{FF2B5EF4-FFF2-40B4-BE49-F238E27FC236}">
                  <a16:creationId xmlns:a16="http://schemas.microsoft.com/office/drawing/2014/main" id="{7AA1B954-5182-70F2-10E2-E7544BAD52BC}"/>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7" name="object 7">
              <a:extLst>
                <a:ext uri="{FF2B5EF4-FFF2-40B4-BE49-F238E27FC236}">
                  <a16:creationId xmlns:a16="http://schemas.microsoft.com/office/drawing/2014/main" id="{89E02C00-FF30-EDC8-02AE-A706954541A1}"/>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14F24CB0-729F-F2A4-74AF-5BD42EF441E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9" name="object 9">
            <a:extLst>
              <a:ext uri="{FF2B5EF4-FFF2-40B4-BE49-F238E27FC236}">
                <a16:creationId xmlns:a16="http://schemas.microsoft.com/office/drawing/2014/main" id="{05C4536D-EF0C-FD7A-3F25-4554974FE2ED}"/>
              </a:ext>
            </a:extLst>
          </p:cNvPr>
          <p:cNvSpPr txBox="1">
            <a:spLocks noGrp="1"/>
          </p:cNvSpPr>
          <p:nvPr>
            <p:ph type="title"/>
          </p:nvPr>
        </p:nvSpPr>
        <p:spPr>
          <a:xfrm>
            <a:off x="383540" y="378917"/>
            <a:ext cx="1981835" cy="574675"/>
          </a:xfrm>
          <a:prstGeom prst="rect">
            <a:avLst/>
          </a:prstGeom>
        </p:spPr>
        <p:txBody>
          <a:bodyPr vert="horz" wrap="square" lIns="0" tIns="12700" rIns="0" bIns="0" rtlCol="0">
            <a:spAutoFit/>
          </a:bodyPr>
          <a:lstStyle/>
          <a:p>
            <a:pPr marL="12700">
              <a:lnSpc>
                <a:spcPct val="100000"/>
              </a:lnSpc>
              <a:spcBef>
                <a:spcPts val="100"/>
              </a:spcBef>
            </a:pPr>
            <a:r>
              <a:rPr spc="-125" dirty="0"/>
              <a:t>Data</a:t>
            </a:r>
            <a:r>
              <a:rPr spc="-275" dirty="0"/>
              <a:t> </a:t>
            </a:r>
            <a:r>
              <a:rPr spc="-100" dirty="0"/>
              <a:t>Rate</a:t>
            </a:r>
          </a:p>
        </p:txBody>
      </p:sp>
      <p:sp>
        <p:nvSpPr>
          <p:cNvPr id="11" name="TextBox 10">
            <a:extLst>
              <a:ext uri="{FF2B5EF4-FFF2-40B4-BE49-F238E27FC236}">
                <a16:creationId xmlns:a16="http://schemas.microsoft.com/office/drawing/2014/main" id="{915169C8-9761-366F-3E7F-BC5C0AB89922}"/>
              </a:ext>
            </a:extLst>
          </p:cNvPr>
          <p:cNvSpPr txBox="1"/>
          <p:nvPr/>
        </p:nvSpPr>
        <p:spPr>
          <a:xfrm>
            <a:off x="152400" y="1341121"/>
            <a:ext cx="8670163" cy="3416320"/>
          </a:xfrm>
          <a:prstGeom prst="rect">
            <a:avLst/>
          </a:prstGeom>
          <a:noFill/>
        </p:spPr>
        <p:txBody>
          <a:bodyPr wrap="square" rtlCol="0">
            <a:spAutoFit/>
          </a:bodyPr>
          <a:lstStyle/>
          <a:p>
            <a:r>
              <a:rPr lang="en-US" dirty="0"/>
              <a:t>The </a:t>
            </a:r>
            <a:r>
              <a:rPr lang="en-US" b="1" dirty="0"/>
              <a:t>data rate</a:t>
            </a:r>
            <a:r>
              <a:rPr lang="en-US" dirty="0"/>
              <a:t> in wireless communication varies based on the application, ranging from </a:t>
            </a:r>
            <a:r>
              <a:rPr lang="en-US" b="1" dirty="0"/>
              <a:t>a few bits per second</a:t>
            </a:r>
            <a:r>
              <a:rPr lang="en-US" dirty="0"/>
              <a:t> to </a:t>
            </a:r>
            <a:r>
              <a:rPr lang="en-US" b="1" dirty="0"/>
              <a:t>several gigabits per second</a:t>
            </a:r>
          </a:p>
          <a:p>
            <a:pPr>
              <a:buNone/>
            </a:pPr>
            <a:r>
              <a:rPr lang="en-US" b="1" dirty="0"/>
              <a:t>Key Observations:</a:t>
            </a:r>
          </a:p>
          <a:p>
            <a:pPr>
              <a:buFont typeface="Arial" panose="020B0604020202020204" pitchFamily="34" charset="0"/>
              <a:buChar char="•"/>
            </a:pPr>
            <a:r>
              <a:rPr lang="en-US" b="1" dirty="0"/>
              <a:t>Low data rates</a:t>
            </a:r>
            <a:r>
              <a:rPr lang="en-US" dirty="0"/>
              <a:t> are used in </a:t>
            </a:r>
            <a:r>
              <a:rPr lang="en-US" b="1" dirty="0"/>
              <a:t>sensor networks</a:t>
            </a:r>
            <a:r>
              <a:rPr lang="en-US" dirty="0"/>
              <a:t> and </a:t>
            </a:r>
            <a:r>
              <a:rPr lang="en-US" b="1" dirty="0"/>
              <a:t>speech communication</a:t>
            </a:r>
            <a:r>
              <a:rPr lang="en-US" dirty="0"/>
              <a:t>.</a:t>
            </a:r>
          </a:p>
          <a:p>
            <a:pPr>
              <a:buFont typeface="Arial" panose="020B0604020202020204" pitchFamily="34" charset="0"/>
              <a:buChar char="•"/>
            </a:pPr>
            <a:r>
              <a:rPr lang="en-US" b="1" dirty="0"/>
              <a:t>Medium data rates</a:t>
            </a:r>
            <a:r>
              <a:rPr lang="en-US" dirty="0"/>
              <a:t> support </a:t>
            </a:r>
            <a:r>
              <a:rPr lang="en-US" b="1" dirty="0"/>
              <a:t>elementary data services</a:t>
            </a:r>
            <a:r>
              <a:rPr lang="en-US" dirty="0"/>
              <a:t> and </a:t>
            </a:r>
            <a:r>
              <a:rPr lang="en-US" b="1" dirty="0"/>
              <a:t>computer peripherals</a:t>
            </a:r>
            <a:r>
              <a:rPr lang="en-US" dirty="0"/>
              <a:t>.</a:t>
            </a:r>
          </a:p>
          <a:p>
            <a:pPr>
              <a:buFont typeface="Arial" panose="020B0604020202020204" pitchFamily="34" charset="0"/>
              <a:buChar char="•"/>
            </a:pPr>
            <a:r>
              <a:rPr lang="en-US" b="1" dirty="0"/>
              <a:t>High-speed applications</a:t>
            </a:r>
            <a:r>
              <a:rPr lang="en-US" dirty="0"/>
              <a:t> like </a:t>
            </a:r>
            <a:r>
              <a:rPr lang="en-US" b="1" dirty="0"/>
              <a:t>Wi-Fi, mobile networks, and PANs</a:t>
            </a:r>
            <a:r>
              <a:rPr lang="en-US" dirty="0"/>
              <a:t> require much higher data rates.</a:t>
            </a:r>
          </a:p>
          <a:p>
            <a:endParaRPr lang="en-US" dirty="0"/>
          </a:p>
          <a:p>
            <a:r>
              <a:rPr lang="en-US" dirty="0"/>
              <a:t>The choice of data rate depends on the </a:t>
            </a:r>
            <a:r>
              <a:rPr lang="en-US" b="1" dirty="0"/>
              <a:t>network type, application requirements, and technology used</a:t>
            </a:r>
            <a:r>
              <a:rPr lang="en-US" dirty="0"/>
              <a:t>.</a:t>
            </a:r>
          </a:p>
          <a:p>
            <a:endParaRPr lang="en-IN" dirty="0"/>
          </a:p>
        </p:txBody>
      </p:sp>
    </p:spTree>
    <p:extLst>
      <p:ext uri="{BB962C8B-B14F-4D97-AF65-F5344CB8AC3E}">
        <p14:creationId xmlns:p14="http://schemas.microsoft.com/office/powerpoint/2010/main" val="4178265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29400" y="0"/>
            <a:ext cx="2193163" cy="692658"/>
          </a:xfrm>
          <a:prstGeom prst="rect">
            <a:avLst/>
          </a:prstGeom>
        </p:spPr>
      </p:pic>
      <p:grpSp>
        <p:nvGrpSpPr>
          <p:cNvPr id="3" name="object 3"/>
          <p:cNvGrpSpPr/>
          <p:nvPr/>
        </p:nvGrpSpPr>
        <p:grpSpPr>
          <a:xfrm>
            <a:off x="0" y="1295401"/>
            <a:ext cx="7010400" cy="45720"/>
            <a:chOff x="0" y="1295401"/>
            <a:chExt cx="7010400" cy="45720"/>
          </a:xfrm>
        </p:grpSpPr>
        <p:sp>
          <p:nvSpPr>
            <p:cNvPr id="4" name="object 4"/>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5" name="object 5"/>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6" name="object 6"/>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7" name="object 7"/>
          <p:cNvSpPr txBox="1"/>
          <p:nvPr/>
        </p:nvSpPr>
        <p:spPr>
          <a:xfrm>
            <a:off x="154939" y="1244854"/>
            <a:ext cx="8041005" cy="2659380"/>
          </a:xfrm>
          <a:prstGeom prst="rect">
            <a:avLst/>
          </a:prstGeom>
        </p:spPr>
        <p:txBody>
          <a:bodyPr vert="horz" wrap="square" lIns="0" tIns="12065" rIns="0" bIns="0" rtlCol="0">
            <a:spAutoFit/>
          </a:bodyPr>
          <a:lstStyle/>
          <a:p>
            <a:pPr marL="12700" marR="5080">
              <a:lnSpc>
                <a:spcPct val="120100"/>
              </a:lnSpc>
              <a:spcBef>
                <a:spcPts val="95"/>
              </a:spcBef>
            </a:pPr>
            <a:r>
              <a:rPr sz="2400" dirty="0">
                <a:latin typeface="Times New Roman"/>
                <a:cs typeface="Times New Roman"/>
              </a:rPr>
              <a:t>Another</a:t>
            </a:r>
            <a:r>
              <a:rPr sz="2400" spc="-30" dirty="0">
                <a:latin typeface="Times New Roman"/>
                <a:cs typeface="Times New Roman"/>
              </a:rPr>
              <a:t> </a:t>
            </a:r>
            <a:r>
              <a:rPr sz="2400" dirty="0">
                <a:latin typeface="Times New Roman"/>
                <a:cs typeface="Times New Roman"/>
              </a:rPr>
              <a:t>distinction</a:t>
            </a:r>
            <a:r>
              <a:rPr sz="2400" spc="-55" dirty="0">
                <a:latin typeface="Times New Roman"/>
                <a:cs typeface="Times New Roman"/>
              </a:rPr>
              <a:t> </a:t>
            </a:r>
            <a:r>
              <a:rPr sz="2400" dirty="0">
                <a:latin typeface="Times New Roman"/>
                <a:cs typeface="Times New Roman"/>
              </a:rPr>
              <a:t>among</a:t>
            </a:r>
            <a:r>
              <a:rPr sz="2400" spc="-1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different</a:t>
            </a:r>
            <a:r>
              <a:rPr sz="2400" spc="-25" dirty="0">
                <a:latin typeface="Times New Roman"/>
                <a:cs typeface="Times New Roman"/>
              </a:rPr>
              <a:t> </a:t>
            </a:r>
            <a:r>
              <a:rPr sz="2400" dirty="0">
                <a:latin typeface="Times New Roman"/>
                <a:cs typeface="Times New Roman"/>
              </a:rPr>
              <a:t>networks</a:t>
            </a:r>
            <a:r>
              <a:rPr sz="2400" spc="-15"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range</a:t>
            </a:r>
            <a:r>
              <a:rPr sz="2400" spc="-40" dirty="0">
                <a:latin typeface="Times New Roman"/>
                <a:cs typeface="Times New Roman"/>
              </a:rPr>
              <a:t> </a:t>
            </a:r>
            <a:r>
              <a:rPr sz="2400" spc="-25" dirty="0">
                <a:latin typeface="Times New Roman"/>
                <a:cs typeface="Times New Roman"/>
              </a:rPr>
              <a:t>and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number</a:t>
            </a:r>
            <a:r>
              <a:rPr sz="2400" spc="-1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users</a:t>
            </a:r>
            <a:r>
              <a:rPr sz="2400" spc="-20"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they</a:t>
            </a:r>
            <a:r>
              <a:rPr sz="2400" spc="-25" dirty="0">
                <a:latin typeface="Times New Roman"/>
                <a:cs typeface="Times New Roman"/>
              </a:rPr>
              <a:t> </a:t>
            </a:r>
            <a:r>
              <a:rPr sz="2400" dirty="0">
                <a:latin typeface="Times New Roman"/>
                <a:cs typeface="Times New Roman"/>
              </a:rPr>
              <a:t>serve.</a:t>
            </a:r>
            <a:r>
              <a:rPr sz="2400" spc="-25" dirty="0">
                <a:latin typeface="Times New Roman"/>
                <a:cs typeface="Times New Roman"/>
              </a:rPr>
              <a:t> </a:t>
            </a:r>
            <a:r>
              <a:rPr sz="2400" dirty="0">
                <a:latin typeface="Times New Roman"/>
                <a:cs typeface="Times New Roman"/>
              </a:rPr>
              <a:t>By</a:t>
            </a:r>
            <a:r>
              <a:rPr sz="2400" spc="-10" dirty="0">
                <a:latin typeface="Times New Roman"/>
                <a:cs typeface="Times New Roman"/>
              </a:rPr>
              <a:t> </a:t>
            </a:r>
            <a:r>
              <a:rPr sz="2400" dirty="0">
                <a:latin typeface="Times New Roman"/>
                <a:cs typeface="Times New Roman"/>
              </a:rPr>
              <a:t>range,</a:t>
            </a:r>
            <a:r>
              <a:rPr sz="2400" spc="-20" dirty="0">
                <a:latin typeface="Times New Roman"/>
                <a:cs typeface="Times New Roman"/>
              </a:rPr>
              <a:t> </a:t>
            </a:r>
            <a:r>
              <a:rPr sz="2400" dirty="0">
                <a:latin typeface="Times New Roman"/>
                <a:cs typeface="Times New Roman"/>
              </a:rPr>
              <a:t>we</a:t>
            </a:r>
            <a:r>
              <a:rPr sz="2400" spc="-15" dirty="0">
                <a:latin typeface="Times New Roman"/>
                <a:cs typeface="Times New Roman"/>
              </a:rPr>
              <a:t> </a:t>
            </a:r>
            <a:r>
              <a:rPr sz="2400" dirty="0">
                <a:latin typeface="Times New Roman"/>
                <a:cs typeface="Times New Roman"/>
              </a:rPr>
              <a:t>mean here</a:t>
            </a:r>
            <a:r>
              <a:rPr sz="2400" spc="-40" dirty="0">
                <a:latin typeface="Times New Roman"/>
                <a:cs typeface="Times New Roman"/>
              </a:rPr>
              <a:t> </a:t>
            </a:r>
            <a:r>
              <a:rPr sz="2400" spc="-25" dirty="0">
                <a:latin typeface="Times New Roman"/>
                <a:cs typeface="Times New Roman"/>
              </a:rPr>
              <a:t>the </a:t>
            </a:r>
            <a:r>
              <a:rPr sz="2400" dirty="0">
                <a:latin typeface="Times New Roman"/>
                <a:cs typeface="Times New Roman"/>
              </a:rPr>
              <a:t>distance</a:t>
            </a:r>
            <a:r>
              <a:rPr sz="2400" spc="-40" dirty="0">
                <a:latin typeface="Times New Roman"/>
                <a:cs typeface="Times New Roman"/>
              </a:rPr>
              <a:t> </a:t>
            </a:r>
            <a:r>
              <a:rPr sz="2400" dirty="0">
                <a:latin typeface="Times New Roman"/>
                <a:cs typeface="Times New Roman"/>
              </a:rPr>
              <a:t>between</a:t>
            </a:r>
            <a:r>
              <a:rPr sz="2400" spc="-20" dirty="0">
                <a:latin typeface="Times New Roman"/>
                <a:cs typeface="Times New Roman"/>
              </a:rPr>
              <a:t> </a:t>
            </a:r>
            <a:r>
              <a:rPr sz="2400" dirty="0">
                <a:latin typeface="Times New Roman"/>
                <a:cs typeface="Times New Roman"/>
              </a:rPr>
              <a:t>transmitter</a:t>
            </a:r>
            <a:r>
              <a:rPr sz="2400" spc="-45" dirty="0">
                <a:latin typeface="Times New Roman"/>
                <a:cs typeface="Times New Roman"/>
              </a:rPr>
              <a:t> </a:t>
            </a:r>
            <a:r>
              <a:rPr sz="2400" dirty="0">
                <a:latin typeface="Times New Roman"/>
                <a:cs typeface="Times New Roman"/>
              </a:rPr>
              <a:t>and </a:t>
            </a:r>
            <a:r>
              <a:rPr sz="2400" spc="-10" dirty="0">
                <a:latin typeface="Times New Roman"/>
                <a:cs typeface="Times New Roman"/>
              </a:rPr>
              <a:t>receiver.</a:t>
            </a:r>
            <a:endParaRPr sz="2400">
              <a:latin typeface="Times New Roman"/>
              <a:cs typeface="Times New Roman"/>
            </a:endParaRPr>
          </a:p>
          <a:p>
            <a:pPr marL="12700" marR="277495" algn="just">
              <a:lnSpc>
                <a:spcPct val="120000"/>
              </a:lnSpc>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coverage</a:t>
            </a:r>
            <a:r>
              <a:rPr sz="2400" spc="-30" dirty="0">
                <a:latin typeface="Times New Roman"/>
                <a:cs typeface="Times New Roman"/>
              </a:rPr>
              <a:t> </a:t>
            </a:r>
            <a:r>
              <a:rPr sz="2400" dirty="0">
                <a:latin typeface="Times New Roman"/>
                <a:cs typeface="Times New Roman"/>
              </a:rPr>
              <a:t>area</a:t>
            </a:r>
            <a:r>
              <a:rPr sz="2400" spc="-1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dirty="0">
                <a:latin typeface="Times New Roman"/>
                <a:cs typeface="Times New Roman"/>
              </a:rPr>
              <a:t>can</a:t>
            </a:r>
            <a:r>
              <a:rPr sz="2400" spc="-20" dirty="0">
                <a:latin typeface="Times New Roman"/>
                <a:cs typeface="Times New Roman"/>
              </a:rPr>
              <a:t> </a:t>
            </a:r>
            <a:r>
              <a:rPr sz="2400" dirty="0">
                <a:latin typeface="Times New Roman"/>
                <a:cs typeface="Times New Roman"/>
              </a:rPr>
              <a:t>be</a:t>
            </a:r>
            <a:r>
              <a:rPr sz="2400" spc="-5" dirty="0">
                <a:latin typeface="Times New Roman"/>
                <a:cs typeface="Times New Roman"/>
              </a:rPr>
              <a:t> </a:t>
            </a:r>
            <a:r>
              <a:rPr sz="2400" dirty="0">
                <a:latin typeface="Times New Roman"/>
                <a:cs typeface="Times New Roman"/>
              </a:rPr>
              <a:t>made</a:t>
            </a:r>
            <a:r>
              <a:rPr sz="2400" spc="-10" dirty="0">
                <a:latin typeface="Times New Roman"/>
                <a:cs typeface="Times New Roman"/>
              </a:rPr>
              <a:t> </a:t>
            </a:r>
            <a:r>
              <a:rPr sz="2400" dirty="0">
                <a:latin typeface="Times New Roman"/>
                <a:cs typeface="Times New Roman"/>
              </a:rPr>
              <a:t>almost</a:t>
            </a:r>
            <a:r>
              <a:rPr sz="2400" spc="-10" dirty="0">
                <a:latin typeface="Times New Roman"/>
                <a:cs typeface="Times New Roman"/>
              </a:rPr>
              <a:t> independent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range</a:t>
            </a:r>
            <a:r>
              <a:rPr sz="2400" spc="-25" dirty="0">
                <a:latin typeface="Times New Roman"/>
                <a:cs typeface="Times New Roman"/>
              </a:rPr>
              <a:t> </a:t>
            </a:r>
            <a:r>
              <a:rPr sz="2400" dirty="0">
                <a:latin typeface="Times New Roman"/>
                <a:cs typeface="Times New Roman"/>
              </a:rPr>
              <a:t>by</a:t>
            </a:r>
            <a:r>
              <a:rPr sz="2400" spc="-15" dirty="0">
                <a:latin typeface="Times New Roman"/>
                <a:cs typeface="Times New Roman"/>
              </a:rPr>
              <a:t> </a:t>
            </a:r>
            <a:r>
              <a:rPr sz="2400" dirty="0">
                <a:latin typeface="Times New Roman"/>
                <a:cs typeface="Times New Roman"/>
              </a:rPr>
              <a:t>just</a:t>
            </a:r>
            <a:r>
              <a:rPr sz="2400" spc="-25" dirty="0">
                <a:latin typeface="Times New Roman"/>
                <a:cs typeface="Times New Roman"/>
              </a:rPr>
              <a:t> </a:t>
            </a:r>
            <a:r>
              <a:rPr sz="2400" dirty="0">
                <a:latin typeface="Times New Roman"/>
                <a:cs typeface="Times New Roman"/>
              </a:rPr>
              <a:t>combining</a:t>
            </a:r>
            <a:r>
              <a:rPr sz="2400" spc="-3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larger</a:t>
            </a:r>
            <a:r>
              <a:rPr sz="2400" spc="-35" dirty="0">
                <a:latin typeface="Times New Roman"/>
                <a:cs typeface="Times New Roman"/>
              </a:rPr>
              <a:t> </a:t>
            </a:r>
            <a:r>
              <a:rPr sz="2400" dirty="0">
                <a:latin typeface="Times New Roman"/>
                <a:cs typeface="Times New Roman"/>
              </a:rPr>
              <a:t>number</a:t>
            </a:r>
            <a:r>
              <a:rPr sz="2400" spc="-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BSs</a:t>
            </a:r>
            <a:r>
              <a:rPr sz="2400" spc="-15" dirty="0">
                <a:latin typeface="Times New Roman"/>
                <a:cs typeface="Times New Roman"/>
              </a:rPr>
              <a:t> </a:t>
            </a:r>
            <a:r>
              <a:rPr sz="2400" dirty="0">
                <a:latin typeface="Times New Roman"/>
                <a:cs typeface="Times New Roman"/>
              </a:rPr>
              <a:t>into</a:t>
            </a:r>
            <a:r>
              <a:rPr sz="2400" spc="-30" dirty="0">
                <a:latin typeface="Times New Roman"/>
                <a:cs typeface="Times New Roman"/>
              </a:rPr>
              <a:t> </a:t>
            </a:r>
            <a:r>
              <a:rPr sz="2400" spc="-25" dirty="0">
                <a:latin typeface="Times New Roman"/>
                <a:cs typeface="Times New Roman"/>
              </a:rPr>
              <a:t>one </a:t>
            </a:r>
            <a:r>
              <a:rPr sz="2400" dirty="0">
                <a:latin typeface="Times New Roman"/>
                <a:cs typeface="Times New Roman"/>
              </a:rPr>
              <a:t>big</a:t>
            </a:r>
            <a:r>
              <a:rPr sz="2400" spc="-10" dirty="0">
                <a:latin typeface="Times New Roman"/>
                <a:cs typeface="Times New Roman"/>
              </a:rPr>
              <a:t> network.</a:t>
            </a:r>
            <a:endParaRPr sz="24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8" name="object 8"/>
          <p:cNvGraphicFramePr>
            <a:graphicFrameLocks noGrp="1"/>
          </p:cNvGraphicFramePr>
          <p:nvPr/>
        </p:nvGraphicFramePr>
        <p:xfrm>
          <a:off x="2051050" y="3575050"/>
          <a:ext cx="7086600" cy="3075940"/>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395605">
                <a:tc>
                  <a:txBody>
                    <a:bodyPr/>
                    <a:lstStyle/>
                    <a:p>
                      <a:pPr marL="91440">
                        <a:lnSpc>
                          <a:spcPct val="100000"/>
                        </a:lnSpc>
                        <a:spcBef>
                          <a:spcPts val="295"/>
                        </a:spcBef>
                      </a:pPr>
                      <a:r>
                        <a:rPr sz="2000" b="1" spc="-20" dirty="0">
                          <a:solidFill>
                            <a:srgbClr val="FFFFFF"/>
                          </a:solidFill>
                          <a:latin typeface="Times New Roman"/>
                          <a:cs typeface="Times New Roman"/>
                        </a:rPr>
                        <a:t>Type</a:t>
                      </a:r>
                      <a:r>
                        <a:rPr sz="2000" b="1" spc="-50" dirty="0">
                          <a:solidFill>
                            <a:srgbClr val="FFFFFF"/>
                          </a:solidFill>
                          <a:latin typeface="Times New Roman"/>
                          <a:cs typeface="Times New Roman"/>
                        </a:rPr>
                        <a:t> </a:t>
                      </a:r>
                      <a:r>
                        <a:rPr sz="2000" b="1" dirty="0">
                          <a:solidFill>
                            <a:srgbClr val="FFFFFF"/>
                          </a:solidFill>
                          <a:latin typeface="Times New Roman"/>
                          <a:cs typeface="Times New Roman"/>
                        </a:rPr>
                        <a:t>of</a:t>
                      </a:r>
                      <a:r>
                        <a:rPr sz="2000" b="1" spc="-55" dirty="0">
                          <a:solidFill>
                            <a:srgbClr val="FFFFFF"/>
                          </a:solidFill>
                          <a:latin typeface="Times New Roman"/>
                          <a:cs typeface="Times New Roman"/>
                        </a:rPr>
                        <a:t> </a:t>
                      </a:r>
                      <a:r>
                        <a:rPr sz="2000" b="1" spc="-10" dirty="0">
                          <a:solidFill>
                            <a:srgbClr val="FFFFFF"/>
                          </a:solidFill>
                          <a:latin typeface="Times New Roman"/>
                          <a:cs typeface="Times New Roman"/>
                        </a:rPr>
                        <a:t>network</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95"/>
                        </a:spcBef>
                      </a:pPr>
                      <a:r>
                        <a:rPr sz="2000" b="1" spc="-10" dirty="0">
                          <a:solidFill>
                            <a:srgbClr val="FFFFFF"/>
                          </a:solidFill>
                          <a:latin typeface="Times New Roman"/>
                          <a:cs typeface="Times New Roman"/>
                        </a:rPr>
                        <a:t>Range</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rowSpan="7">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1215"/>
                        </a:spcBef>
                      </a:pPr>
                      <a:endParaRPr sz="1200">
                        <a:latin typeface="Times New Roman"/>
                        <a:cs typeface="Times New Roman"/>
                      </a:endParaRPr>
                    </a:p>
                    <a:p>
                      <a:pPr marL="346710">
                        <a:lnSpc>
                          <a:spcPct val="100000"/>
                        </a:lnSpc>
                      </a:pPr>
                      <a:r>
                        <a:rPr sz="1200" spc="-25" dirty="0">
                          <a:solidFill>
                            <a:srgbClr val="888888"/>
                          </a:solidFill>
                          <a:latin typeface="Arial MT"/>
                          <a:cs typeface="Arial MT"/>
                        </a:rPr>
                        <a:t>28</a:t>
                      </a:r>
                      <a:endParaRPr sz="1200">
                        <a:latin typeface="Arial MT"/>
                        <a:cs typeface="Arial MT"/>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0"/>
                  </a:ext>
                </a:extLst>
              </a:tr>
              <a:tr h="396240">
                <a:tc>
                  <a:txBody>
                    <a:bodyPr/>
                    <a:lstStyle/>
                    <a:p>
                      <a:pPr marL="91440">
                        <a:lnSpc>
                          <a:spcPct val="100000"/>
                        </a:lnSpc>
                        <a:spcBef>
                          <a:spcPts val="300"/>
                        </a:spcBef>
                      </a:pPr>
                      <a:r>
                        <a:rPr sz="2000" dirty="0">
                          <a:latin typeface="Times New Roman"/>
                          <a:cs typeface="Times New Roman"/>
                        </a:rPr>
                        <a:t>Body</a:t>
                      </a:r>
                      <a:r>
                        <a:rPr sz="2000" spc="-120" dirty="0">
                          <a:latin typeface="Times New Roman"/>
                          <a:cs typeface="Times New Roman"/>
                        </a:rPr>
                        <a:t> </a:t>
                      </a:r>
                      <a:r>
                        <a:rPr sz="2000" dirty="0">
                          <a:latin typeface="Times New Roman"/>
                          <a:cs typeface="Times New Roman"/>
                        </a:rPr>
                        <a:t>Area</a:t>
                      </a:r>
                      <a:r>
                        <a:rPr sz="2000" spc="-10" dirty="0">
                          <a:latin typeface="Times New Roman"/>
                          <a:cs typeface="Times New Roman"/>
                        </a:rPr>
                        <a:t> </a:t>
                      </a:r>
                      <a:r>
                        <a:rPr sz="2000" dirty="0">
                          <a:latin typeface="Times New Roman"/>
                          <a:cs typeface="Times New Roman"/>
                        </a:rPr>
                        <a:t>Networks</a:t>
                      </a:r>
                      <a:r>
                        <a:rPr sz="2000" spc="-35" dirty="0">
                          <a:latin typeface="Times New Roman"/>
                          <a:cs typeface="Times New Roman"/>
                        </a:rPr>
                        <a:t> </a:t>
                      </a:r>
                      <a:r>
                        <a:rPr sz="2000" spc="-10" dirty="0">
                          <a:latin typeface="Times New Roman"/>
                          <a:cs typeface="Times New Roman"/>
                        </a:rPr>
                        <a:t>(BANs)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300"/>
                        </a:spcBef>
                      </a:pPr>
                      <a:r>
                        <a:rPr sz="2000" spc="-10" dirty="0">
                          <a:latin typeface="Times New Roman"/>
                          <a:cs typeface="Times New Roman"/>
                        </a:rPr>
                        <a:t>1meter</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1"/>
                  </a:ext>
                </a:extLst>
              </a:tr>
              <a:tr h="395605">
                <a:tc>
                  <a:txBody>
                    <a:bodyPr/>
                    <a:lstStyle/>
                    <a:p>
                      <a:pPr marL="91440">
                        <a:lnSpc>
                          <a:spcPct val="100000"/>
                        </a:lnSpc>
                        <a:spcBef>
                          <a:spcPts val="295"/>
                        </a:spcBef>
                      </a:pPr>
                      <a:r>
                        <a:rPr sz="2000" dirty="0">
                          <a:latin typeface="Times New Roman"/>
                          <a:cs typeface="Times New Roman"/>
                        </a:rPr>
                        <a:t>Personal</a:t>
                      </a:r>
                      <a:r>
                        <a:rPr sz="2000" spc="-150" dirty="0">
                          <a:latin typeface="Times New Roman"/>
                          <a:cs typeface="Times New Roman"/>
                        </a:rPr>
                        <a:t> </a:t>
                      </a:r>
                      <a:r>
                        <a:rPr sz="2000" dirty="0">
                          <a:latin typeface="Times New Roman"/>
                          <a:cs typeface="Times New Roman"/>
                        </a:rPr>
                        <a:t>Area</a:t>
                      </a:r>
                      <a:r>
                        <a:rPr sz="2000" spc="-5" dirty="0">
                          <a:latin typeface="Times New Roman"/>
                          <a:cs typeface="Times New Roman"/>
                        </a:rPr>
                        <a:t> </a:t>
                      </a:r>
                      <a:r>
                        <a:rPr sz="2000" spc="-10" dirty="0">
                          <a:latin typeface="Times New Roman"/>
                          <a:cs typeface="Times New Roman"/>
                        </a:rPr>
                        <a:t>Networks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95"/>
                        </a:spcBef>
                      </a:pPr>
                      <a:r>
                        <a:rPr sz="2000" dirty="0">
                          <a:latin typeface="Times New Roman"/>
                          <a:cs typeface="Times New Roman"/>
                        </a:rPr>
                        <a:t>10</a:t>
                      </a:r>
                      <a:r>
                        <a:rPr sz="2000" spc="-10" dirty="0">
                          <a:latin typeface="Times New Roman"/>
                          <a:cs typeface="Times New Roman"/>
                        </a:rPr>
                        <a:t> </a:t>
                      </a:r>
                      <a:r>
                        <a:rPr sz="2000" spc="-20" dirty="0">
                          <a:latin typeface="Times New Roman"/>
                          <a:cs typeface="Times New Roman"/>
                        </a:rPr>
                        <a:t>meter</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2"/>
                  </a:ext>
                </a:extLst>
              </a:tr>
              <a:tr h="396240">
                <a:tc>
                  <a:txBody>
                    <a:bodyPr/>
                    <a:lstStyle/>
                    <a:p>
                      <a:pPr marL="91440">
                        <a:lnSpc>
                          <a:spcPct val="100000"/>
                        </a:lnSpc>
                        <a:spcBef>
                          <a:spcPts val="295"/>
                        </a:spcBef>
                      </a:pPr>
                      <a:r>
                        <a:rPr sz="2000" spc="-10" dirty="0">
                          <a:latin typeface="Times New Roman"/>
                          <a:cs typeface="Times New Roman"/>
                        </a:rPr>
                        <a:t>WLANs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95"/>
                        </a:spcBef>
                      </a:pPr>
                      <a:r>
                        <a:rPr sz="2000" dirty="0">
                          <a:latin typeface="Times New Roman"/>
                          <a:cs typeface="Times New Roman"/>
                        </a:rPr>
                        <a:t>up</a:t>
                      </a:r>
                      <a:r>
                        <a:rPr sz="2000" spc="-2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100</a:t>
                      </a:r>
                      <a:r>
                        <a:rPr sz="2000" spc="-10" dirty="0">
                          <a:latin typeface="Times New Roman"/>
                          <a:cs typeface="Times New Roman"/>
                        </a:rPr>
                        <a:t> </a:t>
                      </a:r>
                      <a:r>
                        <a:rPr sz="2000" spc="-20" dirty="0">
                          <a:latin typeface="Times New Roman"/>
                          <a:cs typeface="Times New Roman"/>
                        </a:rPr>
                        <a:t>meter</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3"/>
                  </a:ext>
                </a:extLst>
              </a:tr>
              <a:tr h="395605">
                <a:tc>
                  <a:txBody>
                    <a:bodyPr/>
                    <a:lstStyle/>
                    <a:p>
                      <a:pPr marL="91440">
                        <a:lnSpc>
                          <a:spcPct val="100000"/>
                        </a:lnSpc>
                        <a:spcBef>
                          <a:spcPts val="300"/>
                        </a:spcBef>
                      </a:pPr>
                      <a:r>
                        <a:rPr sz="2000" dirty="0">
                          <a:latin typeface="Times New Roman"/>
                          <a:cs typeface="Times New Roman"/>
                        </a:rPr>
                        <a:t>Cellular</a:t>
                      </a:r>
                      <a:r>
                        <a:rPr sz="2000" spc="-50" dirty="0">
                          <a:latin typeface="Times New Roman"/>
                          <a:cs typeface="Times New Roman"/>
                        </a:rPr>
                        <a:t> </a:t>
                      </a:r>
                      <a:r>
                        <a:rPr sz="2000" spc="-10" dirty="0">
                          <a:latin typeface="Times New Roman"/>
                          <a:cs typeface="Times New Roman"/>
                        </a:rPr>
                        <a:t>systems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300"/>
                        </a:spcBef>
                      </a:pPr>
                      <a:r>
                        <a:rPr sz="2000" dirty="0">
                          <a:latin typeface="Times New Roman"/>
                          <a:cs typeface="Times New Roman"/>
                        </a:rPr>
                        <a:t>10</a:t>
                      </a:r>
                      <a:r>
                        <a:rPr sz="2000" spc="-15" dirty="0">
                          <a:latin typeface="Times New Roman"/>
                          <a:cs typeface="Times New Roman"/>
                        </a:rPr>
                        <a:t> </a:t>
                      </a:r>
                      <a:r>
                        <a:rPr sz="2000" dirty="0">
                          <a:latin typeface="Times New Roman"/>
                          <a:cs typeface="Times New Roman"/>
                        </a:rPr>
                        <a:t>or</a:t>
                      </a:r>
                      <a:r>
                        <a:rPr sz="2000" spc="-5" dirty="0">
                          <a:latin typeface="Times New Roman"/>
                          <a:cs typeface="Times New Roman"/>
                        </a:rPr>
                        <a:t> </a:t>
                      </a:r>
                      <a:r>
                        <a:rPr sz="2000" dirty="0">
                          <a:latin typeface="Times New Roman"/>
                          <a:cs typeface="Times New Roman"/>
                        </a:rPr>
                        <a:t>even</a:t>
                      </a:r>
                      <a:r>
                        <a:rPr sz="2000" spc="-20" dirty="0">
                          <a:latin typeface="Times New Roman"/>
                          <a:cs typeface="Times New Roman"/>
                        </a:rPr>
                        <a:t> </a:t>
                      </a:r>
                      <a:r>
                        <a:rPr sz="2000" dirty="0">
                          <a:latin typeface="Times New Roman"/>
                          <a:cs typeface="Times New Roman"/>
                        </a:rPr>
                        <a:t>30</a:t>
                      </a:r>
                      <a:r>
                        <a:rPr sz="2000" spc="-15" dirty="0">
                          <a:latin typeface="Times New Roman"/>
                          <a:cs typeface="Times New Roman"/>
                        </a:rPr>
                        <a:t> </a:t>
                      </a:r>
                      <a:r>
                        <a:rPr sz="2000" spc="-35" dirty="0">
                          <a:latin typeface="Times New Roman"/>
                          <a:cs typeface="Times New Roman"/>
                        </a:rPr>
                        <a:t>km</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4"/>
                  </a:ext>
                </a:extLst>
              </a:tr>
              <a:tr h="396240">
                <a:tc>
                  <a:txBody>
                    <a:bodyPr/>
                    <a:lstStyle/>
                    <a:p>
                      <a:pPr marL="91440">
                        <a:lnSpc>
                          <a:spcPct val="100000"/>
                        </a:lnSpc>
                        <a:spcBef>
                          <a:spcPts val="300"/>
                        </a:spcBef>
                      </a:pPr>
                      <a:r>
                        <a:rPr sz="2000" dirty="0">
                          <a:latin typeface="Times New Roman"/>
                          <a:cs typeface="Times New Roman"/>
                        </a:rPr>
                        <a:t>Satellite</a:t>
                      </a:r>
                      <a:r>
                        <a:rPr sz="2000" spc="-35" dirty="0">
                          <a:latin typeface="Times New Roman"/>
                          <a:cs typeface="Times New Roman"/>
                        </a:rPr>
                        <a:t> </a:t>
                      </a:r>
                      <a:r>
                        <a:rPr sz="2000" spc="-10" dirty="0">
                          <a:latin typeface="Times New Roman"/>
                          <a:cs typeface="Times New Roman"/>
                        </a:rPr>
                        <a:t>systems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300"/>
                        </a:spcBef>
                      </a:pPr>
                      <a:r>
                        <a:rPr sz="2000" dirty="0">
                          <a:latin typeface="Times New Roman"/>
                          <a:cs typeface="Times New Roman"/>
                        </a:rPr>
                        <a:t>1,000</a:t>
                      </a:r>
                      <a:r>
                        <a:rPr sz="2000" spc="-25" dirty="0">
                          <a:latin typeface="Times New Roman"/>
                          <a:cs typeface="Times New Roman"/>
                        </a:rPr>
                        <a:t> </a:t>
                      </a:r>
                      <a:r>
                        <a:rPr sz="2000" dirty="0">
                          <a:latin typeface="Times New Roman"/>
                          <a:cs typeface="Times New Roman"/>
                        </a:rPr>
                        <a:t>km</a:t>
                      </a:r>
                      <a:r>
                        <a:rPr sz="2000" spc="-10" dirty="0">
                          <a:latin typeface="Times New Roman"/>
                          <a:cs typeface="Times New Roman"/>
                        </a:rPr>
                        <a:t> radius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5"/>
                  </a:ext>
                </a:extLst>
              </a:tr>
              <a:tr h="617855">
                <a:tc rowSpan="2">
                  <a:txBody>
                    <a:bodyPr/>
                    <a:lstStyle/>
                    <a:p>
                      <a:pPr marL="91440">
                        <a:lnSpc>
                          <a:spcPct val="100000"/>
                        </a:lnSpc>
                        <a:spcBef>
                          <a:spcPts val="300"/>
                        </a:spcBef>
                      </a:pPr>
                      <a:r>
                        <a:rPr sz="2000" i="1" dirty="0">
                          <a:latin typeface="Times New Roman"/>
                          <a:cs typeface="Times New Roman"/>
                        </a:rPr>
                        <a:t>Fixed</a:t>
                      </a:r>
                      <a:r>
                        <a:rPr sz="2000" i="1" spc="-15" dirty="0">
                          <a:latin typeface="Times New Roman"/>
                          <a:cs typeface="Times New Roman"/>
                        </a:rPr>
                        <a:t> </a:t>
                      </a:r>
                      <a:r>
                        <a:rPr sz="2000" i="1" spc="-10" dirty="0">
                          <a:latin typeface="Times New Roman"/>
                          <a:cs typeface="Times New Roman"/>
                        </a:rPr>
                        <a:t>wireless</a:t>
                      </a:r>
                      <a:r>
                        <a:rPr sz="2000" i="1" spc="-40" dirty="0">
                          <a:latin typeface="Times New Roman"/>
                          <a:cs typeface="Times New Roman"/>
                        </a:rPr>
                        <a:t> </a:t>
                      </a:r>
                      <a:r>
                        <a:rPr sz="2000" i="1" dirty="0">
                          <a:latin typeface="Times New Roman"/>
                          <a:cs typeface="Times New Roman"/>
                        </a:rPr>
                        <a:t>access</a:t>
                      </a:r>
                      <a:r>
                        <a:rPr sz="2000" i="1" spc="-35" dirty="0">
                          <a:latin typeface="Times New Roman"/>
                          <a:cs typeface="Times New Roman"/>
                        </a:rPr>
                        <a:t> </a:t>
                      </a:r>
                      <a:r>
                        <a:rPr sz="2000" i="1" spc="-10" dirty="0">
                          <a:latin typeface="Times New Roman"/>
                          <a:cs typeface="Times New Roman"/>
                        </a:rPr>
                        <a:t>services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rowSpan="2">
                  <a:txBody>
                    <a:bodyPr/>
                    <a:lstStyle/>
                    <a:p>
                      <a:pPr marL="92075" marR="424815">
                        <a:lnSpc>
                          <a:spcPct val="100000"/>
                        </a:lnSpc>
                        <a:spcBef>
                          <a:spcPts val="300"/>
                        </a:spcBef>
                      </a:pPr>
                      <a:r>
                        <a:rPr sz="2000" dirty="0">
                          <a:latin typeface="Times New Roman"/>
                          <a:cs typeface="Times New Roman"/>
                        </a:rPr>
                        <a:t>100</a:t>
                      </a:r>
                      <a:r>
                        <a:rPr sz="2000" spc="-15" dirty="0">
                          <a:latin typeface="Times New Roman"/>
                          <a:cs typeface="Times New Roman"/>
                        </a:rPr>
                        <a:t> </a:t>
                      </a:r>
                      <a:r>
                        <a:rPr sz="2000" dirty="0">
                          <a:latin typeface="Times New Roman"/>
                          <a:cs typeface="Times New Roman"/>
                        </a:rPr>
                        <a:t>m</a:t>
                      </a:r>
                      <a:r>
                        <a:rPr sz="2000" spc="-25" dirty="0">
                          <a:latin typeface="Times New Roman"/>
                          <a:cs typeface="Times New Roman"/>
                        </a:rPr>
                        <a:t> </a:t>
                      </a:r>
                      <a:r>
                        <a:rPr sz="2000" dirty="0">
                          <a:latin typeface="Times New Roman"/>
                          <a:cs typeface="Times New Roman"/>
                        </a:rPr>
                        <a:t>and several</a:t>
                      </a:r>
                      <a:r>
                        <a:rPr sz="2000" spc="-40" dirty="0">
                          <a:latin typeface="Times New Roman"/>
                          <a:cs typeface="Times New Roman"/>
                        </a:rPr>
                        <a:t> </a:t>
                      </a:r>
                      <a:r>
                        <a:rPr sz="2000" dirty="0">
                          <a:latin typeface="Times New Roman"/>
                          <a:cs typeface="Times New Roman"/>
                        </a:rPr>
                        <a:t>tens </a:t>
                      </a:r>
                      <a:r>
                        <a:rPr sz="2000" spc="-25" dirty="0">
                          <a:latin typeface="Times New Roman"/>
                          <a:cs typeface="Times New Roman"/>
                        </a:rPr>
                        <a:t>of </a:t>
                      </a:r>
                      <a:r>
                        <a:rPr sz="2000" spc="-10" dirty="0">
                          <a:latin typeface="Times New Roman"/>
                          <a:cs typeface="Times New Roman"/>
                        </a:rPr>
                        <a:t>kilometers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0" marB="0">
                    <a:lnL w="12700">
                      <a:solidFill>
                        <a:srgbClr val="FFFFFF"/>
                      </a:solidFill>
                      <a:prstDash val="solid"/>
                    </a:lnL>
                    <a:lnB w="57150">
                      <a:solidFill>
                        <a:srgbClr val="FF0000"/>
                      </a:solidFill>
                      <a:prstDash val="solid"/>
                    </a:lnB>
                  </a:tcPr>
                </a:tc>
                <a:extLst>
                  <a:ext uri="{0D108BD9-81ED-4DB2-BD59-A6C34878D82A}">
                    <a16:rowId xmlns:a16="http://schemas.microsoft.com/office/drawing/2014/main" val="10006"/>
                  </a:ext>
                </a:extLst>
              </a:tr>
              <a:tr h="82550">
                <a:tc vMerge="1">
                  <a:txBody>
                    <a:bodyPr/>
                    <a:lstStyle/>
                    <a:p>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vMerge="1">
                  <a:txBody>
                    <a:bodyPr/>
                    <a:lstStyle/>
                    <a:p>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300">
                        <a:latin typeface="Times New Roman"/>
                        <a:cs typeface="Times New Roman"/>
                      </a:endParaRPr>
                    </a:p>
                  </a:txBody>
                  <a:tcPr marL="0" marR="0" marT="0" marB="0">
                    <a:lnL w="12700">
                      <a:solidFill>
                        <a:srgbClr val="FFFFFF"/>
                      </a:solidFill>
                      <a:prstDash val="solid"/>
                    </a:lnL>
                    <a:lnT w="57150">
                      <a:solidFill>
                        <a:srgbClr val="FF0000"/>
                      </a:solidFill>
                      <a:prstDash val="solid"/>
                    </a:lnT>
                  </a:tcPr>
                </a:tc>
                <a:extLst>
                  <a:ext uri="{0D108BD9-81ED-4DB2-BD59-A6C34878D82A}">
                    <a16:rowId xmlns:a16="http://schemas.microsoft.com/office/drawing/2014/main" val="10007"/>
                  </a:ext>
                </a:extLst>
              </a:tr>
            </a:tbl>
          </a:graphicData>
        </a:graphic>
      </p:graphicFrame>
      <p:sp>
        <p:nvSpPr>
          <p:cNvPr id="9" name="object 9"/>
          <p:cNvSpPr txBox="1">
            <a:spLocks noGrp="1"/>
          </p:cNvSpPr>
          <p:nvPr>
            <p:ph type="title"/>
          </p:nvPr>
        </p:nvSpPr>
        <p:spPr>
          <a:xfrm>
            <a:off x="383540" y="378917"/>
            <a:ext cx="5714365" cy="574675"/>
          </a:xfrm>
          <a:prstGeom prst="rect">
            <a:avLst/>
          </a:prstGeom>
        </p:spPr>
        <p:txBody>
          <a:bodyPr vert="horz" wrap="square" lIns="0" tIns="12700" rIns="0" bIns="0" rtlCol="0">
            <a:spAutoFit/>
          </a:bodyPr>
          <a:lstStyle/>
          <a:p>
            <a:pPr marL="12700">
              <a:lnSpc>
                <a:spcPct val="100000"/>
              </a:lnSpc>
              <a:spcBef>
                <a:spcPts val="100"/>
              </a:spcBef>
            </a:pPr>
            <a:r>
              <a:rPr spc="-135" dirty="0"/>
              <a:t>Range</a:t>
            </a:r>
            <a:r>
              <a:rPr spc="-254" dirty="0"/>
              <a:t> </a:t>
            </a:r>
            <a:r>
              <a:rPr spc="-114" dirty="0"/>
              <a:t>and</a:t>
            </a:r>
            <a:r>
              <a:rPr spc="-260" dirty="0"/>
              <a:t> </a:t>
            </a:r>
            <a:r>
              <a:rPr spc="-140" dirty="0"/>
              <a:t>Number</a:t>
            </a:r>
            <a:r>
              <a:rPr spc="-250" dirty="0"/>
              <a:t> </a:t>
            </a:r>
            <a:r>
              <a:rPr spc="-95" dirty="0"/>
              <a:t>of</a:t>
            </a:r>
            <a:r>
              <a:rPr spc="-265" dirty="0"/>
              <a:t> </a:t>
            </a:r>
            <a:r>
              <a:rPr spc="-105" dirty="0"/>
              <a:t>Users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B22319-0A89-2907-4E66-090A938F2C2A}"/>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E1FC102-BCC7-EC9F-F422-E0FEDC254321}"/>
              </a:ext>
            </a:extLst>
          </p:cNvPr>
          <p:cNvPicPr/>
          <p:nvPr/>
        </p:nvPicPr>
        <p:blipFill>
          <a:blip r:embed="rId2" cstate="print"/>
          <a:stretch>
            <a:fillRect/>
          </a:stretch>
        </p:blipFill>
        <p:spPr>
          <a:xfrm>
            <a:off x="6629400" y="0"/>
            <a:ext cx="2193163" cy="692658"/>
          </a:xfrm>
          <a:prstGeom prst="rect">
            <a:avLst/>
          </a:prstGeom>
        </p:spPr>
      </p:pic>
      <p:grpSp>
        <p:nvGrpSpPr>
          <p:cNvPr id="3" name="object 3">
            <a:extLst>
              <a:ext uri="{FF2B5EF4-FFF2-40B4-BE49-F238E27FC236}">
                <a16:creationId xmlns:a16="http://schemas.microsoft.com/office/drawing/2014/main" id="{8DE7817B-3F05-0C06-9274-B406E6511AFB}"/>
              </a:ext>
            </a:extLst>
          </p:cNvPr>
          <p:cNvGrpSpPr/>
          <p:nvPr/>
        </p:nvGrpSpPr>
        <p:grpSpPr>
          <a:xfrm>
            <a:off x="0" y="1295401"/>
            <a:ext cx="7010400" cy="45720"/>
            <a:chOff x="0" y="1295401"/>
            <a:chExt cx="7010400" cy="45720"/>
          </a:xfrm>
        </p:grpSpPr>
        <p:sp>
          <p:nvSpPr>
            <p:cNvPr id="4" name="object 4">
              <a:extLst>
                <a:ext uri="{FF2B5EF4-FFF2-40B4-BE49-F238E27FC236}">
                  <a16:creationId xmlns:a16="http://schemas.microsoft.com/office/drawing/2014/main" id="{EC3596E8-C673-693A-4196-53DA92A4920F}"/>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5" name="object 5">
              <a:extLst>
                <a:ext uri="{FF2B5EF4-FFF2-40B4-BE49-F238E27FC236}">
                  <a16:creationId xmlns:a16="http://schemas.microsoft.com/office/drawing/2014/main" id="{2733C3B3-5D88-AE24-2B8D-BBCB2B9B76F6}"/>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6" name="object 6">
              <a:extLst>
                <a:ext uri="{FF2B5EF4-FFF2-40B4-BE49-F238E27FC236}">
                  <a16:creationId xmlns:a16="http://schemas.microsoft.com/office/drawing/2014/main" id="{48154C01-5C30-5072-1DDC-FC5F01050DA5}"/>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7" name="object 7">
            <a:extLst>
              <a:ext uri="{FF2B5EF4-FFF2-40B4-BE49-F238E27FC236}">
                <a16:creationId xmlns:a16="http://schemas.microsoft.com/office/drawing/2014/main" id="{8E629449-1BC6-E653-0507-72DE6239A1F3}"/>
              </a:ext>
            </a:extLst>
          </p:cNvPr>
          <p:cNvSpPr txBox="1"/>
          <p:nvPr/>
        </p:nvSpPr>
        <p:spPr>
          <a:xfrm>
            <a:off x="154939" y="1244854"/>
            <a:ext cx="8041005" cy="4372607"/>
          </a:xfrm>
          <a:prstGeom prst="rect">
            <a:avLst/>
          </a:prstGeom>
        </p:spPr>
        <p:txBody>
          <a:bodyPr vert="horz" wrap="square" lIns="0" tIns="12065" rIns="0" bIns="0" rtlCol="0">
            <a:spAutoFit/>
          </a:bodyPr>
          <a:lstStyle/>
          <a:p>
            <a:pPr marL="12700" marR="5080">
              <a:lnSpc>
                <a:spcPct val="120100"/>
              </a:lnSpc>
              <a:spcBef>
                <a:spcPts val="95"/>
              </a:spcBef>
            </a:pPr>
            <a:r>
              <a:rPr lang="en-US" dirty="0"/>
              <a:t>The </a:t>
            </a:r>
            <a:r>
              <a:rPr lang="en-US" b="1" dirty="0"/>
              <a:t>range</a:t>
            </a:r>
            <a:r>
              <a:rPr lang="en-US" dirty="0"/>
              <a:t> of a wireless network refers to the </a:t>
            </a:r>
            <a:r>
              <a:rPr lang="en-US" b="1" dirty="0"/>
              <a:t>distance between the transmitter and receiver</a:t>
            </a:r>
            <a:r>
              <a:rPr lang="en-US" dirty="0"/>
              <a:t>, while the </a:t>
            </a:r>
            <a:r>
              <a:rPr lang="en-US" b="1" dirty="0"/>
              <a:t>number of users</a:t>
            </a:r>
            <a:r>
              <a:rPr lang="en-US" dirty="0"/>
              <a:t> depends on the network type and capacity.</a:t>
            </a:r>
          </a:p>
          <a:p>
            <a:pPr>
              <a:buNone/>
            </a:pPr>
            <a:r>
              <a:rPr lang="en-US" b="1" dirty="0"/>
              <a:t>Key Insights:</a:t>
            </a:r>
          </a:p>
          <a:p>
            <a:pPr>
              <a:buFont typeface="Arial" panose="020B0604020202020204" pitchFamily="34" charset="0"/>
              <a:buChar char="•"/>
            </a:pPr>
            <a:r>
              <a:rPr lang="en-US" b="1" dirty="0"/>
              <a:t>Short-range networks</a:t>
            </a:r>
            <a:r>
              <a:rPr lang="en-US" dirty="0"/>
              <a:t> (BANs, PANs) are suitable for </a:t>
            </a:r>
            <a:r>
              <a:rPr lang="en-US" b="1" dirty="0"/>
              <a:t>wearables and Bluetooth devices</a:t>
            </a:r>
            <a:r>
              <a:rPr lang="en-US" dirty="0"/>
              <a:t>.</a:t>
            </a:r>
          </a:p>
          <a:p>
            <a:pPr>
              <a:buFont typeface="Arial" panose="020B0604020202020204" pitchFamily="34" charset="0"/>
              <a:buChar char="•"/>
            </a:pPr>
            <a:r>
              <a:rPr lang="en-US" b="1" dirty="0"/>
              <a:t>Medium-range networks</a:t>
            </a:r>
            <a:r>
              <a:rPr lang="en-US" dirty="0"/>
              <a:t> (WLANs, Fixed Wireless) cater to </a:t>
            </a:r>
            <a:r>
              <a:rPr lang="en-US" b="1" dirty="0"/>
              <a:t>homes, offices, and urban setups</a:t>
            </a:r>
            <a:r>
              <a:rPr lang="en-US" dirty="0"/>
              <a:t>.</a:t>
            </a:r>
          </a:p>
          <a:p>
            <a:pPr>
              <a:buFont typeface="Arial" panose="020B0604020202020204" pitchFamily="34" charset="0"/>
              <a:buChar char="•"/>
            </a:pPr>
            <a:r>
              <a:rPr lang="en-US" b="1" dirty="0"/>
              <a:t>Long-range networks</a:t>
            </a:r>
            <a:r>
              <a:rPr lang="en-US" dirty="0"/>
              <a:t> (Cellular, Satellite) serve </a:t>
            </a:r>
            <a:r>
              <a:rPr lang="en-US" b="1" dirty="0"/>
              <a:t>large areas, including rural and remote regions</a:t>
            </a:r>
            <a:r>
              <a:rPr lang="en-US" dirty="0"/>
              <a:t>.</a:t>
            </a:r>
          </a:p>
          <a:p>
            <a:pPr>
              <a:buFont typeface="Arial" panose="020B0604020202020204" pitchFamily="34" charset="0"/>
              <a:buChar char="•"/>
            </a:pPr>
            <a:r>
              <a:rPr lang="en-US" b="1" dirty="0"/>
              <a:t>Network coverage can be expanded</a:t>
            </a:r>
            <a:r>
              <a:rPr lang="en-US" dirty="0"/>
              <a:t> by using multiple </a:t>
            </a:r>
            <a:r>
              <a:rPr lang="en-US" b="1" dirty="0"/>
              <a:t>Base Stations (BSs)</a:t>
            </a:r>
            <a:r>
              <a:rPr lang="en-US" dirty="0"/>
              <a:t> to form a larger network.</a:t>
            </a:r>
          </a:p>
          <a:p>
            <a:r>
              <a:rPr lang="en-US" dirty="0"/>
              <a:t>Choosing the right network depends on </a:t>
            </a:r>
            <a:r>
              <a:rPr lang="en-US" b="1" dirty="0"/>
              <a:t>range, user capacity, and application requirements</a:t>
            </a:r>
            <a:r>
              <a:rPr lang="en-US" dirty="0"/>
              <a:t>.</a:t>
            </a:r>
          </a:p>
          <a:p>
            <a:pPr marL="12700" marR="5080">
              <a:lnSpc>
                <a:spcPct val="120100"/>
              </a:lnSpc>
              <a:spcBef>
                <a:spcPts val="95"/>
              </a:spcBef>
            </a:pPr>
            <a:endParaRPr dirty="0">
              <a:latin typeface="Times New Roman"/>
              <a:cs typeface="Times New Roman"/>
            </a:endParaRPr>
          </a:p>
        </p:txBody>
      </p:sp>
      <p:sp>
        <p:nvSpPr>
          <p:cNvPr id="10" name="object 10">
            <a:extLst>
              <a:ext uri="{FF2B5EF4-FFF2-40B4-BE49-F238E27FC236}">
                <a16:creationId xmlns:a16="http://schemas.microsoft.com/office/drawing/2014/main" id="{50FB2C0C-FECB-4CDE-6DA7-FF308001A19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9" name="object 9">
            <a:extLst>
              <a:ext uri="{FF2B5EF4-FFF2-40B4-BE49-F238E27FC236}">
                <a16:creationId xmlns:a16="http://schemas.microsoft.com/office/drawing/2014/main" id="{35BD3D7E-1FD2-87C9-D977-42B6A8B4EB79}"/>
              </a:ext>
            </a:extLst>
          </p:cNvPr>
          <p:cNvSpPr txBox="1">
            <a:spLocks noGrp="1"/>
          </p:cNvSpPr>
          <p:nvPr>
            <p:ph type="title"/>
          </p:nvPr>
        </p:nvSpPr>
        <p:spPr>
          <a:xfrm>
            <a:off x="383540" y="378917"/>
            <a:ext cx="5714365" cy="574675"/>
          </a:xfrm>
          <a:prstGeom prst="rect">
            <a:avLst/>
          </a:prstGeom>
        </p:spPr>
        <p:txBody>
          <a:bodyPr vert="horz" wrap="square" lIns="0" tIns="12700" rIns="0" bIns="0" rtlCol="0">
            <a:spAutoFit/>
          </a:bodyPr>
          <a:lstStyle/>
          <a:p>
            <a:pPr marL="12700">
              <a:lnSpc>
                <a:spcPct val="100000"/>
              </a:lnSpc>
              <a:spcBef>
                <a:spcPts val="100"/>
              </a:spcBef>
            </a:pPr>
            <a:r>
              <a:rPr spc="-135" dirty="0"/>
              <a:t>Range</a:t>
            </a:r>
            <a:r>
              <a:rPr spc="-254" dirty="0"/>
              <a:t> </a:t>
            </a:r>
            <a:r>
              <a:rPr spc="-114" dirty="0"/>
              <a:t>and</a:t>
            </a:r>
            <a:r>
              <a:rPr spc="-260" dirty="0"/>
              <a:t> </a:t>
            </a:r>
            <a:r>
              <a:rPr spc="-140" dirty="0"/>
              <a:t>Number</a:t>
            </a:r>
            <a:r>
              <a:rPr spc="-250" dirty="0"/>
              <a:t> </a:t>
            </a:r>
            <a:r>
              <a:rPr spc="-95" dirty="0"/>
              <a:t>of</a:t>
            </a:r>
            <a:r>
              <a:rPr spc="-265" dirty="0"/>
              <a:t> </a:t>
            </a:r>
            <a:r>
              <a:rPr spc="-105" dirty="0"/>
              <a:t>Users</a:t>
            </a:r>
          </a:p>
        </p:txBody>
      </p:sp>
    </p:spTree>
    <p:extLst>
      <p:ext uri="{BB962C8B-B14F-4D97-AF65-F5344CB8AC3E}">
        <p14:creationId xmlns:p14="http://schemas.microsoft.com/office/powerpoint/2010/main" val="1612605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380" cy="6603835"/>
            <a:chOff x="0" y="0"/>
            <a:chExt cx="9144380" cy="6603835"/>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p:cNvPicPr/>
            <p:nvPr/>
          </p:nvPicPr>
          <p:blipFill>
            <a:blip r:embed="rId2" cstate="print"/>
            <a:stretch>
              <a:fillRect/>
            </a:stretch>
          </p:blipFill>
          <p:spPr>
            <a:xfrm>
              <a:off x="6629400" y="0"/>
              <a:ext cx="2193163" cy="692658"/>
            </a:xfrm>
            <a:prstGeom prst="rect">
              <a:avLst/>
            </a:prstGeom>
          </p:spPr>
        </p:pic>
        <p:sp>
          <p:nvSpPr>
            <p:cNvPr id="7" name="object 7"/>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13" name="object 13"/>
            <p:cNvPicPr/>
            <p:nvPr/>
          </p:nvPicPr>
          <p:blipFill>
            <a:blip r:embed="rId3" cstate="print"/>
            <a:stretch>
              <a:fillRect/>
            </a:stretch>
          </p:blipFill>
          <p:spPr>
            <a:xfrm>
              <a:off x="533400" y="609561"/>
              <a:ext cx="7924800" cy="5992241"/>
            </a:xfrm>
            <a:prstGeom prst="rect">
              <a:avLst/>
            </a:prstGeom>
          </p:spPr>
        </p:pic>
      </p:grpSp>
      <p:sp>
        <p:nvSpPr>
          <p:cNvPr id="14" name="object 14"/>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29</a:t>
            </a:r>
            <a:endParaRPr sz="12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54922A3-EF1D-DF0A-2F53-E93D9383037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FF6BAB82-B73B-C363-F677-C600C8C59D19}"/>
              </a:ext>
            </a:extLst>
          </p:cNvPr>
          <p:cNvGrpSpPr/>
          <p:nvPr/>
        </p:nvGrpSpPr>
        <p:grpSpPr>
          <a:xfrm>
            <a:off x="0" y="0"/>
            <a:ext cx="9144380" cy="6603835"/>
            <a:chOff x="0" y="0"/>
            <a:chExt cx="9144380" cy="6603835"/>
          </a:xfrm>
        </p:grpSpPr>
        <p:sp>
          <p:nvSpPr>
            <p:cNvPr id="3" name="object 3">
              <a:extLst>
                <a:ext uri="{FF2B5EF4-FFF2-40B4-BE49-F238E27FC236}">
                  <a16:creationId xmlns:a16="http://schemas.microsoft.com/office/drawing/2014/main" id="{7962ACF2-720D-8FEE-9E61-CFE74BD13C7C}"/>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CC8F9566-4F2B-B71F-C846-8AC0FEACDB9B}"/>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63831F4C-7BAA-4799-DC83-1F19D956E909}"/>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a:extLst>
                <a:ext uri="{FF2B5EF4-FFF2-40B4-BE49-F238E27FC236}">
                  <a16:creationId xmlns:a16="http://schemas.microsoft.com/office/drawing/2014/main" id="{97A36024-1C96-B2F5-0264-82317BB402D2}"/>
                </a:ext>
              </a:extLst>
            </p:cNvPr>
            <p:cNvPicPr/>
            <p:nvPr/>
          </p:nvPicPr>
          <p:blipFill>
            <a:blip r:embed="rId2" cstate="print"/>
            <a:stretch>
              <a:fillRect/>
            </a:stretch>
          </p:blipFill>
          <p:spPr>
            <a:xfrm>
              <a:off x="6629400" y="0"/>
              <a:ext cx="2193163" cy="692658"/>
            </a:xfrm>
            <a:prstGeom prst="rect">
              <a:avLst/>
            </a:prstGeom>
          </p:spPr>
        </p:pic>
        <p:sp>
          <p:nvSpPr>
            <p:cNvPr id="7" name="object 7">
              <a:extLst>
                <a:ext uri="{FF2B5EF4-FFF2-40B4-BE49-F238E27FC236}">
                  <a16:creationId xmlns:a16="http://schemas.microsoft.com/office/drawing/2014/main" id="{7C209F50-3DA9-BA9E-250E-1B33B4612D08}"/>
                </a:ext>
              </a:extLst>
            </p:cNvPr>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a:extLst>
                <a:ext uri="{FF2B5EF4-FFF2-40B4-BE49-F238E27FC236}">
                  <a16:creationId xmlns:a16="http://schemas.microsoft.com/office/drawing/2014/main" id="{102A5F5F-466C-1340-73A1-0A6E9BD5FF58}"/>
                </a:ext>
              </a:extLst>
            </p:cNvPr>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a:extLst>
                <a:ext uri="{FF2B5EF4-FFF2-40B4-BE49-F238E27FC236}">
                  <a16:creationId xmlns:a16="http://schemas.microsoft.com/office/drawing/2014/main" id="{3AE3A1A6-D590-127C-E066-1722E5BA8779}"/>
                </a:ext>
              </a:extLst>
            </p:cNvPr>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a:extLst>
                <a:ext uri="{FF2B5EF4-FFF2-40B4-BE49-F238E27FC236}">
                  <a16:creationId xmlns:a16="http://schemas.microsoft.com/office/drawing/2014/main" id="{0B01E512-B7BB-0747-5857-26781CFE6C11}"/>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a:extLst>
                <a:ext uri="{FF2B5EF4-FFF2-40B4-BE49-F238E27FC236}">
                  <a16:creationId xmlns:a16="http://schemas.microsoft.com/office/drawing/2014/main" id="{B3D27B24-002F-5B18-3B2B-490091979CF9}"/>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a:extLst>
                <a:ext uri="{FF2B5EF4-FFF2-40B4-BE49-F238E27FC236}">
                  <a16:creationId xmlns:a16="http://schemas.microsoft.com/office/drawing/2014/main" id="{7EE446C7-971E-0160-B29B-E20ADDA9B258}"/>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AD0F3063-F54C-3C61-D64D-81D11656D503}"/>
              </a:ext>
            </a:extLst>
          </p:cNvPr>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29</a:t>
            </a:r>
            <a:endParaRPr sz="1200">
              <a:latin typeface="Arial MT"/>
              <a:cs typeface="Arial MT"/>
            </a:endParaRPr>
          </a:p>
        </p:txBody>
      </p:sp>
      <p:sp>
        <p:nvSpPr>
          <p:cNvPr id="15" name="object 15">
            <a:extLst>
              <a:ext uri="{FF2B5EF4-FFF2-40B4-BE49-F238E27FC236}">
                <a16:creationId xmlns:a16="http://schemas.microsoft.com/office/drawing/2014/main" id="{4BAA5944-E493-C0B0-82F9-E5EBAC44D9B3}"/>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6" name="TextBox 15">
            <a:extLst>
              <a:ext uri="{FF2B5EF4-FFF2-40B4-BE49-F238E27FC236}">
                <a16:creationId xmlns:a16="http://schemas.microsoft.com/office/drawing/2014/main" id="{CE0BEDC6-719A-5B5C-0299-C26BDE31D701}"/>
              </a:ext>
            </a:extLst>
          </p:cNvPr>
          <p:cNvSpPr txBox="1"/>
          <p:nvPr/>
        </p:nvSpPr>
        <p:spPr>
          <a:xfrm>
            <a:off x="76200" y="1341121"/>
            <a:ext cx="8987662" cy="3139321"/>
          </a:xfrm>
          <a:prstGeom prst="rect">
            <a:avLst/>
          </a:prstGeom>
          <a:noFill/>
        </p:spPr>
        <p:txBody>
          <a:bodyPr wrap="square" rtlCol="0">
            <a:spAutoFit/>
          </a:bodyPr>
          <a:lstStyle/>
          <a:p>
            <a:pPr>
              <a:buNone/>
            </a:pPr>
            <a:r>
              <a:rPr lang="en-US" b="1" dirty="0"/>
              <a:t>Data Rate vs. Range for Wireless Networks</a:t>
            </a:r>
          </a:p>
          <a:p>
            <a:pPr>
              <a:buNone/>
            </a:pPr>
            <a:r>
              <a:rPr lang="en-US" dirty="0"/>
              <a:t>The figure illustrates the </a:t>
            </a:r>
            <a:r>
              <a:rPr lang="en-US" b="1" dirty="0"/>
              <a:t>relationship between data rate and range</a:t>
            </a:r>
            <a:r>
              <a:rPr lang="en-US" dirty="0"/>
              <a:t> for various wireless technologies.</a:t>
            </a:r>
          </a:p>
          <a:p>
            <a:pPr>
              <a:buNone/>
            </a:pPr>
            <a:r>
              <a:rPr lang="en-US" b="1" dirty="0"/>
              <a:t>Observations:</a:t>
            </a:r>
          </a:p>
          <a:p>
            <a:pPr>
              <a:buFont typeface="Arial" panose="020B0604020202020204" pitchFamily="34" charset="0"/>
              <a:buChar char="•"/>
            </a:pPr>
            <a:r>
              <a:rPr lang="en-US" b="1" dirty="0"/>
              <a:t>Higher data rates</a:t>
            </a:r>
            <a:r>
              <a:rPr lang="en-US" dirty="0"/>
              <a:t> are typically achieved in </a:t>
            </a:r>
            <a:r>
              <a:rPr lang="en-US" b="1" dirty="0"/>
              <a:t>short-range networks</a:t>
            </a:r>
            <a:r>
              <a:rPr lang="en-US" dirty="0"/>
              <a:t>, like PANs and WLANs.</a:t>
            </a:r>
          </a:p>
          <a:p>
            <a:pPr>
              <a:buFont typeface="Arial" panose="020B0604020202020204" pitchFamily="34" charset="0"/>
              <a:buChar char="•"/>
            </a:pPr>
            <a:r>
              <a:rPr lang="en-US" b="1" dirty="0"/>
              <a:t>Long-range networks</a:t>
            </a:r>
            <a:r>
              <a:rPr lang="en-US" dirty="0"/>
              <a:t> (Satellite, Cellular) provide wider coverage but offer lower data rates.</a:t>
            </a:r>
          </a:p>
          <a:p>
            <a:pPr>
              <a:buFont typeface="Arial" panose="020B0604020202020204" pitchFamily="34" charset="0"/>
              <a:buChar char="•"/>
            </a:pPr>
            <a:r>
              <a:rPr lang="en-US" b="1" dirty="0"/>
              <a:t>Fixed wireless networks</a:t>
            </a:r>
            <a:r>
              <a:rPr lang="en-US" dirty="0"/>
              <a:t> strike a balance between range and data rate.</a:t>
            </a:r>
          </a:p>
          <a:p>
            <a:pPr>
              <a:buFont typeface="Arial" panose="020B0604020202020204" pitchFamily="34" charset="0"/>
              <a:buChar char="•"/>
            </a:pPr>
            <a:r>
              <a:rPr lang="en-US" b="1" dirty="0"/>
              <a:t>Cellular networks (2G, 3G, etc.)</a:t>
            </a:r>
            <a:r>
              <a:rPr lang="en-US" dirty="0"/>
              <a:t> expand their range but sacrifice speed.</a:t>
            </a:r>
          </a:p>
          <a:p>
            <a:endParaRPr lang="en-IN" dirty="0"/>
          </a:p>
        </p:txBody>
      </p:sp>
    </p:spTree>
    <p:extLst>
      <p:ext uri="{BB962C8B-B14F-4D97-AF65-F5344CB8AC3E}">
        <p14:creationId xmlns:p14="http://schemas.microsoft.com/office/powerpoint/2010/main" val="1921178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FBA6393-0A81-EE9B-CE42-CC9F9BC3973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942F5A0B-A30C-6B2F-8054-FBC4618430B3}"/>
              </a:ext>
            </a:extLst>
          </p:cNvPr>
          <p:cNvGrpSpPr/>
          <p:nvPr/>
        </p:nvGrpSpPr>
        <p:grpSpPr>
          <a:xfrm>
            <a:off x="0" y="0"/>
            <a:ext cx="9144380" cy="6603835"/>
            <a:chOff x="0" y="0"/>
            <a:chExt cx="9144380" cy="6603835"/>
          </a:xfrm>
        </p:grpSpPr>
        <p:sp>
          <p:nvSpPr>
            <p:cNvPr id="3" name="object 3">
              <a:extLst>
                <a:ext uri="{FF2B5EF4-FFF2-40B4-BE49-F238E27FC236}">
                  <a16:creationId xmlns:a16="http://schemas.microsoft.com/office/drawing/2014/main" id="{5D3BE40A-08EF-AE2F-40A6-F6CB8CD1B9E1}"/>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8AB230C8-2257-820A-4A79-1F57B41B078E}"/>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F8B886DC-EF99-9AB1-7545-4BCDFF20420C}"/>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a:extLst>
                <a:ext uri="{FF2B5EF4-FFF2-40B4-BE49-F238E27FC236}">
                  <a16:creationId xmlns:a16="http://schemas.microsoft.com/office/drawing/2014/main" id="{AFF7D6A4-CC07-5BF9-9498-3988FD8015C4}"/>
                </a:ext>
              </a:extLst>
            </p:cNvPr>
            <p:cNvPicPr/>
            <p:nvPr/>
          </p:nvPicPr>
          <p:blipFill>
            <a:blip r:embed="rId2" cstate="print"/>
            <a:stretch>
              <a:fillRect/>
            </a:stretch>
          </p:blipFill>
          <p:spPr>
            <a:xfrm>
              <a:off x="6629400" y="0"/>
              <a:ext cx="2193163" cy="692658"/>
            </a:xfrm>
            <a:prstGeom prst="rect">
              <a:avLst/>
            </a:prstGeom>
          </p:spPr>
        </p:pic>
        <p:sp>
          <p:nvSpPr>
            <p:cNvPr id="7" name="object 7">
              <a:extLst>
                <a:ext uri="{FF2B5EF4-FFF2-40B4-BE49-F238E27FC236}">
                  <a16:creationId xmlns:a16="http://schemas.microsoft.com/office/drawing/2014/main" id="{09D8F2EB-4D3A-46D9-6418-5D9BAB0B1116}"/>
                </a:ext>
              </a:extLst>
            </p:cNvPr>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a:extLst>
                <a:ext uri="{FF2B5EF4-FFF2-40B4-BE49-F238E27FC236}">
                  <a16:creationId xmlns:a16="http://schemas.microsoft.com/office/drawing/2014/main" id="{6DE0CFCD-5B7E-61D5-F05E-08D3B8BDC8D5}"/>
                </a:ext>
              </a:extLst>
            </p:cNvPr>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a:extLst>
                <a:ext uri="{FF2B5EF4-FFF2-40B4-BE49-F238E27FC236}">
                  <a16:creationId xmlns:a16="http://schemas.microsoft.com/office/drawing/2014/main" id="{07882729-582A-259D-D417-5A927535047C}"/>
                </a:ext>
              </a:extLst>
            </p:cNvPr>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a:extLst>
                <a:ext uri="{FF2B5EF4-FFF2-40B4-BE49-F238E27FC236}">
                  <a16:creationId xmlns:a16="http://schemas.microsoft.com/office/drawing/2014/main" id="{6817545A-1EEE-A697-7100-74C5C83C4E85}"/>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a:extLst>
                <a:ext uri="{FF2B5EF4-FFF2-40B4-BE49-F238E27FC236}">
                  <a16:creationId xmlns:a16="http://schemas.microsoft.com/office/drawing/2014/main" id="{22B31B85-88BE-C433-05A0-404B41E2EAC3}"/>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a:extLst>
                <a:ext uri="{FF2B5EF4-FFF2-40B4-BE49-F238E27FC236}">
                  <a16:creationId xmlns:a16="http://schemas.microsoft.com/office/drawing/2014/main" id="{E6284F5E-31E4-5621-27A5-4D01CF3C5576}"/>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EDB002B0-42CB-DC79-FE86-451A03A37637}"/>
              </a:ext>
            </a:extLst>
          </p:cNvPr>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29</a:t>
            </a:r>
            <a:endParaRPr sz="1200">
              <a:latin typeface="Arial MT"/>
              <a:cs typeface="Arial MT"/>
            </a:endParaRPr>
          </a:p>
        </p:txBody>
      </p:sp>
      <p:sp>
        <p:nvSpPr>
          <p:cNvPr id="15" name="object 15">
            <a:extLst>
              <a:ext uri="{FF2B5EF4-FFF2-40B4-BE49-F238E27FC236}">
                <a16:creationId xmlns:a16="http://schemas.microsoft.com/office/drawing/2014/main" id="{E7A5577D-F577-DDA8-C3D7-394D9FDA5810}"/>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33" name="Table 32">
            <a:extLst>
              <a:ext uri="{FF2B5EF4-FFF2-40B4-BE49-F238E27FC236}">
                <a16:creationId xmlns:a16="http://schemas.microsoft.com/office/drawing/2014/main" id="{648C14F6-3295-21DE-5CC6-10389476B669}"/>
              </a:ext>
            </a:extLst>
          </p:cNvPr>
          <p:cNvGraphicFramePr>
            <a:graphicFrameLocks noGrp="1"/>
          </p:cNvGraphicFramePr>
          <p:nvPr>
            <p:extLst>
              <p:ext uri="{D42A27DB-BD31-4B8C-83A1-F6EECF244321}">
                <p14:modId xmlns:p14="http://schemas.microsoft.com/office/powerpoint/2010/main" val="1901968495"/>
              </p:ext>
            </p:extLst>
          </p:nvPr>
        </p:nvGraphicFramePr>
        <p:xfrm>
          <a:off x="1524000" y="1397000"/>
          <a:ext cx="6096000" cy="3302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185572921"/>
                    </a:ext>
                  </a:extLst>
                </a:gridCol>
                <a:gridCol w="2032000">
                  <a:extLst>
                    <a:ext uri="{9D8B030D-6E8A-4147-A177-3AD203B41FA5}">
                      <a16:colId xmlns:a16="http://schemas.microsoft.com/office/drawing/2014/main" val="513534099"/>
                    </a:ext>
                  </a:extLst>
                </a:gridCol>
                <a:gridCol w="2032000">
                  <a:extLst>
                    <a:ext uri="{9D8B030D-6E8A-4147-A177-3AD203B41FA5}">
                      <a16:colId xmlns:a16="http://schemas.microsoft.com/office/drawing/2014/main" val="1586697777"/>
                    </a:ext>
                  </a:extLst>
                </a:gridCol>
              </a:tblGrid>
              <a:tr h="370840">
                <a:tc>
                  <a:txBody>
                    <a:bodyPr/>
                    <a:lstStyle/>
                    <a:p>
                      <a:r>
                        <a:rPr lang="en-US" dirty="0">
                          <a:solidFill>
                            <a:schemeClr val="tx1"/>
                          </a:solidFill>
                        </a:rPr>
                        <a:t>Technology</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Range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Data Rate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7658075"/>
                  </a:ext>
                </a:extLst>
              </a:tr>
              <a:tr h="370840">
                <a:tc>
                  <a:txBody>
                    <a:bodyPr/>
                    <a:lstStyle/>
                    <a:p>
                      <a:r>
                        <a:rPr lang="en-US" dirty="0">
                          <a:solidFill>
                            <a:schemeClr val="tx1"/>
                          </a:solidFill>
                        </a:rPr>
                        <a:t>PAN(Bluetooth/Infrared</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~1-10m</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10Mbit/s-1Gbit/s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3617676"/>
                  </a:ext>
                </a:extLst>
              </a:tr>
              <a:tr h="370840">
                <a:tc>
                  <a:txBody>
                    <a:bodyPr/>
                    <a:lstStyle/>
                    <a:p>
                      <a:r>
                        <a:rPr lang="en-IN" dirty="0"/>
                        <a:t>WLAN (Wi-Fi)</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~100m</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1-100 Mbit/s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4545282"/>
                  </a:ext>
                </a:extLst>
              </a:tr>
              <a:tr h="370840">
                <a:tc>
                  <a:txBody>
                    <a:bodyPr/>
                    <a:lstStyle/>
                    <a:p>
                      <a:r>
                        <a:rPr lang="en-IN" dirty="0"/>
                        <a:t>Cordless Phones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~10m</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~10 kbit/s – 100 kbit/s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3746334"/>
                  </a:ext>
                </a:extLst>
              </a:tr>
              <a:tr h="370840">
                <a:tc>
                  <a:txBody>
                    <a:bodyPr/>
                    <a:lstStyle/>
                    <a:p>
                      <a:r>
                        <a:rPr lang="en-IN" dirty="0"/>
                        <a:t>2G Cellular</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~1-10km</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10 kbit/s – 100 kbit/s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0173974"/>
                  </a:ext>
                </a:extLst>
              </a:tr>
              <a:tr h="406400">
                <a:tc>
                  <a:txBody>
                    <a:bodyPr/>
                    <a:lstStyle/>
                    <a:p>
                      <a:r>
                        <a:rPr lang="en-IN" dirty="0"/>
                        <a:t>3G Cellular</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~1-10km</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 Mbit/s – 10 Mbit/s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990288"/>
                  </a:ext>
                </a:extLst>
              </a:tr>
            </a:tbl>
          </a:graphicData>
        </a:graphic>
      </p:graphicFrame>
      <p:graphicFrame>
        <p:nvGraphicFramePr>
          <p:cNvPr id="35" name="Table 34">
            <a:extLst>
              <a:ext uri="{FF2B5EF4-FFF2-40B4-BE49-F238E27FC236}">
                <a16:creationId xmlns:a16="http://schemas.microsoft.com/office/drawing/2014/main" id="{F2A78F96-6859-0D4F-BA49-F7535BBA9486}"/>
              </a:ext>
            </a:extLst>
          </p:cNvPr>
          <p:cNvGraphicFramePr>
            <a:graphicFrameLocks noGrp="1"/>
          </p:cNvGraphicFramePr>
          <p:nvPr>
            <p:extLst>
              <p:ext uri="{D42A27DB-BD31-4B8C-83A1-F6EECF244321}">
                <p14:modId xmlns:p14="http://schemas.microsoft.com/office/powerpoint/2010/main" val="2331290612"/>
              </p:ext>
            </p:extLst>
          </p:nvPr>
        </p:nvGraphicFramePr>
        <p:xfrm>
          <a:off x="1524000" y="4693951"/>
          <a:ext cx="6096000" cy="12801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938446966"/>
                    </a:ext>
                  </a:extLst>
                </a:gridCol>
                <a:gridCol w="2032000">
                  <a:extLst>
                    <a:ext uri="{9D8B030D-6E8A-4147-A177-3AD203B41FA5}">
                      <a16:colId xmlns:a16="http://schemas.microsoft.com/office/drawing/2014/main" val="2472970557"/>
                    </a:ext>
                  </a:extLst>
                </a:gridCol>
                <a:gridCol w="2032000">
                  <a:extLst>
                    <a:ext uri="{9D8B030D-6E8A-4147-A177-3AD203B41FA5}">
                      <a16:colId xmlns:a16="http://schemas.microsoft.com/office/drawing/2014/main" val="2781288353"/>
                    </a:ext>
                  </a:extLst>
                </a:gridCol>
              </a:tblGrid>
              <a:tr h="370840">
                <a:tc>
                  <a:txBody>
                    <a:bodyPr/>
                    <a:lstStyle/>
                    <a:p>
                      <a:r>
                        <a:rPr lang="en-IN" b="0" dirty="0">
                          <a:solidFill>
                            <a:schemeClr val="tx1"/>
                          </a:solidFill>
                        </a:rPr>
                        <a:t>Fixed Wireless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0" dirty="0">
                          <a:solidFill>
                            <a:schemeClr val="tx1"/>
                          </a:solidFill>
                        </a:rPr>
                        <a:t>~1-10km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1</a:t>
                      </a:r>
                      <a:r>
                        <a:rPr lang="en-IN" b="0" dirty="0">
                          <a:solidFill>
                            <a:schemeClr val="tx1"/>
                          </a:solidFill>
                        </a:rPr>
                        <a:t>0 </a:t>
                      </a:r>
                      <a:r>
                        <a:rPr lang="en-IN" b="0" dirty="0" err="1">
                          <a:solidFill>
                            <a:schemeClr val="tx1"/>
                          </a:solidFill>
                        </a:rPr>
                        <a:t>Mbits</a:t>
                      </a:r>
                      <a:r>
                        <a:rPr lang="en-IN" b="0" dirty="0">
                          <a:solidFill>
                            <a:schemeClr val="tx1"/>
                          </a:solidFill>
                        </a:rPr>
                        <a:t>/s-100Mbits/s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8456755"/>
                  </a:ext>
                </a:extLst>
              </a:tr>
              <a:tr h="370840">
                <a:tc>
                  <a:txBody>
                    <a:bodyPr/>
                    <a:lstStyle/>
                    <a:p>
                      <a:r>
                        <a:rPr lang="en-IN" dirty="0"/>
                        <a:t>Satellite Phones</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&gt;100km</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~10 kbit/s – 100 kbit/s</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2493257"/>
                  </a:ext>
                </a:extLst>
              </a:tr>
            </a:tbl>
          </a:graphicData>
        </a:graphic>
      </p:graphicFrame>
      <p:sp>
        <p:nvSpPr>
          <p:cNvPr id="36" name="TextBox 35">
            <a:extLst>
              <a:ext uri="{FF2B5EF4-FFF2-40B4-BE49-F238E27FC236}">
                <a16:creationId xmlns:a16="http://schemas.microsoft.com/office/drawing/2014/main" id="{0AEC8064-0E0D-4034-04D2-5F92B24591AE}"/>
              </a:ext>
            </a:extLst>
          </p:cNvPr>
          <p:cNvSpPr txBox="1"/>
          <p:nvPr/>
        </p:nvSpPr>
        <p:spPr>
          <a:xfrm>
            <a:off x="321437" y="381000"/>
            <a:ext cx="5164963" cy="369332"/>
          </a:xfrm>
          <a:prstGeom prst="rect">
            <a:avLst/>
          </a:prstGeom>
          <a:noFill/>
        </p:spPr>
        <p:txBody>
          <a:bodyPr wrap="square" rtlCol="0">
            <a:spAutoFit/>
          </a:bodyPr>
          <a:lstStyle/>
          <a:p>
            <a:r>
              <a:rPr lang="en-US" dirty="0"/>
              <a:t>Data Rate vs. Range Trends:</a:t>
            </a:r>
            <a:endParaRPr lang="en-IN" dirty="0"/>
          </a:p>
        </p:txBody>
      </p:sp>
    </p:spTree>
    <p:extLst>
      <p:ext uri="{BB962C8B-B14F-4D97-AF65-F5344CB8AC3E}">
        <p14:creationId xmlns:p14="http://schemas.microsoft.com/office/powerpoint/2010/main" val="1506333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DA56465-222F-21E7-ECE1-A68CFABEBE3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8BA6C93-EDB4-8B6A-E4EB-63F49ED9C2C8}"/>
              </a:ext>
            </a:extLst>
          </p:cNvPr>
          <p:cNvGrpSpPr/>
          <p:nvPr/>
        </p:nvGrpSpPr>
        <p:grpSpPr>
          <a:xfrm>
            <a:off x="0" y="0"/>
            <a:ext cx="9144380" cy="6603835"/>
            <a:chOff x="0" y="0"/>
            <a:chExt cx="9144380" cy="6603835"/>
          </a:xfrm>
        </p:grpSpPr>
        <p:sp>
          <p:nvSpPr>
            <p:cNvPr id="3" name="object 3">
              <a:extLst>
                <a:ext uri="{FF2B5EF4-FFF2-40B4-BE49-F238E27FC236}">
                  <a16:creationId xmlns:a16="http://schemas.microsoft.com/office/drawing/2014/main" id="{2A0A5B6A-B75F-99ED-5A1C-BA0294EC71B7}"/>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018599F3-0694-69EF-6A41-B39E42EFCC98}"/>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7A90D8D3-0A8D-B596-F035-0DF290F40B00}"/>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a:extLst>
                <a:ext uri="{FF2B5EF4-FFF2-40B4-BE49-F238E27FC236}">
                  <a16:creationId xmlns:a16="http://schemas.microsoft.com/office/drawing/2014/main" id="{A6BCE691-FEC1-2D68-AA9F-A7ECAF2E0289}"/>
                </a:ext>
              </a:extLst>
            </p:cNvPr>
            <p:cNvPicPr/>
            <p:nvPr/>
          </p:nvPicPr>
          <p:blipFill>
            <a:blip r:embed="rId2" cstate="print"/>
            <a:stretch>
              <a:fillRect/>
            </a:stretch>
          </p:blipFill>
          <p:spPr>
            <a:xfrm>
              <a:off x="6629400" y="0"/>
              <a:ext cx="2193163" cy="692658"/>
            </a:xfrm>
            <a:prstGeom prst="rect">
              <a:avLst/>
            </a:prstGeom>
          </p:spPr>
        </p:pic>
        <p:sp>
          <p:nvSpPr>
            <p:cNvPr id="7" name="object 7">
              <a:extLst>
                <a:ext uri="{FF2B5EF4-FFF2-40B4-BE49-F238E27FC236}">
                  <a16:creationId xmlns:a16="http://schemas.microsoft.com/office/drawing/2014/main" id="{0DFDE84D-7653-E0DD-3612-F2F9E86F8B71}"/>
                </a:ext>
              </a:extLst>
            </p:cNvPr>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a:extLst>
                <a:ext uri="{FF2B5EF4-FFF2-40B4-BE49-F238E27FC236}">
                  <a16:creationId xmlns:a16="http://schemas.microsoft.com/office/drawing/2014/main" id="{8FF2B642-1ACF-C9B5-3A23-03A0CA6991E9}"/>
                </a:ext>
              </a:extLst>
            </p:cNvPr>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a:extLst>
                <a:ext uri="{FF2B5EF4-FFF2-40B4-BE49-F238E27FC236}">
                  <a16:creationId xmlns:a16="http://schemas.microsoft.com/office/drawing/2014/main" id="{9261201E-8AAD-D51B-6B7A-11F067B56A32}"/>
                </a:ext>
              </a:extLst>
            </p:cNvPr>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a:extLst>
                <a:ext uri="{FF2B5EF4-FFF2-40B4-BE49-F238E27FC236}">
                  <a16:creationId xmlns:a16="http://schemas.microsoft.com/office/drawing/2014/main" id="{B17C9F7F-B077-7DB5-2C0B-D722805AF0D3}"/>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a:extLst>
                <a:ext uri="{FF2B5EF4-FFF2-40B4-BE49-F238E27FC236}">
                  <a16:creationId xmlns:a16="http://schemas.microsoft.com/office/drawing/2014/main" id="{282AD18D-407E-A0B1-300E-740A48790BEF}"/>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a:extLst>
                <a:ext uri="{FF2B5EF4-FFF2-40B4-BE49-F238E27FC236}">
                  <a16:creationId xmlns:a16="http://schemas.microsoft.com/office/drawing/2014/main" id="{3FA5C21E-4ACE-91BD-F52F-A755515ED527}"/>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2B0F639F-46CF-64D7-B152-9B59DBC3540A}"/>
              </a:ext>
            </a:extLst>
          </p:cNvPr>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29</a:t>
            </a:r>
            <a:endParaRPr sz="1200">
              <a:latin typeface="Arial MT"/>
              <a:cs typeface="Arial MT"/>
            </a:endParaRPr>
          </a:p>
        </p:txBody>
      </p:sp>
      <p:sp>
        <p:nvSpPr>
          <p:cNvPr id="15" name="object 15">
            <a:extLst>
              <a:ext uri="{FF2B5EF4-FFF2-40B4-BE49-F238E27FC236}">
                <a16:creationId xmlns:a16="http://schemas.microsoft.com/office/drawing/2014/main" id="{9A424ADF-61B4-C583-6D67-D96960603514}"/>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3" name="TextBox 12">
            <a:extLst>
              <a:ext uri="{FF2B5EF4-FFF2-40B4-BE49-F238E27FC236}">
                <a16:creationId xmlns:a16="http://schemas.microsoft.com/office/drawing/2014/main" id="{FF6AFCD1-DF1D-B00B-FF84-46B7F8CDBEA5}"/>
              </a:ext>
            </a:extLst>
          </p:cNvPr>
          <p:cNvSpPr txBox="1"/>
          <p:nvPr/>
        </p:nvSpPr>
        <p:spPr>
          <a:xfrm>
            <a:off x="381000" y="1524000"/>
            <a:ext cx="8441563" cy="2585323"/>
          </a:xfrm>
          <a:prstGeom prst="rect">
            <a:avLst/>
          </a:prstGeom>
          <a:noFill/>
        </p:spPr>
        <p:txBody>
          <a:bodyPr wrap="square" rtlCol="0">
            <a:spAutoFit/>
          </a:bodyPr>
          <a:lstStyle/>
          <a:p>
            <a:pPr>
              <a:buNone/>
            </a:pPr>
            <a:r>
              <a:rPr lang="en-US" b="1" dirty="0"/>
              <a:t>Key Takeaways:</a:t>
            </a:r>
          </a:p>
          <a:p>
            <a:pPr>
              <a:buNone/>
            </a:pPr>
            <a:r>
              <a:rPr lang="en-US" b="1" dirty="0"/>
              <a:t>Short-range technologies</a:t>
            </a:r>
            <a:r>
              <a:rPr lang="en-US" dirty="0"/>
              <a:t> (PAN, WLAN) prioritize </a:t>
            </a:r>
            <a:r>
              <a:rPr lang="en-US" b="1" dirty="0"/>
              <a:t>speed over range</a:t>
            </a:r>
            <a:r>
              <a:rPr lang="en-US" dirty="0"/>
              <a:t>.</a:t>
            </a:r>
            <a:br>
              <a:rPr lang="en-US" dirty="0"/>
            </a:br>
            <a:r>
              <a:rPr lang="en-US" b="1" dirty="0"/>
              <a:t>Cellular and fixed wireless</a:t>
            </a:r>
            <a:r>
              <a:rPr lang="en-US" dirty="0"/>
              <a:t> networks balance </a:t>
            </a:r>
            <a:r>
              <a:rPr lang="en-US" b="1" dirty="0"/>
              <a:t>coverage and data rates</a:t>
            </a:r>
            <a:r>
              <a:rPr lang="en-US" dirty="0"/>
              <a:t>.</a:t>
            </a:r>
            <a:br>
              <a:rPr lang="en-US" dirty="0"/>
            </a:br>
            <a:r>
              <a:rPr lang="en-US" b="1" dirty="0"/>
              <a:t>Satellite networks</a:t>
            </a:r>
            <a:r>
              <a:rPr lang="en-US" dirty="0"/>
              <a:t> focus on </a:t>
            </a:r>
            <a:r>
              <a:rPr lang="en-US" b="1" dirty="0"/>
              <a:t>global coverage</a:t>
            </a:r>
            <a:r>
              <a:rPr lang="en-US" dirty="0"/>
              <a:t> but with </a:t>
            </a:r>
            <a:r>
              <a:rPr lang="en-US" b="1" dirty="0"/>
              <a:t>low data rates</a:t>
            </a:r>
            <a:r>
              <a:rPr lang="en-US" dirty="0"/>
              <a:t>.</a:t>
            </a:r>
          </a:p>
          <a:p>
            <a:endParaRPr lang="en-US" dirty="0"/>
          </a:p>
          <a:p>
            <a:endParaRPr lang="en-US" dirty="0"/>
          </a:p>
          <a:p>
            <a:r>
              <a:rPr lang="en-US" dirty="0"/>
              <a:t>This trade-off between </a:t>
            </a:r>
            <a:r>
              <a:rPr lang="en-US" b="1" dirty="0"/>
              <a:t>range and speed</a:t>
            </a:r>
            <a:r>
              <a:rPr lang="en-US" dirty="0"/>
              <a:t> is a key factor in choosing the right wireless technology for different applications.</a:t>
            </a:r>
          </a:p>
          <a:p>
            <a:endParaRPr lang="en-IN" dirty="0"/>
          </a:p>
        </p:txBody>
      </p:sp>
    </p:spTree>
    <p:extLst>
      <p:ext uri="{BB962C8B-B14F-4D97-AF65-F5344CB8AC3E}">
        <p14:creationId xmlns:p14="http://schemas.microsoft.com/office/powerpoint/2010/main" val="20838801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AC5A-BC56-8B79-7E4C-5E05D6E84D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A0B5EF-5089-6EDA-5533-88CC545D6C65}"/>
              </a:ext>
            </a:extLst>
          </p:cNvPr>
          <p:cNvSpPr txBox="1"/>
          <p:nvPr/>
        </p:nvSpPr>
        <p:spPr>
          <a:xfrm>
            <a:off x="78739" y="1364107"/>
            <a:ext cx="8058784" cy="2952115"/>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spc="-10" dirty="0">
                <a:latin typeface="Times New Roman"/>
                <a:cs typeface="Times New Roman"/>
              </a:rPr>
              <a:t>Wireless</a:t>
            </a:r>
            <a:r>
              <a:rPr sz="2400" spc="-35" dirty="0">
                <a:latin typeface="Times New Roman"/>
                <a:cs typeface="Times New Roman"/>
              </a:rPr>
              <a:t> </a:t>
            </a:r>
            <a:r>
              <a:rPr sz="2400" dirty="0">
                <a:latin typeface="Times New Roman"/>
                <a:cs typeface="Times New Roman"/>
              </a:rPr>
              <a:t>systems</a:t>
            </a:r>
            <a:r>
              <a:rPr sz="2400" spc="-25" dirty="0">
                <a:latin typeface="Times New Roman"/>
                <a:cs typeface="Times New Roman"/>
              </a:rPr>
              <a:t> </a:t>
            </a:r>
            <a:r>
              <a:rPr sz="2400" dirty="0">
                <a:latin typeface="Times New Roman"/>
                <a:cs typeface="Times New Roman"/>
              </a:rPr>
              <a:t>also</a:t>
            </a:r>
            <a:r>
              <a:rPr sz="2400" spc="-35" dirty="0">
                <a:latin typeface="Times New Roman"/>
                <a:cs typeface="Times New Roman"/>
              </a:rPr>
              <a:t> </a:t>
            </a:r>
            <a:r>
              <a:rPr sz="2400" dirty="0">
                <a:latin typeface="Times New Roman"/>
                <a:cs typeface="Times New Roman"/>
              </a:rPr>
              <a:t>differ</a:t>
            </a:r>
            <a:r>
              <a:rPr sz="2400" spc="-2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mobility</a:t>
            </a:r>
            <a:r>
              <a:rPr sz="2400" spc="-50" dirty="0">
                <a:latin typeface="Times New Roman"/>
                <a:cs typeface="Times New Roman"/>
              </a:rPr>
              <a:t> </a:t>
            </a:r>
            <a:r>
              <a:rPr sz="2400" dirty="0">
                <a:latin typeface="Times New Roman"/>
                <a:cs typeface="Times New Roman"/>
              </a:rPr>
              <a:t>that</a:t>
            </a:r>
            <a:r>
              <a:rPr sz="2400" spc="-40" dirty="0">
                <a:latin typeface="Times New Roman"/>
                <a:cs typeface="Times New Roman"/>
              </a:rPr>
              <a:t> </a:t>
            </a:r>
            <a:r>
              <a:rPr sz="2400" dirty="0">
                <a:latin typeface="Times New Roman"/>
                <a:cs typeface="Times New Roman"/>
              </a:rPr>
              <a:t>they</a:t>
            </a:r>
            <a:r>
              <a:rPr sz="2400" spc="-40" dirty="0">
                <a:latin typeface="Times New Roman"/>
                <a:cs typeface="Times New Roman"/>
              </a:rPr>
              <a:t> </a:t>
            </a:r>
            <a:r>
              <a:rPr sz="2400" dirty="0">
                <a:latin typeface="Times New Roman"/>
                <a:cs typeface="Times New Roman"/>
              </a:rPr>
              <a:t>have</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10" dirty="0">
                <a:latin typeface="Times New Roman"/>
                <a:cs typeface="Times New Roman"/>
              </a:rPr>
              <a:t>allow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users.</a:t>
            </a:r>
            <a:endParaRPr sz="2400">
              <a:latin typeface="Times New Roman"/>
              <a:cs typeface="Times New Roman"/>
            </a:endParaRPr>
          </a:p>
          <a:p>
            <a:pPr marL="12700" marR="4382770" indent="342265">
              <a:lnSpc>
                <a:spcPct val="120000"/>
              </a:lnSpc>
              <a:buClr>
                <a:srgbClr val="0F1141"/>
              </a:buClr>
              <a:buFont typeface="Arial MT"/>
              <a:buChar char="•"/>
              <a:tabLst>
                <a:tab pos="354965" algn="l"/>
              </a:tabLst>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ability</a:t>
            </a:r>
            <a:r>
              <a:rPr sz="2400" spc="-4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move </a:t>
            </a:r>
            <a:r>
              <a:rPr sz="2400" spc="-10" dirty="0">
                <a:latin typeface="Times New Roman"/>
                <a:cs typeface="Times New Roman"/>
              </a:rPr>
              <a:t>around </a:t>
            </a:r>
            <a:r>
              <a:rPr sz="2400" dirty="0">
                <a:latin typeface="Times New Roman"/>
                <a:cs typeface="Times New Roman"/>
              </a:rPr>
              <a:t>while</a:t>
            </a:r>
            <a:r>
              <a:rPr sz="2400" spc="-20" dirty="0">
                <a:latin typeface="Times New Roman"/>
                <a:cs typeface="Times New Roman"/>
              </a:rPr>
              <a:t> </a:t>
            </a:r>
            <a:r>
              <a:rPr sz="2400" dirty="0">
                <a:latin typeface="Times New Roman"/>
                <a:cs typeface="Times New Roman"/>
              </a:rPr>
              <a:t>communicating</a:t>
            </a:r>
            <a:r>
              <a:rPr sz="2400" spc="-3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spc="-25" dirty="0">
                <a:latin typeface="Times New Roman"/>
                <a:cs typeface="Times New Roman"/>
              </a:rPr>
              <a:t>one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main</a:t>
            </a:r>
            <a:r>
              <a:rPr sz="2400" spc="-15" dirty="0">
                <a:latin typeface="Times New Roman"/>
                <a:cs typeface="Times New Roman"/>
              </a:rPr>
              <a:t> </a:t>
            </a:r>
            <a:r>
              <a:rPr sz="2400" dirty="0">
                <a:latin typeface="Times New Roman"/>
                <a:cs typeface="Times New Roman"/>
              </a:rPr>
              <a:t>factors</a:t>
            </a:r>
            <a:r>
              <a:rPr sz="2400" spc="-20" dirty="0">
                <a:latin typeface="Times New Roman"/>
                <a:cs typeface="Times New Roman"/>
              </a:rPr>
              <a:t> </a:t>
            </a:r>
            <a:r>
              <a:rPr sz="2400" spc="-25" dirty="0">
                <a:latin typeface="Times New Roman"/>
                <a:cs typeface="Times New Roman"/>
              </a:rPr>
              <a:t>of</a:t>
            </a:r>
            <a:r>
              <a:rPr sz="2400" spc="600" dirty="0">
                <a:latin typeface="Times New Roman"/>
                <a:cs typeface="Times New Roman"/>
              </a:rPr>
              <a:t> </a:t>
            </a:r>
            <a:r>
              <a:rPr sz="2400" dirty="0">
                <a:latin typeface="Times New Roman"/>
                <a:cs typeface="Times New Roman"/>
              </a:rPr>
              <a:t>wireless</a:t>
            </a:r>
            <a:r>
              <a:rPr sz="2400" spc="-40" dirty="0">
                <a:latin typeface="Times New Roman"/>
                <a:cs typeface="Times New Roman"/>
              </a:rPr>
              <a:t> </a:t>
            </a:r>
            <a:r>
              <a:rPr sz="2400" spc="-10" dirty="0">
                <a:latin typeface="Times New Roman"/>
                <a:cs typeface="Times New Roman"/>
              </a:rPr>
              <a:t>communication</a:t>
            </a:r>
            <a:endParaRPr sz="2400">
              <a:latin typeface="Times New Roman"/>
              <a:cs typeface="Times New Roman"/>
            </a:endParaRPr>
          </a:p>
          <a:p>
            <a:pPr marL="88265">
              <a:lnSpc>
                <a:spcPct val="100000"/>
              </a:lnSpc>
              <a:spcBef>
                <a:spcPts val="580"/>
              </a:spcBef>
            </a:pP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20" dirty="0">
                <a:latin typeface="Times New Roman"/>
                <a:cs typeface="Times New Roman"/>
              </a:rPr>
              <a:t>user.</a:t>
            </a:r>
            <a:endParaRPr sz="2400">
              <a:latin typeface="Times New Roman"/>
              <a:cs typeface="Times New Roman"/>
            </a:endParaRPr>
          </a:p>
        </p:txBody>
      </p:sp>
      <p:sp>
        <p:nvSpPr>
          <p:cNvPr id="3" name="object 3">
            <a:extLst>
              <a:ext uri="{FF2B5EF4-FFF2-40B4-BE49-F238E27FC236}">
                <a16:creationId xmlns:a16="http://schemas.microsoft.com/office/drawing/2014/main" id="{571725DD-4D52-DB74-DB64-F57933851BFD}"/>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Mobility</a:t>
            </a:r>
          </a:p>
        </p:txBody>
      </p:sp>
      <p:pic>
        <p:nvPicPr>
          <p:cNvPr id="4" name="object 4">
            <a:extLst>
              <a:ext uri="{FF2B5EF4-FFF2-40B4-BE49-F238E27FC236}">
                <a16:creationId xmlns:a16="http://schemas.microsoft.com/office/drawing/2014/main" id="{D2963D37-6B76-8823-988C-71126BD71B7E}"/>
              </a:ext>
            </a:extLst>
          </p:cNvPr>
          <p:cNvPicPr/>
          <p:nvPr/>
        </p:nvPicPr>
        <p:blipFill>
          <a:blip r:embed="rId2" cstate="print"/>
          <a:stretch>
            <a:fillRect/>
          </a:stretch>
        </p:blipFill>
        <p:spPr>
          <a:xfrm>
            <a:off x="3810000" y="2057387"/>
            <a:ext cx="5257800" cy="3951580"/>
          </a:xfrm>
          <a:prstGeom prst="rect">
            <a:avLst/>
          </a:prstGeom>
        </p:spPr>
      </p:pic>
      <p:sp>
        <p:nvSpPr>
          <p:cNvPr id="5" name="object 5">
            <a:extLst>
              <a:ext uri="{FF2B5EF4-FFF2-40B4-BE49-F238E27FC236}">
                <a16:creationId xmlns:a16="http://schemas.microsoft.com/office/drawing/2014/main" id="{D7E82281-0A70-20D9-D743-EE1745A03ED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44</a:t>
            </a:fld>
            <a:endParaRPr spc="-25" dirty="0"/>
          </a:p>
        </p:txBody>
      </p:sp>
      <p:sp>
        <p:nvSpPr>
          <p:cNvPr id="6" name="object 6">
            <a:extLst>
              <a:ext uri="{FF2B5EF4-FFF2-40B4-BE49-F238E27FC236}">
                <a16:creationId xmlns:a16="http://schemas.microsoft.com/office/drawing/2014/main" id="{02A2930D-087F-8525-2717-19992B201BA6}"/>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2234428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364107"/>
            <a:ext cx="8058784" cy="4716676"/>
          </a:xfrm>
          <a:prstGeom prst="rect">
            <a:avLst/>
          </a:prstGeom>
        </p:spPr>
        <p:txBody>
          <a:bodyPr vert="horz" wrap="square" lIns="0" tIns="12700" rIns="0" bIns="0" rtlCol="0">
            <a:spAutoFit/>
          </a:bodyPr>
          <a:lstStyle/>
          <a:p>
            <a:pPr>
              <a:buNone/>
            </a:pPr>
            <a:r>
              <a:rPr lang="en-US" sz="1600" dirty="0"/>
              <a:t>Wireless networks </a:t>
            </a:r>
            <a:r>
              <a:rPr lang="en-US" sz="1600" b="1" dirty="0"/>
              <a:t>differ in their mobility support</a:t>
            </a:r>
            <a:r>
              <a:rPr lang="en-US" sz="1600" dirty="0"/>
              <a:t>, allowing users to move around while communicating. Mobility is a crucial factor for </a:t>
            </a:r>
            <a:r>
              <a:rPr lang="en-US" sz="1600" b="1" dirty="0"/>
              <a:t>wireless communication</a:t>
            </a:r>
            <a:r>
              <a:rPr lang="en-US" sz="1600" dirty="0"/>
              <a:t>.</a:t>
            </a:r>
          </a:p>
          <a:p>
            <a:pPr>
              <a:buNone/>
            </a:pPr>
            <a:r>
              <a:rPr lang="en-US" sz="1600" b="1" dirty="0"/>
              <a:t>Key Observations from the Graph:</a:t>
            </a:r>
          </a:p>
          <a:p>
            <a:pPr>
              <a:buFont typeface="Arial" panose="020B0604020202020204" pitchFamily="34" charset="0"/>
              <a:buChar char="•"/>
            </a:pPr>
            <a:r>
              <a:rPr lang="en-US" sz="1600" b="1" dirty="0"/>
              <a:t>Higher mobility networks</a:t>
            </a:r>
            <a:r>
              <a:rPr lang="en-US" sz="1600" dirty="0"/>
              <a:t> (e.g., Cellular &amp; Satellite) allow users to move freely across large distances.</a:t>
            </a:r>
          </a:p>
          <a:p>
            <a:pPr>
              <a:buFont typeface="Arial" panose="020B0604020202020204" pitchFamily="34" charset="0"/>
              <a:buChar char="•"/>
            </a:pPr>
            <a:r>
              <a:rPr lang="en-US" sz="1600" b="1" dirty="0"/>
              <a:t>Low mobility networks</a:t>
            </a:r>
            <a:r>
              <a:rPr lang="en-US" sz="1600" dirty="0"/>
              <a:t> (e.g., WLAN, PAN) are better for stationary or nomadic users.</a:t>
            </a:r>
          </a:p>
          <a:p>
            <a:pPr>
              <a:buFont typeface="Arial" panose="020B0604020202020204" pitchFamily="34" charset="0"/>
              <a:buChar char="•"/>
            </a:pPr>
            <a:r>
              <a:rPr lang="en-US" sz="1600" b="1" dirty="0"/>
              <a:t>High-speed mobility (e.g., planes, high-speed trains)</a:t>
            </a:r>
            <a:r>
              <a:rPr lang="en-US" sz="1600" dirty="0"/>
              <a:t> sacrifices data rate for connectivity.</a:t>
            </a:r>
          </a:p>
          <a:p>
            <a:pPr marL="12700" marR="5080">
              <a:lnSpc>
                <a:spcPct val="100000"/>
              </a:lnSpc>
              <a:spcBef>
                <a:spcPts val="100"/>
              </a:spcBef>
              <a:buClr>
                <a:srgbClr val="0F1141"/>
              </a:buClr>
              <a:tabLst>
                <a:tab pos="355600" algn="l"/>
              </a:tabLst>
            </a:pPr>
            <a:endParaRPr lang="en-US" sz="1600" dirty="0">
              <a:latin typeface="Times New Roman"/>
              <a:cs typeface="Times New Roman"/>
            </a:endParaRPr>
          </a:p>
          <a:p>
            <a:pPr>
              <a:buNone/>
            </a:pPr>
            <a:r>
              <a:rPr lang="en-US" sz="1600" b="1" dirty="0"/>
              <a:t>Key Takeaways:</a:t>
            </a:r>
          </a:p>
          <a:p>
            <a:pPr>
              <a:buNone/>
            </a:pPr>
            <a:r>
              <a:rPr lang="en-US" sz="1600" b="1" dirty="0"/>
              <a:t>Wired networks (PSTN)</a:t>
            </a:r>
            <a:r>
              <a:rPr lang="en-US" sz="1600" dirty="0"/>
              <a:t> support only </a:t>
            </a:r>
            <a:r>
              <a:rPr lang="en-US" sz="1600" b="1" dirty="0"/>
              <a:t>stationary</a:t>
            </a:r>
            <a:r>
              <a:rPr lang="en-US" sz="1600" dirty="0"/>
              <a:t> users.</a:t>
            </a:r>
            <a:br>
              <a:rPr lang="en-US" sz="1600" dirty="0"/>
            </a:br>
            <a:r>
              <a:rPr lang="en-US" sz="1600" b="1" dirty="0"/>
              <a:t>Wi-Fi and PAN</a:t>
            </a:r>
            <a:r>
              <a:rPr lang="en-US" sz="1600" dirty="0"/>
              <a:t> allow movement but work best for </a:t>
            </a:r>
            <a:r>
              <a:rPr lang="en-US" sz="1600" b="1" dirty="0"/>
              <a:t>nomadic or pedestrian users</a:t>
            </a:r>
            <a:r>
              <a:rPr lang="en-US" sz="1600" dirty="0"/>
              <a:t>.</a:t>
            </a:r>
            <a:br>
              <a:rPr lang="en-US" sz="1600" dirty="0"/>
            </a:br>
            <a:r>
              <a:rPr lang="en-US" sz="1600" b="1" dirty="0"/>
              <a:t>Cellular networks (2G, 3G, 4G, 5G)</a:t>
            </a:r>
            <a:r>
              <a:rPr lang="en-US" sz="1600" dirty="0"/>
              <a:t> enable </a:t>
            </a:r>
            <a:r>
              <a:rPr lang="en-US" sz="1600" b="1" dirty="0"/>
              <a:t>vehicular and high-speed mobility</a:t>
            </a:r>
            <a:r>
              <a:rPr lang="en-US" sz="1600" dirty="0"/>
              <a:t>.</a:t>
            </a:r>
            <a:br>
              <a:rPr lang="en-US" sz="1600" dirty="0"/>
            </a:br>
            <a:r>
              <a:rPr lang="en-US" sz="1600" b="1" dirty="0"/>
              <a:t>Satellite phones</a:t>
            </a:r>
            <a:r>
              <a:rPr lang="en-US" sz="1600" dirty="0"/>
              <a:t> are ideal for extreme mobility (e.g., </a:t>
            </a:r>
            <a:r>
              <a:rPr lang="en-US" sz="1600" b="1" dirty="0"/>
              <a:t>planes, remote areas</a:t>
            </a:r>
            <a:r>
              <a:rPr lang="en-US" sz="1600" dirty="0"/>
              <a:t>) but offer lower speeds.</a:t>
            </a:r>
          </a:p>
          <a:p>
            <a:pPr>
              <a:buNone/>
            </a:pPr>
            <a:endParaRPr lang="en-US" sz="1600" dirty="0"/>
          </a:p>
          <a:p>
            <a:r>
              <a:rPr lang="en-US" sz="1600" dirty="0"/>
              <a:t>Mobility plays a crucial role in choosing the right wireless technology based on user movement needs.</a:t>
            </a:r>
          </a:p>
          <a:p>
            <a:pPr marL="12700" marR="5080">
              <a:lnSpc>
                <a:spcPct val="100000"/>
              </a:lnSpc>
              <a:spcBef>
                <a:spcPts val="100"/>
              </a:spcBef>
              <a:buClr>
                <a:srgbClr val="0F1141"/>
              </a:buClr>
              <a:tabLst>
                <a:tab pos="355600" algn="l"/>
              </a:tabLst>
            </a:pPr>
            <a:endParaRPr sz="1600" dirty="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Mobility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45</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47F1F-9D27-1D1C-EA83-85247F6A666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4031D25-DA4F-016E-0E8F-6194F89B9FBF}"/>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Mobility</a:t>
            </a:r>
          </a:p>
        </p:txBody>
      </p:sp>
      <p:sp>
        <p:nvSpPr>
          <p:cNvPr id="5" name="object 5">
            <a:extLst>
              <a:ext uri="{FF2B5EF4-FFF2-40B4-BE49-F238E27FC236}">
                <a16:creationId xmlns:a16="http://schemas.microsoft.com/office/drawing/2014/main" id="{73A0D624-8CD1-A090-B2FD-272ADA58C8E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46</a:t>
            </a:fld>
            <a:endParaRPr spc="-25" dirty="0"/>
          </a:p>
        </p:txBody>
      </p:sp>
      <p:sp>
        <p:nvSpPr>
          <p:cNvPr id="6" name="object 6">
            <a:extLst>
              <a:ext uri="{FF2B5EF4-FFF2-40B4-BE49-F238E27FC236}">
                <a16:creationId xmlns:a16="http://schemas.microsoft.com/office/drawing/2014/main" id="{33D17CBA-39BD-CF62-0470-80C34AEC15B4}"/>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4" name="Table 3">
            <a:extLst>
              <a:ext uri="{FF2B5EF4-FFF2-40B4-BE49-F238E27FC236}">
                <a16:creationId xmlns:a16="http://schemas.microsoft.com/office/drawing/2014/main" id="{4C5BF075-0EA9-F6A8-8C95-A78B53C6A6B9}"/>
              </a:ext>
            </a:extLst>
          </p:cNvPr>
          <p:cNvGraphicFramePr>
            <a:graphicFrameLocks noGrp="1"/>
          </p:cNvGraphicFramePr>
          <p:nvPr>
            <p:extLst>
              <p:ext uri="{D42A27DB-BD31-4B8C-83A1-F6EECF244321}">
                <p14:modId xmlns:p14="http://schemas.microsoft.com/office/powerpoint/2010/main" val="1984892584"/>
              </p:ext>
            </p:extLst>
          </p:nvPr>
        </p:nvGraphicFramePr>
        <p:xfrm>
          <a:off x="152400" y="2057400"/>
          <a:ext cx="8207164" cy="3566160"/>
        </p:xfrm>
        <a:graphic>
          <a:graphicData uri="http://schemas.openxmlformats.org/drawingml/2006/table">
            <a:tbl>
              <a:tblPr/>
              <a:tblGrid>
                <a:gridCol w="2665730">
                  <a:extLst>
                    <a:ext uri="{9D8B030D-6E8A-4147-A177-3AD203B41FA5}">
                      <a16:colId xmlns:a16="http://schemas.microsoft.com/office/drawing/2014/main" val="3783366230"/>
                    </a:ext>
                  </a:extLst>
                </a:gridCol>
                <a:gridCol w="2770717">
                  <a:extLst>
                    <a:ext uri="{9D8B030D-6E8A-4147-A177-3AD203B41FA5}">
                      <a16:colId xmlns:a16="http://schemas.microsoft.com/office/drawing/2014/main" val="454438355"/>
                    </a:ext>
                  </a:extLst>
                </a:gridCol>
                <a:gridCol w="2770717">
                  <a:extLst>
                    <a:ext uri="{9D8B030D-6E8A-4147-A177-3AD203B41FA5}">
                      <a16:colId xmlns:a16="http://schemas.microsoft.com/office/drawing/2014/main" val="1153543642"/>
                    </a:ext>
                  </a:extLst>
                </a:gridCol>
              </a:tblGrid>
              <a:tr h="365760">
                <a:tc>
                  <a:txBody>
                    <a:bodyPr/>
                    <a:lstStyle/>
                    <a:p>
                      <a:r>
                        <a:rPr lang="en-IN" sz="1800" b="1"/>
                        <a:t>Technology</a:t>
                      </a:r>
                      <a:endParaRPr lang="en-IN" sz="1800"/>
                    </a:p>
                  </a:txBody>
                  <a:tcPr anchor="ctr">
                    <a:lnL>
                      <a:noFill/>
                    </a:lnL>
                    <a:lnR>
                      <a:noFill/>
                    </a:lnR>
                    <a:lnT>
                      <a:noFill/>
                    </a:lnT>
                    <a:lnB>
                      <a:noFill/>
                    </a:lnB>
                    <a:noFill/>
                  </a:tcPr>
                </a:tc>
                <a:tc>
                  <a:txBody>
                    <a:bodyPr/>
                    <a:lstStyle/>
                    <a:p>
                      <a:r>
                        <a:rPr lang="en-IN" sz="1800" b="1"/>
                        <a:t>Mobility Support</a:t>
                      </a:r>
                      <a:endParaRPr lang="en-IN" sz="1800"/>
                    </a:p>
                  </a:txBody>
                  <a:tcPr anchor="ctr">
                    <a:lnL>
                      <a:noFill/>
                    </a:lnL>
                    <a:lnR>
                      <a:noFill/>
                    </a:lnR>
                    <a:lnT>
                      <a:noFill/>
                    </a:lnT>
                    <a:lnB>
                      <a:noFill/>
                    </a:lnB>
                    <a:noFill/>
                  </a:tcPr>
                </a:tc>
                <a:tc>
                  <a:txBody>
                    <a:bodyPr/>
                    <a:lstStyle/>
                    <a:p>
                      <a:r>
                        <a:rPr lang="en-IN" sz="1800" b="1"/>
                        <a:t>Data Rate</a:t>
                      </a:r>
                      <a:endParaRPr lang="en-IN" sz="1800"/>
                    </a:p>
                  </a:txBody>
                  <a:tcPr anchor="ctr">
                    <a:lnL>
                      <a:noFill/>
                    </a:lnL>
                    <a:lnR>
                      <a:noFill/>
                    </a:lnR>
                    <a:lnT>
                      <a:noFill/>
                    </a:lnT>
                    <a:lnB>
                      <a:noFill/>
                    </a:lnB>
                    <a:noFill/>
                  </a:tcPr>
                </a:tc>
                <a:extLst>
                  <a:ext uri="{0D108BD9-81ED-4DB2-BD59-A6C34878D82A}">
                    <a16:rowId xmlns:a16="http://schemas.microsoft.com/office/drawing/2014/main" val="3711664012"/>
                  </a:ext>
                </a:extLst>
              </a:tr>
              <a:tr h="365760">
                <a:tc>
                  <a:txBody>
                    <a:bodyPr/>
                    <a:lstStyle/>
                    <a:p>
                      <a:r>
                        <a:rPr lang="en-IN" sz="1800" b="1"/>
                        <a:t>PSTN (Fixed line)</a:t>
                      </a:r>
                      <a:endParaRPr lang="en-IN" sz="1800"/>
                    </a:p>
                  </a:txBody>
                  <a:tcPr anchor="ctr">
                    <a:lnL>
                      <a:noFill/>
                    </a:lnL>
                    <a:lnR>
                      <a:noFill/>
                    </a:lnR>
                    <a:lnT>
                      <a:noFill/>
                    </a:lnT>
                    <a:lnB>
                      <a:noFill/>
                    </a:lnB>
                    <a:noFill/>
                  </a:tcPr>
                </a:tc>
                <a:tc>
                  <a:txBody>
                    <a:bodyPr/>
                    <a:lstStyle/>
                    <a:p>
                      <a:r>
                        <a:rPr lang="en-IN" sz="1800"/>
                        <a:t>Stationary only</a:t>
                      </a:r>
                    </a:p>
                  </a:txBody>
                  <a:tcPr anchor="ctr">
                    <a:lnL>
                      <a:noFill/>
                    </a:lnL>
                    <a:lnR>
                      <a:noFill/>
                    </a:lnR>
                    <a:lnT>
                      <a:noFill/>
                    </a:lnT>
                    <a:lnB>
                      <a:noFill/>
                    </a:lnB>
                    <a:noFill/>
                  </a:tcPr>
                </a:tc>
                <a:tc>
                  <a:txBody>
                    <a:bodyPr/>
                    <a:lstStyle/>
                    <a:p>
                      <a:r>
                        <a:rPr lang="en-US" sz="1800"/>
                        <a:t>~10 kbit/s – 1 Mbit/s</a:t>
                      </a:r>
                    </a:p>
                  </a:txBody>
                  <a:tcPr anchor="ctr">
                    <a:lnL>
                      <a:noFill/>
                    </a:lnL>
                    <a:lnR>
                      <a:noFill/>
                    </a:lnR>
                    <a:lnT>
                      <a:noFill/>
                    </a:lnT>
                    <a:lnB>
                      <a:noFill/>
                    </a:lnB>
                    <a:noFill/>
                  </a:tcPr>
                </a:tc>
                <a:extLst>
                  <a:ext uri="{0D108BD9-81ED-4DB2-BD59-A6C34878D82A}">
                    <a16:rowId xmlns:a16="http://schemas.microsoft.com/office/drawing/2014/main" val="3989688194"/>
                  </a:ext>
                </a:extLst>
              </a:tr>
              <a:tr h="365760">
                <a:tc>
                  <a:txBody>
                    <a:bodyPr/>
                    <a:lstStyle/>
                    <a:p>
                      <a:r>
                        <a:rPr lang="en-IN" sz="1800" b="1"/>
                        <a:t>Cordless Phones</a:t>
                      </a:r>
                      <a:endParaRPr lang="en-IN" sz="1800"/>
                    </a:p>
                  </a:txBody>
                  <a:tcPr anchor="ctr">
                    <a:lnL>
                      <a:noFill/>
                    </a:lnL>
                    <a:lnR>
                      <a:noFill/>
                    </a:lnR>
                    <a:lnT>
                      <a:noFill/>
                    </a:lnT>
                    <a:lnB>
                      <a:noFill/>
                    </a:lnB>
                    <a:noFill/>
                  </a:tcPr>
                </a:tc>
                <a:tc>
                  <a:txBody>
                    <a:bodyPr/>
                    <a:lstStyle/>
                    <a:p>
                      <a:r>
                        <a:rPr lang="en-IN" sz="1800"/>
                        <a:t>Nomadic</a:t>
                      </a:r>
                    </a:p>
                  </a:txBody>
                  <a:tcPr anchor="ctr">
                    <a:lnL>
                      <a:noFill/>
                    </a:lnL>
                    <a:lnR>
                      <a:noFill/>
                    </a:lnR>
                    <a:lnT>
                      <a:noFill/>
                    </a:lnT>
                    <a:lnB>
                      <a:noFill/>
                    </a:lnB>
                    <a:noFill/>
                  </a:tcPr>
                </a:tc>
                <a:tc>
                  <a:txBody>
                    <a:bodyPr/>
                    <a:lstStyle/>
                    <a:p>
                      <a:r>
                        <a:rPr lang="en-US" sz="1800"/>
                        <a:t>~10 kbit/s – 100 kbit/s</a:t>
                      </a:r>
                    </a:p>
                  </a:txBody>
                  <a:tcPr anchor="ctr">
                    <a:lnL>
                      <a:noFill/>
                    </a:lnL>
                    <a:lnR>
                      <a:noFill/>
                    </a:lnR>
                    <a:lnT>
                      <a:noFill/>
                    </a:lnT>
                    <a:lnB>
                      <a:noFill/>
                    </a:lnB>
                    <a:noFill/>
                  </a:tcPr>
                </a:tc>
                <a:extLst>
                  <a:ext uri="{0D108BD9-81ED-4DB2-BD59-A6C34878D82A}">
                    <a16:rowId xmlns:a16="http://schemas.microsoft.com/office/drawing/2014/main" val="4273161984"/>
                  </a:ext>
                </a:extLst>
              </a:tr>
              <a:tr h="365760">
                <a:tc>
                  <a:txBody>
                    <a:bodyPr/>
                    <a:lstStyle/>
                    <a:p>
                      <a:r>
                        <a:rPr lang="en-IN" sz="1800" b="1"/>
                        <a:t>WLAN (Wi-Fi)</a:t>
                      </a:r>
                      <a:endParaRPr lang="en-IN" sz="1800"/>
                    </a:p>
                  </a:txBody>
                  <a:tcPr anchor="ctr">
                    <a:lnL>
                      <a:noFill/>
                    </a:lnL>
                    <a:lnR>
                      <a:noFill/>
                    </a:lnR>
                    <a:lnT>
                      <a:noFill/>
                    </a:lnT>
                    <a:lnB>
                      <a:noFill/>
                    </a:lnB>
                    <a:noFill/>
                  </a:tcPr>
                </a:tc>
                <a:tc>
                  <a:txBody>
                    <a:bodyPr/>
                    <a:lstStyle/>
                    <a:p>
                      <a:r>
                        <a:rPr lang="en-IN" sz="1800"/>
                        <a:t>Pedestrian, Nomadic</a:t>
                      </a:r>
                    </a:p>
                  </a:txBody>
                  <a:tcPr anchor="ctr">
                    <a:lnL>
                      <a:noFill/>
                    </a:lnL>
                    <a:lnR>
                      <a:noFill/>
                    </a:lnR>
                    <a:lnT>
                      <a:noFill/>
                    </a:lnT>
                    <a:lnB>
                      <a:noFill/>
                    </a:lnB>
                    <a:noFill/>
                  </a:tcPr>
                </a:tc>
                <a:tc>
                  <a:txBody>
                    <a:bodyPr/>
                    <a:lstStyle/>
                    <a:p>
                      <a:r>
                        <a:rPr lang="en-IN" sz="1800"/>
                        <a:t>1 – 100 Mbit/s</a:t>
                      </a:r>
                    </a:p>
                  </a:txBody>
                  <a:tcPr anchor="ctr">
                    <a:lnL>
                      <a:noFill/>
                    </a:lnL>
                    <a:lnR>
                      <a:noFill/>
                    </a:lnR>
                    <a:lnT>
                      <a:noFill/>
                    </a:lnT>
                    <a:lnB>
                      <a:noFill/>
                    </a:lnB>
                    <a:noFill/>
                  </a:tcPr>
                </a:tc>
                <a:extLst>
                  <a:ext uri="{0D108BD9-81ED-4DB2-BD59-A6C34878D82A}">
                    <a16:rowId xmlns:a16="http://schemas.microsoft.com/office/drawing/2014/main" val="3234608756"/>
                  </a:ext>
                </a:extLst>
              </a:tr>
              <a:tr h="365760">
                <a:tc>
                  <a:txBody>
                    <a:bodyPr/>
                    <a:lstStyle/>
                    <a:p>
                      <a:r>
                        <a:rPr lang="en-IN" sz="1800" b="1"/>
                        <a:t>PAN (Bluetooth, Infrared)</a:t>
                      </a:r>
                      <a:endParaRPr lang="en-IN" sz="1800"/>
                    </a:p>
                  </a:txBody>
                  <a:tcPr anchor="ctr">
                    <a:lnL>
                      <a:noFill/>
                    </a:lnL>
                    <a:lnR>
                      <a:noFill/>
                    </a:lnR>
                    <a:lnT>
                      <a:noFill/>
                    </a:lnT>
                    <a:lnB>
                      <a:noFill/>
                    </a:lnB>
                    <a:noFill/>
                  </a:tcPr>
                </a:tc>
                <a:tc>
                  <a:txBody>
                    <a:bodyPr/>
                    <a:lstStyle/>
                    <a:p>
                      <a:r>
                        <a:rPr lang="en-IN" sz="1800"/>
                        <a:t>Pedestrian, Nomadic</a:t>
                      </a:r>
                    </a:p>
                  </a:txBody>
                  <a:tcPr anchor="ctr">
                    <a:lnL>
                      <a:noFill/>
                    </a:lnL>
                    <a:lnR>
                      <a:noFill/>
                    </a:lnR>
                    <a:lnT>
                      <a:noFill/>
                    </a:lnT>
                    <a:lnB>
                      <a:noFill/>
                    </a:lnB>
                    <a:noFill/>
                  </a:tcPr>
                </a:tc>
                <a:tc>
                  <a:txBody>
                    <a:bodyPr/>
                    <a:lstStyle/>
                    <a:p>
                      <a:r>
                        <a:rPr lang="en-US" sz="1800"/>
                        <a:t>10 Mbit/s – 1 Gbit/s</a:t>
                      </a:r>
                    </a:p>
                  </a:txBody>
                  <a:tcPr anchor="ctr">
                    <a:lnL>
                      <a:noFill/>
                    </a:lnL>
                    <a:lnR>
                      <a:noFill/>
                    </a:lnR>
                    <a:lnT>
                      <a:noFill/>
                    </a:lnT>
                    <a:lnB>
                      <a:noFill/>
                    </a:lnB>
                    <a:noFill/>
                  </a:tcPr>
                </a:tc>
                <a:extLst>
                  <a:ext uri="{0D108BD9-81ED-4DB2-BD59-A6C34878D82A}">
                    <a16:rowId xmlns:a16="http://schemas.microsoft.com/office/drawing/2014/main" val="2838221533"/>
                  </a:ext>
                </a:extLst>
              </a:tr>
              <a:tr h="365760">
                <a:tc>
                  <a:txBody>
                    <a:bodyPr/>
                    <a:lstStyle/>
                    <a:p>
                      <a:r>
                        <a:rPr lang="en-IN" sz="1800" b="1"/>
                        <a:t>2G Cellular</a:t>
                      </a:r>
                      <a:endParaRPr lang="en-IN" sz="1800"/>
                    </a:p>
                  </a:txBody>
                  <a:tcPr anchor="ctr">
                    <a:lnL>
                      <a:noFill/>
                    </a:lnL>
                    <a:lnR>
                      <a:noFill/>
                    </a:lnR>
                    <a:lnT>
                      <a:noFill/>
                    </a:lnT>
                    <a:lnB>
                      <a:noFill/>
                    </a:lnB>
                    <a:noFill/>
                  </a:tcPr>
                </a:tc>
                <a:tc>
                  <a:txBody>
                    <a:bodyPr/>
                    <a:lstStyle/>
                    <a:p>
                      <a:r>
                        <a:rPr lang="en-IN" sz="1800"/>
                        <a:t>Vehicular, Nomadic</a:t>
                      </a:r>
                    </a:p>
                  </a:txBody>
                  <a:tcPr anchor="ctr">
                    <a:lnL>
                      <a:noFill/>
                    </a:lnL>
                    <a:lnR>
                      <a:noFill/>
                    </a:lnR>
                    <a:lnT>
                      <a:noFill/>
                    </a:lnT>
                    <a:lnB>
                      <a:noFill/>
                    </a:lnB>
                    <a:noFill/>
                  </a:tcPr>
                </a:tc>
                <a:tc>
                  <a:txBody>
                    <a:bodyPr/>
                    <a:lstStyle/>
                    <a:p>
                      <a:r>
                        <a:rPr lang="en-US" sz="1800"/>
                        <a:t>10 kbit/s – 100 kbit/s</a:t>
                      </a:r>
                    </a:p>
                  </a:txBody>
                  <a:tcPr anchor="ctr">
                    <a:lnL>
                      <a:noFill/>
                    </a:lnL>
                    <a:lnR>
                      <a:noFill/>
                    </a:lnR>
                    <a:lnT>
                      <a:noFill/>
                    </a:lnT>
                    <a:lnB>
                      <a:noFill/>
                    </a:lnB>
                    <a:noFill/>
                  </a:tcPr>
                </a:tc>
                <a:extLst>
                  <a:ext uri="{0D108BD9-81ED-4DB2-BD59-A6C34878D82A}">
                    <a16:rowId xmlns:a16="http://schemas.microsoft.com/office/drawing/2014/main" val="2778170488"/>
                  </a:ext>
                </a:extLst>
              </a:tr>
              <a:tr h="365760">
                <a:tc>
                  <a:txBody>
                    <a:bodyPr/>
                    <a:lstStyle/>
                    <a:p>
                      <a:r>
                        <a:rPr lang="en-IN" sz="1800" b="1"/>
                        <a:t>3G Cellular</a:t>
                      </a:r>
                      <a:endParaRPr lang="en-IN" sz="1800"/>
                    </a:p>
                  </a:txBody>
                  <a:tcPr anchor="ctr">
                    <a:lnL>
                      <a:noFill/>
                    </a:lnL>
                    <a:lnR>
                      <a:noFill/>
                    </a:lnR>
                    <a:lnT>
                      <a:noFill/>
                    </a:lnT>
                    <a:lnB>
                      <a:noFill/>
                    </a:lnB>
                    <a:noFill/>
                  </a:tcPr>
                </a:tc>
                <a:tc>
                  <a:txBody>
                    <a:bodyPr/>
                    <a:lstStyle/>
                    <a:p>
                      <a:r>
                        <a:rPr lang="en-IN" sz="1800"/>
                        <a:t>Vehicular</a:t>
                      </a:r>
                    </a:p>
                  </a:txBody>
                  <a:tcPr anchor="ctr">
                    <a:lnL>
                      <a:noFill/>
                    </a:lnL>
                    <a:lnR>
                      <a:noFill/>
                    </a:lnR>
                    <a:lnT>
                      <a:noFill/>
                    </a:lnT>
                    <a:lnB>
                      <a:noFill/>
                    </a:lnB>
                    <a:noFill/>
                  </a:tcPr>
                </a:tc>
                <a:tc>
                  <a:txBody>
                    <a:bodyPr/>
                    <a:lstStyle/>
                    <a:p>
                      <a:r>
                        <a:rPr lang="en-US" sz="1800"/>
                        <a:t>1 Mbit/s – 10 Mbit/s</a:t>
                      </a:r>
                    </a:p>
                  </a:txBody>
                  <a:tcPr anchor="ctr">
                    <a:lnL>
                      <a:noFill/>
                    </a:lnL>
                    <a:lnR>
                      <a:noFill/>
                    </a:lnR>
                    <a:lnT>
                      <a:noFill/>
                    </a:lnT>
                    <a:lnB>
                      <a:noFill/>
                    </a:lnB>
                    <a:noFill/>
                  </a:tcPr>
                </a:tc>
                <a:extLst>
                  <a:ext uri="{0D108BD9-81ED-4DB2-BD59-A6C34878D82A}">
                    <a16:rowId xmlns:a16="http://schemas.microsoft.com/office/drawing/2014/main" val="3316207439"/>
                  </a:ext>
                </a:extLst>
              </a:tr>
              <a:tr h="640080">
                <a:tc>
                  <a:txBody>
                    <a:bodyPr/>
                    <a:lstStyle/>
                    <a:p>
                      <a:r>
                        <a:rPr lang="en-IN" sz="1800" b="1"/>
                        <a:t>4G Cellular</a:t>
                      </a:r>
                      <a:endParaRPr lang="en-IN" sz="1800"/>
                    </a:p>
                  </a:txBody>
                  <a:tcPr anchor="ctr">
                    <a:lnL>
                      <a:noFill/>
                    </a:lnL>
                    <a:lnR>
                      <a:noFill/>
                    </a:lnR>
                    <a:lnT>
                      <a:noFill/>
                    </a:lnT>
                    <a:lnB>
                      <a:noFill/>
                    </a:lnB>
                    <a:noFill/>
                  </a:tcPr>
                </a:tc>
                <a:tc>
                  <a:txBody>
                    <a:bodyPr/>
                    <a:lstStyle/>
                    <a:p>
                      <a:r>
                        <a:rPr lang="en-IN" sz="1800"/>
                        <a:t>Vehicular, High-speed trains</a:t>
                      </a:r>
                    </a:p>
                  </a:txBody>
                  <a:tcPr anchor="ctr">
                    <a:lnL>
                      <a:noFill/>
                    </a:lnL>
                    <a:lnR>
                      <a:noFill/>
                    </a:lnR>
                    <a:lnT>
                      <a:noFill/>
                    </a:lnT>
                    <a:lnB>
                      <a:noFill/>
                    </a:lnB>
                    <a:noFill/>
                  </a:tcPr>
                </a:tc>
                <a:tc>
                  <a:txBody>
                    <a:bodyPr/>
                    <a:lstStyle/>
                    <a:p>
                      <a:r>
                        <a:rPr lang="en-US" sz="1800"/>
                        <a:t>10 Mbit/s – 1 Gbit/s</a:t>
                      </a:r>
                    </a:p>
                  </a:txBody>
                  <a:tcPr anchor="ctr">
                    <a:lnL>
                      <a:noFill/>
                    </a:lnL>
                    <a:lnR>
                      <a:noFill/>
                    </a:lnR>
                    <a:lnT>
                      <a:noFill/>
                    </a:lnT>
                    <a:lnB>
                      <a:noFill/>
                    </a:lnB>
                    <a:noFill/>
                  </a:tcPr>
                </a:tc>
                <a:extLst>
                  <a:ext uri="{0D108BD9-81ED-4DB2-BD59-A6C34878D82A}">
                    <a16:rowId xmlns:a16="http://schemas.microsoft.com/office/drawing/2014/main" val="420763100"/>
                  </a:ext>
                </a:extLst>
              </a:tr>
              <a:tr h="365760">
                <a:tc>
                  <a:txBody>
                    <a:bodyPr/>
                    <a:lstStyle/>
                    <a:p>
                      <a:r>
                        <a:rPr lang="en-IN" sz="1800" b="1"/>
                        <a:t>Satellite Phones</a:t>
                      </a:r>
                      <a:endParaRPr lang="en-IN" sz="1800"/>
                    </a:p>
                  </a:txBody>
                  <a:tcPr anchor="ctr">
                    <a:lnL>
                      <a:noFill/>
                    </a:lnL>
                    <a:lnR>
                      <a:noFill/>
                    </a:lnR>
                    <a:lnT>
                      <a:noFill/>
                    </a:lnT>
                    <a:lnB>
                      <a:noFill/>
                    </a:lnB>
                    <a:noFill/>
                  </a:tcPr>
                </a:tc>
                <a:tc>
                  <a:txBody>
                    <a:bodyPr/>
                    <a:lstStyle/>
                    <a:p>
                      <a:r>
                        <a:rPr lang="en-IN" sz="1800"/>
                        <a:t>Planes, High-speed trains</a:t>
                      </a:r>
                    </a:p>
                  </a:txBody>
                  <a:tcPr anchor="ctr">
                    <a:lnL>
                      <a:noFill/>
                    </a:lnL>
                    <a:lnR>
                      <a:noFill/>
                    </a:lnR>
                    <a:lnT>
                      <a:noFill/>
                    </a:lnT>
                    <a:lnB>
                      <a:noFill/>
                    </a:lnB>
                    <a:noFill/>
                  </a:tcPr>
                </a:tc>
                <a:tc>
                  <a:txBody>
                    <a:bodyPr/>
                    <a:lstStyle/>
                    <a:p>
                      <a:r>
                        <a:rPr lang="en-US" sz="1800" dirty="0"/>
                        <a:t>~10 kbit/s – 100 kbit/s</a:t>
                      </a:r>
                    </a:p>
                  </a:txBody>
                  <a:tcPr anchor="ctr">
                    <a:lnL>
                      <a:noFill/>
                    </a:lnL>
                    <a:lnR>
                      <a:noFill/>
                    </a:lnR>
                    <a:lnT>
                      <a:noFill/>
                    </a:lnT>
                    <a:lnB>
                      <a:noFill/>
                    </a:lnB>
                    <a:noFill/>
                  </a:tcPr>
                </a:tc>
                <a:extLst>
                  <a:ext uri="{0D108BD9-81ED-4DB2-BD59-A6C34878D82A}">
                    <a16:rowId xmlns:a16="http://schemas.microsoft.com/office/drawing/2014/main" val="1423481448"/>
                  </a:ext>
                </a:extLst>
              </a:tr>
            </a:tbl>
          </a:graphicData>
        </a:graphic>
      </p:graphicFrame>
      <p:sp>
        <p:nvSpPr>
          <p:cNvPr id="7" name="TextBox 6">
            <a:extLst>
              <a:ext uri="{FF2B5EF4-FFF2-40B4-BE49-F238E27FC236}">
                <a16:creationId xmlns:a16="http://schemas.microsoft.com/office/drawing/2014/main" id="{4D9A0D83-7FD9-6D1A-D8BF-1A43F5B7839F}"/>
              </a:ext>
            </a:extLst>
          </p:cNvPr>
          <p:cNvSpPr txBox="1"/>
          <p:nvPr/>
        </p:nvSpPr>
        <p:spPr>
          <a:xfrm>
            <a:off x="228600" y="1524000"/>
            <a:ext cx="5105400" cy="381000"/>
          </a:xfrm>
          <a:prstGeom prst="rect">
            <a:avLst/>
          </a:prstGeom>
          <a:noFill/>
        </p:spPr>
        <p:txBody>
          <a:bodyPr wrap="square" rtlCol="0">
            <a:spAutoFit/>
          </a:bodyPr>
          <a:lstStyle/>
          <a:p>
            <a:r>
              <a:rPr lang="en-US" dirty="0"/>
              <a:t>Data Rate vs. Mobility Trends:</a:t>
            </a:r>
            <a:endParaRPr lang="en-IN" dirty="0"/>
          </a:p>
        </p:txBody>
      </p:sp>
    </p:spTree>
    <p:extLst>
      <p:ext uri="{BB962C8B-B14F-4D97-AF65-F5344CB8AC3E}">
        <p14:creationId xmlns:p14="http://schemas.microsoft.com/office/powerpoint/2010/main" val="1068756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67675" cy="3570721"/>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Energy</a:t>
            </a:r>
            <a:r>
              <a:rPr sz="2400" spc="-30" dirty="0">
                <a:latin typeface="Times New Roman"/>
                <a:cs typeface="Times New Roman"/>
              </a:rPr>
              <a:t> </a:t>
            </a:r>
            <a:r>
              <a:rPr sz="2400" dirty="0">
                <a:latin typeface="Times New Roman"/>
                <a:cs typeface="Times New Roman"/>
              </a:rPr>
              <a:t>consumption</a:t>
            </a:r>
            <a:r>
              <a:rPr sz="2400" spc="-1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critical</a:t>
            </a:r>
            <a:r>
              <a:rPr sz="2400" spc="-60" dirty="0">
                <a:latin typeface="Times New Roman"/>
                <a:cs typeface="Times New Roman"/>
              </a:rPr>
              <a:t> </a:t>
            </a:r>
            <a:r>
              <a:rPr sz="2400" dirty="0">
                <a:latin typeface="Times New Roman"/>
                <a:cs typeface="Times New Roman"/>
              </a:rPr>
              <a:t>aspect</a:t>
            </a:r>
            <a:r>
              <a:rPr sz="2400" spc="-3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wireless</a:t>
            </a:r>
            <a:r>
              <a:rPr sz="2400" spc="-20" dirty="0">
                <a:latin typeface="Times New Roman"/>
                <a:cs typeface="Times New Roman"/>
              </a:rPr>
              <a:t> </a:t>
            </a:r>
            <a:r>
              <a:rPr sz="2400" dirty="0">
                <a:latin typeface="Times New Roman"/>
                <a:cs typeface="Times New Roman"/>
              </a:rPr>
              <a:t>devices.</a:t>
            </a:r>
            <a:r>
              <a:rPr sz="2400" spc="-30" dirty="0">
                <a:latin typeface="Times New Roman"/>
                <a:cs typeface="Times New Roman"/>
              </a:rPr>
              <a:t> </a:t>
            </a:r>
            <a:r>
              <a:rPr sz="2400" spc="-20" dirty="0">
                <a:latin typeface="Times New Roman"/>
                <a:cs typeface="Times New Roman"/>
              </a:rPr>
              <a:t>Most </a:t>
            </a:r>
            <a:r>
              <a:rPr sz="2400" dirty="0">
                <a:latin typeface="Times New Roman"/>
                <a:cs typeface="Times New Roman"/>
              </a:rPr>
              <a:t>wireless</a:t>
            </a:r>
            <a:r>
              <a:rPr sz="2400" spc="-45" dirty="0">
                <a:latin typeface="Times New Roman"/>
                <a:cs typeface="Times New Roman"/>
              </a:rPr>
              <a:t> </a:t>
            </a:r>
            <a:r>
              <a:rPr sz="2400" dirty="0">
                <a:latin typeface="Times New Roman"/>
                <a:cs typeface="Times New Roman"/>
              </a:rPr>
              <a:t>devices</a:t>
            </a:r>
            <a:r>
              <a:rPr sz="2400" spc="-45" dirty="0">
                <a:latin typeface="Times New Roman"/>
                <a:cs typeface="Times New Roman"/>
              </a:rPr>
              <a:t> </a:t>
            </a:r>
            <a:r>
              <a:rPr sz="2400" dirty="0">
                <a:latin typeface="Times New Roman"/>
                <a:cs typeface="Times New Roman"/>
              </a:rPr>
              <a:t>use</a:t>
            </a:r>
            <a:r>
              <a:rPr sz="2400" spc="-25" dirty="0">
                <a:latin typeface="Times New Roman"/>
                <a:cs typeface="Times New Roman"/>
              </a:rPr>
              <a:t> </a:t>
            </a:r>
            <a:r>
              <a:rPr sz="2400" dirty="0">
                <a:latin typeface="Times New Roman"/>
                <a:cs typeface="Times New Roman"/>
              </a:rPr>
              <a:t>(one</a:t>
            </a:r>
            <a:r>
              <a:rPr sz="2400" spc="-35" dirty="0">
                <a:latin typeface="Times New Roman"/>
                <a:cs typeface="Times New Roman"/>
              </a:rPr>
              <a:t> </a:t>
            </a:r>
            <a:r>
              <a:rPr sz="2400" dirty="0">
                <a:latin typeface="Times New Roman"/>
                <a:cs typeface="Times New Roman"/>
              </a:rPr>
              <a:t>way</a:t>
            </a:r>
            <a:r>
              <a:rPr sz="2400" spc="-25" dirty="0">
                <a:latin typeface="Times New Roman"/>
                <a:cs typeface="Times New Roman"/>
              </a:rPr>
              <a:t> </a:t>
            </a:r>
            <a:r>
              <a:rPr sz="2400" dirty="0">
                <a:latin typeface="Times New Roman"/>
                <a:cs typeface="Times New Roman"/>
              </a:rPr>
              <a:t>or</a:t>
            </a:r>
            <a:r>
              <a:rPr sz="2400" spc="-25" dirty="0">
                <a:latin typeface="Times New Roman"/>
                <a:cs typeface="Times New Roman"/>
              </a:rPr>
              <a:t> </a:t>
            </a:r>
            <a:r>
              <a:rPr sz="2400" dirty="0">
                <a:latin typeface="Times New Roman"/>
                <a:cs typeface="Times New Roman"/>
              </a:rPr>
              <a:t>rechargeable)</a:t>
            </a:r>
            <a:r>
              <a:rPr sz="2400" spc="-60" dirty="0">
                <a:latin typeface="Times New Roman"/>
                <a:cs typeface="Times New Roman"/>
              </a:rPr>
              <a:t> </a:t>
            </a:r>
            <a:r>
              <a:rPr sz="2400" dirty="0">
                <a:latin typeface="Times New Roman"/>
                <a:cs typeface="Times New Roman"/>
              </a:rPr>
              <a:t>batteries,</a:t>
            </a:r>
            <a:r>
              <a:rPr sz="2400" spc="-60" dirty="0">
                <a:latin typeface="Times New Roman"/>
                <a:cs typeface="Times New Roman"/>
              </a:rPr>
              <a:t> </a:t>
            </a:r>
            <a:r>
              <a:rPr sz="2400" dirty="0">
                <a:latin typeface="Times New Roman"/>
                <a:cs typeface="Times New Roman"/>
              </a:rPr>
              <a:t>as</a:t>
            </a:r>
            <a:r>
              <a:rPr sz="2400" spc="-25" dirty="0">
                <a:latin typeface="Times New Roman"/>
                <a:cs typeface="Times New Roman"/>
              </a:rPr>
              <a:t> </a:t>
            </a:r>
            <a:r>
              <a:rPr sz="2400" spc="-20" dirty="0">
                <a:latin typeface="Times New Roman"/>
                <a:cs typeface="Times New Roman"/>
              </a:rPr>
              <a:t>they </a:t>
            </a:r>
            <a:r>
              <a:rPr sz="2400" dirty="0">
                <a:latin typeface="Times New Roman"/>
                <a:cs typeface="Times New Roman"/>
              </a:rPr>
              <a:t>should</a:t>
            </a:r>
            <a:r>
              <a:rPr sz="2400" spc="-35" dirty="0">
                <a:latin typeface="Times New Roman"/>
                <a:cs typeface="Times New Roman"/>
              </a:rPr>
              <a:t> </a:t>
            </a:r>
            <a:r>
              <a:rPr sz="2400" dirty="0">
                <a:latin typeface="Times New Roman"/>
                <a:cs typeface="Times New Roman"/>
              </a:rPr>
              <a:t>be</a:t>
            </a:r>
            <a:r>
              <a:rPr sz="2400" spc="-20" dirty="0">
                <a:latin typeface="Times New Roman"/>
                <a:cs typeface="Times New Roman"/>
              </a:rPr>
              <a:t> </a:t>
            </a:r>
            <a:r>
              <a:rPr sz="2400" dirty="0">
                <a:latin typeface="Times New Roman"/>
                <a:cs typeface="Times New Roman"/>
              </a:rPr>
              <a:t>free</a:t>
            </a:r>
            <a:r>
              <a:rPr sz="2400" spc="-2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any</a:t>
            </a:r>
            <a:r>
              <a:rPr sz="2400" spc="-15" dirty="0">
                <a:latin typeface="Times New Roman"/>
                <a:cs typeface="Times New Roman"/>
              </a:rPr>
              <a:t> </a:t>
            </a:r>
            <a:r>
              <a:rPr sz="2400" dirty="0">
                <a:latin typeface="Times New Roman"/>
                <a:cs typeface="Times New Roman"/>
              </a:rPr>
              <a:t>wires</a:t>
            </a:r>
            <a:r>
              <a:rPr sz="2400" spc="-20" dirty="0">
                <a:latin typeface="Times New Roman"/>
                <a:cs typeface="Times New Roman"/>
              </a:rPr>
              <a:t> </a:t>
            </a:r>
            <a:r>
              <a:rPr sz="2400" dirty="0">
                <a:latin typeface="Times New Roman"/>
                <a:cs typeface="Times New Roman"/>
              </a:rPr>
              <a:t>both</a:t>
            </a:r>
            <a:r>
              <a:rPr sz="2400" spc="-3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ones</a:t>
            </a:r>
            <a:r>
              <a:rPr sz="2400" spc="-30" dirty="0">
                <a:latin typeface="Times New Roman"/>
                <a:cs typeface="Times New Roman"/>
              </a:rPr>
              <a:t> </a:t>
            </a:r>
            <a:r>
              <a:rPr sz="2400" dirty="0">
                <a:latin typeface="Times New Roman"/>
                <a:cs typeface="Times New Roman"/>
              </a:rPr>
              <a:t>used</a:t>
            </a:r>
            <a:r>
              <a:rPr sz="2400" spc="-15"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spc="-10" dirty="0">
                <a:latin typeface="Times New Roman"/>
                <a:cs typeface="Times New Roman"/>
              </a:rPr>
              <a:t>communication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the</a:t>
            </a:r>
            <a:r>
              <a:rPr sz="2400" spc="-45" dirty="0">
                <a:latin typeface="Times New Roman"/>
                <a:cs typeface="Times New Roman"/>
              </a:rPr>
              <a:t> </a:t>
            </a:r>
            <a:r>
              <a:rPr sz="2400" dirty="0">
                <a:latin typeface="Times New Roman"/>
                <a:cs typeface="Times New Roman"/>
              </a:rPr>
              <a:t>ones</a:t>
            </a:r>
            <a:r>
              <a:rPr sz="2400" spc="-20" dirty="0">
                <a:latin typeface="Times New Roman"/>
                <a:cs typeface="Times New Roman"/>
              </a:rPr>
              <a:t> </a:t>
            </a:r>
            <a:r>
              <a:rPr sz="2400" dirty="0">
                <a:latin typeface="Times New Roman"/>
                <a:cs typeface="Times New Roman"/>
              </a:rPr>
              <a:t>providing</a:t>
            </a:r>
            <a:r>
              <a:rPr sz="2400" spc="-4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power</a:t>
            </a:r>
            <a:r>
              <a:rPr sz="2400" spc="-20" dirty="0">
                <a:latin typeface="Times New Roman"/>
                <a:cs typeface="Times New Roman"/>
              </a:rPr>
              <a:t> </a:t>
            </a:r>
            <a:r>
              <a:rPr sz="2400" spc="-10" dirty="0">
                <a:latin typeface="Times New Roman"/>
                <a:cs typeface="Times New Roman"/>
              </a:rPr>
              <a:t>supply.</a:t>
            </a:r>
            <a:endParaRPr sz="2400" dirty="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Rechargeable</a:t>
            </a:r>
            <a:r>
              <a:rPr sz="2400" spc="-75" dirty="0">
                <a:latin typeface="Times New Roman"/>
                <a:cs typeface="Times New Roman"/>
              </a:rPr>
              <a:t> </a:t>
            </a:r>
            <a:r>
              <a:rPr sz="2400" spc="-10" dirty="0">
                <a:latin typeface="Times New Roman"/>
                <a:cs typeface="Times New Roman"/>
              </a:rPr>
              <a:t>batteries</a:t>
            </a:r>
            <a:endParaRPr sz="2400" dirty="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One</a:t>
            </a:r>
            <a:r>
              <a:rPr sz="2400" spc="-20" dirty="0">
                <a:latin typeface="Times New Roman"/>
                <a:cs typeface="Times New Roman"/>
              </a:rPr>
              <a:t> </a:t>
            </a:r>
            <a:r>
              <a:rPr sz="2400" dirty="0">
                <a:latin typeface="Times New Roman"/>
                <a:cs typeface="Times New Roman"/>
              </a:rPr>
              <a:t>way</a:t>
            </a:r>
            <a:r>
              <a:rPr sz="2400" spc="-20" dirty="0">
                <a:latin typeface="Times New Roman"/>
                <a:cs typeface="Times New Roman"/>
              </a:rPr>
              <a:t> </a:t>
            </a:r>
            <a:r>
              <a:rPr sz="2400" spc="-10" dirty="0">
                <a:latin typeface="Times New Roman"/>
                <a:cs typeface="Times New Roman"/>
              </a:rPr>
              <a:t>batteries</a:t>
            </a:r>
            <a:endParaRPr sz="2400" dirty="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Power</a:t>
            </a:r>
            <a:r>
              <a:rPr sz="2400" spc="-65" dirty="0">
                <a:latin typeface="Times New Roman"/>
                <a:cs typeface="Times New Roman"/>
              </a:rPr>
              <a:t> </a:t>
            </a:r>
            <a:r>
              <a:rPr sz="2400" spc="-10" dirty="0">
                <a:latin typeface="Times New Roman"/>
                <a:cs typeface="Times New Roman"/>
              </a:rPr>
              <a:t>mains</a:t>
            </a:r>
            <a:endParaRPr lang="en-US" sz="2400" spc="-10" dirty="0">
              <a:latin typeface="Times New Roman"/>
              <a:cs typeface="Times New Roman"/>
            </a:endParaRPr>
          </a:p>
          <a:p>
            <a:pPr marL="12700">
              <a:lnSpc>
                <a:spcPct val="100000"/>
              </a:lnSpc>
              <a:spcBef>
                <a:spcPts val="575"/>
              </a:spcBef>
              <a:buClr>
                <a:srgbClr val="0F1141"/>
              </a:buClr>
              <a:tabLst>
                <a:tab pos="354965" algn="l"/>
              </a:tabLst>
            </a:pPr>
            <a:endParaRPr lang="en-IN" sz="2400" spc="-1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Energy</a:t>
            </a:r>
            <a:r>
              <a:rPr spc="-240" dirty="0"/>
              <a:t> </a:t>
            </a:r>
            <a:r>
              <a:rPr spc="-140" dirty="0"/>
              <a:t>Consumption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FD83A-C966-36B9-7ADE-8E2169E89A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FCC42F2-DA51-A588-2F3A-C1E538BDD964}"/>
              </a:ext>
            </a:extLst>
          </p:cNvPr>
          <p:cNvSpPr txBox="1"/>
          <p:nvPr/>
        </p:nvSpPr>
        <p:spPr>
          <a:xfrm>
            <a:off x="76200" y="1443355"/>
            <a:ext cx="8987662" cy="4352474"/>
          </a:xfrm>
          <a:prstGeom prst="rect">
            <a:avLst/>
          </a:prstGeom>
        </p:spPr>
        <p:txBody>
          <a:bodyPr vert="horz" wrap="square" lIns="0" tIns="12700" rIns="0" bIns="0" rtlCol="0">
            <a:spAutoFit/>
          </a:bodyPr>
          <a:lstStyle/>
          <a:p>
            <a:pPr>
              <a:buNone/>
            </a:pPr>
            <a:r>
              <a:rPr lang="en-US" sz="1600" dirty="0"/>
              <a:t>Energy consumption is an important factor in the design and usage of wireless devices. Since these devices are expected to work without wired connections, they typically rely on batteries or alternative power sources. Efficient energy use ensures long operating time and reduced maintenance.</a:t>
            </a:r>
          </a:p>
          <a:p>
            <a:pPr>
              <a:buNone/>
            </a:pPr>
            <a:r>
              <a:rPr lang="en-US" sz="1600" dirty="0"/>
              <a:t>Wireless devices are powered using the following methods:</a:t>
            </a:r>
          </a:p>
          <a:p>
            <a:pPr>
              <a:buFont typeface="+mj-lt"/>
              <a:buAutoNum type="arabicPeriod"/>
            </a:pPr>
            <a:r>
              <a:rPr lang="en-US" sz="1600" b="1" dirty="0"/>
              <a:t>Rechargeable Batteries:</a:t>
            </a:r>
            <a:br>
              <a:rPr lang="en-US" sz="1600" dirty="0"/>
            </a:br>
            <a:r>
              <a:rPr lang="en-US" sz="1600" dirty="0"/>
              <a:t>These can be reused multiple times after charging. They are suitable for devices that need regular usage, like mobile phones and laptops.</a:t>
            </a:r>
          </a:p>
          <a:p>
            <a:pPr>
              <a:buFont typeface="+mj-lt"/>
              <a:buAutoNum type="arabicPeriod"/>
            </a:pPr>
            <a:r>
              <a:rPr lang="en-US" sz="1600" b="1" dirty="0"/>
              <a:t>One-way (Disposable) Batteries:</a:t>
            </a:r>
            <a:br>
              <a:rPr lang="en-US" sz="1600" dirty="0"/>
            </a:br>
            <a:r>
              <a:rPr lang="en-US" sz="1600" dirty="0"/>
              <a:t>These are non-rechargeable and must be replaced after use. They are used in low-power or infrequent-use devices like remote controls or some IoT sensors.</a:t>
            </a:r>
          </a:p>
          <a:p>
            <a:pPr>
              <a:buFont typeface="+mj-lt"/>
              <a:buAutoNum type="arabicPeriod"/>
            </a:pPr>
            <a:r>
              <a:rPr lang="en-US" sz="1600" b="1" dirty="0"/>
              <a:t>Power Mains:</a:t>
            </a:r>
            <a:br>
              <a:rPr lang="en-US" sz="1600" dirty="0"/>
            </a:br>
            <a:r>
              <a:rPr lang="en-US" sz="1600" dirty="0"/>
              <a:t>Some fixed-position wireless devices are connected directly to the power supply (mains electricity). These are less common in mobile environments but used in routers, base stations, etc.</a:t>
            </a:r>
          </a:p>
          <a:p>
            <a:pPr marL="12700">
              <a:lnSpc>
                <a:spcPct val="100000"/>
              </a:lnSpc>
              <a:spcBef>
                <a:spcPts val="575"/>
              </a:spcBef>
              <a:buClr>
                <a:srgbClr val="0F1141"/>
              </a:buClr>
              <a:tabLst>
                <a:tab pos="354965" algn="l"/>
              </a:tabLst>
            </a:pPr>
            <a:endParaRPr lang="en-IN" sz="1600" spc="-10" dirty="0">
              <a:latin typeface="Times New Roman"/>
              <a:cs typeface="Times New Roman"/>
            </a:endParaRPr>
          </a:p>
          <a:p>
            <a:pPr marL="12700">
              <a:lnSpc>
                <a:spcPct val="100000"/>
              </a:lnSpc>
              <a:spcBef>
                <a:spcPts val="575"/>
              </a:spcBef>
              <a:buClr>
                <a:srgbClr val="0F1141"/>
              </a:buClr>
              <a:tabLst>
                <a:tab pos="354965" algn="l"/>
              </a:tabLst>
            </a:pPr>
            <a:r>
              <a:rPr lang="en-US" sz="1600" dirty="0"/>
              <a:t>To maintain portability and usability, wireless devices must be designed to consume as little energy as possible while maintaining performance.</a:t>
            </a:r>
            <a:endParaRPr lang="en-IN" sz="1600" spc="-10" dirty="0">
              <a:latin typeface="Times New Roman"/>
              <a:cs typeface="Times New Roman"/>
            </a:endParaRPr>
          </a:p>
        </p:txBody>
      </p:sp>
      <p:sp>
        <p:nvSpPr>
          <p:cNvPr id="4" name="object 4">
            <a:extLst>
              <a:ext uri="{FF2B5EF4-FFF2-40B4-BE49-F238E27FC236}">
                <a16:creationId xmlns:a16="http://schemas.microsoft.com/office/drawing/2014/main" id="{F786729B-594E-8C79-16DD-F368EEEDFD9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48</a:t>
            </a:fld>
            <a:endParaRPr spc="-25" dirty="0"/>
          </a:p>
        </p:txBody>
      </p:sp>
      <p:sp>
        <p:nvSpPr>
          <p:cNvPr id="5" name="object 5">
            <a:extLst>
              <a:ext uri="{FF2B5EF4-FFF2-40B4-BE49-F238E27FC236}">
                <a16:creationId xmlns:a16="http://schemas.microsoft.com/office/drawing/2014/main" id="{D6540A17-771F-05E3-05A5-A05886A63865}"/>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61956F3C-9B78-D1A3-50AC-7247DEE267EE}"/>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Energy</a:t>
            </a:r>
            <a:r>
              <a:rPr spc="-240" dirty="0"/>
              <a:t> </a:t>
            </a:r>
            <a:r>
              <a:rPr spc="-140" dirty="0"/>
              <a:t>Consumption</a:t>
            </a:r>
          </a:p>
        </p:txBody>
      </p:sp>
    </p:spTree>
    <p:extLst>
      <p:ext uri="{BB962C8B-B14F-4D97-AF65-F5344CB8AC3E}">
        <p14:creationId xmlns:p14="http://schemas.microsoft.com/office/powerpoint/2010/main" val="1790935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705090" cy="3976370"/>
          </a:xfrm>
          <a:prstGeom prst="rect">
            <a:avLst/>
          </a:prstGeom>
        </p:spPr>
        <p:txBody>
          <a:bodyPr vert="horz" wrap="square" lIns="0" tIns="12700" rIns="0" bIns="0" rtlCol="0">
            <a:spAutoFit/>
          </a:bodyPr>
          <a:lstStyle/>
          <a:p>
            <a:pPr marL="12700" marR="5080">
              <a:lnSpc>
                <a:spcPct val="120000"/>
              </a:lnSpc>
              <a:spcBef>
                <a:spcPts val="100"/>
              </a:spcBef>
            </a:pPr>
            <a:r>
              <a:rPr sz="2400" dirty="0">
                <a:latin typeface="Times New Roman"/>
                <a:cs typeface="Times New Roman"/>
              </a:rPr>
              <a:t>Spectrum</a:t>
            </a:r>
            <a:r>
              <a:rPr sz="2400" spc="-20" dirty="0">
                <a:latin typeface="Times New Roman"/>
                <a:cs typeface="Times New Roman"/>
              </a:rPr>
              <a:t> </a:t>
            </a:r>
            <a:r>
              <a:rPr sz="2400" dirty="0">
                <a:latin typeface="Times New Roman"/>
                <a:cs typeface="Times New Roman"/>
              </a:rPr>
              <a:t>can</a:t>
            </a:r>
            <a:r>
              <a:rPr sz="2400" spc="-15"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dirty="0">
                <a:latin typeface="Times New Roman"/>
                <a:cs typeface="Times New Roman"/>
              </a:rPr>
              <a:t>assigned</a:t>
            </a:r>
            <a:r>
              <a:rPr sz="2400" spc="-20" dirty="0">
                <a:latin typeface="Times New Roman"/>
                <a:cs typeface="Times New Roman"/>
              </a:rPr>
              <a:t> </a:t>
            </a:r>
            <a:r>
              <a:rPr sz="2400" dirty="0">
                <a:latin typeface="Times New Roman"/>
                <a:cs typeface="Times New Roman"/>
              </a:rPr>
              <a:t>on</a:t>
            </a:r>
            <a:r>
              <a:rPr sz="2400" spc="-5" dirty="0">
                <a:latin typeface="Times New Roman"/>
                <a:cs typeface="Times New Roman"/>
              </a:rPr>
              <a:t> </a:t>
            </a:r>
            <a:r>
              <a:rPr sz="2400" dirty="0">
                <a:latin typeface="Times New Roman"/>
                <a:cs typeface="Times New Roman"/>
              </a:rPr>
              <a:t>an</a:t>
            </a:r>
            <a:r>
              <a:rPr sz="2400" spc="-15" dirty="0">
                <a:latin typeface="Times New Roman"/>
                <a:cs typeface="Times New Roman"/>
              </a:rPr>
              <a:t> </a:t>
            </a:r>
            <a:r>
              <a:rPr sz="2400" dirty="0">
                <a:latin typeface="Times New Roman"/>
                <a:cs typeface="Times New Roman"/>
              </a:rPr>
              <a:t>exclusive</a:t>
            </a:r>
            <a:r>
              <a:rPr sz="2400" spc="-25" dirty="0">
                <a:latin typeface="Times New Roman"/>
                <a:cs typeface="Times New Roman"/>
              </a:rPr>
              <a:t> </a:t>
            </a:r>
            <a:r>
              <a:rPr sz="2400" dirty="0">
                <a:latin typeface="Times New Roman"/>
                <a:cs typeface="Times New Roman"/>
              </a:rPr>
              <a:t>basis,</a:t>
            </a:r>
            <a:r>
              <a:rPr sz="2400" spc="-15" dirty="0">
                <a:latin typeface="Times New Roman"/>
                <a:cs typeface="Times New Roman"/>
              </a:rPr>
              <a:t> </a:t>
            </a:r>
            <a:r>
              <a:rPr sz="2400" dirty="0">
                <a:latin typeface="Times New Roman"/>
                <a:cs typeface="Times New Roman"/>
              </a:rPr>
              <a:t>or</a:t>
            </a:r>
            <a:r>
              <a:rPr sz="2400" spc="-15" dirty="0">
                <a:latin typeface="Times New Roman"/>
                <a:cs typeface="Times New Roman"/>
              </a:rPr>
              <a:t> </a:t>
            </a:r>
            <a:r>
              <a:rPr sz="2400" dirty="0">
                <a:latin typeface="Times New Roman"/>
                <a:cs typeface="Times New Roman"/>
              </a:rPr>
              <a:t>on</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10" dirty="0">
                <a:latin typeface="Times New Roman"/>
                <a:cs typeface="Times New Roman"/>
              </a:rPr>
              <a:t>shared </a:t>
            </a:r>
            <a:r>
              <a:rPr sz="2400" dirty="0">
                <a:latin typeface="Times New Roman"/>
                <a:cs typeface="Times New Roman"/>
              </a:rPr>
              <a:t>basis.</a:t>
            </a:r>
            <a:r>
              <a:rPr sz="2400" spc="-70"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determines</a:t>
            </a:r>
            <a:r>
              <a:rPr sz="2400" spc="-3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large</a:t>
            </a:r>
            <a:r>
              <a:rPr sz="2400" spc="-35" dirty="0">
                <a:latin typeface="Times New Roman"/>
                <a:cs typeface="Times New Roman"/>
              </a:rPr>
              <a:t> </a:t>
            </a:r>
            <a:r>
              <a:rPr sz="2400" dirty="0">
                <a:latin typeface="Times New Roman"/>
                <a:cs typeface="Times New Roman"/>
              </a:rPr>
              <a:t>degree</a:t>
            </a:r>
            <a:r>
              <a:rPr sz="2400" spc="-3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multiple</a:t>
            </a:r>
            <a:r>
              <a:rPr sz="2400" spc="-35" dirty="0">
                <a:latin typeface="Times New Roman"/>
                <a:cs typeface="Times New Roman"/>
              </a:rPr>
              <a:t> </a:t>
            </a:r>
            <a:r>
              <a:rPr sz="2400" spc="-10" dirty="0">
                <a:latin typeface="Times New Roman"/>
                <a:cs typeface="Times New Roman"/>
              </a:rPr>
              <a:t>access </a:t>
            </a:r>
            <a:r>
              <a:rPr sz="2400" dirty="0">
                <a:latin typeface="Times New Roman"/>
                <a:cs typeface="Times New Roman"/>
              </a:rPr>
              <a:t>scheme</a:t>
            </a:r>
            <a:r>
              <a:rPr sz="2400" spc="-1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interference</a:t>
            </a:r>
            <a:r>
              <a:rPr sz="2400" spc="-55" dirty="0">
                <a:latin typeface="Times New Roman"/>
                <a:cs typeface="Times New Roman"/>
              </a:rPr>
              <a:t> </a:t>
            </a:r>
            <a:r>
              <a:rPr sz="2400" dirty="0">
                <a:latin typeface="Times New Roman"/>
                <a:cs typeface="Times New Roman"/>
              </a:rPr>
              <a:t>resistance</a:t>
            </a:r>
            <a:r>
              <a:rPr sz="2400" spc="-50" dirty="0">
                <a:latin typeface="Times New Roman"/>
                <a:cs typeface="Times New Roman"/>
              </a:rPr>
              <a:t> </a:t>
            </a:r>
            <a:r>
              <a:rPr sz="2400" dirty="0">
                <a:latin typeface="Times New Roman"/>
                <a:cs typeface="Times New Roman"/>
              </a:rPr>
              <a:t>that</a:t>
            </a:r>
            <a:r>
              <a:rPr sz="2400" spc="-3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dirty="0">
                <a:latin typeface="Times New Roman"/>
                <a:cs typeface="Times New Roman"/>
              </a:rPr>
              <a:t>has</a:t>
            </a:r>
            <a:r>
              <a:rPr sz="2400" spc="-10" dirty="0">
                <a:latin typeface="Times New Roman"/>
                <a:cs typeface="Times New Roman"/>
              </a:rPr>
              <a:t> </a:t>
            </a:r>
            <a:r>
              <a:rPr sz="2400" spc="-25" dirty="0">
                <a:latin typeface="Times New Roman"/>
                <a:cs typeface="Times New Roman"/>
              </a:rPr>
              <a:t>to </a:t>
            </a:r>
            <a:r>
              <a:rPr sz="2400" spc="-10" dirty="0">
                <a:latin typeface="Times New Roman"/>
                <a:cs typeface="Times New Roman"/>
              </a:rPr>
              <a:t>provide:</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Spectrum</a:t>
            </a:r>
            <a:r>
              <a:rPr sz="2400" spc="-25" dirty="0">
                <a:latin typeface="Times New Roman"/>
                <a:cs typeface="Times New Roman"/>
              </a:rPr>
              <a:t> </a:t>
            </a:r>
            <a:r>
              <a:rPr sz="2400" dirty="0">
                <a:latin typeface="Times New Roman"/>
                <a:cs typeface="Times New Roman"/>
              </a:rPr>
              <a:t>dedicated</a:t>
            </a:r>
            <a:r>
              <a:rPr sz="2400" spc="-4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service</a:t>
            </a:r>
            <a:r>
              <a:rPr sz="2400" spc="-30"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spc="-10" dirty="0">
                <a:latin typeface="Times New Roman"/>
                <a:cs typeface="Times New Roman"/>
              </a:rPr>
              <a:t>operator</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Spectrum</a:t>
            </a:r>
            <a:r>
              <a:rPr sz="2400" spc="-40" dirty="0">
                <a:latin typeface="Times New Roman"/>
                <a:cs typeface="Times New Roman"/>
              </a:rPr>
              <a:t> </a:t>
            </a:r>
            <a:r>
              <a:rPr sz="2400" dirty="0">
                <a:latin typeface="Times New Roman"/>
                <a:cs typeface="Times New Roman"/>
              </a:rPr>
              <a:t>allowing</a:t>
            </a:r>
            <a:r>
              <a:rPr sz="2400" spc="-45" dirty="0">
                <a:latin typeface="Times New Roman"/>
                <a:cs typeface="Times New Roman"/>
              </a:rPr>
              <a:t> </a:t>
            </a:r>
            <a:r>
              <a:rPr sz="2400" dirty="0">
                <a:latin typeface="Times New Roman"/>
                <a:cs typeface="Times New Roman"/>
              </a:rPr>
              <a:t>multiple</a:t>
            </a:r>
            <a:r>
              <a:rPr sz="2400" spc="-50" dirty="0">
                <a:latin typeface="Times New Roman"/>
                <a:cs typeface="Times New Roman"/>
              </a:rPr>
              <a:t> </a:t>
            </a:r>
            <a:r>
              <a:rPr sz="2400" spc="-10" dirty="0">
                <a:latin typeface="Times New Roman"/>
                <a:cs typeface="Times New Roman"/>
              </a:rPr>
              <a:t>operators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Spectrum</a:t>
            </a:r>
            <a:r>
              <a:rPr sz="2400" spc="-20" dirty="0">
                <a:latin typeface="Times New Roman"/>
                <a:cs typeface="Times New Roman"/>
              </a:rPr>
              <a:t> </a:t>
            </a:r>
            <a:r>
              <a:rPr sz="2400" dirty="0">
                <a:latin typeface="Times New Roman"/>
                <a:cs typeface="Times New Roman"/>
              </a:rPr>
              <a:t>dedicated</a:t>
            </a:r>
            <a:r>
              <a:rPr sz="2400" spc="-4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a </a:t>
            </a:r>
            <a:r>
              <a:rPr sz="2400" spc="-10" dirty="0">
                <a:latin typeface="Times New Roman"/>
                <a:cs typeface="Times New Roman"/>
              </a:rPr>
              <a:t>service</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free</a:t>
            </a:r>
            <a:r>
              <a:rPr sz="2400" spc="-10" dirty="0">
                <a:latin typeface="Times New Roman"/>
                <a:cs typeface="Times New Roman"/>
              </a:rPr>
              <a:t> spectrum</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Adaptive</a:t>
            </a:r>
            <a:r>
              <a:rPr sz="2400" spc="-25" dirty="0">
                <a:latin typeface="Times New Roman"/>
                <a:cs typeface="Times New Roman"/>
              </a:rPr>
              <a:t> </a:t>
            </a:r>
            <a:r>
              <a:rPr sz="2400" dirty="0">
                <a:latin typeface="Times New Roman"/>
                <a:cs typeface="Times New Roman"/>
              </a:rPr>
              <a:t>spectral</a:t>
            </a:r>
            <a:r>
              <a:rPr sz="2400" spc="-30" dirty="0">
                <a:latin typeface="Times New Roman"/>
                <a:cs typeface="Times New Roman"/>
              </a:rPr>
              <a:t> </a:t>
            </a:r>
            <a:r>
              <a:rPr sz="2400" spc="-10" dirty="0">
                <a:latin typeface="Times New Roman"/>
                <a:cs typeface="Times New Roman"/>
              </a:rPr>
              <a:t>usage</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378917"/>
            <a:ext cx="3386454" cy="574675"/>
          </a:xfrm>
          <a:prstGeom prst="rect">
            <a:avLst/>
          </a:prstGeom>
        </p:spPr>
        <p:txBody>
          <a:bodyPr vert="horz" wrap="square" lIns="0" tIns="12700" rIns="0" bIns="0" rtlCol="0">
            <a:spAutoFit/>
          </a:bodyPr>
          <a:lstStyle/>
          <a:p>
            <a:pPr marL="12700">
              <a:lnSpc>
                <a:spcPct val="100000"/>
              </a:lnSpc>
              <a:spcBef>
                <a:spcPts val="100"/>
              </a:spcBef>
            </a:pPr>
            <a:r>
              <a:rPr spc="-110" dirty="0"/>
              <a:t>Use</a:t>
            </a:r>
            <a:r>
              <a:rPr spc="-290" dirty="0"/>
              <a:t> </a:t>
            </a:r>
            <a:r>
              <a:rPr spc="-95" dirty="0"/>
              <a:t>of</a:t>
            </a:r>
            <a:r>
              <a:rPr spc="-280" dirty="0"/>
              <a:t> </a:t>
            </a:r>
            <a:r>
              <a:rPr spc="-130" dirty="0"/>
              <a:t>Spectrum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25B8A-F9C0-3244-FDC8-7FA151BD53C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675941-8CD4-8712-E055-BF5F47FF9C92}"/>
              </a:ext>
            </a:extLst>
          </p:cNvPr>
          <p:cNvSpPr txBox="1"/>
          <p:nvPr/>
        </p:nvSpPr>
        <p:spPr>
          <a:xfrm>
            <a:off x="76200" y="1443355"/>
            <a:ext cx="8987662" cy="5465984"/>
          </a:xfrm>
          <a:prstGeom prst="rect">
            <a:avLst/>
          </a:prstGeom>
        </p:spPr>
        <p:txBody>
          <a:bodyPr vert="horz" wrap="square" lIns="0" tIns="12700" rIns="0" bIns="0" rtlCol="0">
            <a:spAutoFit/>
          </a:bodyPr>
          <a:lstStyle/>
          <a:p>
            <a:pPr>
              <a:buNone/>
            </a:pPr>
            <a:r>
              <a:rPr lang="en-US" sz="1600" dirty="0"/>
              <a:t>Spectrum refers to the range of electromagnetic frequencies used for transmitting data in wireless communication. Efficient spectrum usage is vital to avoid interference and ensure seamless communication.</a:t>
            </a:r>
          </a:p>
          <a:p>
            <a:pPr>
              <a:buNone/>
            </a:pPr>
            <a:r>
              <a:rPr lang="en-US" sz="1600" dirty="0"/>
              <a:t>Spectrum can be allocated in two major ways:</a:t>
            </a:r>
          </a:p>
          <a:p>
            <a:pPr>
              <a:buFont typeface="Arial" panose="020B0604020202020204" pitchFamily="34" charset="0"/>
              <a:buChar char="•"/>
            </a:pPr>
            <a:r>
              <a:rPr lang="en-US" sz="1600" b="1" dirty="0"/>
              <a:t>Exclusively:</a:t>
            </a:r>
            <a:r>
              <a:rPr lang="en-US" sz="1600" dirty="0"/>
              <a:t> Only one operator or service has access.</a:t>
            </a:r>
          </a:p>
          <a:p>
            <a:pPr>
              <a:buFont typeface="Arial" panose="020B0604020202020204" pitchFamily="34" charset="0"/>
              <a:buChar char="•"/>
            </a:pPr>
            <a:r>
              <a:rPr lang="en-US" sz="1600" b="1" dirty="0"/>
              <a:t>Shared:</a:t>
            </a:r>
            <a:r>
              <a:rPr lang="en-US" sz="1600" dirty="0"/>
              <a:t> Multiple operators or services use the same spectrum.</a:t>
            </a:r>
          </a:p>
          <a:p>
            <a:pPr>
              <a:buNone/>
            </a:pPr>
            <a:r>
              <a:rPr lang="en-US" sz="1600" dirty="0"/>
              <a:t>The method of allocation impacts:</a:t>
            </a:r>
          </a:p>
          <a:p>
            <a:pPr>
              <a:buFont typeface="Arial" panose="020B0604020202020204" pitchFamily="34" charset="0"/>
              <a:buChar char="•"/>
            </a:pPr>
            <a:r>
              <a:rPr lang="en-US" sz="1600" dirty="0"/>
              <a:t>The </a:t>
            </a:r>
            <a:r>
              <a:rPr lang="en-US" sz="1600" b="1" dirty="0"/>
              <a:t>multiple access technique</a:t>
            </a:r>
            <a:r>
              <a:rPr lang="en-US" sz="1600" dirty="0"/>
              <a:t> used (e.g., TDMA, FDMA, CDMA).</a:t>
            </a:r>
          </a:p>
          <a:p>
            <a:pPr>
              <a:buFont typeface="Arial" panose="020B0604020202020204" pitchFamily="34" charset="0"/>
              <a:buChar char="•"/>
            </a:pPr>
            <a:r>
              <a:rPr lang="en-US" sz="1600" dirty="0"/>
              <a:t>The </a:t>
            </a:r>
            <a:r>
              <a:rPr lang="en-US" sz="1600" b="1" dirty="0"/>
              <a:t>interference resistance</a:t>
            </a:r>
            <a:r>
              <a:rPr lang="en-US" sz="1600" dirty="0"/>
              <a:t> and overall system performance.</a:t>
            </a:r>
          </a:p>
          <a:p>
            <a:pPr>
              <a:buNone/>
            </a:pPr>
            <a:r>
              <a:rPr lang="en-US" sz="1600" dirty="0"/>
              <a:t>Types of spectrum usage include:</a:t>
            </a:r>
          </a:p>
          <a:p>
            <a:pPr>
              <a:buFont typeface="+mj-lt"/>
              <a:buAutoNum type="arabicPeriod"/>
            </a:pPr>
            <a:r>
              <a:rPr lang="en-US" sz="1600" b="1" dirty="0"/>
              <a:t>Dedicated Spectrum for Service and Operator:</a:t>
            </a:r>
            <a:br>
              <a:rPr lang="en-US" sz="1600" dirty="0"/>
            </a:br>
            <a:r>
              <a:rPr lang="en-US" sz="1600" dirty="0"/>
              <a:t>Specific frequencies are assigned to a particular operator for a specific service.</a:t>
            </a:r>
          </a:p>
          <a:p>
            <a:pPr>
              <a:buFont typeface="+mj-lt"/>
              <a:buAutoNum type="arabicPeriod"/>
            </a:pPr>
            <a:r>
              <a:rPr lang="en-US" sz="1600" b="1" dirty="0"/>
              <a:t>Spectrum for Multiple Operators:</a:t>
            </a:r>
            <a:br>
              <a:rPr lang="en-US" sz="1600" dirty="0"/>
            </a:br>
            <a:r>
              <a:rPr lang="en-US" sz="1600" dirty="0"/>
              <a:t>Allows different operators to share the same frequency band with coordination.</a:t>
            </a:r>
          </a:p>
          <a:p>
            <a:pPr>
              <a:buFont typeface="+mj-lt"/>
              <a:buAutoNum type="arabicPeriod"/>
            </a:pPr>
            <a:r>
              <a:rPr lang="en-US" sz="1600" b="1" dirty="0"/>
              <a:t>Service-Specific Spectrum:</a:t>
            </a:r>
            <a:br>
              <a:rPr lang="en-US" sz="1600" dirty="0"/>
            </a:br>
            <a:r>
              <a:rPr lang="en-US" sz="1600" dirty="0"/>
              <a:t>Frequencies are assigned based on the type of service, like mobile, TV, or satellite.</a:t>
            </a:r>
          </a:p>
          <a:p>
            <a:pPr>
              <a:buFont typeface="+mj-lt"/>
              <a:buAutoNum type="arabicPeriod"/>
            </a:pPr>
            <a:r>
              <a:rPr lang="en-US" sz="1600" b="1" dirty="0"/>
              <a:t>Free (Unlicensed) Spectrum:</a:t>
            </a:r>
            <a:br>
              <a:rPr lang="en-US" sz="1600" dirty="0"/>
            </a:br>
            <a:r>
              <a:rPr lang="en-US" sz="1600" dirty="0"/>
              <a:t>Open to all users without exclusive licensing (e.g., Wi-Fi operates on 2.4 GHz and 5 GHz).</a:t>
            </a:r>
          </a:p>
          <a:p>
            <a:pPr>
              <a:buFont typeface="+mj-lt"/>
              <a:buAutoNum type="arabicPeriod"/>
            </a:pPr>
            <a:r>
              <a:rPr lang="en-US" sz="1600" b="1" dirty="0"/>
              <a:t>Adaptive Spectrum Usage:</a:t>
            </a:r>
            <a:br>
              <a:rPr lang="en-US" sz="1600" dirty="0"/>
            </a:br>
            <a:r>
              <a:rPr lang="en-US" sz="1600" dirty="0"/>
              <a:t>Systems dynamically select and utilize available spectrum based on current network conditions (used in cognitive radio networks).</a:t>
            </a:r>
          </a:p>
          <a:p>
            <a:pPr marL="12700" marR="5080">
              <a:lnSpc>
                <a:spcPct val="120000"/>
              </a:lnSpc>
              <a:spcBef>
                <a:spcPts val="100"/>
              </a:spcBef>
            </a:pPr>
            <a:endParaRPr sz="1600" dirty="0">
              <a:latin typeface="Times New Roman"/>
              <a:cs typeface="Times New Roman"/>
            </a:endParaRPr>
          </a:p>
        </p:txBody>
      </p:sp>
      <p:sp>
        <p:nvSpPr>
          <p:cNvPr id="4" name="object 4">
            <a:extLst>
              <a:ext uri="{FF2B5EF4-FFF2-40B4-BE49-F238E27FC236}">
                <a16:creationId xmlns:a16="http://schemas.microsoft.com/office/drawing/2014/main" id="{24A93AA5-428F-1F34-22F7-5BEAC8E5CD7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50</a:t>
            </a:fld>
            <a:endParaRPr spc="-25" dirty="0"/>
          </a:p>
        </p:txBody>
      </p:sp>
      <p:sp>
        <p:nvSpPr>
          <p:cNvPr id="5" name="object 5">
            <a:extLst>
              <a:ext uri="{FF2B5EF4-FFF2-40B4-BE49-F238E27FC236}">
                <a16:creationId xmlns:a16="http://schemas.microsoft.com/office/drawing/2014/main" id="{381CD2B0-603E-A5F0-FDE8-6FD0074775B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7C9D36F3-1BF2-4A07-AAD7-4175D12F4D63}"/>
              </a:ext>
            </a:extLst>
          </p:cNvPr>
          <p:cNvSpPr txBox="1">
            <a:spLocks noGrp="1"/>
          </p:cNvSpPr>
          <p:nvPr>
            <p:ph type="title"/>
          </p:nvPr>
        </p:nvSpPr>
        <p:spPr>
          <a:xfrm>
            <a:off x="383540" y="378917"/>
            <a:ext cx="3386454" cy="574675"/>
          </a:xfrm>
          <a:prstGeom prst="rect">
            <a:avLst/>
          </a:prstGeom>
        </p:spPr>
        <p:txBody>
          <a:bodyPr vert="horz" wrap="square" lIns="0" tIns="12700" rIns="0" bIns="0" rtlCol="0">
            <a:spAutoFit/>
          </a:bodyPr>
          <a:lstStyle/>
          <a:p>
            <a:pPr marL="12700">
              <a:lnSpc>
                <a:spcPct val="100000"/>
              </a:lnSpc>
              <a:spcBef>
                <a:spcPts val="100"/>
              </a:spcBef>
            </a:pPr>
            <a:r>
              <a:rPr spc="-110" dirty="0"/>
              <a:t>Use</a:t>
            </a:r>
            <a:r>
              <a:rPr spc="-290" dirty="0"/>
              <a:t> </a:t>
            </a:r>
            <a:r>
              <a:rPr spc="-95" dirty="0"/>
              <a:t>of</a:t>
            </a:r>
            <a:r>
              <a:rPr spc="-280" dirty="0"/>
              <a:t> </a:t>
            </a:r>
            <a:r>
              <a:rPr spc="-130" dirty="0"/>
              <a:t>Spectrum</a:t>
            </a:r>
          </a:p>
        </p:txBody>
      </p:sp>
    </p:spTree>
    <p:extLst>
      <p:ext uri="{BB962C8B-B14F-4D97-AF65-F5344CB8AC3E}">
        <p14:creationId xmlns:p14="http://schemas.microsoft.com/office/powerpoint/2010/main" val="11367914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630159" cy="3244850"/>
          </a:xfrm>
          <a:prstGeom prst="rect">
            <a:avLst/>
          </a:prstGeom>
        </p:spPr>
        <p:txBody>
          <a:bodyPr vert="horz" wrap="square" lIns="0" tIns="85725" rIns="0" bIns="0" rtlCol="0">
            <a:spAutoFit/>
          </a:bodyPr>
          <a:lstStyle/>
          <a:p>
            <a:pPr marL="354965" indent="-342265">
              <a:lnSpc>
                <a:spcPct val="100000"/>
              </a:lnSpc>
              <a:spcBef>
                <a:spcPts val="675"/>
              </a:spcBef>
              <a:buClr>
                <a:srgbClr val="0F1141"/>
              </a:buClr>
              <a:buFont typeface="Arial MT"/>
              <a:buChar char="•"/>
              <a:tabLst>
                <a:tab pos="354965" algn="l"/>
              </a:tabLst>
            </a:pPr>
            <a:r>
              <a:rPr sz="2400" i="1" dirty="0">
                <a:latin typeface="Times New Roman"/>
                <a:cs typeface="Times New Roman"/>
              </a:rPr>
              <a:t>Simplex</a:t>
            </a:r>
            <a:r>
              <a:rPr sz="2400" i="1" spc="-40" dirty="0">
                <a:latin typeface="Times New Roman"/>
                <a:cs typeface="Times New Roman"/>
              </a:rPr>
              <a:t> </a:t>
            </a:r>
            <a:r>
              <a:rPr sz="2400" i="1" dirty="0">
                <a:latin typeface="Times New Roman"/>
                <a:cs typeface="Times New Roman"/>
              </a:rPr>
              <a:t>systems</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e.g.,</a:t>
            </a:r>
            <a:r>
              <a:rPr sz="2400" spc="-25" dirty="0">
                <a:latin typeface="Times New Roman"/>
                <a:cs typeface="Times New Roman"/>
              </a:rPr>
              <a:t> </a:t>
            </a:r>
            <a:r>
              <a:rPr sz="2400" dirty="0">
                <a:latin typeface="Times New Roman"/>
                <a:cs typeface="Times New Roman"/>
              </a:rPr>
              <a:t>broadcast</a:t>
            </a:r>
            <a:r>
              <a:rPr sz="2400" spc="-35" dirty="0">
                <a:latin typeface="Times New Roman"/>
                <a:cs typeface="Times New Roman"/>
              </a:rPr>
              <a:t> </a:t>
            </a:r>
            <a:r>
              <a:rPr sz="2400" dirty="0">
                <a:latin typeface="Times New Roman"/>
                <a:cs typeface="Times New Roman"/>
              </a:rPr>
              <a:t>systems</a:t>
            </a:r>
            <a:r>
              <a:rPr sz="2400" spc="-1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pagers.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i="1" spc="-10" dirty="0">
                <a:latin typeface="Times New Roman"/>
                <a:cs typeface="Times New Roman"/>
              </a:rPr>
              <a:t>Semi-</a:t>
            </a:r>
            <a:r>
              <a:rPr sz="2400" i="1" dirty="0">
                <a:latin typeface="Times New Roman"/>
                <a:cs typeface="Times New Roman"/>
              </a:rPr>
              <a:t>duplex</a:t>
            </a:r>
            <a:r>
              <a:rPr sz="2400" i="1" spc="10" dirty="0">
                <a:latin typeface="Times New Roman"/>
                <a:cs typeface="Times New Roman"/>
              </a:rPr>
              <a:t> </a:t>
            </a:r>
            <a:r>
              <a:rPr sz="2400" i="1" dirty="0">
                <a:latin typeface="Times New Roman"/>
                <a:cs typeface="Times New Roman"/>
              </a:rPr>
              <a:t>systems</a:t>
            </a:r>
            <a:r>
              <a:rPr sz="2400" i="1" spc="25" dirty="0">
                <a:latin typeface="Times New Roman"/>
                <a:cs typeface="Times New Roman"/>
              </a:rPr>
              <a:t> </a:t>
            </a:r>
            <a:r>
              <a:rPr sz="2400" dirty="0">
                <a:latin typeface="Times New Roman"/>
                <a:cs typeface="Times New Roman"/>
              </a:rPr>
              <a:t>–</a:t>
            </a:r>
            <a:r>
              <a:rPr sz="2400" spc="35" dirty="0">
                <a:latin typeface="Times New Roman"/>
                <a:cs typeface="Times New Roman"/>
              </a:rPr>
              <a:t> </a:t>
            </a:r>
            <a:r>
              <a:rPr sz="2400" i="1" spc="-25" dirty="0">
                <a:latin typeface="Times New Roman"/>
                <a:cs typeface="Times New Roman"/>
              </a:rPr>
              <a:t>e.g.,</a:t>
            </a:r>
            <a:r>
              <a:rPr sz="2400" spc="-25" dirty="0">
                <a:latin typeface="Times New Roman"/>
                <a:cs typeface="Times New Roman"/>
              </a:rPr>
              <a:t>Walkie-</a:t>
            </a:r>
            <a:r>
              <a:rPr sz="2400" spc="-10" dirty="0">
                <a:latin typeface="Times New Roman"/>
                <a:cs typeface="Times New Roman"/>
              </a:rPr>
              <a:t>talkies</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i="1" dirty="0">
                <a:latin typeface="Times New Roman"/>
                <a:cs typeface="Times New Roman"/>
              </a:rPr>
              <a:t>Full-duplex</a:t>
            </a:r>
            <a:r>
              <a:rPr sz="2400" i="1" spc="-50" dirty="0">
                <a:latin typeface="Times New Roman"/>
                <a:cs typeface="Times New Roman"/>
              </a:rPr>
              <a:t> </a:t>
            </a:r>
            <a:r>
              <a:rPr sz="2400" i="1" dirty="0">
                <a:latin typeface="Times New Roman"/>
                <a:cs typeface="Times New Roman"/>
              </a:rPr>
              <a:t>systems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e.g.,</a:t>
            </a:r>
            <a:r>
              <a:rPr sz="2400" spc="-15" dirty="0">
                <a:latin typeface="Times New Roman"/>
                <a:cs typeface="Times New Roman"/>
              </a:rPr>
              <a:t> </a:t>
            </a:r>
            <a:r>
              <a:rPr sz="2400" dirty="0">
                <a:latin typeface="Times New Roman"/>
                <a:cs typeface="Times New Roman"/>
              </a:rPr>
              <a:t>cellphones</a:t>
            </a:r>
            <a:r>
              <a:rPr sz="2400" spc="-4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cordless</a:t>
            </a:r>
            <a:r>
              <a:rPr sz="2400" spc="-25" dirty="0">
                <a:latin typeface="Times New Roman"/>
                <a:cs typeface="Times New Roman"/>
              </a:rPr>
              <a:t> </a:t>
            </a:r>
            <a:r>
              <a:rPr sz="2400" spc="-10" dirty="0">
                <a:latin typeface="Times New Roman"/>
                <a:cs typeface="Times New Roman"/>
              </a:rPr>
              <a:t>phones.</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b="1" i="1" dirty="0">
                <a:latin typeface="Times New Roman"/>
                <a:cs typeface="Times New Roman"/>
              </a:rPr>
              <a:t>FDD</a:t>
            </a:r>
            <a:r>
              <a:rPr sz="2400" b="1" i="1" spc="-20" dirty="0">
                <a:latin typeface="Times New Roman"/>
                <a:cs typeface="Times New Roman"/>
              </a:rPr>
              <a:t> </a:t>
            </a:r>
            <a:r>
              <a:rPr sz="2400" i="1" dirty="0">
                <a:latin typeface="Times New Roman"/>
                <a:cs typeface="Times New Roman"/>
              </a:rPr>
              <a:t>uses</a:t>
            </a:r>
            <a:r>
              <a:rPr sz="2400" i="1" spc="-40" dirty="0">
                <a:latin typeface="Times New Roman"/>
                <a:cs typeface="Times New Roman"/>
              </a:rPr>
              <a:t> </a:t>
            </a:r>
            <a:r>
              <a:rPr sz="2400" i="1" dirty="0">
                <a:latin typeface="Times New Roman"/>
                <a:cs typeface="Times New Roman"/>
              </a:rPr>
              <a:t>two</a:t>
            </a:r>
            <a:r>
              <a:rPr sz="2400" i="1" spc="-55" dirty="0">
                <a:latin typeface="Times New Roman"/>
                <a:cs typeface="Times New Roman"/>
              </a:rPr>
              <a:t> </a:t>
            </a:r>
            <a:r>
              <a:rPr sz="2400" i="1" dirty="0">
                <a:latin typeface="Times New Roman"/>
                <a:cs typeface="Times New Roman"/>
              </a:rPr>
              <a:t>separate</a:t>
            </a:r>
            <a:r>
              <a:rPr sz="2400" i="1" spc="-45" dirty="0">
                <a:latin typeface="Times New Roman"/>
                <a:cs typeface="Times New Roman"/>
              </a:rPr>
              <a:t> </a:t>
            </a:r>
            <a:r>
              <a:rPr sz="2400" i="1" dirty="0">
                <a:latin typeface="Times New Roman"/>
                <a:cs typeface="Times New Roman"/>
              </a:rPr>
              <a:t>frequencies</a:t>
            </a:r>
            <a:r>
              <a:rPr sz="2400" i="1" spc="-75" dirty="0">
                <a:latin typeface="Times New Roman"/>
                <a:cs typeface="Times New Roman"/>
              </a:rPr>
              <a:t> </a:t>
            </a:r>
            <a:r>
              <a:rPr sz="2400" i="1" dirty="0">
                <a:latin typeface="Times New Roman"/>
                <a:cs typeface="Times New Roman"/>
              </a:rPr>
              <a:t>for</a:t>
            </a:r>
            <a:r>
              <a:rPr sz="2400" i="1" spc="-40" dirty="0">
                <a:latin typeface="Times New Roman"/>
                <a:cs typeface="Times New Roman"/>
              </a:rPr>
              <a:t> </a:t>
            </a:r>
            <a:r>
              <a:rPr sz="2400" i="1" dirty="0">
                <a:latin typeface="Times New Roman"/>
                <a:cs typeface="Times New Roman"/>
              </a:rPr>
              <a:t>the</a:t>
            </a:r>
            <a:r>
              <a:rPr sz="2400" i="1" spc="-60" dirty="0">
                <a:latin typeface="Times New Roman"/>
                <a:cs typeface="Times New Roman"/>
              </a:rPr>
              <a:t> </a:t>
            </a:r>
            <a:r>
              <a:rPr sz="2400" i="1" dirty="0">
                <a:latin typeface="Times New Roman"/>
                <a:cs typeface="Times New Roman"/>
              </a:rPr>
              <a:t>uplink</a:t>
            </a:r>
            <a:r>
              <a:rPr sz="2400" i="1" spc="-65" dirty="0">
                <a:latin typeface="Times New Roman"/>
                <a:cs typeface="Times New Roman"/>
              </a:rPr>
              <a:t> </a:t>
            </a:r>
            <a:r>
              <a:rPr sz="2400" i="1" dirty="0">
                <a:latin typeface="Times New Roman"/>
                <a:cs typeface="Times New Roman"/>
              </a:rPr>
              <a:t>(from</a:t>
            </a:r>
            <a:r>
              <a:rPr sz="2400" i="1" spc="-35" dirty="0">
                <a:latin typeface="Times New Roman"/>
                <a:cs typeface="Times New Roman"/>
              </a:rPr>
              <a:t> </a:t>
            </a:r>
            <a:r>
              <a:rPr sz="2400" i="1" spc="-25" dirty="0">
                <a:latin typeface="Times New Roman"/>
                <a:cs typeface="Times New Roman"/>
              </a:rPr>
              <a:t>the </a:t>
            </a:r>
            <a:r>
              <a:rPr sz="2400" i="1" dirty="0">
                <a:latin typeface="Times New Roman"/>
                <a:cs typeface="Times New Roman"/>
              </a:rPr>
              <a:t>mobile</a:t>
            </a:r>
            <a:r>
              <a:rPr sz="2400" i="1" spc="-25" dirty="0">
                <a:latin typeface="Times New Roman"/>
                <a:cs typeface="Times New Roman"/>
              </a:rPr>
              <a:t> </a:t>
            </a:r>
            <a:r>
              <a:rPr sz="2400" i="1" dirty="0">
                <a:latin typeface="Times New Roman"/>
                <a:cs typeface="Times New Roman"/>
              </a:rPr>
              <a:t>to</a:t>
            </a:r>
            <a:r>
              <a:rPr sz="2400" i="1" spc="-20" dirty="0">
                <a:latin typeface="Times New Roman"/>
                <a:cs typeface="Times New Roman"/>
              </a:rPr>
              <a:t> </a:t>
            </a:r>
            <a:r>
              <a:rPr sz="2400" i="1" dirty="0">
                <a:latin typeface="Times New Roman"/>
                <a:cs typeface="Times New Roman"/>
              </a:rPr>
              <a:t>the</a:t>
            </a:r>
            <a:r>
              <a:rPr sz="2400" i="1" spc="-20" dirty="0">
                <a:latin typeface="Times New Roman"/>
                <a:cs typeface="Times New Roman"/>
              </a:rPr>
              <a:t> </a:t>
            </a:r>
            <a:r>
              <a:rPr sz="2400" i="1" dirty="0">
                <a:latin typeface="Times New Roman"/>
                <a:cs typeface="Times New Roman"/>
              </a:rPr>
              <a:t>BS)</a:t>
            </a:r>
            <a:r>
              <a:rPr sz="2400" i="1" spc="-25" dirty="0">
                <a:latin typeface="Times New Roman"/>
                <a:cs typeface="Times New Roman"/>
              </a:rPr>
              <a:t> </a:t>
            </a:r>
            <a:r>
              <a:rPr sz="2400" i="1" dirty="0">
                <a:latin typeface="Times New Roman"/>
                <a:cs typeface="Times New Roman"/>
              </a:rPr>
              <a:t>and</a:t>
            </a:r>
            <a:r>
              <a:rPr sz="2400" i="1" spc="-10" dirty="0">
                <a:latin typeface="Times New Roman"/>
                <a:cs typeface="Times New Roman"/>
              </a:rPr>
              <a:t> </a:t>
            </a:r>
            <a:r>
              <a:rPr sz="2400" i="1" dirty="0">
                <a:latin typeface="Times New Roman"/>
                <a:cs typeface="Times New Roman"/>
              </a:rPr>
              <a:t>the</a:t>
            </a:r>
            <a:r>
              <a:rPr sz="2400" i="1" spc="-20" dirty="0">
                <a:latin typeface="Times New Roman"/>
                <a:cs typeface="Times New Roman"/>
              </a:rPr>
              <a:t> </a:t>
            </a:r>
            <a:r>
              <a:rPr sz="2400" i="1" dirty="0">
                <a:latin typeface="Times New Roman"/>
                <a:cs typeface="Times New Roman"/>
              </a:rPr>
              <a:t>downlink</a:t>
            </a:r>
            <a:r>
              <a:rPr sz="2400" i="1" spc="-30" dirty="0">
                <a:latin typeface="Times New Roman"/>
                <a:cs typeface="Times New Roman"/>
              </a:rPr>
              <a:t> </a:t>
            </a:r>
            <a:r>
              <a:rPr sz="2400" i="1" dirty="0">
                <a:latin typeface="Times New Roman"/>
                <a:cs typeface="Times New Roman"/>
              </a:rPr>
              <a:t>(from</a:t>
            </a:r>
            <a:r>
              <a:rPr sz="2400" i="1" spc="-10" dirty="0">
                <a:latin typeface="Times New Roman"/>
                <a:cs typeface="Times New Roman"/>
              </a:rPr>
              <a:t> </a:t>
            </a:r>
            <a:r>
              <a:rPr sz="2400" i="1" dirty="0">
                <a:latin typeface="Times New Roman"/>
                <a:cs typeface="Times New Roman"/>
              </a:rPr>
              <a:t>the</a:t>
            </a:r>
            <a:r>
              <a:rPr sz="2400" i="1" spc="-30" dirty="0">
                <a:latin typeface="Times New Roman"/>
                <a:cs typeface="Times New Roman"/>
              </a:rPr>
              <a:t> </a:t>
            </a:r>
            <a:r>
              <a:rPr sz="2400" i="1" dirty="0">
                <a:latin typeface="Times New Roman"/>
                <a:cs typeface="Times New Roman"/>
              </a:rPr>
              <a:t>BS</a:t>
            </a:r>
            <a:r>
              <a:rPr sz="2400" i="1" spc="-10" dirty="0">
                <a:latin typeface="Times New Roman"/>
                <a:cs typeface="Times New Roman"/>
              </a:rPr>
              <a:t> </a:t>
            </a:r>
            <a:r>
              <a:rPr sz="2400" i="1" dirty="0">
                <a:latin typeface="Times New Roman"/>
                <a:cs typeface="Times New Roman"/>
              </a:rPr>
              <a:t>to</a:t>
            </a:r>
            <a:r>
              <a:rPr sz="2400" i="1" spc="-10" dirty="0">
                <a:latin typeface="Times New Roman"/>
                <a:cs typeface="Times New Roman"/>
              </a:rPr>
              <a:t> </a:t>
            </a:r>
            <a:r>
              <a:rPr sz="2400" i="1" spc="-25" dirty="0">
                <a:latin typeface="Times New Roman"/>
                <a:cs typeface="Times New Roman"/>
              </a:rPr>
              <a:t>the </a:t>
            </a:r>
            <a:r>
              <a:rPr sz="2400" i="1" spc="-10" dirty="0">
                <a:latin typeface="Times New Roman"/>
                <a:cs typeface="Times New Roman"/>
              </a:rPr>
              <a:t>mobile).</a:t>
            </a:r>
            <a:endParaRPr sz="2400">
              <a:latin typeface="Times New Roman"/>
              <a:cs typeface="Times New Roman"/>
            </a:endParaRPr>
          </a:p>
          <a:p>
            <a:pPr marL="355600" marR="19050">
              <a:lnSpc>
                <a:spcPct val="100000"/>
              </a:lnSpc>
            </a:pPr>
            <a:r>
              <a:rPr sz="2400" b="1" i="1" dirty="0">
                <a:latin typeface="Times New Roman"/>
                <a:cs typeface="Times New Roman"/>
              </a:rPr>
              <a:t>TDD</a:t>
            </a:r>
            <a:r>
              <a:rPr sz="2400" b="1" i="1" spc="-25" dirty="0">
                <a:latin typeface="Times New Roman"/>
                <a:cs typeface="Times New Roman"/>
              </a:rPr>
              <a:t> </a:t>
            </a:r>
            <a:r>
              <a:rPr sz="2400" i="1" dirty="0">
                <a:latin typeface="Times New Roman"/>
                <a:cs typeface="Times New Roman"/>
              </a:rPr>
              <a:t>uses</a:t>
            </a:r>
            <a:r>
              <a:rPr sz="2400" i="1" spc="-25" dirty="0">
                <a:latin typeface="Times New Roman"/>
                <a:cs typeface="Times New Roman"/>
              </a:rPr>
              <a:t> </a:t>
            </a:r>
            <a:r>
              <a:rPr sz="2400" i="1" dirty="0">
                <a:latin typeface="Times New Roman"/>
                <a:cs typeface="Times New Roman"/>
              </a:rPr>
              <a:t>a</a:t>
            </a:r>
            <a:r>
              <a:rPr sz="2400" i="1" spc="-25" dirty="0">
                <a:latin typeface="Times New Roman"/>
                <a:cs typeface="Times New Roman"/>
              </a:rPr>
              <a:t> </a:t>
            </a:r>
            <a:r>
              <a:rPr sz="2400" i="1" dirty="0">
                <a:latin typeface="Times New Roman"/>
                <a:cs typeface="Times New Roman"/>
              </a:rPr>
              <a:t>single</a:t>
            </a:r>
            <a:r>
              <a:rPr sz="2400" i="1" spc="-45" dirty="0">
                <a:latin typeface="Times New Roman"/>
                <a:cs typeface="Times New Roman"/>
              </a:rPr>
              <a:t> </a:t>
            </a:r>
            <a:r>
              <a:rPr sz="2400" i="1" dirty="0">
                <a:latin typeface="Times New Roman"/>
                <a:cs typeface="Times New Roman"/>
              </a:rPr>
              <a:t>frequency</a:t>
            </a:r>
            <a:r>
              <a:rPr sz="2400" i="1" spc="-55" dirty="0">
                <a:latin typeface="Times New Roman"/>
                <a:cs typeface="Times New Roman"/>
              </a:rPr>
              <a:t> </a:t>
            </a:r>
            <a:r>
              <a:rPr sz="2400" i="1" dirty="0">
                <a:latin typeface="Times New Roman"/>
                <a:cs typeface="Times New Roman"/>
              </a:rPr>
              <a:t>to</a:t>
            </a:r>
            <a:r>
              <a:rPr sz="2400" i="1" spc="-25" dirty="0">
                <a:latin typeface="Times New Roman"/>
                <a:cs typeface="Times New Roman"/>
              </a:rPr>
              <a:t> </a:t>
            </a:r>
            <a:r>
              <a:rPr sz="2400" i="1" dirty="0">
                <a:latin typeface="Times New Roman"/>
                <a:cs typeface="Times New Roman"/>
              </a:rPr>
              <a:t>transmit</a:t>
            </a:r>
            <a:r>
              <a:rPr sz="2400" i="1" spc="-45" dirty="0">
                <a:latin typeface="Times New Roman"/>
                <a:cs typeface="Times New Roman"/>
              </a:rPr>
              <a:t> </a:t>
            </a:r>
            <a:r>
              <a:rPr sz="2400" i="1" dirty="0">
                <a:latin typeface="Times New Roman"/>
                <a:cs typeface="Times New Roman"/>
              </a:rPr>
              <a:t>signals</a:t>
            </a:r>
            <a:r>
              <a:rPr sz="2400" i="1" spc="-25" dirty="0">
                <a:latin typeface="Times New Roman"/>
                <a:cs typeface="Times New Roman"/>
              </a:rPr>
              <a:t> </a:t>
            </a:r>
            <a:r>
              <a:rPr sz="2400" i="1" dirty="0">
                <a:latin typeface="Times New Roman"/>
                <a:cs typeface="Times New Roman"/>
              </a:rPr>
              <a:t>in</a:t>
            </a:r>
            <a:r>
              <a:rPr sz="2400" i="1" spc="-35" dirty="0">
                <a:latin typeface="Times New Roman"/>
                <a:cs typeface="Times New Roman"/>
              </a:rPr>
              <a:t> </a:t>
            </a:r>
            <a:r>
              <a:rPr sz="2400" i="1" dirty="0">
                <a:latin typeface="Times New Roman"/>
                <a:cs typeface="Times New Roman"/>
              </a:rPr>
              <a:t>both</a:t>
            </a:r>
            <a:r>
              <a:rPr sz="2400" i="1" spc="-25" dirty="0">
                <a:latin typeface="Times New Roman"/>
                <a:cs typeface="Times New Roman"/>
              </a:rPr>
              <a:t> the </a:t>
            </a:r>
            <a:r>
              <a:rPr sz="2400" i="1" dirty="0">
                <a:latin typeface="Times New Roman"/>
                <a:cs typeface="Times New Roman"/>
              </a:rPr>
              <a:t>downlink</a:t>
            </a:r>
            <a:r>
              <a:rPr sz="2400" i="1" spc="-20" dirty="0">
                <a:latin typeface="Times New Roman"/>
                <a:cs typeface="Times New Roman"/>
              </a:rPr>
              <a:t> </a:t>
            </a:r>
            <a:r>
              <a:rPr sz="2400" i="1" dirty="0">
                <a:latin typeface="Times New Roman"/>
                <a:cs typeface="Times New Roman"/>
              </a:rPr>
              <a:t>and uplink</a:t>
            </a:r>
            <a:r>
              <a:rPr sz="2400" i="1" spc="-20" dirty="0">
                <a:latin typeface="Times New Roman"/>
                <a:cs typeface="Times New Roman"/>
              </a:rPr>
              <a:t> </a:t>
            </a:r>
            <a:r>
              <a:rPr sz="2400" i="1" spc="-10" dirty="0">
                <a:latin typeface="Times New Roman"/>
                <a:cs typeface="Times New Roman"/>
              </a:rPr>
              <a:t>directions.</a:t>
            </a:r>
            <a:endParaRPr sz="2400">
              <a:latin typeface="Times New Roman"/>
              <a:cs typeface="Times New Roman"/>
            </a:endParaRPr>
          </a:p>
        </p:txBody>
      </p:sp>
      <p:sp>
        <p:nvSpPr>
          <p:cNvPr id="3" name="object 3"/>
          <p:cNvSpPr txBox="1">
            <a:spLocks noGrp="1"/>
          </p:cNvSpPr>
          <p:nvPr>
            <p:ph type="title"/>
          </p:nvPr>
        </p:nvSpPr>
        <p:spPr>
          <a:xfrm>
            <a:off x="383540" y="150367"/>
            <a:ext cx="4685665" cy="1031875"/>
          </a:xfrm>
          <a:prstGeom prst="rect">
            <a:avLst/>
          </a:prstGeom>
        </p:spPr>
        <p:txBody>
          <a:bodyPr vert="horz" wrap="square" lIns="0" tIns="104139" rIns="0" bIns="0" rtlCol="0">
            <a:spAutoFit/>
          </a:bodyPr>
          <a:lstStyle/>
          <a:p>
            <a:pPr marL="12700" marR="5080">
              <a:lnSpc>
                <a:spcPts val="3600"/>
              </a:lnSpc>
              <a:spcBef>
                <a:spcPts val="819"/>
              </a:spcBef>
            </a:pPr>
            <a:r>
              <a:rPr b="0" i="1" spc="-150" dirty="0">
                <a:latin typeface="Arial"/>
                <a:cs typeface="Arial"/>
              </a:rPr>
              <a:t>Direction</a:t>
            </a:r>
            <a:r>
              <a:rPr b="0" i="1" spc="-240" dirty="0">
                <a:latin typeface="Arial"/>
                <a:cs typeface="Arial"/>
              </a:rPr>
              <a:t> </a:t>
            </a:r>
            <a:r>
              <a:rPr b="0" i="1" spc="-85" dirty="0">
                <a:latin typeface="Arial"/>
                <a:cs typeface="Arial"/>
              </a:rPr>
              <a:t>of</a:t>
            </a:r>
            <a:r>
              <a:rPr b="0" i="1" spc="-270" dirty="0">
                <a:latin typeface="Arial"/>
                <a:cs typeface="Arial"/>
              </a:rPr>
              <a:t> </a:t>
            </a:r>
            <a:r>
              <a:rPr b="0" i="1" spc="-165" dirty="0">
                <a:latin typeface="Arial"/>
                <a:cs typeface="Arial"/>
              </a:rPr>
              <a:t>Transmission </a:t>
            </a:r>
            <a:r>
              <a:rPr b="0" i="1" spc="-130" dirty="0">
                <a:latin typeface="Arial"/>
                <a:cs typeface="Arial"/>
              </a:rPr>
              <a:t>(</a:t>
            </a:r>
            <a:r>
              <a:rPr b="0" spc="-130" dirty="0">
                <a:latin typeface="Arial MT"/>
                <a:cs typeface="Arial MT"/>
              </a:rPr>
              <a:t>The</a:t>
            </a:r>
            <a:r>
              <a:rPr b="0" spc="-254" dirty="0">
                <a:latin typeface="Arial MT"/>
                <a:cs typeface="Arial MT"/>
              </a:rPr>
              <a:t> </a:t>
            </a:r>
            <a:r>
              <a:rPr b="0" spc="-140" dirty="0">
                <a:latin typeface="Arial MT"/>
                <a:cs typeface="Arial MT"/>
              </a:rPr>
              <a:t>duplex</a:t>
            </a:r>
            <a:r>
              <a:rPr b="0" spc="-245" dirty="0">
                <a:latin typeface="Arial MT"/>
                <a:cs typeface="Arial MT"/>
              </a:rPr>
              <a:t> </a:t>
            </a:r>
            <a:r>
              <a:rPr b="0" spc="-145" dirty="0">
                <a:latin typeface="Arial MT"/>
                <a:cs typeface="Arial MT"/>
              </a:rPr>
              <a:t>concept</a:t>
            </a:r>
            <a:r>
              <a:rPr b="0" spc="-240" dirty="0">
                <a:latin typeface="Arial MT"/>
                <a:cs typeface="Arial MT"/>
              </a:rPr>
              <a:t> </a:t>
            </a:r>
            <a:r>
              <a:rPr spc="-50" dirty="0"/>
              <a:t>)</a:t>
            </a:r>
          </a:p>
        </p:txBody>
      </p:sp>
      <p:sp>
        <p:nvSpPr>
          <p:cNvPr id="4" name="object 4"/>
          <p:cNvSpPr/>
          <p:nvPr/>
        </p:nvSpPr>
        <p:spPr>
          <a:xfrm>
            <a:off x="744499" y="4392294"/>
            <a:ext cx="3848100" cy="2019300"/>
          </a:xfrm>
          <a:custGeom>
            <a:avLst/>
            <a:gdLst/>
            <a:ahLst/>
            <a:cxnLst/>
            <a:rect l="l" t="t" r="r" b="b"/>
            <a:pathLst>
              <a:path w="3848100" h="2019300">
                <a:moveTo>
                  <a:pt x="3848074" y="1981200"/>
                </a:moveTo>
                <a:lnTo>
                  <a:pt x="3835400" y="1974862"/>
                </a:lnTo>
                <a:lnTo>
                  <a:pt x="3771874" y="1943100"/>
                </a:lnTo>
                <a:lnTo>
                  <a:pt x="3771874" y="1974862"/>
                </a:lnTo>
                <a:lnTo>
                  <a:pt x="44450" y="1974862"/>
                </a:lnTo>
                <a:lnTo>
                  <a:pt x="44450" y="76200"/>
                </a:lnTo>
                <a:lnTo>
                  <a:pt x="76200" y="76200"/>
                </a:lnTo>
                <a:lnTo>
                  <a:pt x="69850" y="63500"/>
                </a:lnTo>
                <a:lnTo>
                  <a:pt x="38100" y="0"/>
                </a:lnTo>
                <a:lnTo>
                  <a:pt x="0" y="76200"/>
                </a:lnTo>
                <a:lnTo>
                  <a:pt x="31750" y="76200"/>
                </a:lnTo>
                <a:lnTo>
                  <a:pt x="31750" y="1981212"/>
                </a:lnTo>
                <a:lnTo>
                  <a:pt x="38100" y="1981212"/>
                </a:lnTo>
                <a:lnTo>
                  <a:pt x="38100" y="1987562"/>
                </a:lnTo>
                <a:lnTo>
                  <a:pt x="3771874" y="1987562"/>
                </a:lnTo>
                <a:lnTo>
                  <a:pt x="3771874" y="2019300"/>
                </a:lnTo>
                <a:lnTo>
                  <a:pt x="3835349" y="1987562"/>
                </a:lnTo>
                <a:lnTo>
                  <a:pt x="3848074" y="1981200"/>
                </a:lnTo>
                <a:close/>
              </a:path>
            </a:pathLst>
          </a:custGeom>
          <a:solidFill>
            <a:srgbClr val="497DBA"/>
          </a:solidFill>
        </p:spPr>
        <p:txBody>
          <a:bodyPr wrap="square" lIns="0" tIns="0" rIns="0" bIns="0" rtlCol="0"/>
          <a:lstStyle/>
          <a:p>
            <a:endParaRPr/>
          </a:p>
        </p:txBody>
      </p:sp>
      <p:sp>
        <p:nvSpPr>
          <p:cNvPr id="5" name="object 5"/>
          <p:cNvSpPr txBox="1"/>
          <p:nvPr/>
        </p:nvSpPr>
        <p:spPr>
          <a:xfrm>
            <a:off x="782599" y="4773282"/>
            <a:ext cx="3581400" cy="369570"/>
          </a:xfrm>
          <a:prstGeom prst="rect">
            <a:avLst/>
          </a:prstGeom>
          <a:solidFill>
            <a:srgbClr val="DCE6F1"/>
          </a:solidFill>
          <a:ln w="9525">
            <a:solidFill>
              <a:srgbClr val="7E7E7E"/>
            </a:solidFill>
          </a:ln>
        </p:spPr>
        <p:txBody>
          <a:bodyPr vert="horz" wrap="square" lIns="0" tIns="31750" rIns="0" bIns="0" rtlCol="0">
            <a:spAutoFit/>
          </a:bodyPr>
          <a:lstStyle/>
          <a:p>
            <a:pPr marL="91440">
              <a:lnSpc>
                <a:spcPct val="100000"/>
              </a:lnSpc>
              <a:spcBef>
                <a:spcPts val="250"/>
              </a:spcBef>
            </a:pPr>
            <a:r>
              <a:rPr sz="1800" dirty="0">
                <a:latin typeface="Calibri"/>
                <a:cs typeface="Calibri"/>
              </a:rPr>
              <a:t>Base</a:t>
            </a:r>
            <a:r>
              <a:rPr sz="1800" spc="-55" dirty="0">
                <a:latin typeface="Calibri"/>
                <a:cs typeface="Calibri"/>
              </a:rPr>
              <a:t> </a:t>
            </a:r>
            <a:r>
              <a:rPr sz="1800" spc="-10" dirty="0">
                <a:latin typeface="Calibri"/>
                <a:cs typeface="Calibri"/>
              </a:rPr>
              <a:t>Station(Tx),</a:t>
            </a:r>
            <a:r>
              <a:rPr sz="1800" spc="-40" dirty="0">
                <a:latin typeface="Calibri"/>
                <a:cs typeface="Calibri"/>
              </a:rPr>
              <a:t> </a:t>
            </a:r>
            <a:r>
              <a:rPr sz="1800" dirty="0">
                <a:latin typeface="Calibri"/>
                <a:cs typeface="Calibri"/>
              </a:rPr>
              <a:t>Mobile</a:t>
            </a:r>
            <a:r>
              <a:rPr sz="1800" spc="-25" dirty="0">
                <a:latin typeface="Calibri"/>
                <a:cs typeface="Calibri"/>
              </a:rPr>
              <a:t> </a:t>
            </a:r>
            <a:r>
              <a:rPr sz="1800" spc="-10" dirty="0">
                <a:latin typeface="Calibri"/>
                <a:cs typeface="Calibri"/>
              </a:rPr>
              <a:t>Station(Rx</a:t>
            </a:r>
            <a:endParaRPr sz="1800">
              <a:latin typeface="Calibri"/>
              <a:cs typeface="Calibri"/>
            </a:endParaRPr>
          </a:p>
        </p:txBody>
      </p:sp>
      <p:sp>
        <p:nvSpPr>
          <p:cNvPr id="6" name="object 6"/>
          <p:cNvSpPr txBox="1"/>
          <p:nvPr/>
        </p:nvSpPr>
        <p:spPr>
          <a:xfrm>
            <a:off x="799655" y="5857608"/>
            <a:ext cx="3581400" cy="369570"/>
          </a:xfrm>
          <a:prstGeom prst="rect">
            <a:avLst/>
          </a:prstGeom>
          <a:solidFill>
            <a:srgbClr val="FBD4B5"/>
          </a:solidFill>
        </p:spPr>
        <p:txBody>
          <a:bodyPr vert="horz" wrap="square" lIns="0" tIns="31750" rIns="0" bIns="0" rtlCol="0">
            <a:spAutoFit/>
          </a:bodyPr>
          <a:lstStyle/>
          <a:p>
            <a:pPr marL="91440">
              <a:lnSpc>
                <a:spcPct val="100000"/>
              </a:lnSpc>
              <a:spcBef>
                <a:spcPts val="250"/>
              </a:spcBef>
            </a:pPr>
            <a:r>
              <a:rPr sz="1800" dirty="0">
                <a:latin typeface="Calibri"/>
                <a:cs typeface="Calibri"/>
              </a:rPr>
              <a:t>Mobile</a:t>
            </a:r>
            <a:r>
              <a:rPr sz="1800" spc="-15" dirty="0">
                <a:latin typeface="Calibri"/>
                <a:cs typeface="Calibri"/>
              </a:rPr>
              <a:t> </a:t>
            </a:r>
            <a:r>
              <a:rPr sz="1800" spc="-10" dirty="0">
                <a:latin typeface="Calibri"/>
                <a:cs typeface="Calibri"/>
              </a:rPr>
              <a:t>station</a:t>
            </a:r>
            <a:r>
              <a:rPr sz="1800" spc="-35" dirty="0">
                <a:latin typeface="Calibri"/>
                <a:cs typeface="Calibri"/>
              </a:rPr>
              <a:t> </a:t>
            </a:r>
            <a:r>
              <a:rPr sz="1800" dirty="0">
                <a:latin typeface="Calibri"/>
                <a:cs typeface="Calibri"/>
              </a:rPr>
              <a:t>(tx),</a:t>
            </a:r>
            <a:r>
              <a:rPr sz="1800" spc="-25" dirty="0">
                <a:latin typeface="Calibri"/>
                <a:cs typeface="Calibri"/>
              </a:rPr>
              <a:t> </a:t>
            </a:r>
            <a:r>
              <a:rPr sz="1800" dirty="0">
                <a:latin typeface="Calibri"/>
                <a:cs typeface="Calibri"/>
              </a:rPr>
              <a:t>Base</a:t>
            </a:r>
            <a:r>
              <a:rPr sz="1800" spc="-40" dirty="0">
                <a:latin typeface="Calibri"/>
                <a:cs typeface="Calibri"/>
              </a:rPr>
              <a:t> </a:t>
            </a:r>
            <a:r>
              <a:rPr sz="1800" spc="-10" dirty="0">
                <a:latin typeface="Calibri"/>
                <a:cs typeface="Calibri"/>
              </a:rPr>
              <a:t>station(Rx)</a:t>
            </a:r>
            <a:endParaRPr sz="1800">
              <a:latin typeface="Calibri"/>
              <a:cs typeface="Calibri"/>
            </a:endParaRPr>
          </a:p>
        </p:txBody>
      </p:sp>
      <p:sp>
        <p:nvSpPr>
          <p:cNvPr id="7" name="object 7"/>
          <p:cNvSpPr txBox="1"/>
          <p:nvPr/>
        </p:nvSpPr>
        <p:spPr>
          <a:xfrm>
            <a:off x="303529" y="4756429"/>
            <a:ext cx="254000" cy="1539875"/>
          </a:xfrm>
          <a:prstGeom prst="rect">
            <a:avLst/>
          </a:prstGeom>
        </p:spPr>
        <p:txBody>
          <a:bodyPr vert="vert270" wrap="square" lIns="0" tIns="0" rIns="0" bIns="0" rtlCol="0">
            <a:spAutoFit/>
          </a:bodyPr>
          <a:lstStyle/>
          <a:p>
            <a:pPr marL="12700">
              <a:lnSpc>
                <a:spcPts val="1810"/>
              </a:lnSpc>
            </a:pPr>
            <a:r>
              <a:rPr sz="1800" spc="-10" dirty="0">
                <a:latin typeface="Calibri"/>
                <a:cs typeface="Calibri"/>
              </a:rPr>
              <a:t>Frequency(Mhz)</a:t>
            </a:r>
            <a:endParaRPr sz="1800">
              <a:latin typeface="Calibri"/>
              <a:cs typeface="Calibri"/>
            </a:endParaRPr>
          </a:p>
        </p:txBody>
      </p:sp>
      <p:sp>
        <p:nvSpPr>
          <p:cNvPr id="8" name="object 8"/>
          <p:cNvSpPr/>
          <p:nvPr/>
        </p:nvSpPr>
        <p:spPr>
          <a:xfrm>
            <a:off x="5448300" y="4419600"/>
            <a:ext cx="3695700" cy="1987550"/>
          </a:xfrm>
          <a:custGeom>
            <a:avLst/>
            <a:gdLst/>
            <a:ahLst/>
            <a:cxnLst/>
            <a:rect l="l" t="t" r="r" b="b"/>
            <a:pathLst>
              <a:path w="3695700" h="1987550">
                <a:moveTo>
                  <a:pt x="3695700" y="1974850"/>
                </a:moveTo>
                <a:lnTo>
                  <a:pt x="44450" y="1974850"/>
                </a:lnTo>
                <a:lnTo>
                  <a:pt x="44450" y="76200"/>
                </a:lnTo>
                <a:lnTo>
                  <a:pt x="76200" y="76200"/>
                </a:lnTo>
                <a:lnTo>
                  <a:pt x="69850" y="63500"/>
                </a:lnTo>
                <a:lnTo>
                  <a:pt x="38100" y="0"/>
                </a:lnTo>
                <a:lnTo>
                  <a:pt x="0" y="76200"/>
                </a:lnTo>
                <a:lnTo>
                  <a:pt x="31750" y="76200"/>
                </a:lnTo>
                <a:lnTo>
                  <a:pt x="31750" y="1981200"/>
                </a:lnTo>
                <a:lnTo>
                  <a:pt x="38100" y="1981200"/>
                </a:lnTo>
                <a:lnTo>
                  <a:pt x="38100" y="1987550"/>
                </a:lnTo>
                <a:lnTo>
                  <a:pt x="3695700" y="1987550"/>
                </a:lnTo>
                <a:lnTo>
                  <a:pt x="3695700" y="1974850"/>
                </a:lnTo>
                <a:close/>
              </a:path>
            </a:pathLst>
          </a:custGeom>
          <a:solidFill>
            <a:srgbClr val="497DBA"/>
          </a:solidFill>
        </p:spPr>
        <p:txBody>
          <a:bodyPr wrap="square" lIns="0" tIns="0" rIns="0" bIns="0" rtlCol="0"/>
          <a:lstStyle/>
          <a:p>
            <a:endParaRPr/>
          </a:p>
        </p:txBody>
      </p:sp>
      <p:sp>
        <p:nvSpPr>
          <p:cNvPr id="9" name="object 9"/>
          <p:cNvSpPr txBox="1"/>
          <p:nvPr/>
        </p:nvSpPr>
        <p:spPr>
          <a:xfrm>
            <a:off x="5600319" y="5145925"/>
            <a:ext cx="1606550" cy="1200785"/>
          </a:xfrm>
          <a:prstGeom prst="rect">
            <a:avLst/>
          </a:prstGeom>
          <a:solidFill>
            <a:srgbClr val="DCE6F1"/>
          </a:solidFill>
          <a:ln w="9525">
            <a:solidFill>
              <a:srgbClr val="7E7E7E"/>
            </a:solidFill>
          </a:ln>
        </p:spPr>
        <p:txBody>
          <a:bodyPr vert="horz" wrap="square" lIns="0" tIns="31115" rIns="0" bIns="0" rtlCol="0">
            <a:spAutoFit/>
          </a:bodyPr>
          <a:lstStyle/>
          <a:p>
            <a:pPr marL="92075" marR="457200">
              <a:lnSpc>
                <a:spcPct val="100000"/>
              </a:lnSpc>
              <a:spcBef>
                <a:spcPts val="245"/>
              </a:spcBef>
            </a:pPr>
            <a:r>
              <a:rPr sz="1800" spc="-20" dirty="0">
                <a:latin typeface="Calibri"/>
                <a:cs typeface="Calibri"/>
              </a:rPr>
              <a:t>Base Station(Tx), </a:t>
            </a:r>
            <a:r>
              <a:rPr sz="1800" spc="-10" dirty="0">
                <a:latin typeface="Calibri"/>
                <a:cs typeface="Calibri"/>
              </a:rPr>
              <a:t>Mobile Station(Rx)</a:t>
            </a:r>
            <a:endParaRPr sz="180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51</a:t>
            </a:fld>
            <a:endParaRPr spc="-25" dirty="0"/>
          </a:p>
        </p:txBody>
      </p:sp>
      <p:sp>
        <p:nvSpPr>
          <p:cNvPr id="13" name="object 13"/>
          <p:cNvSpPr txBox="1"/>
          <p:nvPr/>
        </p:nvSpPr>
        <p:spPr>
          <a:xfrm>
            <a:off x="2157222" y="6565036"/>
            <a:ext cx="948690" cy="254000"/>
          </a:xfrm>
          <a:prstGeom prst="rect">
            <a:avLst/>
          </a:prstGeom>
        </p:spPr>
        <p:txBody>
          <a:bodyPr vert="horz" wrap="square" lIns="0" tIns="0" rIns="0" bIns="0" rtlCol="0">
            <a:spAutoFit/>
          </a:bodyPr>
          <a:lstStyle/>
          <a:p>
            <a:pPr marL="12700">
              <a:lnSpc>
                <a:spcPts val="1810"/>
              </a:lnSpc>
            </a:pPr>
            <a:r>
              <a:rPr sz="1800" dirty="0">
                <a:latin typeface="Calibri"/>
                <a:cs typeface="Calibri"/>
              </a:rPr>
              <a:t>Time</a:t>
            </a:r>
            <a:r>
              <a:rPr sz="1800" spc="-30" dirty="0">
                <a:latin typeface="Calibri"/>
                <a:cs typeface="Calibri"/>
              </a:rPr>
              <a:t> </a:t>
            </a:r>
            <a:r>
              <a:rPr sz="1800" spc="-20" dirty="0">
                <a:latin typeface="Calibri"/>
                <a:cs typeface="Calibri"/>
              </a:rPr>
              <a:t>(ms)</a:t>
            </a:r>
            <a:endParaRPr sz="1800">
              <a:latin typeface="Calibri"/>
              <a:cs typeface="Calibri"/>
            </a:endParaRPr>
          </a:p>
        </p:txBody>
      </p:sp>
      <p:sp>
        <p:nvSpPr>
          <p:cNvPr id="14" name="object 14"/>
          <p:cNvSpPr txBox="1"/>
          <p:nvPr/>
        </p:nvSpPr>
        <p:spPr>
          <a:xfrm>
            <a:off x="4585842" y="6592163"/>
            <a:ext cx="4478020" cy="254000"/>
          </a:xfrm>
          <a:prstGeom prst="rect">
            <a:avLst/>
          </a:prstGeom>
        </p:spPr>
        <p:txBody>
          <a:bodyPr vert="horz" wrap="square" lIns="0" tIns="0" rIns="0" bIns="0" rtlCol="0">
            <a:spAutoFit/>
          </a:bodyPr>
          <a:lstStyle/>
          <a:p>
            <a:pPr marL="12700">
              <a:lnSpc>
                <a:spcPts val="1830"/>
              </a:lnSpc>
            </a:pPr>
            <a:r>
              <a:rPr sz="1100" b="1" dirty="0">
                <a:solidFill>
                  <a:srgbClr val="0F1141"/>
                </a:solidFill>
                <a:latin typeface="Arial"/>
                <a:cs typeface="Arial"/>
              </a:rPr>
              <a:t>BITS </a:t>
            </a:r>
            <a:r>
              <a:rPr sz="1100" dirty="0">
                <a:solidFill>
                  <a:srgbClr val="0F1141"/>
                </a:solidFill>
                <a:latin typeface="Arial MT"/>
                <a:cs typeface="Arial MT"/>
              </a:rPr>
              <a:t>Pilani,</a:t>
            </a:r>
            <a:r>
              <a:rPr sz="1100" spc="30" dirty="0">
                <a:solidFill>
                  <a:srgbClr val="0F1141"/>
                </a:solidFill>
                <a:latin typeface="Arial MT"/>
                <a:cs typeface="Arial MT"/>
              </a:rPr>
              <a:t> </a:t>
            </a:r>
            <a:r>
              <a:rPr sz="1100" dirty="0">
                <a:solidFill>
                  <a:srgbClr val="0F1141"/>
                </a:solidFill>
                <a:latin typeface="Arial MT"/>
                <a:cs typeface="Arial MT"/>
              </a:rPr>
              <a:t>Deemed</a:t>
            </a:r>
            <a:r>
              <a:rPr sz="1100" spc="-10" dirty="0">
                <a:solidFill>
                  <a:srgbClr val="0F1141"/>
                </a:solidFill>
                <a:latin typeface="Arial MT"/>
                <a:cs typeface="Arial MT"/>
              </a:rPr>
              <a:t> </a:t>
            </a:r>
            <a:r>
              <a:rPr sz="1100" dirty="0">
                <a:solidFill>
                  <a:srgbClr val="0F1141"/>
                </a:solidFill>
                <a:latin typeface="Arial MT"/>
                <a:cs typeface="Arial MT"/>
              </a:rPr>
              <a:t>to</a:t>
            </a:r>
            <a:r>
              <a:rPr sz="1100" spc="-15" dirty="0">
                <a:solidFill>
                  <a:srgbClr val="0F1141"/>
                </a:solidFill>
                <a:latin typeface="Arial MT"/>
                <a:cs typeface="Arial MT"/>
              </a:rPr>
              <a:t> </a:t>
            </a:r>
            <a:r>
              <a:rPr sz="1100" dirty="0">
                <a:solidFill>
                  <a:srgbClr val="0F1141"/>
                </a:solidFill>
                <a:latin typeface="Arial MT"/>
                <a:cs typeface="Arial MT"/>
              </a:rPr>
              <a:t>be</a:t>
            </a:r>
            <a:r>
              <a:rPr sz="1100" spc="-5" dirty="0">
                <a:solidFill>
                  <a:srgbClr val="0F1141"/>
                </a:solidFill>
                <a:latin typeface="Arial MT"/>
                <a:cs typeface="Arial MT"/>
              </a:rPr>
              <a:t> </a:t>
            </a:r>
            <a:r>
              <a:rPr sz="1100" spc="-20" dirty="0">
                <a:solidFill>
                  <a:srgbClr val="0F1141"/>
                </a:solidFill>
                <a:latin typeface="Arial MT"/>
                <a:cs typeface="Arial MT"/>
              </a:rPr>
              <a:t>U</a:t>
            </a:r>
            <a:r>
              <a:rPr sz="1100" spc="-15" dirty="0">
                <a:solidFill>
                  <a:srgbClr val="0F1141"/>
                </a:solidFill>
                <a:latin typeface="Arial MT"/>
                <a:cs typeface="Arial MT"/>
              </a:rPr>
              <a:t>n</a:t>
            </a:r>
            <a:r>
              <a:rPr sz="1100" spc="-20" dirty="0">
                <a:solidFill>
                  <a:srgbClr val="0F1141"/>
                </a:solidFill>
                <a:latin typeface="Arial MT"/>
                <a:cs typeface="Arial MT"/>
              </a:rPr>
              <a:t>iv</a:t>
            </a:r>
            <a:r>
              <a:rPr sz="1100" spc="-5" dirty="0">
                <a:solidFill>
                  <a:srgbClr val="0F1141"/>
                </a:solidFill>
                <a:latin typeface="Arial MT"/>
                <a:cs typeface="Arial MT"/>
              </a:rPr>
              <a:t>ersit</a:t>
            </a:r>
            <a:r>
              <a:rPr sz="1100" spc="-225" dirty="0">
                <a:solidFill>
                  <a:srgbClr val="0F1141"/>
                </a:solidFill>
                <a:latin typeface="Arial MT"/>
                <a:cs typeface="Arial MT"/>
              </a:rPr>
              <a:t>y</a:t>
            </a:r>
            <a:r>
              <a:rPr sz="1800" spc="-340" dirty="0">
                <a:latin typeface="Calibri"/>
                <a:cs typeface="Calibri"/>
              </a:rPr>
              <a:t>T</a:t>
            </a:r>
            <a:r>
              <a:rPr sz="1100" spc="-285" dirty="0">
                <a:solidFill>
                  <a:srgbClr val="0F1141"/>
                </a:solidFill>
                <a:latin typeface="Arial MT"/>
                <a:cs typeface="Arial MT"/>
              </a:rPr>
              <a:t>u</a:t>
            </a:r>
            <a:r>
              <a:rPr sz="1800" spc="-140" dirty="0">
                <a:latin typeface="Calibri"/>
                <a:cs typeface="Calibri"/>
              </a:rPr>
              <a:t>i</a:t>
            </a:r>
            <a:r>
              <a:rPr sz="1100" spc="-495" dirty="0">
                <a:solidFill>
                  <a:srgbClr val="0F1141"/>
                </a:solidFill>
                <a:latin typeface="Arial MT"/>
                <a:cs typeface="Arial MT"/>
              </a:rPr>
              <a:t>n</a:t>
            </a:r>
            <a:r>
              <a:rPr sz="1800" spc="-960" dirty="0">
                <a:latin typeface="Calibri"/>
                <a:cs typeface="Calibri"/>
              </a:rPr>
              <a:t>m</a:t>
            </a:r>
            <a:r>
              <a:rPr sz="1100" spc="-10" dirty="0">
                <a:solidFill>
                  <a:srgbClr val="0F1141"/>
                </a:solidFill>
                <a:latin typeface="Arial MT"/>
                <a:cs typeface="Arial MT"/>
              </a:rPr>
              <a:t>d</a:t>
            </a:r>
            <a:r>
              <a:rPr sz="1100" spc="-280" dirty="0">
                <a:solidFill>
                  <a:srgbClr val="0F1141"/>
                </a:solidFill>
                <a:latin typeface="Arial MT"/>
                <a:cs typeface="Arial MT"/>
              </a:rPr>
              <a:t>e</a:t>
            </a:r>
            <a:r>
              <a:rPr sz="1800" spc="-645" dirty="0">
                <a:latin typeface="Calibri"/>
                <a:cs typeface="Calibri"/>
              </a:rPr>
              <a:t>e</a:t>
            </a:r>
            <a:r>
              <a:rPr sz="1100" spc="-5" dirty="0">
                <a:solidFill>
                  <a:srgbClr val="0F1141"/>
                </a:solidFill>
                <a:latin typeface="Arial MT"/>
                <a:cs typeface="Arial MT"/>
              </a:rPr>
              <a:t>r</a:t>
            </a:r>
            <a:r>
              <a:rPr sz="1100" spc="-10" dirty="0">
                <a:solidFill>
                  <a:srgbClr val="0F1141"/>
                </a:solidFill>
                <a:latin typeface="Arial MT"/>
                <a:cs typeface="Arial MT"/>
              </a:rPr>
              <a:t> </a:t>
            </a:r>
            <a:r>
              <a:rPr sz="1100" spc="-375" dirty="0">
                <a:solidFill>
                  <a:srgbClr val="0F1141"/>
                </a:solidFill>
                <a:latin typeface="Arial MT"/>
                <a:cs typeface="Arial MT"/>
              </a:rPr>
              <a:t>S</a:t>
            </a:r>
            <a:r>
              <a:rPr sz="1800" spc="-210" dirty="0">
                <a:latin typeface="Calibri"/>
                <a:cs typeface="Calibri"/>
              </a:rPr>
              <a:t>(</a:t>
            </a:r>
            <a:r>
              <a:rPr sz="1100" spc="-434" dirty="0">
                <a:solidFill>
                  <a:srgbClr val="0F1141"/>
                </a:solidFill>
                <a:latin typeface="Arial MT"/>
                <a:cs typeface="Arial MT"/>
              </a:rPr>
              <a:t>e</a:t>
            </a:r>
            <a:r>
              <a:rPr sz="1800" spc="-1030" dirty="0">
                <a:latin typeface="Calibri"/>
                <a:cs typeface="Calibri"/>
              </a:rPr>
              <a:t>m</a:t>
            </a:r>
            <a:r>
              <a:rPr sz="1100" spc="-15" dirty="0">
                <a:solidFill>
                  <a:srgbClr val="0F1141"/>
                </a:solidFill>
                <a:latin typeface="Arial MT"/>
                <a:cs typeface="Arial MT"/>
              </a:rPr>
              <a:t>ct</a:t>
            </a:r>
            <a:r>
              <a:rPr sz="1100" spc="-105" dirty="0">
                <a:solidFill>
                  <a:srgbClr val="0F1141"/>
                </a:solidFill>
                <a:latin typeface="Arial MT"/>
                <a:cs typeface="Arial MT"/>
              </a:rPr>
              <a:t>i</a:t>
            </a:r>
            <a:r>
              <a:rPr sz="1800" spc="-630" dirty="0">
                <a:latin typeface="Calibri"/>
                <a:cs typeface="Calibri"/>
              </a:rPr>
              <a:t>s</a:t>
            </a:r>
            <a:r>
              <a:rPr sz="1100" spc="-15" dirty="0">
                <a:solidFill>
                  <a:srgbClr val="0F1141"/>
                </a:solidFill>
                <a:latin typeface="Arial MT"/>
                <a:cs typeface="Arial MT"/>
              </a:rPr>
              <a:t>o</a:t>
            </a:r>
            <a:r>
              <a:rPr sz="1100" spc="-615" dirty="0">
                <a:solidFill>
                  <a:srgbClr val="0F1141"/>
                </a:solidFill>
                <a:latin typeface="Arial MT"/>
                <a:cs typeface="Arial MT"/>
              </a:rPr>
              <a:t>n</a:t>
            </a:r>
            <a:r>
              <a:rPr sz="1800" spc="-10" dirty="0">
                <a:latin typeface="Calibri"/>
                <a:cs typeface="Calibri"/>
              </a:rPr>
              <a:t>)</a:t>
            </a:r>
            <a:r>
              <a:rPr sz="1800" spc="-50" dirty="0">
                <a:latin typeface="Calibri"/>
                <a:cs typeface="Calibri"/>
              </a:rPr>
              <a:t> </a:t>
            </a:r>
            <a:r>
              <a:rPr sz="1100" dirty="0">
                <a:solidFill>
                  <a:srgbClr val="0F1141"/>
                </a:solidFill>
                <a:latin typeface="Arial MT"/>
                <a:cs typeface="Arial MT"/>
              </a:rPr>
              <a:t>3</a:t>
            </a:r>
            <a:r>
              <a:rPr sz="1100" spc="-5" dirty="0">
                <a:solidFill>
                  <a:srgbClr val="0F1141"/>
                </a:solidFill>
                <a:latin typeface="Arial MT"/>
                <a:cs typeface="Arial MT"/>
              </a:rPr>
              <a:t> </a:t>
            </a:r>
            <a:r>
              <a:rPr sz="1100" dirty="0">
                <a:solidFill>
                  <a:srgbClr val="0F1141"/>
                </a:solidFill>
                <a:latin typeface="Arial MT"/>
                <a:cs typeface="Arial MT"/>
              </a:rPr>
              <a:t>of</a:t>
            </a:r>
            <a:r>
              <a:rPr sz="1100" spc="-15" dirty="0">
                <a:solidFill>
                  <a:srgbClr val="0F1141"/>
                </a:solidFill>
                <a:latin typeface="Arial MT"/>
                <a:cs typeface="Arial MT"/>
              </a:rPr>
              <a:t> </a:t>
            </a:r>
            <a:r>
              <a:rPr sz="1100" dirty="0">
                <a:solidFill>
                  <a:srgbClr val="0F1141"/>
                </a:solidFill>
                <a:latin typeface="Arial MT"/>
                <a:cs typeface="Arial MT"/>
              </a:rPr>
              <a:t>UGC</a:t>
            </a:r>
            <a:r>
              <a:rPr sz="1100" spc="-10" dirty="0">
                <a:solidFill>
                  <a:srgbClr val="0F1141"/>
                </a:solidFill>
                <a:latin typeface="Arial MT"/>
                <a:cs typeface="Arial MT"/>
              </a:rPr>
              <a:t> </a:t>
            </a:r>
            <a:r>
              <a:rPr sz="1100" dirty="0">
                <a:solidFill>
                  <a:srgbClr val="0F1141"/>
                </a:solidFill>
                <a:latin typeface="Arial MT"/>
                <a:cs typeface="Arial MT"/>
              </a:rPr>
              <a:t>Act,</a:t>
            </a:r>
            <a:r>
              <a:rPr sz="1100" spc="-10" dirty="0">
                <a:solidFill>
                  <a:srgbClr val="0F1141"/>
                </a:solidFill>
                <a:latin typeface="Arial MT"/>
                <a:cs typeface="Arial MT"/>
              </a:rPr>
              <a:t> </a:t>
            </a:r>
            <a:r>
              <a:rPr sz="1100" spc="-20" dirty="0">
                <a:solidFill>
                  <a:srgbClr val="0F1141"/>
                </a:solidFill>
                <a:latin typeface="Arial MT"/>
                <a:cs typeface="Arial MT"/>
              </a:rPr>
              <a:t>1956</a:t>
            </a:r>
            <a:endParaRPr sz="1100">
              <a:latin typeface="Arial MT"/>
              <a:cs typeface="Arial MT"/>
            </a:endParaRPr>
          </a:p>
        </p:txBody>
      </p:sp>
      <p:sp>
        <p:nvSpPr>
          <p:cNvPr id="10" name="object 10"/>
          <p:cNvSpPr txBox="1"/>
          <p:nvPr/>
        </p:nvSpPr>
        <p:spPr>
          <a:xfrm>
            <a:off x="7256018" y="5145925"/>
            <a:ext cx="1524000" cy="1200785"/>
          </a:xfrm>
          <a:prstGeom prst="rect">
            <a:avLst/>
          </a:prstGeom>
          <a:solidFill>
            <a:srgbClr val="FBD4B5"/>
          </a:solidFill>
        </p:spPr>
        <p:txBody>
          <a:bodyPr vert="horz" wrap="square" lIns="0" tIns="31115" rIns="0" bIns="0" rtlCol="0">
            <a:spAutoFit/>
          </a:bodyPr>
          <a:lstStyle/>
          <a:p>
            <a:pPr marL="92075" marR="365760">
              <a:lnSpc>
                <a:spcPct val="100000"/>
              </a:lnSpc>
              <a:spcBef>
                <a:spcPts val="245"/>
              </a:spcBef>
            </a:pPr>
            <a:r>
              <a:rPr sz="1800" spc="-10" dirty="0">
                <a:latin typeface="Calibri"/>
                <a:cs typeface="Calibri"/>
              </a:rPr>
              <a:t>Mobile station</a:t>
            </a:r>
            <a:r>
              <a:rPr sz="1800" spc="-40" dirty="0">
                <a:latin typeface="Calibri"/>
                <a:cs typeface="Calibri"/>
              </a:rPr>
              <a:t> </a:t>
            </a:r>
            <a:r>
              <a:rPr sz="1800" spc="-10" dirty="0">
                <a:latin typeface="Calibri"/>
                <a:cs typeface="Calibri"/>
              </a:rPr>
              <a:t>(tx), </a:t>
            </a:r>
            <a:r>
              <a:rPr sz="1800" spc="-20" dirty="0">
                <a:latin typeface="Calibri"/>
                <a:cs typeface="Calibri"/>
              </a:rPr>
              <a:t>Base </a:t>
            </a:r>
            <a:r>
              <a:rPr sz="1800" spc="-10" dirty="0">
                <a:latin typeface="Calibri"/>
                <a:cs typeface="Calibri"/>
              </a:rPr>
              <a:t>station(Rx)</a:t>
            </a:r>
            <a:endParaRPr sz="1800">
              <a:latin typeface="Calibri"/>
              <a:cs typeface="Calibri"/>
            </a:endParaRPr>
          </a:p>
        </p:txBody>
      </p:sp>
      <p:sp>
        <p:nvSpPr>
          <p:cNvPr id="11" name="object 11"/>
          <p:cNvSpPr txBox="1"/>
          <p:nvPr/>
        </p:nvSpPr>
        <p:spPr>
          <a:xfrm>
            <a:off x="5008117" y="4783480"/>
            <a:ext cx="254000" cy="1539875"/>
          </a:xfrm>
          <a:prstGeom prst="rect">
            <a:avLst/>
          </a:prstGeom>
        </p:spPr>
        <p:txBody>
          <a:bodyPr vert="vert270" wrap="square" lIns="0" tIns="0" rIns="0" bIns="0" rtlCol="0">
            <a:spAutoFit/>
          </a:bodyPr>
          <a:lstStyle/>
          <a:p>
            <a:pPr marL="12700">
              <a:lnSpc>
                <a:spcPts val="1810"/>
              </a:lnSpc>
            </a:pPr>
            <a:r>
              <a:rPr sz="1800" spc="-10" dirty="0">
                <a:latin typeface="Calibri"/>
                <a:cs typeface="Calibri"/>
              </a:rPr>
              <a:t>Frequency(Mhz)</a:t>
            </a:r>
            <a:endParaRPr sz="18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67527-93EF-6F61-0519-88508C80BB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730F25C-2D88-D061-EEC4-5794458CD41C}"/>
              </a:ext>
            </a:extLst>
          </p:cNvPr>
          <p:cNvSpPr txBox="1"/>
          <p:nvPr/>
        </p:nvSpPr>
        <p:spPr>
          <a:xfrm>
            <a:off x="383540" y="1443355"/>
            <a:ext cx="7630159" cy="3777316"/>
          </a:xfrm>
          <a:prstGeom prst="rect">
            <a:avLst/>
          </a:prstGeom>
        </p:spPr>
        <p:txBody>
          <a:bodyPr vert="horz" wrap="square" lIns="0" tIns="85725" rIns="0" bIns="0" rtlCol="0">
            <a:spAutoFit/>
          </a:bodyPr>
          <a:lstStyle/>
          <a:p>
            <a:pPr marL="12700">
              <a:lnSpc>
                <a:spcPct val="100000"/>
              </a:lnSpc>
              <a:spcBef>
                <a:spcPts val="675"/>
              </a:spcBef>
              <a:buClr>
                <a:srgbClr val="0F1141"/>
              </a:buClr>
              <a:tabLst>
                <a:tab pos="354965" algn="l"/>
              </a:tabLst>
            </a:pPr>
            <a:r>
              <a:rPr lang="en-US" dirty="0"/>
              <a:t>In wireless communication, data transmission can occur in different directions depending on the type of system. This concept is called </a:t>
            </a:r>
            <a:r>
              <a:rPr lang="en-US" b="1" dirty="0"/>
              <a:t>duplexing</a:t>
            </a:r>
            <a:r>
              <a:rPr lang="en-US" dirty="0"/>
              <a:t> and is categorized as:</a:t>
            </a:r>
          </a:p>
          <a:p>
            <a:pPr>
              <a:buNone/>
            </a:pPr>
            <a:r>
              <a:rPr lang="en-US" b="1" dirty="0"/>
              <a:t>1. Simplex Systems</a:t>
            </a:r>
          </a:p>
          <a:p>
            <a:pPr>
              <a:buFont typeface="Arial" panose="020B0604020202020204" pitchFamily="34" charset="0"/>
              <a:buChar char="•"/>
            </a:pPr>
            <a:r>
              <a:rPr lang="en-US" dirty="0"/>
              <a:t>Data flows in </a:t>
            </a:r>
            <a:r>
              <a:rPr lang="en-US" b="1" dirty="0"/>
              <a:t>only one direction</a:t>
            </a:r>
            <a:r>
              <a:rPr lang="en-US" dirty="0"/>
              <a:t>.</a:t>
            </a:r>
          </a:p>
          <a:p>
            <a:pPr>
              <a:buFont typeface="Arial" panose="020B0604020202020204" pitchFamily="34" charset="0"/>
              <a:buChar char="•"/>
            </a:pPr>
            <a:r>
              <a:rPr lang="en-US" b="1" dirty="0"/>
              <a:t>Example:</a:t>
            </a:r>
            <a:r>
              <a:rPr lang="en-US" dirty="0"/>
              <a:t> Radio broadcast, pagers.</a:t>
            </a:r>
          </a:p>
          <a:p>
            <a:pPr>
              <a:buNone/>
            </a:pPr>
            <a:r>
              <a:rPr lang="en-US" b="1" dirty="0"/>
              <a:t>2. Semi-Duplex Systems</a:t>
            </a:r>
          </a:p>
          <a:p>
            <a:pPr>
              <a:buFont typeface="Arial" panose="020B0604020202020204" pitchFamily="34" charset="0"/>
              <a:buChar char="•"/>
            </a:pPr>
            <a:r>
              <a:rPr lang="en-US" dirty="0"/>
              <a:t>Data flows in </a:t>
            </a:r>
            <a:r>
              <a:rPr lang="en-US" b="1" dirty="0"/>
              <a:t>both directions</a:t>
            </a:r>
            <a:r>
              <a:rPr lang="en-US" dirty="0"/>
              <a:t>, but </a:t>
            </a:r>
            <a:r>
              <a:rPr lang="en-US" b="1" dirty="0"/>
              <a:t>only one at a time</a:t>
            </a:r>
            <a:r>
              <a:rPr lang="en-US" dirty="0"/>
              <a:t>.</a:t>
            </a:r>
          </a:p>
          <a:p>
            <a:pPr>
              <a:buFont typeface="Arial" panose="020B0604020202020204" pitchFamily="34" charset="0"/>
              <a:buChar char="•"/>
            </a:pPr>
            <a:r>
              <a:rPr lang="en-US" b="1" dirty="0"/>
              <a:t>Example:</a:t>
            </a:r>
            <a:r>
              <a:rPr lang="en-US" dirty="0"/>
              <a:t> Walkie-talkies.</a:t>
            </a:r>
          </a:p>
          <a:p>
            <a:pPr>
              <a:buNone/>
            </a:pPr>
            <a:r>
              <a:rPr lang="en-US" b="1" dirty="0"/>
              <a:t>3. Full-Duplex Systems</a:t>
            </a:r>
          </a:p>
          <a:p>
            <a:pPr>
              <a:buFont typeface="Arial" panose="020B0604020202020204" pitchFamily="34" charset="0"/>
              <a:buChar char="•"/>
            </a:pPr>
            <a:r>
              <a:rPr lang="en-US" dirty="0"/>
              <a:t>Data flows in </a:t>
            </a:r>
            <a:r>
              <a:rPr lang="en-US" b="1" dirty="0"/>
              <a:t>both directions simultaneously</a:t>
            </a:r>
            <a:r>
              <a:rPr lang="en-US" dirty="0"/>
              <a:t>.</a:t>
            </a:r>
          </a:p>
          <a:p>
            <a:pPr>
              <a:buFont typeface="Arial" panose="020B0604020202020204" pitchFamily="34" charset="0"/>
              <a:buChar char="•"/>
            </a:pPr>
            <a:r>
              <a:rPr lang="en-US" b="1" dirty="0"/>
              <a:t>Example:</a:t>
            </a:r>
            <a:r>
              <a:rPr lang="en-US" dirty="0"/>
              <a:t> Mobile phones, cordless phones.</a:t>
            </a:r>
          </a:p>
          <a:p>
            <a:pPr marL="12700">
              <a:lnSpc>
                <a:spcPct val="100000"/>
              </a:lnSpc>
              <a:spcBef>
                <a:spcPts val="675"/>
              </a:spcBef>
              <a:buClr>
                <a:srgbClr val="0F1141"/>
              </a:buClr>
              <a:tabLst>
                <a:tab pos="354965" algn="l"/>
              </a:tabLst>
            </a:pPr>
            <a:endParaRPr lang="en-IN" dirty="0">
              <a:latin typeface="Times New Roman"/>
              <a:cs typeface="Times New Roman"/>
            </a:endParaRPr>
          </a:p>
        </p:txBody>
      </p:sp>
      <p:sp>
        <p:nvSpPr>
          <p:cNvPr id="3" name="object 3">
            <a:extLst>
              <a:ext uri="{FF2B5EF4-FFF2-40B4-BE49-F238E27FC236}">
                <a16:creationId xmlns:a16="http://schemas.microsoft.com/office/drawing/2014/main" id="{0C6F36F4-F360-447F-6A67-3E4809CAC2B8}"/>
              </a:ext>
            </a:extLst>
          </p:cNvPr>
          <p:cNvSpPr txBox="1">
            <a:spLocks noGrp="1"/>
          </p:cNvSpPr>
          <p:nvPr>
            <p:ph type="title"/>
          </p:nvPr>
        </p:nvSpPr>
        <p:spPr>
          <a:xfrm>
            <a:off x="383540" y="150367"/>
            <a:ext cx="4685665" cy="1031875"/>
          </a:xfrm>
          <a:prstGeom prst="rect">
            <a:avLst/>
          </a:prstGeom>
        </p:spPr>
        <p:txBody>
          <a:bodyPr vert="horz" wrap="square" lIns="0" tIns="104139" rIns="0" bIns="0" rtlCol="0">
            <a:spAutoFit/>
          </a:bodyPr>
          <a:lstStyle/>
          <a:p>
            <a:pPr marL="12700" marR="5080">
              <a:lnSpc>
                <a:spcPts val="3600"/>
              </a:lnSpc>
              <a:spcBef>
                <a:spcPts val="819"/>
              </a:spcBef>
            </a:pPr>
            <a:r>
              <a:rPr b="0" i="1" spc="-150" dirty="0">
                <a:latin typeface="Arial"/>
                <a:cs typeface="Arial"/>
              </a:rPr>
              <a:t>Direction</a:t>
            </a:r>
            <a:r>
              <a:rPr b="0" i="1" spc="-240" dirty="0">
                <a:latin typeface="Arial"/>
                <a:cs typeface="Arial"/>
              </a:rPr>
              <a:t> </a:t>
            </a:r>
            <a:r>
              <a:rPr b="0" i="1" spc="-85" dirty="0">
                <a:latin typeface="Arial"/>
                <a:cs typeface="Arial"/>
              </a:rPr>
              <a:t>of</a:t>
            </a:r>
            <a:r>
              <a:rPr b="0" i="1" spc="-270" dirty="0">
                <a:latin typeface="Arial"/>
                <a:cs typeface="Arial"/>
              </a:rPr>
              <a:t> </a:t>
            </a:r>
            <a:r>
              <a:rPr b="0" i="1" spc="-165" dirty="0">
                <a:latin typeface="Arial"/>
                <a:cs typeface="Arial"/>
              </a:rPr>
              <a:t>Transmission </a:t>
            </a:r>
            <a:r>
              <a:rPr b="0" i="1" spc="-130" dirty="0">
                <a:latin typeface="Arial"/>
                <a:cs typeface="Arial"/>
              </a:rPr>
              <a:t>(</a:t>
            </a:r>
            <a:r>
              <a:rPr b="0" spc="-130" dirty="0">
                <a:latin typeface="Arial MT"/>
                <a:cs typeface="Arial MT"/>
              </a:rPr>
              <a:t>The</a:t>
            </a:r>
            <a:r>
              <a:rPr b="0" spc="-254" dirty="0">
                <a:latin typeface="Arial MT"/>
                <a:cs typeface="Arial MT"/>
              </a:rPr>
              <a:t> </a:t>
            </a:r>
            <a:r>
              <a:rPr b="0" spc="-140" dirty="0">
                <a:latin typeface="Arial MT"/>
                <a:cs typeface="Arial MT"/>
              </a:rPr>
              <a:t>duplex</a:t>
            </a:r>
            <a:r>
              <a:rPr b="0" spc="-245" dirty="0">
                <a:latin typeface="Arial MT"/>
                <a:cs typeface="Arial MT"/>
              </a:rPr>
              <a:t> </a:t>
            </a:r>
            <a:r>
              <a:rPr b="0" spc="-145" dirty="0">
                <a:latin typeface="Arial MT"/>
                <a:cs typeface="Arial MT"/>
              </a:rPr>
              <a:t>concept</a:t>
            </a:r>
            <a:r>
              <a:rPr b="0" spc="-240" dirty="0">
                <a:latin typeface="Arial MT"/>
                <a:cs typeface="Arial MT"/>
              </a:rPr>
              <a:t> </a:t>
            </a:r>
            <a:r>
              <a:rPr spc="-50" dirty="0"/>
              <a:t>)</a:t>
            </a:r>
          </a:p>
        </p:txBody>
      </p:sp>
      <p:sp>
        <p:nvSpPr>
          <p:cNvPr id="12" name="object 12">
            <a:extLst>
              <a:ext uri="{FF2B5EF4-FFF2-40B4-BE49-F238E27FC236}">
                <a16:creationId xmlns:a16="http://schemas.microsoft.com/office/drawing/2014/main" id="{D8F6DA41-3314-9B35-C807-E22863737F9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52</a:t>
            </a:fld>
            <a:endParaRPr spc="-25" dirty="0"/>
          </a:p>
        </p:txBody>
      </p:sp>
      <p:sp>
        <p:nvSpPr>
          <p:cNvPr id="13" name="object 13">
            <a:extLst>
              <a:ext uri="{FF2B5EF4-FFF2-40B4-BE49-F238E27FC236}">
                <a16:creationId xmlns:a16="http://schemas.microsoft.com/office/drawing/2014/main" id="{9F460857-C967-11DD-FBCA-EBF433FAE974}"/>
              </a:ext>
            </a:extLst>
          </p:cNvPr>
          <p:cNvSpPr txBox="1"/>
          <p:nvPr/>
        </p:nvSpPr>
        <p:spPr>
          <a:xfrm>
            <a:off x="2157222" y="6565036"/>
            <a:ext cx="948690" cy="254000"/>
          </a:xfrm>
          <a:prstGeom prst="rect">
            <a:avLst/>
          </a:prstGeom>
        </p:spPr>
        <p:txBody>
          <a:bodyPr vert="horz" wrap="square" lIns="0" tIns="0" rIns="0" bIns="0" rtlCol="0">
            <a:spAutoFit/>
          </a:bodyPr>
          <a:lstStyle/>
          <a:p>
            <a:pPr marL="12700">
              <a:lnSpc>
                <a:spcPts val="1810"/>
              </a:lnSpc>
            </a:pPr>
            <a:r>
              <a:rPr sz="1800" dirty="0">
                <a:latin typeface="Calibri"/>
                <a:cs typeface="Calibri"/>
              </a:rPr>
              <a:t>Time</a:t>
            </a:r>
            <a:r>
              <a:rPr sz="1800" spc="-30" dirty="0">
                <a:latin typeface="Calibri"/>
                <a:cs typeface="Calibri"/>
              </a:rPr>
              <a:t> </a:t>
            </a:r>
            <a:r>
              <a:rPr sz="1800" spc="-20" dirty="0">
                <a:latin typeface="Calibri"/>
                <a:cs typeface="Calibri"/>
              </a:rPr>
              <a:t>(ms)</a:t>
            </a:r>
            <a:endParaRPr sz="1800">
              <a:latin typeface="Calibri"/>
              <a:cs typeface="Calibri"/>
            </a:endParaRPr>
          </a:p>
        </p:txBody>
      </p:sp>
      <p:sp>
        <p:nvSpPr>
          <p:cNvPr id="14" name="object 14">
            <a:extLst>
              <a:ext uri="{FF2B5EF4-FFF2-40B4-BE49-F238E27FC236}">
                <a16:creationId xmlns:a16="http://schemas.microsoft.com/office/drawing/2014/main" id="{CC95441A-1C1C-AF0A-AC11-1412D5AFE565}"/>
              </a:ext>
            </a:extLst>
          </p:cNvPr>
          <p:cNvSpPr txBox="1"/>
          <p:nvPr/>
        </p:nvSpPr>
        <p:spPr>
          <a:xfrm>
            <a:off x="4585842" y="6592163"/>
            <a:ext cx="4478020" cy="254000"/>
          </a:xfrm>
          <a:prstGeom prst="rect">
            <a:avLst/>
          </a:prstGeom>
        </p:spPr>
        <p:txBody>
          <a:bodyPr vert="horz" wrap="square" lIns="0" tIns="0" rIns="0" bIns="0" rtlCol="0">
            <a:spAutoFit/>
          </a:bodyPr>
          <a:lstStyle/>
          <a:p>
            <a:pPr marL="12700">
              <a:lnSpc>
                <a:spcPts val="1830"/>
              </a:lnSpc>
            </a:pPr>
            <a:r>
              <a:rPr sz="1100" b="1" dirty="0">
                <a:solidFill>
                  <a:srgbClr val="0F1141"/>
                </a:solidFill>
                <a:latin typeface="Arial"/>
                <a:cs typeface="Arial"/>
              </a:rPr>
              <a:t>BITS </a:t>
            </a:r>
            <a:r>
              <a:rPr sz="1100" dirty="0">
                <a:solidFill>
                  <a:srgbClr val="0F1141"/>
                </a:solidFill>
                <a:latin typeface="Arial MT"/>
                <a:cs typeface="Arial MT"/>
              </a:rPr>
              <a:t>Pilani,</a:t>
            </a:r>
            <a:r>
              <a:rPr sz="1100" spc="30" dirty="0">
                <a:solidFill>
                  <a:srgbClr val="0F1141"/>
                </a:solidFill>
                <a:latin typeface="Arial MT"/>
                <a:cs typeface="Arial MT"/>
              </a:rPr>
              <a:t> </a:t>
            </a:r>
            <a:r>
              <a:rPr sz="1100" dirty="0">
                <a:solidFill>
                  <a:srgbClr val="0F1141"/>
                </a:solidFill>
                <a:latin typeface="Arial MT"/>
                <a:cs typeface="Arial MT"/>
              </a:rPr>
              <a:t>Deemed</a:t>
            </a:r>
            <a:r>
              <a:rPr sz="1100" spc="-10" dirty="0">
                <a:solidFill>
                  <a:srgbClr val="0F1141"/>
                </a:solidFill>
                <a:latin typeface="Arial MT"/>
                <a:cs typeface="Arial MT"/>
              </a:rPr>
              <a:t> </a:t>
            </a:r>
            <a:r>
              <a:rPr sz="1100" dirty="0">
                <a:solidFill>
                  <a:srgbClr val="0F1141"/>
                </a:solidFill>
                <a:latin typeface="Arial MT"/>
                <a:cs typeface="Arial MT"/>
              </a:rPr>
              <a:t>to</a:t>
            </a:r>
            <a:r>
              <a:rPr sz="1100" spc="-15" dirty="0">
                <a:solidFill>
                  <a:srgbClr val="0F1141"/>
                </a:solidFill>
                <a:latin typeface="Arial MT"/>
                <a:cs typeface="Arial MT"/>
              </a:rPr>
              <a:t> </a:t>
            </a:r>
            <a:r>
              <a:rPr sz="1100" dirty="0">
                <a:solidFill>
                  <a:srgbClr val="0F1141"/>
                </a:solidFill>
                <a:latin typeface="Arial MT"/>
                <a:cs typeface="Arial MT"/>
              </a:rPr>
              <a:t>be</a:t>
            </a:r>
            <a:r>
              <a:rPr sz="1100" spc="-5" dirty="0">
                <a:solidFill>
                  <a:srgbClr val="0F1141"/>
                </a:solidFill>
                <a:latin typeface="Arial MT"/>
                <a:cs typeface="Arial MT"/>
              </a:rPr>
              <a:t> </a:t>
            </a:r>
            <a:r>
              <a:rPr sz="1100" spc="-20" dirty="0">
                <a:solidFill>
                  <a:srgbClr val="0F1141"/>
                </a:solidFill>
                <a:latin typeface="Arial MT"/>
                <a:cs typeface="Arial MT"/>
              </a:rPr>
              <a:t>U</a:t>
            </a:r>
            <a:r>
              <a:rPr sz="1100" spc="-15" dirty="0">
                <a:solidFill>
                  <a:srgbClr val="0F1141"/>
                </a:solidFill>
                <a:latin typeface="Arial MT"/>
                <a:cs typeface="Arial MT"/>
              </a:rPr>
              <a:t>n</a:t>
            </a:r>
            <a:r>
              <a:rPr sz="1100" spc="-20" dirty="0">
                <a:solidFill>
                  <a:srgbClr val="0F1141"/>
                </a:solidFill>
                <a:latin typeface="Arial MT"/>
                <a:cs typeface="Arial MT"/>
              </a:rPr>
              <a:t>iv</a:t>
            </a:r>
            <a:r>
              <a:rPr sz="1100" spc="-5" dirty="0">
                <a:solidFill>
                  <a:srgbClr val="0F1141"/>
                </a:solidFill>
                <a:latin typeface="Arial MT"/>
                <a:cs typeface="Arial MT"/>
              </a:rPr>
              <a:t>ersit</a:t>
            </a:r>
            <a:r>
              <a:rPr sz="1100" spc="-225" dirty="0">
                <a:solidFill>
                  <a:srgbClr val="0F1141"/>
                </a:solidFill>
                <a:latin typeface="Arial MT"/>
                <a:cs typeface="Arial MT"/>
              </a:rPr>
              <a:t>y</a:t>
            </a:r>
            <a:r>
              <a:rPr sz="1800" spc="-340" dirty="0">
                <a:latin typeface="Calibri"/>
                <a:cs typeface="Calibri"/>
              </a:rPr>
              <a:t>T</a:t>
            </a:r>
            <a:r>
              <a:rPr sz="1100" spc="-285" dirty="0">
                <a:solidFill>
                  <a:srgbClr val="0F1141"/>
                </a:solidFill>
                <a:latin typeface="Arial MT"/>
                <a:cs typeface="Arial MT"/>
              </a:rPr>
              <a:t>u</a:t>
            </a:r>
            <a:r>
              <a:rPr sz="1800" spc="-140" dirty="0">
                <a:latin typeface="Calibri"/>
                <a:cs typeface="Calibri"/>
              </a:rPr>
              <a:t>i</a:t>
            </a:r>
            <a:r>
              <a:rPr sz="1100" spc="-495" dirty="0">
                <a:solidFill>
                  <a:srgbClr val="0F1141"/>
                </a:solidFill>
                <a:latin typeface="Arial MT"/>
                <a:cs typeface="Arial MT"/>
              </a:rPr>
              <a:t>n</a:t>
            </a:r>
            <a:r>
              <a:rPr sz="1800" spc="-960" dirty="0">
                <a:latin typeface="Calibri"/>
                <a:cs typeface="Calibri"/>
              </a:rPr>
              <a:t>m</a:t>
            </a:r>
            <a:r>
              <a:rPr sz="1100" spc="-10" dirty="0">
                <a:solidFill>
                  <a:srgbClr val="0F1141"/>
                </a:solidFill>
                <a:latin typeface="Arial MT"/>
                <a:cs typeface="Arial MT"/>
              </a:rPr>
              <a:t>d</a:t>
            </a:r>
            <a:r>
              <a:rPr sz="1100" spc="-280" dirty="0">
                <a:solidFill>
                  <a:srgbClr val="0F1141"/>
                </a:solidFill>
                <a:latin typeface="Arial MT"/>
                <a:cs typeface="Arial MT"/>
              </a:rPr>
              <a:t>e</a:t>
            </a:r>
            <a:r>
              <a:rPr sz="1800" spc="-645" dirty="0">
                <a:latin typeface="Calibri"/>
                <a:cs typeface="Calibri"/>
              </a:rPr>
              <a:t>e</a:t>
            </a:r>
            <a:r>
              <a:rPr sz="1100" spc="-5" dirty="0">
                <a:solidFill>
                  <a:srgbClr val="0F1141"/>
                </a:solidFill>
                <a:latin typeface="Arial MT"/>
                <a:cs typeface="Arial MT"/>
              </a:rPr>
              <a:t>r</a:t>
            </a:r>
            <a:r>
              <a:rPr sz="1100" spc="-10" dirty="0">
                <a:solidFill>
                  <a:srgbClr val="0F1141"/>
                </a:solidFill>
                <a:latin typeface="Arial MT"/>
                <a:cs typeface="Arial MT"/>
              </a:rPr>
              <a:t> </a:t>
            </a:r>
            <a:r>
              <a:rPr sz="1100" spc="-375" dirty="0">
                <a:solidFill>
                  <a:srgbClr val="0F1141"/>
                </a:solidFill>
                <a:latin typeface="Arial MT"/>
                <a:cs typeface="Arial MT"/>
              </a:rPr>
              <a:t>S</a:t>
            </a:r>
            <a:r>
              <a:rPr sz="1800" spc="-210" dirty="0">
                <a:latin typeface="Calibri"/>
                <a:cs typeface="Calibri"/>
              </a:rPr>
              <a:t>(</a:t>
            </a:r>
            <a:r>
              <a:rPr sz="1100" spc="-434" dirty="0">
                <a:solidFill>
                  <a:srgbClr val="0F1141"/>
                </a:solidFill>
                <a:latin typeface="Arial MT"/>
                <a:cs typeface="Arial MT"/>
              </a:rPr>
              <a:t>e</a:t>
            </a:r>
            <a:r>
              <a:rPr sz="1800" spc="-1030" dirty="0">
                <a:latin typeface="Calibri"/>
                <a:cs typeface="Calibri"/>
              </a:rPr>
              <a:t>m</a:t>
            </a:r>
            <a:r>
              <a:rPr sz="1100" spc="-15" dirty="0">
                <a:solidFill>
                  <a:srgbClr val="0F1141"/>
                </a:solidFill>
                <a:latin typeface="Arial MT"/>
                <a:cs typeface="Arial MT"/>
              </a:rPr>
              <a:t>ct</a:t>
            </a:r>
            <a:r>
              <a:rPr sz="1100" spc="-105" dirty="0">
                <a:solidFill>
                  <a:srgbClr val="0F1141"/>
                </a:solidFill>
                <a:latin typeface="Arial MT"/>
                <a:cs typeface="Arial MT"/>
              </a:rPr>
              <a:t>i</a:t>
            </a:r>
            <a:r>
              <a:rPr sz="1800" spc="-630" dirty="0">
                <a:latin typeface="Calibri"/>
                <a:cs typeface="Calibri"/>
              </a:rPr>
              <a:t>s</a:t>
            </a:r>
            <a:r>
              <a:rPr sz="1100" spc="-15" dirty="0">
                <a:solidFill>
                  <a:srgbClr val="0F1141"/>
                </a:solidFill>
                <a:latin typeface="Arial MT"/>
                <a:cs typeface="Arial MT"/>
              </a:rPr>
              <a:t>o</a:t>
            </a:r>
            <a:r>
              <a:rPr sz="1100" spc="-615" dirty="0">
                <a:solidFill>
                  <a:srgbClr val="0F1141"/>
                </a:solidFill>
                <a:latin typeface="Arial MT"/>
                <a:cs typeface="Arial MT"/>
              </a:rPr>
              <a:t>n</a:t>
            </a:r>
            <a:r>
              <a:rPr sz="1800" spc="-10" dirty="0">
                <a:latin typeface="Calibri"/>
                <a:cs typeface="Calibri"/>
              </a:rPr>
              <a:t>)</a:t>
            </a:r>
            <a:r>
              <a:rPr sz="1800" spc="-50" dirty="0">
                <a:latin typeface="Calibri"/>
                <a:cs typeface="Calibri"/>
              </a:rPr>
              <a:t> </a:t>
            </a:r>
            <a:r>
              <a:rPr sz="1100" dirty="0">
                <a:solidFill>
                  <a:srgbClr val="0F1141"/>
                </a:solidFill>
                <a:latin typeface="Arial MT"/>
                <a:cs typeface="Arial MT"/>
              </a:rPr>
              <a:t>3</a:t>
            </a:r>
            <a:r>
              <a:rPr sz="1100" spc="-5" dirty="0">
                <a:solidFill>
                  <a:srgbClr val="0F1141"/>
                </a:solidFill>
                <a:latin typeface="Arial MT"/>
                <a:cs typeface="Arial MT"/>
              </a:rPr>
              <a:t> </a:t>
            </a:r>
            <a:r>
              <a:rPr sz="1100" dirty="0">
                <a:solidFill>
                  <a:srgbClr val="0F1141"/>
                </a:solidFill>
                <a:latin typeface="Arial MT"/>
                <a:cs typeface="Arial MT"/>
              </a:rPr>
              <a:t>of</a:t>
            </a:r>
            <a:r>
              <a:rPr sz="1100" spc="-15" dirty="0">
                <a:solidFill>
                  <a:srgbClr val="0F1141"/>
                </a:solidFill>
                <a:latin typeface="Arial MT"/>
                <a:cs typeface="Arial MT"/>
              </a:rPr>
              <a:t> </a:t>
            </a:r>
            <a:r>
              <a:rPr sz="1100" dirty="0">
                <a:solidFill>
                  <a:srgbClr val="0F1141"/>
                </a:solidFill>
                <a:latin typeface="Arial MT"/>
                <a:cs typeface="Arial MT"/>
              </a:rPr>
              <a:t>UGC</a:t>
            </a:r>
            <a:r>
              <a:rPr sz="1100" spc="-10" dirty="0">
                <a:solidFill>
                  <a:srgbClr val="0F1141"/>
                </a:solidFill>
                <a:latin typeface="Arial MT"/>
                <a:cs typeface="Arial MT"/>
              </a:rPr>
              <a:t> </a:t>
            </a:r>
            <a:r>
              <a:rPr sz="1100" dirty="0">
                <a:solidFill>
                  <a:srgbClr val="0F1141"/>
                </a:solidFill>
                <a:latin typeface="Arial MT"/>
                <a:cs typeface="Arial MT"/>
              </a:rPr>
              <a:t>Act,</a:t>
            </a:r>
            <a:r>
              <a:rPr sz="1100" spc="-10" dirty="0">
                <a:solidFill>
                  <a:srgbClr val="0F1141"/>
                </a:solidFill>
                <a:latin typeface="Arial MT"/>
                <a:cs typeface="Arial MT"/>
              </a:rPr>
              <a:t> </a:t>
            </a:r>
            <a:r>
              <a:rPr sz="1100" spc="-20" dirty="0">
                <a:solidFill>
                  <a:srgbClr val="0F1141"/>
                </a:solidFill>
                <a:latin typeface="Arial MT"/>
                <a:cs typeface="Arial MT"/>
              </a:rPr>
              <a:t>1956</a:t>
            </a:r>
            <a:endParaRPr sz="1100">
              <a:latin typeface="Arial MT"/>
              <a:cs typeface="Arial MT"/>
            </a:endParaRPr>
          </a:p>
        </p:txBody>
      </p:sp>
    </p:spTree>
    <p:extLst>
      <p:ext uri="{BB962C8B-B14F-4D97-AF65-F5344CB8AC3E}">
        <p14:creationId xmlns:p14="http://schemas.microsoft.com/office/powerpoint/2010/main" val="1538074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F2F9-7E4A-0C25-F186-771DBCCC17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0970809-7798-2872-B98B-7F7889996886}"/>
              </a:ext>
            </a:extLst>
          </p:cNvPr>
          <p:cNvSpPr txBox="1"/>
          <p:nvPr/>
        </p:nvSpPr>
        <p:spPr>
          <a:xfrm>
            <a:off x="80138" y="1443355"/>
            <a:ext cx="8835262" cy="4795544"/>
          </a:xfrm>
          <a:prstGeom prst="rect">
            <a:avLst/>
          </a:prstGeom>
        </p:spPr>
        <p:txBody>
          <a:bodyPr vert="horz" wrap="square" lIns="0" tIns="85725" rIns="0" bIns="0" rtlCol="0">
            <a:spAutoFit/>
          </a:bodyPr>
          <a:lstStyle/>
          <a:p>
            <a:pPr>
              <a:buNone/>
            </a:pPr>
            <a:r>
              <a:rPr lang="en-US" b="1" dirty="0"/>
              <a:t>Types of Duplexing Techniques</a:t>
            </a:r>
          </a:p>
          <a:p>
            <a:pPr>
              <a:buNone/>
            </a:pPr>
            <a:r>
              <a:rPr lang="en-US" b="1" dirty="0"/>
              <a:t>🔹 FDD (Frequency Division Duplex):</a:t>
            </a:r>
          </a:p>
          <a:p>
            <a:pPr>
              <a:buFont typeface="Arial" panose="020B0604020202020204" pitchFamily="34" charset="0"/>
              <a:buChar char="•"/>
            </a:pPr>
            <a:r>
              <a:rPr lang="en-US" dirty="0"/>
              <a:t>Uses </a:t>
            </a:r>
            <a:r>
              <a:rPr lang="en-US" b="1" dirty="0"/>
              <a:t>two separate frequencies</a:t>
            </a:r>
            <a:r>
              <a:rPr lang="en-US" dirty="0"/>
              <a:t>:</a:t>
            </a:r>
          </a:p>
          <a:p>
            <a:pPr marL="742950" lvl="1" indent="-285750">
              <a:buFont typeface="Arial" panose="020B0604020202020204" pitchFamily="34" charset="0"/>
              <a:buChar char="•"/>
            </a:pPr>
            <a:r>
              <a:rPr lang="en-US" dirty="0"/>
              <a:t>One for </a:t>
            </a:r>
            <a:r>
              <a:rPr lang="en-US" b="1" dirty="0"/>
              <a:t>uplink</a:t>
            </a:r>
            <a:r>
              <a:rPr lang="en-US" dirty="0"/>
              <a:t> (mobile to base station).</a:t>
            </a:r>
          </a:p>
          <a:p>
            <a:pPr marL="742950" lvl="1" indent="-285750">
              <a:buFont typeface="Arial" panose="020B0604020202020204" pitchFamily="34" charset="0"/>
              <a:buChar char="•"/>
            </a:pPr>
            <a:r>
              <a:rPr lang="en-US" dirty="0"/>
              <a:t>One for </a:t>
            </a:r>
            <a:r>
              <a:rPr lang="en-US" b="1" dirty="0"/>
              <a:t>downlink</a:t>
            </a:r>
            <a:r>
              <a:rPr lang="en-US" dirty="0"/>
              <a:t> (base station to mobile).</a:t>
            </a:r>
          </a:p>
          <a:p>
            <a:pPr>
              <a:buFont typeface="Arial" panose="020B0604020202020204" pitchFamily="34" charset="0"/>
              <a:buChar char="•"/>
            </a:pPr>
            <a:r>
              <a:rPr lang="en-US" dirty="0"/>
              <a:t>Allows </a:t>
            </a:r>
            <a:r>
              <a:rPr lang="en-US" b="1" dirty="0"/>
              <a:t>simultaneous transmission and reception</a:t>
            </a:r>
            <a:r>
              <a:rPr lang="en-US" dirty="0"/>
              <a:t>.</a:t>
            </a:r>
          </a:p>
          <a:p>
            <a:pPr>
              <a:buNone/>
            </a:pPr>
            <a:r>
              <a:rPr lang="en-US" b="1" dirty="0"/>
              <a:t>🔹 TDD (Time Division Duplex):</a:t>
            </a:r>
          </a:p>
          <a:p>
            <a:pPr>
              <a:buFont typeface="Arial" panose="020B0604020202020204" pitchFamily="34" charset="0"/>
              <a:buChar char="•"/>
            </a:pPr>
            <a:r>
              <a:rPr lang="en-US" dirty="0"/>
              <a:t>Uses a </a:t>
            </a:r>
            <a:r>
              <a:rPr lang="en-US" b="1" dirty="0"/>
              <a:t>single frequency</a:t>
            </a:r>
            <a:r>
              <a:rPr lang="en-US" dirty="0"/>
              <a:t>, but transmission is divided in </a:t>
            </a:r>
            <a:r>
              <a:rPr lang="en-US" b="1" dirty="0"/>
              <a:t>time slots</a:t>
            </a:r>
            <a:r>
              <a:rPr lang="en-US" dirty="0"/>
              <a:t>.</a:t>
            </a:r>
          </a:p>
          <a:p>
            <a:pPr>
              <a:buFont typeface="Arial" panose="020B0604020202020204" pitchFamily="34" charset="0"/>
              <a:buChar char="•"/>
            </a:pPr>
            <a:r>
              <a:rPr lang="en-US" dirty="0"/>
              <a:t>One time slot for </a:t>
            </a:r>
            <a:r>
              <a:rPr lang="en-US" b="1" dirty="0"/>
              <a:t>uplink</a:t>
            </a:r>
            <a:r>
              <a:rPr lang="en-US" dirty="0"/>
              <a:t>, another for </a:t>
            </a:r>
            <a:r>
              <a:rPr lang="en-US" b="1" dirty="0"/>
              <a:t>downlink</a:t>
            </a:r>
            <a:r>
              <a:rPr lang="en-US" dirty="0"/>
              <a:t>.</a:t>
            </a:r>
          </a:p>
          <a:p>
            <a:pPr>
              <a:buFont typeface="Arial" panose="020B0604020202020204" pitchFamily="34" charset="0"/>
              <a:buChar char="•"/>
            </a:pPr>
            <a:r>
              <a:rPr lang="en-US" dirty="0"/>
              <a:t>No simultaneous communication—alternates direction over time.</a:t>
            </a:r>
          </a:p>
          <a:p>
            <a:pPr>
              <a:buFont typeface="Arial" panose="020B0604020202020204" pitchFamily="34" charset="0"/>
              <a:buChar char="•"/>
            </a:pPr>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a:t>
            </a:r>
            <a:r>
              <a:rPr kumimoji="0" lang="en-US" altLang="en-US" sz="1800" b="1" i="0" u="none" strike="noStrike" cap="none" normalizeH="0" baseline="0" dirty="0">
                <a:ln>
                  <a:noFill/>
                </a:ln>
                <a:solidFill>
                  <a:schemeClr val="tx1"/>
                </a:solidFill>
                <a:effectLst/>
                <a:latin typeface="Arial" panose="020B0604020202020204" pitchFamily="34" charset="0"/>
              </a:rPr>
              <a:t>FDD</a:t>
            </a:r>
            <a:r>
              <a:rPr kumimoji="0" lang="en-US" altLang="en-US" sz="1800" b="0" i="0" u="none" strike="noStrike" cap="none" normalizeH="0" baseline="0" dirty="0">
                <a:ln>
                  <a:noFill/>
                </a:ln>
                <a:solidFill>
                  <a:schemeClr val="tx1"/>
                </a:solidFill>
                <a:effectLst/>
                <a:latin typeface="Arial" panose="020B0604020202020204" pitchFamily="34" charset="0"/>
              </a:rPr>
              <a:t>, uplink and downlink happen </a:t>
            </a:r>
            <a:r>
              <a:rPr kumimoji="0" lang="en-US" altLang="en-US" sz="1800" b="1" i="0" u="none" strike="noStrike" cap="none" normalizeH="0" baseline="0" dirty="0">
                <a:ln>
                  <a:noFill/>
                </a:ln>
                <a:solidFill>
                  <a:schemeClr val="tx1"/>
                </a:solidFill>
                <a:effectLst/>
                <a:latin typeface="Arial" panose="020B0604020202020204" pitchFamily="34" charset="0"/>
              </a:rPr>
              <a:t>at the same time</a:t>
            </a:r>
            <a:r>
              <a:rPr kumimoji="0" lang="en-US" altLang="en-US" sz="1800" b="0" i="0" u="none" strike="noStrike" cap="none" normalizeH="0" baseline="0" dirty="0">
                <a:ln>
                  <a:noFill/>
                </a:ln>
                <a:solidFill>
                  <a:schemeClr val="tx1"/>
                </a:solidFill>
                <a:effectLst/>
                <a:latin typeface="Arial" panose="020B0604020202020204" pitchFamily="34" charset="0"/>
              </a:rPr>
              <a:t> but on </a:t>
            </a:r>
            <a:r>
              <a:rPr kumimoji="0" lang="en-US" altLang="en-US" sz="1800" b="1" i="0" u="none" strike="noStrike" cap="none" normalizeH="0" baseline="0" dirty="0">
                <a:ln>
                  <a:noFill/>
                </a:ln>
                <a:solidFill>
                  <a:schemeClr val="tx1"/>
                </a:solidFill>
                <a:effectLst/>
                <a:latin typeface="Arial" panose="020B0604020202020204" pitchFamily="34" charset="0"/>
              </a:rPr>
              <a:t>different frequencies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a:t>
            </a:r>
            <a:r>
              <a:rPr kumimoji="0" lang="en-US" altLang="en-US" sz="1800" b="1" i="0" u="none" strike="noStrike" cap="none" normalizeH="0" baseline="0" dirty="0">
                <a:ln>
                  <a:noFill/>
                </a:ln>
                <a:solidFill>
                  <a:schemeClr val="tx1"/>
                </a:solidFill>
                <a:effectLst/>
                <a:latin typeface="Arial" panose="020B0604020202020204" pitchFamily="34" charset="0"/>
              </a:rPr>
              <a:t>TDD</a:t>
            </a:r>
            <a:r>
              <a:rPr kumimoji="0" lang="en-US" altLang="en-US" sz="1800" b="0" i="0" u="none" strike="noStrike" cap="none" normalizeH="0" baseline="0" dirty="0">
                <a:ln>
                  <a:noFill/>
                </a:ln>
                <a:solidFill>
                  <a:schemeClr val="tx1"/>
                </a:solidFill>
                <a:effectLst/>
                <a:latin typeface="Arial" panose="020B0604020202020204" pitchFamily="34" charset="0"/>
              </a:rPr>
              <a:t>, the same frequency is used but </a:t>
            </a:r>
            <a:r>
              <a:rPr kumimoji="0" lang="en-US" altLang="en-US" sz="1800" b="1" i="0" u="none" strike="noStrike" cap="none" normalizeH="0" baseline="0" dirty="0">
                <a:ln>
                  <a:noFill/>
                </a:ln>
                <a:solidFill>
                  <a:schemeClr val="tx1"/>
                </a:solidFill>
                <a:effectLst/>
                <a:latin typeface="Arial" panose="020B0604020202020204" pitchFamily="34" charset="0"/>
              </a:rPr>
              <a:t>alternates over time</a:t>
            </a:r>
            <a:r>
              <a:rPr kumimoji="0" lang="en-US" altLang="en-US" sz="1800" b="0" i="0" u="none" strike="noStrike" cap="none" normalizeH="0" baseline="0" dirty="0">
                <a:ln>
                  <a:noFill/>
                </a:ln>
                <a:solidFill>
                  <a:schemeClr val="tx1"/>
                </a:solidFill>
                <a:effectLst/>
                <a:latin typeface="Arial" panose="020B0604020202020204" pitchFamily="34" charset="0"/>
              </a:rPr>
              <a:t> for uplink and downlink.</a:t>
            </a:r>
          </a:p>
          <a:p>
            <a:endParaRPr lang="en-US" dirty="0"/>
          </a:p>
          <a:p>
            <a:r>
              <a:rPr lang="en-US" dirty="0"/>
              <a:t>The choice of simplex, semi-duplex, or full-duplex depends on the application needs. FDD is suitable for continuous high-data services, while TDD is more flexible and cost-effective.</a:t>
            </a:r>
          </a:p>
        </p:txBody>
      </p:sp>
      <p:sp>
        <p:nvSpPr>
          <p:cNvPr id="3" name="object 3">
            <a:extLst>
              <a:ext uri="{FF2B5EF4-FFF2-40B4-BE49-F238E27FC236}">
                <a16:creationId xmlns:a16="http://schemas.microsoft.com/office/drawing/2014/main" id="{3B65F7FB-A4D5-CB2E-212C-990ED0CD840E}"/>
              </a:ext>
            </a:extLst>
          </p:cNvPr>
          <p:cNvSpPr txBox="1">
            <a:spLocks noGrp="1"/>
          </p:cNvSpPr>
          <p:nvPr>
            <p:ph type="title"/>
          </p:nvPr>
        </p:nvSpPr>
        <p:spPr>
          <a:xfrm>
            <a:off x="383540" y="150367"/>
            <a:ext cx="4685665" cy="1031875"/>
          </a:xfrm>
          <a:prstGeom prst="rect">
            <a:avLst/>
          </a:prstGeom>
        </p:spPr>
        <p:txBody>
          <a:bodyPr vert="horz" wrap="square" lIns="0" tIns="104139" rIns="0" bIns="0" rtlCol="0">
            <a:spAutoFit/>
          </a:bodyPr>
          <a:lstStyle/>
          <a:p>
            <a:pPr marL="12700" marR="5080">
              <a:lnSpc>
                <a:spcPts val="3600"/>
              </a:lnSpc>
              <a:spcBef>
                <a:spcPts val="819"/>
              </a:spcBef>
            </a:pPr>
            <a:r>
              <a:rPr b="0" i="1" spc="-150" dirty="0">
                <a:latin typeface="Arial"/>
                <a:cs typeface="Arial"/>
              </a:rPr>
              <a:t>Direction</a:t>
            </a:r>
            <a:r>
              <a:rPr b="0" i="1" spc="-240" dirty="0">
                <a:latin typeface="Arial"/>
                <a:cs typeface="Arial"/>
              </a:rPr>
              <a:t> </a:t>
            </a:r>
            <a:r>
              <a:rPr b="0" i="1" spc="-85" dirty="0">
                <a:latin typeface="Arial"/>
                <a:cs typeface="Arial"/>
              </a:rPr>
              <a:t>of</a:t>
            </a:r>
            <a:r>
              <a:rPr b="0" i="1" spc="-270" dirty="0">
                <a:latin typeface="Arial"/>
                <a:cs typeface="Arial"/>
              </a:rPr>
              <a:t> </a:t>
            </a:r>
            <a:r>
              <a:rPr b="0" i="1" spc="-165" dirty="0">
                <a:latin typeface="Arial"/>
                <a:cs typeface="Arial"/>
              </a:rPr>
              <a:t>Transmission </a:t>
            </a:r>
            <a:r>
              <a:rPr b="0" i="1" spc="-130" dirty="0">
                <a:latin typeface="Arial"/>
                <a:cs typeface="Arial"/>
              </a:rPr>
              <a:t>(</a:t>
            </a:r>
            <a:r>
              <a:rPr b="0" spc="-130" dirty="0">
                <a:latin typeface="Arial MT"/>
                <a:cs typeface="Arial MT"/>
              </a:rPr>
              <a:t>The</a:t>
            </a:r>
            <a:r>
              <a:rPr b="0" spc="-254" dirty="0">
                <a:latin typeface="Arial MT"/>
                <a:cs typeface="Arial MT"/>
              </a:rPr>
              <a:t> </a:t>
            </a:r>
            <a:r>
              <a:rPr b="0" spc="-140" dirty="0">
                <a:latin typeface="Arial MT"/>
                <a:cs typeface="Arial MT"/>
              </a:rPr>
              <a:t>duplex</a:t>
            </a:r>
            <a:r>
              <a:rPr b="0" spc="-245" dirty="0">
                <a:latin typeface="Arial MT"/>
                <a:cs typeface="Arial MT"/>
              </a:rPr>
              <a:t> </a:t>
            </a:r>
            <a:r>
              <a:rPr b="0" spc="-145" dirty="0">
                <a:latin typeface="Arial MT"/>
                <a:cs typeface="Arial MT"/>
              </a:rPr>
              <a:t>concept</a:t>
            </a:r>
            <a:r>
              <a:rPr b="0" spc="-240" dirty="0">
                <a:latin typeface="Arial MT"/>
                <a:cs typeface="Arial MT"/>
              </a:rPr>
              <a:t> </a:t>
            </a:r>
            <a:r>
              <a:rPr spc="-50" dirty="0"/>
              <a:t>)</a:t>
            </a:r>
          </a:p>
        </p:txBody>
      </p:sp>
      <p:sp>
        <p:nvSpPr>
          <p:cNvPr id="12" name="object 12">
            <a:extLst>
              <a:ext uri="{FF2B5EF4-FFF2-40B4-BE49-F238E27FC236}">
                <a16:creationId xmlns:a16="http://schemas.microsoft.com/office/drawing/2014/main" id="{114D2FD6-738B-371E-77AB-B71924E7F19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53</a:t>
            </a:fld>
            <a:endParaRPr spc="-25" dirty="0"/>
          </a:p>
        </p:txBody>
      </p:sp>
      <p:sp>
        <p:nvSpPr>
          <p:cNvPr id="13" name="object 13">
            <a:extLst>
              <a:ext uri="{FF2B5EF4-FFF2-40B4-BE49-F238E27FC236}">
                <a16:creationId xmlns:a16="http://schemas.microsoft.com/office/drawing/2014/main" id="{DD63F831-F75D-9FF7-E1F1-25B707028B2A}"/>
              </a:ext>
            </a:extLst>
          </p:cNvPr>
          <p:cNvSpPr txBox="1"/>
          <p:nvPr/>
        </p:nvSpPr>
        <p:spPr>
          <a:xfrm>
            <a:off x="2157222" y="6565036"/>
            <a:ext cx="948690" cy="254000"/>
          </a:xfrm>
          <a:prstGeom prst="rect">
            <a:avLst/>
          </a:prstGeom>
        </p:spPr>
        <p:txBody>
          <a:bodyPr vert="horz" wrap="square" lIns="0" tIns="0" rIns="0" bIns="0" rtlCol="0">
            <a:spAutoFit/>
          </a:bodyPr>
          <a:lstStyle/>
          <a:p>
            <a:pPr marL="12700">
              <a:lnSpc>
                <a:spcPts val="1810"/>
              </a:lnSpc>
            </a:pPr>
            <a:r>
              <a:rPr sz="1800" dirty="0">
                <a:latin typeface="Calibri"/>
                <a:cs typeface="Calibri"/>
              </a:rPr>
              <a:t>Time</a:t>
            </a:r>
            <a:r>
              <a:rPr sz="1800" spc="-30" dirty="0">
                <a:latin typeface="Calibri"/>
                <a:cs typeface="Calibri"/>
              </a:rPr>
              <a:t> </a:t>
            </a:r>
            <a:r>
              <a:rPr sz="1800" spc="-20" dirty="0">
                <a:latin typeface="Calibri"/>
                <a:cs typeface="Calibri"/>
              </a:rPr>
              <a:t>(ms)</a:t>
            </a:r>
            <a:endParaRPr sz="1800">
              <a:latin typeface="Calibri"/>
              <a:cs typeface="Calibri"/>
            </a:endParaRPr>
          </a:p>
        </p:txBody>
      </p:sp>
      <p:sp>
        <p:nvSpPr>
          <p:cNvPr id="14" name="object 14">
            <a:extLst>
              <a:ext uri="{FF2B5EF4-FFF2-40B4-BE49-F238E27FC236}">
                <a16:creationId xmlns:a16="http://schemas.microsoft.com/office/drawing/2014/main" id="{C8A8BA52-8401-B198-1599-314843F3FE4C}"/>
              </a:ext>
            </a:extLst>
          </p:cNvPr>
          <p:cNvSpPr txBox="1"/>
          <p:nvPr/>
        </p:nvSpPr>
        <p:spPr>
          <a:xfrm>
            <a:off x="4585842" y="6592163"/>
            <a:ext cx="4478020" cy="254000"/>
          </a:xfrm>
          <a:prstGeom prst="rect">
            <a:avLst/>
          </a:prstGeom>
        </p:spPr>
        <p:txBody>
          <a:bodyPr vert="horz" wrap="square" lIns="0" tIns="0" rIns="0" bIns="0" rtlCol="0">
            <a:spAutoFit/>
          </a:bodyPr>
          <a:lstStyle/>
          <a:p>
            <a:pPr marL="12700">
              <a:lnSpc>
                <a:spcPts val="1830"/>
              </a:lnSpc>
            </a:pPr>
            <a:r>
              <a:rPr sz="1100" b="1" dirty="0">
                <a:solidFill>
                  <a:srgbClr val="0F1141"/>
                </a:solidFill>
                <a:latin typeface="Arial"/>
                <a:cs typeface="Arial"/>
              </a:rPr>
              <a:t>BITS </a:t>
            </a:r>
            <a:r>
              <a:rPr sz="1100" dirty="0">
                <a:solidFill>
                  <a:srgbClr val="0F1141"/>
                </a:solidFill>
                <a:latin typeface="Arial MT"/>
                <a:cs typeface="Arial MT"/>
              </a:rPr>
              <a:t>Pilani,</a:t>
            </a:r>
            <a:r>
              <a:rPr sz="1100" spc="30" dirty="0">
                <a:solidFill>
                  <a:srgbClr val="0F1141"/>
                </a:solidFill>
                <a:latin typeface="Arial MT"/>
                <a:cs typeface="Arial MT"/>
              </a:rPr>
              <a:t> </a:t>
            </a:r>
            <a:r>
              <a:rPr sz="1100" dirty="0">
                <a:solidFill>
                  <a:srgbClr val="0F1141"/>
                </a:solidFill>
                <a:latin typeface="Arial MT"/>
                <a:cs typeface="Arial MT"/>
              </a:rPr>
              <a:t>Deemed</a:t>
            </a:r>
            <a:r>
              <a:rPr sz="1100" spc="-10" dirty="0">
                <a:solidFill>
                  <a:srgbClr val="0F1141"/>
                </a:solidFill>
                <a:latin typeface="Arial MT"/>
                <a:cs typeface="Arial MT"/>
              </a:rPr>
              <a:t> </a:t>
            </a:r>
            <a:r>
              <a:rPr sz="1100" dirty="0">
                <a:solidFill>
                  <a:srgbClr val="0F1141"/>
                </a:solidFill>
                <a:latin typeface="Arial MT"/>
                <a:cs typeface="Arial MT"/>
              </a:rPr>
              <a:t>to</a:t>
            </a:r>
            <a:r>
              <a:rPr sz="1100" spc="-15" dirty="0">
                <a:solidFill>
                  <a:srgbClr val="0F1141"/>
                </a:solidFill>
                <a:latin typeface="Arial MT"/>
                <a:cs typeface="Arial MT"/>
              </a:rPr>
              <a:t> </a:t>
            </a:r>
            <a:r>
              <a:rPr sz="1100" dirty="0">
                <a:solidFill>
                  <a:srgbClr val="0F1141"/>
                </a:solidFill>
                <a:latin typeface="Arial MT"/>
                <a:cs typeface="Arial MT"/>
              </a:rPr>
              <a:t>be</a:t>
            </a:r>
            <a:r>
              <a:rPr sz="1100" spc="-5" dirty="0">
                <a:solidFill>
                  <a:srgbClr val="0F1141"/>
                </a:solidFill>
                <a:latin typeface="Arial MT"/>
                <a:cs typeface="Arial MT"/>
              </a:rPr>
              <a:t> </a:t>
            </a:r>
            <a:r>
              <a:rPr sz="1100" spc="-20" dirty="0">
                <a:solidFill>
                  <a:srgbClr val="0F1141"/>
                </a:solidFill>
                <a:latin typeface="Arial MT"/>
                <a:cs typeface="Arial MT"/>
              </a:rPr>
              <a:t>U</a:t>
            </a:r>
            <a:r>
              <a:rPr sz="1100" spc="-15" dirty="0">
                <a:solidFill>
                  <a:srgbClr val="0F1141"/>
                </a:solidFill>
                <a:latin typeface="Arial MT"/>
                <a:cs typeface="Arial MT"/>
              </a:rPr>
              <a:t>n</a:t>
            </a:r>
            <a:r>
              <a:rPr sz="1100" spc="-20" dirty="0">
                <a:solidFill>
                  <a:srgbClr val="0F1141"/>
                </a:solidFill>
                <a:latin typeface="Arial MT"/>
                <a:cs typeface="Arial MT"/>
              </a:rPr>
              <a:t>iv</a:t>
            </a:r>
            <a:r>
              <a:rPr sz="1100" spc="-5" dirty="0">
                <a:solidFill>
                  <a:srgbClr val="0F1141"/>
                </a:solidFill>
                <a:latin typeface="Arial MT"/>
                <a:cs typeface="Arial MT"/>
              </a:rPr>
              <a:t>ersit</a:t>
            </a:r>
            <a:r>
              <a:rPr sz="1100" spc="-225" dirty="0">
                <a:solidFill>
                  <a:srgbClr val="0F1141"/>
                </a:solidFill>
                <a:latin typeface="Arial MT"/>
                <a:cs typeface="Arial MT"/>
              </a:rPr>
              <a:t>y</a:t>
            </a:r>
            <a:r>
              <a:rPr sz="1800" spc="-340" dirty="0">
                <a:latin typeface="Calibri"/>
                <a:cs typeface="Calibri"/>
              </a:rPr>
              <a:t>T</a:t>
            </a:r>
            <a:r>
              <a:rPr sz="1100" spc="-285" dirty="0">
                <a:solidFill>
                  <a:srgbClr val="0F1141"/>
                </a:solidFill>
                <a:latin typeface="Arial MT"/>
                <a:cs typeface="Arial MT"/>
              </a:rPr>
              <a:t>u</a:t>
            </a:r>
            <a:r>
              <a:rPr sz="1800" spc="-140" dirty="0">
                <a:latin typeface="Calibri"/>
                <a:cs typeface="Calibri"/>
              </a:rPr>
              <a:t>i</a:t>
            </a:r>
            <a:r>
              <a:rPr sz="1100" spc="-495" dirty="0">
                <a:solidFill>
                  <a:srgbClr val="0F1141"/>
                </a:solidFill>
                <a:latin typeface="Arial MT"/>
                <a:cs typeface="Arial MT"/>
              </a:rPr>
              <a:t>n</a:t>
            </a:r>
            <a:r>
              <a:rPr sz="1800" spc="-960" dirty="0">
                <a:latin typeface="Calibri"/>
                <a:cs typeface="Calibri"/>
              </a:rPr>
              <a:t>m</a:t>
            </a:r>
            <a:r>
              <a:rPr sz="1100" spc="-10" dirty="0">
                <a:solidFill>
                  <a:srgbClr val="0F1141"/>
                </a:solidFill>
                <a:latin typeface="Arial MT"/>
                <a:cs typeface="Arial MT"/>
              </a:rPr>
              <a:t>d</a:t>
            </a:r>
            <a:r>
              <a:rPr sz="1100" spc="-280" dirty="0">
                <a:solidFill>
                  <a:srgbClr val="0F1141"/>
                </a:solidFill>
                <a:latin typeface="Arial MT"/>
                <a:cs typeface="Arial MT"/>
              </a:rPr>
              <a:t>e</a:t>
            </a:r>
            <a:r>
              <a:rPr sz="1800" spc="-645" dirty="0">
                <a:latin typeface="Calibri"/>
                <a:cs typeface="Calibri"/>
              </a:rPr>
              <a:t>e</a:t>
            </a:r>
            <a:r>
              <a:rPr sz="1100" spc="-5" dirty="0">
                <a:solidFill>
                  <a:srgbClr val="0F1141"/>
                </a:solidFill>
                <a:latin typeface="Arial MT"/>
                <a:cs typeface="Arial MT"/>
              </a:rPr>
              <a:t>r</a:t>
            </a:r>
            <a:r>
              <a:rPr sz="1100" spc="-10" dirty="0">
                <a:solidFill>
                  <a:srgbClr val="0F1141"/>
                </a:solidFill>
                <a:latin typeface="Arial MT"/>
                <a:cs typeface="Arial MT"/>
              </a:rPr>
              <a:t> </a:t>
            </a:r>
            <a:r>
              <a:rPr sz="1100" spc="-375" dirty="0">
                <a:solidFill>
                  <a:srgbClr val="0F1141"/>
                </a:solidFill>
                <a:latin typeface="Arial MT"/>
                <a:cs typeface="Arial MT"/>
              </a:rPr>
              <a:t>S</a:t>
            </a:r>
            <a:r>
              <a:rPr sz="1800" spc="-210" dirty="0">
                <a:latin typeface="Calibri"/>
                <a:cs typeface="Calibri"/>
              </a:rPr>
              <a:t>(</a:t>
            </a:r>
            <a:r>
              <a:rPr sz="1100" spc="-434" dirty="0">
                <a:solidFill>
                  <a:srgbClr val="0F1141"/>
                </a:solidFill>
                <a:latin typeface="Arial MT"/>
                <a:cs typeface="Arial MT"/>
              </a:rPr>
              <a:t>e</a:t>
            </a:r>
            <a:r>
              <a:rPr sz="1800" spc="-1030" dirty="0">
                <a:latin typeface="Calibri"/>
                <a:cs typeface="Calibri"/>
              </a:rPr>
              <a:t>m</a:t>
            </a:r>
            <a:r>
              <a:rPr sz="1100" spc="-15" dirty="0">
                <a:solidFill>
                  <a:srgbClr val="0F1141"/>
                </a:solidFill>
                <a:latin typeface="Arial MT"/>
                <a:cs typeface="Arial MT"/>
              </a:rPr>
              <a:t>ct</a:t>
            </a:r>
            <a:r>
              <a:rPr sz="1100" spc="-105" dirty="0">
                <a:solidFill>
                  <a:srgbClr val="0F1141"/>
                </a:solidFill>
                <a:latin typeface="Arial MT"/>
                <a:cs typeface="Arial MT"/>
              </a:rPr>
              <a:t>i</a:t>
            </a:r>
            <a:r>
              <a:rPr sz="1800" spc="-630" dirty="0">
                <a:latin typeface="Calibri"/>
                <a:cs typeface="Calibri"/>
              </a:rPr>
              <a:t>s</a:t>
            </a:r>
            <a:r>
              <a:rPr sz="1100" spc="-15" dirty="0">
                <a:solidFill>
                  <a:srgbClr val="0F1141"/>
                </a:solidFill>
                <a:latin typeface="Arial MT"/>
                <a:cs typeface="Arial MT"/>
              </a:rPr>
              <a:t>o</a:t>
            </a:r>
            <a:r>
              <a:rPr sz="1100" spc="-615" dirty="0">
                <a:solidFill>
                  <a:srgbClr val="0F1141"/>
                </a:solidFill>
                <a:latin typeface="Arial MT"/>
                <a:cs typeface="Arial MT"/>
              </a:rPr>
              <a:t>n</a:t>
            </a:r>
            <a:r>
              <a:rPr sz="1800" spc="-10" dirty="0">
                <a:latin typeface="Calibri"/>
                <a:cs typeface="Calibri"/>
              </a:rPr>
              <a:t>)</a:t>
            </a:r>
            <a:r>
              <a:rPr sz="1800" spc="-50" dirty="0">
                <a:latin typeface="Calibri"/>
                <a:cs typeface="Calibri"/>
              </a:rPr>
              <a:t> </a:t>
            </a:r>
            <a:r>
              <a:rPr sz="1100" dirty="0">
                <a:solidFill>
                  <a:srgbClr val="0F1141"/>
                </a:solidFill>
                <a:latin typeface="Arial MT"/>
                <a:cs typeface="Arial MT"/>
              </a:rPr>
              <a:t>3</a:t>
            </a:r>
            <a:r>
              <a:rPr sz="1100" spc="-5" dirty="0">
                <a:solidFill>
                  <a:srgbClr val="0F1141"/>
                </a:solidFill>
                <a:latin typeface="Arial MT"/>
                <a:cs typeface="Arial MT"/>
              </a:rPr>
              <a:t> </a:t>
            </a:r>
            <a:r>
              <a:rPr sz="1100" dirty="0">
                <a:solidFill>
                  <a:srgbClr val="0F1141"/>
                </a:solidFill>
                <a:latin typeface="Arial MT"/>
                <a:cs typeface="Arial MT"/>
              </a:rPr>
              <a:t>of</a:t>
            </a:r>
            <a:r>
              <a:rPr sz="1100" spc="-15" dirty="0">
                <a:solidFill>
                  <a:srgbClr val="0F1141"/>
                </a:solidFill>
                <a:latin typeface="Arial MT"/>
                <a:cs typeface="Arial MT"/>
              </a:rPr>
              <a:t> </a:t>
            </a:r>
            <a:r>
              <a:rPr sz="1100" dirty="0">
                <a:solidFill>
                  <a:srgbClr val="0F1141"/>
                </a:solidFill>
                <a:latin typeface="Arial MT"/>
                <a:cs typeface="Arial MT"/>
              </a:rPr>
              <a:t>UGC</a:t>
            </a:r>
            <a:r>
              <a:rPr sz="1100" spc="-10" dirty="0">
                <a:solidFill>
                  <a:srgbClr val="0F1141"/>
                </a:solidFill>
                <a:latin typeface="Arial MT"/>
                <a:cs typeface="Arial MT"/>
              </a:rPr>
              <a:t> </a:t>
            </a:r>
            <a:r>
              <a:rPr sz="1100" dirty="0">
                <a:solidFill>
                  <a:srgbClr val="0F1141"/>
                </a:solidFill>
                <a:latin typeface="Arial MT"/>
                <a:cs typeface="Arial MT"/>
              </a:rPr>
              <a:t>Act,</a:t>
            </a:r>
            <a:r>
              <a:rPr sz="1100" spc="-10" dirty="0">
                <a:solidFill>
                  <a:srgbClr val="0F1141"/>
                </a:solidFill>
                <a:latin typeface="Arial MT"/>
                <a:cs typeface="Arial MT"/>
              </a:rPr>
              <a:t> </a:t>
            </a:r>
            <a:r>
              <a:rPr sz="1100" spc="-20" dirty="0">
                <a:solidFill>
                  <a:srgbClr val="0F1141"/>
                </a:solidFill>
                <a:latin typeface="Arial MT"/>
                <a:cs typeface="Arial MT"/>
              </a:rPr>
              <a:t>1956</a:t>
            </a:r>
            <a:endParaRPr sz="1100">
              <a:latin typeface="Arial MT"/>
              <a:cs typeface="Arial MT"/>
            </a:endParaRPr>
          </a:p>
        </p:txBody>
      </p:sp>
    </p:spTree>
    <p:extLst>
      <p:ext uri="{BB962C8B-B14F-4D97-AF65-F5344CB8AC3E}">
        <p14:creationId xmlns:p14="http://schemas.microsoft.com/office/powerpoint/2010/main" val="2529094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139" rIns="0" bIns="0" rtlCol="0">
            <a:spAutoFit/>
          </a:bodyPr>
          <a:lstStyle/>
          <a:p>
            <a:pPr marL="12700" marR="5080">
              <a:lnSpc>
                <a:spcPts val="3600"/>
              </a:lnSpc>
              <a:spcBef>
                <a:spcPts val="819"/>
              </a:spcBef>
            </a:pPr>
            <a:r>
              <a:rPr spc="-155" dirty="0"/>
              <a:t>Wireless</a:t>
            </a:r>
            <a:r>
              <a:rPr spc="-195" dirty="0"/>
              <a:t> </a:t>
            </a:r>
            <a:r>
              <a:rPr spc="-150" dirty="0"/>
              <a:t>communication </a:t>
            </a:r>
            <a:r>
              <a:rPr spc="-25" dirty="0"/>
              <a:t>systems</a:t>
            </a:r>
          </a:p>
        </p:txBody>
      </p:sp>
      <p:sp>
        <p:nvSpPr>
          <p:cNvPr id="3" name="object 3"/>
          <p:cNvSpPr txBox="1"/>
          <p:nvPr/>
        </p:nvSpPr>
        <p:spPr>
          <a:xfrm>
            <a:off x="372135" y="2057463"/>
            <a:ext cx="1531620" cy="584835"/>
          </a:xfrm>
          <a:prstGeom prst="rect">
            <a:avLst/>
          </a:prstGeom>
          <a:solidFill>
            <a:srgbClr val="C5D9F0"/>
          </a:solidFill>
          <a:ln w="9525">
            <a:solidFill>
              <a:srgbClr val="000000"/>
            </a:solidFill>
          </a:ln>
        </p:spPr>
        <p:txBody>
          <a:bodyPr vert="horz" wrap="square" lIns="0" tIns="33020" rIns="0" bIns="0" rtlCol="0">
            <a:spAutoFit/>
          </a:bodyPr>
          <a:lstStyle/>
          <a:p>
            <a:pPr marL="91440">
              <a:lnSpc>
                <a:spcPct val="100000"/>
              </a:lnSpc>
              <a:spcBef>
                <a:spcPts val="260"/>
              </a:spcBef>
            </a:pPr>
            <a:r>
              <a:rPr sz="1600" b="1" spc="-10" dirty="0">
                <a:latin typeface="Calibri"/>
                <a:cs typeface="Calibri"/>
              </a:rPr>
              <a:t>Information</a:t>
            </a:r>
            <a:r>
              <a:rPr sz="1600" b="1" spc="10" dirty="0">
                <a:latin typeface="Calibri"/>
                <a:cs typeface="Calibri"/>
              </a:rPr>
              <a:t> </a:t>
            </a:r>
            <a:r>
              <a:rPr sz="1600" b="1" spc="-25" dirty="0">
                <a:latin typeface="Calibri"/>
                <a:cs typeface="Calibri"/>
              </a:rPr>
              <a:t>to</a:t>
            </a:r>
            <a:endParaRPr sz="1600">
              <a:latin typeface="Calibri"/>
              <a:cs typeface="Calibri"/>
            </a:endParaRPr>
          </a:p>
          <a:p>
            <a:pPr marL="91440">
              <a:lnSpc>
                <a:spcPct val="100000"/>
              </a:lnSpc>
              <a:spcBef>
                <a:spcPts val="5"/>
              </a:spcBef>
            </a:pPr>
            <a:r>
              <a:rPr sz="1600" b="1" dirty="0">
                <a:latin typeface="Calibri"/>
                <a:cs typeface="Calibri"/>
              </a:rPr>
              <a:t>be</a:t>
            </a:r>
            <a:r>
              <a:rPr sz="1600" b="1" spc="-10" dirty="0">
                <a:latin typeface="Calibri"/>
                <a:cs typeface="Calibri"/>
              </a:rPr>
              <a:t> transmitted</a:t>
            </a:r>
            <a:endParaRPr sz="1600">
              <a:latin typeface="Calibri"/>
              <a:cs typeface="Calibri"/>
            </a:endParaRPr>
          </a:p>
        </p:txBody>
      </p:sp>
      <p:sp>
        <p:nvSpPr>
          <p:cNvPr id="4" name="object 4"/>
          <p:cNvSpPr txBox="1"/>
          <p:nvPr/>
        </p:nvSpPr>
        <p:spPr>
          <a:xfrm>
            <a:off x="2172461" y="2141334"/>
            <a:ext cx="1545590" cy="369570"/>
          </a:xfrm>
          <a:prstGeom prst="rect">
            <a:avLst/>
          </a:prstGeom>
          <a:solidFill>
            <a:srgbClr val="C5D9F0"/>
          </a:solidFill>
          <a:ln w="9525">
            <a:solidFill>
              <a:srgbClr val="000000"/>
            </a:solidFill>
          </a:ln>
        </p:spPr>
        <p:txBody>
          <a:bodyPr vert="horz" wrap="square" lIns="0" tIns="31114" rIns="0" bIns="0" rtlCol="0">
            <a:spAutoFit/>
          </a:bodyPr>
          <a:lstStyle/>
          <a:p>
            <a:pPr marL="91440">
              <a:lnSpc>
                <a:spcPct val="100000"/>
              </a:lnSpc>
              <a:spcBef>
                <a:spcPts val="244"/>
              </a:spcBef>
            </a:pPr>
            <a:r>
              <a:rPr sz="1800" spc="-10" dirty="0">
                <a:latin typeface="Calibri"/>
                <a:cs typeface="Calibri"/>
              </a:rPr>
              <a:t>coding</a:t>
            </a:r>
            <a:endParaRPr sz="1800">
              <a:latin typeface="Calibri"/>
              <a:cs typeface="Calibri"/>
            </a:endParaRPr>
          </a:p>
        </p:txBody>
      </p:sp>
      <p:sp>
        <p:nvSpPr>
          <p:cNvPr id="5" name="object 5"/>
          <p:cNvSpPr txBox="1"/>
          <p:nvPr/>
        </p:nvSpPr>
        <p:spPr>
          <a:xfrm>
            <a:off x="3874642" y="2141334"/>
            <a:ext cx="1545590" cy="369570"/>
          </a:xfrm>
          <a:prstGeom prst="rect">
            <a:avLst/>
          </a:prstGeom>
          <a:solidFill>
            <a:srgbClr val="C5D9F0"/>
          </a:solidFill>
          <a:ln w="9525">
            <a:solidFill>
              <a:srgbClr val="000000"/>
            </a:solidFill>
          </a:ln>
        </p:spPr>
        <p:txBody>
          <a:bodyPr vert="horz" wrap="square" lIns="0" tIns="31114" rIns="0" bIns="0" rtlCol="0">
            <a:spAutoFit/>
          </a:bodyPr>
          <a:lstStyle/>
          <a:p>
            <a:pPr marL="92075">
              <a:lnSpc>
                <a:spcPct val="100000"/>
              </a:lnSpc>
              <a:spcBef>
                <a:spcPts val="244"/>
              </a:spcBef>
            </a:pPr>
            <a:r>
              <a:rPr sz="1800" spc="-10" dirty="0">
                <a:latin typeface="Calibri"/>
                <a:cs typeface="Calibri"/>
              </a:rPr>
              <a:t>Modulator</a:t>
            </a:r>
            <a:endParaRPr sz="1800">
              <a:latin typeface="Calibri"/>
              <a:cs typeface="Calibri"/>
            </a:endParaRPr>
          </a:p>
        </p:txBody>
      </p:sp>
      <p:sp>
        <p:nvSpPr>
          <p:cNvPr id="6" name="object 6"/>
          <p:cNvSpPr txBox="1"/>
          <p:nvPr/>
        </p:nvSpPr>
        <p:spPr>
          <a:xfrm>
            <a:off x="5698490" y="2131275"/>
            <a:ext cx="1545590" cy="383540"/>
          </a:xfrm>
          <a:prstGeom prst="rect">
            <a:avLst/>
          </a:prstGeom>
          <a:solidFill>
            <a:srgbClr val="C5D9F0"/>
          </a:solidFill>
          <a:ln w="9525">
            <a:solidFill>
              <a:srgbClr val="000000"/>
            </a:solidFill>
          </a:ln>
        </p:spPr>
        <p:txBody>
          <a:bodyPr vert="horz" wrap="square" lIns="0" tIns="31114" rIns="0" bIns="0" rtlCol="0">
            <a:spAutoFit/>
          </a:bodyPr>
          <a:lstStyle/>
          <a:p>
            <a:pPr marL="92075">
              <a:lnSpc>
                <a:spcPct val="100000"/>
              </a:lnSpc>
              <a:spcBef>
                <a:spcPts val="244"/>
              </a:spcBef>
            </a:pPr>
            <a:r>
              <a:rPr sz="1800" spc="-10" dirty="0">
                <a:latin typeface="Calibri"/>
                <a:cs typeface="Calibri"/>
              </a:rPr>
              <a:t>Transmitter</a:t>
            </a:r>
            <a:endParaRPr sz="1800">
              <a:latin typeface="Calibri"/>
              <a:cs typeface="Calibri"/>
            </a:endParaRPr>
          </a:p>
        </p:txBody>
      </p:sp>
      <p:sp>
        <p:nvSpPr>
          <p:cNvPr id="7" name="object 7"/>
          <p:cNvSpPr txBox="1"/>
          <p:nvPr/>
        </p:nvSpPr>
        <p:spPr>
          <a:xfrm>
            <a:off x="6904101" y="1450200"/>
            <a:ext cx="1325880" cy="369570"/>
          </a:xfrm>
          <a:prstGeom prst="rect">
            <a:avLst/>
          </a:prstGeom>
          <a:solidFill>
            <a:srgbClr val="C5D9F0"/>
          </a:solidFill>
          <a:ln w="9525">
            <a:solidFill>
              <a:srgbClr val="000000"/>
            </a:solidFill>
          </a:ln>
        </p:spPr>
        <p:txBody>
          <a:bodyPr vert="horz" wrap="square" lIns="0" tIns="30480" rIns="0" bIns="0" rtlCol="0">
            <a:spAutoFit/>
          </a:bodyPr>
          <a:lstStyle/>
          <a:p>
            <a:pPr marL="92075">
              <a:lnSpc>
                <a:spcPct val="100000"/>
              </a:lnSpc>
              <a:spcBef>
                <a:spcPts val="240"/>
              </a:spcBef>
            </a:pPr>
            <a:r>
              <a:rPr sz="1800" spc="-10" dirty="0">
                <a:latin typeface="Calibri"/>
                <a:cs typeface="Calibri"/>
              </a:rPr>
              <a:t>Antenna</a:t>
            </a:r>
            <a:endParaRPr sz="1800">
              <a:latin typeface="Calibri"/>
              <a:cs typeface="Calibri"/>
            </a:endParaRPr>
          </a:p>
        </p:txBody>
      </p:sp>
      <p:sp>
        <p:nvSpPr>
          <p:cNvPr id="8" name="object 8"/>
          <p:cNvSpPr txBox="1"/>
          <p:nvPr/>
        </p:nvSpPr>
        <p:spPr>
          <a:xfrm>
            <a:off x="7522971" y="3932161"/>
            <a:ext cx="1169670" cy="369570"/>
          </a:xfrm>
          <a:prstGeom prst="rect">
            <a:avLst/>
          </a:prstGeom>
          <a:solidFill>
            <a:srgbClr val="C5D9F0"/>
          </a:solidFill>
          <a:ln w="9525">
            <a:solidFill>
              <a:srgbClr val="000000"/>
            </a:solidFill>
          </a:ln>
        </p:spPr>
        <p:txBody>
          <a:bodyPr vert="horz" wrap="square" lIns="0" tIns="31115" rIns="0" bIns="0" rtlCol="0">
            <a:spAutoFit/>
          </a:bodyPr>
          <a:lstStyle/>
          <a:p>
            <a:pPr marL="92075">
              <a:lnSpc>
                <a:spcPct val="100000"/>
              </a:lnSpc>
              <a:spcBef>
                <a:spcPts val="245"/>
              </a:spcBef>
            </a:pPr>
            <a:r>
              <a:rPr sz="1800" spc="-10" dirty="0">
                <a:latin typeface="Calibri"/>
                <a:cs typeface="Calibri"/>
              </a:rPr>
              <a:t>Antenna</a:t>
            </a:r>
            <a:endParaRPr sz="1800">
              <a:latin typeface="Calibri"/>
              <a:cs typeface="Calibri"/>
            </a:endParaRPr>
          </a:p>
        </p:txBody>
      </p:sp>
      <p:sp>
        <p:nvSpPr>
          <p:cNvPr id="9" name="object 9"/>
          <p:cNvSpPr/>
          <p:nvPr/>
        </p:nvSpPr>
        <p:spPr>
          <a:xfrm>
            <a:off x="1902714" y="2294763"/>
            <a:ext cx="269875" cy="76200"/>
          </a:xfrm>
          <a:custGeom>
            <a:avLst/>
            <a:gdLst/>
            <a:ahLst/>
            <a:cxnLst/>
            <a:rect l="l" t="t" r="r" b="b"/>
            <a:pathLst>
              <a:path w="269875" h="76200">
                <a:moveTo>
                  <a:pt x="267815" y="30479"/>
                </a:moveTo>
                <a:lnTo>
                  <a:pt x="205867" y="30479"/>
                </a:lnTo>
                <a:lnTo>
                  <a:pt x="207010" y="43179"/>
                </a:lnTo>
                <a:lnTo>
                  <a:pt x="194351" y="44295"/>
                </a:lnTo>
                <a:lnTo>
                  <a:pt x="197104" y="75946"/>
                </a:lnTo>
                <a:lnTo>
                  <a:pt x="269748" y="31241"/>
                </a:lnTo>
                <a:lnTo>
                  <a:pt x="267815" y="30479"/>
                </a:lnTo>
                <a:close/>
              </a:path>
              <a:path w="269875" h="76200">
                <a:moveTo>
                  <a:pt x="193247" y="31593"/>
                </a:moveTo>
                <a:lnTo>
                  <a:pt x="0" y="48640"/>
                </a:lnTo>
                <a:lnTo>
                  <a:pt x="1016" y="61340"/>
                </a:lnTo>
                <a:lnTo>
                  <a:pt x="194351" y="44295"/>
                </a:lnTo>
                <a:lnTo>
                  <a:pt x="193247" y="31593"/>
                </a:lnTo>
                <a:close/>
              </a:path>
              <a:path w="269875" h="76200">
                <a:moveTo>
                  <a:pt x="205867" y="30479"/>
                </a:moveTo>
                <a:lnTo>
                  <a:pt x="193247" y="31593"/>
                </a:lnTo>
                <a:lnTo>
                  <a:pt x="194254" y="43179"/>
                </a:lnTo>
                <a:lnTo>
                  <a:pt x="194351" y="44295"/>
                </a:lnTo>
                <a:lnTo>
                  <a:pt x="207010" y="43179"/>
                </a:lnTo>
                <a:lnTo>
                  <a:pt x="205967" y="31593"/>
                </a:lnTo>
                <a:lnTo>
                  <a:pt x="205867" y="30479"/>
                </a:lnTo>
                <a:close/>
              </a:path>
              <a:path w="269875" h="76200">
                <a:moveTo>
                  <a:pt x="190500" y="0"/>
                </a:moveTo>
                <a:lnTo>
                  <a:pt x="193150" y="30479"/>
                </a:lnTo>
                <a:lnTo>
                  <a:pt x="193247" y="31593"/>
                </a:lnTo>
                <a:lnTo>
                  <a:pt x="205867" y="30479"/>
                </a:lnTo>
                <a:lnTo>
                  <a:pt x="267815" y="30479"/>
                </a:lnTo>
                <a:lnTo>
                  <a:pt x="190500" y="0"/>
                </a:lnTo>
                <a:close/>
              </a:path>
            </a:pathLst>
          </a:custGeom>
          <a:solidFill>
            <a:srgbClr val="497DBA"/>
          </a:solidFill>
        </p:spPr>
        <p:txBody>
          <a:bodyPr wrap="square" lIns="0" tIns="0" rIns="0" bIns="0" rtlCol="0"/>
          <a:lstStyle/>
          <a:p>
            <a:endParaRPr/>
          </a:p>
        </p:txBody>
      </p:sp>
      <p:sp>
        <p:nvSpPr>
          <p:cNvPr id="10" name="object 10"/>
          <p:cNvSpPr/>
          <p:nvPr/>
        </p:nvSpPr>
        <p:spPr>
          <a:xfrm>
            <a:off x="5419852" y="2285619"/>
            <a:ext cx="278765" cy="76200"/>
          </a:xfrm>
          <a:custGeom>
            <a:avLst/>
            <a:gdLst/>
            <a:ahLst/>
            <a:cxnLst/>
            <a:rect l="l" t="t" r="r" b="b"/>
            <a:pathLst>
              <a:path w="278764" h="76200">
                <a:moveTo>
                  <a:pt x="266916" y="31622"/>
                </a:moveTo>
                <a:lnTo>
                  <a:pt x="215137" y="31622"/>
                </a:lnTo>
                <a:lnTo>
                  <a:pt x="215264" y="44322"/>
                </a:lnTo>
                <a:lnTo>
                  <a:pt x="202575" y="44465"/>
                </a:lnTo>
                <a:lnTo>
                  <a:pt x="202946" y="76200"/>
                </a:lnTo>
                <a:lnTo>
                  <a:pt x="278638" y="37337"/>
                </a:lnTo>
                <a:lnTo>
                  <a:pt x="266916" y="31622"/>
                </a:lnTo>
                <a:close/>
              </a:path>
              <a:path w="278764" h="76200">
                <a:moveTo>
                  <a:pt x="202427" y="31765"/>
                </a:moveTo>
                <a:lnTo>
                  <a:pt x="0" y="34035"/>
                </a:lnTo>
                <a:lnTo>
                  <a:pt x="126" y="46735"/>
                </a:lnTo>
                <a:lnTo>
                  <a:pt x="202575" y="44465"/>
                </a:lnTo>
                <a:lnTo>
                  <a:pt x="202454" y="34035"/>
                </a:lnTo>
                <a:lnTo>
                  <a:pt x="202427" y="31765"/>
                </a:lnTo>
                <a:close/>
              </a:path>
              <a:path w="278764" h="76200">
                <a:moveTo>
                  <a:pt x="215137" y="31622"/>
                </a:moveTo>
                <a:lnTo>
                  <a:pt x="202427" y="31765"/>
                </a:lnTo>
                <a:lnTo>
                  <a:pt x="202454" y="34035"/>
                </a:lnTo>
                <a:lnTo>
                  <a:pt x="202575" y="44465"/>
                </a:lnTo>
                <a:lnTo>
                  <a:pt x="215264" y="44322"/>
                </a:lnTo>
                <a:lnTo>
                  <a:pt x="215137" y="31622"/>
                </a:lnTo>
                <a:close/>
              </a:path>
              <a:path w="278764" h="76200">
                <a:moveTo>
                  <a:pt x="202057" y="0"/>
                </a:moveTo>
                <a:lnTo>
                  <a:pt x="202425" y="31622"/>
                </a:lnTo>
                <a:lnTo>
                  <a:pt x="202427" y="31765"/>
                </a:lnTo>
                <a:lnTo>
                  <a:pt x="215137" y="31622"/>
                </a:lnTo>
                <a:lnTo>
                  <a:pt x="266916" y="31622"/>
                </a:lnTo>
                <a:lnTo>
                  <a:pt x="202057" y="0"/>
                </a:lnTo>
                <a:close/>
              </a:path>
            </a:pathLst>
          </a:custGeom>
          <a:solidFill>
            <a:srgbClr val="497DBA"/>
          </a:solidFill>
        </p:spPr>
        <p:txBody>
          <a:bodyPr wrap="square" lIns="0" tIns="0" rIns="0" bIns="0" rtlCol="0"/>
          <a:lstStyle/>
          <a:p>
            <a:endParaRPr/>
          </a:p>
        </p:txBody>
      </p:sp>
      <p:pic>
        <p:nvPicPr>
          <p:cNvPr id="11" name="object 11"/>
          <p:cNvPicPr/>
          <p:nvPr/>
        </p:nvPicPr>
        <p:blipFill>
          <a:blip r:embed="rId2" cstate="print"/>
          <a:stretch>
            <a:fillRect/>
          </a:stretch>
        </p:blipFill>
        <p:spPr>
          <a:xfrm>
            <a:off x="3717671" y="2287904"/>
            <a:ext cx="156971" cy="76200"/>
          </a:xfrm>
          <a:prstGeom prst="rect">
            <a:avLst/>
          </a:prstGeom>
        </p:spPr>
      </p:pic>
      <p:grpSp>
        <p:nvGrpSpPr>
          <p:cNvPr id="12" name="object 12"/>
          <p:cNvGrpSpPr/>
          <p:nvPr/>
        </p:nvGrpSpPr>
        <p:grpSpPr>
          <a:xfrm>
            <a:off x="7157339" y="4301490"/>
            <a:ext cx="1153795" cy="379095"/>
            <a:chOff x="7157339" y="4301490"/>
            <a:chExt cx="1153795" cy="379095"/>
          </a:xfrm>
        </p:grpSpPr>
        <p:sp>
          <p:nvSpPr>
            <p:cNvPr id="13" name="object 13"/>
            <p:cNvSpPr/>
            <p:nvPr/>
          </p:nvSpPr>
          <p:spPr>
            <a:xfrm>
              <a:off x="7157339" y="4604385"/>
              <a:ext cx="1138555" cy="76200"/>
            </a:xfrm>
            <a:custGeom>
              <a:avLst/>
              <a:gdLst/>
              <a:ahLst/>
              <a:cxnLst/>
              <a:rect l="l" t="t" r="r" b="b"/>
              <a:pathLst>
                <a:path w="1138554" h="76200">
                  <a:moveTo>
                    <a:pt x="76580" y="0"/>
                  </a:moveTo>
                  <a:lnTo>
                    <a:pt x="0" y="37464"/>
                  </a:lnTo>
                  <a:lnTo>
                    <a:pt x="75818" y="76200"/>
                  </a:lnTo>
                  <a:lnTo>
                    <a:pt x="76034" y="54609"/>
                  </a:lnTo>
                  <a:lnTo>
                    <a:pt x="76135" y="44570"/>
                  </a:lnTo>
                  <a:lnTo>
                    <a:pt x="63371" y="44570"/>
                  </a:lnTo>
                  <a:lnTo>
                    <a:pt x="63442" y="37464"/>
                  </a:lnTo>
                  <a:lnTo>
                    <a:pt x="63498" y="31870"/>
                  </a:lnTo>
                  <a:lnTo>
                    <a:pt x="76262" y="31870"/>
                  </a:lnTo>
                  <a:lnTo>
                    <a:pt x="76580" y="0"/>
                  </a:lnTo>
                  <a:close/>
                </a:path>
                <a:path w="1138554" h="76200">
                  <a:moveTo>
                    <a:pt x="76262" y="31870"/>
                  </a:moveTo>
                  <a:lnTo>
                    <a:pt x="76135" y="44570"/>
                  </a:lnTo>
                  <a:lnTo>
                    <a:pt x="1138174" y="54609"/>
                  </a:lnTo>
                  <a:lnTo>
                    <a:pt x="1138301" y="41909"/>
                  </a:lnTo>
                  <a:lnTo>
                    <a:pt x="76262" y="31870"/>
                  </a:lnTo>
                  <a:close/>
                </a:path>
                <a:path w="1138554" h="76200">
                  <a:moveTo>
                    <a:pt x="76262" y="31870"/>
                  </a:moveTo>
                  <a:lnTo>
                    <a:pt x="63498" y="31870"/>
                  </a:lnTo>
                  <a:lnTo>
                    <a:pt x="63442" y="37464"/>
                  </a:lnTo>
                  <a:lnTo>
                    <a:pt x="63371" y="44570"/>
                  </a:lnTo>
                  <a:lnTo>
                    <a:pt x="76135" y="44570"/>
                  </a:lnTo>
                  <a:lnTo>
                    <a:pt x="76262" y="31870"/>
                  </a:lnTo>
                  <a:close/>
                </a:path>
              </a:pathLst>
            </a:custGeom>
            <a:solidFill>
              <a:srgbClr val="497DBA"/>
            </a:solidFill>
          </p:spPr>
          <p:txBody>
            <a:bodyPr wrap="square" lIns="0" tIns="0" rIns="0" bIns="0" rtlCol="0"/>
            <a:lstStyle/>
            <a:p>
              <a:endParaRPr/>
            </a:p>
          </p:txBody>
        </p:sp>
        <p:sp>
          <p:nvSpPr>
            <p:cNvPr id="14" name="object 14"/>
            <p:cNvSpPr/>
            <p:nvPr/>
          </p:nvSpPr>
          <p:spPr>
            <a:xfrm>
              <a:off x="8305800" y="4301490"/>
              <a:ext cx="0" cy="351155"/>
            </a:xfrm>
            <a:custGeom>
              <a:avLst/>
              <a:gdLst/>
              <a:ahLst/>
              <a:cxnLst/>
              <a:rect l="l" t="t" r="r" b="b"/>
              <a:pathLst>
                <a:path h="351154">
                  <a:moveTo>
                    <a:pt x="0" y="0"/>
                  </a:moveTo>
                  <a:lnTo>
                    <a:pt x="0" y="351155"/>
                  </a:lnTo>
                </a:path>
              </a:pathLst>
            </a:custGeom>
            <a:ln w="9525">
              <a:solidFill>
                <a:srgbClr val="497DBA"/>
              </a:solidFill>
            </a:ln>
          </p:spPr>
          <p:txBody>
            <a:bodyPr wrap="square" lIns="0" tIns="0" rIns="0" bIns="0" rtlCol="0"/>
            <a:lstStyle/>
            <a:p>
              <a:endParaRPr/>
            </a:p>
          </p:txBody>
        </p:sp>
      </p:grpSp>
      <p:sp>
        <p:nvSpPr>
          <p:cNvPr id="15" name="object 15"/>
          <p:cNvSpPr txBox="1"/>
          <p:nvPr/>
        </p:nvSpPr>
        <p:spPr>
          <a:xfrm>
            <a:off x="5611495" y="4361776"/>
            <a:ext cx="1545590" cy="383540"/>
          </a:xfrm>
          <a:prstGeom prst="rect">
            <a:avLst/>
          </a:prstGeom>
          <a:solidFill>
            <a:srgbClr val="C5D9F0"/>
          </a:solidFill>
          <a:ln w="9525">
            <a:solidFill>
              <a:srgbClr val="000000"/>
            </a:solidFill>
          </a:ln>
        </p:spPr>
        <p:txBody>
          <a:bodyPr vert="horz" wrap="square" lIns="0" tIns="31115" rIns="0" bIns="0" rtlCol="0">
            <a:spAutoFit/>
          </a:bodyPr>
          <a:lstStyle/>
          <a:p>
            <a:pPr marL="92075">
              <a:lnSpc>
                <a:spcPct val="100000"/>
              </a:lnSpc>
              <a:spcBef>
                <a:spcPts val="245"/>
              </a:spcBef>
            </a:pPr>
            <a:r>
              <a:rPr sz="1800" spc="-10" dirty="0">
                <a:latin typeface="Calibri"/>
                <a:cs typeface="Calibri"/>
              </a:rPr>
              <a:t>Receiver</a:t>
            </a:r>
            <a:endParaRPr sz="1800">
              <a:latin typeface="Calibri"/>
              <a:cs typeface="Calibri"/>
            </a:endParaRPr>
          </a:p>
        </p:txBody>
      </p:sp>
      <p:sp>
        <p:nvSpPr>
          <p:cNvPr id="16" name="object 16"/>
          <p:cNvSpPr txBox="1"/>
          <p:nvPr/>
        </p:nvSpPr>
        <p:spPr>
          <a:xfrm>
            <a:off x="3679952" y="4375772"/>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1440">
              <a:lnSpc>
                <a:spcPct val="100000"/>
              </a:lnSpc>
              <a:spcBef>
                <a:spcPts val="245"/>
              </a:spcBef>
            </a:pPr>
            <a:r>
              <a:rPr sz="1800" spc="-10" dirty="0">
                <a:latin typeface="Calibri"/>
                <a:cs typeface="Calibri"/>
              </a:rPr>
              <a:t>DeModulator</a:t>
            </a:r>
            <a:endParaRPr sz="1800">
              <a:latin typeface="Calibri"/>
              <a:cs typeface="Calibri"/>
            </a:endParaRPr>
          </a:p>
        </p:txBody>
      </p:sp>
      <p:sp>
        <p:nvSpPr>
          <p:cNvPr id="17" name="object 17"/>
          <p:cNvSpPr/>
          <p:nvPr/>
        </p:nvSpPr>
        <p:spPr>
          <a:xfrm>
            <a:off x="5225288" y="4520946"/>
            <a:ext cx="386715" cy="76200"/>
          </a:xfrm>
          <a:custGeom>
            <a:avLst/>
            <a:gdLst/>
            <a:ahLst/>
            <a:cxnLst/>
            <a:rect l="l" t="t" r="r" b="b"/>
            <a:pathLst>
              <a:path w="386714" h="76200">
                <a:moveTo>
                  <a:pt x="75437" y="0"/>
                </a:moveTo>
                <a:lnTo>
                  <a:pt x="0" y="39496"/>
                </a:lnTo>
                <a:lnTo>
                  <a:pt x="76835" y="76199"/>
                </a:lnTo>
                <a:lnTo>
                  <a:pt x="76257" y="44703"/>
                </a:lnTo>
                <a:lnTo>
                  <a:pt x="63500" y="44703"/>
                </a:lnTo>
                <a:lnTo>
                  <a:pt x="63373" y="32003"/>
                </a:lnTo>
                <a:lnTo>
                  <a:pt x="76020" y="31775"/>
                </a:lnTo>
                <a:lnTo>
                  <a:pt x="75437" y="0"/>
                </a:lnTo>
                <a:close/>
              </a:path>
              <a:path w="386714" h="76200">
                <a:moveTo>
                  <a:pt x="76020" y="31775"/>
                </a:moveTo>
                <a:lnTo>
                  <a:pt x="63373" y="32003"/>
                </a:lnTo>
                <a:lnTo>
                  <a:pt x="63500" y="44703"/>
                </a:lnTo>
                <a:lnTo>
                  <a:pt x="76253" y="44473"/>
                </a:lnTo>
                <a:lnTo>
                  <a:pt x="76150" y="38861"/>
                </a:lnTo>
                <a:lnTo>
                  <a:pt x="76024" y="32003"/>
                </a:lnTo>
                <a:lnTo>
                  <a:pt x="76020" y="31775"/>
                </a:lnTo>
                <a:close/>
              </a:path>
              <a:path w="386714" h="76200">
                <a:moveTo>
                  <a:pt x="76253" y="44473"/>
                </a:moveTo>
                <a:lnTo>
                  <a:pt x="63500" y="44703"/>
                </a:lnTo>
                <a:lnTo>
                  <a:pt x="76257" y="44703"/>
                </a:lnTo>
                <a:lnTo>
                  <a:pt x="76253" y="44473"/>
                </a:lnTo>
                <a:close/>
              </a:path>
              <a:path w="386714" h="76200">
                <a:moveTo>
                  <a:pt x="386079" y="26161"/>
                </a:moveTo>
                <a:lnTo>
                  <a:pt x="76020" y="31775"/>
                </a:lnTo>
                <a:lnTo>
                  <a:pt x="76024" y="32003"/>
                </a:lnTo>
                <a:lnTo>
                  <a:pt x="76150" y="38861"/>
                </a:lnTo>
                <a:lnTo>
                  <a:pt x="76253" y="44473"/>
                </a:lnTo>
                <a:lnTo>
                  <a:pt x="386334" y="38861"/>
                </a:lnTo>
                <a:lnTo>
                  <a:pt x="386196" y="32003"/>
                </a:lnTo>
                <a:lnTo>
                  <a:pt x="386079" y="26161"/>
                </a:lnTo>
                <a:close/>
              </a:path>
            </a:pathLst>
          </a:custGeom>
          <a:solidFill>
            <a:srgbClr val="497DBA"/>
          </a:solidFill>
        </p:spPr>
        <p:txBody>
          <a:bodyPr wrap="square" lIns="0" tIns="0" rIns="0" bIns="0" rtlCol="0"/>
          <a:lstStyle/>
          <a:p>
            <a:endParaRPr/>
          </a:p>
        </p:txBody>
      </p:sp>
      <p:sp>
        <p:nvSpPr>
          <p:cNvPr id="18" name="object 18"/>
          <p:cNvSpPr txBox="1"/>
          <p:nvPr/>
        </p:nvSpPr>
        <p:spPr>
          <a:xfrm>
            <a:off x="1823466" y="4375772"/>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1440">
              <a:lnSpc>
                <a:spcPct val="100000"/>
              </a:lnSpc>
              <a:spcBef>
                <a:spcPts val="245"/>
              </a:spcBef>
            </a:pPr>
            <a:r>
              <a:rPr sz="1800" spc="-10" dirty="0">
                <a:latin typeface="Calibri"/>
                <a:cs typeface="Calibri"/>
              </a:rPr>
              <a:t>decoding</a:t>
            </a:r>
            <a:endParaRPr sz="1800">
              <a:latin typeface="Calibri"/>
              <a:cs typeface="Calibri"/>
            </a:endParaRPr>
          </a:p>
        </p:txBody>
      </p:sp>
      <p:sp>
        <p:nvSpPr>
          <p:cNvPr id="19" name="object 19"/>
          <p:cNvSpPr/>
          <p:nvPr/>
        </p:nvSpPr>
        <p:spPr>
          <a:xfrm>
            <a:off x="3368802" y="4520565"/>
            <a:ext cx="311150" cy="76200"/>
          </a:xfrm>
          <a:custGeom>
            <a:avLst/>
            <a:gdLst/>
            <a:ahLst/>
            <a:cxnLst/>
            <a:rect l="l" t="t" r="r" b="b"/>
            <a:pathLst>
              <a:path w="311150" h="76200">
                <a:moveTo>
                  <a:pt x="75311" y="0"/>
                </a:moveTo>
                <a:lnTo>
                  <a:pt x="0" y="39878"/>
                </a:lnTo>
                <a:lnTo>
                  <a:pt x="76962" y="76200"/>
                </a:lnTo>
                <a:lnTo>
                  <a:pt x="76279" y="44704"/>
                </a:lnTo>
                <a:lnTo>
                  <a:pt x="63626" y="44704"/>
                </a:lnTo>
                <a:lnTo>
                  <a:pt x="63246" y="32004"/>
                </a:lnTo>
                <a:lnTo>
                  <a:pt x="75998" y="31722"/>
                </a:lnTo>
                <a:lnTo>
                  <a:pt x="75311" y="0"/>
                </a:lnTo>
                <a:close/>
              </a:path>
              <a:path w="311150" h="76200">
                <a:moveTo>
                  <a:pt x="75998" y="31722"/>
                </a:moveTo>
                <a:lnTo>
                  <a:pt x="63246" y="32004"/>
                </a:lnTo>
                <a:lnTo>
                  <a:pt x="63618" y="44424"/>
                </a:lnTo>
                <a:lnTo>
                  <a:pt x="63626" y="44704"/>
                </a:lnTo>
                <a:lnTo>
                  <a:pt x="76273" y="44424"/>
                </a:lnTo>
                <a:lnTo>
                  <a:pt x="76004" y="32004"/>
                </a:lnTo>
                <a:lnTo>
                  <a:pt x="75998" y="31722"/>
                </a:lnTo>
                <a:close/>
              </a:path>
              <a:path w="311150" h="76200">
                <a:moveTo>
                  <a:pt x="76273" y="44424"/>
                </a:moveTo>
                <a:lnTo>
                  <a:pt x="63626" y="44704"/>
                </a:lnTo>
                <a:lnTo>
                  <a:pt x="76279" y="44704"/>
                </a:lnTo>
                <a:lnTo>
                  <a:pt x="76273" y="44424"/>
                </a:lnTo>
                <a:close/>
              </a:path>
              <a:path w="311150" h="76200">
                <a:moveTo>
                  <a:pt x="310642" y="26543"/>
                </a:moveTo>
                <a:lnTo>
                  <a:pt x="75998" y="31722"/>
                </a:lnTo>
                <a:lnTo>
                  <a:pt x="76161" y="39243"/>
                </a:lnTo>
                <a:lnTo>
                  <a:pt x="76273" y="44424"/>
                </a:lnTo>
                <a:lnTo>
                  <a:pt x="310896" y="39243"/>
                </a:lnTo>
                <a:lnTo>
                  <a:pt x="310751" y="32004"/>
                </a:lnTo>
                <a:lnTo>
                  <a:pt x="310642" y="26543"/>
                </a:lnTo>
                <a:close/>
              </a:path>
            </a:pathLst>
          </a:custGeom>
          <a:solidFill>
            <a:srgbClr val="497DBA"/>
          </a:solidFill>
        </p:spPr>
        <p:txBody>
          <a:bodyPr wrap="square" lIns="0" tIns="0" rIns="0" bIns="0" rtlCol="0"/>
          <a:lstStyle/>
          <a:p>
            <a:endParaRPr/>
          </a:p>
        </p:txBody>
      </p:sp>
      <p:sp>
        <p:nvSpPr>
          <p:cNvPr id="20" name="object 20"/>
          <p:cNvSpPr txBox="1"/>
          <p:nvPr/>
        </p:nvSpPr>
        <p:spPr>
          <a:xfrm>
            <a:off x="277875" y="4261040"/>
            <a:ext cx="1241425" cy="584835"/>
          </a:xfrm>
          <a:prstGeom prst="rect">
            <a:avLst/>
          </a:prstGeom>
          <a:solidFill>
            <a:srgbClr val="C5D9F0"/>
          </a:solidFill>
          <a:ln w="9525">
            <a:solidFill>
              <a:srgbClr val="000000"/>
            </a:solidFill>
          </a:ln>
        </p:spPr>
        <p:txBody>
          <a:bodyPr vert="horz" wrap="square" lIns="0" tIns="33655" rIns="0" bIns="0" rtlCol="0">
            <a:spAutoFit/>
          </a:bodyPr>
          <a:lstStyle/>
          <a:p>
            <a:pPr marL="91440">
              <a:lnSpc>
                <a:spcPct val="100000"/>
              </a:lnSpc>
              <a:spcBef>
                <a:spcPts val="265"/>
              </a:spcBef>
            </a:pPr>
            <a:r>
              <a:rPr sz="1600" b="1" spc="-10" dirty="0">
                <a:latin typeface="Calibri"/>
                <a:cs typeface="Calibri"/>
              </a:rPr>
              <a:t>Information</a:t>
            </a:r>
            <a:endParaRPr sz="1600">
              <a:latin typeface="Calibri"/>
              <a:cs typeface="Calibri"/>
            </a:endParaRPr>
          </a:p>
          <a:p>
            <a:pPr marL="91440">
              <a:lnSpc>
                <a:spcPct val="100000"/>
              </a:lnSpc>
            </a:pPr>
            <a:r>
              <a:rPr sz="1600" b="1" spc="-10" dirty="0">
                <a:latin typeface="Calibri"/>
                <a:cs typeface="Calibri"/>
              </a:rPr>
              <a:t>Received</a:t>
            </a:r>
            <a:endParaRPr sz="1600">
              <a:latin typeface="Calibri"/>
              <a:cs typeface="Calibri"/>
            </a:endParaRPr>
          </a:p>
        </p:txBody>
      </p:sp>
      <p:sp>
        <p:nvSpPr>
          <p:cNvPr id="21" name="object 21"/>
          <p:cNvSpPr/>
          <p:nvPr/>
        </p:nvSpPr>
        <p:spPr>
          <a:xfrm>
            <a:off x="1538605" y="4517135"/>
            <a:ext cx="285115" cy="76200"/>
          </a:xfrm>
          <a:custGeom>
            <a:avLst/>
            <a:gdLst/>
            <a:ahLst/>
            <a:cxnLst/>
            <a:rect l="l" t="t" r="r" b="b"/>
            <a:pathLst>
              <a:path w="285114" h="76200">
                <a:moveTo>
                  <a:pt x="77215" y="0"/>
                </a:moveTo>
                <a:lnTo>
                  <a:pt x="0" y="36321"/>
                </a:lnTo>
                <a:lnTo>
                  <a:pt x="75310" y="76200"/>
                </a:lnTo>
                <a:lnTo>
                  <a:pt x="76103" y="44510"/>
                </a:lnTo>
                <a:lnTo>
                  <a:pt x="63372" y="44195"/>
                </a:lnTo>
                <a:lnTo>
                  <a:pt x="63517" y="36956"/>
                </a:lnTo>
                <a:lnTo>
                  <a:pt x="63626" y="31495"/>
                </a:lnTo>
                <a:lnTo>
                  <a:pt x="76428" y="31495"/>
                </a:lnTo>
                <a:lnTo>
                  <a:pt x="77215" y="0"/>
                </a:lnTo>
                <a:close/>
              </a:path>
              <a:path w="285114" h="76200">
                <a:moveTo>
                  <a:pt x="76420" y="31811"/>
                </a:moveTo>
                <a:lnTo>
                  <a:pt x="76111" y="44195"/>
                </a:lnTo>
                <a:lnTo>
                  <a:pt x="76103" y="44510"/>
                </a:lnTo>
                <a:lnTo>
                  <a:pt x="284733" y="49656"/>
                </a:lnTo>
                <a:lnTo>
                  <a:pt x="284988" y="36956"/>
                </a:lnTo>
                <a:lnTo>
                  <a:pt x="76420" y="31811"/>
                </a:lnTo>
                <a:close/>
              </a:path>
              <a:path w="285114" h="76200">
                <a:moveTo>
                  <a:pt x="63626" y="31495"/>
                </a:moveTo>
                <a:lnTo>
                  <a:pt x="63372" y="44195"/>
                </a:lnTo>
                <a:lnTo>
                  <a:pt x="76103" y="44510"/>
                </a:lnTo>
                <a:lnTo>
                  <a:pt x="76292" y="36956"/>
                </a:lnTo>
                <a:lnTo>
                  <a:pt x="76307" y="36321"/>
                </a:lnTo>
                <a:lnTo>
                  <a:pt x="76420" y="31811"/>
                </a:lnTo>
                <a:lnTo>
                  <a:pt x="63626" y="31495"/>
                </a:lnTo>
                <a:close/>
              </a:path>
              <a:path w="285114" h="76200">
                <a:moveTo>
                  <a:pt x="76428" y="31495"/>
                </a:moveTo>
                <a:lnTo>
                  <a:pt x="63626" y="31495"/>
                </a:lnTo>
                <a:lnTo>
                  <a:pt x="76420" y="31811"/>
                </a:lnTo>
                <a:lnTo>
                  <a:pt x="76428" y="31495"/>
                </a:lnTo>
                <a:close/>
              </a:path>
            </a:pathLst>
          </a:custGeom>
          <a:solidFill>
            <a:srgbClr val="497DBA"/>
          </a:solidFill>
        </p:spPr>
        <p:txBody>
          <a:bodyPr wrap="square" lIns="0" tIns="0" rIns="0" bIns="0" rtlCol="0"/>
          <a:lstStyle/>
          <a:p>
            <a:endParaRPr/>
          </a:p>
        </p:txBody>
      </p:sp>
      <p:sp>
        <p:nvSpPr>
          <p:cNvPr id="22" name="object 22"/>
          <p:cNvSpPr/>
          <p:nvPr/>
        </p:nvSpPr>
        <p:spPr>
          <a:xfrm>
            <a:off x="4607305" y="2510663"/>
            <a:ext cx="76200" cy="448309"/>
          </a:xfrm>
          <a:custGeom>
            <a:avLst/>
            <a:gdLst/>
            <a:ahLst/>
            <a:cxnLst/>
            <a:rect l="l" t="t" r="r" b="b"/>
            <a:pathLst>
              <a:path w="76200" h="448310">
                <a:moveTo>
                  <a:pt x="31677" y="76030"/>
                </a:moveTo>
                <a:lnTo>
                  <a:pt x="22098" y="447548"/>
                </a:lnTo>
                <a:lnTo>
                  <a:pt x="34798" y="447801"/>
                </a:lnTo>
                <a:lnTo>
                  <a:pt x="44353" y="77215"/>
                </a:lnTo>
                <a:lnTo>
                  <a:pt x="44375" y="76369"/>
                </a:lnTo>
                <a:lnTo>
                  <a:pt x="31677" y="76030"/>
                </a:lnTo>
                <a:close/>
              </a:path>
              <a:path w="76200" h="448310">
                <a:moveTo>
                  <a:pt x="69606" y="63373"/>
                </a:moveTo>
                <a:lnTo>
                  <a:pt x="32004" y="63373"/>
                </a:lnTo>
                <a:lnTo>
                  <a:pt x="44704" y="63626"/>
                </a:lnTo>
                <a:lnTo>
                  <a:pt x="44406" y="75184"/>
                </a:lnTo>
                <a:lnTo>
                  <a:pt x="44375" y="76369"/>
                </a:lnTo>
                <a:lnTo>
                  <a:pt x="76073" y="77215"/>
                </a:lnTo>
                <a:lnTo>
                  <a:pt x="69725" y="63626"/>
                </a:lnTo>
                <a:lnTo>
                  <a:pt x="69606" y="63373"/>
                </a:lnTo>
                <a:close/>
              </a:path>
              <a:path w="76200" h="448310">
                <a:moveTo>
                  <a:pt x="32004" y="63373"/>
                </a:moveTo>
                <a:lnTo>
                  <a:pt x="31699" y="75184"/>
                </a:lnTo>
                <a:lnTo>
                  <a:pt x="31677" y="76030"/>
                </a:lnTo>
                <a:lnTo>
                  <a:pt x="44375" y="76369"/>
                </a:lnTo>
                <a:lnTo>
                  <a:pt x="44704" y="63626"/>
                </a:lnTo>
                <a:lnTo>
                  <a:pt x="32004" y="63373"/>
                </a:lnTo>
                <a:close/>
              </a:path>
              <a:path w="76200" h="448310">
                <a:moveTo>
                  <a:pt x="40005" y="0"/>
                </a:moveTo>
                <a:lnTo>
                  <a:pt x="0" y="75184"/>
                </a:lnTo>
                <a:lnTo>
                  <a:pt x="31677" y="76030"/>
                </a:lnTo>
                <a:lnTo>
                  <a:pt x="31997" y="63626"/>
                </a:lnTo>
                <a:lnTo>
                  <a:pt x="32004" y="63373"/>
                </a:lnTo>
                <a:lnTo>
                  <a:pt x="69606" y="63373"/>
                </a:lnTo>
                <a:lnTo>
                  <a:pt x="40005" y="0"/>
                </a:lnTo>
                <a:close/>
              </a:path>
            </a:pathLst>
          </a:custGeom>
          <a:solidFill>
            <a:srgbClr val="497DBA"/>
          </a:solidFill>
        </p:spPr>
        <p:txBody>
          <a:bodyPr wrap="square" lIns="0" tIns="0" rIns="0" bIns="0" rtlCol="0"/>
          <a:lstStyle/>
          <a:p>
            <a:endParaRPr/>
          </a:p>
        </p:txBody>
      </p:sp>
      <p:grpSp>
        <p:nvGrpSpPr>
          <p:cNvPr id="23" name="object 23"/>
          <p:cNvGrpSpPr/>
          <p:nvPr/>
        </p:nvGrpSpPr>
        <p:grpSpPr>
          <a:xfrm>
            <a:off x="7234237" y="1895094"/>
            <a:ext cx="489584" cy="403225"/>
            <a:chOff x="7234237" y="1895094"/>
            <a:chExt cx="489584" cy="403225"/>
          </a:xfrm>
        </p:grpSpPr>
        <p:sp>
          <p:nvSpPr>
            <p:cNvPr id="24" name="object 24"/>
            <p:cNvSpPr/>
            <p:nvPr/>
          </p:nvSpPr>
          <p:spPr>
            <a:xfrm>
              <a:off x="7647177" y="1895094"/>
              <a:ext cx="76200" cy="397510"/>
            </a:xfrm>
            <a:custGeom>
              <a:avLst/>
              <a:gdLst/>
              <a:ahLst/>
              <a:cxnLst/>
              <a:rect l="l" t="t" r="r" b="b"/>
              <a:pathLst>
                <a:path w="76200" h="397510">
                  <a:moveTo>
                    <a:pt x="31790" y="76031"/>
                  </a:moveTo>
                  <a:lnTo>
                    <a:pt x="23241" y="397128"/>
                  </a:lnTo>
                  <a:lnTo>
                    <a:pt x="35814" y="397509"/>
                  </a:lnTo>
                  <a:lnTo>
                    <a:pt x="44464" y="77215"/>
                  </a:lnTo>
                  <a:lnTo>
                    <a:pt x="44486" y="76370"/>
                  </a:lnTo>
                  <a:lnTo>
                    <a:pt x="31790" y="76031"/>
                  </a:lnTo>
                  <a:close/>
                </a:path>
                <a:path w="76200" h="397510">
                  <a:moveTo>
                    <a:pt x="69674" y="63245"/>
                  </a:moveTo>
                  <a:lnTo>
                    <a:pt x="32130" y="63245"/>
                  </a:lnTo>
                  <a:lnTo>
                    <a:pt x="44830" y="63626"/>
                  </a:lnTo>
                  <a:lnTo>
                    <a:pt x="44518" y="75183"/>
                  </a:lnTo>
                  <a:lnTo>
                    <a:pt x="44486" y="76370"/>
                  </a:lnTo>
                  <a:lnTo>
                    <a:pt x="76200" y="77215"/>
                  </a:lnTo>
                  <a:lnTo>
                    <a:pt x="69674" y="63245"/>
                  </a:lnTo>
                  <a:close/>
                </a:path>
                <a:path w="76200" h="397510">
                  <a:moveTo>
                    <a:pt x="32130" y="63245"/>
                  </a:moveTo>
                  <a:lnTo>
                    <a:pt x="31813" y="75183"/>
                  </a:lnTo>
                  <a:lnTo>
                    <a:pt x="31790" y="76031"/>
                  </a:lnTo>
                  <a:lnTo>
                    <a:pt x="44486" y="76370"/>
                  </a:lnTo>
                  <a:lnTo>
                    <a:pt x="44830" y="63626"/>
                  </a:lnTo>
                  <a:lnTo>
                    <a:pt x="32130" y="63245"/>
                  </a:lnTo>
                  <a:close/>
                </a:path>
                <a:path w="76200" h="397510">
                  <a:moveTo>
                    <a:pt x="40131" y="0"/>
                  </a:moveTo>
                  <a:lnTo>
                    <a:pt x="0" y="75183"/>
                  </a:lnTo>
                  <a:lnTo>
                    <a:pt x="31790" y="76031"/>
                  </a:lnTo>
                  <a:lnTo>
                    <a:pt x="32120" y="63626"/>
                  </a:lnTo>
                  <a:lnTo>
                    <a:pt x="32130" y="63245"/>
                  </a:lnTo>
                  <a:lnTo>
                    <a:pt x="69674" y="63245"/>
                  </a:lnTo>
                  <a:lnTo>
                    <a:pt x="40131" y="0"/>
                  </a:lnTo>
                  <a:close/>
                </a:path>
              </a:pathLst>
            </a:custGeom>
            <a:solidFill>
              <a:srgbClr val="497DBA"/>
            </a:solidFill>
          </p:spPr>
          <p:txBody>
            <a:bodyPr wrap="square" lIns="0" tIns="0" rIns="0" bIns="0" rtlCol="0"/>
            <a:lstStyle/>
            <a:p>
              <a:endParaRPr/>
            </a:p>
          </p:txBody>
        </p:sp>
        <p:sp>
          <p:nvSpPr>
            <p:cNvPr id="25" name="object 25"/>
            <p:cNvSpPr/>
            <p:nvPr/>
          </p:nvSpPr>
          <p:spPr>
            <a:xfrm>
              <a:off x="7239000" y="2286000"/>
              <a:ext cx="433070" cy="6985"/>
            </a:xfrm>
            <a:custGeom>
              <a:avLst/>
              <a:gdLst/>
              <a:ahLst/>
              <a:cxnLst/>
              <a:rect l="l" t="t" r="r" b="b"/>
              <a:pathLst>
                <a:path w="433070" h="6985">
                  <a:moveTo>
                    <a:pt x="0" y="0"/>
                  </a:moveTo>
                  <a:lnTo>
                    <a:pt x="432561" y="6985"/>
                  </a:lnTo>
                </a:path>
              </a:pathLst>
            </a:custGeom>
            <a:ln w="9525">
              <a:solidFill>
                <a:srgbClr val="497DBA"/>
              </a:solidFill>
            </a:ln>
          </p:spPr>
          <p:txBody>
            <a:bodyPr wrap="square" lIns="0" tIns="0" rIns="0" bIns="0" rtlCol="0"/>
            <a:lstStyle/>
            <a:p>
              <a:endParaRPr/>
            </a:p>
          </p:txBody>
        </p:sp>
      </p:grpSp>
      <p:sp>
        <p:nvSpPr>
          <p:cNvPr id="26" name="object 26"/>
          <p:cNvSpPr txBox="1"/>
          <p:nvPr/>
        </p:nvSpPr>
        <p:spPr>
          <a:xfrm>
            <a:off x="3874642" y="2951340"/>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2075">
              <a:lnSpc>
                <a:spcPct val="100000"/>
              </a:lnSpc>
              <a:spcBef>
                <a:spcPts val="245"/>
              </a:spcBef>
            </a:pPr>
            <a:r>
              <a:rPr sz="1800" spc="-10" dirty="0">
                <a:latin typeface="Calibri"/>
                <a:cs typeface="Calibri"/>
              </a:rPr>
              <a:t>carrier</a:t>
            </a:r>
            <a:endParaRPr sz="1800">
              <a:latin typeface="Calibri"/>
              <a:cs typeface="Calibri"/>
            </a:endParaRPr>
          </a:p>
        </p:txBody>
      </p:sp>
      <p:sp>
        <p:nvSpPr>
          <p:cNvPr id="27" name="object 27"/>
          <p:cNvSpPr txBox="1"/>
          <p:nvPr/>
        </p:nvSpPr>
        <p:spPr>
          <a:xfrm>
            <a:off x="3709289" y="5193271"/>
            <a:ext cx="1545590" cy="369570"/>
          </a:xfrm>
          <a:prstGeom prst="rect">
            <a:avLst/>
          </a:prstGeom>
          <a:solidFill>
            <a:srgbClr val="C5D9F0"/>
          </a:solidFill>
          <a:ln w="9525">
            <a:solidFill>
              <a:srgbClr val="000000"/>
            </a:solidFill>
          </a:ln>
        </p:spPr>
        <p:txBody>
          <a:bodyPr vert="horz" wrap="square" lIns="0" tIns="31750" rIns="0" bIns="0" rtlCol="0">
            <a:spAutoFit/>
          </a:bodyPr>
          <a:lstStyle/>
          <a:p>
            <a:pPr marL="92075">
              <a:lnSpc>
                <a:spcPct val="100000"/>
              </a:lnSpc>
              <a:spcBef>
                <a:spcPts val="250"/>
              </a:spcBef>
            </a:pPr>
            <a:r>
              <a:rPr sz="1800" spc="-10" dirty="0">
                <a:latin typeface="Calibri"/>
                <a:cs typeface="Calibri"/>
              </a:rPr>
              <a:t>carrier</a:t>
            </a:r>
            <a:endParaRPr sz="1800">
              <a:latin typeface="Calibri"/>
              <a:cs typeface="Calibri"/>
            </a:endParaRPr>
          </a:p>
        </p:txBody>
      </p:sp>
      <p:sp>
        <p:nvSpPr>
          <p:cNvPr id="28" name="object 28"/>
          <p:cNvSpPr/>
          <p:nvPr/>
        </p:nvSpPr>
        <p:spPr>
          <a:xfrm>
            <a:off x="4374896" y="4745609"/>
            <a:ext cx="76200" cy="448309"/>
          </a:xfrm>
          <a:custGeom>
            <a:avLst/>
            <a:gdLst/>
            <a:ahLst/>
            <a:cxnLst/>
            <a:rect l="l" t="t" r="r" b="b"/>
            <a:pathLst>
              <a:path w="76200" h="448310">
                <a:moveTo>
                  <a:pt x="31804" y="76032"/>
                </a:moveTo>
                <a:lnTo>
                  <a:pt x="22225" y="447548"/>
                </a:lnTo>
                <a:lnTo>
                  <a:pt x="34925" y="447802"/>
                </a:lnTo>
                <a:lnTo>
                  <a:pt x="44480" y="77216"/>
                </a:lnTo>
                <a:lnTo>
                  <a:pt x="44502" y="76370"/>
                </a:lnTo>
                <a:lnTo>
                  <a:pt x="31804" y="76032"/>
                </a:lnTo>
                <a:close/>
              </a:path>
              <a:path w="76200" h="448310">
                <a:moveTo>
                  <a:pt x="69733" y="63373"/>
                </a:moveTo>
                <a:lnTo>
                  <a:pt x="32130" y="63373"/>
                </a:lnTo>
                <a:lnTo>
                  <a:pt x="44830" y="63627"/>
                </a:lnTo>
                <a:lnTo>
                  <a:pt x="44533" y="75184"/>
                </a:lnTo>
                <a:lnTo>
                  <a:pt x="44502" y="76370"/>
                </a:lnTo>
                <a:lnTo>
                  <a:pt x="76200" y="77216"/>
                </a:lnTo>
                <a:lnTo>
                  <a:pt x="69852" y="63627"/>
                </a:lnTo>
                <a:lnTo>
                  <a:pt x="69733" y="63373"/>
                </a:lnTo>
                <a:close/>
              </a:path>
              <a:path w="76200" h="448310">
                <a:moveTo>
                  <a:pt x="32130" y="63373"/>
                </a:moveTo>
                <a:lnTo>
                  <a:pt x="31826" y="75184"/>
                </a:lnTo>
                <a:lnTo>
                  <a:pt x="31804" y="76032"/>
                </a:lnTo>
                <a:lnTo>
                  <a:pt x="44502" y="76370"/>
                </a:lnTo>
                <a:lnTo>
                  <a:pt x="44830" y="63627"/>
                </a:lnTo>
                <a:lnTo>
                  <a:pt x="32130" y="63373"/>
                </a:lnTo>
                <a:close/>
              </a:path>
              <a:path w="76200" h="448310">
                <a:moveTo>
                  <a:pt x="40131" y="0"/>
                </a:moveTo>
                <a:lnTo>
                  <a:pt x="0" y="75184"/>
                </a:lnTo>
                <a:lnTo>
                  <a:pt x="31804" y="76032"/>
                </a:lnTo>
                <a:lnTo>
                  <a:pt x="32124" y="63627"/>
                </a:lnTo>
                <a:lnTo>
                  <a:pt x="32130" y="63373"/>
                </a:lnTo>
                <a:lnTo>
                  <a:pt x="69733" y="63373"/>
                </a:lnTo>
                <a:lnTo>
                  <a:pt x="40131" y="0"/>
                </a:lnTo>
                <a:close/>
              </a:path>
            </a:pathLst>
          </a:custGeom>
          <a:solidFill>
            <a:srgbClr val="497DBA"/>
          </a:solidFill>
        </p:spPr>
        <p:txBody>
          <a:bodyPr wrap="square" lIns="0" tIns="0" rIns="0" bIns="0" rtlCol="0"/>
          <a:lstStyle/>
          <a:p>
            <a:endParaRP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54</a:t>
            </a:fld>
            <a:endParaRPr spc="-25" dirty="0"/>
          </a:p>
        </p:txBody>
      </p:sp>
      <p:sp>
        <p:nvSpPr>
          <p:cNvPr id="30" name="object 30"/>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9BB4-BEA3-914A-256B-80CF151E8C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4E18648-A74F-7972-DE42-6A123050A944}"/>
              </a:ext>
            </a:extLst>
          </p:cNvPr>
          <p:cNvSpPr txBox="1">
            <a:spLocks noGrp="1"/>
          </p:cNvSpPr>
          <p:nvPr>
            <p:ph type="title"/>
          </p:nvPr>
        </p:nvSpPr>
        <p:spPr>
          <a:prstGeom prst="rect">
            <a:avLst/>
          </a:prstGeom>
        </p:spPr>
        <p:txBody>
          <a:bodyPr vert="horz" wrap="square" lIns="0" tIns="104139" rIns="0" bIns="0" rtlCol="0">
            <a:spAutoFit/>
          </a:bodyPr>
          <a:lstStyle/>
          <a:p>
            <a:pPr marL="12700" marR="5080">
              <a:lnSpc>
                <a:spcPts val="3600"/>
              </a:lnSpc>
              <a:spcBef>
                <a:spcPts val="819"/>
              </a:spcBef>
            </a:pPr>
            <a:r>
              <a:rPr spc="-155" dirty="0"/>
              <a:t>Wireless</a:t>
            </a:r>
            <a:r>
              <a:rPr spc="-195" dirty="0"/>
              <a:t> </a:t>
            </a:r>
            <a:r>
              <a:rPr spc="-150" dirty="0"/>
              <a:t>communication </a:t>
            </a:r>
            <a:r>
              <a:rPr spc="-25" dirty="0"/>
              <a:t>systems</a:t>
            </a:r>
          </a:p>
        </p:txBody>
      </p:sp>
      <p:sp>
        <p:nvSpPr>
          <p:cNvPr id="29" name="object 29">
            <a:extLst>
              <a:ext uri="{FF2B5EF4-FFF2-40B4-BE49-F238E27FC236}">
                <a16:creationId xmlns:a16="http://schemas.microsoft.com/office/drawing/2014/main" id="{245E5889-B7DF-A153-FE71-4D16C0EE241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55</a:t>
            </a:fld>
            <a:endParaRPr spc="-25" dirty="0"/>
          </a:p>
        </p:txBody>
      </p:sp>
      <p:sp>
        <p:nvSpPr>
          <p:cNvPr id="30" name="object 30">
            <a:extLst>
              <a:ext uri="{FF2B5EF4-FFF2-40B4-BE49-F238E27FC236}">
                <a16:creationId xmlns:a16="http://schemas.microsoft.com/office/drawing/2014/main" id="{414668B9-CC3A-EE88-4551-87B1B9EE4ABF}"/>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1" name="TextBox 30">
            <a:extLst>
              <a:ext uri="{FF2B5EF4-FFF2-40B4-BE49-F238E27FC236}">
                <a16:creationId xmlns:a16="http://schemas.microsoft.com/office/drawing/2014/main" id="{6B91FA34-82B8-35CB-7650-705CFDC6A2D0}"/>
              </a:ext>
            </a:extLst>
          </p:cNvPr>
          <p:cNvSpPr txBox="1"/>
          <p:nvPr/>
        </p:nvSpPr>
        <p:spPr>
          <a:xfrm>
            <a:off x="0" y="1371600"/>
            <a:ext cx="9063862" cy="4247317"/>
          </a:xfrm>
          <a:prstGeom prst="rect">
            <a:avLst/>
          </a:prstGeom>
          <a:noFill/>
        </p:spPr>
        <p:txBody>
          <a:bodyPr wrap="square" rtlCol="0">
            <a:spAutoFit/>
          </a:bodyPr>
          <a:lstStyle/>
          <a:p>
            <a:r>
              <a:rPr lang="en-US" dirty="0"/>
              <a:t>Wireless communication systems transfer data without physical connection using radio waves. The process involves two main stages: </a:t>
            </a:r>
            <a:r>
              <a:rPr lang="en-US" b="1" dirty="0"/>
              <a:t>Transmission</a:t>
            </a:r>
            <a:r>
              <a:rPr lang="en-US" dirty="0"/>
              <a:t> and </a:t>
            </a:r>
            <a:r>
              <a:rPr lang="en-US" b="1" dirty="0"/>
              <a:t>Reception</a:t>
            </a:r>
            <a:r>
              <a:rPr lang="en-US" dirty="0"/>
              <a:t>.</a:t>
            </a:r>
          </a:p>
          <a:p>
            <a:pPr>
              <a:buNone/>
            </a:pPr>
            <a:r>
              <a:rPr lang="en-US" b="1" dirty="0"/>
              <a:t>Transmission Chain (Transmitter Side):</a:t>
            </a:r>
          </a:p>
          <a:p>
            <a:pPr>
              <a:buFont typeface="+mj-lt"/>
              <a:buAutoNum type="arabicPeriod"/>
            </a:pPr>
            <a:r>
              <a:rPr lang="en-US" b="1" dirty="0"/>
              <a:t>Information to be transmitted:</a:t>
            </a:r>
            <a:endParaRPr lang="en-US" dirty="0"/>
          </a:p>
          <a:p>
            <a:pPr marL="742950" lvl="1" indent="-285750">
              <a:buFont typeface="+mj-lt"/>
              <a:buAutoNum type="arabicPeriod"/>
            </a:pPr>
            <a:r>
              <a:rPr lang="en-US" dirty="0"/>
              <a:t>Raw data or signal to be sent (e.g., voice, video, text).</a:t>
            </a:r>
          </a:p>
          <a:p>
            <a:pPr>
              <a:buFont typeface="+mj-lt"/>
              <a:buAutoNum type="arabicPeriod"/>
            </a:pPr>
            <a:r>
              <a:rPr lang="en-US" b="1" dirty="0"/>
              <a:t>Coding:</a:t>
            </a:r>
            <a:endParaRPr lang="en-US" dirty="0"/>
          </a:p>
          <a:p>
            <a:pPr marL="742950" lvl="1" indent="-285750">
              <a:buFont typeface="+mj-lt"/>
              <a:buAutoNum type="arabicPeriod"/>
            </a:pPr>
            <a:r>
              <a:rPr lang="en-US" dirty="0"/>
              <a:t>Adds redundancy for </a:t>
            </a:r>
            <a:r>
              <a:rPr lang="en-US" b="1" dirty="0"/>
              <a:t>error detection and correction</a:t>
            </a:r>
            <a:r>
              <a:rPr lang="en-US" dirty="0"/>
              <a:t>.</a:t>
            </a:r>
          </a:p>
          <a:p>
            <a:pPr>
              <a:buFont typeface="+mj-lt"/>
              <a:buAutoNum type="arabicPeriod"/>
            </a:pPr>
            <a:r>
              <a:rPr lang="en-US" b="1" dirty="0"/>
              <a:t>Modulator:</a:t>
            </a:r>
            <a:endParaRPr lang="en-US" dirty="0"/>
          </a:p>
          <a:p>
            <a:pPr marL="742950" lvl="1" indent="-285750">
              <a:buFont typeface="+mj-lt"/>
              <a:buAutoNum type="arabicPeriod"/>
            </a:pPr>
            <a:r>
              <a:rPr lang="en-US" dirty="0"/>
              <a:t>Combines the coded data with a </a:t>
            </a:r>
            <a:r>
              <a:rPr lang="en-US" b="1" dirty="0"/>
              <a:t>carrier signal</a:t>
            </a:r>
            <a:r>
              <a:rPr lang="en-US" dirty="0"/>
              <a:t> (high-frequency wave).</a:t>
            </a:r>
          </a:p>
          <a:p>
            <a:pPr marL="742950" lvl="1" indent="-285750">
              <a:buFont typeface="+mj-lt"/>
              <a:buAutoNum type="arabicPeriod"/>
            </a:pPr>
            <a:r>
              <a:rPr lang="en-US" dirty="0"/>
              <a:t>Converts baseband signals to radio frequencies.</a:t>
            </a:r>
          </a:p>
          <a:p>
            <a:pPr>
              <a:buFont typeface="+mj-lt"/>
              <a:buAutoNum type="arabicPeriod"/>
            </a:pPr>
            <a:r>
              <a:rPr lang="en-US" b="1" dirty="0"/>
              <a:t>Transmitter:</a:t>
            </a:r>
            <a:endParaRPr lang="en-US" dirty="0"/>
          </a:p>
          <a:p>
            <a:pPr marL="742950" lvl="1" indent="-285750">
              <a:buFont typeface="+mj-lt"/>
              <a:buAutoNum type="arabicPeriod"/>
            </a:pPr>
            <a:r>
              <a:rPr lang="en-US" dirty="0"/>
              <a:t>Amplifies the modulated signal and sends it to the </a:t>
            </a:r>
            <a:r>
              <a:rPr lang="en-US" b="1" dirty="0"/>
              <a:t>antenna</a:t>
            </a:r>
            <a:r>
              <a:rPr lang="en-US" dirty="0"/>
              <a:t>.</a:t>
            </a:r>
          </a:p>
          <a:p>
            <a:pPr>
              <a:buFont typeface="+mj-lt"/>
              <a:buAutoNum type="arabicPeriod"/>
            </a:pPr>
            <a:r>
              <a:rPr lang="en-US" b="1" dirty="0"/>
              <a:t>Antenna:</a:t>
            </a:r>
            <a:endParaRPr lang="en-US" dirty="0"/>
          </a:p>
          <a:p>
            <a:pPr marL="742950" lvl="1" indent="-285750">
              <a:buFont typeface="+mj-lt"/>
              <a:buAutoNum type="arabicPeriod"/>
            </a:pPr>
            <a:r>
              <a:rPr lang="en-US" dirty="0"/>
              <a:t>Converts electrical signal into electromagnetic waves and radiates it into the air.</a:t>
            </a:r>
          </a:p>
          <a:p>
            <a:endParaRPr lang="en-IN" dirty="0"/>
          </a:p>
        </p:txBody>
      </p:sp>
    </p:spTree>
    <p:extLst>
      <p:ext uri="{BB962C8B-B14F-4D97-AF65-F5344CB8AC3E}">
        <p14:creationId xmlns:p14="http://schemas.microsoft.com/office/powerpoint/2010/main" val="6143157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F2A2-36DE-730D-7D49-8D1AAD1E5DB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D6A2B0-1413-62EF-2787-1ABCFAC2FD4A}"/>
              </a:ext>
            </a:extLst>
          </p:cNvPr>
          <p:cNvSpPr txBox="1">
            <a:spLocks noGrp="1"/>
          </p:cNvSpPr>
          <p:nvPr>
            <p:ph type="title"/>
          </p:nvPr>
        </p:nvSpPr>
        <p:spPr>
          <a:prstGeom prst="rect">
            <a:avLst/>
          </a:prstGeom>
        </p:spPr>
        <p:txBody>
          <a:bodyPr vert="horz" wrap="square" lIns="0" tIns="104139" rIns="0" bIns="0" rtlCol="0">
            <a:spAutoFit/>
          </a:bodyPr>
          <a:lstStyle/>
          <a:p>
            <a:pPr marL="12700" marR="5080">
              <a:lnSpc>
                <a:spcPts val="3600"/>
              </a:lnSpc>
              <a:spcBef>
                <a:spcPts val="819"/>
              </a:spcBef>
            </a:pPr>
            <a:r>
              <a:rPr spc="-155" dirty="0"/>
              <a:t>Wireless</a:t>
            </a:r>
            <a:r>
              <a:rPr spc="-195" dirty="0"/>
              <a:t> </a:t>
            </a:r>
            <a:r>
              <a:rPr spc="-150" dirty="0"/>
              <a:t>communication </a:t>
            </a:r>
            <a:r>
              <a:rPr spc="-25" dirty="0"/>
              <a:t>systems</a:t>
            </a:r>
          </a:p>
        </p:txBody>
      </p:sp>
      <p:sp>
        <p:nvSpPr>
          <p:cNvPr id="29" name="object 29">
            <a:extLst>
              <a:ext uri="{FF2B5EF4-FFF2-40B4-BE49-F238E27FC236}">
                <a16:creationId xmlns:a16="http://schemas.microsoft.com/office/drawing/2014/main" id="{AE9F0FEF-43AB-EBC6-9417-666F5494EEF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56</a:t>
            </a:fld>
            <a:endParaRPr spc="-25" dirty="0"/>
          </a:p>
        </p:txBody>
      </p:sp>
      <p:sp>
        <p:nvSpPr>
          <p:cNvPr id="30" name="object 30">
            <a:extLst>
              <a:ext uri="{FF2B5EF4-FFF2-40B4-BE49-F238E27FC236}">
                <a16:creationId xmlns:a16="http://schemas.microsoft.com/office/drawing/2014/main" id="{DE503AB5-2093-E503-C7CD-3BA1025A203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1" name="TextBox 30">
            <a:extLst>
              <a:ext uri="{FF2B5EF4-FFF2-40B4-BE49-F238E27FC236}">
                <a16:creationId xmlns:a16="http://schemas.microsoft.com/office/drawing/2014/main" id="{F3199569-8EC1-2EA9-AC8E-9CC4F257E0D2}"/>
              </a:ext>
            </a:extLst>
          </p:cNvPr>
          <p:cNvSpPr txBox="1"/>
          <p:nvPr/>
        </p:nvSpPr>
        <p:spPr>
          <a:xfrm>
            <a:off x="0" y="1371600"/>
            <a:ext cx="9063862" cy="5632311"/>
          </a:xfrm>
          <a:prstGeom prst="rect">
            <a:avLst/>
          </a:prstGeom>
          <a:noFill/>
        </p:spPr>
        <p:txBody>
          <a:bodyPr wrap="square" rtlCol="0">
            <a:spAutoFit/>
          </a:bodyPr>
          <a:lstStyle/>
          <a:p>
            <a:pPr>
              <a:buNone/>
            </a:pPr>
            <a:r>
              <a:rPr lang="en-US" b="1" dirty="0"/>
              <a:t>Reception Chain (Receiver Side):</a:t>
            </a:r>
          </a:p>
          <a:p>
            <a:pPr>
              <a:buFont typeface="+mj-lt"/>
              <a:buAutoNum type="arabicPeriod" startAt="6"/>
            </a:pPr>
            <a:r>
              <a:rPr lang="en-US" b="1" dirty="0"/>
              <a:t>Antenna:</a:t>
            </a:r>
            <a:endParaRPr lang="en-US" dirty="0"/>
          </a:p>
          <a:p>
            <a:pPr marL="742950" lvl="1" indent="-285750">
              <a:buFont typeface="+mj-lt"/>
              <a:buAutoNum type="arabicPeriod" startAt="6"/>
            </a:pPr>
            <a:r>
              <a:rPr lang="en-US" dirty="0"/>
              <a:t>Captures the transmitted signal from the air.</a:t>
            </a:r>
          </a:p>
          <a:p>
            <a:pPr>
              <a:buFont typeface="+mj-lt"/>
              <a:buAutoNum type="arabicPeriod" startAt="6"/>
            </a:pPr>
            <a:r>
              <a:rPr lang="en-US" b="1" dirty="0"/>
              <a:t>Receiver:</a:t>
            </a:r>
            <a:endParaRPr lang="en-US" dirty="0"/>
          </a:p>
          <a:p>
            <a:pPr marL="742950" lvl="1" indent="-285750">
              <a:buFont typeface="+mj-lt"/>
              <a:buAutoNum type="arabicPeriod" startAt="6"/>
            </a:pPr>
            <a:r>
              <a:rPr lang="en-US" dirty="0"/>
              <a:t>Picks up and amplifies the incoming signal.</a:t>
            </a:r>
          </a:p>
          <a:p>
            <a:pPr>
              <a:buFont typeface="+mj-lt"/>
              <a:buAutoNum type="arabicPeriod" startAt="6"/>
            </a:pPr>
            <a:r>
              <a:rPr lang="en-US" b="1" dirty="0"/>
              <a:t>Demodulator:</a:t>
            </a:r>
            <a:endParaRPr lang="en-US" dirty="0"/>
          </a:p>
          <a:p>
            <a:pPr marL="742950" lvl="1" indent="-285750">
              <a:buFont typeface="+mj-lt"/>
              <a:buAutoNum type="arabicPeriod" startAt="6"/>
            </a:pPr>
            <a:r>
              <a:rPr lang="en-US" dirty="0"/>
              <a:t>Extracts the original data from the modulated signal using the </a:t>
            </a:r>
            <a:r>
              <a:rPr lang="en-US" b="1" dirty="0"/>
              <a:t>carrier</a:t>
            </a:r>
            <a:r>
              <a:rPr lang="en-US" dirty="0"/>
              <a:t>.</a:t>
            </a:r>
          </a:p>
          <a:p>
            <a:pPr>
              <a:buFont typeface="+mj-lt"/>
              <a:buAutoNum type="arabicPeriod" startAt="6"/>
            </a:pPr>
            <a:r>
              <a:rPr lang="en-US" b="1" dirty="0"/>
              <a:t>Decoding:</a:t>
            </a:r>
            <a:endParaRPr lang="en-US" dirty="0"/>
          </a:p>
          <a:p>
            <a:pPr marL="742950" lvl="1" indent="-285750">
              <a:buFont typeface="+mj-lt"/>
              <a:buAutoNum type="arabicPeriod" startAt="6"/>
            </a:pPr>
            <a:r>
              <a:rPr lang="en-US" dirty="0"/>
              <a:t>Removes redundancy and corrects any transmission errors.</a:t>
            </a:r>
          </a:p>
          <a:p>
            <a:pPr>
              <a:buFont typeface="+mj-lt"/>
              <a:buAutoNum type="arabicPeriod" startAt="6"/>
            </a:pPr>
            <a:r>
              <a:rPr lang="en-US" b="1" dirty="0"/>
              <a:t>Information Received:</a:t>
            </a:r>
            <a:endParaRPr lang="en-US" dirty="0"/>
          </a:p>
          <a:p>
            <a:pPr>
              <a:buFont typeface="Arial" panose="020B0604020202020204" pitchFamily="34" charset="0"/>
              <a:buChar char="•"/>
            </a:pPr>
            <a:r>
              <a:rPr lang="en-US" dirty="0"/>
              <a:t>Final recovered message, ideally identical to the original transmitted data.</a:t>
            </a:r>
          </a:p>
          <a:p>
            <a:pPr>
              <a:buFont typeface="Arial" panose="020B0604020202020204" pitchFamily="34" charset="0"/>
              <a:buChar char="•"/>
            </a:pPr>
            <a:endParaRPr lang="en-US" dirty="0"/>
          </a:p>
          <a:p>
            <a:endParaRPr lang="en-US" dirty="0"/>
          </a:p>
          <a:p>
            <a:endParaRPr lang="en-US" dirty="0"/>
          </a:p>
          <a:p>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modulator/demodulator</a:t>
            </a:r>
            <a:r>
              <a:rPr kumimoji="0" lang="en-US" altLang="en-US" sz="1800" b="0" i="0" u="none" strike="noStrike" cap="none" normalizeH="0" baseline="0" dirty="0">
                <a:ln>
                  <a:noFill/>
                </a:ln>
                <a:solidFill>
                  <a:schemeClr val="tx1"/>
                </a:solidFill>
                <a:effectLst/>
                <a:latin typeface="Arial" panose="020B0604020202020204" pitchFamily="34" charset="0"/>
              </a:rPr>
              <a:t> handles signal transformation using a carrier.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Coding/decoding</a:t>
            </a:r>
            <a:r>
              <a:rPr kumimoji="0" lang="en-US" altLang="en-US" sz="1800" b="0" i="0" u="none" strike="noStrike" cap="none" normalizeH="0" baseline="0" dirty="0">
                <a:ln>
                  <a:noFill/>
                </a:ln>
                <a:solidFill>
                  <a:schemeClr val="tx1"/>
                </a:solidFill>
                <a:effectLst/>
                <a:latin typeface="Arial" panose="020B0604020202020204" pitchFamily="34" charset="0"/>
              </a:rPr>
              <a:t> ensures the reliability of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Antennas are essential for converting between electrical and electromagnetic signals.</a:t>
            </a:r>
          </a:p>
          <a:p>
            <a:endParaRPr lang="en-US" dirty="0"/>
          </a:p>
          <a:p>
            <a:endParaRPr lang="en-US" dirty="0"/>
          </a:p>
        </p:txBody>
      </p:sp>
    </p:spTree>
    <p:extLst>
      <p:ext uri="{BB962C8B-B14F-4D97-AF65-F5344CB8AC3E}">
        <p14:creationId xmlns:p14="http://schemas.microsoft.com/office/powerpoint/2010/main" val="36164521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95401"/>
            <a:ext cx="9144000" cy="5308600"/>
            <a:chOff x="0" y="1295401"/>
            <a:chExt cx="9144000" cy="5308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p:cNvSpPr/>
            <p:nvPr/>
          </p:nvSpPr>
          <p:spPr>
            <a:xfrm>
              <a:off x="4495800"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p:cNvSpPr/>
            <p:nvPr/>
          </p:nvSpPr>
          <p:spPr>
            <a:xfrm>
              <a:off x="2133600" y="6558116"/>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p:cNvSpPr/>
            <p:nvPr/>
          </p:nvSpPr>
          <p:spPr>
            <a:xfrm>
              <a:off x="6815455"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12" name="object 12"/>
            <p:cNvPicPr/>
            <p:nvPr/>
          </p:nvPicPr>
          <p:blipFill>
            <a:blip r:embed="rId2" cstate="print"/>
            <a:stretch>
              <a:fillRect/>
            </a:stretch>
          </p:blipFill>
          <p:spPr>
            <a:xfrm>
              <a:off x="381000" y="1366900"/>
              <a:ext cx="8077200" cy="5196713"/>
            </a:xfrm>
            <a:prstGeom prst="rect">
              <a:avLst/>
            </a:prstGeom>
          </p:spPr>
        </p:pic>
      </p:grpSp>
      <p:pic>
        <p:nvPicPr>
          <p:cNvPr id="13" name="object 13"/>
          <p:cNvPicPr/>
          <p:nvPr/>
        </p:nvPicPr>
        <p:blipFill>
          <a:blip r:embed="rId3" cstate="print"/>
          <a:stretch>
            <a:fillRect/>
          </a:stretch>
        </p:blipFill>
        <p:spPr>
          <a:xfrm>
            <a:off x="6629400" y="0"/>
            <a:ext cx="2193163" cy="692658"/>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57</a:t>
            </a:fld>
            <a:endParaRPr spc="-25" dirty="0"/>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4B76AE4-5C7C-4279-2FD5-BB0F342D147C}"/>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761E5CC2-463C-896B-8191-AD495FD00948}"/>
              </a:ext>
            </a:extLst>
          </p:cNvPr>
          <p:cNvGrpSpPr/>
          <p:nvPr/>
        </p:nvGrpSpPr>
        <p:grpSpPr>
          <a:xfrm>
            <a:off x="0" y="1295401"/>
            <a:ext cx="9144380" cy="5308435"/>
            <a:chOff x="0" y="1295401"/>
            <a:chExt cx="9144380" cy="5308435"/>
          </a:xfrm>
        </p:grpSpPr>
        <p:sp>
          <p:nvSpPr>
            <p:cNvPr id="3" name="object 3">
              <a:extLst>
                <a:ext uri="{FF2B5EF4-FFF2-40B4-BE49-F238E27FC236}">
                  <a16:creationId xmlns:a16="http://schemas.microsoft.com/office/drawing/2014/main" id="{317C3EB5-4D86-81F4-DA34-C6B5934CA9C7}"/>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17C32CAE-1174-6EDC-D420-481A1A3F0157}"/>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356DD3F7-57F4-2429-1185-BA197EED4BC1}"/>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a:extLst>
                <a:ext uri="{FF2B5EF4-FFF2-40B4-BE49-F238E27FC236}">
                  <a16:creationId xmlns:a16="http://schemas.microsoft.com/office/drawing/2014/main" id="{FE2FEAC0-EAD7-5761-95DF-50E66FC109DD}"/>
                </a:ext>
              </a:extLst>
            </p:cNvPr>
            <p:cNvSpPr/>
            <p:nvPr/>
          </p:nvSpPr>
          <p:spPr>
            <a:xfrm>
              <a:off x="4495800"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a:extLst>
                <a:ext uri="{FF2B5EF4-FFF2-40B4-BE49-F238E27FC236}">
                  <a16:creationId xmlns:a16="http://schemas.microsoft.com/office/drawing/2014/main" id="{88EE7EDD-7C61-502B-2709-92956C02D62C}"/>
                </a:ext>
              </a:extLst>
            </p:cNvPr>
            <p:cNvSpPr/>
            <p:nvPr/>
          </p:nvSpPr>
          <p:spPr>
            <a:xfrm>
              <a:off x="2133600" y="6558116"/>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a:extLst>
                <a:ext uri="{FF2B5EF4-FFF2-40B4-BE49-F238E27FC236}">
                  <a16:creationId xmlns:a16="http://schemas.microsoft.com/office/drawing/2014/main" id="{0218DF30-F742-8576-413A-75D863CC6740}"/>
                </a:ext>
              </a:extLst>
            </p:cNvPr>
            <p:cNvSpPr/>
            <p:nvPr/>
          </p:nvSpPr>
          <p:spPr>
            <a:xfrm>
              <a:off x="6815455"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9" name="object 9">
              <a:extLst>
                <a:ext uri="{FF2B5EF4-FFF2-40B4-BE49-F238E27FC236}">
                  <a16:creationId xmlns:a16="http://schemas.microsoft.com/office/drawing/2014/main" id="{DA2B8FD6-A175-2683-666C-F03806EBA190}"/>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0" name="object 10">
              <a:extLst>
                <a:ext uri="{FF2B5EF4-FFF2-40B4-BE49-F238E27FC236}">
                  <a16:creationId xmlns:a16="http://schemas.microsoft.com/office/drawing/2014/main" id="{B536C8C6-A842-A182-F667-D600CC1E7ED9}"/>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1" name="object 11">
              <a:extLst>
                <a:ext uri="{FF2B5EF4-FFF2-40B4-BE49-F238E27FC236}">
                  <a16:creationId xmlns:a16="http://schemas.microsoft.com/office/drawing/2014/main" id="{EAD914A2-71E3-2462-3553-21F11C6C3D1D}"/>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13" name="object 13">
            <a:extLst>
              <a:ext uri="{FF2B5EF4-FFF2-40B4-BE49-F238E27FC236}">
                <a16:creationId xmlns:a16="http://schemas.microsoft.com/office/drawing/2014/main" id="{0917BC4F-0F5F-C9E4-A08E-D19659F9874B}"/>
              </a:ext>
            </a:extLst>
          </p:cNvPr>
          <p:cNvPicPr/>
          <p:nvPr/>
        </p:nvPicPr>
        <p:blipFill>
          <a:blip r:embed="rId2" cstate="print"/>
          <a:stretch>
            <a:fillRect/>
          </a:stretch>
        </p:blipFill>
        <p:spPr>
          <a:xfrm>
            <a:off x="6629400" y="0"/>
            <a:ext cx="2193163" cy="692658"/>
          </a:xfrm>
          <a:prstGeom prst="rect">
            <a:avLst/>
          </a:prstGeom>
        </p:spPr>
      </p:pic>
      <p:sp>
        <p:nvSpPr>
          <p:cNvPr id="14" name="object 14">
            <a:extLst>
              <a:ext uri="{FF2B5EF4-FFF2-40B4-BE49-F238E27FC236}">
                <a16:creationId xmlns:a16="http://schemas.microsoft.com/office/drawing/2014/main" id="{244E56D0-F38D-2B2F-C2A6-210634F6816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58</a:t>
            </a:fld>
            <a:endParaRPr spc="-25" dirty="0"/>
          </a:p>
        </p:txBody>
      </p:sp>
      <p:sp>
        <p:nvSpPr>
          <p:cNvPr id="15" name="object 15">
            <a:extLst>
              <a:ext uri="{FF2B5EF4-FFF2-40B4-BE49-F238E27FC236}">
                <a16:creationId xmlns:a16="http://schemas.microsoft.com/office/drawing/2014/main" id="{97EAB27A-F767-07A1-00ED-FEB3B391EDC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6" name="TextBox 15">
            <a:extLst>
              <a:ext uri="{FF2B5EF4-FFF2-40B4-BE49-F238E27FC236}">
                <a16:creationId xmlns:a16="http://schemas.microsoft.com/office/drawing/2014/main" id="{FE9C3E70-A60D-5353-CEF5-8277B466A4D9}"/>
              </a:ext>
            </a:extLst>
          </p:cNvPr>
          <p:cNvSpPr txBox="1"/>
          <p:nvPr/>
        </p:nvSpPr>
        <p:spPr>
          <a:xfrm>
            <a:off x="0" y="1341121"/>
            <a:ext cx="9063862" cy="5355312"/>
          </a:xfrm>
          <a:prstGeom prst="rect">
            <a:avLst/>
          </a:prstGeom>
          <a:noFill/>
        </p:spPr>
        <p:txBody>
          <a:bodyPr wrap="square" rtlCol="0">
            <a:spAutoFit/>
          </a:bodyPr>
          <a:lstStyle/>
          <a:p>
            <a:pPr>
              <a:buNone/>
            </a:pPr>
            <a:r>
              <a:rPr lang="en-US" b="1" dirty="0"/>
              <a:t>(a) Early Mobile Radio System – Large Zone</a:t>
            </a:r>
          </a:p>
          <a:p>
            <a:pPr>
              <a:buFont typeface="Arial" panose="020B0604020202020204" pitchFamily="34" charset="0"/>
              <a:buChar char="•"/>
            </a:pPr>
            <a:r>
              <a:rPr lang="en-US" dirty="0"/>
              <a:t>Uses a </a:t>
            </a:r>
            <a:r>
              <a:rPr lang="en-US" b="1" dirty="0"/>
              <a:t>high-power transmitter</a:t>
            </a:r>
            <a:r>
              <a:rPr lang="en-US" dirty="0"/>
              <a:t> with a tall antenna tower.</a:t>
            </a:r>
          </a:p>
          <a:p>
            <a:pPr>
              <a:buFont typeface="Arial" panose="020B0604020202020204" pitchFamily="34" charset="0"/>
              <a:buChar char="•"/>
            </a:pPr>
            <a:r>
              <a:rPr lang="en-US" dirty="0"/>
              <a:t>Covers a </a:t>
            </a:r>
            <a:r>
              <a:rPr lang="en-US" b="1" dirty="0"/>
              <a:t>large area</a:t>
            </a:r>
            <a:r>
              <a:rPr lang="en-US" dirty="0"/>
              <a:t> using just </a:t>
            </a:r>
            <a:r>
              <a:rPr lang="en-US" b="1" dirty="0"/>
              <a:t>one base station</a:t>
            </a:r>
            <a:r>
              <a:rPr lang="en-US" dirty="0"/>
              <a:t>.</a:t>
            </a:r>
          </a:p>
          <a:p>
            <a:pPr>
              <a:buFont typeface="Arial" panose="020B0604020202020204" pitchFamily="34" charset="0"/>
              <a:buChar char="•"/>
            </a:pPr>
            <a:r>
              <a:rPr lang="en-US" dirty="0"/>
              <a:t>All users in the zone connect to the </a:t>
            </a:r>
            <a:r>
              <a:rPr lang="en-US" b="1" dirty="0"/>
              <a:t>same transmitter</a:t>
            </a:r>
            <a:r>
              <a:rPr lang="en-US" dirty="0"/>
              <a:t>.</a:t>
            </a:r>
          </a:p>
          <a:p>
            <a:pPr>
              <a:buFont typeface="Arial" panose="020B0604020202020204" pitchFamily="34" charset="0"/>
              <a:buChar char="•"/>
            </a:pPr>
            <a:r>
              <a:rPr lang="en-US" b="1" dirty="0"/>
              <a:t>Limitations:</a:t>
            </a:r>
            <a:endParaRPr lang="en-US" dirty="0"/>
          </a:p>
          <a:p>
            <a:pPr marL="742950" lvl="1" indent="-285750">
              <a:buFont typeface="Arial" panose="020B0604020202020204" pitchFamily="34" charset="0"/>
              <a:buChar char="•"/>
            </a:pPr>
            <a:r>
              <a:rPr lang="en-US" dirty="0"/>
              <a:t>Signal quality degrades with distance.</a:t>
            </a:r>
          </a:p>
          <a:p>
            <a:pPr marL="742950" lvl="1" indent="-285750">
              <a:buFont typeface="Arial" panose="020B0604020202020204" pitchFamily="34" charset="0"/>
              <a:buChar char="•"/>
            </a:pPr>
            <a:r>
              <a:rPr lang="en-US" dirty="0"/>
              <a:t>Supports fewer users due to spectrum limitations.</a:t>
            </a:r>
          </a:p>
          <a:p>
            <a:pPr marL="742950" lvl="1" indent="-285750">
              <a:buFont typeface="Arial" panose="020B0604020202020204" pitchFamily="34" charset="0"/>
              <a:buChar char="•"/>
            </a:pPr>
            <a:r>
              <a:rPr lang="en-US" dirty="0"/>
              <a:t>Harder to reuse frequencies efficiently.</a:t>
            </a:r>
          </a:p>
          <a:p>
            <a:pPr>
              <a:buNone/>
            </a:pPr>
            <a:r>
              <a:rPr lang="en-US" b="1" dirty="0"/>
              <a:t>(b) Cellular System – Small Zone</a:t>
            </a:r>
          </a:p>
          <a:p>
            <a:pPr>
              <a:buFont typeface="Arial" panose="020B0604020202020204" pitchFamily="34" charset="0"/>
              <a:buChar char="•"/>
            </a:pPr>
            <a:r>
              <a:rPr lang="en-US" dirty="0"/>
              <a:t>Entire area is divided into </a:t>
            </a:r>
            <a:r>
              <a:rPr lang="en-US" b="1" dirty="0"/>
              <a:t>multiple small zones (cells)</a:t>
            </a:r>
            <a:r>
              <a:rPr lang="en-US" dirty="0"/>
              <a:t>.</a:t>
            </a:r>
          </a:p>
          <a:p>
            <a:pPr>
              <a:buFont typeface="Arial" panose="020B0604020202020204" pitchFamily="34" charset="0"/>
              <a:buChar char="•"/>
            </a:pPr>
            <a:r>
              <a:rPr lang="en-US" dirty="0"/>
              <a:t>Each cell has a </a:t>
            </a:r>
            <a:r>
              <a:rPr lang="en-US" b="1" dirty="0"/>
              <a:t>Base Station (BS)</a:t>
            </a:r>
            <a:r>
              <a:rPr lang="en-US" dirty="0"/>
              <a:t> with a </a:t>
            </a:r>
            <a:r>
              <a:rPr lang="en-US" b="1" dirty="0"/>
              <a:t>low-power transmitter</a:t>
            </a:r>
            <a:r>
              <a:rPr lang="en-US" dirty="0"/>
              <a:t>.</a:t>
            </a:r>
          </a:p>
          <a:p>
            <a:pPr>
              <a:buFont typeface="Arial" panose="020B0604020202020204" pitchFamily="34" charset="0"/>
              <a:buChar char="•"/>
            </a:pPr>
            <a:r>
              <a:rPr lang="en-US" dirty="0"/>
              <a:t>Same overall coverage area as the large zone system.</a:t>
            </a:r>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Efficient </a:t>
            </a:r>
            <a:r>
              <a:rPr lang="en-US" b="1" dirty="0"/>
              <a:t>frequency reuse</a:t>
            </a:r>
            <a:r>
              <a:rPr lang="en-US" dirty="0"/>
              <a:t> (adjacent cells use different frequencies).</a:t>
            </a:r>
          </a:p>
          <a:p>
            <a:pPr marL="742950" lvl="1" indent="-285750">
              <a:buFont typeface="Arial" panose="020B0604020202020204" pitchFamily="34" charset="0"/>
              <a:buChar char="•"/>
            </a:pPr>
            <a:r>
              <a:rPr lang="en-US" dirty="0"/>
              <a:t>Supports </a:t>
            </a:r>
            <a:r>
              <a:rPr lang="en-US" b="1" dirty="0"/>
              <a:t>more users</a:t>
            </a:r>
            <a:r>
              <a:rPr lang="en-US" dirty="0"/>
              <a:t> within the same area.</a:t>
            </a:r>
          </a:p>
          <a:p>
            <a:pPr marL="742950" lvl="1" indent="-285750">
              <a:buFont typeface="Arial" panose="020B0604020202020204" pitchFamily="34" charset="0"/>
              <a:buChar char="•"/>
            </a:pPr>
            <a:r>
              <a:rPr lang="en-US" dirty="0"/>
              <a:t>Better </a:t>
            </a:r>
            <a:r>
              <a:rPr lang="en-US" b="1" dirty="0"/>
              <a:t>signal quality</a:t>
            </a:r>
            <a:r>
              <a:rPr lang="en-US" dirty="0"/>
              <a:t> and </a:t>
            </a:r>
            <a:r>
              <a:rPr lang="en-US" b="1" dirty="0"/>
              <a:t>call reliability</a:t>
            </a:r>
            <a:r>
              <a:rPr lang="en-US" dirty="0"/>
              <a:t>.</a:t>
            </a:r>
          </a:p>
          <a:p>
            <a:pPr marL="742950" lvl="1" indent="-285750">
              <a:buFont typeface="Arial" panose="020B0604020202020204" pitchFamily="34" charset="0"/>
              <a:buChar char="•"/>
            </a:pPr>
            <a:r>
              <a:rPr lang="en-US" dirty="0"/>
              <a:t>Allows </a:t>
            </a:r>
            <a:r>
              <a:rPr lang="en-US" b="1" dirty="0"/>
              <a:t>seamless handoff</a:t>
            </a:r>
            <a:r>
              <a:rPr lang="en-US" dirty="0"/>
              <a:t> of mobile users between cells.</a:t>
            </a:r>
          </a:p>
          <a:p>
            <a:pPr marL="457200" lvl="1"/>
            <a:endParaRPr lang="en-US" dirty="0"/>
          </a:p>
          <a:p>
            <a:endParaRPr lang="en-IN" dirty="0"/>
          </a:p>
        </p:txBody>
      </p:sp>
    </p:spTree>
    <p:extLst>
      <p:ext uri="{BB962C8B-B14F-4D97-AF65-F5344CB8AC3E}">
        <p14:creationId xmlns:p14="http://schemas.microsoft.com/office/powerpoint/2010/main" val="8351401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348DDB-15F2-E296-FEF8-C4EEDB531FE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37F2E72E-7BDD-6EB3-8DD6-62055FD0CD5F}"/>
              </a:ext>
            </a:extLst>
          </p:cNvPr>
          <p:cNvGrpSpPr/>
          <p:nvPr/>
        </p:nvGrpSpPr>
        <p:grpSpPr>
          <a:xfrm>
            <a:off x="0" y="1295401"/>
            <a:ext cx="9144380" cy="5308435"/>
            <a:chOff x="0" y="1295401"/>
            <a:chExt cx="9144380" cy="5308435"/>
          </a:xfrm>
        </p:grpSpPr>
        <p:sp>
          <p:nvSpPr>
            <p:cNvPr id="3" name="object 3">
              <a:extLst>
                <a:ext uri="{FF2B5EF4-FFF2-40B4-BE49-F238E27FC236}">
                  <a16:creationId xmlns:a16="http://schemas.microsoft.com/office/drawing/2014/main" id="{CDB55738-41A1-35AA-8BBF-D134F10C3601}"/>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E8D89E73-34D5-0A39-667F-E73DC0CC3D1B}"/>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E8017CC0-3664-75E9-9DBB-6B6A1E00688B}"/>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sp>
          <p:nvSpPr>
            <p:cNvPr id="6" name="object 6">
              <a:extLst>
                <a:ext uri="{FF2B5EF4-FFF2-40B4-BE49-F238E27FC236}">
                  <a16:creationId xmlns:a16="http://schemas.microsoft.com/office/drawing/2014/main" id="{6B835C2D-ECE1-597D-113C-3FCCF94CAA87}"/>
                </a:ext>
              </a:extLst>
            </p:cNvPr>
            <p:cNvSpPr/>
            <p:nvPr/>
          </p:nvSpPr>
          <p:spPr>
            <a:xfrm>
              <a:off x="4495800"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7" name="object 7">
              <a:extLst>
                <a:ext uri="{FF2B5EF4-FFF2-40B4-BE49-F238E27FC236}">
                  <a16:creationId xmlns:a16="http://schemas.microsoft.com/office/drawing/2014/main" id="{7395B9A3-75D5-902D-D7D3-B9452A857CA9}"/>
                </a:ext>
              </a:extLst>
            </p:cNvPr>
            <p:cNvSpPr/>
            <p:nvPr/>
          </p:nvSpPr>
          <p:spPr>
            <a:xfrm>
              <a:off x="2133600" y="6558116"/>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8" name="object 8">
              <a:extLst>
                <a:ext uri="{FF2B5EF4-FFF2-40B4-BE49-F238E27FC236}">
                  <a16:creationId xmlns:a16="http://schemas.microsoft.com/office/drawing/2014/main" id="{4F1BF5A9-32AB-3000-5C60-65098F5695A1}"/>
                </a:ext>
              </a:extLst>
            </p:cNvPr>
            <p:cNvSpPr/>
            <p:nvPr/>
          </p:nvSpPr>
          <p:spPr>
            <a:xfrm>
              <a:off x="6815455"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9" name="object 9">
              <a:extLst>
                <a:ext uri="{FF2B5EF4-FFF2-40B4-BE49-F238E27FC236}">
                  <a16:creationId xmlns:a16="http://schemas.microsoft.com/office/drawing/2014/main" id="{8E024E5F-597B-E55A-D8E7-9D71E38703D4}"/>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0" name="object 10">
              <a:extLst>
                <a:ext uri="{FF2B5EF4-FFF2-40B4-BE49-F238E27FC236}">
                  <a16:creationId xmlns:a16="http://schemas.microsoft.com/office/drawing/2014/main" id="{5BAA05E5-8871-7D69-9E40-366C5910F26E}"/>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1" name="object 11">
              <a:extLst>
                <a:ext uri="{FF2B5EF4-FFF2-40B4-BE49-F238E27FC236}">
                  <a16:creationId xmlns:a16="http://schemas.microsoft.com/office/drawing/2014/main" id="{98175E80-1512-CF8C-5135-0BD68D575F70}"/>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13" name="object 13">
            <a:extLst>
              <a:ext uri="{FF2B5EF4-FFF2-40B4-BE49-F238E27FC236}">
                <a16:creationId xmlns:a16="http://schemas.microsoft.com/office/drawing/2014/main" id="{55DA964F-3B27-0CF4-A550-46E227E64C45}"/>
              </a:ext>
            </a:extLst>
          </p:cNvPr>
          <p:cNvPicPr/>
          <p:nvPr/>
        </p:nvPicPr>
        <p:blipFill>
          <a:blip r:embed="rId2" cstate="print"/>
          <a:stretch>
            <a:fillRect/>
          </a:stretch>
        </p:blipFill>
        <p:spPr>
          <a:xfrm>
            <a:off x="6629400" y="0"/>
            <a:ext cx="2193163" cy="692658"/>
          </a:xfrm>
          <a:prstGeom prst="rect">
            <a:avLst/>
          </a:prstGeom>
        </p:spPr>
      </p:pic>
      <p:sp>
        <p:nvSpPr>
          <p:cNvPr id="14" name="object 14">
            <a:extLst>
              <a:ext uri="{FF2B5EF4-FFF2-40B4-BE49-F238E27FC236}">
                <a16:creationId xmlns:a16="http://schemas.microsoft.com/office/drawing/2014/main" id="{3BEEE2EA-CC28-0866-ABD0-6A8EE68AD74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59</a:t>
            </a:fld>
            <a:endParaRPr spc="-25" dirty="0"/>
          </a:p>
        </p:txBody>
      </p:sp>
      <p:sp>
        <p:nvSpPr>
          <p:cNvPr id="15" name="object 15">
            <a:extLst>
              <a:ext uri="{FF2B5EF4-FFF2-40B4-BE49-F238E27FC236}">
                <a16:creationId xmlns:a16="http://schemas.microsoft.com/office/drawing/2014/main" id="{C66F8552-598E-E27D-34F9-7BBDAE36E7E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12" name="Table 11">
            <a:extLst>
              <a:ext uri="{FF2B5EF4-FFF2-40B4-BE49-F238E27FC236}">
                <a16:creationId xmlns:a16="http://schemas.microsoft.com/office/drawing/2014/main" id="{EA179027-5FC2-A021-5936-802D6EDD1212}"/>
              </a:ext>
            </a:extLst>
          </p:cNvPr>
          <p:cNvGraphicFramePr>
            <a:graphicFrameLocks noGrp="1"/>
          </p:cNvGraphicFramePr>
          <p:nvPr>
            <p:extLst>
              <p:ext uri="{D42A27DB-BD31-4B8C-83A1-F6EECF244321}">
                <p14:modId xmlns:p14="http://schemas.microsoft.com/office/powerpoint/2010/main" val="1438409482"/>
              </p:ext>
            </p:extLst>
          </p:nvPr>
        </p:nvGraphicFramePr>
        <p:xfrm>
          <a:off x="152400" y="1427105"/>
          <a:ext cx="8312151" cy="2194560"/>
        </p:xfrm>
        <a:graphic>
          <a:graphicData uri="http://schemas.openxmlformats.org/drawingml/2006/table">
            <a:tbl>
              <a:tblPr/>
              <a:tblGrid>
                <a:gridCol w="2770717">
                  <a:extLst>
                    <a:ext uri="{9D8B030D-6E8A-4147-A177-3AD203B41FA5}">
                      <a16:colId xmlns:a16="http://schemas.microsoft.com/office/drawing/2014/main" val="3605298859"/>
                    </a:ext>
                  </a:extLst>
                </a:gridCol>
                <a:gridCol w="2770717">
                  <a:extLst>
                    <a:ext uri="{9D8B030D-6E8A-4147-A177-3AD203B41FA5}">
                      <a16:colId xmlns:a16="http://schemas.microsoft.com/office/drawing/2014/main" val="3115832647"/>
                    </a:ext>
                  </a:extLst>
                </a:gridCol>
                <a:gridCol w="2770717">
                  <a:extLst>
                    <a:ext uri="{9D8B030D-6E8A-4147-A177-3AD203B41FA5}">
                      <a16:colId xmlns:a16="http://schemas.microsoft.com/office/drawing/2014/main" val="2365047392"/>
                    </a:ext>
                  </a:extLst>
                </a:gridCol>
              </a:tblGrid>
              <a:tr h="365760">
                <a:tc>
                  <a:txBody>
                    <a:bodyPr/>
                    <a:lstStyle/>
                    <a:p>
                      <a:r>
                        <a:rPr lang="en-IN" sz="1800"/>
                        <a:t>Feature</a:t>
                      </a:r>
                    </a:p>
                  </a:txBody>
                  <a:tcPr anchor="ctr">
                    <a:lnL>
                      <a:noFill/>
                    </a:lnL>
                    <a:lnR>
                      <a:noFill/>
                    </a:lnR>
                    <a:lnT>
                      <a:noFill/>
                    </a:lnT>
                    <a:lnB>
                      <a:noFill/>
                    </a:lnB>
                    <a:noFill/>
                  </a:tcPr>
                </a:tc>
                <a:tc>
                  <a:txBody>
                    <a:bodyPr/>
                    <a:lstStyle/>
                    <a:p>
                      <a:r>
                        <a:rPr lang="en-IN" sz="1800"/>
                        <a:t>Early Mobile Radio</a:t>
                      </a:r>
                    </a:p>
                  </a:txBody>
                  <a:tcPr anchor="ctr">
                    <a:lnL>
                      <a:noFill/>
                    </a:lnL>
                    <a:lnR>
                      <a:noFill/>
                    </a:lnR>
                    <a:lnT>
                      <a:noFill/>
                    </a:lnT>
                    <a:lnB>
                      <a:noFill/>
                    </a:lnB>
                    <a:noFill/>
                  </a:tcPr>
                </a:tc>
                <a:tc>
                  <a:txBody>
                    <a:bodyPr/>
                    <a:lstStyle/>
                    <a:p>
                      <a:r>
                        <a:rPr lang="en-IN" sz="1800"/>
                        <a:t>Cellular System</a:t>
                      </a:r>
                    </a:p>
                  </a:txBody>
                  <a:tcPr anchor="ctr">
                    <a:lnL>
                      <a:noFill/>
                    </a:lnL>
                    <a:lnR>
                      <a:noFill/>
                    </a:lnR>
                    <a:lnT>
                      <a:noFill/>
                    </a:lnT>
                    <a:lnB>
                      <a:noFill/>
                    </a:lnB>
                    <a:noFill/>
                  </a:tcPr>
                </a:tc>
                <a:extLst>
                  <a:ext uri="{0D108BD9-81ED-4DB2-BD59-A6C34878D82A}">
                    <a16:rowId xmlns:a16="http://schemas.microsoft.com/office/drawing/2014/main" val="4087305905"/>
                  </a:ext>
                </a:extLst>
              </a:tr>
              <a:tr h="365760">
                <a:tc>
                  <a:txBody>
                    <a:bodyPr/>
                    <a:lstStyle/>
                    <a:p>
                      <a:r>
                        <a:rPr lang="en-IN" sz="1800"/>
                        <a:t>Coverage</a:t>
                      </a:r>
                    </a:p>
                  </a:txBody>
                  <a:tcPr anchor="ctr">
                    <a:lnL>
                      <a:noFill/>
                    </a:lnL>
                    <a:lnR>
                      <a:noFill/>
                    </a:lnR>
                    <a:lnT>
                      <a:noFill/>
                    </a:lnT>
                    <a:lnB>
                      <a:noFill/>
                    </a:lnB>
                    <a:noFill/>
                  </a:tcPr>
                </a:tc>
                <a:tc>
                  <a:txBody>
                    <a:bodyPr/>
                    <a:lstStyle/>
                    <a:p>
                      <a:r>
                        <a:rPr lang="en-IN" sz="1800"/>
                        <a:t>Single large zone</a:t>
                      </a:r>
                    </a:p>
                  </a:txBody>
                  <a:tcPr anchor="ctr">
                    <a:lnL>
                      <a:noFill/>
                    </a:lnL>
                    <a:lnR>
                      <a:noFill/>
                    </a:lnR>
                    <a:lnT>
                      <a:noFill/>
                    </a:lnT>
                    <a:lnB>
                      <a:noFill/>
                    </a:lnB>
                    <a:noFill/>
                  </a:tcPr>
                </a:tc>
                <a:tc>
                  <a:txBody>
                    <a:bodyPr/>
                    <a:lstStyle/>
                    <a:p>
                      <a:r>
                        <a:rPr lang="en-IN" sz="1800"/>
                        <a:t>Multiple small zones</a:t>
                      </a:r>
                    </a:p>
                  </a:txBody>
                  <a:tcPr anchor="ctr">
                    <a:lnL>
                      <a:noFill/>
                    </a:lnL>
                    <a:lnR>
                      <a:noFill/>
                    </a:lnR>
                    <a:lnT>
                      <a:noFill/>
                    </a:lnT>
                    <a:lnB>
                      <a:noFill/>
                    </a:lnB>
                    <a:noFill/>
                  </a:tcPr>
                </a:tc>
                <a:extLst>
                  <a:ext uri="{0D108BD9-81ED-4DB2-BD59-A6C34878D82A}">
                    <a16:rowId xmlns:a16="http://schemas.microsoft.com/office/drawing/2014/main" val="3827890030"/>
                  </a:ext>
                </a:extLst>
              </a:tr>
              <a:tr h="365760">
                <a:tc>
                  <a:txBody>
                    <a:bodyPr/>
                    <a:lstStyle/>
                    <a:p>
                      <a:r>
                        <a:rPr lang="en-IN" sz="1800"/>
                        <a:t>Power</a:t>
                      </a:r>
                    </a:p>
                  </a:txBody>
                  <a:tcPr anchor="ctr">
                    <a:lnL>
                      <a:noFill/>
                    </a:lnL>
                    <a:lnR>
                      <a:noFill/>
                    </a:lnR>
                    <a:lnT>
                      <a:noFill/>
                    </a:lnT>
                    <a:lnB>
                      <a:noFill/>
                    </a:lnB>
                    <a:noFill/>
                  </a:tcPr>
                </a:tc>
                <a:tc>
                  <a:txBody>
                    <a:bodyPr/>
                    <a:lstStyle/>
                    <a:p>
                      <a:r>
                        <a:rPr lang="en-IN" sz="1800"/>
                        <a:t>High</a:t>
                      </a:r>
                    </a:p>
                  </a:txBody>
                  <a:tcPr anchor="ctr">
                    <a:lnL>
                      <a:noFill/>
                    </a:lnL>
                    <a:lnR>
                      <a:noFill/>
                    </a:lnR>
                    <a:lnT>
                      <a:noFill/>
                    </a:lnT>
                    <a:lnB>
                      <a:noFill/>
                    </a:lnB>
                    <a:noFill/>
                  </a:tcPr>
                </a:tc>
                <a:tc>
                  <a:txBody>
                    <a:bodyPr/>
                    <a:lstStyle/>
                    <a:p>
                      <a:r>
                        <a:rPr lang="en-IN" sz="1800"/>
                        <a:t>Low</a:t>
                      </a:r>
                    </a:p>
                  </a:txBody>
                  <a:tcPr anchor="ctr">
                    <a:lnL>
                      <a:noFill/>
                    </a:lnL>
                    <a:lnR>
                      <a:noFill/>
                    </a:lnR>
                    <a:lnT>
                      <a:noFill/>
                    </a:lnT>
                    <a:lnB>
                      <a:noFill/>
                    </a:lnB>
                    <a:noFill/>
                  </a:tcPr>
                </a:tc>
                <a:extLst>
                  <a:ext uri="{0D108BD9-81ED-4DB2-BD59-A6C34878D82A}">
                    <a16:rowId xmlns:a16="http://schemas.microsoft.com/office/drawing/2014/main" val="3568366188"/>
                  </a:ext>
                </a:extLst>
              </a:tr>
              <a:tr h="365760">
                <a:tc>
                  <a:txBody>
                    <a:bodyPr/>
                    <a:lstStyle/>
                    <a:p>
                      <a:r>
                        <a:rPr lang="en-IN" sz="1800"/>
                        <a:t>Scalability</a:t>
                      </a:r>
                    </a:p>
                  </a:txBody>
                  <a:tcPr anchor="ctr">
                    <a:lnL>
                      <a:noFill/>
                    </a:lnL>
                    <a:lnR>
                      <a:noFill/>
                    </a:lnR>
                    <a:lnT>
                      <a:noFill/>
                    </a:lnT>
                    <a:lnB>
                      <a:noFill/>
                    </a:lnB>
                    <a:noFill/>
                  </a:tcPr>
                </a:tc>
                <a:tc>
                  <a:txBody>
                    <a:bodyPr/>
                    <a:lstStyle/>
                    <a:p>
                      <a:r>
                        <a:rPr lang="en-IN" sz="1800"/>
                        <a:t>Limited</a:t>
                      </a:r>
                    </a:p>
                  </a:txBody>
                  <a:tcPr anchor="ctr">
                    <a:lnL>
                      <a:noFill/>
                    </a:lnL>
                    <a:lnR>
                      <a:noFill/>
                    </a:lnR>
                    <a:lnT>
                      <a:noFill/>
                    </a:lnT>
                    <a:lnB>
                      <a:noFill/>
                    </a:lnB>
                    <a:noFill/>
                  </a:tcPr>
                </a:tc>
                <a:tc>
                  <a:txBody>
                    <a:bodyPr/>
                    <a:lstStyle/>
                    <a:p>
                      <a:r>
                        <a:rPr lang="en-IN" sz="1800"/>
                        <a:t>High</a:t>
                      </a:r>
                    </a:p>
                  </a:txBody>
                  <a:tcPr anchor="ctr">
                    <a:lnL>
                      <a:noFill/>
                    </a:lnL>
                    <a:lnR>
                      <a:noFill/>
                    </a:lnR>
                    <a:lnT>
                      <a:noFill/>
                    </a:lnT>
                    <a:lnB>
                      <a:noFill/>
                    </a:lnB>
                    <a:noFill/>
                  </a:tcPr>
                </a:tc>
                <a:extLst>
                  <a:ext uri="{0D108BD9-81ED-4DB2-BD59-A6C34878D82A}">
                    <a16:rowId xmlns:a16="http://schemas.microsoft.com/office/drawing/2014/main" val="806648805"/>
                  </a:ext>
                </a:extLst>
              </a:tr>
              <a:tr h="365760">
                <a:tc>
                  <a:txBody>
                    <a:bodyPr/>
                    <a:lstStyle/>
                    <a:p>
                      <a:r>
                        <a:rPr lang="en-IN" sz="1800"/>
                        <a:t>Frequency Reuse</a:t>
                      </a:r>
                    </a:p>
                  </a:txBody>
                  <a:tcPr anchor="ctr">
                    <a:lnL>
                      <a:noFill/>
                    </a:lnL>
                    <a:lnR>
                      <a:noFill/>
                    </a:lnR>
                    <a:lnT>
                      <a:noFill/>
                    </a:lnT>
                    <a:lnB>
                      <a:noFill/>
                    </a:lnB>
                    <a:noFill/>
                  </a:tcPr>
                </a:tc>
                <a:tc>
                  <a:txBody>
                    <a:bodyPr/>
                    <a:lstStyle/>
                    <a:p>
                      <a:r>
                        <a:rPr lang="en-IN" sz="1800"/>
                        <a:t>Poor</a:t>
                      </a:r>
                    </a:p>
                  </a:txBody>
                  <a:tcPr anchor="ctr">
                    <a:lnL>
                      <a:noFill/>
                    </a:lnL>
                    <a:lnR>
                      <a:noFill/>
                    </a:lnR>
                    <a:lnT>
                      <a:noFill/>
                    </a:lnT>
                    <a:lnB>
                      <a:noFill/>
                    </a:lnB>
                    <a:noFill/>
                  </a:tcPr>
                </a:tc>
                <a:tc>
                  <a:txBody>
                    <a:bodyPr/>
                    <a:lstStyle/>
                    <a:p>
                      <a:r>
                        <a:rPr lang="en-IN" sz="1800"/>
                        <a:t>Efficient</a:t>
                      </a:r>
                    </a:p>
                  </a:txBody>
                  <a:tcPr anchor="ctr">
                    <a:lnL>
                      <a:noFill/>
                    </a:lnL>
                    <a:lnR>
                      <a:noFill/>
                    </a:lnR>
                    <a:lnT>
                      <a:noFill/>
                    </a:lnT>
                    <a:lnB>
                      <a:noFill/>
                    </a:lnB>
                    <a:noFill/>
                  </a:tcPr>
                </a:tc>
                <a:extLst>
                  <a:ext uri="{0D108BD9-81ED-4DB2-BD59-A6C34878D82A}">
                    <a16:rowId xmlns:a16="http://schemas.microsoft.com/office/drawing/2014/main" val="565237373"/>
                  </a:ext>
                </a:extLst>
              </a:tr>
              <a:tr h="365760">
                <a:tc>
                  <a:txBody>
                    <a:bodyPr/>
                    <a:lstStyle/>
                    <a:p>
                      <a:r>
                        <a:rPr lang="en-IN" sz="1800"/>
                        <a:t>User Capacity</a:t>
                      </a:r>
                    </a:p>
                  </a:txBody>
                  <a:tcPr anchor="ctr">
                    <a:lnL>
                      <a:noFill/>
                    </a:lnL>
                    <a:lnR>
                      <a:noFill/>
                    </a:lnR>
                    <a:lnT>
                      <a:noFill/>
                    </a:lnT>
                    <a:lnB>
                      <a:noFill/>
                    </a:lnB>
                    <a:noFill/>
                  </a:tcPr>
                </a:tc>
                <a:tc>
                  <a:txBody>
                    <a:bodyPr/>
                    <a:lstStyle/>
                    <a:p>
                      <a:r>
                        <a:rPr lang="en-IN" sz="1800"/>
                        <a:t>Low</a:t>
                      </a:r>
                    </a:p>
                  </a:txBody>
                  <a:tcPr anchor="ctr">
                    <a:lnL>
                      <a:noFill/>
                    </a:lnL>
                    <a:lnR>
                      <a:noFill/>
                    </a:lnR>
                    <a:lnT>
                      <a:noFill/>
                    </a:lnT>
                    <a:lnB>
                      <a:noFill/>
                    </a:lnB>
                    <a:noFill/>
                  </a:tcPr>
                </a:tc>
                <a:tc>
                  <a:txBody>
                    <a:bodyPr/>
                    <a:lstStyle/>
                    <a:p>
                      <a:r>
                        <a:rPr lang="en-IN" sz="1800" dirty="0"/>
                        <a:t>High</a:t>
                      </a:r>
                    </a:p>
                  </a:txBody>
                  <a:tcPr anchor="ctr">
                    <a:lnL>
                      <a:noFill/>
                    </a:lnL>
                    <a:lnR>
                      <a:noFill/>
                    </a:lnR>
                    <a:lnT>
                      <a:noFill/>
                    </a:lnT>
                    <a:lnB>
                      <a:noFill/>
                    </a:lnB>
                    <a:noFill/>
                  </a:tcPr>
                </a:tc>
                <a:extLst>
                  <a:ext uri="{0D108BD9-81ED-4DB2-BD59-A6C34878D82A}">
                    <a16:rowId xmlns:a16="http://schemas.microsoft.com/office/drawing/2014/main" val="3706114777"/>
                  </a:ext>
                </a:extLst>
              </a:tr>
            </a:tbl>
          </a:graphicData>
        </a:graphic>
      </p:graphicFrame>
      <p:sp>
        <p:nvSpPr>
          <p:cNvPr id="18" name="TextBox 17">
            <a:extLst>
              <a:ext uri="{FF2B5EF4-FFF2-40B4-BE49-F238E27FC236}">
                <a16:creationId xmlns:a16="http://schemas.microsoft.com/office/drawing/2014/main" id="{93441297-37FB-009D-1F0C-A9434411980F}"/>
              </a:ext>
            </a:extLst>
          </p:cNvPr>
          <p:cNvSpPr txBox="1"/>
          <p:nvPr/>
        </p:nvSpPr>
        <p:spPr>
          <a:xfrm>
            <a:off x="160309" y="3894447"/>
            <a:ext cx="8662254" cy="646331"/>
          </a:xfrm>
          <a:prstGeom prst="rect">
            <a:avLst/>
          </a:prstGeom>
          <a:noFill/>
        </p:spPr>
        <p:txBody>
          <a:bodyPr wrap="square">
            <a:spAutoFit/>
          </a:bodyPr>
          <a:lstStyle/>
          <a:p>
            <a:r>
              <a:rPr lang="en-US" dirty="0"/>
              <a:t>The cellular concept revolutionized mobile communication by improving coverage, capacity, and spectral efficiency.</a:t>
            </a:r>
            <a:endParaRPr lang="en-IN" dirty="0"/>
          </a:p>
        </p:txBody>
      </p:sp>
    </p:spTree>
    <p:extLst>
      <p:ext uri="{BB962C8B-B14F-4D97-AF65-F5344CB8AC3E}">
        <p14:creationId xmlns:p14="http://schemas.microsoft.com/office/powerpoint/2010/main" val="10468941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198" y="1371600"/>
            <a:ext cx="9067801" cy="5029200"/>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60</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1A5EC-89F3-D66E-FE8F-603832FD090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A9A60D7-DEA9-CB55-884A-52E46A57436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61</a:t>
            </a:fld>
            <a:endParaRPr spc="-25" dirty="0"/>
          </a:p>
        </p:txBody>
      </p:sp>
      <p:sp>
        <p:nvSpPr>
          <p:cNvPr id="4" name="object 4">
            <a:extLst>
              <a:ext uri="{FF2B5EF4-FFF2-40B4-BE49-F238E27FC236}">
                <a16:creationId xmlns:a16="http://schemas.microsoft.com/office/drawing/2014/main" id="{67AF7EEA-9262-5162-5EA3-FCD52726283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TextBox 5">
            <a:extLst>
              <a:ext uri="{FF2B5EF4-FFF2-40B4-BE49-F238E27FC236}">
                <a16:creationId xmlns:a16="http://schemas.microsoft.com/office/drawing/2014/main" id="{03551F13-1C2D-A012-A6D7-CEA2DAE2533B}"/>
              </a:ext>
            </a:extLst>
          </p:cNvPr>
          <p:cNvSpPr txBox="1"/>
          <p:nvPr/>
        </p:nvSpPr>
        <p:spPr>
          <a:xfrm>
            <a:off x="0" y="1371600"/>
            <a:ext cx="9063862" cy="5078313"/>
          </a:xfrm>
          <a:prstGeom prst="rect">
            <a:avLst/>
          </a:prstGeom>
          <a:noFill/>
        </p:spPr>
        <p:txBody>
          <a:bodyPr wrap="square">
            <a:spAutoFit/>
          </a:bodyPr>
          <a:lstStyle/>
          <a:p>
            <a:pPr>
              <a:buNone/>
            </a:pPr>
            <a:r>
              <a:rPr lang="en-US" b="1" dirty="0"/>
              <a:t>1G – Analog Voice (1980s)</a:t>
            </a:r>
          </a:p>
          <a:p>
            <a:pPr>
              <a:buFont typeface="Arial" panose="020B0604020202020204" pitchFamily="34" charset="0"/>
              <a:buChar char="•"/>
            </a:pPr>
            <a:r>
              <a:rPr lang="en-US" b="1" dirty="0"/>
              <a:t>Technology:</a:t>
            </a:r>
            <a:r>
              <a:rPr lang="en-US" dirty="0"/>
              <a:t> AMPS (Advanced Mobile Phone System)</a:t>
            </a:r>
          </a:p>
          <a:p>
            <a:pPr>
              <a:buFont typeface="Arial" panose="020B0604020202020204" pitchFamily="34" charset="0"/>
              <a:buChar char="•"/>
            </a:pPr>
            <a:r>
              <a:rPr lang="en-US" b="1" dirty="0"/>
              <a:t>Service:</a:t>
            </a:r>
            <a:r>
              <a:rPr lang="en-US" dirty="0"/>
              <a:t> Analog voice only</a:t>
            </a:r>
          </a:p>
          <a:p>
            <a:pPr>
              <a:buFont typeface="Arial" panose="020B0604020202020204" pitchFamily="34" charset="0"/>
              <a:buChar char="•"/>
            </a:pPr>
            <a:r>
              <a:rPr lang="en-US" b="1" dirty="0"/>
              <a:t>Data Rate:</a:t>
            </a:r>
            <a:r>
              <a:rPr lang="en-US" dirty="0"/>
              <a:t> Very low (no digital data)</a:t>
            </a:r>
          </a:p>
          <a:p>
            <a:pPr>
              <a:buFont typeface="Arial" panose="020B0604020202020204" pitchFamily="34" charset="0"/>
              <a:buChar char="•"/>
            </a:pPr>
            <a:r>
              <a:rPr lang="en-US" b="1" dirty="0"/>
              <a:t>Limitations:</a:t>
            </a:r>
            <a:r>
              <a:rPr lang="en-US" dirty="0"/>
              <a:t> Poor voice quality, no security, no data</a:t>
            </a:r>
          </a:p>
          <a:p>
            <a:endParaRPr lang="en-US" dirty="0"/>
          </a:p>
          <a:p>
            <a:pPr>
              <a:buNone/>
            </a:pPr>
            <a:r>
              <a:rPr lang="en-US" b="1" dirty="0"/>
              <a:t>2G – Digital Voice (1990s)</a:t>
            </a:r>
          </a:p>
          <a:p>
            <a:pPr>
              <a:buFont typeface="Arial" panose="020B0604020202020204" pitchFamily="34" charset="0"/>
              <a:buChar char="•"/>
            </a:pPr>
            <a:r>
              <a:rPr lang="en-US" b="1" dirty="0"/>
              <a:t>Technology:</a:t>
            </a:r>
            <a:r>
              <a:rPr lang="en-US" dirty="0"/>
              <a:t> GSM, CDMA (IS-95, IS-136)</a:t>
            </a:r>
          </a:p>
          <a:p>
            <a:pPr>
              <a:buFont typeface="Arial" panose="020B0604020202020204" pitchFamily="34" charset="0"/>
              <a:buChar char="•"/>
            </a:pPr>
            <a:r>
              <a:rPr lang="en-US" b="1" dirty="0"/>
              <a:t>Service:</a:t>
            </a:r>
            <a:r>
              <a:rPr lang="en-US" dirty="0"/>
              <a:t> Digital voice, basic SMS</a:t>
            </a:r>
          </a:p>
          <a:p>
            <a:pPr>
              <a:buFont typeface="Arial" panose="020B0604020202020204" pitchFamily="34" charset="0"/>
              <a:buChar char="•"/>
            </a:pPr>
            <a:r>
              <a:rPr lang="en-US" b="1" dirty="0"/>
              <a:t>Data Rate:</a:t>
            </a:r>
            <a:r>
              <a:rPr lang="en-US" dirty="0"/>
              <a:t> 14.4 to 64 kbps</a:t>
            </a:r>
          </a:p>
          <a:p>
            <a:pPr>
              <a:buFont typeface="Arial" panose="020B0604020202020204" pitchFamily="34" charset="0"/>
              <a:buChar char="•"/>
            </a:pPr>
            <a:r>
              <a:rPr lang="en-US" b="1" dirty="0"/>
              <a:t>Advantage:</a:t>
            </a:r>
            <a:r>
              <a:rPr lang="en-US" dirty="0"/>
              <a:t> Better security, efficiency, battery life</a:t>
            </a:r>
          </a:p>
          <a:p>
            <a:endParaRPr lang="en-US" dirty="0"/>
          </a:p>
          <a:p>
            <a:pPr>
              <a:buNone/>
            </a:pPr>
            <a:r>
              <a:rPr lang="en-IN" b="1" dirty="0"/>
              <a:t>2.5G – Packet Data (2001+)</a:t>
            </a:r>
          </a:p>
          <a:p>
            <a:pPr>
              <a:buFont typeface="Arial" panose="020B0604020202020204" pitchFamily="34" charset="0"/>
              <a:buChar char="•"/>
            </a:pPr>
            <a:r>
              <a:rPr lang="en-IN" b="1" dirty="0"/>
              <a:t>Technology:</a:t>
            </a:r>
            <a:r>
              <a:rPr lang="en-IN" dirty="0"/>
              <a:t> GPRS, EDGE, </a:t>
            </a:r>
            <a:r>
              <a:rPr lang="en-IN" dirty="0" err="1"/>
              <a:t>CDMAone</a:t>
            </a:r>
            <a:endParaRPr lang="en-IN" dirty="0"/>
          </a:p>
          <a:p>
            <a:pPr>
              <a:buFont typeface="Arial" panose="020B0604020202020204" pitchFamily="34" charset="0"/>
              <a:buChar char="•"/>
            </a:pPr>
            <a:r>
              <a:rPr lang="en-IN" b="1" dirty="0"/>
              <a:t>Service:</a:t>
            </a:r>
            <a:r>
              <a:rPr lang="en-IN" dirty="0"/>
              <a:t> Voice + Packet Data (Internet, email)</a:t>
            </a:r>
          </a:p>
          <a:p>
            <a:pPr>
              <a:buFont typeface="Arial" panose="020B0604020202020204" pitchFamily="34" charset="0"/>
              <a:buChar char="•"/>
            </a:pPr>
            <a:r>
              <a:rPr lang="en-IN" b="1" dirty="0"/>
              <a:t>Data Rate:</a:t>
            </a:r>
            <a:r>
              <a:rPr lang="en-IN" dirty="0"/>
              <a:t> 64–144 kbps</a:t>
            </a:r>
          </a:p>
          <a:p>
            <a:pPr>
              <a:buFont typeface="Arial" panose="020B0604020202020204" pitchFamily="34" charset="0"/>
              <a:buChar char="•"/>
            </a:pPr>
            <a:r>
              <a:rPr lang="en-IN" b="1" dirty="0"/>
              <a:t>Role:</a:t>
            </a:r>
            <a:r>
              <a:rPr lang="en-IN" dirty="0"/>
              <a:t> Bridge between 2G and 3G, introduced mobile data</a:t>
            </a:r>
          </a:p>
          <a:p>
            <a:endParaRPr lang="en-US" dirty="0"/>
          </a:p>
        </p:txBody>
      </p:sp>
    </p:spTree>
    <p:extLst>
      <p:ext uri="{BB962C8B-B14F-4D97-AF65-F5344CB8AC3E}">
        <p14:creationId xmlns:p14="http://schemas.microsoft.com/office/powerpoint/2010/main" val="16384100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D1D91-BBD0-5510-4315-A6EC2143708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A8543D0-A7B4-FA7D-6426-BB3E5538C0D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62</a:t>
            </a:fld>
            <a:endParaRPr spc="-25" dirty="0"/>
          </a:p>
        </p:txBody>
      </p:sp>
      <p:sp>
        <p:nvSpPr>
          <p:cNvPr id="4" name="object 4">
            <a:extLst>
              <a:ext uri="{FF2B5EF4-FFF2-40B4-BE49-F238E27FC236}">
                <a16:creationId xmlns:a16="http://schemas.microsoft.com/office/drawing/2014/main" id="{B1C0CEDD-141D-7A8D-0A75-45ED9D3C208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TextBox 5">
            <a:extLst>
              <a:ext uri="{FF2B5EF4-FFF2-40B4-BE49-F238E27FC236}">
                <a16:creationId xmlns:a16="http://schemas.microsoft.com/office/drawing/2014/main" id="{91FFCF88-534B-C99E-C9F0-F8DA9171A807}"/>
              </a:ext>
            </a:extLst>
          </p:cNvPr>
          <p:cNvSpPr txBox="1"/>
          <p:nvPr/>
        </p:nvSpPr>
        <p:spPr>
          <a:xfrm>
            <a:off x="0" y="1371600"/>
            <a:ext cx="9063862" cy="3416320"/>
          </a:xfrm>
          <a:prstGeom prst="rect">
            <a:avLst/>
          </a:prstGeom>
          <a:noFill/>
        </p:spPr>
        <p:txBody>
          <a:bodyPr wrap="square">
            <a:spAutoFit/>
          </a:bodyPr>
          <a:lstStyle/>
          <a:p>
            <a:pPr>
              <a:buNone/>
            </a:pPr>
            <a:r>
              <a:rPr lang="en-IN" b="1" dirty="0"/>
              <a:t>3G – Wide Band (2003+)</a:t>
            </a:r>
          </a:p>
          <a:p>
            <a:pPr>
              <a:buFont typeface="Arial" panose="020B0604020202020204" pitchFamily="34" charset="0"/>
              <a:buChar char="•"/>
            </a:pPr>
            <a:r>
              <a:rPr lang="en-IN" b="1" dirty="0"/>
              <a:t>Technology:</a:t>
            </a:r>
            <a:r>
              <a:rPr lang="en-IN" dirty="0"/>
              <a:t> IMT-2000, WCDMA (UMTS), CDMA2000</a:t>
            </a:r>
          </a:p>
          <a:p>
            <a:pPr>
              <a:buFont typeface="Arial" panose="020B0604020202020204" pitchFamily="34" charset="0"/>
              <a:buChar char="•"/>
            </a:pPr>
            <a:r>
              <a:rPr lang="en-IN" b="1" dirty="0"/>
              <a:t>Service:</a:t>
            </a:r>
            <a:r>
              <a:rPr lang="en-IN" dirty="0"/>
              <a:t> Voice, SMS, </a:t>
            </a:r>
            <a:r>
              <a:rPr lang="en-IN" b="1" dirty="0"/>
              <a:t>multimedia</a:t>
            </a:r>
            <a:r>
              <a:rPr lang="en-IN" dirty="0"/>
              <a:t>, </a:t>
            </a:r>
            <a:r>
              <a:rPr lang="en-IN" b="1" dirty="0"/>
              <a:t>video calling</a:t>
            </a:r>
            <a:endParaRPr lang="en-IN" dirty="0"/>
          </a:p>
          <a:p>
            <a:pPr>
              <a:buFont typeface="Arial" panose="020B0604020202020204" pitchFamily="34" charset="0"/>
              <a:buChar char="•"/>
            </a:pPr>
            <a:r>
              <a:rPr lang="en-IN" b="1" dirty="0"/>
              <a:t>Data Rate:</a:t>
            </a:r>
            <a:r>
              <a:rPr lang="en-IN" dirty="0"/>
              <a:t> ~2 Mbps</a:t>
            </a:r>
          </a:p>
          <a:p>
            <a:pPr>
              <a:buFont typeface="Arial" panose="020B0604020202020204" pitchFamily="34" charset="0"/>
              <a:buChar char="•"/>
            </a:pPr>
            <a:r>
              <a:rPr lang="en-IN" b="1" dirty="0"/>
              <a:t>Advancement:</a:t>
            </a:r>
            <a:r>
              <a:rPr lang="en-IN" dirty="0"/>
              <a:t> Global roaming, faster internet, mobile apps</a:t>
            </a:r>
          </a:p>
          <a:p>
            <a:pPr>
              <a:buFont typeface="Arial" panose="020B0604020202020204" pitchFamily="34" charset="0"/>
              <a:buChar char="•"/>
            </a:pPr>
            <a:endParaRPr lang="en-IN" dirty="0"/>
          </a:p>
          <a:p>
            <a:pPr>
              <a:buNone/>
            </a:pPr>
            <a:r>
              <a:rPr lang="en-IN" b="1" dirty="0"/>
              <a:t>4G – Broad Band (2010–2015+)</a:t>
            </a:r>
          </a:p>
          <a:p>
            <a:pPr>
              <a:buFont typeface="Arial" panose="020B0604020202020204" pitchFamily="34" charset="0"/>
              <a:buChar char="•"/>
            </a:pPr>
            <a:r>
              <a:rPr lang="en-IN" b="1" dirty="0"/>
              <a:t>Technology:</a:t>
            </a:r>
            <a:r>
              <a:rPr lang="en-IN" dirty="0"/>
              <a:t> Wireless Internet Mobile System, Wireless IP (e.g., LTE)</a:t>
            </a:r>
          </a:p>
          <a:p>
            <a:pPr>
              <a:buFont typeface="Arial" panose="020B0604020202020204" pitchFamily="34" charset="0"/>
              <a:buChar char="•"/>
            </a:pPr>
            <a:r>
              <a:rPr lang="en-IN" b="1" dirty="0"/>
              <a:t>Service:</a:t>
            </a:r>
            <a:r>
              <a:rPr lang="en-IN" dirty="0"/>
              <a:t> High-speed data, </a:t>
            </a:r>
            <a:r>
              <a:rPr lang="en-IN" b="1" dirty="0"/>
              <a:t>HD video streaming</a:t>
            </a:r>
            <a:r>
              <a:rPr lang="en-IN" dirty="0"/>
              <a:t>, VoIP</a:t>
            </a:r>
          </a:p>
          <a:p>
            <a:pPr>
              <a:buFont typeface="Arial" panose="020B0604020202020204" pitchFamily="34" charset="0"/>
              <a:buChar char="•"/>
            </a:pPr>
            <a:r>
              <a:rPr lang="en-IN" b="1" dirty="0"/>
              <a:t>Data Rate:</a:t>
            </a:r>
            <a:r>
              <a:rPr lang="en-IN" dirty="0"/>
              <a:t> ~100 Mbps</a:t>
            </a:r>
          </a:p>
          <a:p>
            <a:pPr>
              <a:buFont typeface="Arial" panose="020B0604020202020204" pitchFamily="34" charset="0"/>
              <a:buChar char="•"/>
            </a:pPr>
            <a:r>
              <a:rPr lang="en-IN" b="1" dirty="0"/>
              <a:t>Revolution:</a:t>
            </a:r>
            <a:r>
              <a:rPr lang="en-IN" dirty="0"/>
              <a:t> Internet-first approach, enabled mobile broadband</a:t>
            </a:r>
          </a:p>
          <a:p>
            <a:endParaRPr lang="en-IN" dirty="0"/>
          </a:p>
        </p:txBody>
      </p:sp>
    </p:spTree>
    <p:extLst>
      <p:ext uri="{BB962C8B-B14F-4D97-AF65-F5344CB8AC3E}">
        <p14:creationId xmlns:p14="http://schemas.microsoft.com/office/powerpoint/2010/main" val="1549642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34FE8-16DF-57D7-C2FB-C0A0A5358D5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9224CC8-D079-7D9E-8146-C3228FB35F3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63</a:t>
            </a:fld>
            <a:endParaRPr spc="-25" dirty="0"/>
          </a:p>
        </p:txBody>
      </p:sp>
      <p:sp>
        <p:nvSpPr>
          <p:cNvPr id="4" name="object 4">
            <a:extLst>
              <a:ext uri="{FF2B5EF4-FFF2-40B4-BE49-F238E27FC236}">
                <a16:creationId xmlns:a16="http://schemas.microsoft.com/office/drawing/2014/main" id="{F50E0872-E564-DD0F-34B8-F71BDBF5653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2" name="Table 1">
            <a:extLst>
              <a:ext uri="{FF2B5EF4-FFF2-40B4-BE49-F238E27FC236}">
                <a16:creationId xmlns:a16="http://schemas.microsoft.com/office/drawing/2014/main" id="{14916204-C453-2A24-6521-A37421B6648A}"/>
              </a:ext>
            </a:extLst>
          </p:cNvPr>
          <p:cNvGraphicFramePr>
            <a:graphicFrameLocks noGrp="1"/>
          </p:cNvGraphicFramePr>
          <p:nvPr>
            <p:extLst>
              <p:ext uri="{D42A27DB-BD31-4B8C-83A1-F6EECF244321}">
                <p14:modId xmlns:p14="http://schemas.microsoft.com/office/powerpoint/2010/main" val="1360635266"/>
              </p:ext>
            </p:extLst>
          </p:nvPr>
        </p:nvGraphicFramePr>
        <p:xfrm>
          <a:off x="152400" y="1447800"/>
          <a:ext cx="8312148" cy="3291840"/>
        </p:xfrm>
        <a:graphic>
          <a:graphicData uri="http://schemas.openxmlformats.org/drawingml/2006/table">
            <a:tbl>
              <a:tblPr/>
              <a:tblGrid>
                <a:gridCol w="2078037">
                  <a:extLst>
                    <a:ext uri="{9D8B030D-6E8A-4147-A177-3AD203B41FA5}">
                      <a16:colId xmlns:a16="http://schemas.microsoft.com/office/drawing/2014/main" val="4065575530"/>
                    </a:ext>
                  </a:extLst>
                </a:gridCol>
                <a:gridCol w="2078037">
                  <a:extLst>
                    <a:ext uri="{9D8B030D-6E8A-4147-A177-3AD203B41FA5}">
                      <a16:colId xmlns:a16="http://schemas.microsoft.com/office/drawing/2014/main" val="1858118665"/>
                    </a:ext>
                  </a:extLst>
                </a:gridCol>
                <a:gridCol w="2078037">
                  <a:extLst>
                    <a:ext uri="{9D8B030D-6E8A-4147-A177-3AD203B41FA5}">
                      <a16:colId xmlns:a16="http://schemas.microsoft.com/office/drawing/2014/main" val="1279933558"/>
                    </a:ext>
                  </a:extLst>
                </a:gridCol>
                <a:gridCol w="2078037">
                  <a:extLst>
                    <a:ext uri="{9D8B030D-6E8A-4147-A177-3AD203B41FA5}">
                      <a16:colId xmlns:a16="http://schemas.microsoft.com/office/drawing/2014/main" val="415415526"/>
                    </a:ext>
                  </a:extLst>
                </a:gridCol>
              </a:tblGrid>
              <a:tr h="365760">
                <a:tc>
                  <a:txBody>
                    <a:bodyPr/>
                    <a:lstStyle/>
                    <a:p>
                      <a:r>
                        <a:rPr lang="en-IN" sz="1800"/>
                        <a:t>Generation</a:t>
                      </a:r>
                    </a:p>
                  </a:txBody>
                  <a:tcPr anchor="ctr">
                    <a:lnL>
                      <a:noFill/>
                    </a:lnL>
                    <a:lnR>
                      <a:noFill/>
                    </a:lnR>
                    <a:lnT>
                      <a:noFill/>
                    </a:lnT>
                    <a:lnB>
                      <a:noFill/>
                    </a:lnB>
                    <a:noFill/>
                  </a:tcPr>
                </a:tc>
                <a:tc>
                  <a:txBody>
                    <a:bodyPr/>
                    <a:lstStyle/>
                    <a:p>
                      <a:r>
                        <a:rPr lang="en-IN" sz="1800"/>
                        <a:t>Service Type</a:t>
                      </a:r>
                    </a:p>
                  </a:txBody>
                  <a:tcPr anchor="ctr">
                    <a:lnL>
                      <a:noFill/>
                    </a:lnL>
                    <a:lnR>
                      <a:noFill/>
                    </a:lnR>
                    <a:lnT>
                      <a:noFill/>
                    </a:lnT>
                    <a:lnB>
                      <a:noFill/>
                    </a:lnB>
                    <a:noFill/>
                  </a:tcPr>
                </a:tc>
                <a:tc>
                  <a:txBody>
                    <a:bodyPr/>
                    <a:lstStyle/>
                    <a:p>
                      <a:r>
                        <a:rPr lang="en-IN" sz="1800"/>
                        <a:t>Data Rate</a:t>
                      </a:r>
                    </a:p>
                  </a:txBody>
                  <a:tcPr anchor="ctr">
                    <a:lnL>
                      <a:noFill/>
                    </a:lnL>
                    <a:lnR>
                      <a:noFill/>
                    </a:lnR>
                    <a:lnT>
                      <a:noFill/>
                    </a:lnT>
                    <a:lnB>
                      <a:noFill/>
                    </a:lnB>
                    <a:noFill/>
                  </a:tcPr>
                </a:tc>
                <a:tc>
                  <a:txBody>
                    <a:bodyPr/>
                    <a:lstStyle/>
                    <a:p>
                      <a:r>
                        <a:rPr lang="en-IN" sz="1800"/>
                        <a:t>Key Feature</a:t>
                      </a:r>
                    </a:p>
                  </a:txBody>
                  <a:tcPr anchor="ctr">
                    <a:lnL>
                      <a:noFill/>
                    </a:lnL>
                    <a:lnR>
                      <a:noFill/>
                    </a:lnR>
                    <a:lnT>
                      <a:noFill/>
                    </a:lnT>
                    <a:lnB>
                      <a:noFill/>
                    </a:lnB>
                    <a:noFill/>
                  </a:tcPr>
                </a:tc>
                <a:extLst>
                  <a:ext uri="{0D108BD9-81ED-4DB2-BD59-A6C34878D82A}">
                    <a16:rowId xmlns:a16="http://schemas.microsoft.com/office/drawing/2014/main" val="2442800014"/>
                  </a:ext>
                </a:extLst>
              </a:tr>
              <a:tr h="365760">
                <a:tc>
                  <a:txBody>
                    <a:bodyPr/>
                    <a:lstStyle/>
                    <a:p>
                      <a:r>
                        <a:rPr lang="en-IN" sz="1800"/>
                        <a:t>1G</a:t>
                      </a:r>
                    </a:p>
                  </a:txBody>
                  <a:tcPr anchor="ctr">
                    <a:lnL>
                      <a:noFill/>
                    </a:lnL>
                    <a:lnR>
                      <a:noFill/>
                    </a:lnR>
                    <a:lnT>
                      <a:noFill/>
                    </a:lnT>
                    <a:lnB>
                      <a:noFill/>
                    </a:lnB>
                    <a:noFill/>
                  </a:tcPr>
                </a:tc>
                <a:tc>
                  <a:txBody>
                    <a:bodyPr/>
                    <a:lstStyle/>
                    <a:p>
                      <a:r>
                        <a:rPr lang="en-IN" sz="1800"/>
                        <a:t>Analog voice</a:t>
                      </a:r>
                    </a:p>
                  </a:txBody>
                  <a:tcPr anchor="ctr">
                    <a:lnL>
                      <a:noFill/>
                    </a:lnL>
                    <a:lnR>
                      <a:noFill/>
                    </a:lnR>
                    <a:lnT>
                      <a:noFill/>
                    </a:lnT>
                    <a:lnB>
                      <a:noFill/>
                    </a:lnB>
                    <a:noFill/>
                  </a:tcPr>
                </a:tc>
                <a:tc>
                  <a:txBody>
                    <a:bodyPr/>
                    <a:lstStyle/>
                    <a:p>
                      <a:r>
                        <a:rPr lang="en-IN" sz="1800"/>
                        <a:t>Very low</a:t>
                      </a:r>
                    </a:p>
                  </a:txBody>
                  <a:tcPr anchor="ctr">
                    <a:lnL>
                      <a:noFill/>
                    </a:lnL>
                    <a:lnR>
                      <a:noFill/>
                    </a:lnR>
                    <a:lnT>
                      <a:noFill/>
                    </a:lnT>
                    <a:lnB>
                      <a:noFill/>
                    </a:lnB>
                    <a:noFill/>
                  </a:tcPr>
                </a:tc>
                <a:tc>
                  <a:txBody>
                    <a:bodyPr/>
                    <a:lstStyle/>
                    <a:p>
                      <a:r>
                        <a:rPr lang="en-IN" sz="1800"/>
                        <a:t>Basic mobile voice</a:t>
                      </a:r>
                    </a:p>
                  </a:txBody>
                  <a:tcPr anchor="ctr">
                    <a:lnL>
                      <a:noFill/>
                    </a:lnL>
                    <a:lnR>
                      <a:noFill/>
                    </a:lnR>
                    <a:lnT>
                      <a:noFill/>
                    </a:lnT>
                    <a:lnB>
                      <a:noFill/>
                    </a:lnB>
                    <a:noFill/>
                  </a:tcPr>
                </a:tc>
                <a:extLst>
                  <a:ext uri="{0D108BD9-81ED-4DB2-BD59-A6C34878D82A}">
                    <a16:rowId xmlns:a16="http://schemas.microsoft.com/office/drawing/2014/main" val="268064292"/>
                  </a:ext>
                </a:extLst>
              </a:tr>
              <a:tr h="640080">
                <a:tc>
                  <a:txBody>
                    <a:bodyPr/>
                    <a:lstStyle/>
                    <a:p>
                      <a:r>
                        <a:rPr lang="en-IN" sz="1800"/>
                        <a:t>2G</a:t>
                      </a:r>
                    </a:p>
                  </a:txBody>
                  <a:tcPr anchor="ctr">
                    <a:lnL>
                      <a:noFill/>
                    </a:lnL>
                    <a:lnR>
                      <a:noFill/>
                    </a:lnR>
                    <a:lnT>
                      <a:noFill/>
                    </a:lnT>
                    <a:lnB>
                      <a:noFill/>
                    </a:lnB>
                    <a:noFill/>
                  </a:tcPr>
                </a:tc>
                <a:tc>
                  <a:txBody>
                    <a:bodyPr/>
                    <a:lstStyle/>
                    <a:p>
                      <a:r>
                        <a:rPr lang="en-IN" sz="1800"/>
                        <a:t>Digital voice, SMS</a:t>
                      </a:r>
                    </a:p>
                  </a:txBody>
                  <a:tcPr anchor="ctr">
                    <a:lnL>
                      <a:noFill/>
                    </a:lnL>
                    <a:lnR>
                      <a:noFill/>
                    </a:lnR>
                    <a:lnT>
                      <a:noFill/>
                    </a:lnT>
                    <a:lnB>
                      <a:noFill/>
                    </a:lnB>
                    <a:noFill/>
                  </a:tcPr>
                </a:tc>
                <a:tc>
                  <a:txBody>
                    <a:bodyPr/>
                    <a:lstStyle/>
                    <a:p>
                      <a:r>
                        <a:rPr lang="en-IN" sz="1800"/>
                        <a:t>14.4–64 kbps</a:t>
                      </a:r>
                    </a:p>
                  </a:txBody>
                  <a:tcPr anchor="ctr">
                    <a:lnL>
                      <a:noFill/>
                    </a:lnL>
                    <a:lnR>
                      <a:noFill/>
                    </a:lnR>
                    <a:lnT>
                      <a:noFill/>
                    </a:lnT>
                    <a:lnB>
                      <a:noFill/>
                    </a:lnB>
                    <a:noFill/>
                  </a:tcPr>
                </a:tc>
                <a:tc>
                  <a:txBody>
                    <a:bodyPr/>
                    <a:lstStyle/>
                    <a:p>
                      <a:r>
                        <a:rPr lang="en-IN" sz="1800"/>
                        <a:t>Better quality &amp; security</a:t>
                      </a:r>
                    </a:p>
                  </a:txBody>
                  <a:tcPr anchor="ctr">
                    <a:lnL>
                      <a:noFill/>
                    </a:lnL>
                    <a:lnR>
                      <a:noFill/>
                    </a:lnR>
                    <a:lnT>
                      <a:noFill/>
                    </a:lnT>
                    <a:lnB>
                      <a:noFill/>
                    </a:lnB>
                    <a:noFill/>
                  </a:tcPr>
                </a:tc>
                <a:extLst>
                  <a:ext uri="{0D108BD9-81ED-4DB2-BD59-A6C34878D82A}">
                    <a16:rowId xmlns:a16="http://schemas.microsoft.com/office/drawing/2014/main" val="2718245095"/>
                  </a:ext>
                </a:extLst>
              </a:tr>
              <a:tr h="640080">
                <a:tc>
                  <a:txBody>
                    <a:bodyPr/>
                    <a:lstStyle/>
                    <a:p>
                      <a:r>
                        <a:rPr lang="en-IN" sz="1800"/>
                        <a:t>2.5G</a:t>
                      </a:r>
                    </a:p>
                  </a:txBody>
                  <a:tcPr anchor="ctr">
                    <a:lnL>
                      <a:noFill/>
                    </a:lnL>
                    <a:lnR>
                      <a:noFill/>
                    </a:lnR>
                    <a:lnT>
                      <a:noFill/>
                    </a:lnT>
                    <a:lnB>
                      <a:noFill/>
                    </a:lnB>
                    <a:noFill/>
                  </a:tcPr>
                </a:tc>
                <a:tc>
                  <a:txBody>
                    <a:bodyPr/>
                    <a:lstStyle/>
                    <a:p>
                      <a:r>
                        <a:rPr lang="en-IN" sz="1800"/>
                        <a:t>Voice + Packet Data</a:t>
                      </a:r>
                    </a:p>
                  </a:txBody>
                  <a:tcPr anchor="ctr">
                    <a:lnL>
                      <a:noFill/>
                    </a:lnL>
                    <a:lnR>
                      <a:noFill/>
                    </a:lnR>
                    <a:lnT>
                      <a:noFill/>
                    </a:lnT>
                    <a:lnB>
                      <a:noFill/>
                    </a:lnB>
                    <a:noFill/>
                  </a:tcPr>
                </a:tc>
                <a:tc>
                  <a:txBody>
                    <a:bodyPr/>
                    <a:lstStyle/>
                    <a:p>
                      <a:r>
                        <a:rPr lang="en-IN" sz="1800"/>
                        <a:t>64–144 kbps</a:t>
                      </a:r>
                    </a:p>
                  </a:txBody>
                  <a:tcPr anchor="ctr">
                    <a:lnL>
                      <a:noFill/>
                    </a:lnL>
                    <a:lnR>
                      <a:noFill/>
                    </a:lnR>
                    <a:lnT>
                      <a:noFill/>
                    </a:lnT>
                    <a:lnB>
                      <a:noFill/>
                    </a:lnB>
                    <a:noFill/>
                  </a:tcPr>
                </a:tc>
                <a:tc>
                  <a:txBody>
                    <a:bodyPr/>
                    <a:lstStyle/>
                    <a:p>
                      <a:r>
                        <a:rPr lang="en-IN" sz="1800"/>
                        <a:t>Internet access introduced</a:t>
                      </a:r>
                    </a:p>
                  </a:txBody>
                  <a:tcPr anchor="ctr">
                    <a:lnL>
                      <a:noFill/>
                    </a:lnL>
                    <a:lnR>
                      <a:noFill/>
                    </a:lnR>
                    <a:lnT>
                      <a:noFill/>
                    </a:lnT>
                    <a:lnB>
                      <a:noFill/>
                    </a:lnB>
                    <a:noFill/>
                  </a:tcPr>
                </a:tc>
                <a:extLst>
                  <a:ext uri="{0D108BD9-81ED-4DB2-BD59-A6C34878D82A}">
                    <a16:rowId xmlns:a16="http://schemas.microsoft.com/office/drawing/2014/main" val="1193545503"/>
                  </a:ext>
                </a:extLst>
              </a:tr>
              <a:tr h="640080">
                <a:tc>
                  <a:txBody>
                    <a:bodyPr/>
                    <a:lstStyle/>
                    <a:p>
                      <a:r>
                        <a:rPr lang="en-IN" sz="1800"/>
                        <a:t>3G</a:t>
                      </a:r>
                    </a:p>
                  </a:txBody>
                  <a:tcPr anchor="ctr">
                    <a:lnL>
                      <a:noFill/>
                    </a:lnL>
                    <a:lnR>
                      <a:noFill/>
                    </a:lnR>
                    <a:lnT>
                      <a:noFill/>
                    </a:lnT>
                    <a:lnB>
                      <a:noFill/>
                    </a:lnB>
                    <a:noFill/>
                  </a:tcPr>
                </a:tc>
                <a:tc>
                  <a:txBody>
                    <a:bodyPr/>
                    <a:lstStyle/>
                    <a:p>
                      <a:r>
                        <a:rPr lang="en-IN" sz="1800"/>
                        <a:t>Multimedia, Internet</a:t>
                      </a:r>
                    </a:p>
                  </a:txBody>
                  <a:tcPr anchor="ctr">
                    <a:lnL>
                      <a:noFill/>
                    </a:lnL>
                    <a:lnR>
                      <a:noFill/>
                    </a:lnR>
                    <a:lnT>
                      <a:noFill/>
                    </a:lnT>
                    <a:lnB>
                      <a:noFill/>
                    </a:lnB>
                    <a:noFill/>
                  </a:tcPr>
                </a:tc>
                <a:tc>
                  <a:txBody>
                    <a:bodyPr/>
                    <a:lstStyle/>
                    <a:p>
                      <a:r>
                        <a:rPr lang="en-IN" sz="1800"/>
                        <a:t>~2 Mbps</a:t>
                      </a:r>
                    </a:p>
                  </a:txBody>
                  <a:tcPr anchor="ctr">
                    <a:lnL>
                      <a:noFill/>
                    </a:lnL>
                    <a:lnR>
                      <a:noFill/>
                    </a:lnR>
                    <a:lnT>
                      <a:noFill/>
                    </a:lnT>
                    <a:lnB>
                      <a:noFill/>
                    </a:lnB>
                    <a:noFill/>
                  </a:tcPr>
                </a:tc>
                <a:tc>
                  <a:txBody>
                    <a:bodyPr/>
                    <a:lstStyle/>
                    <a:p>
                      <a:r>
                        <a:rPr lang="en-IN" sz="1800"/>
                        <a:t>Video calling, faster data</a:t>
                      </a:r>
                    </a:p>
                  </a:txBody>
                  <a:tcPr anchor="ctr">
                    <a:lnL>
                      <a:noFill/>
                    </a:lnL>
                    <a:lnR>
                      <a:noFill/>
                    </a:lnR>
                    <a:lnT>
                      <a:noFill/>
                    </a:lnT>
                    <a:lnB>
                      <a:noFill/>
                    </a:lnB>
                    <a:noFill/>
                  </a:tcPr>
                </a:tc>
                <a:extLst>
                  <a:ext uri="{0D108BD9-81ED-4DB2-BD59-A6C34878D82A}">
                    <a16:rowId xmlns:a16="http://schemas.microsoft.com/office/drawing/2014/main" val="2764737323"/>
                  </a:ext>
                </a:extLst>
              </a:tr>
              <a:tr h="640080">
                <a:tc>
                  <a:txBody>
                    <a:bodyPr/>
                    <a:lstStyle/>
                    <a:p>
                      <a:r>
                        <a:rPr lang="en-IN" sz="1800"/>
                        <a:t>4G</a:t>
                      </a:r>
                    </a:p>
                  </a:txBody>
                  <a:tcPr anchor="ctr">
                    <a:lnL>
                      <a:noFill/>
                    </a:lnL>
                    <a:lnR>
                      <a:noFill/>
                    </a:lnR>
                    <a:lnT>
                      <a:noFill/>
                    </a:lnT>
                    <a:lnB>
                      <a:noFill/>
                    </a:lnB>
                    <a:noFill/>
                  </a:tcPr>
                </a:tc>
                <a:tc>
                  <a:txBody>
                    <a:bodyPr/>
                    <a:lstStyle/>
                    <a:p>
                      <a:r>
                        <a:rPr lang="en-IN" sz="1800"/>
                        <a:t>Broadband Internet</a:t>
                      </a:r>
                    </a:p>
                  </a:txBody>
                  <a:tcPr anchor="ctr">
                    <a:lnL>
                      <a:noFill/>
                    </a:lnL>
                    <a:lnR>
                      <a:noFill/>
                    </a:lnR>
                    <a:lnT>
                      <a:noFill/>
                    </a:lnT>
                    <a:lnB>
                      <a:noFill/>
                    </a:lnB>
                    <a:noFill/>
                  </a:tcPr>
                </a:tc>
                <a:tc>
                  <a:txBody>
                    <a:bodyPr/>
                    <a:lstStyle/>
                    <a:p>
                      <a:r>
                        <a:rPr lang="en-IN" sz="1800"/>
                        <a:t>~100 Mbps</a:t>
                      </a:r>
                    </a:p>
                  </a:txBody>
                  <a:tcPr anchor="ctr">
                    <a:lnL>
                      <a:noFill/>
                    </a:lnL>
                    <a:lnR>
                      <a:noFill/>
                    </a:lnR>
                    <a:lnT>
                      <a:noFill/>
                    </a:lnT>
                    <a:lnB>
                      <a:noFill/>
                    </a:lnB>
                    <a:noFill/>
                  </a:tcPr>
                </a:tc>
                <a:tc>
                  <a:txBody>
                    <a:bodyPr/>
                    <a:lstStyle/>
                    <a:p>
                      <a:r>
                        <a:rPr lang="en-IN" sz="1800" dirty="0"/>
                        <a:t>Streaming, VoIP, full mobile internet</a:t>
                      </a:r>
                    </a:p>
                  </a:txBody>
                  <a:tcPr anchor="ctr">
                    <a:lnL>
                      <a:noFill/>
                    </a:lnL>
                    <a:lnR>
                      <a:noFill/>
                    </a:lnR>
                    <a:lnT>
                      <a:noFill/>
                    </a:lnT>
                    <a:lnB>
                      <a:noFill/>
                    </a:lnB>
                    <a:noFill/>
                  </a:tcPr>
                </a:tc>
                <a:extLst>
                  <a:ext uri="{0D108BD9-81ED-4DB2-BD59-A6C34878D82A}">
                    <a16:rowId xmlns:a16="http://schemas.microsoft.com/office/drawing/2014/main" val="770084152"/>
                  </a:ext>
                </a:extLst>
              </a:tr>
            </a:tbl>
          </a:graphicData>
        </a:graphic>
      </p:graphicFrame>
    </p:spTree>
    <p:extLst>
      <p:ext uri="{BB962C8B-B14F-4D97-AF65-F5344CB8AC3E}">
        <p14:creationId xmlns:p14="http://schemas.microsoft.com/office/powerpoint/2010/main" val="41835932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95800" y="6550673"/>
            <a:ext cx="4648200" cy="53340"/>
            <a:chOff x="4495800" y="6550673"/>
            <a:chExt cx="4648200" cy="5334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6" name="object 6"/>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6629400" y="0"/>
            <a:ext cx="2193163" cy="692658"/>
          </a:xfrm>
          <a:prstGeom prst="rect">
            <a:avLst/>
          </a:prstGeom>
        </p:spPr>
      </p:pic>
      <p:grpSp>
        <p:nvGrpSpPr>
          <p:cNvPr id="8" name="object 8"/>
          <p:cNvGrpSpPr/>
          <p:nvPr/>
        </p:nvGrpSpPr>
        <p:grpSpPr>
          <a:xfrm>
            <a:off x="0" y="1295401"/>
            <a:ext cx="7010400" cy="45720"/>
            <a:chOff x="0" y="1295401"/>
            <a:chExt cx="7010400" cy="45720"/>
          </a:xfrm>
        </p:grpSpPr>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2" name="object 12"/>
          <p:cNvSpPr txBox="1"/>
          <p:nvPr/>
        </p:nvSpPr>
        <p:spPr>
          <a:xfrm>
            <a:off x="383540" y="1516507"/>
            <a:ext cx="7346315" cy="2073910"/>
          </a:xfrm>
          <a:prstGeom prst="rect">
            <a:avLst/>
          </a:prstGeom>
        </p:spPr>
        <p:txBody>
          <a:bodyPr vert="horz" wrap="square" lIns="0" tIns="12700" rIns="0" bIns="0" rtlCol="0">
            <a:spAutoFit/>
          </a:bodyPr>
          <a:lstStyle/>
          <a:p>
            <a:pPr marL="469900" marR="5080" indent="-457200" algn="just">
              <a:lnSpc>
                <a:spcPct val="100000"/>
              </a:lnSpc>
              <a:spcBef>
                <a:spcPts val="100"/>
              </a:spcBef>
            </a:pPr>
            <a:r>
              <a:rPr sz="2400" dirty="0">
                <a:latin typeface="Times New Roman"/>
                <a:cs typeface="Times New Roman"/>
              </a:rPr>
              <a:t>Goal:</a:t>
            </a:r>
            <a:r>
              <a:rPr sz="2400" spc="-80" dirty="0">
                <a:latin typeface="Times New Roman"/>
                <a:cs typeface="Times New Roman"/>
              </a:rPr>
              <a:t> </a:t>
            </a:r>
            <a:r>
              <a:rPr sz="2400" spc="-30" dirty="0">
                <a:latin typeface="Times New Roman"/>
                <a:cs typeface="Times New Roman"/>
              </a:rPr>
              <a:t>To</a:t>
            </a:r>
            <a:r>
              <a:rPr sz="2400" spc="-25" dirty="0">
                <a:latin typeface="Times New Roman"/>
                <a:cs typeface="Times New Roman"/>
              </a:rPr>
              <a:t> </a:t>
            </a:r>
            <a:r>
              <a:rPr sz="2400" dirty="0">
                <a:latin typeface="Times New Roman"/>
                <a:cs typeface="Times New Roman"/>
              </a:rPr>
              <a:t>develop</a:t>
            </a:r>
            <a:r>
              <a:rPr sz="2400" spc="-4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working</a:t>
            </a:r>
            <a:r>
              <a:rPr sz="2400" spc="-20" dirty="0">
                <a:latin typeface="Times New Roman"/>
                <a:cs typeface="Times New Roman"/>
              </a:rPr>
              <a:t> </a:t>
            </a:r>
            <a:r>
              <a:rPr sz="2400" dirty="0">
                <a:latin typeface="Times New Roman"/>
                <a:cs typeface="Times New Roman"/>
              </a:rPr>
              <a:t>system</a:t>
            </a:r>
            <a:r>
              <a:rPr sz="2400" spc="-40" dirty="0">
                <a:latin typeface="Times New Roman"/>
                <a:cs typeface="Times New Roman"/>
              </a:rPr>
              <a:t> </a:t>
            </a:r>
            <a:r>
              <a:rPr sz="2400" dirty="0">
                <a:latin typeface="Times New Roman"/>
                <a:cs typeface="Times New Roman"/>
              </a:rPr>
              <a:t>that</a:t>
            </a:r>
            <a:r>
              <a:rPr sz="2400" spc="-45" dirty="0">
                <a:latin typeface="Times New Roman"/>
                <a:cs typeface="Times New Roman"/>
              </a:rPr>
              <a:t> </a:t>
            </a:r>
            <a:r>
              <a:rPr sz="2400" dirty="0">
                <a:latin typeface="Times New Roman"/>
                <a:cs typeface="Times New Roman"/>
              </a:rPr>
              <a:t>could</a:t>
            </a:r>
            <a:r>
              <a:rPr sz="2400" spc="-45" dirty="0">
                <a:latin typeface="Times New Roman"/>
                <a:cs typeface="Times New Roman"/>
              </a:rPr>
              <a:t> </a:t>
            </a:r>
            <a:r>
              <a:rPr sz="2400" dirty="0">
                <a:latin typeface="Times New Roman"/>
                <a:cs typeface="Times New Roman"/>
              </a:rPr>
              <a:t>provide</a:t>
            </a:r>
            <a:r>
              <a:rPr sz="2400" spc="-30" dirty="0">
                <a:latin typeface="Times New Roman"/>
                <a:cs typeface="Times New Roman"/>
              </a:rPr>
              <a:t> </a:t>
            </a:r>
            <a:r>
              <a:rPr sz="2400" spc="-10" dirty="0">
                <a:latin typeface="Times New Roman"/>
                <a:cs typeface="Times New Roman"/>
              </a:rPr>
              <a:t>basic service</a:t>
            </a:r>
            <a:endParaRPr sz="2400">
              <a:latin typeface="Times New Roman"/>
              <a:cs typeface="Times New Roman"/>
            </a:endParaRPr>
          </a:p>
          <a:p>
            <a:pPr marL="12700" marR="4159250" algn="just">
              <a:lnSpc>
                <a:spcPct val="120000"/>
              </a:lnSpc>
            </a:pPr>
            <a:r>
              <a:rPr sz="2400" dirty="0">
                <a:latin typeface="Times New Roman"/>
                <a:cs typeface="Times New Roman"/>
              </a:rPr>
              <a:t>Time</a:t>
            </a:r>
            <a:r>
              <a:rPr sz="2400" spc="-40" dirty="0">
                <a:latin typeface="Times New Roman"/>
                <a:cs typeface="Times New Roman"/>
              </a:rPr>
              <a:t> </a:t>
            </a:r>
            <a:r>
              <a:rPr sz="2400" dirty="0">
                <a:latin typeface="Times New Roman"/>
                <a:cs typeface="Times New Roman"/>
              </a:rPr>
              <a:t>frame:</a:t>
            </a:r>
            <a:r>
              <a:rPr sz="2400" spc="-35" dirty="0">
                <a:latin typeface="Times New Roman"/>
                <a:cs typeface="Times New Roman"/>
              </a:rPr>
              <a:t> </a:t>
            </a:r>
            <a:r>
              <a:rPr sz="2400" dirty="0">
                <a:latin typeface="Times New Roman"/>
                <a:cs typeface="Times New Roman"/>
              </a:rPr>
              <a:t>1980s</a:t>
            </a:r>
            <a:r>
              <a:rPr sz="2400" spc="525" dirty="0">
                <a:latin typeface="Times New Roman"/>
                <a:cs typeface="Times New Roman"/>
              </a:rPr>
              <a:t> </a:t>
            </a:r>
            <a:r>
              <a:rPr sz="2400" dirty="0">
                <a:latin typeface="Times New Roman"/>
                <a:cs typeface="Times New Roman"/>
              </a:rPr>
              <a:t>in</a:t>
            </a:r>
            <a:r>
              <a:rPr sz="2400" spc="-50" dirty="0">
                <a:latin typeface="Times New Roman"/>
                <a:cs typeface="Times New Roman"/>
              </a:rPr>
              <a:t> </a:t>
            </a:r>
            <a:r>
              <a:rPr sz="2400" spc="-25" dirty="0">
                <a:latin typeface="Times New Roman"/>
                <a:cs typeface="Times New Roman"/>
              </a:rPr>
              <a:t>US </a:t>
            </a:r>
            <a:r>
              <a:rPr sz="2400" spc="-10" dirty="0">
                <a:latin typeface="Times New Roman"/>
                <a:cs typeface="Times New Roman"/>
              </a:rPr>
              <a:t>Technology:</a:t>
            </a:r>
            <a:r>
              <a:rPr sz="2400" spc="-95" dirty="0">
                <a:latin typeface="Times New Roman"/>
                <a:cs typeface="Times New Roman"/>
              </a:rPr>
              <a:t> </a:t>
            </a:r>
            <a:r>
              <a:rPr sz="2400" spc="-10" dirty="0">
                <a:latin typeface="Times New Roman"/>
                <a:cs typeface="Times New Roman"/>
              </a:rPr>
              <a:t>FDMA/FDD </a:t>
            </a:r>
            <a:r>
              <a:rPr sz="2400" dirty="0">
                <a:latin typeface="Times New Roman"/>
                <a:cs typeface="Times New Roman"/>
              </a:rPr>
              <a:t>Speed:</a:t>
            </a:r>
            <a:r>
              <a:rPr sz="2400" spc="-10" dirty="0">
                <a:latin typeface="Times New Roman"/>
                <a:cs typeface="Times New Roman"/>
              </a:rPr>
              <a:t> 2.4Kbps</a:t>
            </a:r>
            <a:endParaRPr sz="2400">
              <a:latin typeface="Times New Roman"/>
              <a:cs typeface="Times New Roman"/>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3" name="object 13"/>
          <p:cNvSpPr txBox="1"/>
          <p:nvPr/>
        </p:nvSpPr>
        <p:spPr>
          <a:xfrm>
            <a:off x="7934706" y="1516507"/>
            <a:ext cx="68643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4F81BC"/>
                </a:solidFill>
                <a:latin typeface="Times New Roman"/>
                <a:cs typeface="Times New Roman"/>
              </a:rPr>
              <a:t>voice</a:t>
            </a:r>
            <a:endParaRPr sz="2400">
              <a:latin typeface="Times New Roman"/>
              <a:cs typeface="Times New Roman"/>
            </a:endParaRPr>
          </a:p>
        </p:txBody>
      </p:sp>
      <p:sp>
        <p:nvSpPr>
          <p:cNvPr id="14" name="object 14"/>
          <p:cNvSpPr txBox="1"/>
          <p:nvPr/>
        </p:nvSpPr>
        <p:spPr>
          <a:xfrm>
            <a:off x="383540" y="3565081"/>
            <a:ext cx="8392160" cy="903605"/>
          </a:xfrm>
          <a:prstGeom prst="rect">
            <a:avLst/>
          </a:prstGeom>
        </p:spPr>
        <p:txBody>
          <a:bodyPr vert="horz" wrap="square" lIns="0" tIns="85725" rIns="0" bIns="0" rtlCol="0">
            <a:spAutoFit/>
          </a:bodyPr>
          <a:lstStyle/>
          <a:p>
            <a:pPr marL="12700">
              <a:lnSpc>
                <a:spcPct val="100000"/>
              </a:lnSpc>
              <a:spcBef>
                <a:spcPts val="675"/>
              </a:spcBef>
            </a:pPr>
            <a:r>
              <a:rPr sz="2400" dirty="0">
                <a:latin typeface="Times New Roman"/>
                <a:cs typeface="Times New Roman"/>
              </a:rPr>
              <a:t>1G</a:t>
            </a:r>
            <a:r>
              <a:rPr sz="2400" spc="-15" dirty="0">
                <a:latin typeface="Times New Roman"/>
                <a:cs typeface="Times New Roman"/>
              </a:rPr>
              <a:t> </a:t>
            </a:r>
            <a:r>
              <a:rPr sz="2400" dirty="0">
                <a:latin typeface="Times New Roman"/>
                <a:cs typeface="Times New Roman"/>
              </a:rPr>
              <a:t>network</a:t>
            </a:r>
            <a:r>
              <a:rPr sz="2400" spc="-25" dirty="0">
                <a:latin typeface="Times New Roman"/>
                <a:cs typeface="Times New Roman"/>
              </a:rPr>
              <a:t> </a:t>
            </a:r>
            <a:r>
              <a:rPr sz="2400" dirty="0">
                <a:latin typeface="Times New Roman"/>
                <a:cs typeface="Times New Roman"/>
              </a:rPr>
              <a:t>used</a:t>
            </a:r>
            <a:r>
              <a:rPr sz="2400" spc="-145" dirty="0">
                <a:latin typeface="Times New Roman"/>
                <a:cs typeface="Times New Roman"/>
              </a:rPr>
              <a:t> </a:t>
            </a:r>
            <a:r>
              <a:rPr sz="2400" dirty="0">
                <a:latin typeface="Times New Roman"/>
                <a:cs typeface="Times New Roman"/>
              </a:rPr>
              <a:t>Analogue</a:t>
            </a:r>
            <a:r>
              <a:rPr sz="2400" spc="-20" dirty="0">
                <a:latin typeface="Times New Roman"/>
                <a:cs typeface="Times New Roman"/>
              </a:rPr>
              <a:t> </a:t>
            </a:r>
            <a:r>
              <a:rPr sz="2400" dirty="0">
                <a:latin typeface="Times New Roman"/>
                <a:cs typeface="Times New Roman"/>
              </a:rPr>
              <a:t>circuit-switched</a:t>
            </a:r>
            <a:r>
              <a:rPr sz="2400" spc="-55" dirty="0">
                <a:latin typeface="Times New Roman"/>
                <a:cs typeface="Times New Roman"/>
              </a:rPr>
              <a:t> </a:t>
            </a:r>
            <a:r>
              <a:rPr sz="2400" dirty="0">
                <a:latin typeface="Times New Roman"/>
                <a:cs typeface="Times New Roman"/>
              </a:rPr>
              <a:t>technology</a:t>
            </a:r>
            <a:r>
              <a:rPr sz="2400" spc="-40"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spc="-20" dirty="0">
                <a:latin typeface="Times New Roman"/>
                <a:cs typeface="Times New Roman"/>
              </a:rPr>
              <a:t>FDMA</a:t>
            </a:r>
            <a:endParaRPr sz="2400">
              <a:latin typeface="Times New Roman"/>
              <a:cs typeface="Times New Roman"/>
            </a:endParaRPr>
          </a:p>
          <a:p>
            <a:pPr marL="12700">
              <a:lnSpc>
                <a:spcPct val="100000"/>
              </a:lnSpc>
              <a:spcBef>
                <a:spcPts val="580"/>
              </a:spcBef>
            </a:pPr>
            <a:r>
              <a:rPr sz="2400" dirty="0">
                <a:latin typeface="Times New Roman"/>
                <a:cs typeface="Times New Roman"/>
              </a:rPr>
              <a:t>800–900</a:t>
            </a:r>
            <a:r>
              <a:rPr sz="2400" spc="-25" dirty="0">
                <a:latin typeface="Times New Roman"/>
                <a:cs typeface="Times New Roman"/>
              </a:rPr>
              <a:t> </a:t>
            </a:r>
            <a:r>
              <a:rPr sz="2400" dirty="0">
                <a:latin typeface="Times New Roman"/>
                <a:cs typeface="Times New Roman"/>
              </a:rPr>
              <a:t>MHz</a:t>
            </a:r>
            <a:r>
              <a:rPr sz="2400" spc="-20" dirty="0">
                <a:latin typeface="Times New Roman"/>
                <a:cs typeface="Times New Roman"/>
              </a:rPr>
              <a:t> </a:t>
            </a:r>
            <a:r>
              <a:rPr sz="2400" dirty="0">
                <a:latin typeface="Times New Roman"/>
                <a:cs typeface="Times New Roman"/>
              </a:rPr>
              <a:t>frequency</a:t>
            </a:r>
            <a:r>
              <a:rPr sz="2400" spc="-25" dirty="0">
                <a:latin typeface="Times New Roman"/>
                <a:cs typeface="Times New Roman"/>
              </a:rPr>
              <a:t> </a:t>
            </a:r>
            <a:r>
              <a:rPr sz="2400" spc="-10" dirty="0">
                <a:latin typeface="Times New Roman"/>
                <a:cs typeface="Times New Roman"/>
              </a:rPr>
              <a:t>bands.</a:t>
            </a:r>
            <a:endParaRPr sz="2400">
              <a:latin typeface="Times New Roman"/>
              <a:cs typeface="Times New Roman"/>
            </a:endParaRPr>
          </a:p>
        </p:txBody>
      </p:sp>
      <p:sp>
        <p:nvSpPr>
          <p:cNvPr id="15" name="object 15"/>
          <p:cNvSpPr txBox="1"/>
          <p:nvPr/>
        </p:nvSpPr>
        <p:spPr>
          <a:xfrm>
            <a:off x="383540" y="4809105"/>
            <a:ext cx="6897370" cy="1781175"/>
          </a:xfrm>
          <a:prstGeom prst="rect">
            <a:avLst/>
          </a:prstGeom>
        </p:spPr>
        <p:txBody>
          <a:bodyPr vert="horz" wrap="square" lIns="0" tIns="85725" rIns="0" bIns="0" rtlCol="0">
            <a:spAutoFit/>
          </a:bodyPr>
          <a:lstStyle/>
          <a:p>
            <a:pPr marL="12700">
              <a:lnSpc>
                <a:spcPct val="100000"/>
              </a:lnSpc>
              <a:spcBef>
                <a:spcPts val="675"/>
              </a:spcBef>
            </a:pPr>
            <a:r>
              <a:rPr sz="2400" dirty="0">
                <a:latin typeface="Times New Roman"/>
                <a:cs typeface="Times New Roman"/>
              </a:rPr>
              <a:t>Example</a:t>
            </a:r>
            <a:r>
              <a:rPr sz="2400" spc="-30" dirty="0">
                <a:latin typeface="Times New Roman"/>
                <a:cs typeface="Times New Roman"/>
              </a:rPr>
              <a:t> </a:t>
            </a:r>
            <a:r>
              <a:rPr sz="2400" spc="-10" dirty="0">
                <a:latin typeface="Times New Roman"/>
                <a:cs typeface="Times New Roman"/>
              </a:rPr>
              <a:t>Systems:</a:t>
            </a:r>
            <a:endParaRPr sz="2400">
              <a:latin typeface="Times New Roman"/>
              <a:cs typeface="Times New Roman"/>
            </a:endParaRPr>
          </a:p>
          <a:p>
            <a:pPr marL="755650" indent="-285750">
              <a:lnSpc>
                <a:spcPct val="100000"/>
              </a:lnSpc>
              <a:spcBef>
                <a:spcPts val="575"/>
              </a:spcBef>
              <a:buFont typeface="Arial MT"/>
              <a:buChar char="–"/>
              <a:tabLst>
                <a:tab pos="755650" algn="l"/>
              </a:tabLst>
            </a:pPr>
            <a:r>
              <a:rPr sz="2400" dirty="0">
                <a:latin typeface="Times New Roman"/>
                <a:cs typeface="Times New Roman"/>
              </a:rPr>
              <a:t>Analogue</a:t>
            </a:r>
            <a:r>
              <a:rPr sz="2400" spc="-15" dirty="0">
                <a:latin typeface="Times New Roman"/>
                <a:cs typeface="Times New Roman"/>
              </a:rPr>
              <a:t> </a:t>
            </a:r>
            <a:r>
              <a:rPr sz="2400" dirty="0">
                <a:latin typeface="Times New Roman"/>
                <a:cs typeface="Times New Roman"/>
              </a:rPr>
              <a:t>Mobile</a:t>
            </a:r>
            <a:r>
              <a:rPr sz="2400" spc="-20" dirty="0">
                <a:latin typeface="Times New Roman"/>
                <a:cs typeface="Times New Roman"/>
              </a:rPr>
              <a:t> </a:t>
            </a:r>
            <a:r>
              <a:rPr sz="2400" dirty="0">
                <a:latin typeface="Times New Roman"/>
                <a:cs typeface="Times New Roman"/>
              </a:rPr>
              <a:t>Phone</a:t>
            </a:r>
            <a:r>
              <a:rPr sz="2400" spc="-5" dirty="0">
                <a:latin typeface="Times New Roman"/>
                <a:cs typeface="Times New Roman"/>
              </a:rPr>
              <a:t> </a:t>
            </a:r>
            <a:r>
              <a:rPr sz="2400" dirty="0">
                <a:latin typeface="Times New Roman"/>
                <a:cs typeface="Times New Roman"/>
              </a:rPr>
              <a:t>System</a:t>
            </a:r>
            <a:r>
              <a:rPr sz="2400" spc="-10" dirty="0">
                <a:latin typeface="Times New Roman"/>
                <a:cs typeface="Times New Roman"/>
              </a:rPr>
              <a:t> </a:t>
            </a:r>
            <a:r>
              <a:rPr sz="2400" spc="-20" dirty="0">
                <a:latin typeface="Times New Roman"/>
                <a:cs typeface="Times New Roman"/>
              </a:rPr>
              <a:t>(AMPS-USA)</a:t>
            </a:r>
            <a:endParaRPr sz="2400">
              <a:latin typeface="Times New Roman"/>
              <a:cs typeface="Times New Roman"/>
            </a:endParaRPr>
          </a:p>
          <a:p>
            <a:pPr marL="755650" indent="-285750">
              <a:lnSpc>
                <a:spcPct val="100000"/>
              </a:lnSpc>
              <a:spcBef>
                <a:spcPts val="580"/>
              </a:spcBef>
              <a:buFont typeface="Arial MT"/>
              <a:buChar char="–"/>
              <a:tabLst>
                <a:tab pos="755650" algn="l"/>
              </a:tabLst>
            </a:pPr>
            <a:r>
              <a:rPr sz="2400" spc="-35" dirty="0">
                <a:latin typeface="Times New Roman"/>
                <a:cs typeface="Times New Roman"/>
              </a:rPr>
              <a:t>Total</a:t>
            </a:r>
            <a:r>
              <a:rPr sz="2400" spc="-155" dirty="0">
                <a:latin typeface="Times New Roman"/>
                <a:cs typeface="Times New Roman"/>
              </a:rPr>
              <a:t> </a:t>
            </a:r>
            <a:r>
              <a:rPr sz="2400" dirty="0">
                <a:latin typeface="Times New Roman"/>
                <a:cs typeface="Times New Roman"/>
              </a:rPr>
              <a:t>Access</a:t>
            </a:r>
            <a:r>
              <a:rPr sz="2400" spc="-35" dirty="0">
                <a:latin typeface="Times New Roman"/>
                <a:cs typeface="Times New Roman"/>
              </a:rPr>
              <a:t> </a:t>
            </a:r>
            <a:r>
              <a:rPr sz="2400" dirty="0">
                <a:latin typeface="Times New Roman"/>
                <a:cs typeface="Times New Roman"/>
              </a:rPr>
              <a:t>Communication</a:t>
            </a:r>
            <a:r>
              <a:rPr sz="2400" spc="-30"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spc="-45" dirty="0">
                <a:latin typeface="Times New Roman"/>
                <a:cs typeface="Times New Roman"/>
              </a:rPr>
              <a:t>(TACS-</a:t>
            </a:r>
            <a:r>
              <a:rPr sz="2400" spc="-25" dirty="0">
                <a:latin typeface="Times New Roman"/>
                <a:cs typeface="Times New Roman"/>
              </a:rPr>
              <a:t>UK)</a:t>
            </a:r>
            <a:endParaRPr sz="2400">
              <a:latin typeface="Times New Roman"/>
              <a:cs typeface="Times New Roman"/>
            </a:endParaRPr>
          </a:p>
          <a:p>
            <a:pPr marL="755650" indent="-285750">
              <a:lnSpc>
                <a:spcPct val="100000"/>
              </a:lnSpc>
              <a:spcBef>
                <a:spcPts val="575"/>
              </a:spcBef>
              <a:buFont typeface="Arial MT"/>
              <a:buChar char="–"/>
              <a:tabLst>
                <a:tab pos="755650" algn="l"/>
              </a:tabLst>
            </a:pPr>
            <a:r>
              <a:rPr sz="2400" dirty="0">
                <a:latin typeface="Times New Roman"/>
                <a:cs typeface="Times New Roman"/>
              </a:rPr>
              <a:t>Nordic</a:t>
            </a:r>
            <a:r>
              <a:rPr sz="2400" spc="-20" dirty="0">
                <a:latin typeface="Times New Roman"/>
                <a:cs typeface="Times New Roman"/>
              </a:rPr>
              <a:t> </a:t>
            </a:r>
            <a:r>
              <a:rPr sz="2400" u="heavy" dirty="0">
                <a:uFill>
                  <a:solidFill>
                    <a:srgbClr val="FBAF17"/>
                  </a:solidFill>
                </a:uFill>
                <a:latin typeface="Times New Roman"/>
                <a:cs typeface="Times New Roman"/>
              </a:rPr>
              <a:t>Mobile</a:t>
            </a:r>
            <a:r>
              <a:rPr sz="2400" u="heavy" spc="-70" dirty="0">
                <a:uFill>
                  <a:solidFill>
                    <a:srgbClr val="FBAF17"/>
                  </a:solidFill>
                </a:uFill>
                <a:latin typeface="Times New Roman"/>
                <a:cs typeface="Times New Roman"/>
              </a:rPr>
              <a:t> </a:t>
            </a:r>
            <a:r>
              <a:rPr sz="2400" u="heavy" spc="-10" dirty="0">
                <a:uFill>
                  <a:solidFill>
                    <a:srgbClr val="FBAF17"/>
                  </a:solidFill>
                </a:uFill>
                <a:latin typeface="Times New Roman"/>
                <a:cs typeface="Times New Roman"/>
              </a:rPr>
              <a:t>Telephone</a:t>
            </a:r>
            <a:r>
              <a:rPr sz="2400" u="heavy" spc="-50" dirty="0">
                <a:uFill>
                  <a:solidFill>
                    <a:srgbClr val="FBAF17"/>
                  </a:solidFill>
                </a:uFill>
                <a:latin typeface="Times New Roman"/>
                <a:cs typeface="Times New Roman"/>
              </a:rPr>
              <a:t> </a:t>
            </a:r>
            <a:r>
              <a:rPr sz="2400" u="heavy" spc="-60" dirty="0">
                <a:uFill>
                  <a:solidFill>
                    <a:srgbClr val="FBAF17"/>
                  </a:solidFill>
                </a:uFill>
                <a:latin typeface="Times New Roman"/>
                <a:cs typeface="Times New Roman"/>
              </a:rPr>
              <a:t>(N</a:t>
            </a:r>
            <a:r>
              <a:rPr sz="2400" spc="-60" dirty="0">
                <a:latin typeface="Times New Roman"/>
                <a:cs typeface="Times New Roman"/>
              </a:rPr>
              <a:t>MT-</a:t>
            </a:r>
            <a:r>
              <a:rPr sz="2400" spc="-10" dirty="0">
                <a:latin typeface="Times New Roman"/>
                <a:cs typeface="Times New Roman"/>
              </a:rPr>
              <a:t>Europe)</a:t>
            </a:r>
            <a:endParaRPr sz="2400">
              <a:latin typeface="Times New Roman"/>
              <a:cs typeface="Times New Roman"/>
            </a:endParaRPr>
          </a:p>
        </p:txBody>
      </p:sp>
      <p:sp>
        <p:nvSpPr>
          <p:cNvPr id="16" name="object 16"/>
          <p:cNvSpPr txBox="1">
            <a:spLocks noGrp="1"/>
          </p:cNvSpPr>
          <p:nvPr>
            <p:ph type="title"/>
          </p:nvPr>
        </p:nvSpPr>
        <p:spPr>
          <a:xfrm>
            <a:off x="383540" y="378917"/>
            <a:ext cx="4160520" cy="574675"/>
          </a:xfrm>
          <a:prstGeom prst="rect">
            <a:avLst/>
          </a:prstGeom>
        </p:spPr>
        <p:txBody>
          <a:bodyPr vert="horz" wrap="square" lIns="0" tIns="12700" rIns="0" bIns="0" rtlCol="0">
            <a:spAutoFit/>
          </a:bodyPr>
          <a:lstStyle/>
          <a:p>
            <a:pPr marL="12700">
              <a:lnSpc>
                <a:spcPct val="100000"/>
              </a:lnSpc>
              <a:spcBef>
                <a:spcPts val="100"/>
              </a:spcBef>
            </a:pPr>
            <a:r>
              <a:rPr spc="-150" dirty="0"/>
              <a:t>Cellular</a:t>
            </a:r>
            <a:r>
              <a:rPr spc="-180" dirty="0"/>
              <a:t> </a:t>
            </a:r>
            <a:r>
              <a:rPr spc="-150" dirty="0"/>
              <a:t>Network-</a:t>
            </a:r>
            <a:r>
              <a:rPr spc="-195" dirty="0"/>
              <a:t> </a:t>
            </a:r>
            <a:r>
              <a:rPr spc="-25" dirty="0"/>
              <a:t>1G</a:t>
            </a:r>
          </a:p>
        </p:txBody>
      </p:sp>
      <p:sp>
        <p:nvSpPr>
          <p:cNvPr id="17" name="object 17"/>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37</a:t>
            </a:r>
            <a:endParaRPr sz="1200">
              <a:latin typeface="Arial MT"/>
              <a:cs typeface="Arial M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443354"/>
            <a:ext cx="8018145" cy="1123315"/>
          </a:xfrm>
          <a:prstGeom prst="rect">
            <a:avLst/>
          </a:prstGeom>
        </p:spPr>
        <p:txBody>
          <a:bodyPr vert="horz" wrap="square" lIns="0" tIns="12700" rIns="0" bIns="0" rtlCol="0">
            <a:spAutoFit/>
          </a:bodyPr>
          <a:lstStyle/>
          <a:p>
            <a:pPr marL="12700" marR="5080">
              <a:lnSpc>
                <a:spcPct val="100000"/>
              </a:lnSpc>
              <a:spcBef>
                <a:spcPts val="100"/>
              </a:spcBef>
            </a:pPr>
            <a:r>
              <a:rPr sz="2400" b="0" dirty="0">
                <a:latin typeface="Times New Roman"/>
                <a:cs typeface="Times New Roman"/>
              </a:rPr>
              <a:t>In</a:t>
            </a:r>
            <a:r>
              <a:rPr sz="2400" b="0" spc="-150" dirty="0">
                <a:latin typeface="Times New Roman"/>
                <a:cs typeface="Times New Roman"/>
              </a:rPr>
              <a:t> </a:t>
            </a:r>
            <a:r>
              <a:rPr sz="2400" b="0" dirty="0">
                <a:latin typeface="Times New Roman"/>
                <a:cs typeface="Times New Roman"/>
              </a:rPr>
              <a:t>AMPS,</a:t>
            </a:r>
            <a:r>
              <a:rPr sz="2400" b="0" spc="-25" dirty="0">
                <a:latin typeface="Times New Roman"/>
                <a:cs typeface="Times New Roman"/>
              </a:rPr>
              <a:t> </a:t>
            </a:r>
            <a:r>
              <a:rPr sz="2400" b="0" dirty="0">
                <a:latin typeface="Times New Roman"/>
                <a:cs typeface="Times New Roman"/>
              </a:rPr>
              <a:t>two</a:t>
            </a:r>
            <a:r>
              <a:rPr sz="2400" b="0" spc="-30" dirty="0">
                <a:latin typeface="Times New Roman"/>
                <a:cs typeface="Times New Roman"/>
              </a:rPr>
              <a:t> </a:t>
            </a:r>
            <a:r>
              <a:rPr sz="2400" b="0" spc="-10" dirty="0">
                <a:latin typeface="Times New Roman"/>
                <a:cs typeface="Times New Roman"/>
              </a:rPr>
              <a:t>25-</a:t>
            </a:r>
            <a:r>
              <a:rPr sz="2400" b="0" dirty="0">
                <a:latin typeface="Times New Roman"/>
                <a:cs typeface="Times New Roman"/>
              </a:rPr>
              <a:t>MHz</a:t>
            </a:r>
            <a:r>
              <a:rPr sz="2400" b="0" spc="-20" dirty="0">
                <a:latin typeface="Times New Roman"/>
                <a:cs typeface="Times New Roman"/>
              </a:rPr>
              <a:t> </a:t>
            </a:r>
            <a:r>
              <a:rPr sz="2400" b="0" dirty="0">
                <a:latin typeface="Times New Roman"/>
                <a:cs typeface="Times New Roman"/>
              </a:rPr>
              <a:t>bands</a:t>
            </a:r>
            <a:r>
              <a:rPr sz="2400" b="0" spc="-35" dirty="0">
                <a:latin typeface="Times New Roman"/>
                <a:cs typeface="Times New Roman"/>
              </a:rPr>
              <a:t> </a:t>
            </a:r>
            <a:r>
              <a:rPr sz="2400" b="0" dirty="0">
                <a:latin typeface="Times New Roman"/>
                <a:cs typeface="Times New Roman"/>
              </a:rPr>
              <a:t>are</a:t>
            </a:r>
            <a:r>
              <a:rPr sz="2400" b="0" spc="-40" dirty="0">
                <a:latin typeface="Times New Roman"/>
                <a:cs typeface="Times New Roman"/>
              </a:rPr>
              <a:t> </a:t>
            </a:r>
            <a:r>
              <a:rPr sz="2400" b="0" dirty="0">
                <a:latin typeface="Times New Roman"/>
                <a:cs typeface="Times New Roman"/>
              </a:rPr>
              <a:t>allocated.</a:t>
            </a:r>
            <a:r>
              <a:rPr sz="2400" b="0" spc="-65" dirty="0">
                <a:latin typeface="Times New Roman"/>
                <a:cs typeface="Times New Roman"/>
              </a:rPr>
              <a:t> </a:t>
            </a:r>
            <a:r>
              <a:rPr sz="2400" b="0" dirty="0">
                <a:latin typeface="Times New Roman"/>
                <a:cs typeface="Times New Roman"/>
              </a:rPr>
              <a:t>One</a:t>
            </a:r>
            <a:r>
              <a:rPr sz="2400" b="0" spc="-25" dirty="0">
                <a:latin typeface="Times New Roman"/>
                <a:cs typeface="Times New Roman"/>
              </a:rPr>
              <a:t> </a:t>
            </a:r>
            <a:r>
              <a:rPr sz="2400" b="0" dirty="0">
                <a:latin typeface="Times New Roman"/>
                <a:cs typeface="Times New Roman"/>
              </a:rPr>
              <a:t>25-MHz</a:t>
            </a:r>
            <a:r>
              <a:rPr sz="2400" b="0" spc="-25" dirty="0">
                <a:latin typeface="Times New Roman"/>
                <a:cs typeface="Times New Roman"/>
              </a:rPr>
              <a:t> </a:t>
            </a:r>
            <a:r>
              <a:rPr sz="2400" b="0" dirty="0">
                <a:latin typeface="Times New Roman"/>
                <a:cs typeface="Times New Roman"/>
              </a:rPr>
              <a:t>band</a:t>
            </a:r>
            <a:r>
              <a:rPr sz="2400" b="0" spc="-30" dirty="0">
                <a:latin typeface="Times New Roman"/>
                <a:cs typeface="Times New Roman"/>
              </a:rPr>
              <a:t> </a:t>
            </a:r>
            <a:r>
              <a:rPr sz="2400" b="0" spc="-25" dirty="0">
                <a:latin typeface="Times New Roman"/>
                <a:cs typeface="Times New Roman"/>
              </a:rPr>
              <a:t>is </a:t>
            </a:r>
            <a:r>
              <a:rPr sz="2400" b="0" dirty="0">
                <a:latin typeface="Times New Roman"/>
                <a:cs typeface="Times New Roman"/>
              </a:rPr>
              <a:t>for</a:t>
            </a:r>
            <a:r>
              <a:rPr sz="2400" b="0" spc="-15" dirty="0">
                <a:latin typeface="Times New Roman"/>
                <a:cs typeface="Times New Roman"/>
              </a:rPr>
              <a:t> </a:t>
            </a:r>
            <a:r>
              <a:rPr sz="2400" b="0" dirty="0">
                <a:latin typeface="Times New Roman"/>
                <a:cs typeface="Times New Roman"/>
              </a:rPr>
              <a:t>communication</a:t>
            </a:r>
            <a:r>
              <a:rPr sz="2400" b="0" spc="-20" dirty="0">
                <a:latin typeface="Times New Roman"/>
                <a:cs typeface="Times New Roman"/>
              </a:rPr>
              <a:t> </a:t>
            </a:r>
            <a:r>
              <a:rPr sz="2400" b="0" dirty="0">
                <a:latin typeface="Times New Roman"/>
                <a:cs typeface="Times New Roman"/>
              </a:rPr>
              <a:t>from</a:t>
            </a:r>
            <a:r>
              <a:rPr sz="2400" b="0" spc="-10" dirty="0">
                <a:latin typeface="Times New Roman"/>
                <a:cs typeface="Times New Roman"/>
              </a:rPr>
              <a:t> </a:t>
            </a:r>
            <a:r>
              <a:rPr sz="2400" b="0" dirty="0">
                <a:latin typeface="Times New Roman"/>
                <a:cs typeface="Times New Roman"/>
              </a:rPr>
              <a:t>BS</a:t>
            </a:r>
            <a:r>
              <a:rPr sz="2400" b="0" spc="-25" dirty="0">
                <a:latin typeface="Times New Roman"/>
                <a:cs typeface="Times New Roman"/>
              </a:rPr>
              <a:t> </a:t>
            </a:r>
            <a:r>
              <a:rPr sz="2400" b="0" dirty="0">
                <a:latin typeface="Times New Roman"/>
                <a:cs typeface="Times New Roman"/>
              </a:rPr>
              <a:t>to</a:t>
            </a:r>
            <a:r>
              <a:rPr sz="2400" b="0" spc="-10" dirty="0">
                <a:latin typeface="Times New Roman"/>
                <a:cs typeface="Times New Roman"/>
              </a:rPr>
              <a:t> </a:t>
            </a:r>
            <a:r>
              <a:rPr sz="2400" b="0" dirty="0">
                <a:latin typeface="Times New Roman"/>
                <a:cs typeface="Times New Roman"/>
              </a:rPr>
              <a:t>mobile</a:t>
            </a:r>
            <a:r>
              <a:rPr sz="2400" b="0" spc="-20" dirty="0">
                <a:latin typeface="Times New Roman"/>
                <a:cs typeface="Times New Roman"/>
              </a:rPr>
              <a:t> </a:t>
            </a:r>
            <a:r>
              <a:rPr sz="2400" b="0" dirty="0">
                <a:latin typeface="Times New Roman"/>
                <a:cs typeface="Times New Roman"/>
              </a:rPr>
              <a:t>unit</a:t>
            </a:r>
            <a:r>
              <a:rPr sz="2400" b="0" spc="-35" dirty="0">
                <a:latin typeface="Times New Roman"/>
                <a:cs typeface="Times New Roman"/>
              </a:rPr>
              <a:t> </a:t>
            </a:r>
            <a:r>
              <a:rPr sz="2400" b="0" dirty="0">
                <a:latin typeface="Times New Roman"/>
                <a:cs typeface="Times New Roman"/>
              </a:rPr>
              <a:t>and</a:t>
            </a:r>
            <a:r>
              <a:rPr sz="2400" b="0" spc="-10" dirty="0">
                <a:latin typeface="Times New Roman"/>
                <a:cs typeface="Times New Roman"/>
              </a:rPr>
              <a:t> </a:t>
            </a:r>
            <a:r>
              <a:rPr sz="2400" b="0" dirty="0">
                <a:latin typeface="Times New Roman"/>
                <a:cs typeface="Times New Roman"/>
              </a:rPr>
              <a:t>the</a:t>
            </a:r>
            <a:r>
              <a:rPr sz="2400" b="0" spc="-35" dirty="0">
                <a:latin typeface="Times New Roman"/>
                <a:cs typeface="Times New Roman"/>
              </a:rPr>
              <a:t> </a:t>
            </a:r>
            <a:r>
              <a:rPr sz="2400" b="0" dirty="0">
                <a:latin typeface="Times New Roman"/>
                <a:cs typeface="Times New Roman"/>
              </a:rPr>
              <a:t>other</a:t>
            </a:r>
            <a:r>
              <a:rPr sz="2400" b="0" spc="-15" dirty="0">
                <a:latin typeface="Times New Roman"/>
                <a:cs typeface="Times New Roman"/>
              </a:rPr>
              <a:t> </a:t>
            </a:r>
            <a:r>
              <a:rPr sz="2400" b="0" spc="-25" dirty="0">
                <a:latin typeface="Times New Roman"/>
                <a:cs typeface="Times New Roman"/>
              </a:rPr>
              <a:t>for </a:t>
            </a:r>
            <a:r>
              <a:rPr sz="2400" b="0" dirty="0">
                <a:latin typeface="Times New Roman"/>
                <a:cs typeface="Times New Roman"/>
              </a:rPr>
              <a:t>communication</a:t>
            </a:r>
            <a:r>
              <a:rPr sz="2400" b="0" spc="-45" dirty="0">
                <a:latin typeface="Times New Roman"/>
                <a:cs typeface="Times New Roman"/>
              </a:rPr>
              <a:t> </a:t>
            </a:r>
            <a:r>
              <a:rPr sz="2400" b="0" dirty="0">
                <a:latin typeface="Times New Roman"/>
                <a:cs typeface="Times New Roman"/>
              </a:rPr>
              <a:t>from</a:t>
            </a:r>
            <a:r>
              <a:rPr sz="2400" b="0" spc="-30" dirty="0">
                <a:latin typeface="Times New Roman"/>
                <a:cs typeface="Times New Roman"/>
              </a:rPr>
              <a:t> </a:t>
            </a:r>
            <a:r>
              <a:rPr sz="2400" b="0" dirty="0">
                <a:latin typeface="Times New Roman"/>
                <a:cs typeface="Times New Roman"/>
              </a:rPr>
              <a:t>mobile</a:t>
            </a:r>
            <a:r>
              <a:rPr sz="2400" b="0" spc="-15" dirty="0">
                <a:latin typeface="Times New Roman"/>
                <a:cs typeface="Times New Roman"/>
              </a:rPr>
              <a:t> </a:t>
            </a:r>
            <a:r>
              <a:rPr sz="2400" b="0" dirty="0">
                <a:latin typeface="Times New Roman"/>
                <a:cs typeface="Times New Roman"/>
              </a:rPr>
              <a:t>unit</a:t>
            </a:r>
            <a:r>
              <a:rPr sz="2400" b="0" spc="-30" dirty="0">
                <a:latin typeface="Times New Roman"/>
                <a:cs typeface="Times New Roman"/>
              </a:rPr>
              <a:t> </a:t>
            </a:r>
            <a:r>
              <a:rPr sz="2400" b="0" dirty="0">
                <a:latin typeface="Times New Roman"/>
                <a:cs typeface="Times New Roman"/>
              </a:rPr>
              <a:t>to</a:t>
            </a:r>
            <a:r>
              <a:rPr sz="2400" b="0" spc="-25" dirty="0">
                <a:latin typeface="Times New Roman"/>
                <a:cs typeface="Times New Roman"/>
              </a:rPr>
              <a:t> BS.</a:t>
            </a:r>
            <a:endParaRPr sz="2400">
              <a:latin typeface="Times New Roman"/>
              <a:cs typeface="Times New Roman"/>
            </a:endParaRPr>
          </a:p>
        </p:txBody>
      </p:sp>
      <p:sp>
        <p:nvSpPr>
          <p:cNvPr id="3" name="object 3"/>
          <p:cNvSpPr txBox="1"/>
          <p:nvPr/>
        </p:nvSpPr>
        <p:spPr>
          <a:xfrm>
            <a:off x="383540" y="2833496"/>
            <a:ext cx="6533515" cy="295211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following</a:t>
            </a:r>
            <a:r>
              <a:rPr sz="2400" spc="-10" dirty="0">
                <a:latin typeface="Times New Roman"/>
                <a:cs typeface="Times New Roman"/>
              </a:rPr>
              <a:t> </a:t>
            </a:r>
            <a:r>
              <a:rPr sz="2400" dirty="0">
                <a:latin typeface="Times New Roman"/>
                <a:cs typeface="Times New Roman"/>
              </a:rPr>
              <a:t>are</a:t>
            </a:r>
            <a:r>
              <a:rPr sz="2400" spc="-3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limitations</a:t>
            </a:r>
            <a:r>
              <a:rPr sz="2400" spc="-4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spc="-25" dirty="0">
                <a:latin typeface="Times New Roman"/>
                <a:cs typeface="Times New Roman"/>
              </a:rPr>
              <a:t>1G:</a:t>
            </a:r>
            <a:endParaRPr sz="2400">
              <a:latin typeface="Times New Roman"/>
              <a:cs typeface="Times New Roman"/>
            </a:endParaRPr>
          </a:p>
          <a:p>
            <a:pPr marL="354965" indent="-342265">
              <a:lnSpc>
                <a:spcPct val="100000"/>
              </a:lnSpc>
              <a:buClr>
                <a:srgbClr val="0F1141"/>
              </a:buClr>
              <a:buFont typeface="Arial MT"/>
              <a:buChar char="•"/>
              <a:tabLst>
                <a:tab pos="354965" algn="l"/>
              </a:tabLst>
            </a:pPr>
            <a:r>
              <a:rPr sz="2400" dirty="0">
                <a:latin typeface="Times New Roman"/>
                <a:cs typeface="Times New Roman"/>
              </a:rPr>
              <a:t>Supports</a:t>
            </a:r>
            <a:r>
              <a:rPr sz="2400" spc="-15" dirty="0">
                <a:latin typeface="Times New Roman"/>
                <a:cs typeface="Times New Roman"/>
              </a:rPr>
              <a:t> </a:t>
            </a:r>
            <a:r>
              <a:rPr sz="2400" dirty="0">
                <a:latin typeface="Times New Roman"/>
                <a:cs typeface="Times New Roman"/>
              </a:rPr>
              <a:t>only</a:t>
            </a:r>
            <a:r>
              <a:rPr sz="2400" spc="-5" dirty="0">
                <a:latin typeface="Times New Roman"/>
                <a:cs typeface="Times New Roman"/>
              </a:rPr>
              <a:t> </a:t>
            </a:r>
            <a:r>
              <a:rPr sz="2400" spc="-10" dirty="0">
                <a:latin typeface="Times New Roman"/>
                <a:cs typeface="Times New Roman"/>
              </a:rPr>
              <a:t>speech</a:t>
            </a:r>
            <a:endParaRPr sz="2400">
              <a:latin typeface="Times New Roman"/>
              <a:cs typeface="Times New Roman"/>
            </a:endParaRPr>
          </a:p>
          <a:p>
            <a:pPr marL="354965" indent="-342265">
              <a:lnSpc>
                <a:spcPct val="100000"/>
              </a:lnSpc>
              <a:buClr>
                <a:srgbClr val="0F1141"/>
              </a:buClr>
              <a:buFont typeface="Arial MT"/>
              <a:buChar char="•"/>
              <a:tabLst>
                <a:tab pos="354965" algn="l"/>
              </a:tabLst>
            </a:pPr>
            <a:r>
              <a:rPr sz="2400" dirty="0">
                <a:latin typeface="Times New Roman"/>
                <a:cs typeface="Times New Roman"/>
              </a:rPr>
              <a:t>Low</a:t>
            </a:r>
            <a:r>
              <a:rPr sz="2400" spc="-40" dirty="0">
                <a:latin typeface="Times New Roman"/>
                <a:cs typeface="Times New Roman"/>
              </a:rPr>
              <a:t> </a:t>
            </a:r>
            <a:r>
              <a:rPr sz="2400" dirty="0">
                <a:latin typeface="Times New Roman"/>
                <a:cs typeface="Times New Roman"/>
              </a:rPr>
              <a:t>traffic</a:t>
            </a:r>
            <a:r>
              <a:rPr sz="2400" spc="-35" dirty="0">
                <a:latin typeface="Times New Roman"/>
                <a:cs typeface="Times New Roman"/>
              </a:rPr>
              <a:t> </a:t>
            </a:r>
            <a:r>
              <a:rPr sz="2400" spc="-10" dirty="0">
                <a:latin typeface="Times New Roman"/>
                <a:cs typeface="Times New Roman"/>
              </a:rPr>
              <a:t>capacity</a:t>
            </a:r>
            <a:endParaRPr sz="2400">
              <a:latin typeface="Times New Roman"/>
              <a:cs typeface="Times New Roman"/>
            </a:endParaRPr>
          </a:p>
          <a:p>
            <a:pPr marL="354965" indent="-342265">
              <a:lnSpc>
                <a:spcPct val="100000"/>
              </a:lnSpc>
              <a:buClr>
                <a:srgbClr val="0F1141"/>
              </a:buClr>
              <a:buFont typeface="Arial MT"/>
              <a:buChar char="•"/>
              <a:tabLst>
                <a:tab pos="354965" algn="l"/>
              </a:tabLst>
            </a:pPr>
            <a:r>
              <a:rPr sz="2400" dirty="0">
                <a:latin typeface="Times New Roman"/>
                <a:cs typeface="Times New Roman"/>
              </a:rPr>
              <a:t>Unreliable</a:t>
            </a:r>
            <a:r>
              <a:rPr sz="2400" spc="-35" dirty="0">
                <a:latin typeface="Times New Roman"/>
                <a:cs typeface="Times New Roman"/>
              </a:rPr>
              <a:t> </a:t>
            </a:r>
            <a:r>
              <a:rPr sz="2400" spc="-10" dirty="0">
                <a:latin typeface="Times New Roman"/>
                <a:cs typeface="Times New Roman"/>
              </a:rPr>
              <a:t>handover</a:t>
            </a:r>
            <a:endParaRPr sz="2400">
              <a:latin typeface="Times New Roman"/>
              <a:cs typeface="Times New Roman"/>
            </a:endParaRPr>
          </a:p>
          <a:p>
            <a:pPr marL="354965" indent="-342265">
              <a:lnSpc>
                <a:spcPct val="100000"/>
              </a:lnSpc>
              <a:buClr>
                <a:srgbClr val="0F1141"/>
              </a:buClr>
              <a:buFont typeface="Arial MT"/>
              <a:buChar char="•"/>
              <a:tabLst>
                <a:tab pos="354965" algn="l"/>
              </a:tabLst>
            </a:pPr>
            <a:r>
              <a:rPr sz="2400" spc="-10" dirty="0">
                <a:latin typeface="Times New Roman"/>
                <a:cs typeface="Times New Roman"/>
              </a:rPr>
              <a:t>Long-</a:t>
            </a:r>
            <a:r>
              <a:rPr sz="2400" dirty="0">
                <a:latin typeface="Times New Roman"/>
                <a:cs typeface="Times New Roman"/>
              </a:rPr>
              <a:t>call</a:t>
            </a:r>
            <a:r>
              <a:rPr sz="2400" spc="-30" dirty="0">
                <a:latin typeface="Times New Roman"/>
                <a:cs typeface="Times New Roman"/>
              </a:rPr>
              <a:t> </a:t>
            </a:r>
            <a:r>
              <a:rPr sz="2400" dirty="0">
                <a:latin typeface="Times New Roman"/>
                <a:cs typeface="Times New Roman"/>
              </a:rPr>
              <a:t>setup</a:t>
            </a:r>
            <a:r>
              <a:rPr sz="2400" spc="-10" dirty="0">
                <a:latin typeface="Times New Roman"/>
                <a:cs typeface="Times New Roman"/>
              </a:rPr>
              <a:t> </a:t>
            </a:r>
            <a:r>
              <a:rPr sz="2400" dirty="0">
                <a:latin typeface="Times New Roman"/>
                <a:cs typeface="Times New Roman"/>
              </a:rPr>
              <a:t>time and</a:t>
            </a:r>
            <a:r>
              <a:rPr sz="2400" spc="5" dirty="0">
                <a:latin typeface="Times New Roman"/>
                <a:cs typeface="Times New Roman"/>
              </a:rPr>
              <a:t> </a:t>
            </a:r>
            <a:r>
              <a:rPr sz="2400" dirty="0">
                <a:latin typeface="Times New Roman"/>
                <a:cs typeface="Times New Roman"/>
              </a:rPr>
              <a:t>frequent</a:t>
            </a:r>
            <a:r>
              <a:rPr sz="2400" spc="-10" dirty="0">
                <a:latin typeface="Times New Roman"/>
                <a:cs typeface="Times New Roman"/>
              </a:rPr>
              <a:t> </a:t>
            </a:r>
            <a:r>
              <a:rPr sz="2400" dirty="0">
                <a:latin typeface="Times New Roman"/>
                <a:cs typeface="Times New Roman"/>
              </a:rPr>
              <a:t>call</a:t>
            </a:r>
            <a:r>
              <a:rPr sz="2400" spc="-15" dirty="0">
                <a:latin typeface="Times New Roman"/>
                <a:cs typeface="Times New Roman"/>
              </a:rPr>
              <a:t> </a:t>
            </a:r>
            <a:r>
              <a:rPr sz="2400" spc="-10" dirty="0">
                <a:latin typeface="Times New Roman"/>
                <a:cs typeface="Times New Roman"/>
              </a:rPr>
              <a:t>drops</a:t>
            </a:r>
            <a:endParaRPr sz="2400">
              <a:latin typeface="Times New Roman"/>
              <a:cs typeface="Times New Roman"/>
            </a:endParaRPr>
          </a:p>
          <a:p>
            <a:pPr marL="354965" indent="-342265">
              <a:lnSpc>
                <a:spcPct val="100000"/>
              </a:lnSpc>
              <a:buClr>
                <a:srgbClr val="0F1141"/>
              </a:buClr>
              <a:buFont typeface="Arial MT"/>
              <a:buChar char="•"/>
              <a:tabLst>
                <a:tab pos="354965" algn="l"/>
              </a:tabLst>
            </a:pPr>
            <a:r>
              <a:rPr sz="2400" dirty="0">
                <a:latin typeface="Times New Roman"/>
                <a:cs typeface="Times New Roman"/>
              </a:rPr>
              <a:t>Inefficient</a:t>
            </a:r>
            <a:r>
              <a:rPr sz="2400" spc="-45" dirty="0">
                <a:latin typeface="Times New Roman"/>
                <a:cs typeface="Times New Roman"/>
              </a:rPr>
              <a:t> </a:t>
            </a:r>
            <a:r>
              <a:rPr sz="2400" dirty="0">
                <a:latin typeface="Times New Roman"/>
                <a:cs typeface="Times New Roman"/>
              </a:rPr>
              <a:t>use</a:t>
            </a:r>
            <a:r>
              <a:rPr sz="2400" spc="-2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bandwidth</a:t>
            </a:r>
            <a:r>
              <a:rPr sz="2400" spc="-25"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poor</a:t>
            </a:r>
            <a:r>
              <a:rPr sz="2400" spc="-25" dirty="0">
                <a:latin typeface="Times New Roman"/>
                <a:cs typeface="Times New Roman"/>
              </a:rPr>
              <a:t> </a:t>
            </a:r>
            <a:r>
              <a:rPr sz="2400" dirty="0">
                <a:latin typeface="Times New Roman"/>
                <a:cs typeface="Times New Roman"/>
              </a:rPr>
              <a:t>battery</a:t>
            </a:r>
            <a:r>
              <a:rPr sz="2400" spc="-60" dirty="0">
                <a:latin typeface="Times New Roman"/>
                <a:cs typeface="Times New Roman"/>
              </a:rPr>
              <a:t> </a:t>
            </a:r>
            <a:r>
              <a:rPr sz="2400" spc="-20" dirty="0">
                <a:latin typeface="Times New Roman"/>
                <a:cs typeface="Times New Roman"/>
              </a:rPr>
              <a:t>life</a:t>
            </a:r>
            <a:endParaRPr sz="2400">
              <a:latin typeface="Times New Roman"/>
              <a:cs typeface="Times New Roman"/>
            </a:endParaRPr>
          </a:p>
          <a:p>
            <a:pPr marL="354965" indent="-342265">
              <a:lnSpc>
                <a:spcPct val="100000"/>
              </a:lnSpc>
              <a:spcBef>
                <a:spcPts val="5"/>
              </a:spcBef>
              <a:buClr>
                <a:srgbClr val="0F1141"/>
              </a:buClr>
              <a:buFont typeface="Arial MT"/>
              <a:buChar char="•"/>
              <a:tabLst>
                <a:tab pos="354965" algn="l"/>
              </a:tabLst>
            </a:pPr>
            <a:r>
              <a:rPr sz="2400" dirty="0">
                <a:latin typeface="Times New Roman"/>
                <a:cs typeface="Times New Roman"/>
              </a:rPr>
              <a:t>Poor</a:t>
            </a:r>
            <a:r>
              <a:rPr sz="2400" spc="-20" dirty="0">
                <a:latin typeface="Times New Roman"/>
                <a:cs typeface="Times New Roman"/>
              </a:rPr>
              <a:t> </a:t>
            </a:r>
            <a:r>
              <a:rPr sz="2400" dirty="0">
                <a:latin typeface="Times New Roman"/>
                <a:cs typeface="Times New Roman"/>
              </a:rPr>
              <a:t>voice</a:t>
            </a:r>
            <a:r>
              <a:rPr sz="2400" spc="-30" dirty="0">
                <a:latin typeface="Times New Roman"/>
                <a:cs typeface="Times New Roman"/>
              </a:rPr>
              <a:t> </a:t>
            </a:r>
            <a:r>
              <a:rPr sz="2400" dirty="0">
                <a:latin typeface="Times New Roman"/>
                <a:cs typeface="Times New Roman"/>
              </a:rPr>
              <a:t>quality</a:t>
            </a:r>
            <a:r>
              <a:rPr sz="2400" spc="-3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large</a:t>
            </a:r>
            <a:r>
              <a:rPr sz="2400" spc="-30" dirty="0">
                <a:latin typeface="Times New Roman"/>
                <a:cs typeface="Times New Roman"/>
              </a:rPr>
              <a:t> </a:t>
            </a:r>
            <a:r>
              <a:rPr sz="2400" dirty="0">
                <a:latin typeface="Times New Roman"/>
                <a:cs typeface="Times New Roman"/>
              </a:rPr>
              <a:t>phone</a:t>
            </a:r>
            <a:r>
              <a:rPr sz="2400" spc="-5" dirty="0">
                <a:latin typeface="Times New Roman"/>
                <a:cs typeface="Times New Roman"/>
              </a:rPr>
              <a:t> </a:t>
            </a:r>
            <a:r>
              <a:rPr sz="2400" spc="-20" dirty="0">
                <a:latin typeface="Times New Roman"/>
                <a:cs typeface="Times New Roman"/>
              </a:rPr>
              <a:t>size</a:t>
            </a:r>
            <a:endParaRPr sz="2400">
              <a:latin typeface="Times New Roman"/>
              <a:cs typeface="Times New Roman"/>
            </a:endParaRPr>
          </a:p>
          <a:p>
            <a:pPr marL="354965" indent="-342265">
              <a:lnSpc>
                <a:spcPct val="100000"/>
              </a:lnSpc>
              <a:buClr>
                <a:srgbClr val="0F1141"/>
              </a:buClr>
              <a:buFont typeface="Arial MT"/>
              <a:buChar char="•"/>
              <a:tabLst>
                <a:tab pos="354965" algn="l"/>
              </a:tabLst>
            </a:pPr>
            <a:r>
              <a:rPr sz="2400" dirty="0">
                <a:latin typeface="Times New Roman"/>
                <a:cs typeface="Times New Roman"/>
              </a:rPr>
              <a:t>Allows</a:t>
            </a:r>
            <a:r>
              <a:rPr sz="2400" spc="-20" dirty="0">
                <a:latin typeface="Times New Roman"/>
                <a:cs typeface="Times New Roman"/>
              </a:rPr>
              <a:t> </a:t>
            </a:r>
            <a:r>
              <a:rPr sz="2400" dirty="0">
                <a:latin typeface="Times New Roman"/>
                <a:cs typeface="Times New Roman"/>
              </a:rPr>
              <a:t>users</a:t>
            </a:r>
            <a:r>
              <a:rPr sz="2400" spc="-1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make</a:t>
            </a:r>
            <a:r>
              <a:rPr sz="2400" spc="-20" dirty="0">
                <a:latin typeface="Times New Roman"/>
                <a:cs typeface="Times New Roman"/>
              </a:rPr>
              <a:t> </a:t>
            </a:r>
            <a:r>
              <a:rPr sz="2400" dirty="0">
                <a:latin typeface="Times New Roman"/>
                <a:cs typeface="Times New Roman"/>
              </a:rPr>
              <a:t>voice</a:t>
            </a:r>
            <a:r>
              <a:rPr sz="2400" spc="-35" dirty="0">
                <a:latin typeface="Times New Roman"/>
                <a:cs typeface="Times New Roman"/>
              </a:rPr>
              <a:t> </a:t>
            </a:r>
            <a:r>
              <a:rPr sz="2400" dirty="0">
                <a:latin typeface="Times New Roman"/>
                <a:cs typeface="Times New Roman"/>
              </a:rPr>
              <a:t>calls</a:t>
            </a:r>
            <a:r>
              <a:rPr sz="2400" spc="-35" dirty="0">
                <a:latin typeface="Times New Roman"/>
                <a:cs typeface="Times New Roman"/>
              </a:rPr>
              <a:t>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1</a:t>
            </a:r>
            <a:r>
              <a:rPr sz="2400" spc="-15" dirty="0">
                <a:latin typeface="Times New Roman"/>
                <a:cs typeface="Times New Roman"/>
              </a:rPr>
              <a:t> </a:t>
            </a:r>
            <a:r>
              <a:rPr sz="2400" dirty="0">
                <a:latin typeface="Times New Roman"/>
                <a:cs typeface="Times New Roman"/>
              </a:rPr>
              <a:t>country</a:t>
            </a:r>
            <a:r>
              <a:rPr sz="2400" spc="-15" dirty="0">
                <a:latin typeface="Times New Roman"/>
                <a:cs typeface="Times New Roman"/>
              </a:rPr>
              <a:t> </a:t>
            </a:r>
            <a:r>
              <a:rPr sz="2400" spc="-20" dirty="0">
                <a:latin typeface="Times New Roman"/>
                <a:cs typeface="Times New Roman"/>
              </a:rPr>
              <a:t>only</a:t>
            </a:r>
            <a:endParaRPr sz="2400">
              <a:latin typeface="Times New Roman"/>
              <a:cs typeface="Times New Roman"/>
            </a:endParaRPr>
          </a:p>
        </p:txBody>
      </p:sp>
      <p:sp>
        <p:nvSpPr>
          <p:cNvPr id="4" name="object 4"/>
          <p:cNvSpPr txBox="1"/>
          <p:nvPr/>
        </p:nvSpPr>
        <p:spPr>
          <a:xfrm>
            <a:off x="383540" y="6177788"/>
            <a:ext cx="6949440" cy="254000"/>
          </a:xfrm>
          <a:prstGeom prst="rect">
            <a:avLst/>
          </a:prstGeom>
        </p:spPr>
        <p:txBody>
          <a:bodyPr vert="horz" wrap="square" lIns="0" tIns="12700" rIns="0" bIns="0" rtlCol="0">
            <a:spAutoFit/>
          </a:bodyPr>
          <a:lstStyle/>
          <a:p>
            <a:pPr marL="354965" indent="-342265">
              <a:lnSpc>
                <a:spcPct val="100000"/>
              </a:lnSpc>
              <a:spcBef>
                <a:spcPts val="100"/>
              </a:spcBef>
              <a:buClr>
                <a:srgbClr val="0F1141"/>
              </a:buClr>
              <a:buChar char="•"/>
              <a:tabLst>
                <a:tab pos="354965" algn="l"/>
              </a:tabLst>
            </a:pPr>
            <a:r>
              <a:rPr sz="1500" dirty="0">
                <a:latin typeface="Arial MT"/>
                <a:cs typeface="Arial MT"/>
              </a:rPr>
              <a:t>the</a:t>
            </a:r>
            <a:r>
              <a:rPr sz="1500" spc="-65" dirty="0">
                <a:latin typeface="Arial MT"/>
                <a:cs typeface="Arial MT"/>
              </a:rPr>
              <a:t> </a:t>
            </a:r>
            <a:r>
              <a:rPr sz="1500" dirty="0">
                <a:latin typeface="Arial MT"/>
                <a:cs typeface="Arial MT"/>
              </a:rPr>
              <a:t>first</a:t>
            </a:r>
            <a:r>
              <a:rPr sz="1500" spc="-60" dirty="0">
                <a:latin typeface="Arial MT"/>
                <a:cs typeface="Arial MT"/>
              </a:rPr>
              <a:t> </a:t>
            </a:r>
            <a:r>
              <a:rPr sz="1500" dirty="0">
                <a:latin typeface="Arial MT"/>
                <a:cs typeface="Arial MT"/>
              </a:rPr>
              <a:t>handheld</a:t>
            </a:r>
            <a:r>
              <a:rPr sz="1500" spc="-55" dirty="0">
                <a:latin typeface="Arial MT"/>
                <a:cs typeface="Arial MT"/>
              </a:rPr>
              <a:t> </a:t>
            </a:r>
            <a:r>
              <a:rPr sz="1500" dirty="0">
                <a:latin typeface="Arial MT"/>
                <a:cs typeface="Arial MT"/>
              </a:rPr>
              <a:t>device</a:t>
            </a:r>
            <a:r>
              <a:rPr sz="1500" spc="-45" dirty="0">
                <a:latin typeface="Arial MT"/>
                <a:cs typeface="Arial MT"/>
              </a:rPr>
              <a:t> </a:t>
            </a:r>
            <a:r>
              <a:rPr sz="1500" dirty="0">
                <a:latin typeface="Arial MT"/>
                <a:cs typeface="Arial MT"/>
              </a:rPr>
              <a:t>from</a:t>
            </a:r>
            <a:r>
              <a:rPr sz="1500" spc="-65" dirty="0">
                <a:latin typeface="Arial MT"/>
                <a:cs typeface="Arial MT"/>
              </a:rPr>
              <a:t> </a:t>
            </a:r>
            <a:r>
              <a:rPr sz="1500" dirty="0">
                <a:latin typeface="Arial MT"/>
                <a:cs typeface="Arial MT"/>
              </a:rPr>
              <a:t>Motorola</a:t>
            </a:r>
            <a:r>
              <a:rPr sz="1500" spc="-55" dirty="0">
                <a:latin typeface="Arial MT"/>
                <a:cs typeface="Arial MT"/>
              </a:rPr>
              <a:t> </a:t>
            </a:r>
            <a:r>
              <a:rPr sz="1500" dirty="0">
                <a:latin typeface="Arial MT"/>
                <a:cs typeface="Arial MT"/>
              </a:rPr>
              <a:t>Company</a:t>
            </a:r>
            <a:r>
              <a:rPr sz="1500" spc="-50" dirty="0">
                <a:latin typeface="Arial MT"/>
                <a:cs typeface="Arial MT"/>
              </a:rPr>
              <a:t> </a:t>
            </a:r>
            <a:r>
              <a:rPr sz="1500" dirty="0">
                <a:latin typeface="Arial MT"/>
                <a:cs typeface="Arial MT"/>
              </a:rPr>
              <a:t>which</a:t>
            </a:r>
            <a:r>
              <a:rPr sz="1500" spc="-45" dirty="0">
                <a:latin typeface="Arial MT"/>
                <a:cs typeface="Arial MT"/>
              </a:rPr>
              <a:t> </a:t>
            </a:r>
            <a:r>
              <a:rPr sz="1500" dirty="0">
                <a:latin typeface="Arial MT"/>
                <a:cs typeface="Arial MT"/>
              </a:rPr>
              <a:t>was</a:t>
            </a:r>
            <a:r>
              <a:rPr sz="1500" spc="-40" dirty="0">
                <a:latin typeface="Arial MT"/>
                <a:cs typeface="Arial MT"/>
              </a:rPr>
              <a:t> </a:t>
            </a:r>
            <a:r>
              <a:rPr sz="1500" dirty="0">
                <a:latin typeface="Arial MT"/>
                <a:cs typeface="Arial MT"/>
              </a:rPr>
              <a:t>available</a:t>
            </a:r>
            <a:r>
              <a:rPr sz="1500" spc="-40" dirty="0">
                <a:latin typeface="Arial MT"/>
                <a:cs typeface="Arial MT"/>
              </a:rPr>
              <a:t> </a:t>
            </a:r>
            <a:r>
              <a:rPr sz="1500" dirty="0">
                <a:latin typeface="Arial MT"/>
                <a:cs typeface="Arial MT"/>
              </a:rPr>
              <a:t>in</a:t>
            </a:r>
            <a:r>
              <a:rPr sz="1500" spc="-45" dirty="0">
                <a:latin typeface="Arial MT"/>
                <a:cs typeface="Arial MT"/>
              </a:rPr>
              <a:t> </a:t>
            </a:r>
            <a:r>
              <a:rPr sz="1500" spc="-20" dirty="0">
                <a:latin typeface="Arial MT"/>
                <a:cs typeface="Arial MT"/>
              </a:rPr>
              <a:t>1984</a:t>
            </a:r>
            <a:endParaRPr sz="1500">
              <a:latin typeface="Arial MT"/>
              <a:cs typeface="Arial MT"/>
            </a:endParaRPr>
          </a:p>
        </p:txBody>
      </p:sp>
      <p:sp>
        <p:nvSpPr>
          <p:cNvPr id="5" name="object 5"/>
          <p:cNvSpPr txBox="1"/>
          <p:nvPr/>
        </p:nvSpPr>
        <p:spPr>
          <a:xfrm>
            <a:off x="726440" y="6360667"/>
            <a:ext cx="1254125" cy="254000"/>
          </a:xfrm>
          <a:prstGeom prst="rect">
            <a:avLst/>
          </a:prstGeom>
        </p:spPr>
        <p:txBody>
          <a:bodyPr vert="horz" wrap="square" lIns="0" tIns="12700" rIns="0" bIns="0" rtlCol="0">
            <a:spAutoFit/>
          </a:bodyPr>
          <a:lstStyle/>
          <a:p>
            <a:pPr marL="12700">
              <a:lnSpc>
                <a:spcPct val="100000"/>
              </a:lnSpc>
              <a:spcBef>
                <a:spcPts val="100"/>
              </a:spcBef>
            </a:pPr>
            <a:r>
              <a:rPr sz="1500" dirty="0">
                <a:latin typeface="Arial MT"/>
                <a:cs typeface="Arial MT"/>
              </a:rPr>
              <a:t>in</a:t>
            </a:r>
            <a:r>
              <a:rPr sz="1500" spc="-20" dirty="0">
                <a:latin typeface="Arial MT"/>
                <a:cs typeface="Arial MT"/>
              </a:rPr>
              <a:t> </a:t>
            </a:r>
            <a:r>
              <a:rPr sz="1500" dirty="0">
                <a:latin typeface="Arial MT"/>
                <a:cs typeface="Arial MT"/>
              </a:rPr>
              <a:t>1G</a:t>
            </a:r>
            <a:r>
              <a:rPr sz="1500" spc="-30" dirty="0">
                <a:latin typeface="Arial MT"/>
                <a:cs typeface="Arial MT"/>
              </a:rPr>
              <a:t> </a:t>
            </a:r>
            <a:r>
              <a:rPr sz="1500" spc="-10" dirty="0">
                <a:latin typeface="Arial MT"/>
                <a:cs typeface="Arial MT"/>
              </a:rPr>
              <a:t>network.</a:t>
            </a:r>
            <a:endParaRPr sz="1500">
              <a:latin typeface="Arial MT"/>
              <a:cs typeface="Arial MT"/>
            </a:endParaRPr>
          </a:p>
        </p:txBody>
      </p:sp>
      <p:sp>
        <p:nvSpPr>
          <p:cNvPr id="6" name="object 6"/>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38</a:t>
            </a:r>
            <a:endParaRPr sz="1200">
              <a:latin typeface="Arial MT"/>
              <a:cs typeface="Arial MT"/>
            </a:endParaRPr>
          </a:p>
        </p:txBody>
      </p:sp>
      <p:pic>
        <p:nvPicPr>
          <p:cNvPr id="7" name="object 7"/>
          <p:cNvPicPr/>
          <p:nvPr/>
        </p:nvPicPr>
        <p:blipFill>
          <a:blip r:embed="rId2" cstate="print"/>
          <a:stretch>
            <a:fillRect/>
          </a:stretch>
        </p:blipFill>
        <p:spPr>
          <a:xfrm>
            <a:off x="7543800" y="2419350"/>
            <a:ext cx="1066800" cy="2971800"/>
          </a:xfrm>
          <a:prstGeom prst="rect">
            <a:avLst/>
          </a:prstGeom>
        </p:spPr>
      </p:pic>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764780" cy="3757295"/>
          </a:xfrm>
          <a:prstGeom prst="rect">
            <a:avLst/>
          </a:prstGeom>
        </p:spPr>
        <p:txBody>
          <a:bodyPr vert="horz" wrap="square" lIns="0" tIns="12700" rIns="0" bIns="0" rtlCol="0">
            <a:spAutoFit/>
          </a:bodyPr>
          <a:lstStyle/>
          <a:p>
            <a:pPr marL="469900" marR="154305" indent="-457200">
              <a:lnSpc>
                <a:spcPct val="120000"/>
              </a:lnSpc>
              <a:spcBef>
                <a:spcPts val="100"/>
              </a:spcBef>
              <a:buClr>
                <a:srgbClr val="0F1141"/>
              </a:buClr>
              <a:buFont typeface="Arial MT"/>
              <a:buChar char="•"/>
              <a:tabLst>
                <a:tab pos="469900" algn="l"/>
              </a:tabLst>
            </a:pPr>
            <a:r>
              <a:rPr sz="2400" dirty="0">
                <a:latin typeface="Times New Roman"/>
                <a:cs typeface="Times New Roman"/>
              </a:rPr>
              <a:t>Goal:</a:t>
            </a:r>
            <a:r>
              <a:rPr sz="2400" spc="-10" dirty="0">
                <a:latin typeface="Times New Roman"/>
                <a:cs typeface="Times New Roman"/>
              </a:rPr>
              <a:t> </a:t>
            </a:r>
            <a:r>
              <a:rPr sz="2400" dirty="0">
                <a:solidFill>
                  <a:srgbClr val="4F81BC"/>
                </a:solidFill>
                <a:latin typeface="Times New Roman"/>
                <a:cs typeface="Times New Roman"/>
              </a:rPr>
              <a:t>Digital</a:t>
            </a:r>
            <a:r>
              <a:rPr sz="2400" spc="-30" dirty="0">
                <a:solidFill>
                  <a:srgbClr val="4F81BC"/>
                </a:solidFill>
                <a:latin typeface="Times New Roman"/>
                <a:cs typeface="Times New Roman"/>
              </a:rPr>
              <a:t> </a:t>
            </a:r>
            <a:r>
              <a:rPr sz="2400" dirty="0">
                <a:latin typeface="Times New Roman"/>
                <a:cs typeface="Times New Roman"/>
              </a:rPr>
              <a:t>voice</a:t>
            </a:r>
            <a:r>
              <a:rPr sz="2400" spc="-30" dirty="0">
                <a:latin typeface="Times New Roman"/>
                <a:cs typeface="Times New Roman"/>
              </a:rPr>
              <a:t> </a:t>
            </a:r>
            <a:r>
              <a:rPr sz="2400" dirty="0">
                <a:latin typeface="Times New Roman"/>
                <a:cs typeface="Times New Roman"/>
              </a:rPr>
              <a:t>service</a:t>
            </a:r>
            <a:r>
              <a:rPr sz="2400" spc="-30"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dirty="0">
                <a:latin typeface="Times New Roman"/>
                <a:cs typeface="Times New Roman"/>
              </a:rPr>
              <a:t>improved</a:t>
            </a:r>
            <a:r>
              <a:rPr sz="2400" spc="-5" dirty="0">
                <a:latin typeface="Times New Roman"/>
                <a:cs typeface="Times New Roman"/>
              </a:rPr>
              <a:t> </a:t>
            </a:r>
            <a:r>
              <a:rPr sz="2400" dirty="0">
                <a:latin typeface="Times New Roman"/>
                <a:cs typeface="Times New Roman"/>
              </a:rPr>
              <a:t>quality</a:t>
            </a:r>
            <a:r>
              <a:rPr sz="2400" spc="-4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20" dirty="0">
                <a:latin typeface="Times New Roman"/>
                <a:cs typeface="Times New Roman"/>
              </a:rPr>
              <a:t>also </a:t>
            </a:r>
            <a:r>
              <a:rPr sz="2400" dirty="0">
                <a:latin typeface="Times New Roman"/>
                <a:cs typeface="Times New Roman"/>
              </a:rPr>
              <a:t>provide</a:t>
            </a:r>
            <a:r>
              <a:rPr sz="2400" spc="-30" dirty="0">
                <a:latin typeface="Times New Roman"/>
                <a:cs typeface="Times New Roman"/>
              </a:rPr>
              <a:t> </a:t>
            </a:r>
            <a:r>
              <a:rPr sz="2400" dirty="0">
                <a:latin typeface="Times New Roman"/>
                <a:cs typeface="Times New Roman"/>
              </a:rPr>
              <a:t>better</a:t>
            </a:r>
            <a:r>
              <a:rPr sz="2400" spc="-20" dirty="0">
                <a:latin typeface="Times New Roman"/>
                <a:cs typeface="Times New Roman"/>
              </a:rPr>
              <a:t> </a:t>
            </a:r>
            <a:r>
              <a:rPr sz="2400" spc="-10" dirty="0">
                <a:latin typeface="Times New Roman"/>
                <a:cs typeface="Times New Roman"/>
              </a:rPr>
              <a:t>services</a:t>
            </a:r>
            <a:endParaRPr sz="2400">
              <a:latin typeface="Times New Roman"/>
              <a:cs typeface="Times New Roman"/>
            </a:endParaRPr>
          </a:p>
          <a:p>
            <a:pPr marL="469265" indent="-456565">
              <a:lnSpc>
                <a:spcPct val="100000"/>
              </a:lnSpc>
              <a:spcBef>
                <a:spcPts val="575"/>
              </a:spcBef>
              <a:buClr>
                <a:srgbClr val="0F1141"/>
              </a:buClr>
              <a:buFont typeface="Arial MT"/>
              <a:buChar char="•"/>
              <a:tabLst>
                <a:tab pos="469265" algn="l"/>
              </a:tabLst>
            </a:pPr>
            <a:r>
              <a:rPr sz="2400" dirty="0">
                <a:latin typeface="Times New Roman"/>
                <a:cs typeface="Times New Roman"/>
              </a:rPr>
              <a:t>Time</a:t>
            </a:r>
            <a:r>
              <a:rPr sz="2400" spc="-30" dirty="0">
                <a:latin typeface="Times New Roman"/>
                <a:cs typeface="Times New Roman"/>
              </a:rPr>
              <a:t> </a:t>
            </a:r>
            <a:r>
              <a:rPr sz="2400" dirty="0">
                <a:latin typeface="Times New Roman"/>
                <a:cs typeface="Times New Roman"/>
              </a:rPr>
              <a:t>Frame:</a:t>
            </a:r>
            <a:r>
              <a:rPr sz="2400" spc="-35" dirty="0">
                <a:latin typeface="Times New Roman"/>
                <a:cs typeface="Times New Roman"/>
              </a:rPr>
              <a:t> </a:t>
            </a:r>
            <a:r>
              <a:rPr sz="2400" dirty="0">
                <a:latin typeface="Times New Roman"/>
                <a:cs typeface="Times New Roman"/>
              </a:rPr>
              <a:t>Launched</a:t>
            </a:r>
            <a:r>
              <a:rPr sz="2400" spc="-25" dirty="0">
                <a:latin typeface="Times New Roman"/>
                <a:cs typeface="Times New Roman"/>
              </a:rPr>
              <a:t> </a:t>
            </a:r>
            <a:r>
              <a:rPr sz="2400" dirty="0">
                <a:latin typeface="Times New Roman"/>
                <a:cs typeface="Times New Roman"/>
              </a:rPr>
              <a:t>in</a:t>
            </a:r>
            <a:r>
              <a:rPr sz="2400" spc="-40" dirty="0">
                <a:latin typeface="Times New Roman"/>
                <a:cs typeface="Times New Roman"/>
              </a:rPr>
              <a:t> </a:t>
            </a:r>
            <a:r>
              <a:rPr sz="2400" dirty="0">
                <a:latin typeface="Times New Roman"/>
                <a:cs typeface="Times New Roman"/>
              </a:rPr>
              <a:t>Finland</a:t>
            </a:r>
            <a:r>
              <a:rPr sz="2400" spc="-40" dirty="0">
                <a:latin typeface="Times New Roman"/>
                <a:cs typeface="Times New Roman"/>
              </a:rPr>
              <a:t> </a:t>
            </a:r>
            <a:r>
              <a:rPr sz="2400" dirty="0">
                <a:latin typeface="Times New Roman"/>
                <a:cs typeface="Times New Roman"/>
              </a:rPr>
              <a:t>in</a:t>
            </a:r>
            <a:r>
              <a:rPr sz="2400" spc="-35" dirty="0">
                <a:latin typeface="Times New Roman"/>
                <a:cs typeface="Times New Roman"/>
              </a:rPr>
              <a:t> </a:t>
            </a:r>
            <a:r>
              <a:rPr sz="2400" spc="-20" dirty="0">
                <a:latin typeface="Times New Roman"/>
                <a:cs typeface="Times New Roman"/>
              </a:rPr>
              <a:t>1991</a:t>
            </a:r>
            <a:endParaRPr sz="2400">
              <a:latin typeface="Times New Roman"/>
              <a:cs typeface="Times New Roman"/>
            </a:endParaRPr>
          </a:p>
          <a:p>
            <a:pPr marL="469900" marR="5080" indent="-457200">
              <a:lnSpc>
                <a:spcPct val="100000"/>
              </a:lnSpc>
              <a:spcBef>
                <a:spcPts val="575"/>
              </a:spcBef>
              <a:buClr>
                <a:srgbClr val="0F1141"/>
              </a:buClr>
              <a:buFont typeface="Arial MT"/>
              <a:buChar char="•"/>
              <a:tabLst>
                <a:tab pos="469900" algn="l"/>
              </a:tabLst>
            </a:pPr>
            <a:r>
              <a:rPr sz="2400" dirty="0">
                <a:latin typeface="Times New Roman"/>
                <a:cs typeface="Times New Roman"/>
              </a:rPr>
              <a:t>2G</a:t>
            </a:r>
            <a:r>
              <a:rPr sz="2400" spc="-40" dirty="0">
                <a:latin typeface="Times New Roman"/>
                <a:cs typeface="Times New Roman"/>
              </a:rPr>
              <a:t> </a:t>
            </a:r>
            <a:r>
              <a:rPr sz="2400" dirty="0">
                <a:latin typeface="Times New Roman"/>
                <a:cs typeface="Times New Roman"/>
              </a:rPr>
              <a:t>technology</a:t>
            </a:r>
            <a:r>
              <a:rPr sz="2400" spc="-75" dirty="0">
                <a:latin typeface="Times New Roman"/>
                <a:cs typeface="Times New Roman"/>
              </a:rPr>
              <a:t> </a:t>
            </a:r>
            <a:r>
              <a:rPr sz="2400" dirty="0">
                <a:latin typeface="Times New Roman"/>
                <a:cs typeface="Times New Roman"/>
              </a:rPr>
              <a:t>supports</a:t>
            </a:r>
            <a:r>
              <a:rPr sz="2400" spc="-35" dirty="0">
                <a:latin typeface="Times New Roman"/>
                <a:cs typeface="Times New Roman"/>
              </a:rPr>
              <a:t> </a:t>
            </a:r>
            <a:r>
              <a:rPr sz="2400" dirty="0">
                <a:latin typeface="Times New Roman"/>
                <a:cs typeface="Times New Roman"/>
              </a:rPr>
              <a:t>data,</a:t>
            </a:r>
            <a:r>
              <a:rPr sz="2400" spc="-50" dirty="0">
                <a:latin typeface="Times New Roman"/>
                <a:cs typeface="Times New Roman"/>
              </a:rPr>
              <a:t> </a:t>
            </a:r>
            <a:r>
              <a:rPr sz="2400" dirty="0">
                <a:latin typeface="Times New Roman"/>
                <a:cs typeface="Times New Roman"/>
              </a:rPr>
              <a:t>speech,</a:t>
            </a:r>
            <a:r>
              <a:rPr sz="2400" spc="-60" dirty="0">
                <a:latin typeface="Times New Roman"/>
                <a:cs typeface="Times New Roman"/>
              </a:rPr>
              <a:t> </a:t>
            </a:r>
            <a:r>
              <a:rPr sz="2400" spc="-25" dirty="0">
                <a:latin typeface="Times New Roman"/>
                <a:cs typeface="Times New Roman"/>
              </a:rPr>
              <a:t>FAX,</a:t>
            </a:r>
            <a:r>
              <a:rPr sz="2400" spc="-10" dirty="0">
                <a:latin typeface="Times New Roman"/>
                <a:cs typeface="Times New Roman"/>
              </a:rPr>
              <a:t> </a:t>
            </a:r>
            <a:r>
              <a:rPr sz="2400" dirty="0">
                <a:latin typeface="Times New Roman"/>
                <a:cs typeface="Times New Roman"/>
              </a:rPr>
              <a:t>SMS,</a:t>
            </a:r>
            <a:r>
              <a:rPr sz="2400" spc="-30" dirty="0">
                <a:latin typeface="Times New Roman"/>
                <a:cs typeface="Times New Roman"/>
              </a:rPr>
              <a:t> </a:t>
            </a:r>
            <a:r>
              <a:rPr sz="2400" dirty="0">
                <a:latin typeface="Times New Roman"/>
                <a:cs typeface="Times New Roman"/>
              </a:rPr>
              <a:t>and</a:t>
            </a:r>
            <a:r>
              <a:rPr sz="2400" spc="-85" dirty="0">
                <a:latin typeface="Times New Roman"/>
                <a:cs typeface="Times New Roman"/>
              </a:rPr>
              <a:t> </a:t>
            </a:r>
            <a:r>
              <a:rPr sz="2400" spc="-35" dirty="0">
                <a:latin typeface="Times New Roman"/>
                <a:cs typeface="Times New Roman"/>
              </a:rPr>
              <a:t>WAP </a:t>
            </a:r>
            <a:r>
              <a:rPr sz="2400" spc="-10" dirty="0">
                <a:latin typeface="Times New Roman"/>
                <a:cs typeface="Times New Roman"/>
              </a:rPr>
              <a:t>services.</a:t>
            </a:r>
            <a:endParaRPr sz="2400">
              <a:latin typeface="Times New Roman"/>
              <a:cs typeface="Times New Roman"/>
            </a:endParaRPr>
          </a:p>
          <a:p>
            <a:pPr marL="469265" indent="-456565">
              <a:lnSpc>
                <a:spcPct val="100000"/>
              </a:lnSpc>
              <a:spcBef>
                <a:spcPts val="580"/>
              </a:spcBef>
              <a:buClr>
                <a:srgbClr val="0F1141"/>
              </a:buClr>
              <a:buFont typeface="Arial MT"/>
              <a:buChar char="•"/>
              <a:tabLst>
                <a:tab pos="469265" algn="l"/>
              </a:tabLst>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frequency</a:t>
            </a:r>
            <a:r>
              <a:rPr sz="2400" spc="-25" dirty="0">
                <a:latin typeface="Times New Roman"/>
                <a:cs typeface="Times New Roman"/>
              </a:rPr>
              <a:t> </a:t>
            </a:r>
            <a:r>
              <a:rPr sz="2400" dirty="0">
                <a:latin typeface="Times New Roman"/>
                <a:cs typeface="Times New Roman"/>
              </a:rPr>
              <a:t>bands</a:t>
            </a:r>
            <a:r>
              <a:rPr sz="2400" spc="-15" dirty="0">
                <a:latin typeface="Times New Roman"/>
                <a:cs typeface="Times New Roman"/>
              </a:rPr>
              <a:t> </a:t>
            </a:r>
            <a:r>
              <a:rPr sz="2400" dirty="0">
                <a:latin typeface="Times New Roman"/>
                <a:cs typeface="Times New Roman"/>
              </a:rPr>
              <a:t>used</a:t>
            </a:r>
            <a:r>
              <a:rPr sz="2400" spc="-15" dirty="0">
                <a:latin typeface="Times New Roman"/>
                <a:cs typeface="Times New Roman"/>
              </a:rPr>
              <a:t> </a:t>
            </a:r>
            <a:r>
              <a:rPr sz="2400" dirty="0">
                <a:latin typeface="Times New Roman"/>
                <a:cs typeface="Times New Roman"/>
              </a:rPr>
              <a:t>by</a:t>
            </a:r>
            <a:r>
              <a:rPr sz="2400" spc="-20" dirty="0">
                <a:latin typeface="Times New Roman"/>
                <a:cs typeface="Times New Roman"/>
              </a:rPr>
              <a:t> </a:t>
            </a:r>
            <a:r>
              <a:rPr sz="2400" dirty="0">
                <a:latin typeface="Times New Roman"/>
                <a:cs typeface="Times New Roman"/>
              </a:rPr>
              <a:t>GSM</a:t>
            </a:r>
            <a:r>
              <a:rPr sz="2400" spc="-10" dirty="0">
                <a:latin typeface="Times New Roman"/>
                <a:cs typeface="Times New Roman"/>
              </a:rPr>
              <a:t> </a:t>
            </a:r>
            <a:r>
              <a:rPr sz="2400" dirty="0">
                <a:latin typeface="Times New Roman"/>
                <a:cs typeface="Times New Roman"/>
              </a:rPr>
              <a:t>are</a:t>
            </a:r>
            <a:r>
              <a:rPr sz="2400" spc="-15" dirty="0">
                <a:latin typeface="Times New Roman"/>
                <a:cs typeface="Times New Roman"/>
              </a:rPr>
              <a:t> </a:t>
            </a:r>
            <a:r>
              <a:rPr sz="2400" dirty="0">
                <a:latin typeface="Times New Roman"/>
                <a:cs typeface="Times New Roman"/>
              </a:rPr>
              <a:t>890–960</a:t>
            </a:r>
            <a:r>
              <a:rPr sz="2400" spc="-15" dirty="0">
                <a:latin typeface="Times New Roman"/>
                <a:cs typeface="Times New Roman"/>
              </a:rPr>
              <a:t> </a:t>
            </a:r>
            <a:r>
              <a:rPr sz="2400" dirty="0">
                <a:latin typeface="Times New Roman"/>
                <a:cs typeface="Times New Roman"/>
              </a:rPr>
              <a:t>MHz</a:t>
            </a:r>
            <a:r>
              <a:rPr sz="2400" spc="-15" dirty="0">
                <a:latin typeface="Times New Roman"/>
                <a:cs typeface="Times New Roman"/>
              </a:rPr>
              <a:t> </a:t>
            </a:r>
            <a:r>
              <a:rPr sz="2400" spc="-25" dirty="0">
                <a:latin typeface="Times New Roman"/>
                <a:cs typeface="Times New Roman"/>
              </a:rPr>
              <a:t>and</a:t>
            </a:r>
            <a:endParaRPr sz="2400">
              <a:latin typeface="Times New Roman"/>
              <a:cs typeface="Times New Roman"/>
            </a:endParaRPr>
          </a:p>
          <a:p>
            <a:pPr marL="469900">
              <a:lnSpc>
                <a:spcPct val="100000"/>
              </a:lnSpc>
            </a:pPr>
            <a:r>
              <a:rPr sz="2400" dirty="0">
                <a:latin typeface="Times New Roman"/>
                <a:cs typeface="Times New Roman"/>
              </a:rPr>
              <a:t>1710–1880</a:t>
            </a:r>
            <a:r>
              <a:rPr sz="2400" spc="-25" dirty="0">
                <a:latin typeface="Times New Roman"/>
                <a:cs typeface="Times New Roman"/>
              </a:rPr>
              <a:t> </a:t>
            </a:r>
            <a:r>
              <a:rPr sz="2400" dirty="0">
                <a:latin typeface="Times New Roman"/>
                <a:cs typeface="Times New Roman"/>
              </a:rPr>
              <a:t>MHz.</a:t>
            </a:r>
            <a:r>
              <a:rPr sz="2400" spc="-30" dirty="0">
                <a:latin typeface="Times New Roman"/>
                <a:cs typeface="Times New Roman"/>
              </a:rPr>
              <a:t> </a:t>
            </a:r>
            <a:r>
              <a:rPr sz="2400" dirty="0">
                <a:latin typeface="Times New Roman"/>
                <a:cs typeface="Times New Roman"/>
              </a:rPr>
              <a:t>(890–915</a:t>
            </a:r>
            <a:r>
              <a:rPr sz="2400" spc="-25" dirty="0">
                <a:latin typeface="Times New Roman"/>
                <a:cs typeface="Times New Roman"/>
              </a:rPr>
              <a:t> </a:t>
            </a:r>
            <a:r>
              <a:rPr sz="2400" dirty="0">
                <a:latin typeface="Times New Roman"/>
                <a:cs typeface="Times New Roman"/>
              </a:rPr>
              <a:t>MHz</a:t>
            </a:r>
            <a:r>
              <a:rPr sz="2400" spc="-15" dirty="0">
                <a:latin typeface="Times New Roman"/>
                <a:cs typeface="Times New Roman"/>
              </a:rPr>
              <a:t> </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uplink</a:t>
            </a:r>
            <a:r>
              <a:rPr sz="2400" spc="-40" dirty="0">
                <a:latin typeface="Times New Roman"/>
                <a:cs typeface="Times New Roman"/>
              </a:rPr>
              <a:t> </a:t>
            </a:r>
            <a:r>
              <a:rPr sz="2400" dirty="0">
                <a:latin typeface="Times New Roman"/>
                <a:cs typeface="Times New Roman"/>
              </a:rPr>
              <a:t>MS</a:t>
            </a:r>
            <a:r>
              <a:rPr sz="2400" spc="-2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BS,</a:t>
            </a:r>
            <a:r>
              <a:rPr sz="2400" spc="-20" dirty="0">
                <a:latin typeface="Times New Roman"/>
                <a:cs typeface="Times New Roman"/>
              </a:rPr>
              <a:t> 935–</a:t>
            </a:r>
            <a:endParaRPr sz="2400">
              <a:latin typeface="Times New Roman"/>
              <a:cs typeface="Times New Roman"/>
            </a:endParaRPr>
          </a:p>
          <a:p>
            <a:pPr marL="469900">
              <a:lnSpc>
                <a:spcPct val="100000"/>
              </a:lnSpc>
            </a:pPr>
            <a:r>
              <a:rPr sz="2400" dirty="0">
                <a:latin typeface="Times New Roman"/>
                <a:cs typeface="Times New Roman"/>
              </a:rPr>
              <a:t>960</a:t>
            </a:r>
            <a:r>
              <a:rPr sz="2400" spc="-20" dirty="0">
                <a:latin typeface="Times New Roman"/>
                <a:cs typeface="Times New Roman"/>
              </a:rPr>
              <a:t> </a:t>
            </a:r>
            <a:r>
              <a:rPr sz="2400" dirty="0">
                <a:latin typeface="Times New Roman"/>
                <a:cs typeface="Times New Roman"/>
              </a:rPr>
              <a:t>MHz</a:t>
            </a:r>
            <a:r>
              <a:rPr sz="2400" spc="-15" dirty="0">
                <a:latin typeface="Times New Roman"/>
                <a:cs typeface="Times New Roman"/>
              </a:rPr>
              <a:t> </a:t>
            </a:r>
            <a:r>
              <a:rPr sz="2400" dirty="0">
                <a:latin typeface="Times New Roman"/>
                <a:cs typeface="Times New Roman"/>
              </a:rPr>
              <a:t>downlink</a:t>
            </a:r>
            <a:r>
              <a:rPr sz="2400" spc="-15" dirty="0">
                <a:latin typeface="Times New Roman"/>
                <a:cs typeface="Times New Roman"/>
              </a:rPr>
              <a:t> </a:t>
            </a:r>
            <a:r>
              <a:rPr sz="2400" dirty="0">
                <a:latin typeface="Times New Roman"/>
                <a:cs typeface="Times New Roman"/>
              </a:rPr>
              <a:t>BS</a:t>
            </a:r>
            <a:r>
              <a:rPr sz="2400" spc="-1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spc="-25" dirty="0">
                <a:latin typeface="Times New Roman"/>
                <a:cs typeface="Times New Roman"/>
              </a:rPr>
              <a:t>MS)</a:t>
            </a:r>
            <a:endParaRPr sz="2400">
              <a:latin typeface="Times New Roman"/>
              <a:cs typeface="Times New Roman"/>
            </a:endParaRPr>
          </a:p>
          <a:p>
            <a:pPr marL="469265" indent="-456565">
              <a:lnSpc>
                <a:spcPct val="100000"/>
              </a:lnSpc>
              <a:spcBef>
                <a:spcPts val="575"/>
              </a:spcBef>
              <a:buClr>
                <a:srgbClr val="0F1141"/>
              </a:buClr>
              <a:buFont typeface="Arial MT"/>
              <a:buChar char="•"/>
              <a:tabLst>
                <a:tab pos="469265" algn="l"/>
              </a:tabLst>
            </a:pP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digital</a:t>
            </a:r>
            <a:r>
              <a:rPr sz="2400" spc="-55" dirty="0">
                <a:latin typeface="Times New Roman"/>
                <a:cs typeface="Times New Roman"/>
              </a:rPr>
              <a:t> </a:t>
            </a:r>
            <a:r>
              <a:rPr sz="2400" spc="-10" dirty="0">
                <a:latin typeface="Times New Roman"/>
                <a:cs typeface="Times New Roman"/>
              </a:rPr>
              <a:t>signals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66</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378917"/>
            <a:ext cx="4034790" cy="574675"/>
          </a:xfrm>
          <a:prstGeom prst="rect">
            <a:avLst/>
          </a:prstGeom>
        </p:spPr>
        <p:txBody>
          <a:bodyPr vert="horz" wrap="square" lIns="0" tIns="12700" rIns="0" bIns="0" rtlCol="0">
            <a:spAutoFit/>
          </a:bodyPr>
          <a:lstStyle/>
          <a:p>
            <a:pPr marL="12700">
              <a:lnSpc>
                <a:spcPct val="100000"/>
              </a:lnSpc>
              <a:spcBef>
                <a:spcPts val="100"/>
              </a:spcBef>
            </a:pPr>
            <a:r>
              <a:rPr spc="-150" dirty="0"/>
              <a:t>Cellular</a:t>
            </a:r>
            <a:r>
              <a:rPr spc="-105" dirty="0"/>
              <a:t> </a:t>
            </a:r>
            <a:r>
              <a:rPr spc="-170" dirty="0"/>
              <a:t>Network-</a:t>
            </a:r>
            <a:r>
              <a:rPr spc="-65" dirty="0"/>
              <a:t>2G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443354"/>
            <a:ext cx="7573645" cy="1050290"/>
          </a:xfrm>
          <a:prstGeom prst="rect">
            <a:avLst/>
          </a:prstGeom>
        </p:spPr>
        <p:txBody>
          <a:bodyPr vert="horz" wrap="square" lIns="0" tIns="83820" rIns="0" bIns="0" rtlCol="0">
            <a:spAutoFit/>
          </a:bodyPr>
          <a:lstStyle/>
          <a:p>
            <a:pPr marL="469900" marR="5080" indent="-457200">
              <a:lnSpc>
                <a:spcPts val="2300"/>
              </a:lnSpc>
              <a:spcBef>
                <a:spcPts val="660"/>
              </a:spcBef>
            </a:pPr>
            <a:r>
              <a:rPr sz="2400" b="0" dirty="0">
                <a:latin typeface="Times New Roman"/>
                <a:cs typeface="Times New Roman"/>
              </a:rPr>
              <a:t>Digital</a:t>
            </a:r>
            <a:r>
              <a:rPr sz="2400" b="0" spc="-45" dirty="0">
                <a:latin typeface="Times New Roman"/>
                <a:cs typeface="Times New Roman"/>
              </a:rPr>
              <a:t> </a:t>
            </a:r>
            <a:r>
              <a:rPr sz="2400" b="0" dirty="0">
                <a:latin typeface="Times New Roman"/>
                <a:cs typeface="Times New Roman"/>
              </a:rPr>
              <a:t>modulation</a:t>
            </a:r>
            <a:r>
              <a:rPr sz="2400" b="0" spc="-15" dirty="0">
                <a:latin typeface="Times New Roman"/>
                <a:cs typeface="Times New Roman"/>
              </a:rPr>
              <a:t> </a:t>
            </a:r>
            <a:r>
              <a:rPr sz="2400" b="0" dirty="0">
                <a:latin typeface="Times New Roman"/>
                <a:cs typeface="Times New Roman"/>
              </a:rPr>
              <a:t>formats</a:t>
            </a:r>
            <a:r>
              <a:rPr sz="2400" b="0" spc="-5" dirty="0">
                <a:latin typeface="Times New Roman"/>
                <a:cs typeface="Times New Roman"/>
              </a:rPr>
              <a:t> </a:t>
            </a:r>
            <a:r>
              <a:rPr sz="2400" b="0" dirty="0">
                <a:latin typeface="Times New Roman"/>
                <a:cs typeface="Times New Roman"/>
              </a:rPr>
              <a:t>were</a:t>
            </a:r>
            <a:r>
              <a:rPr sz="2400" b="0" spc="-10" dirty="0">
                <a:latin typeface="Times New Roman"/>
                <a:cs typeface="Times New Roman"/>
              </a:rPr>
              <a:t> </a:t>
            </a:r>
            <a:r>
              <a:rPr sz="2400" b="0" dirty="0">
                <a:latin typeface="Times New Roman"/>
                <a:cs typeface="Times New Roman"/>
              </a:rPr>
              <a:t>introduced</a:t>
            </a:r>
            <a:r>
              <a:rPr sz="2400" b="0" spc="-40" dirty="0">
                <a:latin typeface="Times New Roman"/>
                <a:cs typeface="Times New Roman"/>
              </a:rPr>
              <a:t> </a:t>
            </a:r>
            <a:r>
              <a:rPr sz="2400" b="0" dirty="0">
                <a:latin typeface="Times New Roman"/>
                <a:cs typeface="Times New Roman"/>
              </a:rPr>
              <a:t>in</a:t>
            </a:r>
            <a:r>
              <a:rPr sz="2400" b="0" spc="-15" dirty="0">
                <a:latin typeface="Times New Roman"/>
                <a:cs typeface="Times New Roman"/>
              </a:rPr>
              <a:t> </a:t>
            </a:r>
            <a:r>
              <a:rPr sz="2400" b="0" dirty="0">
                <a:latin typeface="Times New Roman"/>
                <a:cs typeface="Times New Roman"/>
              </a:rPr>
              <a:t>this</a:t>
            </a:r>
            <a:r>
              <a:rPr sz="2400" b="0" spc="-30" dirty="0">
                <a:latin typeface="Times New Roman"/>
                <a:cs typeface="Times New Roman"/>
              </a:rPr>
              <a:t> </a:t>
            </a:r>
            <a:r>
              <a:rPr sz="2400" b="0" spc="-10" dirty="0">
                <a:latin typeface="Times New Roman"/>
                <a:cs typeface="Times New Roman"/>
              </a:rPr>
              <a:t>generation </a:t>
            </a:r>
            <a:r>
              <a:rPr sz="2400" b="0" dirty="0">
                <a:latin typeface="Times New Roman"/>
                <a:cs typeface="Times New Roman"/>
              </a:rPr>
              <a:t>with</a:t>
            </a:r>
            <a:r>
              <a:rPr sz="2400" b="0" spc="-10" dirty="0">
                <a:latin typeface="Times New Roman"/>
                <a:cs typeface="Times New Roman"/>
              </a:rPr>
              <a:t> </a:t>
            </a:r>
            <a:r>
              <a:rPr sz="2400" b="0" dirty="0">
                <a:latin typeface="Times New Roman"/>
                <a:cs typeface="Times New Roman"/>
              </a:rPr>
              <a:t>the</a:t>
            </a:r>
            <a:r>
              <a:rPr sz="2400" b="0" spc="-25" dirty="0">
                <a:latin typeface="Times New Roman"/>
                <a:cs typeface="Times New Roman"/>
              </a:rPr>
              <a:t> </a:t>
            </a:r>
            <a:r>
              <a:rPr sz="2400" b="0" dirty="0">
                <a:latin typeface="Times New Roman"/>
                <a:cs typeface="Times New Roman"/>
              </a:rPr>
              <a:t>main</a:t>
            </a:r>
            <a:r>
              <a:rPr sz="2400" b="0" spc="-5" dirty="0">
                <a:latin typeface="Times New Roman"/>
                <a:cs typeface="Times New Roman"/>
              </a:rPr>
              <a:t> </a:t>
            </a:r>
            <a:r>
              <a:rPr sz="2400" b="0" dirty="0">
                <a:latin typeface="Times New Roman"/>
                <a:cs typeface="Times New Roman"/>
              </a:rPr>
              <a:t>technology</a:t>
            </a:r>
            <a:r>
              <a:rPr sz="2400" b="0" spc="-50" dirty="0">
                <a:latin typeface="Times New Roman"/>
                <a:cs typeface="Times New Roman"/>
              </a:rPr>
              <a:t> </a:t>
            </a:r>
            <a:r>
              <a:rPr sz="2400" b="0" dirty="0">
                <a:latin typeface="Times New Roman"/>
                <a:cs typeface="Times New Roman"/>
              </a:rPr>
              <a:t>as</a:t>
            </a:r>
            <a:r>
              <a:rPr sz="2400" b="0" spc="-50" dirty="0">
                <a:latin typeface="Times New Roman"/>
                <a:cs typeface="Times New Roman"/>
              </a:rPr>
              <a:t> </a:t>
            </a:r>
            <a:r>
              <a:rPr sz="2400" b="0" spc="-10" dirty="0">
                <a:latin typeface="Times New Roman"/>
                <a:cs typeface="Times New Roman"/>
              </a:rPr>
              <a:t>TDMA/FDD</a:t>
            </a:r>
            <a:endParaRPr sz="2400">
              <a:latin typeface="Times New Roman"/>
              <a:cs typeface="Times New Roman"/>
            </a:endParaRPr>
          </a:p>
          <a:p>
            <a:pPr marL="12700">
              <a:lnSpc>
                <a:spcPct val="100000"/>
              </a:lnSpc>
              <a:spcBef>
                <a:spcPts val="25"/>
              </a:spcBef>
            </a:pPr>
            <a:r>
              <a:rPr sz="2400" b="0" dirty="0">
                <a:latin typeface="Times New Roman"/>
                <a:cs typeface="Times New Roman"/>
              </a:rPr>
              <a:t>Data</a:t>
            </a:r>
            <a:r>
              <a:rPr sz="2400" b="0" spc="-15" dirty="0">
                <a:latin typeface="Times New Roman"/>
                <a:cs typeface="Times New Roman"/>
              </a:rPr>
              <a:t> </a:t>
            </a:r>
            <a:r>
              <a:rPr sz="2400" b="0" dirty="0">
                <a:latin typeface="Times New Roman"/>
                <a:cs typeface="Times New Roman"/>
              </a:rPr>
              <a:t>Speed:</a:t>
            </a:r>
            <a:r>
              <a:rPr sz="2400" b="0" spc="-10" dirty="0">
                <a:latin typeface="Times New Roman"/>
                <a:cs typeface="Times New Roman"/>
              </a:rPr>
              <a:t> </a:t>
            </a:r>
            <a:r>
              <a:rPr sz="2400" b="0" dirty="0">
                <a:latin typeface="Times New Roman"/>
                <a:cs typeface="Times New Roman"/>
              </a:rPr>
              <a:t>upto</a:t>
            </a:r>
            <a:r>
              <a:rPr sz="2400" b="0" spc="-15" dirty="0">
                <a:latin typeface="Times New Roman"/>
                <a:cs typeface="Times New Roman"/>
              </a:rPr>
              <a:t> </a:t>
            </a:r>
            <a:r>
              <a:rPr sz="2400" b="0" spc="-10" dirty="0">
                <a:latin typeface="Times New Roman"/>
                <a:cs typeface="Times New Roman"/>
              </a:rPr>
              <a:t>64kbps</a:t>
            </a:r>
            <a:endParaRPr sz="2400">
              <a:latin typeface="Times New Roman"/>
              <a:cs typeface="Times New Roman"/>
            </a:endParaRPr>
          </a:p>
        </p:txBody>
      </p:sp>
      <p:sp>
        <p:nvSpPr>
          <p:cNvPr id="3" name="object 3"/>
          <p:cNvSpPr txBox="1"/>
          <p:nvPr/>
        </p:nvSpPr>
        <p:spPr>
          <a:xfrm>
            <a:off x="383540" y="2467736"/>
            <a:ext cx="7084695" cy="312420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Times New Roman"/>
                <a:cs typeface="Times New Roman"/>
              </a:rPr>
              <a:t>Services</a:t>
            </a:r>
            <a:r>
              <a:rPr sz="2400" spc="-40" dirty="0">
                <a:latin typeface="Times New Roman"/>
                <a:cs typeface="Times New Roman"/>
              </a:rPr>
              <a:t> </a:t>
            </a:r>
            <a:r>
              <a:rPr sz="2400" dirty="0">
                <a:latin typeface="Times New Roman"/>
                <a:cs typeface="Times New Roman"/>
              </a:rPr>
              <a:t>like</a:t>
            </a:r>
            <a:r>
              <a:rPr sz="2400" spc="-40" dirty="0">
                <a:latin typeface="Times New Roman"/>
                <a:cs typeface="Times New Roman"/>
              </a:rPr>
              <a:t> </a:t>
            </a:r>
            <a:r>
              <a:rPr sz="2400" dirty="0">
                <a:latin typeface="Times New Roman"/>
                <a:cs typeface="Times New Roman"/>
              </a:rPr>
              <a:t>text</a:t>
            </a:r>
            <a:r>
              <a:rPr sz="2400" spc="-40" dirty="0">
                <a:latin typeface="Times New Roman"/>
                <a:cs typeface="Times New Roman"/>
              </a:rPr>
              <a:t> </a:t>
            </a:r>
            <a:r>
              <a:rPr sz="2400" dirty="0">
                <a:latin typeface="Times New Roman"/>
                <a:cs typeface="Times New Roman"/>
              </a:rPr>
              <a:t>message,</a:t>
            </a:r>
            <a:r>
              <a:rPr sz="2400" spc="-15" dirty="0">
                <a:latin typeface="Times New Roman"/>
                <a:cs typeface="Times New Roman"/>
              </a:rPr>
              <a:t> </a:t>
            </a:r>
            <a:r>
              <a:rPr sz="2400" dirty="0">
                <a:latin typeface="Times New Roman"/>
                <a:cs typeface="Times New Roman"/>
              </a:rPr>
              <a:t>picture</a:t>
            </a:r>
            <a:r>
              <a:rPr sz="2400" spc="-55" dirty="0">
                <a:latin typeface="Times New Roman"/>
                <a:cs typeface="Times New Roman"/>
              </a:rPr>
              <a:t> </a:t>
            </a:r>
            <a:r>
              <a:rPr sz="2400" dirty="0">
                <a:latin typeface="Times New Roman"/>
                <a:cs typeface="Times New Roman"/>
              </a:rPr>
              <a:t>message</a:t>
            </a:r>
            <a:r>
              <a:rPr sz="2400" spc="-15" dirty="0">
                <a:latin typeface="Times New Roman"/>
                <a:cs typeface="Times New Roman"/>
              </a:rPr>
              <a:t> </a:t>
            </a:r>
            <a:r>
              <a:rPr sz="2400" dirty="0">
                <a:latin typeface="Times New Roman"/>
                <a:cs typeface="Times New Roman"/>
              </a:rPr>
              <a:t>was</a:t>
            </a:r>
            <a:r>
              <a:rPr sz="2400" spc="-10" dirty="0">
                <a:latin typeface="Times New Roman"/>
                <a:cs typeface="Times New Roman"/>
              </a:rPr>
              <a:t> included. </a:t>
            </a:r>
            <a:r>
              <a:rPr sz="2400" dirty="0">
                <a:latin typeface="Times New Roman"/>
                <a:cs typeface="Times New Roman"/>
              </a:rPr>
              <a:t>Example</a:t>
            </a:r>
            <a:r>
              <a:rPr sz="2400" spc="-30" dirty="0">
                <a:latin typeface="Times New Roman"/>
                <a:cs typeface="Times New Roman"/>
              </a:rPr>
              <a:t> </a:t>
            </a:r>
            <a:r>
              <a:rPr sz="2400" spc="-10" dirty="0">
                <a:latin typeface="Times New Roman"/>
                <a:cs typeface="Times New Roman"/>
              </a:rPr>
              <a:t>Systems:</a:t>
            </a:r>
            <a:endParaRPr sz="2400">
              <a:latin typeface="Times New Roman"/>
              <a:cs typeface="Times New Roman"/>
            </a:endParaRPr>
          </a:p>
          <a:p>
            <a:pPr marL="755015" marR="38100" indent="-285750">
              <a:lnSpc>
                <a:spcPts val="2310"/>
              </a:lnSpc>
              <a:spcBef>
                <a:spcPts val="550"/>
              </a:spcBef>
              <a:buFont typeface="Arial MT"/>
              <a:buChar char="–"/>
              <a:tabLst>
                <a:tab pos="756285" algn="l"/>
              </a:tabLst>
            </a:pPr>
            <a:r>
              <a:rPr sz="2400" dirty="0">
                <a:latin typeface="Times New Roman"/>
                <a:cs typeface="Times New Roman"/>
              </a:rPr>
              <a:t>Global</a:t>
            </a:r>
            <a:r>
              <a:rPr sz="2400" spc="-25" dirty="0">
                <a:latin typeface="Times New Roman"/>
                <a:cs typeface="Times New Roman"/>
              </a:rPr>
              <a:t> </a:t>
            </a:r>
            <a:r>
              <a:rPr sz="2400" dirty="0">
                <a:latin typeface="Times New Roman"/>
                <a:cs typeface="Times New Roman"/>
              </a:rPr>
              <a:t>System</a:t>
            </a:r>
            <a:r>
              <a:rPr sz="2400" spc="-40"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Mobile</a:t>
            </a:r>
            <a:r>
              <a:rPr sz="2400" spc="-40" dirty="0">
                <a:latin typeface="Times New Roman"/>
                <a:cs typeface="Times New Roman"/>
              </a:rPr>
              <a:t> </a:t>
            </a:r>
            <a:r>
              <a:rPr sz="2400" dirty="0">
                <a:latin typeface="Times New Roman"/>
                <a:cs typeface="Times New Roman"/>
              </a:rPr>
              <a:t>Communications</a:t>
            </a:r>
            <a:r>
              <a:rPr sz="2400" spc="-20" dirty="0">
                <a:latin typeface="Times New Roman"/>
                <a:cs typeface="Times New Roman"/>
              </a:rPr>
              <a:t> </a:t>
            </a:r>
            <a:r>
              <a:rPr sz="2400" spc="-10" dirty="0">
                <a:latin typeface="Times New Roman"/>
                <a:cs typeface="Times New Roman"/>
              </a:rPr>
              <a:t>(GSM) 	</a:t>
            </a:r>
            <a:r>
              <a:rPr sz="2400" spc="-20" dirty="0">
                <a:latin typeface="Times New Roman"/>
                <a:cs typeface="Times New Roman"/>
              </a:rPr>
              <a:t>(TDMA</a:t>
            </a:r>
            <a:r>
              <a:rPr sz="2400" spc="-13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FDMA)</a:t>
            </a:r>
            <a:endParaRPr sz="2400">
              <a:latin typeface="Times New Roman"/>
              <a:cs typeface="Times New Roman"/>
            </a:endParaRPr>
          </a:p>
          <a:p>
            <a:pPr marL="755650" indent="-285750">
              <a:lnSpc>
                <a:spcPct val="100000"/>
              </a:lnSpc>
              <a:spcBef>
                <a:spcPts val="15"/>
              </a:spcBef>
              <a:buFont typeface="Arial MT"/>
              <a:buChar char="–"/>
              <a:tabLst>
                <a:tab pos="755650" algn="l"/>
              </a:tabLst>
            </a:pPr>
            <a:r>
              <a:rPr sz="2400" spc="-20" dirty="0">
                <a:latin typeface="Times New Roman"/>
                <a:cs typeface="Times New Roman"/>
              </a:rPr>
              <a:t>IS-</a:t>
            </a:r>
            <a:r>
              <a:rPr sz="2400" dirty="0">
                <a:latin typeface="Times New Roman"/>
                <a:cs typeface="Times New Roman"/>
              </a:rPr>
              <a:t>95(Interim</a:t>
            </a:r>
            <a:r>
              <a:rPr sz="2400" spc="-65" dirty="0">
                <a:latin typeface="Times New Roman"/>
                <a:cs typeface="Times New Roman"/>
              </a:rPr>
              <a:t> </a:t>
            </a:r>
            <a:r>
              <a:rPr sz="2400" dirty="0">
                <a:latin typeface="Times New Roman"/>
                <a:cs typeface="Times New Roman"/>
              </a:rPr>
              <a:t>Standard)</a:t>
            </a:r>
            <a:r>
              <a:rPr sz="2400" spc="-35" dirty="0">
                <a:latin typeface="Times New Roman"/>
                <a:cs typeface="Times New Roman"/>
              </a:rPr>
              <a:t> </a:t>
            </a:r>
            <a:r>
              <a:rPr sz="2400" spc="-10" dirty="0">
                <a:latin typeface="Times New Roman"/>
                <a:cs typeface="Times New Roman"/>
              </a:rPr>
              <a:t>(CDMA)</a:t>
            </a:r>
            <a:endParaRPr sz="2400">
              <a:latin typeface="Times New Roman"/>
              <a:cs typeface="Times New Roman"/>
            </a:endParaRPr>
          </a:p>
          <a:p>
            <a:pPr>
              <a:lnSpc>
                <a:spcPct val="100000"/>
              </a:lnSpc>
              <a:spcBef>
                <a:spcPts val="2530"/>
              </a:spcBef>
            </a:pPr>
            <a:endParaRPr sz="2400">
              <a:latin typeface="Times New Roman"/>
              <a:cs typeface="Times New Roman"/>
            </a:endParaRPr>
          </a:p>
          <a:p>
            <a:pPr marL="12700">
              <a:lnSpc>
                <a:spcPct val="100000"/>
              </a:lnSpc>
            </a:pPr>
            <a:r>
              <a:rPr sz="2200" dirty="0">
                <a:latin typeface="Times New Roman"/>
                <a:cs typeface="Times New Roman"/>
              </a:rPr>
              <a:t>Ericsson</a:t>
            </a:r>
            <a:r>
              <a:rPr sz="2200" spc="-45" dirty="0">
                <a:latin typeface="Times New Roman"/>
                <a:cs typeface="Times New Roman"/>
              </a:rPr>
              <a:t> </a:t>
            </a:r>
            <a:r>
              <a:rPr sz="2200" dirty="0">
                <a:latin typeface="Times New Roman"/>
                <a:cs typeface="Times New Roman"/>
              </a:rPr>
              <a:t>GH218</a:t>
            </a:r>
            <a:r>
              <a:rPr sz="2200" spc="-40" dirty="0">
                <a:latin typeface="Times New Roman"/>
                <a:cs typeface="Times New Roman"/>
              </a:rPr>
              <a:t> </a:t>
            </a:r>
            <a:r>
              <a:rPr sz="2200" dirty="0">
                <a:latin typeface="Times New Roman"/>
                <a:cs typeface="Times New Roman"/>
              </a:rPr>
              <a:t>which</a:t>
            </a:r>
            <a:r>
              <a:rPr sz="2200" spc="-55" dirty="0">
                <a:latin typeface="Times New Roman"/>
                <a:cs typeface="Times New Roman"/>
              </a:rPr>
              <a:t> </a:t>
            </a:r>
            <a:r>
              <a:rPr sz="2200" dirty="0">
                <a:latin typeface="Times New Roman"/>
                <a:cs typeface="Times New Roman"/>
              </a:rPr>
              <a:t>was</a:t>
            </a:r>
            <a:r>
              <a:rPr sz="2200" spc="-55" dirty="0">
                <a:latin typeface="Times New Roman"/>
                <a:cs typeface="Times New Roman"/>
              </a:rPr>
              <a:t> </a:t>
            </a:r>
            <a:r>
              <a:rPr sz="2200" dirty="0">
                <a:latin typeface="Times New Roman"/>
                <a:cs typeface="Times New Roman"/>
              </a:rPr>
              <a:t>introduced</a:t>
            </a:r>
            <a:r>
              <a:rPr sz="2200" spc="-50" dirty="0">
                <a:latin typeface="Times New Roman"/>
                <a:cs typeface="Times New Roman"/>
              </a:rPr>
              <a:t> </a:t>
            </a:r>
            <a:r>
              <a:rPr sz="2200" dirty="0">
                <a:latin typeface="Times New Roman"/>
                <a:cs typeface="Times New Roman"/>
              </a:rPr>
              <a:t>in</a:t>
            </a:r>
            <a:r>
              <a:rPr sz="2200" spc="-50" dirty="0">
                <a:latin typeface="Times New Roman"/>
                <a:cs typeface="Times New Roman"/>
              </a:rPr>
              <a:t> </a:t>
            </a:r>
            <a:r>
              <a:rPr sz="2200" dirty="0">
                <a:latin typeface="Times New Roman"/>
                <a:cs typeface="Times New Roman"/>
              </a:rPr>
              <a:t>1994</a:t>
            </a:r>
            <a:r>
              <a:rPr sz="2200" spc="-50" dirty="0">
                <a:latin typeface="Times New Roman"/>
                <a:cs typeface="Times New Roman"/>
              </a:rPr>
              <a:t> </a:t>
            </a:r>
            <a:r>
              <a:rPr sz="2200" spc="-25" dirty="0">
                <a:latin typeface="Times New Roman"/>
                <a:cs typeface="Times New Roman"/>
              </a:rPr>
              <a:t>and</a:t>
            </a:r>
            <a:endParaRPr sz="2200">
              <a:latin typeface="Times New Roman"/>
              <a:cs typeface="Times New Roman"/>
            </a:endParaRPr>
          </a:p>
          <a:p>
            <a:pPr marL="12700">
              <a:lnSpc>
                <a:spcPct val="100000"/>
              </a:lnSpc>
            </a:pPr>
            <a:r>
              <a:rPr sz="2200" dirty="0">
                <a:latin typeface="Times New Roman"/>
                <a:cs typeface="Times New Roman"/>
              </a:rPr>
              <a:t>operated</a:t>
            </a:r>
            <a:r>
              <a:rPr sz="2200" spc="-45" dirty="0">
                <a:latin typeface="Times New Roman"/>
                <a:cs typeface="Times New Roman"/>
              </a:rPr>
              <a:t> </a:t>
            </a:r>
            <a:r>
              <a:rPr sz="2200" dirty="0">
                <a:latin typeface="Times New Roman"/>
                <a:cs typeface="Times New Roman"/>
              </a:rPr>
              <a:t>in</a:t>
            </a:r>
            <a:r>
              <a:rPr sz="2200" spc="-30" dirty="0">
                <a:latin typeface="Times New Roman"/>
                <a:cs typeface="Times New Roman"/>
              </a:rPr>
              <a:t> </a:t>
            </a:r>
            <a:r>
              <a:rPr sz="2200" dirty="0">
                <a:latin typeface="Times New Roman"/>
                <a:cs typeface="Times New Roman"/>
              </a:rPr>
              <a:t>2G</a:t>
            </a:r>
            <a:r>
              <a:rPr sz="2200" spc="-50" dirty="0">
                <a:latin typeface="Times New Roman"/>
                <a:cs typeface="Times New Roman"/>
              </a:rPr>
              <a:t> </a:t>
            </a:r>
            <a:r>
              <a:rPr sz="2200" spc="-10" dirty="0">
                <a:latin typeface="Times New Roman"/>
                <a:cs typeface="Times New Roman"/>
              </a:rPr>
              <a:t>networks.</a:t>
            </a:r>
            <a:endParaRPr sz="2200">
              <a:latin typeface="Times New Roman"/>
              <a:cs typeface="Times New Roman"/>
            </a:endParaRPr>
          </a:p>
        </p:txBody>
      </p:sp>
      <p:pic>
        <p:nvPicPr>
          <p:cNvPr id="4" name="object 4"/>
          <p:cNvPicPr/>
          <p:nvPr/>
        </p:nvPicPr>
        <p:blipFill>
          <a:blip r:embed="rId2" cstate="print"/>
          <a:stretch>
            <a:fillRect/>
          </a:stretch>
        </p:blipFill>
        <p:spPr>
          <a:xfrm>
            <a:off x="8143875" y="3171825"/>
            <a:ext cx="895350" cy="260032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67</a:t>
            </a:fld>
            <a:endParaRPr spc="-25" dirty="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65134" cy="2879090"/>
          </a:xfrm>
          <a:prstGeom prst="rect">
            <a:avLst/>
          </a:prstGeom>
        </p:spPr>
        <p:txBody>
          <a:bodyPr vert="horz" wrap="square" lIns="0" tIns="85725" rIns="0" bIns="0" rtlCol="0">
            <a:spAutoFit/>
          </a:bodyPr>
          <a:lstStyle/>
          <a:p>
            <a:pPr marL="12700">
              <a:lnSpc>
                <a:spcPct val="100000"/>
              </a:lnSpc>
              <a:spcBef>
                <a:spcPts val="675"/>
              </a:spcBef>
            </a:pPr>
            <a:r>
              <a:rPr sz="2400" i="1" dirty="0">
                <a:latin typeface="Times New Roman"/>
                <a:cs typeface="Times New Roman"/>
              </a:rPr>
              <a:t>The</a:t>
            </a:r>
            <a:r>
              <a:rPr sz="2400" i="1" spc="-35" dirty="0">
                <a:latin typeface="Times New Roman"/>
                <a:cs typeface="Times New Roman"/>
              </a:rPr>
              <a:t> </a:t>
            </a:r>
            <a:r>
              <a:rPr sz="2400" i="1" dirty="0">
                <a:latin typeface="Times New Roman"/>
                <a:cs typeface="Times New Roman"/>
              </a:rPr>
              <a:t>following</a:t>
            </a:r>
            <a:r>
              <a:rPr sz="2400" i="1" spc="-65" dirty="0">
                <a:latin typeface="Times New Roman"/>
                <a:cs typeface="Times New Roman"/>
              </a:rPr>
              <a:t> </a:t>
            </a:r>
            <a:r>
              <a:rPr sz="2400" i="1" dirty="0">
                <a:latin typeface="Times New Roman"/>
                <a:cs typeface="Times New Roman"/>
              </a:rPr>
              <a:t>are</a:t>
            </a:r>
            <a:r>
              <a:rPr sz="2400" i="1" spc="-40" dirty="0">
                <a:latin typeface="Times New Roman"/>
                <a:cs typeface="Times New Roman"/>
              </a:rPr>
              <a:t> </a:t>
            </a:r>
            <a:r>
              <a:rPr sz="2400" dirty="0">
                <a:latin typeface="Times New Roman"/>
                <a:cs typeface="Times New Roman"/>
              </a:rPr>
              <a:t>limitations</a:t>
            </a:r>
            <a:r>
              <a:rPr sz="2400" spc="-55"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spc="-25" dirty="0">
                <a:latin typeface="Times New Roman"/>
                <a:cs typeface="Times New Roman"/>
              </a:rPr>
              <a:t>2G:</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Provides</a:t>
            </a:r>
            <a:r>
              <a:rPr sz="2400" spc="-15" dirty="0">
                <a:latin typeface="Times New Roman"/>
                <a:cs typeface="Times New Roman"/>
              </a:rPr>
              <a:t> </a:t>
            </a:r>
            <a:r>
              <a:rPr sz="2400" dirty="0">
                <a:latin typeface="Times New Roman"/>
                <a:cs typeface="Times New Roman"/>
              </a:rPr>
              <a:t>low</a:t>
            </a:r>
            <a:r>
              <a:rPr sz="2400" spc="-20" dirty="0">
                <a:latin typeface="Times New Roman"/>
                <a:cs typeface="Times New Roman"/>
              </a:rPr>
              <a:t> </a:t>
            </a:r>
            <a:r>
              <a:rPr sz="2400" dirty="0">
                <a:latin typeface="Times New Roman"/>
                <a:cs typeface="Times New Roman"/>
              </a:rPr>
              <a:t>data</a:t>
            </a:r>
            <a:r>
              <a:rPr sz="2400" spc="-35" dirty="0">
                <a:latin typeface="Times New Roman"/>
                <a:cs typeface="Times New Roman"/>
              </a:rPr>
              <a:t> </a:t>
            </a:r>
            <a:r>
              <a:rPr sz="2400" dirty="0">
                <a:latin typeface="Times New Roman"/>
                <a:cs typeface="Times New Roman"/>
              </a:rPr>
              <a:t>rates</a:t>
            </a:r>
            <a:r>
              <a:rPr sz="2400" spc="-35" dirty="0">
                <a:latin typeface="Times New Roman"/>
                <a:cs typeface="Times New Roman"/>
              </a:rPr>
              <a:t> </a:t>
            </a:r>
            <a:r>
              <a:rPr sz="2400" dirty="0">
                <a:latin typeface="Times New Roman"/>
                <a:cs typeface="Times New Roman"/>
              </a:rPr>
              <a:t>ranging</a:t>
            </a:r>
            <a:r>
              <a:rPr sz="2400" spc="-10" dirty="0">
                <a:latin typeface="Times New Roman"/>
                <a:cs typeface="Times New Roman"/>
              </a:rPr>
              <a:t> </a:t>
            </a:r>
            <a:r>
              <a:rPr sz="2400" dirty="0">
                <a:latin typeface="Times New Roman"/>
                <a:cs typeface="Times New Roman"/>
              </a:rPr>
              <a:t>from</a:t>
            </a:r>
            <a:r>
              <a:rPr sz="2400" spc="-20" dirty="0">
                <a:latin typeface="Times New Roman"/>
                <a:cs typeface="Times New Roman"/>
              </a:rPr>
              <a:t> </a:t>
            </a:r>
            <a:r>
              <a:rPr sz="2400" dirty="0">
                <a:latin typeface="Times New Roman"/>
                <a:cs typeface="Times New Roman"/>
              </a:rPr>
              <a:t>9.6</a:t>
            </a:r>
            <a:r>
              <a:rPr sz="2400" spc="-10" dirty="0">
                <a:latin typeface="Times New Roman"/>
                <a:cs typeface="Times New Roman"/>
              </a:rPr>
              <a:t> </a:t>
            </a:r>
            <a:r>
              <a:rPr sz="2400" dirty="0">
                <a:latin typeface="Times New Roman"/>
                <a:cs typeface="Times New Roman"/>
              </a:rPr>
              <a:t>kbps</a:t>
            </a:r>
            <a:r>
              <a:rPr sz="2400" spc="-1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28.8</a:t>
            </a:r>
            <a:r>
              <a:rPr sz="2400" spc="-10" dirty="0">
                <a:latin typeface="Times New Roman"/>
                <a:cs typeface="Times New Roman"/>
              </a:rPr>
              <a:t> kbps.</a:t>
            </a:r>
            <a:endParaRPr sz="2400">
              <a:latin typeface="Times New Roman"/>
              <a:cs typeface="Times New Roman"/>
            </a:endParaRPr>
          </a:p>
          <a:p>
            <a:pPr marL="355600" marR="5080" indent="-342900">
              <a:lnSpc>
                <a:spcPct val="100000"/>
              </a:lnSpc>
              <a:spcBef>
                <a:spcPts val="580"/>
              </a:spcBef>
              <a:buClr>
                <a:srgbClr val="0F1141"/>
              </a:buClr>
              <a:buFont typeface="Arial MT"/>
              <a:buChar char="•"/>
              <a:tabLst>
                <a:tab pos="355600" algn="l"/>
              </a:tabLst>
            </a:pPr>
            <a:r>
              <a:rPr sz="2400" dirty="0">
                <a:latin typeface="Times New Roman"/>
                <a:cs typeface="Times New Roman"/>
              </a:rPr>
              <a:t>Circuit-switched</a:t>
            </a:r>
            <a:r>
              <a:rPr sz="2400" spc="-60" dirty="0">
                <a:latin typeface="Times New Roman"/>
                <a:cs typeface="Times New Roman"/>
              </a:rPr>
              <a:t> </a:t>
            </a:r>
            <a:r>
              <a:rPr sz="2400" dirty="0">
                <a:latin typeface="Times New Roman"/>
                <a:cs typeface="Times New Roman"/>
              </a:rPr>
              <a:t>network,</a:t>
            </a:r>
            <a:r>
              <a:rPr sz="2400" spc="-30" dirty="0">
                <a:latin typeface="Times New Roman"/>
                <a:cs typeface="Times New Roman"/>
              </a:rPr>
              <a:t> </a:t>
            </a:r>
            <a:r>
              <a:rPr sz="2400" dirty="0">
                <a:latin typeface="Times New Roman"/>
                <a:cs typeface="Times New Roman"/>
              </a:rPr>
              <a:t>where</a:t>
            </a:r>
            <a:r>
              <a:rPr sz="2400" spc="-2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end</a:t>
            </a:r>
            <a:r>
              <a:rPr sz="2400" spc="-30" dirty="0">
                <a:latin typeface="Times New Roman"/>
                <a:cs typeface="Times New Roman"/>
              </a:rPr>
              <a:t> </a:t>
            </a:r>
            <a:r>
              <a:rPr sz="2400" dirty="0">
                <a:latin typeface="Times New Roman"/>
                <a:cs typeface="Times New Roman"/>
              </a:rPr>
              <a:t>systems</a:t>
            </a:r>
            <a:r>
              <a:rPr sz="2400" spc="-5" dirty="0">
                <a:latin typeface="Times New Roman"/>
                <a:cs typeface="Times New Roman"/>
              </a:rPr>
              <a:t> </a:t>
            </a:r>
            <a:r>
              <a:rPr sz="2400" dirty="0">
                <a:latin typeface="Times New Roman"/>
                <a:cs typeface="Times New Roman"/>
              </a:rPr>
              <a:t>are</a:t>
            </a:r>
            <a:r>
              <a:rPr sz="2400" spc="-45" dirty="0">
                <a:latin typeface="Times New Roman"/>
                <a:cs typeface="Times New Roman"/>
              </a:rPr>
              <a:t> </a:t>
            </a:r>
            <a:r>
              <a:rPr sz="2400" spc="-10" dirty="0">
                <a:latin typeface="Times New Roman"/>
                <a:cs typeface="Times New Roman"/>
              </a:rPr>
              <a:t>dedicated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entire</a:t>
            </a:r>
            <a:r>
              <a:rPr sz="2400" spc="-45" dirty="0">
                <a:latin typeface="Times New Roman"/>
                <a:cs typeface="Times New Roman"/>
              </a:rPr>
              <a:t> </a:t>
            </a:r>
            <a:r>
              <a:rPr sz="2400" dirty="0">
                <a:latin typeface="Times New Roman"/>
                <a:cs typeface="Times New Roman"/>
              </a:rPr>
              <a:t>call</a:t>
            </a:r>
            <a:r>
              <a:rPr sz="2400" spc="-25" dirty="0">
                <a:latin typeface="Times New Roman"/>
                <a:cs typeface="Times New Roman"/>
              </a:rPr>
              <a:t> </a:t>
            </a:r>
            <a:r>
              <a:rPr sz="2400" dirty="0">
                <a:latin typeface="Times New Roman"/>
                <a:cs typeface="Times New Roman"/>
              </a:rPr>
              <a:t>session.</a:t>
            </a:r>
            <a:r>
              <a:rPr sz="2400" spc="-70" dirty="0">
                <a:latin typeface="Times New Roman"/>
                <a:cs typeface="Times New Roman"/>
              </a:rPr>
              <a:t> </a:t>
            </a:r>
            <a:r>
              <a:rPr sz="2400" dirty="0">
                <a:latin typeface="Times New Roman"/>
                <a:cs typeface="Times New Roman"/>
              </a:rPr>
              <a:t>This</a:t>
            </a:r>
            <a:r>
              <a:rPr sz="2400" spc="-15" dirty="0">
                <a:latin typeface="Times New Roman"/>
                <a:cs typeface="Times New Roman"/>
              </a:rPr>
              <a:t> </a:t>
            </a:r>
            <a:r>
              <a:rPr sz="2400" dirty="0">
                <a:latin typeface="Times New Roman"/>
                <a:cs typeface="Times New Roman"/>
              </a:rPr>
              <a:t>causes</a:t>
            </a:r>
            <a:r>
              <a:rPr sz="2400" spc="-10" dirty="0">
                <a:latin typeface="Times New Roman"/>
                <a:cs typeface="Times New Roman"/>
              </a:rPr>
              <a:t> </a:t>
            </a:r>
            <a:r>
              <a:rPr sz="2400" dirty="0">
                <a:latin typeface="Times New Roman"/>
                <a:cs typeface="Times New Roman"/>
              </a:rPr>
              <a:t>reduction</a:t>
            </a:r>
            <a:r>
              <a:rPr sz="2400" spc="-25"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usage</a:t>
            </a:r>
            <a:r>
              <a:rPr sz="2400" spc="-20" dirty="0">
                <a:latin typeface="Times New Roman"/>
                <a:cs typeface="Times New Roman"/>
              </a:rPr>
              <a:t> </a:t>
            </a:r>
            <a:r>
              <a:rPr sz="2400" spc="-25" dirty="0">
                <a:latin typeface="Times New Roman"/>
                <a:cs typeface="Times New Roman"/>
              </a:rPr>
              <a:t>of </a:t>
            </a:r>
            <a:r>
              <a:rPr sz="2400" dirty="0">
                <a:latin typeface="Times New Roman"/>
                <a:cs typeface="Times New Roman"/>
              </a:rPr>
              <a:t>bandwidth</a:t>
            </a:r>
            <a:r>
              <a:rPr sz="2400" spc="-15" dirty="0">
                <a:latin typeface="Times New Roman"/>
                <a:cs typeface="Times New Roman"/>
              </a:rPr>
              <a:t> </a:t>
            </a:r>
            <a:r>
              <a:rPr sz="2400" dirty="0">
                <a:latin typeface="Times New Roman"/>
                <a:cs typeface="Times New Roman"/>
              </a:rPr>
              <a:t>and</a:t>
            </a:r>
            <a:r>
              <a:rPr sz="2400" spc="-10" dirty="0">
                <a:latin typeface="Times New Roman"/>
                <a:cs typeface="Times New Roman"/>
              </a:rPr>
              <a:t> resources.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spc="-20" dirty="0">
                <a:latin typeface="Times New Roman"/>
                <a:cs typeface="Times New Roman"/>
              </a:rPr>
              <a:t>Too</a:t>
            </a:r>
            <a:r>
              <a:rPr sz="2400" spc="-40" dirty="0">
                <a:latin typeface="Times New Roman"/>
                <a:cs typeface="Times New Roman"/>
              </a:rPr>
              <a:t> </a:t>
            </a:r>
            <a:r>
              <a:rPr sz="2400" dirty="0">
                <a:latin typeface="Times New Roman"/>
                <a:cs typeface="Times New Roman"/>
              </a:rPr>
              <a:t>many</a:t>
            </a:r>
            <a:r>
              <a:rPr sz="2400" spc="-35" dirty="0">
                <a:latin typeface="Times New Roman"/>
                <a:cs typeface="Times New Roman"/>
              </a:rPr>
              <a:t> </a:t>
            </a:r>
            <a:r>
              <a:rPr sz="2400" dirty="0">
                <a:latin typeface="Times New Roman"/>
                <a:cs typeface="Times New Roman"/>
              </a:rPr>
              <a:t>2G</a:t>
            </a:r>
            <a:r>
              <a:rPr sz="2400" spc="-50" dirty="0">
                <a:latin typeface="Times New Roman"/>
                <a:cs typeface="Times New Roman"/>
              </a:rPr>
              <a:t> </a:t>
            </a:r>
            <a:r>
              <a:rPr sz="2400" dirty="0">
                <a:latin typeface="Times New Roman"/>
                <a:cs typeface="Times New Roman"/>
              </a:rPr>
              <a:t>standards</a:t>
            </a:r>
            <a:r>
              <a:rPr sz="2400" spc="-50" dirty="0">
                <a:latin typeface="Times New Roman"/>
                <a:cs typeface="Times New Roman"/>
              </a:rPr>
              <a:t> </a:t>
            </a:r>
            <a:r>
              <a:rPr sz="2400" dirty="0">
                <a:latin typeface="Times New Roman"/>
                <a:cs typeface="Times New Roman"/>
              </a:rPr>
              <a:t>globally</a:t>
            </a:r>
            <a:r>
              <a:rPr sz="2400" spc="-80" dirty="0">
                <a:latin typeface="Times New Roman"/>
                <a:cs typeface="Times New Roman"/>
              </a:rPr>
              <a:t> </a:t>
            </a:r>
            <a:r>
              <a:rPr sz="2400" dirty="0">
                <a:latin typeface="Times New Roman"/>
                <a:cs typeface="Times New Roman"/>
              </a:rPr>
              <a:t>(e.g.</a:t>
            </a:r>
            <a:r>
              <a:rPr sz="2400" spc="-45" dirty="0">
                <a:latin typeface="Times New Roman"/>
                <a:cs typeface="Times New Roman"/>
              </a:rPr>
              <a:t> </a:t>
            </a:r>
            <a:r>
              <a:rPr sz="2400" dirty="0">
                <a:latin typeface="Times New Roman"/>
                <a:cs typeface="Times New Roman"/>
              </a:rPr>
              <a:t>GSM,</a:t>
            </a:r>
            <a:r>
              <a:rPr sz="2400" spc="-30" dirty="0">
                <a:latin typeface="Times New Roman"/>
                <a:cs typeface="Times New Roman"/>
              </a:rPr>
              <a:t> </a:t>
            </a:r>
            <a:r>
              <a:rPr sz="2400" dirty="0">
                <a:latin typeface="Times New Roman"/>
                <a:cs typeface="Times New Roman"/>
              </a:rPr>
              <a:t>CDMA,</a:t>
            </a:r>
            <a:r>
              <a:rPr sz="2400" spc="-25" dirty="0">
                <a:latin typeface="Times New Roman"/>
                <a:cs typeface="Times New Roman"/>
              </a:rPr>
              <a:t> </a:t>
            </a:r>
            <a:r>
              <a:rPr sz="2400" spc="-20" dirty="0">
                <a:latin typeface="Times New Roman"/>
                <a:cs typeface="Times New Roman"/>
              </a:rPr>
              <a:t>PDC,</a:t>
            </a:r>
            <a:endParaRPr sz="2400">
              <a:latin typeface="Times New Roman"/>
              <a:cs typeface="Times New Roman"/>
            </a:endParaRPr>
          </a:p>
          <a:p>
            <a:pPr marL="355600">
              <a:lnSpc>
                <a:spcPct val="100000"/>
              </a:lnSpc>
            </a:pP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PHS</a:t>
            </a:r>
            <a:r>
              <a:rPr sz="2400" spc="-20" dirty="0">
                <a:latin typeface="Times New Roman"/>
                <a:cs typeface="Times New Roman"/>
              </a:rPr>
              <a:t> </a:t>
            </a:r>
            <a:r>
              <a:rPr sz="2400" spc="-50" dirty="0">
                <a:latin typeface="Times New Roman"/>
                <a:cs typeface="Times New Roman"/>
              </a:rPr>
              <a:t>)</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68</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959090" cy="2806065"/>
          </a:xfrm>
          <a:prstGeom prst="rect">
            <a:avLst/>
          </a:prstGeom>
        </p:spPr>
        <p:txBody>
          <a:bodyPr vert="horz" wrap="square" lIns="0" tIns="12700" rIns="0" bIns="0" rtlCol="0">
            <a:spAutoFit/>
          </a:bodyPr>
          <a:lstStyle/>
          <a:p>
            <a:pPr marL="355600" marR="574040" indent="-342900">
              <a:lnSpc>
                <a:spcPct val="100000"/>
              </a:lnSpc>
              <a:spcBef>
                <a:spcPts val="100"/>
              </a:spcBef>
              <a:buClr>
                <a:srgbClr val="0F1141"/>
              </a:buClr>
              <a:buFont typeface="Arial MT"/>
              <a:buChar char="•"/>
              <a:tabLst>
                <a:tab pos="355600" algn="l"/>
                <a:tab pos="4236085" algn="l"/>
              </a:tabLst>
            </a:pPr>
            <a:r>
              <a:rPr sz="2400" dirty="0">
                <a:latin typeface="Times New Roman"/>
                <a:cs typeface="Times New Roman"/>
              </a:rPr>
              <a:t>Goal:</a:t>
            </a:r>
            <a:r>
              <a:rPr sz="2400" spc="-75" dirty="0">
                <a:latin typeface="Times New Roman"/>
                <a:cs typeface="Times New Roman"/>
              </a:rPr>
              <a:t> </a:t>
            </a:r>
            <a:r>
              <a:rPr sz="2400" spc="-30" dirty="0">
                <a:latin typeface="Times New Roman"/>
                <a:cs typeface="Times New Roman"/>
              </a:rPr>
              <a:t>To</a:t>
            </a:r>
            <a:r>
              <a:rPr sz="2400" spc="-15" dirty="0">
                <a:latin typeface="Times New Roman"/>
                <a:cs typeface="Times New Roman"/>
              </a:rPr>
              <a:t> </a:t>
            </a:r>
            <a:r>
              <a:rPr sz="2400" dirty="0">
                <a:latin typeface="Times New Roman"/>
                <a:cs typeface="Times New Roman"/>
              </a:rPr>
              <a:t>provide</a:t>
            </a:r>
            <a:r>
              <a:rPr sz="2400" spc="-40" dirty="0">
                <a:latin typeface="Times New Roman"/>
                <a:cs typeface="Times New Roman"/>
              </a:rPr>
              <a:t> </a:t>
            </a:r>
            <a:r>
              <a:rPr sz="2400" dirty="0">
                <a:latin typeface="Times New Roman"/>
                <a:cs typeface="Times New Roman"/>
              </a:rPr>
              <a:t>better</a:t>
            </a:r>
            <a:r>
              <a:rPr sz="2400" spc="-35" dirty="0">
                <a:latin typeface="Times New Roman"/>
                <a:cs typeface="Times New Roman"/>
              </a:rPr>
              <a:t> </a:t>
            </a:r>
            <a:r>
              <a:rPr sz="2400" dirty="0">
                <a:latin typeface="Times New Roman"/>
                <a:cs typeface="Times New Roman"/>
              </a:rPr>
              <a:t>data</a:t>
            </a:r>
            <a:r>
              <a:rPr sz="2400" spc="-40" dirty="0">
                <a:latin typeface="Times New Roman"/>
                <a:cs typeface="Times New Roman"/>
              </a:rPr>
              <a:t> </a:t>
            </a:r>
            <a:r>
              <a:rPr sz="2400" dirty="0">
                <a:latin typeface="Times New Roman"/>
                <a:cs typeface="Times New Roman"/>
              </a:rPr>
              <a:t>rates</a:t>
            </a:r>
            <a:r>
              <a:rPr sz="2400" spc="-4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wider</a:t>
            </a:r>
            <a:r>
              <a:rPr sz="2400" spc="-20" dirty="0">
                <a:latin typeface="Times New Roman"/>
                <a:cs typeface="Times New Roman"/>
              </a:rPr>
              <a:t> </a:t>
            </a:r>
            <a:r>
              <a:rPr sz="2400" dirty="0">
                <a:latin typeface="Times New Roman"/>
                <a:cs typeface="Times New Roman"/>
              </a:rPr>
              <a:t>range</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spc="-20" dirty="0">
                <a:latin typeface="Times New Roman"/>
                <a:cs typeface="Times New Roman"/>
              </a:rPr>
              <a:t>data </a:t>
            </a:r>
            <a:r>
              <a:rPr sz="2400" dirty="0">
                <a:latin typeface="Times New Roman"/>
                <a:cs typeface="Times New Roman"/>
              </a:rPr>
              <a:t>services</a:t>
            </a:r>
            <a:r>
              <a:rPr sz="2400" spc="-4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it</a:t>
            </a:r>
            <a:r>
              <a:rPr sz="2400" spc="-20" dirty="0">
                <a:latin typeface="Times New Roman"/>
                <a:cs typeface="Times New Roman"/>
              </a:rPr>
              <a:t> </a:t>
            </a:r>
            <a:r>
              <a:rPr sz="2400" dirty="0">
                <a:latin typeface="Times New Roman"/>
                <a:cs typeface="Times New Roman"/>
              </a:rPr>
              <a:t>was</a:t>
            </a:r>
            <a:r>
              <a:rPr sz="2400" spc="-5" dirty="0">
                <a:latin typeface="Times New Roman"/>
                <a:cs typeface="Times New Roman"/>
              </a:rPr>
              <a:t> </a:t>
            </a:r>
            <a:r>
              <a:rPr sz="2400" dirty="0">
                <a:solidFill>
                  <a:srgbClr val="4F81BC"/>
                </a:solidFill>
                <a:latin typeface="Times New Roman"/>
                <a:cs typeface="Times New Roman"/>
              </a:rPr>
              <a:t>a</a:t>
            </a:r>
            <a:r>
              <a:rPr sz="2400" spc="-20" dirty="0">
                <a:solidFill>
                  <a:srgbClr val="4F81BC"/>
                </a:solidFill>
                <a:latin typeface="Times New Roman"/>
                <a:cs typeface="Times New Roman"/>
              </a:rPr>
              <a:t> </a:t>
            </a:r>
            <a:r>
              <a:rPr sz="2400" spc="-10" dirty="0">
                <a:solidFill>
                  <a:srgbClr val="4F81BC"/>
                </a:solidFill>
                <a:latin typeface="Times New Roman"/>
                <a:cs typeface="Times New Roman"/>
              </a:rPr>
              <a:t>transition</a:t>
            </a:r>
            <a:r>
              <a:rPr sz="2400" dirty="0">
                <a:solidFill>
                  <a:srgbClr val="4F81BC"/>
                </a:solidFill>
                <a:latin typeface="Times New Roman"/>
                <a:cs typeface="Times New Roman"/>
              </a:rPr>
              <a:t>	from</a:t>
            </a:r>
            <a:r>
              <a:rPr sz="2400" spc="-25" dirty="0">
                <a:solidFill>
                  <a:srgbClr val="4F81BC"/>
                </a:solidFill>
                <a:latin typeface="Times New Roman"/>
                <a:cs typeface="Times New Roman"/>
              </a:rPr>
              <a:t> </a:t>
            </a:r>
            <a:r>
              <a:rPr sz="2400" dirty="0">
                <a:solidFill>
                  <a:srgbClr val="4F81BC"/>
                </a:solidFill>
                <a:latin typeface="Times New Roman"/>
                <a:cs typeface="Times New Roman"/>
              </a:rPr>
              <a:t>2G</a:t>
            </a:r>
            <a:r>
              <a:rPr sz="2400" spc="-15" dirty="0">
                <a:solidFill>
                  <a:srgbClr val="4F81BC"/>
                </a:solidFill>
                <a:latin typeface="Times New Roman"/>
                <a:cs typeface="Times New Roman"/>
              </a:rPr>
              <a:t> </a:t>
            </a:r>
            <a:r>
              <a:rPr sz="2400" dirty="0">
                <a:solidFill>
                  <a:srgbClr val="4F81BC"/>
                </a:solidFill>
                <a:latin typeface="Times New Roman"/>
                <a:cs typeface="Times New Roman"/>
              </a:rPr>
              <a:t>to</a:t>
            </a:r>
            <a:r>
              <a:rPr sz="2400" spc="-25" dirty="0">
                <a:solidFill>
                  <a:srgbClr val="4F81BC"/>
                </a:solidFill>
                <a:latin typeface="Times New Roman"/>
                <a:cs typeface="Times New Roman"/>
              </a:rPr>
              <a:t> 3G</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Time</a:t>
            </a:r>
            <a:r>
              <a:rPr sz="2400" spc="-40" dirty="0">
                <a:latin typeface="Times New Roman"/>
                <a:cs typeface="Times New Roman"/>
              </a:rPr>
              <a:t> </a:t>
            </a:r>
            <a:r>
              <a:rPr sz="2400" dirty="0">
                <a:latin typeface="Times New Roman"/>
                <a:cs typeface="Times New Roman"/>
              </a:rPr>
              <a:t>frame:</a:t>
            </a:r>
            <a:r>
              <a:rPr sz="2400" spc="-40" dirty="0">
                <a:latin typeface="Times New Roman"/>
                <a:cs typeface="Times New Roman"/>
              </a:rPr>
              <a:t> </a:t>
            </a:r>
            <a:r>
              <a:rPr sz="2400" spc="-10" dirty="0">
                <a:latin typeface="Times New Roman"/>
                <a:cs typeface="Times New Roman"/>
              </a:rPr>
              <a:t>2000-</a:t>
            </a:r>
            <a:r>
              <a:rPr sz="2400" spc="-20" dirty="0">
                <a:latin typeface="Times New Roman"/>
                <a:cs typeface="Times New Roman"/>
              </a:rPr>
              <a:t>2002</a:t>
            </a:r>
            <a:endParaRPr sz="2400">
              <a:latin typeface="Times New Roman"/>
              <a:cs typeface="Times New Roman"/>
            </a:endParaRPr>
          </a:p>
          <a:p>
            <a:pPr marL="355600" marR="43180" indent="-342900">
              <a:lnSpc>
                <a:spcPct val="100000"/>
              </a:lnSpc>
              <a:spcBef>
                <a:spcPts val="580"/>
              </a:spcBef>
              <a:buClr>
                <a:srgbClr val="0F1141"/>
              </a:buClr>
              <a:buFont typeface="Arial MT"/>
              <a:buChar char="•"/>
              <a:tabLst>
                <a:tab pos="355600" algn="l"/>
              </a:tabLst>
            </a:pPr>
            <a:r>
              <a:rPr sz="2400" i="1" dirty="0">
                <a:latin typeface="Times New Roman"/>
                <a:cs typeface="Times New Roman"/>
              </a:rPr>
              <a:t>The</a:t>
            </a:r>
            <a:r>
              <a:rPr sz="2400" i="1" spc="-20" dirty="0">
                <a:latin typeface="Times New Roman"/>
                <a:cs typeface="Times New Roman"/>
              </a:rPr>
              <a:t> </a:t>
            </a:r>
            <a:r>
              <a:rPr sz="2400" i="1" dirty="0">
                <a:latin typeface="Times New Roman"/>
                <a:cs typeface="Times New Roman"/>
              </a:rPr>
              <a:t>mobile</a:t>
            </a:r>
            <a:r>
              <a:rPr sz="2400" i="1" spc="-30" dirty="0">
                <a:latin typeface="Times New Roman"/>
                <a:cs typeface="Times New Roman"/>
              </a:rPr>
              <a:t> </a:t>
            </a:r>
            <a:r>
              <a:rPr sz="2400" i="1" dirty="0">
                <a:latin typeface="Times New Roman"/>
                <a:cs typeface="Times New Roman"/>
              </a:rPr>
              <a:t>technology</a:t>
            </a:r>
            <a:r>
              <a:rPr sz="2400" i="1" spc="-55" dirty="0">
                <a:latin typeface="Times New Roman"/>
                <a:cs typeface="Times New Roman"/>
              </a:rPr>
              <a:t> </a:t>
            </a:r>
            <a:r>
              <a:rPr sz="2400" i="1" dirty="0">
                <a:latin typeface="Times New Roman"/>
                <a:cs typeface="Times New Roman"/>
              </a:rPr>
              <a:t>using</a:t>
            </a:r>
            <a:r>
              <a:rPr sz="2400" i="1" spc="-25" dirty="0">
                <a:latin typeface="Times New Roman"/>
                <a:cs typeface="Times New Roman"/>
              </a:rPr>
              <a:t> </a:t>
            </a:r>
            <a:r>
              <a:rPr sz="2400" i="1" dirty="0">
                <a:latin typeface="Times New Roman"/>
                <a:cs typeface="Times New Roman"/>
              </a:rPr>
              <a:t>GPRS</a:t>
            </a:r>
            <a:r>
              <a:rPr sz="2400" i="1" spc="-15" dirty="0">
                <a:latin typeface="Times New Roman"/>
                <a:cs typeface="Times New Roman"/>
              </a:rPr>
              <a:t> </a:t>
            </a:r>
            <a:r>
              <a:rPr sz="2400" i="1" dirty="0">
                <a:latin typeface="Times New Roman"/>
                <a:cs typeface="Times New Roman"/>
              </a:rPr>
              <a:t>standard</a:t>
            </a:r>
            <a:r>
              <a:rPr sz="2400" i="1" spc="-35" dirty="0">
                <a:latin typeface="Times New Roman"/>
                <a:cs typeface="Times New Roman"/>
              </a:rPr>
              <a:t> </a:t>
            </a:r>
            <a:r>
              <a:rPr sz="2400" i="1" dirty="0">
                <a:latin typeface="Times New Roman"/>
                <a:cs typeface="Times New Roman"/>
              </a:rPr>
              <a:t>has</a:t>
            </a:r>
            <a:r>
              <a:rPr sz="2400" i="1" spc="-20" dirty="0">
                <a:latin typeface="Times New Roman"/>
                <a:cs typeface="Times New Roman"/>
              </a:rPr>
              <a:t> </a:t>
            </a:r>
            <a:r>
              <a:rPr sz="2400" i="1" dirty="0">
                <a:latin typeface="Times New Roman"/>
                <a:cs typeface="Times New Roman"/>
              </a:rPr>
              <a:t>been</a:t>
            </a:r>
            <a:r>
              <a:rPr sz="2400" i="1" spc="-15" dirty="0">
                <a:latin typeface="Times New Roman"/>
                <a:cs typeface="Times New Roman"/>
              </a:rPr>
              <a:t> </a:t>
            </a:r>
            <a:r>
              <a:rPr sz="2400" i="1" spc="-10" dirty="0">
                <a:latin typeface="Times New Roman"/>
                <a:cs typeface="Times New Roman"/>
              </a:rPr>
              <a:t>termed </a:t>
            </a:r>
            <a:r>
              <a:rPr sz="2400" i="1" dirty="0">
                <a:latin typeface="Times New Roman"/>
                <a:cs typeface="Times New Roman"/>
              </a:rPr>
              <a:t>as</a:t>
            </a:r>
            <a:r>
              <a:rPr sz="2400" i="1" spc="-25" dirty="0">
                <a:latin typeface="Times New Roman"/>
                <a:cs typeface="Times New Roman"/>
              </a:rPr>
              <a:t> </a:t>
            </a:r>
            <a:r>
              <a:rPr sz="2400" i="1" spc="-10" dirty="0">
                <a:latin typeface="Times New Roman"/>
                <a:cs typeface="Times New Roman"/>
              </a:rPr>
              <a:t>2.5G.</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2.5G</a:t>
            </a:r>
            <a:r>
              <a:rPr sz="2400" spc="-10" dirty="0">
                <a:latin typeface="Times New Roman"/>
                <a:cs typeface="Times New Roman"/>
              </a:rPr>
              <a:t> </a:t>
            </a:r>
            <a:r>
              <a:rPr sz="2400" dirty="0">
                <a:latin typeface="Times New Roman"/>
                <a:cs typeface="Times New Roman"/>
              </a:rPr>
              <a:t>was</a:t>
            </a:r>
            <a:r>
              <a:rPr sz="2400" spc="-5" dirty="0">
                <a:latin typeface="Times New Roman"/>
                <a:cs typeface="Times New Roman"/>
              </a:rPr>
              <a:t> </a:t>
            </a:r>
            <a:r>
              <a:rPr sz="2400" dirty="0">
                <a:latin typeface="Times New Roman"/>
                <a:cs typeface="Times New Roman"/>
              </a:rPr>
              <a:t>started</a:t>
            </a:r>
            <a:r>
              <a:rPr sz="2400" spc="-45"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1998</a:t>
            </a:r>
            <a:r>
              <a:rPr sz="2400" spc="-10"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dirty="0">
                <a:latin typeface="Times New Roman"/>
                <a:cs typeface="Times New Roman"/>
              </a:rPr>
              <a:t>added</a:t>
            </a:r>
            <a:r>
              <a:rPr sz="2400" spc="-25" dirty="0">
                <a:latin typeface="Times New Roman"/>
                <a:cs typeface="Times New Roman"/>
              </a:rPr>
              <a:t> </a:t>
            </a:r>
            <a:r>
              <a:rPr sz="2400" dirty="0">
                <a:latin typeface="Times New Roman"/>
                <a:cs typeface="Times New Roman"/>
              </a:rPr>
              <a:t>GPRS</a:t>
            </a:r>
            <a:r>
              <a:rPr sz="2400" spc="5"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spc="-10" dirty="0">
                <a:latin typeface="Times New Roman"/>
                <a:cs typeface="Times New Roman"/>
              </a:rPr>
              <a:t>enhanced</a:t>
            </a:r>
            <a:endParaRPr sz="2400">
              <a:latin typeface="Times New Roman"/>
              <a:cs typeface="Times New Roman"/>
            </a:endParaRPr>
          </a:p>
          <a:p>
            <a:pPr marL="355600">
              <a:lnSpc>
                <a:spcPct val="100000"/>
              </a:lnSpc>
            </a:pPr>
            <a:r>
              <a:rPr sz="2400" dirty="0">
                <a:latin typeface="Times New Roman"/>
                <a:cs typeface="Times New Roman"/>
              </a:rPr>
              <a:t>data</a:t>
            </a:r>
            <a:r>
              <a:rPr sz="2400" spc="-45" dirty="0">
                <a:latin typeface="Times New Roman"/>
                <a:cs typeface="Times New Roman"/>
              </a:rPr>
              <a:t> </a:t>
            </a:r>
            <a:r>
              <a:rPr sz="2400" dirty="0">
                <a:latin typeface="Times New Roman"/>
                <a:cs typeface="Times New Roman"/>
              </a:rPr>
              <a:t>rates</a:t>
            </a:r>
            <a:r>
              <a:rPr sz="2400" spc="-45"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GSM</a:t>
            </a:r>
            <a:r>
              <a:rPr sz="2400" spc="-10" dirty="0">
                <a:latin typeface="Times New Roman"/>
                <a:cs typeface="Times New Roman"/>
              </a:rPr>
              <a:t> </a:t>
            </a:r>
            <a:r>
              <a:rPr sz="2400" dirty="0">
                <a:latin typeface="Times New Roman"/>
                <a:cs typeface="Times New Roman"/>
              </a:rPr>
              <a:t>evolution</a:t>
            </a:r>
            <a:r>
              <a:rPr sz="2400" spc="-55" dirty="0">
                <a:latin typeface="Times New Roman"/>
                <a:cs typeface="Times New Roman"/>
              </a:rPr>
              <a:t> </a:t>
            </a:r>
            <a:r>
              <a:rPr sz="2400" spc="-10" dirty="0">
                <a:latin typeface="Times New Roman"/>
                <a:cs typeface="Times New Roman"/>
              </a:rPr>
              <a:t>(EDGE).</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69</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b="0" spc="-145" dirty="0">
                <a:latin typeface="Arial MT"/>
                <a:cs typeface="Arial MT"/>
              </a:rPr>
              <a:t>Interim</a:t>
            </a:r>
            <a:r>
              <a:rPr b="0" spc="-229" dirty="0">
                <a:latin typeface="Arial MT"/>
                <a:cs typeface="Arial MT"/>
              </a:rPr>
              <a:t> </a:t>
            </a:r>
            <a:r>
              <a:rPr b="0" spc="-150" dirty="0">
                <a:latin typeface="Arial MT"/>
                <a:cs typeface="Arial MT"/>
              </a:rPr>
              <a:t>generation</a:t>
            </a:r>
            <a:r>
              <a:rPr b="0" spc="-225" dirty="0">
                <a:latin typeface="Arial MT"/>
                <a:cs typeface="Arial MT"/>
              </a:rPr>
              <a:t> </a:t>
            </a:r>
            <a:r>
              <a:rPr b="0" spc="-135" dirty="0">
                <a:latin typeface="Arial MT"/>
                <a:cs typeface="Arial MT"/>
              </a:rPr>
              <a:t>(2.5G</a:t>
            </a:r>
            <a:r>
              <a:rPr b="0" spc="-245" dirty="0">
                <a:latin typeface="Arial MT"/>
                <a:cs typeface="Arial MT"/>
              </a:rPr>
              <a:t> </a:t>
            </a:r>
            <a:r>
              <a:rPr spc="-50" dirty="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9930"/>
            <a:ext cx="7932420" cy="3976370"/>
          </a:xfrm>
          <a:prstGeom prst="rect">
            <a:avLst/>
          </a:prstGeom>
        </p:spPr>
        <p:txBody>
          <a:bodyPr vert="horz" wrap="square" lIns="0" tIns="48895" rIns="0" bIns="0" rtlCol="0">
            <a:spAutoFit/>
          </a:bodyPr>
          <a:lstStyle/>
          <a:p>
            <a:pPr marL="469900" marR="5080" indent="-457200">
              <a:lnSpc>
                <a:spcPct val="90000"/>
              </a:lnSpc>
              <a:spcBef>
                <a:spcPts val="385"/>
              </a:spcBef>
              <a:buClr>
                <a:srgbClr val="0F1141"/>
              </a:buClr>
              <a:buFont typeface="Arial MT"/>
              <a:buChar char="•"/>
              <a:tabLst>
                <a:tab pos="469900" algn="l"/>
              </a:tabLst>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aim</a:t>
            </a:r>
            <a:r>
              <a:rPr sz="2400" spc="-3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3G</a:t>
            </a:r>
            <a:r>
              <a:rPr sz="2400" spc="-10" dirty="0">
                <a:latin typeface="Times New Roman"/>
                <a:cs typeface="Times New Roman"/>
              </a:rPr>
              <a:t> </a:t>
            </a:r>
            <a:r>
              <a:rPr sz="2400" dirty="0">
                <a:latin typeface="Times New Roman"/>
                <a:cs typeface="Times New Roman"/>
              </a:rPr>
              <a:t>systems</a:t>
            </a:r>
            <a:r>
              <a:rPr sz="2400" spc="-20"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provide</a:t>
            </a:r>
            <a:r>
              <a:rPr sz="2400" spc="-40" dirty="0">
                <a:latin typeface="Times New Roman"/>
                <a:cs typeface="Times New Roman"/>
              </a:rPr>
              <a:t> </a:t>
            </a:r>
            <a:r>
              <a:rPr sz="2400" dirty="0">
                <a:latin typeface="Times New Roman"/>
                <a:cs typeface="Times New Roman"/>
              </a:rPr>
              <a:t>communication</a:t>
            </a:r>
            <a:r>
              <a:rPr sz="2400" spc="-30" dirty="0">
                <a:latin typeface="Times New Roman"/>
                <a:cs typeface="Times New Roman"/>
              </a:rPr>
              <a:t> </a:t>
            </a:r>
            <a:r>
              <a:rPr sz="2400" spc="-10" dirty="0">
                <a:latin typeface="Times New Roman"/>
                <a:cs typeface="Times New Roman"/>
              </a:rPr>
              <a:t>services </a:t>
            </a:r>
            <a:r>
              <a:rPr sz="2400" dirty="0">
                <a:latin typeface="Times New Roman"/>
                <a:cs typeface="Times New Roman"/>
              </a:rPr>
              <a:t>from </a:t>
            </a:r>
            <a:r>
              <a:rPr sz="2400" spc="-10" dirty="0">
                <a:latin typeface="Times New Roman"/>
                <a:cs typeface="Times New Roman"/>
              </a:rPr>
              <a:t>person-to-</a:t>
            </a:r>
            <a:r>
              <a:rPr sz="2400" dirty="0">
                <a:latin typeface="Times New Roman"/>
                <a:cs typeface="Times New Roman"/>
              </a:rPr>
              <a:t>person</a:t>
            </a:r>
            <a:r>
              <a:rPr sz="2400" spc="-35" dirty="0">
                <a:latin typeface="Times New Roman"/>
                <a:cs typeface="Times New Roman"/>
              </a:rPr>
              <a:t> </a:t>
            </a:r>
            <a:r>
              <a:rPr sz="2400" dirty="0">
                <a:latin typeface="Times New Roman"/>
                <a:cs typeface="Times New Roman"/>
              </a:rPr>
              <a:t>at</a:t>
            </a:r>
            <a:r>
              <a:rPr sz="2400" spc="-10" dirty="0">
                <a:latin typeface="Times New Roman"/>
                <a:cs typeface="Times New Roman"/>
              </a:rPr>
              <a:t> </a:t>
            </a:r>
            <a:r>
              <a:rPr sz="2400" dirty="0">
                <a:latin typeface="Times New Roman"/>
                <a:cs typeface="Times New Roman"/>
              </a:rPr>
              <a:t>any</a:t>
            </a:r>
            <a:r>
              <a:rPr sz="2400" spc="-10" dirty="0">
                <a:latin typeface="Times New Roman"/>
                <a:cs typeface="Times New Roman"/>
              </a:rPr>
              <a:t> </a:t>
            </a:r>
            <a:r>
              <a:rPr sz="2400" dirty="0">
                <a:latin typeface="Times New Roman"/>
                <a:cs typeface="Times New Roman"/>
              </a:rPr>
              <a:t>place</a:t>
            </a:r>
            <a:r>
              <a:rPr sz="2400" spc="-20" dirty="0">
                <a:latin typeface="Times New Roman"/>
                <a:cs typeface="Times New Roman"/>
              </a:rPr>
              <a:t> </a:t>
            </a:r>
            <a:r>
              <a:rPr sz="2400" dirty="0">
                <a:latin typeface="Times New Roman"/>
                <a:cs typeface="Times New Roman"/>
              </a:rPr>
              <a:t>(global</a:t>
            </a:r>
            <a:r>
              <a:rPr sz="2400" spc="-15" dirty="0">
                <a:latin typeface="Times New Roman"/>
                <a:cs typeface="Times New Roman"/>
              </a:rPr>
              <a:t> </a:t>
            </a:r>
            <a:r>
              <a:rPr sz="2400" dirty="0">
                <a:latin typeface="Times New Roman"/>
                <a:cs typeface="Times New Roman"/>
              </a:rPr>
              <a:t>roaming)</a:t>
            </a:r>
            <a:r>
              <a:rPr sz="2400" spc="-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spc="-25" dirty="0">
                <a:latin typeface="Times New Roman"/>
                <a:cs typeface="Times New Roman"/>
              </a:rPr>
              <a:t>at </a:t>
            </a:r>
            <a:r>
              <a:rPr sz="2400" dirty="0">
                <a:latin typeface="Times New Roman"/>
                <a:cs typeface="Times New Roman"/>
              </a:rPr>
              <a:t>any</a:t>
            </a:r>
            <a:r>
              <a:rPr sz="2400" spc="-5" dirty="0">
                <a:latin typeface="Times New Roman"/>
                <a:cs typeface="Times New Roman"/>
              </a:rPr>
              <a:t> </a:t>
            </a:r>
            <a:r>
              <a:rPr sz="2400" dirty="0">
                <a:latin typeface="Times New Roman"/>
                <a:cs typeface="Times New Roman"/>
              </a:rPr>
              <a:t>time</a:t>
            </a:r>
            <a:r>
              <a:rPr sz="2400" spc="-20" dirty="0">
                <a:latin typeface="Times New Roman"/>
                <a:cs typeface="Times New Roman"/>
              </a:rPr>
              <a:t> </a:t>
            </a:r>
            <a:r>
              <a:rPr sz="2400" dirty="0">
                <a:latin typeface="Times New Roman"/>
                <a:cs typeface="Times New Roman"/>
              </a:rPr>
              <a:t>through</a:t>
            </a:r>
            <a:r>
              <a:rPr sz="2400" spc="-15" dirty="0">
                <a:latin typeface="Times New Roman"/>
                <a:cs typeface="Times New Roman"/>
              </a:rPr>
              <a:t> </a:t>
            </a:r>
            <a:r>
              <a:rPr sz="2400" dirty="0">
                <a:latin typeface="Times New Roman"/>
                <a:cs typeface="Times New Roman"/>
              </a:rPr>
              <a:t>any</a:t>
            </a:r>
            <a:r>
              <a:rPr sz="2400" spc="-20" dirty="0">
                <a:latin typeface="Times New Roman"/>
                <a:cs typeface="Times New Roman"/>
              </a:rPr>
              <a:t> </a:t>
            </a:r>
            <a:r>
              <a:rPr sz="2400" dirty="0">
                <a:latin typeface="Times New Roman"/>
                <a:cs typeface="Times New Roman"/>
              </a:rPr>
              <a:t>medium</a:t>
            </a:r>
            <a:r>
              <a:rPr sz="2400" spc="-10"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dirty="0">
                <a:latin typeface="Times New Roman"/>
                <a:cs typeface="Times New Roman"/>
              </a:rPr>
              <a:t>guaranteed</a:t>
            </a:r>
            <a:r>
              <a:rPr sz="2400" spc="-45" dirty="0">
                <a:latin typeface="Times New Roman"/>
                <a:cs typeface="Times New Roman"/>
              </a:rPr>
              <a:t> </a:t>
            </a:r>
            <a:r>
              <a:rPr sz="2400" dirty="0">
                <a:latin typeface="Times New Roman"/>
                <a:cs typeface="Times New Roman"/>
              </a:rPr>
              <a:t>quality</a:t>
            </a:r>
            <a:r>
              <a:rPr sz="2400" spc="-40" dirty="0">
                <a:latin typeface="Times New Roman"/>
                <a:cs typeface="Times New Roman"/>
              </a:rPr>
              <a:t> </a:t>
            </a:r>
            <a:r>
              <a:rPr sz="2400" spc="-25" dirty="0">
                <a:latin typeface="Times New Roman"/>
                <a:cs typeface="Times New Roman"/>
              </a:rPr>
              <a:t>of </a:t>
            </a:r>
            <a:r>
              <a:rPr sz="2400" spc="-10" dirty="0">
                <a:latin typeface="Times New Roman"/>
                <a:cs typeface="Times New Roman"/>
              </a:rPr>
              <a:t>service.</a:t>
            </a:r>
            <a:endParaRPr sz="2400">
              <a:latin typeface="Times New Roman"/>
              <a:cs typeface="Times New Roman"/>
            </a:endParaRPr>
          </a:p>
          <a:p>
            <a:pPr marL="469900" marR="222250" indent="-457200">
              <a:lnSpc>
                <a:spcPts val="2590"/>
              </a:lnSpc>
              <a:spcBef>
                <a:spcPts val="615"/>
              </a:spcBef>
              <a:buClr>
                <a:srgbClr val="0F1141"/>
              </a:buClr>
              <a:buFont typeface="Arial MT"/>
              <a:buChar char="•"/>
              <a:tabLst>
                <a:tab pos="469900" algn="l"/>
              </a:tabLst>
            </a:pPr>
            <a:r>
              <a:rPr sz="2400" spc="-10" dirty="0">
                <a:latin typeface="Times New Roman"/>
                <a:cs typeface="Times New Roman"/>
              </a:rPr>
              <a:t>high-</a:t>
            </a:r>
            <a:r>
              <a:rPr sz="2400" dirty="0">
                <a:latin typeface="Times New Roman"/>
                <a:cs typeface="Times New Roman"/>
              </a:rPr>
              <a:t>speed</a:t>
            </a:r>
            <a:r>
              <a:rPr sz="2400" spc="-30" dirty="0">
                <a:latin typeface="Times New Roman"/>
                <a:cs typeface="Times New Roman"/>
              </a:rPr>
              <a:t> </a:t>
            </a:r>
            <a:r>
              <a:rPr sz="2400" dirty="0">
                <a:latin typeface="Times New Roman"/>
                <a:cs typeface="Times New Roman"/>
              </a:rPr>
              <a:t>internet</a:t>
            </a:r>
            <a:r>
              <a:rPr sz="2400" spc="-45" dirty="0">
                <a:latin typeface="Times New Roman"/>
                <a:cs typeface="Times New Roman"/>
              </a:rPr>
              <a:t> </a:t>
            </a:r>
            <a:r>
              <a:rPr sz="2400" dirty="0">
                <a:latin typeface="Times New Roman"/>
                <a:cs typeface="Times New Roman"/>
              </a:rPr>
              <a:t>access,</a:t>
            </a:r>
            <a:r>
              <a:rPr sz="2400" spc="-20" dirty="0">
                <a:latin typeface="Times New Roman"/>
                <a:cs typeface="Times New Roman"/>
              </a:rPr>
              <a:t> </a:t>
            </a:r>
            <a:r>
              <a:rPr sz="2400" dirty="0">
                <a:latin typeface="Times New Roman"/>
                <a:cs typeface="Times New Roman"/>
              </a:rPr>
              <a:t>live</a:t>
            </a:r>
            <a:r>
              <a:rPr sz="2400" spc="-25" dirty="0">
                <a:latin typeface="Times New Roman"/>
                <a:cs typeface="Times New Roman"/>
              </a:rPr>
              <a:t> </a:t>
            </a:r>
            <a:r>
              <a:rPr sz="2400" dirty="0">
                <a:latin typeface="Times New Roman"/>
                <a:cs typeface="Times New Roman"/>
              </a:rPr>
              <a:t>video</a:t>
            </a:r>
            <a:r>
              <a:rPr sz="2400" spc="-20" dirty="0">
                <a:latin typeface="Times New Roman"/>
                <a:cs typeface="Times New Roman"/>
              </a:rPr>
              <a:t> </a:t>
            </a:r>
            <a:r>
              <a:rPr sz="2400" dirty="0">
                <a:latin typeface="Times New Roman"/>
                <a:cs typeface="Times New Roman"/>
              </a:rPr>
              <a:t>communications,</a:t>
            </a:r>
            <a:r>
              <a:rPr sz="2400" spc="-20" dirty="0">
                <a:latin typeface="Times New Roman"/>
                <a:cs typeface="Times New Roman"/>
              </a:rPr>
              <a:t> </a:t>
            </a:r>
            <a:r>
              <a:rPr sz="2400" spc="-25" dirty="0">
                <a:latin typeface="Times New Roman"/>
                <a:cs typeface="Times New Roman"/>
              </a:rPr>
              <a:t>and </a:t>
            </a:r>
            <a:r>
              <a:rPr sz="2400" dirty="0">
                <a:latin typeface="Times New Roman"/>
                <a:cs typeface="Times New Roman"/>
              </a:rPr>
              <a:t>simultaneous</a:t>
            </a:r>
            <a:r>
              <a:rPr sz="2400" spc="-30" dirty="0">
                <a:latin typeface="Times New Roman"/>
                <a:cs typeface="Times New Roman"/>
              </a:rPr>
              <a:t> </a:t>
            </a:r>
            <a:r>
              <a:rPr sz="2400" dirty="0">
                <a:latin typeface="Times New Roman"/>
                <a:cs typeface="Times New Roman"/>
              </a:rPr>
              <a:t>data</a:t>
            </a:r>
            <a:r>
              <a:rPr sz="2400" spc="-3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voice</a:t>
            </a:r>
            <a:r>
              <a:rPr sz="2400" spc="-30" dirty="0">
                <a:latin typeface="Times New Roman"/>
                <a:cs typeface="Times New Roman"/>
              </a:rPr>
              <a:t> </a:t>
            </a:r>
            <a:r>
              <a:rPr sz="2400" dirty="0">
                <a:latin typeface="Times New Roman"/>
                <a:cs typeface="Times New Roman"/>
              </a:rPr>
              <a:t>transmission</a:t>
            </a:r>
            <a:r>
              <a:rPr sz="2400" spc="-20"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469265" indent="-456565">
              <a:lnSpc>
                <a:spcPts val="2735"/>
              </a:lnSpc>
              <a:spcBef>
                <a:spcPts val="254"/>
              </a:spcBef>
              <a:buClr>
                <a:srgbClr val="0F1141"/>
              </a:buClr>
              <a:buFont typeface="Arial MT"/>
              <a:buChar char="•"/>
              <a:tabLst>
                <a:tab pos="469265" algn="l"/>
              </a:tabLst>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3G</a:t>
            </a:r>
            <a:r>
              <a:rPr sz="2400" spc="-15" dirty="0">
                <a:latin typeface="Times New Roman"/>
                <a:cs typeface="Times New Roman"/>
              </a:rPr>
              <a:t> </a:t>
            </a:r>
            <a:r>
              <a:rPr sz="2400" dirty="0">
                <a:latin typeface="Times New Roman"/>
                <a:cs typeface="Times New Roman"/>
              </a:rPr>
              <a:t>technology</a:t>
            </a:r>
            <a:r>
              <a:rPr sz="2400" spc="-40" dirty="0">
                <a:latin typeface="Times New Roman"/>
                <a:cs typeface="Times New Roman"/>
              </a:rPr>
              <a:t> </a:t>
            </a:r>
            <a:r>
              <a:rPr sz="2400" dirty="0">
                <a:latin typeface="Times New Roman"/>
                <a:cs typeface="Times New Roman"/>
              </a:rPr>
              <a:t>has</a:t>
            </a:r>
            <a:r>
              <a:rPr sz="2400" spc="-30" dirty="0">
                <a:latin typeface="Times New Roman"/>
                <a:cs typeface="Times New Roman"/>
              </a:rPr>
              <a:t> </a:t>
            </a:r>
            <a:r>
              <a:rPr sz="2400" dirty="0">
                <a:latin typeface="Times New Roman"/>
                <a:cs typeface="Times New Roman"/>
              </a:rPr>
              <a:t>added</a:t>
            </a:r>
            <a:r>
              <a:rPr sz="2400" spc="-25" dirty="0">
                <a:latin typeface="Times New Roman"/>
                <a:cs typeface="Times New Roman"/>
              </a:rPr>
              <a:t> </a:t>
            </a:r>
            <a:r>
              <a:rPr sz="2400" dirty="0">
                <a:latin typeface="Times New Roman"/>
                <a:cs typeface="Times New Roman"/>
              </a:rPr>
              <a:t>multimedia</a:t>
            </a:r>
            <a:r>
              <a:rPr sz="2400" spc="-15" dirty="0">
                <a:latin typeface="Times New Roman"/>
                <a:cs typeface="Times New Roman"/>
              </a:rPr>
              <a:t> </a:t>
            </a:r>
            <a:r>
              <a:rPr sz="2400" dirty="0">
                <a:latin typeface="Times New Roman"/>
                <a:cs typeface="Times New Roman"/>
              </a:rPr>
              <a:t>facilities</a:t>
            </a:r>
            <a:r>
              <a:rPr sz="2400" spc="-55" dirty="0">
                <a:latin typeface="Times New Roman"/>
                <a:cs typeface="Times New Roman"/>
              </a:rPr>
              <a:t> </a:t>
            </a:r>
            <a:r>
              <a:rPr sz="2400" dirty="0">
                <a:latin typeface="Times New Roman"/>
                <a:cs typeface="Times New Roman"/>
              </a:rPr>
              <a:t>to</a:t>
            </a:r>
            <a:r>
              <a:rPr sz="2400" spc="-20" dirty="0">
                <a:latin typeface="Times New Roman"/>
                <a:cs typeface="Times New Roman"/>
              </a:rPr>
              <a:t> 2.5G</a:t>
            </a:r>
            <a:endParaRPr sz="2400">
              <a:latin typeface="Times New Roman"/>
              <a:cs typeface="Times New Roman"/>
            </a:endParaRPr>
          </a:p>
          <a:p>
            <a:pPr marL="469900">
              <a:lnSpc>
                <a:spcPts val="2735"/>
              </a:lnSpc>
            </a:pPr>
            <a:r>
              <a:rPr sz="2400" spc="-10" dirty="0">
                <a:latin typeface="Times New Roman"/>
                <a:cs typeface="Times New Roman"/>
              </a:rPr>
              <a:t>phones.</a:t>
            </a:r>
            <a:endParaRPr sz="2400">
              <a:latin typeface="Times New Roman"/>
              <a:cs typeface="Times New Roman"/>
            </a:endParaRPr>
          </a:p>
          <a:p>
            <a:pPr marL="469265" indent="-456565">
              <a:lnSpc>
                <a:spcPct val="100000"/>
              </a:lnSpc>
              <a:spcBef>
                <a:spcPts val="290"/>
              </a:spcBef>
              <a:buClr>
                <a:srgbClr val="0F1141"/>
              </a:buClr>
              <a:buFont typeface="Arial MT"/>
              <a:buChar char="•"/>
              <a:tabLst>
                <a:tab pos="469265" algn="l"/>
              </a:tabLst>
            </a:pPr>
            <a:r>
              <a:rPr sz="2400" dirty="0">
                <a:latin typeface="Times New Roman"/>
                <a:cs typeface="Times New Roman"/>
              </a:rPr>
              <a:t>3G</a:t>
            </a:r>
            <a:r>
              <a:rPr sz="2400" spc="-5" dirty="0">
                <a:latin typeface="Times New Roman"/>
                <a:cs typeface="Times New Roman"/>
              </a:rPr>
              <a:t> </a:t>
            </a:r>
            <a:r>
              <a:rPr sz="2400" dirty="0">
                <a:latin typeface="Times New Roman"/>
                <a:cs typeface="Times New Roman"/>
              </a:rPr>
              <a:t>operates</a:t>
            </a:r>
            <a:r>
              <a:rPr sz="2400" spc="-4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frequency</a:t>
            </a:r>
            <a:r>
              <a:rPr sz="2400" spc="-15" dirty="0">
                <a:latin typeface="Times New Roman"/>
                <a:cs typeface="Times New Roman"/>
              </a:rPr>
              <a:t> </a:t>
            </a:r>
            <a:r>
              <a:rPr sz="2400" dirty="0">
                <a:latin typeface="Times New Roman"/>
                <a:cs typeface="Times New Roman"/>
              </a:rPr>
              <a:t>band</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1710–2170</a:t>
            </a:r>
            <a:r>
              <a:rPr sz="2400" spc="-5" dirty="0">
                <a:latin typeface="Times New Roman"/>
                <a:cs typeface="Times New Roman"/>
              </a:rPr>
              <a:t> </a:t>
            </a:r>
            <a:r>
              <a:rPr sz="2400" spc="-20" dirty="0">
                <a:latin typeface="Times New Roman"/>
                <a:cs typeface="Times New Roman"/>
              </a:rPr>
              <a:t>MHz.</a:t>
            </a:r>
            <a:endParaRPr sz="2400">
              <a:latin typeface="Times New Roman"/>
              <a:cs typeface="Times New Roman"/>
            </a:endParaRPr>
          </a:p>
          <a:p>
            <a:pPr marL="469900" marR="520065" indent="-457200">
              <a:lnSpc>
                <a:spcPts val="2590"/>
              </a:lnSpc>
              <a:spcBef>
                <a:spcPts val="615"/>
              </a:spcBef>
              <a:buClr>
                <a:srgbClr val="0F1141"/>
              </a:buClr>
              <a:buFont typeface="Arial MT"/>
              <a:buChar char="•"/>
              <a:tabLst>
                <a:tab pos="469900" algn="l"/>
              </a:tabLst>
            </a:pPr>
            <a:r>
              <a:rPr sz="2400" dirty="0">
                <a:latin typeface="Times New Roman"/>
                <a:cs typeface="Times New Roman"/>
              </a:rPr>
              <a:t>It</a:t>
            </a:r>
            <a:r>
              <a:rPr sz="2400" spc="-20" dirty="0">
                <a:latin typeface="Times New Roman"/>
                <a:cs typeface="Times New Roman"/>
              </a:rPr>
              <a:t> </a:t>
            </a:r>
            <a:r>
              <a:rPr sz="2400" dirty="0">
                <a:latin typeface="Times New Roman"/>
                <a:cs typeface="Times New Roman"/>
              </a:rPr>
              <a:t>provides</a:t>
            </a:r>
            <a:r>
              <a:rPr sz="2400" spc="-35" dirty="0">
                <a:latin typeface="Times New Roman"/>
                <a:cs typeface="Times New Roman"/>
              </a:rPr>
              <a:t> </a:t>
            </a:r>
            <a:r>
              <a:rPr sz="2400" dirty="0">
                <a:latin typeface="Times New Roman"/>
                <a:cs typeface="Times New Roman"/>
              </a:rPr>
              <a:t>high</a:t>
            </a:r>
            <a:r>
              <a:rPr sz="2400" spc="-15" dirty="0">
                <a:latin typeface="Times New Roman"/>
                <a:cs typeface="Times New Roman"/>
              </a:rPr>
              <a:t> </a:t>
            </a:r>
            <a:r>
              <a:rPr sz="2400" dirty="0">
                <a:latin typeface="Times New Roman"/>
                <a:cs typeface="Times New Roman"/>
              </a:rPr>
              <a:t>transmission</a:t>
            </a:r>
            <a:r>
              <a:rPr sz="2400" spc="-30" dirty="0">
                <a:latin typeface="Times New Roman"/>
                <a:cs typeface="Times New Roman"/>
              </a:rPr>
              <a:t> </a:t>
            </a:r>
            <a:r>
              <a:rPr sz="2400" dirty="0">
                <a:latin typeface="Times New Roman"/>
                <a:cs typeface="Times New Roman"/>
              </a:rPr>
              <a:t>rates</a:t>
            </a:r>
            <a:r>
              <a:rPr sz="2400" spc="-40" dirty="0">
                <a:latin typeface="Times New Roman"/>
                <a:cs typeface="Times New Roman"/>
              </a:rPr>
              <a:t> </a:t>
            </a:r>
            <a:r>
              <a:rPr sz="2400" dirty="0">
                <a:latin typeface="Times New Roman"/>
                <a:cs typeface="Times New Roman"/>
              </a:rPr>
              <a:t>from</a:t>
            </a:r>
            <a:r>
              <a:rPr sz="2400" spc="-15" dirty="0">
                <a:latin typeface="Times New Roman"/>
                <a:cs typeface="Times New Roman"/>
              </a:rPr>
              <a:t> </a:t>
            </a:r>
            <a:r>
              <a:rPr sz="2400" dirty="0">
                <a:latin typeface="Times New Roman"/>
                <a:cs typeface="Times New Roman"/>
              </a:rPr>
              <a:t>348</a:t>
            </a:r>
            <a:r>
              <a:rPr sz="2400" spc="-10" dirty="0">
                <a:latin typeface="Times New Roman"/>
                <a:cs typeface="Times New Roman"/>
              </a:rPr>
              <a:t> </a:t>
            </a:r>
            <a:r>
              <a:rPr sz="2400" dirty="0">
                <a:latin typeface="Times New Roman"/>
                <a:cs typeface="Times New Roman"/>
              </a:rPr>
              <a:t>Kbps</a:t>
            </a:r>
            <a:r>
              <a:rPr sz="2400" spc="-1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spc="-50" dirty="0">
                <a:latin typeface="Times New Roman"/>
                <a:cs typeface="Times New Roman"/>
              </a:rPr>
              <a:t>a </a:t>
            </a:r>
            <a:r>
              <a:rPr sz="2400" dirty="0">
                <a:latin typeface="Times New Roman"/>
                <a:cs typeface="Times New Roman"/>
              </a:rPr>
              <a:t>moving</a:t>
            </a:r>
            <a:r>
              <a:rPr sz="2400" spc="-15" dirty="0">
                <a:latin typeface="Times New Roman"/>
                <a:cs typeface="Times New Roman"/>
              </a:rPr>
              <a:t> </a:t>
            </a:r>
            <a:r>
              <a:rPr sz="2400" dirty="0">
                <a:latin typeface="Times New Roman"/>
                <a:cs typeface="Times New Roman"/>
              </a:rPr>
              <a:t>vehicle</a:t>
            </a:r>
            <a:r>
              <a:rPr sz="2400" spc="-50"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2</a:t>
            </a:r>
            <a:r>
              <a:rPr sz="2400" spc="-10" dirty="0">
                <a:latin typeface="Times New Roman"/>
                <a:cs typeface="Times New Roman"/>
              </a:rPr>
              <a:t> </a:t>
            </a:r>
            <a:r>
              <a:rPr sz="2400" dirty="0">
                <a:latin typeface="Times New Roman"/>
                <a:cs typeface="Times New Roman"/>
              </a:rPr>
              <a:t>Mbps</a:t>
            </a:r>
            <a:r>
              <a:rPr sz="2400" spc="-15"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stationary</a:t>
            </a:r>
            <a:r>
              <a:rPr sz="2400" spc="-55" dirty="0">
                <a:latin typeface="Times New Roman"/>
                <a:cs typeface="Times New Roman"/>
              </a:rPr>
              <a:t> </a:t>
            </a:r>
            <a:r>
              <a:rPr sz="2400" dirty="0">
                <a:latin typeface="Times New Roman"/>
                <a:cs typeface="Times New Roman"/>
              </a:rPr>
              <a:t>or</a:t>
            </a:r>
            <a:r>
              <a:rPr sz="2400" spc="-20" dirty="0">
                <a:latin typeface="Times New Roman"/>
                <a:cs typeface="Times New Roman"/>
              </a:rPr>
              <a:t> </a:t>
            </a:r>
            <a:r>
              <a:rPr sz="2400" dirty="0">
                <a:latin typeface="Times New Roman"/>
                <a:cs typeface="Times New Roman"/>
              </a:rPr>
              <a:t>mobile</a:t>
            </a:r>
            <a:r>
              <a:rPr sz="2400" spc="-10" dirty="0">
                <a:latin typeface="Times New Roman"/>
                <a:cs typeface="Times New Roman"/>
              </a:rPr>
              <a:t> users.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378917"/>
            <a:ext cx="4147820" cy="574675"/>
          </a:xfrm>
          <a:prstGeom prst="rect">
            <a:avLst/>
          </a:prstGeom>
        </p:spPr>
        <p:txBody>
          <a:bodyPr vert="horz" wrap="square" lIns="0" tIns="12700" rIns="0" bIns="0" rtlCol="0">
            <a:spAutoFit/>
          </a:bodyPr>
          <a:lstStyle/>
          <a:p>
            <a:pPr marL="12700">
              <a:lnSpc>
                <a:spcPct val="100000"/>
              </a:lnSpc>
              <a:spcBef>
                <a:spcPts val="100"/>
              </a:spcBef>
            </a:pPr>
            <a:r>
              <a:rPr spc="-150" dirty="0"/>
              <a:t>Cellular</a:t>
            </a:r>
            <a:r>
              <a:rPr spc="-180" dirty="0"/>
              <a:t> </a:t>
            </a:r>
            <a:r>
              <a:rPr spc="-150" dirty="0"/>
              <a:t>Network-</a:t>
            </a:r>
            <a:r>
              <a:rPr spc="-195" dirty="0"/>
              <a:t> </a:t>
            </a:r>
            <a:r>
              <a:rPr spc="-65" dirty="0"/>
              <a:t>3G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914005" cy="4781550"/>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Examples</a:t>
            </a:r>
            <a:r>
              <a:rPr sz="2400" spc="-3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3G</a:t>
            </a:r>
            <a:r>
              <a:rPr sz="2400" spc="-15" dirty="0">
                <a:latin typeface="Times New Roman"/>
                <a:cs typeface="Times New Roman"/>
              </a:rPr>
              <a:t> </a:t>
            </a:r>
            <a:r>
              <a:rPr sz="2400" dirty="0">
                <a:latin typeface="Times New Roman"/>
                <a:cs typeface="Times New Roman"/>
              </a:rPr>
              <a:t>system</a:t>
            </a:r>
            <a:r>
              <a:rPr sz="2400" spc="-40"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dirty="0">
                <a:latin typeface="Times New Roman"/>
                <a:cs typeface="Times New Roman"/>
              </a:rPr>
              <a:t>universal</a:t>
            </a:r>
            <a:r>
              <a:rPr sz="2400" spc="-50" dirty="0">
                <a:latin typeface="Times New Roman"/>
                <a:cs typeface="Times New Roman"/>
              </a:rPr>
              <a:t> </a:t>
            </a:r>
            <a:r>
              <a:rPr sz="2400" spc="-10" dirty="0">
                <a:latin typeface="Times New Roman"/>
                <a:cs typeface="Times New Roman"/>
              </a:rPr>
              <a:t>mobile </a:t>
            </a:r>
            <a:r>
              <a:rPr sz="2400" dirty="0">
                <a:latin typeface="Times New Roman"/>
                <a:cs typeface="Times New Roman"/>
              </a:rPr>
              <a:t>telecommunication</a:t>
            </a:r>
            <a:r>
              <a:rPr sz="2400" spc="-80" dirty="0">
                <a:latin typeface="Times New Roman"/>
                <a:cs typeface="Times New Roman"/>
              </a:rPr>
              <a:t> </a:t>
            </a:r>
            <a:r>
              <a:rPr sz="2400" dirty="0">
                <a:latin typeface="Times New Roman"/>
                <a:cs typeface="Times New Roman"/>
              </a:rPr>
              <a:t>systems</a:t>
            </a:r>
            <a:r>
              <a:rPr sz="2400" spc="-35" dirty="0">
                <a:latin typeface="Times New Roman"/>
                <a:cs typeface="Times New Roman"/>
              </a:rPr>
              <a:t> </a:t>
            </a:r>
            <a:r>
              <a:rPr sz="2400" dirty="0">
                <a:latin typeface="Times New Roman"/>
                <a:cs typeface="Times New Roman"/>
              </a:rPr>
              <a:t>(UMTS)</a:t>
            </a:r>
            <a:r>
              <a:rPr sz="2400" spc="-40"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dirty="0">
                <a:latin typeface="Times New Roman"/>
                <a:cs typeface="Times New Roman"/>
              </a:rPr>
              <a:t>international</a:t>
            </a:r>
            <a:r>
              <a:rPr sz="2400" spc="-80" dirty="0">
                <a:latin typeface="Times New Roman"/>
                <a:cs typeface="Times New Roman"/>
              </a:rPr>
              <a:t> </a:t>
            </a:r>
            <a:r>
              <a:rPr sz="2400" spc="-10" dirty="0">
                <a:latin typeface="Times New Roman"/>
                <a:cs typeface="Times New Roman"/>
              </a:rPr>
              <a:t>mobile </a:t>
            </a:r>
            <a:r>
              <a:rPr sz="2400" dirty="0">
                <a:latin typeface="Times New Roman"/>
                <a:cs typeface="Times New Roman"/>
              </a:rPr>
              <a:t>telecommunications</a:t>
            </a:r>
            <a:r>
              <a:rPr sz="2400" spc="-55" dirty="0">
                <a:latin typeface="Times New Roman"/>
                <a:cs typeface="Times New Roman"/>
              </a:rPr>
              <a:t> </a:t>
            </a:r>
            <a:r>
              <a:rPr sz="2400" dirty="0">
                <a:latin typeface="Times New Roman"/>
                <a:cs typeface="Times New Roman"/>
              </a:rPr>
              <a:t>at</a:t>
            </a:r>
            <a:r>
              <a:rPr sz="2400" spc="-30" dirty="0">
                <a:latin typeface="Times New Roman"/>
                <a:cs typeface="Times New Roman"/>
              </a:rPr>
              <a:t> </a:t>
            </a:r>
            <a:r>
              <a:rPr sz="2400" dirty="0">
                <a:latin typeface="Times New Roman"/>
                <a:cs typeface="Times New Roman"/>
              </a:rPr>
              <a:t>2,000</a:t>
            </a:r>
            <a:r>
              <a:rPr sz="2400" spc="-20" dirty="0">
                <a:latin typeface="Times New Roman"/>
                <a:cs typeface="Times New Roman"/>
              </a:rPr>
              <a:t> </a:t>
            </a:r>
            <a:r>
              <a:rPr sz="2400" dirty="0">
                <a:latin typeface="Times New Roman"/>
                <a:cs typeface="Times New Roman"/>
              </a:rPr>
              <a:t>MHz</a:t>
            </a:r>
            <a:r>
              <a:rPr sz="2400" spc="-15" dirty="0">
                <a:latin typeface="Times New Roman"/>
                <a:cs typeface="Times New Roman"/>
              </a:rPr>
              <a:t> </a:t>
            </a:r>
            <a:r>
              <a:rPr sz="2400" spc="-55" dirty="0">
                <a:latin typeface="Times New Roman"/>
                <a:cs typeface="Times New Roman"/>
              </a:rPr>
              <a:t>(IMT-</a:t>
            </a:r>
            <a:r>
              <a:rPr sz="2400" spc="-10" dirty="0">
                <a:latin typeface="Times New Roman"/>
                <a:cs typeface="Times New Roman"/>
              </a:rPr>
              <a:t>2000).</a:t>
            </a:r>
            <a:endParaRPr sz="2400">
              <a:latin typeface="Times New Roman"/>
              <a:cs typeface="Times New Roman"/>
            </a:endParaRPr>
          </a:p>
          <a:p>
            <a:pPr marL="355600" marR="299720" indent="-342900">
              <a:lnSpc>
                <a:spcPct val="100000"/>
              </a:lnSpc>
              <a:spcBef>
                <a:spcPts val="575"/>
              </a:spcBef>
              <a:buClr>
                <a:srgbClr val="0F1141"/>
              </a:buClr>
              <a:buFont typeface="Arial MT"/>
              <a:buChar char="•"/>
              <a:tabLst>
                <a:tab pos="355600" algn="l"/>
              </a:tabLst>
            </a:pPr>
            <a:r>
              <a:rPr sz="2400" dirty="0">
                <a:latin typeface="Times New Roman"/>
                <a:cs typeface="Times New Roman"/>
              </a:rPr>
              <a:t>UMTS</a:t>
            </a:r>
            <a:r>
              <a:rPr sz="2400" spc="-20" dirty="0">
                <a:latin typeface="Times New Roman"/>
                <a:cs typeface="Times New Roman"/>
              </a:rPr>
              <a:t> </a:t>
            </a:r>
            <a:r>
              <a:rPr sz="2400" dirty="0">
                <a:latin typeface="Times New Roman"/>
                <a:cs typeface="Times New Roman"/>
              </a:rPr>
              <a:t>are</a:t>
            </a:r>
            <a:r>
              <a:rPr sz="2400" spc="-30" dirty="0">
                <a:latin typeface="Times New Roman"/>
                <a:cs typeface="Times New Roman"/>
              </a:rPr>
              <a:t> </a:t>
            </a:r>
            <a:r>
              <a:rPr sz="2400" dirty="0">
                <a:latin typeface="Times New Roman"/>
                <a:cs typeface="Times New Roman"/>
              </a:rPr>
              <a:t>designed</a:t>
            </a:r>
            <a:r>
              <a:rPr sz="2400" spc="-4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provide</a:t>
            </a:r>
            <a:r>
              <a:rPr sz="2400" spc="-35" dirty="0">
                <a:latin typeface="Times New Roman"/>
                <a:cs typeface="Times New Roman"/>
              </a:rPr>
              <a:t> </a:t>
            </a:r>
            <a:r>
              <a:rPr sz="2400" dirty="0">
                <a:latin typeface="Times New Roman"/>
                <a:cs typeface="Times New Roman"/>
              </a:rPr>
              <a:t>different</a:t>
            </a:r>
            <a:r>
              <a:rPr sz="2400" spc="-30" dirty="0">
                <a:latin typeface="Times New Roman"/>
                <a:cs typeface="Times New Roman"/>
              </a:rPr>
              <a:t> </a:t>
            </a:r>
            <a:r>
              <a:rPr sz="2400" dirty="0">
                <a:latin typeface="Times New Roman"/>
                <a:cs typeface="Times New Roman"/>
              </a:rPr>
              <a:t>types</a:t>
            </a:r>
            <a:r>
              <a:rPr sz="2400" spc="-3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data</a:t>
            </a:r>
            <a:r>
              <a:rPr sz="2400" spc="-30" dirty="0">
                <a:latin typeface="Times New Roman"/>
                <a:cs typeface="Times New Roman"/>
              </a:rPr>
              <a:t> </a:t>
            </a:r>
            <a:r>
              <a:rPr sz="2400" spc="-10" dirty="0">
                <a:latin typeface="Times New Roman"/>
                <a:cs typeface="Times New Roman"/>
              </a:rPr>
              <a:t>rates, </a:t>
            </a:r>
            <a:r>
              <a:rPr sz="2400" dirty="0">
                <a:latin typeface="Times New Roman"/>
                <a:cs typeface="Times New Roman"/>
              </a:rPr>
              <a:t>based</a:t>
            </a:r>
            <a:r>
              <a:rPr sz="2400" spc="-15" dirty="0">
                <a:latin typeface="Times New Roman"/>
                <a:cs typeface="Times New Roman"/>
              </a:rPr>
              <a:t> </a:t>
            </a:r>
            <a:r>
              <a:rPr sz="2400" dirty="0">
                <a:latin typeface="Times New Roman"/>
                <a:cs typeface="Times New Roman"/>
              </a:rPr>
              <a:t>on the</a:t>
            </a:r>
            <a:r>
              <a:rPr sz="2400" spc="-10" dirty="0">
                <a:latin typeface="Times New Roman"/>
                <a:cs typeface="Times New Roman"/>
              </a:rPr>
              <a:t> </a:t>
            </a:r>
            <a:r>
              <a:rPr sz="2400" dirty="0">
                <a:latin typeface="Times New Roman"/>
                <a:cs typeface="Times New Roman"/>
              </a:rPr>
              <a:t>following</a:t>
            </a:r>
            <a:r>
              <a:rPr sz="2400" spc="-10" dirty="0">
                <a:latin typeface="Times New Roman"/>
                <a:cs typeface="Times New Roman"/>
              </a:rPr>
              <a:t> circumstances:</a:t>
            </a:r>
            <a:endParaRPr sz="2400">
              <a:latin typeface="Times New Roman"/>
              <a:cs typeface="Times New Roman"/>
            </a:endParaRPr>
          </a:p>
          <a:p>
            <a:pPr marL="927100" marR="2661285">
              <a:lnSpc>
                <a:spcPts val="3460"/>
              </a:lnSpc>
              <a:spcBef>
                <a:spcPts val="210"/>
              </a:spcBef>
            </a:pPr>
            <a:r>
              <a:rPr sz="2400" dirty="0">
                <a:latin typeface="Times New Roman"/>
                <a:cs typeface="Times New Roman"/>
              </a:rPr>
              <a:t>up</a:t>
            </a:r>
            <a:r>
              <a:rPr sz="2400" spc="-2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144</a:t>
            </a:r>
            <a:r>
              <a:rPr sz="2400" spc="-15" dirty="0">
                <a:latin typeface="Times New Roman"/>
                <a:cs typeface="Times New Roman"/>
              </a:rPr>
              <a:t> </a:t>
            </a:r>
            <a:r>
              <a:rPr sz="2400" dirty="0">
                <a:latin typeface="Times New Roman"/>
                <a:cs typeface="Times New Roman"/>
              </a:rPr>
              <a:t>kbps</a:t>
            </a:r>
            <a:r>
              <a:rPr sz="2400" spc="-20"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moving</a:t>
            </a:r>
            <a:r>
              <a:rPr sz="2400" spc="-15" dirty="0">
                <a:latin typeface="Times New Roman"/>
                <a:cs typeface="Times New Roman"/>
              </a:rPr>
              <a:t> </a:t>
            </a:r>
            <a:r>
              <a:rPr sz="2400" spc="-10" dirty="0">
                <a:latin typeface="Times New Roman"/>
                <a:cs typeface="Times New Roman"/>
              </a:rPr>
              <a:t>vehicles </a:t>
            </a:r>
            <a:r>
              <a:rPr sz="2400" dirty="0">
                <a:latin typeface="Times New Roman"/>
                <a:cs typeface="Times New Roman"/>
              </a:rPr>
              <a:t>384</a:t>
            </a:r>
            <a:r>
              <a:rPr sz="2400" spc="-25" dirty="0">
                <a:latin typeface="Times New Roman"/>
                <a:cs typeface="Times New Roman"/>
              </a:rPr>
              <a:t> </a:t>
            </a:r>
            <a:r>
              <a:rPr sz="2400" dirty="0">
                <a:latin typeface="Times New Roman"/>
                <a:cs typeface="Times New Roman"/>
              </a:rPr>
              <a:t>kbps</a:t>
            </a:r>
            <a:r>
              <a:rPr sz="2400" spc="-25" dirty="0">
                <a:latin typeface="Times New Roman"/>
                <a:cs typeface="Times New Roman"/>
              </a:rPr>
              <a:t> </a:t>
            </a:r>
            <a:r>
              <a:rPr sz="2400" dirty="0">
                <a:latin typeface="Times New Roman"/>
                <a:cs typeface="Times New Roman"/>
              </a:rPr>
              <a:t>for</a:t>
            </a:r>
            <a:r>
              <a:rPr sz="2400" spc="-25" dirty="0">
                <a:latin typeface="Times New Roman"/>
                <a:cs typeface="Times New Roman"/>
              </a:rPr>
              <a:t> </a:t>
            </a:r>
            <a:r>
              <a:rPr sz="2400" spc="-10" dirty="0">
                <a:latin typeface="Times New Roman"/>
                <a:cs typeface="Times New Roman"/>
              </a:rPr>
              <a:t>pedestrians</a:t>
            </a:r>
            <a:endParaRPr sz="2400">
              <a:latin typeface="Times New Roman"/>
              <a:cs typeface="Times New Roman"/>
            </a:endParaRPr>
          </a:p>
          <a:p>
            <a:pPr marL="927100">
              <a:lnSpc>
                <a:spcPct val="100000"/>
              </a:lnSpc>
              <a:spcBef>
                <a:spcPts val="365"/>
              </a:spcBef>
            </a:pPr>
            <a:r>
              <a:rPr sz="2400" dirty="0">
                <a:latin typeface="Times New Roman"/>
                <a:cs typeface="Times New Roman"/>
              </a:rPr>
              <a:t>2</a:t>
            </a:r>
            <a:r>
              <a:rPr sz="2400" spc="-20" dirty="0">
                <a:latin typeface="Times New Roman"/>
                <a:cs typeface="Times New Roman"/>
              </a:rPr>
              <a:t> </a:t>
            </a:r>
            <a:r>
              <a:rPr sz="2400" dirty="0">
                <a:latin typeface="Times New Roman"/>
                <a:cs typeface="Times New Roman"/>
              </a:rPr>
              <a:t>Mbps</a:t>
            </a:r>
            <a:r>
              <a:rPr sz="2400" spc="-20"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indoor</a:t>
            </a:r>
            <a:r>
              <a:rPr sz="2400" spc="-40" dirty="0">
                <a:latin typeface="Times New Roman"/>
                <a:cs typeface="Times New Roman"/>
              </a:rPr>
              <a:t> </a:t>
            </a:r>
            <a:r>
              <a:rPr sz="2400" dirty="0">
                <a:latin typeface="Times New Roman"/>
                <a:cs typeface="Times New Roman"/>
              </a:rPr>
              <a:t>or</a:t>
            </a:r>
            <a:r>
              <a:rPr sz="2400" spc="-20" dirty="0">
                <a:latin typeface="Times New Roman"/>
                <a:cs typeface="Times New Roman"/>
              </a:rPr>
              <a:t> </a:t>
            </a:r>
            <a:r>
              <a:rPr sz="2400" dirty="0">
                <a:latin typeface="Times New Roman"/>
                <a:cs typeface="Times New Roman"/>
              </a:rPr>
              <a:t>stationary</a:t>
            </a:r>
            <a:r>
              <a:rPr sz="2400" spc="-55" dirty="0">
                <a:latin typeface="Times New Roman"/>
                <a:cs typeface="Times New Roman"/>
              </a:rPr>
              <a:t> </a:t>
            </a:r>
            <a:r>
              <a:rPr sz="2400" spc="-10" dirty="0">
                <a:latin typeface="Times New Roman"/>
                <a:cs typeface="Times New Roman"/>
              </a:rPr>
              <a:t>users</a:t>
            </a:r>
            <a:endParaRPr sz="2400">
              <a:latin typeface="Times New Roman"/>
              <a:cs typeface="Times New Roman"/>
            </a:endParaRPr>
          </a:p>
          <a:p>
            <a:pPr>
              <a:lnSpc>
                <a:spcPct val="100000"/>
              </a:lnSpc>
              <a:spcBef>
                <a:spcPts val="2425"/>
              </a:spcBef>
            </a:pPr>
            <a:endParaRPr sz="2400">
              <a:latin typeface="Times New Roman"/>
              <a:cs typeface="Times New Roman"/>
            </a:endParaRPr>
          </a:p>
          <a:p>
            <a:pPr marL="12700" marR="2616835">
              <a:lnSpc>
                <a:spcPct val="120000"/>
              </a:lnSpc>
            </a:pPr>
            <a:r>
              <a:rPr sz="2400" dirty="0">
                <a:latin typeface="Times New Roman"/>
                <a:cs typeface="Times New Roman"/>
              </a:rPr>
              <a:t>LG</a:t>
            </a:r>
            <a:r>
              <a:rPr sz="2400" spc="-30" dirty="0">
                <a:latin typeface="Times New Roman"/>
                <a:cs typeface="Times New Roman"/>
              </a:rPr>
              <a:t> </a:t>
            </a:r>
            <a:r>
              <a:rPr sz="2400" dirty="0">
                <a:latin typeface="Times New Roman"/>
                <a:cs typeface="Times New Roman"/>
              </a:rPr>
              <a:t>U8110</a:t>
            </a:r>
            <a:r>
              <a:rPr sz="2400" spc="-30" dirty="0">
                <a:latin typeface="Times New Roman"/>
                <a:cs typeface="Times New Roman"/>
              </a:rPr>
              <a:t> </a:t>
            </a:r>
            <a:r>
              <a:rPr sz="2400" dirty="0">
                <a:latin typeface="Times New Roman"/>
                <a:cs typeface="Times New Roman"/>
              </a:rPr>
              <a:t>that</a:t>
            </a:r>
            <a:r>
              <a:rPr sz="2400" spc="-45" dirty="0">
                <a:latin typeface="Times New Roman"/>
                <a:cs typeface="Times New Roman"/>
              </a:rPr>
              <a:t> </a:t>
            </a:r>
            <a:r>
              <a:rPr sz="2400" dirty="0">
                <a:latin typeface="Times New Roman"/>
                <a:cs typeface="Times New Roman"/>
              </a:rPr>
              <a:t>was</a:t>
            </a:r>
            <a:r>
              <a:rPr sz="2400" spc="-25" dirty="0">
                <a:latin typeface="Times New Roman"/>
                <a:cs typeface="Times New Roman"/>
              </a:rPr>
              <a:t> </a:t>
            </a:r>
            <a:r>
              <a:rPr sz="2400" dirty="0">
                <a:latin typeface="Times New Roman"/>
                <a:cs typeface="Times New Roman"/>
              </a:rPr>
              <a:t>introduced</a:t>
            </a:r>
            <a:r>
              <a:rPr sz="2400" spc="-55" dirty="0">
                <a:latin typeface="Times New Roman"/>
                <a:cs typeface="Times New Roman"/>
              </a:rPr>
              <a:t> </a:t>
            </a:r>
            <a:r>
              <a:rPr sz="2400" dirty="0">
                <a:latin typeface="Times New Roman"/>
                <a:cs typeface="Times New Roman"/>
              </a:rPr>
              <a:t>in</a:t>
            </a:r>
            <a:r>
              <a:rPr sz="2400" spc="-35" dirty="0">
                <a:latin typeface="Times New Roman"/>
                <a:cs typeface="Times New Roman"/>
              </a:rPr>
              <a:t> </a:t>
            </a:r>
            <a:r>
              <a:rPr sz="2400" dirty="0">
                <a:latin typeface="Times New Roman"/>
                <a:cs typeface="Times New Roman"/>
              </a:rPr>
              <a:t>2004</a:t>
            </a:r>
            <a:r>
              <a:rPr sz="2400" spc="-30" dirty="0">
                <a:latin typeface="Times New Roman"/>
                <a:cs typeface="Times New Roman"/>
              </a:rPr>
              <a:t> </a:t>
            </a:r>
            <a:r>
              <a:rPr sz="2400" spc="-25" dirty="0">
                <a:latin typeface="Times New Roman"/>
                <a:cs typeface="Times New Roman"/>
              </a:rPr>
              <a:t>and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operating</a:t>
            </a:r>
            <a:r>
              <a:rPr sz="2400" spc="-4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3G </a:t>
            </a:r>
            <a:r>
              <a:rPr sz="2400" spc="-10" dirty="0">
                <a:latin typeface="Times New Roman"/>
                <a:cs typeface="Times New Roman"/>
              </a:rPr>
              <a:t>networks.</a:t>
            </a:r>
            <a:endParaRPr sz="2400">
              <a:latin typeface="Times New Roman"/>
              <a:cs typeface="Times New Roman"/>
            </a:endParaRPr>
          </a:p>
        </p:txBody>
      </p:sp>
      <p:pic>
        <p:nvPicPr>
          <p:cNvPr id="3" name="object 3"/>
          <p:cNvPicPr/>
          <p:nvPr/>
        </p:nvPicPr>
        <p:blipFill>
          <a:blip r:embed="rId2" cstate="print"/>
          <a:stretch>
            <a:fillRect/>
          </a:stretch>
        </p:blipFill>
        <p:spPr>
          <a:xfrm>
            <a:off x="6629400" y="3648075"/>
            <a:ext cx="2476500" cy="282892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71</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385684" cy="3098800"/>
          </a:xfrm>
          <a:prstGeom prst="rect">
            <a:avLst/>
          </a:prstGeom>
        </p:spPr>
        <p:txBody>
          <a:bodyPr vert="horz" wrap="square" lIns="0" tIns="85725" rIns="0" bIns="0" rtlCol="0">
            <a:spAutoFit/>
          </a:bodyPr>
          <a:lstStyle/>
          <a:p>
            <a:pPr marL="12700">
              <a:lnSpc>
                <a:spcPct val="100000"/>
              </a:lnSpc>
              <a:spcBef>
                <a:spcPts val="675"/>
              </a:spcBef>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following</a:t>
            </a:r>
            <a:r>
              <a:rPr sz="2400" spc="-15" dirty="0">
                <a:latin typeface="Times New Roman"/>
                <a:cs typeface="Times New Roman"/>
              </a:rPr>
              <a:t> </a:t>
            </a:r>
            <a:r>
              <a:rPr sz="2400" dirty="0">
                <a:latin typeface="Times New Roman"/>
                <a:cs typeface="Times New Roman"/>
              </a:rPr>
              <a:t>are</a:t>
            </a:r>
            <a:r>
              <a:rPr sz="2400" spc="-4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drawbacks</a:t>
            </a:r>
            <a:r>
              <a:rPr sz="2400" spc="-2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3G</a:t>
            </a:r>
            <a:r>
              <a:rPr sz="2400" spc="-2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High bandwidth</a:t>
            </a:r>
            <a:r>
              <a:rPr sz="2400" spc="-15" dirty="0">
                <a:latin typeface="Times New Roman"/>
                <a:cs typeface="Times New Roman"/>
              </a:rPr>
              <a:t> </a:t>
            </a:r>
            <a:r>
              <a:rPr sz="2400" spc="-10" dirty="0">
                <a:latin typeface="Times New Roman"/>
                <a:cs typeface="Times New Roman"/>
              </a:rPr>
              <a:t>requirement</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High spectrum</a:t>
            </a:r>
            <a:r>
              <a:rPr sz="2400" spc="-25" dirty="0">
                <a:latin typeface="Times New Roman"/>
                <a:cs typeface="Times New Roman"/>
              </a:rPr>
              <a:t> </a:t>
            </a:r>
            <a:r>
              <a:rPr sz="2400" dirty="0">
                <a:latin typeface="Times New Roman"/>
                <a:cs typeface="Times New Roman"/>
              </a:rPr>
              <a:t>licensing</a:t>
            </a:r>
            <a:r>
              <a:rPr sz="2400" spc="-30" dirty="0">
                <a:latin typeface="Times New Roman"/>
                <a:cs typeface="Times New Roman"/>
              </a:rPr>
              <a:t> </a:t>
            </a:r>
            <a:r>
              <a:rPr sz="2400" spc="-20" dirty="0">
                <a:latin typeface="Times New Roman"/>
                <a:cs typeface="Times New Roman"/>
              </a:rPr>
              <a:t>fees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Expense</a:t>
            </a:r>
            <a:r>
              <a:rPr sz="2400" spc="-10"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bulk</a:t>
            </a:r>
            <a:r>
              <a:rPr sz="2400" spc="-25" dirty="0">
                <a:latin typeface="Times New Roman"/>
                <a:cs typeface="Times New Roman"/>
              </a:rPr>
              <a:t> </a:t>
            </a:r>
            <a:r>
              <a:rPr sz="2400" dirty="0">
                <a:latin typeface="Times New Roman"/>
                <a:cs typeface="Times New Roman"/>
              </a:rPr>
              <a:t>size</a:t>
            </a:r>
            <a:r>
              <a:rPr sz="2400" spc="-3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3G</a:t>
            </a:r>
            <a:r>
              <a:rPr sz="2400" spc="-5" dirty="0">
                <a:latin typeface="Times New Roman"/>
                <a:cs typeface="Times New Roman"/>
              </a:rPr>
              <a:t> </a:t>
            </a:r>
            <a:r>
              <a:rPr sz="2400" spc="-10" dirty="0">
                <a:latin typeface="Times New Roman"/>
                <a:cs typeface="Times New Roman"/>
              </a:rPr>
              <a:t>phones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Lack</a:t>
            </a:r>
            <a:r>
              <a:rPr sz="2400" spc="-3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2G</a:t>
            </a:r>
            <a:r>
              <a:rPr sz="2400" spc="-25" dirty="0">
                <a:latin typeface="Times New Roman"/>
                <a:cs typeface="Times New Roman"/>
              </a:rPr>
              <a:t> </a:t>
            </a:r>
            <a:r>
              <a:rPr sz="2400" dirty="0">
                <a:latin typeface="Times New Roman"/>
                <a:cs typeface="Times New Roman"/>
              </a:rPr>
              <a:t>mobile</a:t>
            </a:r>
            <a:r>
              <a:rPr sz="2400" spc="-20" dirty="0">
                <a:latin typeface="Times New Roman"/>
                <a:cs typeface="Times New Roman"/>
              </a:rPr>
              <a:t> </a:t>
            </a:r>
            <a:r>
              <a:rPr sz="2400" dirty="0">
                <a:latin typeface="Times New Roman"/>
                <a:cs typeface="Times New Roman"/>
              </a:rPr>
              <a:t>user</a:t>
            </a:r>
            <a:r>
              <a:rPr sz="2400" spc="-25" dirty="0">
                <a:latin typeface="Times New Roman"/>
                <a:cs typeface="Times New Roman"/>
              </a:rPr>
              <a:t> </a:t>
            </a:r>
            <a:r>
              <a:rPr sz="2400" dirty="0">
                <a:latin typeface="Times New Roman"/>
                <a:cs typeface="Times New Roman"/>
              </a:rPr>
              <a:t>buy</a:t>
            </a:r>
            <a:r>
              <a:rPr sz="2400" spc="-30" dirty="0">
                <a:latin typeface="Times New Roman"/>
                <a:cs typeface="Times New Roman"/>
              </a:rPr>
              <a:t> </a:t>
            </a:r>
            <a:r>
              <a:rPr sz="2400" dirty="0">
                <a:latin typeface="Times New Roman"/>
                <a:cs typeface="Times New Roman"/>
              </a:rPr>
              <a:t>in</a:t>
            </a:r>
            <a:r>
              <a:rPr sz="2400" spc="-35"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3G</a:t>
            </a:r>
            <a:r>
              <a:rPr sz="2400" spc="-25" dirty="0">
                <a:latin typeface="Times New Roman"/>
                <a:cs typeface="Times New Roman"/>
              </a:rPr>
              <a:t> </a:t>
            </a:r>
            <a:r>
              <a:rPr sz="2400" dirty="0">
                <a:latin typeface="Times New Roman"/>
                <a:cs typeface="Times New Roman"/>
              </a:rPr>
              <a:t>wireless</a:t>
            </a:r>
            <a:r>
              <a:rPr sz="2400" spc="-40" dirty="0">
                <a:latin typeface="Times New Roman"/>
                <a:cs typeface="Times New Roman"/>
              </a:rPr>
              <a:t> </a:t>
            </a:r>
            <a:r>
              <a:rPr sz="2400" spc="-10" dirty="0">
                <a:latin typeface="Times New Roman"/>
                <a:cs typeface="Times New Roman"/>
              </a:rPr>
              <a:t>service</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Lack</a:t>
            </a:r>
            <a:r>
              <a:rPr sz="2400" spc="-15" dirty="0">
                <a:latin typeface="Times New Roman"/>
                <a:cs typeface="Times New Roman"/>
              </a:rPr>
              <a:t> </a:t>
            </a:r>
            <a:r>
              <a:rPr sz="2400" dirty="0">
                <a:latin typeface="Times New Roman"/>
                <a:cs typeface="Times New Roman"/>
              </a:rPr>
              <a:t>of network</a:t>
            </a:r>
            <a:r>
              <a:rPr sz="2400" spc="-15" dirty="0">
                <a:latin typeface="Times New Roman"/>
                <a:cs typeface="Times New Roman"/>
              </a:rPr>
              <a:t> </a:t>
            </a:r>
            <a:r>
              <a:rPr sz="2400" dirty="0">
                <a:latin typeface="Times New Roman"/>
                <a:cs typeface="Times New Roman"/>
              </a:rPr>
              <a:t>coverage</a:t>
            </a:r>
            <a:r>
              <a:rPr sz="2400" spc="-20" dirty="0">
                <a:latin typeface="Times New Roman"/>
                <a:cs typeface="Times New Roman"/>
              </a:rPr>
              <a:t> </a:t>
            </a:r>
            <a:r>
              <a:rPr sz="2400" dirty="0">
                <a:latin typeface="Times New Roman"/>
                <a:cs typeface="Times New Roman"/>
              </a:rPr>
              <a:t>because</a:t>
            </a:r>
            <a:r>
              <a:rPr sz="2400" spc="-20" dirty="0">
                <a:latin typeface="Times New Roman"/>
                <a:cs typeface="Times New Roman"/>
              </a:rPr>
              <a:t> </a:t>
            </a:r>
            <a:r>
              <a:rPr sz="2400" dirty="0">
                <a:latin typeface="Times New Roman"/>
                <a:cs typeface="Times New Roman"/>
              </a:rPr>
              <a:t>it</a:t>
            </a:r>
            <a:r>
              <a:rPr sz="2400" spc="-20" dirty="0">
                <a:latin typeface="Times New Roman"/>
                <a:cs typeface="Times New Roman"/>
              </a:rPr>
              <a:t> </a:t>
            </a:r>
            <a:r>
              <a:rPr sz="2400" dirty="0">
                <a:latin typeface="Times New Roman"/>
                <a:cs typeface="Times New Roman"/>
              </a:rPr>
              <a:t>is still</a:t>
            </a:r>
            <a:r>
              <a:rPr sz="2400" spc="-3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new</a:t>
            </a:r>
            <a:r>
              <a:rPr sz="2400" spc="5" dirty="0">
                <a:latin typeface="Times New Roman"/>
                <a:cs typeface="Times New Roman"/>
              </a:rPr>
              <a:t> </a:t>
            </a:r>
            <a:r>
              <a:rPr sz="2400" spc="-10" dirty="0">
                <a:latin typeface="Times New Roman"/>
                <a:cs typeface="Times New Roman"/>
              </a:rPr>
              <a:t>service</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High</a:t>
            </a:r>
            <a:r>
              <a:rPr sz="2400" spc="-15" dirty="0">
                <a:latin typeface="Times New Roman"/>
                <a:cs typeface="Times New Roman"/>
              </a:rPr>
              <a:t> </a:t>
            </a:r>
            <a:r>
              <a:rPr sz="2400" dirty="0">
                <a:latin typeface="Times New Roman"/>
                <a:cs typeface="Times New Roman"/>
              </a:rPr>
              <a:t>prices</a:t>
            </a:r>
            <a:r>
              <a:rPr sz="2400" spc="-3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3G</a:t>
            </a:r>
            <a:r>
              <a:rPr sz="2400" spc="-15" dirty="0">
                <a:latin typeface="Times New Roman"/>
                <a:cs typeface="Times New Roman"/>
              </a:rPr>
              <a:t> </a:t>
            </a:r>
            <a:r>
              <a:rPr sz="2400" dirty="0">
                <a:latin typeface="Times New Roman"/>
                <a:cs typeface="Times New Roman"/>
              </a:rPr>
              <a:t>mobile</a:t>
            </a:r>
            <a:r>
              <a:rPr sz="2400" spc="-25" dirty="0">
                <a:latin typeface="Times New Roman"/>
                <a:cs typeface="Times New Roman"/>
              </a:rPr>
              <a:t> </a:t>
            </a:r>
            <a:r>
              <a:rPr sz="2400" dirty="0">
                <a:latin typeface="Times New Roman"/>
                <a:cs typeface="Times New Roman"/>
              </a:rPr>
              <a:t>services</a:t>
            </a:r>
            <a:r>
              <a:rPr sz="2400" spc="-5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some</a:t>
            </a:r>
            <a:r>
              <a:rPr sz="2400" spc="-5" dirty="0">
                <a:latin typeface="Times New Roman"/>
                <a:cs typeface="Times New Roman"/>
              </a:rPr>
              <a:t> </a:t>
            </a:r>
            <a:r>
              <a:rPr sz="2400" spc="-10" dirty="0">
                <a:latin typeface="Times New Roman"/>
                <a:cs typeface="Times New Roman"/>
              </a:rPr>
              <a:t>countries</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72</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95800" y="6550673"/>
            <a:ext cx="4648200" cy="53340"/>
            <a:chOff x="4495800" y="6550673"/>
            <a:chExt cx="4648200" cy="5334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6" name="object 6"/>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6629400" y="0"/>
            <a:ext cx="2193163" cy="692658"/>
          </a:xfrm>
          <a:prstGeom prst="rect">
            <a:avLst/>
          </a:prstGeom>
        </p:spPr>
      </p:pic>
      <p:grpSp>
        <p:nvGrpSpPr>
          <p:cNvPr id="8" name="object 8"/>
          <p:cNvGrpSpPr/>
          <p:nvPr/>
        </p:nvGrpSpPr>
        <p:grpSpPr>
          <a:xfrm>
            <a:off x="0" y="1295401"/>
            <a:ext cx="7010400" cy="45720"/>
            <a:chOff x="0" y="1295401"/>
            <a:chExt cx="7010400" cy="45720"/>
          </a:xfrm>
        </p:grpSpPr>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2" name="object 12"/>
          <p:cNvSpPr txBox="1"/>
          <p:nvPr/>
        </p:nvSpPr>
        <p:spPr>
          <a:xfrm>
            <a:off x="383540" y="1443355"/>
            <a:ext cx="8054340" cy="1562100"/>
          </a:xfrm>
          <a:prstGeom prst="rect">
            <a:avLst/>
          </a:prstGeom>
        </p:spPr>
        <p:txBody>
          <a:bodyPr vert="horz" wrap="square" lIns="0" tIns="48895" rIns="0" bIns="0" rtlCol="0">
            <a:spAutoFit/>
          </a:bodyPr>
          <a:lstStyle/>
          <a:p>
            <a:pPr marL="354965" indent="-342265">
              <a:lnSpc>
                <a:spcPct val="100000"/>
              </a:lnSpc>
              <a:spcBef>
                <a:spcPts val="385"/>
              </a:spcBef>
              <a:buClr>
                <a:srgbClr val="0F1141"/>
              </a:buClr>
              <a:buFont typeface="Arial MT"/>
              <a:buChar char="•"/>
              <a:tabLst>
                <a:tab pos="354965" algn="l"/>
              </a:tabLst>
            </a:pPr>
            <a:r>
              <a:rPr sz="2400" dirty="0">
                <a:latin typeface="Times New Roman"/>
                <a:cs typeface="Times New Roman"/>
              </a:rPr>
              <a:t>Goal:</a:t>
            </a:r>
            <a:r>
              <a:rPr sz="2400" spc="-30" dirty="0">
                <a:latin typeface="Times New Roman"/>
                <a:cs typeface="Times New Roman"/>
              </a:rPr>
              <a:t> </a:t>
            </a:r>
            <a:r>
              <a:rPr sz="2400" dirty="0">
                <a:latin typeface="Times New Roman"/>
                <a:cs typeface="Times New Roman"/>
              </a:rPr>
              <a:t>High</a:t>
            </a:r>
            <a:r>
              <a:rPr sz="2400" spc="-15" dirty="0">
                <a:latin typeface="Times New Roman"/>
                <a:cs typeface="Times New Roman"/>
              </a:rPr>
              <a:t> </a:t>
            </a:r>
            <a:r>
              <a:rPr sz="2400" spc="-10" dirty="0">
                <a:latin typeface="Times New Roman"/>
                <a:cs typeface="Times New Roman"/>
              </a:rPr>
              <a:t>mobility,</a:t>
            </a:r>
            <a:r>
              <a:rPr sz="2400" spc="-40" dirty="0">
                <a:latin typeface="Times New Roman"/>
                <a:cs typeface="Times New Roman"/>
              </a:rPr>
              <a:t> </a:t>
            </a:r>
            <a:r>
              <a:rPr sz="2400" dirty="0">
                <a:latin typeface="Times New Roman"/>
                <a:cs typeface="Times New Roman"/>
              </a:rPr>
              <a:t>High</a:t>
            </a:r>
            <a:r>
              <a:rPr sz="2400" spc="-15" dirty="0">
                <a:latin typeface="Times New Roman"/>
                <a:cs typeface="Times New Roman"/>
              </a:rPr>
              <a:t> </a:t>
            </a:r>
            <a:r>
              <a:rPr sz="2400" dirty="0">
                <a:latin typeface="Times New Roman"/>
                <a:cs typeface="Times New Roman"/>
              </a:rPr>
              <a:t>data</a:t>
            </a:r>
            <a:r>
              <a:rPr sz="2400" spc="-35" dirty="0">
                <a:latin typeface="Times New Roman"/>
                <a:cs typeface="Times New Roman"/>
              </a:rPr>
              <a:t> </a:t>
            </a:r>
            <a:r>
              <a:rPr sz="2400" spc="-20" dirty="0">
                <a:latin typeface="Times New Roman"/>
                <a:cs typeface="Times New Roman"/>
              </a:rPr>
              <a:t>rate</a:t>
            </a:r>
            <a:endParaRPr sz="2400">
              <a:latin typeface="Times New Roman"/>
              <a:cs typeface="Times New Roman"/>
            </a:endParaRPr>
          </a:p>
          <a:p>
            <a:pPr marL="354965" indent="-342265">
              <a:lnSpc>
                <a:spcPct val="100000"/>
              </a:lnSpc>
              <a:spcBef>
                <a:spcPts val="290"/>
              </a:spcBef>
              <a:buClr>
                <a:srgbClr val="0F1141"/>
              </a:buClr>
              <a:buFont typeface="Arial MT"/>
              <a:buChar char="•"/>
              <a:tabLst>
                <a:tab pos="354965" algn="l"/>
              </a:tabLst>
            </a:pPr>
            <a:r>
              <a:rPr sz="2400" dirty="0">
                <a:latin typeface="Times New Roman"/>
                <a:cs typeface="Times New Roman"/>
              </a:rPr>
              <a:t>Frequency</a:t>
            </a:r>
            <a:r>
              <a:rPr sz="2400" spc="-10" dirty="0">
                <a:latin typeface="Times New Roman"/>
                <a:cs typeface="Times New Roman"/>
              </a:rPr>
              <a:t> </a:t>
            </a:r>
            <a:r>
              <a:rPr sz="2400" dirty="0">
                <a:latin typeface="Times New Roman"/>
                <a:cs typeface="Times New Roman"/>
              </a:rPr>
              <a:t>Band:</a:t>
            </a:r>
            <a:r>
              <a:rPr sz="2400" spc="-10" dirty="0">
                <a:latin typeface="Times New Roman"/>
                <a:cs typeface="Times New Roman"/>
              </a:rPr>
              <a:t> </a:t>
            </a:r>
            <a:r>
              <a:rPr sz="2400" dirty="0">
                <a:latin typeface="Times New Roman"/>
                <a:cs typeface="Times New Roman"/>
              </a:rPr>
              <a:t>2 to</a:t>
            </a:r>
            <a:r>
              <a:rPr sz="2400" spc="-10" dirty="0">
                <a:latin typeface="Times New Roman"/>
                <a:cs typeface="Times New Roman"/>
              </a:rPr>
              <a:t> </a:t>
            </a:r>
            <a:r>
              <a:rPr sz="2400" dirty="0">
                <a:latin typeface="Times New Roman"/>
                <a:cs typeface="Times New Roman"/>
              </a:rPr>
              <a:t>8</a:t>
            </a:r>
            <a:r>
              <a:rPr sz="2400" spc="5" dirty="0">
                <a:latin typeface="Times New Roman"/>
                <a:cs typeface="Times New Roman"/>
              </a:rPr>
              <a:t> </a:t>
            </a:r>
            <a:r>
              <a:rPr sz="2400" spc="-20" dirty="0">
                <a:latin typeface="Times New Roman"/>
                <a:cs typeface="Times New Roman"/>
              </a:rPr>
              <a:t>Ghz.</a:t>
            </a:r>
            <a:endParaRPr sz="2400">
              <a:latin typeface="Times New Roman"/>
              <a:cs typeface="Times New Roman"/>
            </a:endParaRPr>
          </a:p>
          <a:p>
            <a:pPr marL="355600" marR="5080" indent="-342900">
              <a:lnSpc>
                <a:spcPts val="2590"/>
              </a:lnSpc>
              <a:spcBef>
                <a:spcPts val="615"/>
              </a:spcBef>
              <a:buClr>
                <a:srgbClr val="0F1141"/>
              </a:buClr>
              <a:buFont typeface="Arial MT"/>
              <a:buChar char="•"/>
              <a:tabLst>
                <a:tab pos="355600" algn="l"/>
              </a:tabLst>
            </a:pPr>
            <a:r>
              <a:rPr sz="2400" dirty="0">
                <a:latin typeface="Times New Roman"/>
                <a:cs typeface="Times New Roman"/>
              </a:rPr>
              <a:t>Download</a:t>
            </a:r>
            <a:r>
              <a:rPr sz="2400" spc="-20" dirty="0">
                <a:latin typeface="Times New Roman"/>
                <a:cs typeface="Times New Roman"/>
              </a:rPr>
              <a:t> </a:t>
            </a:r>
            <a:r>
              <a:rPr sz="2400" dirty="0">
                <a:latin typeface="Times New Roman"/>
                <a:cs typeface="Times New Roman"/>
              </a:rPr>
              <a:t>speed</a:t>
            </a:r>
            <a:r>
              <a:rPr sz="2400" spc="-2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upto</a:t>
            </a:r>
            <a:r>
              <a:rPr sz="2400" spc="-30" dirty="0">
                <a:latin typeface="Times New Roman"/>
                <a:cs typeface="Times New Roman"/>
              </a:rPr>
              <a:t> </a:t>
            </a:r>
            <a:r>
              <a:rPr sz="2400" dirty="0">
                <a:latin typeface="Times New Roman"/>
                <a:cs typeface="Times New Roman"/>
              </a:rPr>
              <a:t>100</a:t>
            </a:r>
            <a:r>
              <a:rPr sz="2400" spc="-15" dirty="0">
                <a:latin typeface="Times New Roman"/>
                <a:cs typeface="Times New Roman"/>
              </a:rPr>
              <a:t> </a:t>
            </a:r>
            <a:r>
              <a:rPr sz="2400" dirty="0">
                <a:latin typeface="Times New Roman"/>
                <a:cs typeface="Times New Roman"/>
              </a:rPr>
              <a:t>Mbps</a:t>
            </a:r>
            <a:r>
              <a:rPr sz="2400" spc="-20" dirty="0">
                <a:latin typeface="Times New Roman"/>
                <a:cs typeface="Times New Roman"/>
              </a:rPr>
              <a:t> </a:t>
            </a: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moving</a:t>
            </a:r>
            <a:r>
              <a:rPr sz="2400" spc="-20" dirty="0">
                <a:latin typeface="Times New Roman"/>
                <a:cs typeface="Times New Roman"/>
              </a:rPr>
              <a:t> </a:t>
            </a:r>
            <a:r>
              <a:rPr sz="2400" dirty="0">
                <a:latin typeface="Times New Roman"/>
                <a:cs typeface="Times New Roman"/>
              </a:rPr>
              <a:t>users</a:t>
            </a:r>
            <a:r>
              <a:rPr sz="2400" spc="-20"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spc="-20" dirty="0">
                <a:latin typeface="Times New Roman"/>
                <a:cs typeface="Times New Roman"/>
              </a:rPr>
              <a:t>1GPS </a:t>
            </a:r>
            <a:r>
              <a:rPr sz="2400" dirty="0">
                <a:latin typeface="Times New Roman"/>
                <a:cs typeface="Times New Roman"/>
              </a:rPr>
              <a:t>for</a:t>
            </a:r>
            <a:r>
              <a:rPr sz="2400" spc="-25" dirty="0">
                <a:latin typeface="Times New Roman"/>
                <a:cs typeface="Times New Roman"/>
              </a:rPr>
              <a:t> </a:t>
            </a:r>
            <a:r>
              <a:rPr sz="2400" dirty="0">
                <a:latin typeface="Times New Roman"/>
                <a:cs typeface="Times New Roman"/>
              </a:rPr>
              <a:t>stationary</a:t>
            </a:r>
            <a:r>
              <a:rPr sz="2400" spc="-55" dirty="0">
                <a:latin typeface="Times New Roman"/>
                <a:cs typeface="Times New Roman"/>
              </a:rPr>
              <a:t> </a:t>
            </a:r>
            <a:r>
              <a:rPr sz="2400" spc="-10" dirty="0">
                <a:latin typeface="Times New Roman"/>
                <a:cs typeface="Times New Roman"/>
              </a:rPr>
              <a:t>users.</a:t>
            </a:r>
            <a:endParaRPr sz="2400">
              <a:latin typeface="Times New Roman"/>
              <a:cs typeface="Times New Roman"/>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3" name="object 13"/>
          <p:cNvSpPr txBox="1"/>
          <p:nvPr/>
        </p:nvSpPr>
        <p:spPr>
          <a:xfrm>
            <a:off x="383540" y="3016377"/>
            <a:ext cx="8139430" cy="3574415"/>
          </a:xfrm>
          <a:prstGeom prst="rect">
            <a:avLst/>
          </a:prstGeom>
        </p:spPr>
        <p:txBody>
          <a:bodyPr vert="horz" wrap="square" lIns="0" tIns="53975" rIns="0" bIns="0" rtlCol="0">
            <a:spAutoFit/>
          </a:bodyPr>
          <a:lstStyle/>
          <a:p>
            <a:pPr marL="12700" marR="594360">
              <a:lnSpc>
                <a:spcPts val="2590"/>
              </a:lnSpc>
              <a:spcBef>
                <a:spcPts val="425"/>
              </a:spcBef>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following</a:t>
            </a:r>
            <a:r>
              <a:rPr sz="2400" spc="-15" dirty="0">
                <a:latin typeface="Times New Roman"/>
                <a:cs typeface="Times New Roman"/>
              </a:rPr>
              <a:t> </a:t>
            </a:r>
            <a:r>
              <a:rPr sz="2400" dirty="0">
                <a:latin typeface="Times New Roman"/>
                <a:cs typeface="Times New Roman"/>
              </a:rPr>
              <a:t>modulation</a:t>
            </a:r>
            <a:r>
              <a:rPr sz="2400" spc="-35" dirty="0">
                <a:latin typeface="Times New Roman"/>
                <a:cs typeface="Times New Roman"/>
              </a:rPr>
              <a:t> </a:t>
            </a:r>
            <a:r>
              <a:rPr sz="2400" dirty="0">
                <a:latin typeface="Times New Roman"/>
                <a:cs typeface="Times New Roman"/>
              </a:rPr>
              <a:t>techniques</a:t>
            </a:r>
            <a:r>
              <a:rPr sz="2400" spc="-50"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dirty="0">
                <a:latin typeface="Times New Roman"/>
                <a:cs typeface="Times New Roman"/>
              </a:rPr>
              <a:t>proposed</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spc="-20" dirty="0">
                <a:latin typeface="Times New Roman"/>
                <a:cs typeface="Times New Roman"/>
              </a:rPr>
              <a:t>used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4G</a:t>
            </a:r>
            <a:r>
              <a:rPr sz="2400" spc="-5" dirty="0">
                <a:latin typeface="Times New Roman"/>
                <a:cs typeface="Times New Roman"/>
              </a:rPr>
              <a:t> </a:t>
            </a:r>
            <a:r>
              <a:rPr sz="2400" dirty="0">
                <a:latin typeface="Times New Roman"/>
                <a:cs typeface="Times New Roman"/>
              </a:rPr>
              <a:t>cellular</a:t>
            </a:r>
            <a:r>
              <a:rPr sz="2400" spc="-40" dirty="0">
                <a:latin typeface="Times New Roman"/>
                <a:cs typeface="Times New Roman"/>
              </a:rPr>
              <a:t> </a:t>
            </a:r>
            <a:r>
              <a:rPr sz="2400" spc="-10" dirty="0">
                <a:latin typeface="Times New Roman"/>
                <a:cs typeface="Times New Roman"/>
              </a:rPr>
              <a:t>phones.</a:t>
            </a:r>
            <a:endParaRPr sz="2400">
              <a:latin typeface="Times New Roman"/>
              <a:cs typeface="Times New Roman"/>
            </a:endParaRPr>
          </a:p>
          <a:p>
            <a:pPr marL="927100">
              <a:lnSpc>
                <a:spcPts val="2415"/>
              </a:lnSpc>
            </a:pPr>
            <a:r>
              <a:rPr sz="2400" spc="-30" dirty="0">
                <a:latin typeface="Times New Roman"/>
                <a:cs typeface="Times New Roman"/>
              </a:rPr>
              <a:t>Variable</a:t>
            </a:r>
            <a:r>
              <a:rPr sz="2400" spc="-40" dirty="0">
                <a:latin typeface="Times New Roman"/>
                <a:cs typeface="Times New Roman"/>
              </a:rPr>
              <a:t> </a:t>
            </a:r>
            <a:r>
              <a:rPr sz="2400" dirty="0">
                <a:latin typeface="Times New Roman"/>
                <a:cs typeface="Times New Roman"/>
              </a:rPr>
              <a:t>spreading</a:t>
            </a:r>
            <a:r>
              <a:rPr sz="2400" spc="-35" dirty="0">
                <a:latin typeface="Times New Roman"/>
                <a:cs typeface="Times New Roman"/>
              </a:rPr>
              <a:t> </a:t>
            </a:r>
            <a:r>
              <a:rPr sz="2400" spc="-10" dirty="0">
                <a:latin typeface="Times New Roman"/>
                <a:cs typeface="Times New Roman"/>
              </a:rPr>
              <a:t>factor-</a:t>
            </a:r>
            <a:r>
              <a:rPr sz="2400" dirty="0">
                <a:latin typeface="Times New Roman"/>
                <a:cs typeface="Times New Roman"/>
              </a:rPr>
              <a:t>orthogonal</a:t>
            </a:r>
            <a:r>
              <a:rPr sz="2400" spc="-50" dirty="0">
                <a:latin typeface="Times New Roman"/>
                <a:cs typeface="Times New Roman"/>
              </a:rPr>
              <a:t> </a:t>
            </a:r>
            <a:r>
              <a:rPr sz="2400" dirty="0">
                <a:latin typeface="Times New Roman"/>
                <a:cs typeface="Times New Roman"/>
              </a:rPr>
              <a:t>frequency</a:t>
            </a:r>
            <a:r>
              <a:rPr sz="2400" spc="-1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spc="-20" dirty="0">
                <a:latin typeface="Times New Roman"/>
                <a:cs typeface="Times New Roman"/>
              </a:rPr>
              <a:t>code</a:t>
            </a:r>
            <a:endParaRPr sz="2400">
              <a:latin typeface="Times New Roman"/>
              <a:cs typeface="Times New Roman"/>
            </a:endParaRPr>
          </a:p>
          <a:p>
            <a:pPr marL="927100">
              <a:lnSpc>
                <a:spcPts val="2735"/>
              </a:lnSpc>
            </a:pPr>
            <a:r>
              <a:rPr sz="2400" dirty="0">
                <a:latin typeface="Times New Roman"/>
                <a:cs typeface="Times New Roman"/>
              </a:rPr>
              <a:t>division multiplexing</a:t>
            </a:r>
            <a:r>
              <a:rPr sz="2400" spc="-20" dirty="0">
                <a:latin typeface="Times New Roman"/>
                <a:cs typeface="Times New Roman"/>
              </a:rPr>
              <a:t> (VSF-</a:t>
            </a:r>
            <a:r>
              <a:rPr sz="2400" spc="-10" dirty="0">
                <a:latin typeface="Times New Roman"/>
                <a:cs typeface="Times New Roman"/>
              </a:rPr>
              <a:t>OFCDM).</a:t>
            </a:r>
            <a:endParaRPr sz="2400">
              <a:latin typeface="Times New Roman"/>
              <a:cs typeface="Times New Roman"/>
            </a:endParaRPr>
          </a:p>
          <a:p>
            <a:pPr marL="927100" marR="467359">
              <a:lnSpc>
                <a:spcPts val="2590"/>
              </a:lnSpc>
              <a:spcBef>
                <a:spcPts val="615"/>
              </a:spcBef>
            </a:pPr>
            <a:r>
              <a:rPr sz="2400" spc="-30" dirty="0">
                <a:latin typeface="Times New Roman"/>
                <a:cs typeface="Times New Roman"/>
              </a:rPr>
              <a:t>Variable</a:t>
            </a:r>
            <a:r>
              <a:rPr sz="2400" spc="-50" dirty="0">
                <a:latin typeface="Times New Roman"/>
                <a:cs typeface="Times New Roman"/>
              </a:rPr>
              <a:t> </a:t>
            </a:r>
            <a:r>
              <a:rPr sz="2400" dirty="0">
                <a:latin typeface="Times New Roman"/>
                <a:cs typeface="Times New Roman"/>
              </a:rPr>
              <a:t>spreading</a:t>
            </a:r>
            <a:r>
              <a:rPr sz="2400" spc="-40" dirty="0">
                <a:latin typeface="Times New Roman"/>
                <a:cs typeface="Times New Roman"/>
              </a:rPr>
              <a:t> </a:t>
            </a:r>
            <a:r>
              <a:rPr sz="2400" dirty="0">
                <a:latin typeface="Times New Roman"/>
                <a:cs typeface="Times New Roman"/>
              </a:rPr>
              <a:t>factor</a:t>
            </a:r>
            <a:r>
              <a:rPr sz="2400" spc="-25" dirty="0">
                <a:latin typeface="Times New Roman"/>
                <a:cs typeface="Times New Roman"/>
              </a:rPr>
              <a:t> </a:t>
            </a:r>
            <a:r>
              <a:rPr sz="2400" dirty="0">
                <a:latin typeface="Times New Roman"/>
                <a:cs typeface="Times New Roman"/>
              </a:rPr>
              <a:t>code-division</a:t>
            </a:r>
            <a:r>
              <a:rPr sz="2400" spc="-40" dirty="0">
                <a:latin typeface="Times New Roman"/>
                <a:cs typeface="Times New Roman"/>
              </a:rPr>
              <a:t> </a:t>
            </a:r>
            <a:r>
              <a:rPr sz="2400" dirty="0">
                <a:latin typeface="Times New Roman"/>
                <a:cs typeface="Times New Roman"/>
              </a:rPr>
              <a:t>multiple</a:t>
            </a:r>
            <a:r>
              <a:rPr sz="2400" spc="-50" dirty="0">
                <a:latin typeface="Times New Roman"/>
                <a:cs typeface="Times New Roman"/>
              </a:rPr>
              <a:t> </a:t>
            </a:r>
            <a:r>
              <a:rPr sz="2400" spc="-10" dirty="0">
                <a:latin typeface="Times New Roman"/>
                <a:cs typeface="Times New Roman"/>
              </a:rPr>
              <a:t>access </a:t>
            </a:r>
            <a:r>
              <a:rPr sz="2400" dirty="0">
                <a:latin typeface="Times New Roman"/>
                <a:cs typeface="Times New Roman"/>
              </a:rPr>
              <a:t>(VSF-</a:t>
            </a:r>
            <a:r>
              <a:rPr sz="2400" spc="-60" dirty="0">
                <a:latin typeface="Times New Roman"/>
                <a:cs typeface="Times New Roman"/>
              </a:rPr>
              <a:t> </a:t>
            </a:r>
            <a:r>
              <a:rPr sz="2400" spc="-10" dirty="0">
                <a:latin typeface="Times New Roman"/>
                <a:cs typeface="Times New Roman"/>
              </a:rPr>
              <a:t>CDMA).</a:t>
            </a:r>
            <a:endParaRPr sz="2400">
              <a:latin typeface="Times New Roman"/>
              <a:cs typeface="Times New Roman"/>
            </a:endParaRPr>
          </a:p>
          <a:p>
            <a:pPr marL="12700">
              <a:lnSpc>
                <a:spcPts val="2555"/>
              </a:lnSpc>
            </a:pPr>
            <a:r>
              <a:rPr sz="2400" spc="-50" dirty="0">
                <a:latin typeface="Times New Roman"/>
                <a:cs typeface="Times New Roman"/>
              </a:rPr>
              <a:t>LTE</a:t>
            </a:r>
            <a:r>
              <a:rPr sz="2400" spc="-90" dirty="0">
                <a:latin typeface="Times New Roman"/>
                <a:cs typeface="Times New Roman"/>
              </a:rPr>
              <a:t> </a:t>
            </a:r>
            <a:r>
              <a:rPr sz="2400" dirty="0">
                <a:latin typeface="Times New Roman"/>
                <a:cs typeface="Times New Roman"/>
              </a:rPr>
              <a:t>(Long</a:t>
            </a:r>
            <a:r>
              <a:rPr sz="2400" spc="-110" dirty="0">
                <a:latin typeface="Times New Roman"/>
                <a:cs typeface="Times New Roman"/>
              </a:rPr>
              <a:t> </a:t>
            </a:r>
            <a:r>
              <a:rPr sz="2400" spc="-20" dirty="0">
                <a:latin typeface="Times New Roman"/>
                <a:cs typeface="Times New Roman"/>
              </a:rPr>
              <a:t>Term</a:t>
            </a:r>
            <a:r>
              <a:rPr sz="2400" spc="-65" dirty="0">
                <a:latin typeface="Times New Roman"/>
                <a:cs typeface="Times New Roman"/>
              </a:rPr>
              <a:t> </a:t>
            </a:r>
            <a:r>
              <a:rPr sz="2400" spc="-10" dirty="0">
                <a:latin typeface="Times New Roman"/>
                <a:cs typeface="Times New Roman"/>
              </a:rPr>
              <a:t>Evolution)</a:t>
            </a:r>
            <a:endParaRPr sz="2400">
              <a:latin typeface="Times New Roman"/>
              <a:cs typeface="Times New Roman"/>
            </a:endParaRPr>
          </a:p>
          <a:p>
            <a:pPr marL="756285" indent="-286385">
              <a:lnSpc>
                <a:spcPct val="100000"/>
              </a:lnSpc>
              <a:spcBef>
                <a:spcPts val="290"/>
              </a:spcBef>
              <a:buFont typeface="Wingdings"/>
              <a:buChar char=""/>
              <a:tabLst>
                <a:tab pos="756285" algn="l"/>
              </a:tabLst>
            </a:pPr>
            <a:r>
              <a:rPr sz="2400" dirty="0">
                <a:latin typeface="Times New Roman"/>
                <a:cs typeface="Times New Roman"/>
              </a:rPr>
              <a:t>Uses</a:t>
            </a:r>
            <a:r>
              <a:rPr sz="2400" spc="-30" dirty="0">
                <a:latin typeface="Times New Roman"/>
                <a:cs typeface="Times New Roman"/>
              </a:rPr>
              <a:t> </a:t>
            </a:r>
            <a:r>
              <a:rPr sz="2400" dirty="0">
                <a:latin typeface="Times New Roman"/>
                <a:cs typeface="Times New Roman"/>
              </a:rPr>
              <a:t>Orthogonal</a:t>
            </a:r>
            <a:r>
              <a:rPr sz="2400" spc="-30" dirty="0">
                <a:latin typeface="Times New Roman"/>
                <a:cs typeface="Times New Roman"/>
              </a:rPr>
              <a:t> </a:t>
            </a:r>
            <a:r>
              <a:rPr sz="2400" dirty="0">
                <a:latin typeface="Times New Roman"/>
                <a:cs typeface="Times New Roman"/>
              </a:rPr>
              <a:t>Frequency</a:t>
            </a:r>
            <a:r>
              <a:rPr sz="2400" spc="-30" dirty="0">
                <a:latin typeface="Times New Roman"/>
                <a:cs typeface="Times New Roman"/>
              </a:rPr>
              <a:t> </a:t>
            </a:r>
            <a:r>
              <a:rPr sz="2400" dirty="0">
                <a:latin typeface="Times New Roman"/>
                <a:cs typeface="Times New Roman"/>
              </a:rPr>
              <a:t>Division</a:t>
            </a:r>
            <a:r>
              <a:rPr sz="2400" spc="-30" dirty="0">
                <a:latin typeface="Times New Roman"/>
                <a:cs typeface="Times New Roman"/>
              </a:rPr>
              <a:t> </a:t>
            </a:r>
            <a:r>
              <a:rPr sz="2400" dirty="0">
                <a:latin typeface="Times New Roman"/>
                <a:cs typeface="Times New Roman"/>
              </a:rPr>
              <a:t>Multiplexing</a:t>
            </a:r>
            <a:r>
              <a:rPr sz="2400" spc="-30" dirty="0">
                <a:latin typeface="Times New Roman"/>
                <a:cs typeface="Times New Roman"/>
              </a:rPr>
              <a:t> </a:t>
            </a:r>
            <a:r>
              <a:rPr sz="2400" spc="-10" dirty="0">
                <a:latin typeface="Times New Roman"/>
                <a:cs typeface="Times New Roman"/>
              </a:rPr>
              <a:t>(OFDM)</a:t>
            </a:r>
            <a:endParaRPr sz="2400">
              <a:latin typeface="Times New Roman"/>
              <a:cs typeface="Times New Roman"/>
            </a:endParaRPr>
          </a:p>
          <a:p>
            <a:pPr marL="756285" marR="941069" indent="-287020">
              <a:lnSpc>
                <a:spcPts val="2590"/>
              </a:lnSpc>
              <a:spcBef>
                <a:spcPts val="620"/>
              </a:spcBef>
              <a:buFont typeface="Wingdings"/>
              <a:buChar char=""/>
              <a:tabLst>
                <a:tab pos="756285" algn="l"/>
                <a:tab pos="4280535" algn="l"/>
              </a:tabLst>
            </a:pPr>
            <a:r>
              <a:rPr sz="2400" dirty="0">
                <a:latin typeface="Times New Roman"/>
                <a:cs typeface="Times New Roman"/>
              </a:rPr>
              <a:t>Uses</a:t>
            </a:r>
            <a:r>
              <a:rPr sz="2400" spc="-25" dirty="0">
                <a:latin typeface="Times New Roman"/>
                <a:cs typeface="Times New Roman"/>
              </a:rPr>
              <a:t> </a:t>
            </a:r>
            <a:r>
              <a:rPr sz="2400" dirty="0">
                <a:latin typeface="Times New Roman"/>
                <a:cs typeface="Times New Roman"/>
              </a:rPr>
              <a:t>Multi-input</a:t>
            </a:r>
            <a:r>
              <a:rPr sz="2400" spc="-70" dirty="0">
                <a:latin typeface="Times New Roman"/>
                <a:cs typeface="Times New Roman"/>
              </a:rPr>
              <a:t> </a:t>
            </a:r>
            <a:r>
              <a:rPr sz="2400" dirty="0">
                <a:latin typeface="Times New Roman"/>
                <a:cs typeface="Times New Roman"/>
              </a:rPr>
              <a:t>Multi-output(MIMO)</a:t>
            </a:r>
            <a:r>
              <a:rPr sz="2400" spc="-65" dirty="0">
                <a:latin typeface="Times New Roman"/>
                <a:cs typeface="Times New Roman"/>
              </a:rPr>
              <a:t> </a:t>
            </a:r>
            <a:r>
              <a:rPr sz="2400" dirty="0">
                <a:latin typeface="Times New Roman"/>
                <a:cs typeface="Times New Roman"/>
              </a:rPr>
              <a:t>for</a:t>
            </a:r>
            <a:r>
              <a:rPr sz="2400" spc="-25" dirty="0">
                <a:latin typeface="Times New Roman"/>
                <a:cs typeface="Times New Roman"/>
              </a:rPr>
              <a:t> </a:t>
            </a:r>
            <a:r>
              <a:rPr sz="2400" spc="-10" dirty="0">
                <a:latin typeface="Times New Roman"/>
                <a:cs typeface="Times New Roman"/>
              </a:rPr>
              <a:t>enhanced through</a:t>
            </a:r>
            <a:r>
              <a:rPr sz="2400" u="heavy" spc="-10" dirty="0">
                <a:uFill>
                  <a:solidFill>
                    <a:srgbClr val="FBAF17"/>
                  </a:solidFill>
                </a:uFill>
                <a:latin typeface="Times New Roman"/>
                <a:cs typeface="Times New Roman"/>
              </a:rPr>
              <a:t>put</a:t>
            </a:r>
            <a:r>
              <a:rPr sz="2400" u="heavy" dirty="0">
                <a:uFill>
                  <a:solidFill>
                    <a:srgbClr val="FBAF17"/>
                  </a:solidFill>
                </a:uFill>
                <a:latin typeface="Times New Roman"/>
                <a:cs typeface="Times New Roman"/>
              </a:rPr>
              <a:t>	</a:t>
            </a:r>
            <a:endParaRPr sz="2400">
              <a:latin typeface="Times New Roman"/>
              <a:cs typeface="Times New Roman"/>
            </a:endParaRPr>
          </a:p>
        </p:txBody>
      </p:sp>
      <p:sp>
        <p:nvSpPr>
          <p:cNvPr id="14" name="object 14"/>
          <p:cNvSpPr txBox="1">
            <a:spLocks noGrp="1"/>
          </p:cNvSpPr>
          <p:nvPr>
            <p:ph type="title"/>
          </p:nvPr>
        </p:nvSpPr>
        <p:spPr>
          <a:xfrm>
            <a:off x="383540" y="378917"/>
            <a:ext cx="4147820" cy="574675"/>
          </a:xfrm>
          <a:prstGeom prst="rect">
            <a:avLst/>
          </a:prstGeom>
        </p:spPr>
        <p:txBody>
          <a:bodyPr vert="horz" wrap="square" lIns="0" tIns="12700" rIns="0" bIns="0" rtlCol="0">
            <a:spAutoFit/>
          </a:bodyPr>
          <a:lstStyle/>
          <a:p>
            <a:pPr marL="12700">
              <a:lnSpc>
                <a:spcPct val="100000"/>
              </a:lnSpc>
              <a:spcBef>
                <a:spcPts val="100"/>
              </a:spcBef>
            </a:pPr>
            <a:r>
              <a:rPr spc="-150" dirty="0"/>
              <a:t>Cellular</a:t>
            </a:r>
            <a:r>
              <a:rPr spc="-180" dirty="0"/>
              <a:t> </a:t>
            </a:r>
            <a:r>
              <a:rPr spc="-150" dirty="0"/>
              <a:t>Network-</a:t>
            </a:r>
            <a:r>
              <a:rPr spc="-195" dirty="0"/>
              <a:t> </a:t>
            </a:r>
            <a:r>
              <a:rPr spc="-65" dirty="0"/>
              <a:t>4G</a:t>
            </a:r>
          </a:p>
        </p:txBody>
      </p:sp>
      <p:sp>
        <p:nvSpPr>
          <p:cNvPr id="15" name="object 15"/>
          <p:cNvSpPr txBox="1"/>
          <p:nvPr/>
        </p:nvSpPr>
        <p:spPr>
          <a:xfrm>
            <a:off x="8868918" y="6176568"/>
            <a:ext cx="19621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Arial MT"/>
                <a:cs typeface="Arial MT"/>
              </a:rPr>
              <a:t>46</a:t>
            </a:r>
            <a:endParaRPr sz="1200">
              <a:latin typeface="Arial MT"/>
              <a:cs typeface="Arial M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12430" cy="4269105"/>
          </a:xfrm>
          <a:prstGeom prst="rect">
            <a:avLst/>
          </a:prstGeom>
        </p:spPr>
        <p:txBody>
          <a:bodyPr vert="horz" wrap="square" lIns="0" tIns="12700" rIns="0" bIns="0" rtlCol="0">
            <a:spAutoFit/>
          </a:bodyPr>
          <a:lstStyle/>
          <a:p>
            <a:pPr marL="355600" marR="442595" indent="-342900">
              <a:lnSpc>
                <a:spcPct val="100000"/>
              </a:lnSpc>
              <a:spcBef>
                <a:spcPts val="100"/>
              </a:spcBef>
              <a:buClr>
                <a:srgbClr val="0F1141"/>
              </a:buClr>
              <a:buFont typeface="Arial MT"/>
              <a:buChar char="•"/>
              <a:tabLst>
                <a:tab pos="355600" algn="l"/>
              </a:tabLst>
            </a:pPr>
            <a:r>
              <a:rPr sz="2400" dirty="0">
                <a:latin typeface="Times New Roman"/>
                <a:cs typeface="Times New Roman"/>
              </a:rPr>
              <a:t>Support</a:t>
            </a:r>
            <a:r>
              <a:rPr sz="2400" spc="-25"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interactive</a:t>
            </a:r>
            <a:r>
              <a:rPr sz="2400" spc="-65" dirty="0">
                <a:latin typeface="Times New Roman"/>
                <a:cs typeface="Times New Roman"/>
              </a:rPr>
              <a:t> </a:t>
            </a:r>
            <a:r>
              <a:rPr sz="2400" dirty="0">
                <a:latin typeface="Times New Roman"/>
                <a:cs typeface="Times New Roman"/>
              </a:rPr>
              <a:t>multimedia,</a:t>
            </a:r>
            <a:r>
              <a:rPr sz="2400" spc="-20" dirty="0">
                <a:latin typeface="Times New Roman"/>
                <a:cs typeface="Times New Roman"/>
              </a:rPr>
              <a:t> </a:t>
            </a:r>
            <a:r>
              <a:rPr sz="2400" dirty="0">
                <a:latin typeface="Times New Roman"/>
                <a:cs typeface="Times New Roman"/>
              </a:rPr>
              <a:t>voice,</a:t>
            </a:r>
            <a:r>
              <a:rPr sz="2400" spc="-40" dirty="0">
                <a:latin typeface="Times New Roman"/>
                <a:cs typeface="Times New Roman"/>
              </a:rPr>
              <a:t> </a:t>
            </a:r>
            <a:r>
              <a:rPr sz="2400" dirty="0">
                <a:latin typeface="Times New Roman"/>
                <a:cs typeface="Times New Roman"/>
              </a:rPr>
              <a:t>streaming</a:t>
            </a:r>
            <a:r>
              <a:rPr sz="2400" spc="-30" dirty="0">
                <a:latin typeface="Times New Roman"/>
                <a:cs typeface="Times New Roman"/>
              </a:rPr>
              <a:t> </a:t>
            </a:r>
            <a:r>
              <a:rPr sz="2400" spc="-10" dirty="0">
                <a:latin typeface="Times New Roman"/>
                <a:cs typeface="Times New Roman"/>
              </a:rPr>
              <a:t>video, </a:t>
            </a:r>
            <a:r>
              <a:rPr sz="2400" dirty="0">
                <a:latin typeface="Times New Roman"/>
                <a:cs typeface="Times New Roman"/>
              </a:rPr>
              <a:t>Internet,</a:t>
            </a:r>
            <a:r>
              <a:rPr sz="2400" spc="-4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other broadband</a:t>
            </a:r>
            <a:r>
              <a:rPr sz="2400" spc="-10" dirty="0">
                <a:latin typeface="Times New Roman"/>
                <a:cs typeface="Times New Roman"/>
              </a:rPr>
              <a:t> services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Fully</a:t>
            </a:r>
            <a:r>
              <a:rPr sz="2400" spc="-25" dirty="0">
                <a:latin typeface="Times New Roman"/>
                <a:cs typeface="Times New Roman"/>
              </a:rPr>
              <a:t> </a:t>
            </a:r>
            <a:r>
              <a:rPr sz="2400" dirty="0">
                <a:latin typeface="Times New Roman"/>
                <a:cs typeface="Times New Roman"/>
              </a:rPr>
              <a:t>IP</a:t>
            </a:r>
            <a:r>
              <a:rPr sz="2400" spc="-95" dirty="0">
                <a:latin typeface="Times New Roman"/>
                <a:cs typeface="Times New Roman"/>
              </a:rPr>
              <a:t> </a:t>
            </a:r>
            <a:r>
              <a:rPr sz="2400" dirty="0">
                <a:latin typeface="Times New Roman"/>
                <a:cs typeface="Times New Roman"/>
              </a:rPr>
              <a:t>based</a:t>
            </a:r>
            <a:r>
              <a:rPr sz="2400" spc="-25" dirty="0">
                <a:latin typeface="Times New Roman"/>
                <a:cs typeface="Times New Roman"/>
              </a:rPr>
              <a:t> </a:t>
            </a:r>
            <a:r>
              <a:rPr sz="2400" dirty="0">
                <a:latin typeface="Times New Roman"/>
                <a:cs typeface="Times New Roman"/>
              </a:rPr>
              <a:t>mobile</a:t>
            </a:r>
            <a:r>
              <a:rPr sz="2400" spc="-2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High</a:t>
            </a:r>
            <a:r>
              <a:rPr sz="2400" spc="-15" dirty="0">
                <a:latin typeface="Times New Roman"/>
                <a:cs typeface="Times New Roman"/>
              </a:rPr>
              <a:t> </a:t>
            </a:r>
            <a:r>
              <a:rPr sz="2400" dirty="0">
                <a:latin typeface="Times New Roman"/>
                <a:cs typeface="Times New Roman"/>
              </a:rPr>
              <a:t>speed,</a:t>
            </a:r>
            <a:r>
              <a:rPr sz="2400" spc="-15" dirty="0">
                <a:latin typeface="Times New Roman"/>
                <a:cs typeface="Times New Roman"/>
              </a:rPr>
              <a:t> </a:t>
            </a:r>
            <a:r>
              <a:rPr sz="2400" dirty="0">
                <a:latin typeface="Times New Roman"/>
                <a:cs typeface="Times New Roman"/>
              </a:rPr>
              <a:t>high</a:t>
            </a:r>
            <a:r>
              <a:rPr sz="2400" spc="-30" dirty="0">
                <a:latin typeface="Times New Roman"/>
                <a:cs typeface="Times New Roman"/>
              </a:rPr>
              <a:t> </a:t>
            </a:r>
            <a:r>
              <a:rPr sz="2400" spc="-10" dirty="0">
                <a:latin typeface="Times New Roman"/>
                <a:cs typeface="Times New Roman"/>
              </a:rPr>
              <a:t>capacity,</a:t>
            </a:r>
            <a:r>
              <a:rPr sz="2400" spc="-5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low</a:t>
            </a:r>
            <a:r>
              <a:rPr sz="2400" spc="-15" dirty="0">
                <a:latin typeface="Times New Roman"/>
                <a:cs typeface="Times New Roman"/>
              </a:rPr>
              <a:t> </a:t>
            </a:r>
            <a:r>
              <a:rPr sz="2400" spc="-10" dirty="0">
                <a:latin typeface="Times New Roman"/>
                <a:cs typeface="Times New Roman"/>
              </a:rPr>
              <a:t>cost‐per‐bit</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Global</a:t>
            </a:r>
            <a:r>
              <a:rPr sz="2400" spc="-15" dirty="0">
                <a:latin typeface="Times New Roman"/>
                <a:cs typeface="Times New Roman"/>
              </a:rPr>
              <a:t> </a:t>
            </a:r>
            <a:r>
              <a:rPr sz="2400" dirty="0">
                <a:latin typeface="Times New Roman"/>
                <a:cs typeface="Times New Roman"/>
              </a:rPr>
              <a:t>access,</a:t>
            </a:r>
            <a:r>
              <a:rPr sz="2400" spc="-40" dirty="0">
                <a:latin typeface="Times New Roman"/>
                <a:cs typeface="Times New Roman"/>
              </a:rPr>
              <a:t> </a:t>
            </a:r>
            <a:r>
              <a:rPr sz="2400" dirty="0">
                <a:latin typeface="Times New Roman"/>
                <a:cs typeface="Times New Roman"/>
              </a:rPr>
              <a:t>service</a:t>
            </a:r>
            <a:r>
              <a:rPr sz="2400" spc="-40" dirty="0">
                <a:latin typeface="Times New Roman"/>
                <a:cs typeface="Times New Roman"/>
              </a:rPr>
              <a:t> </a:t>
            </a:r>
            <a:r>
              <a:rPr sz="2400" spc="-10" dirty="0">
                <a:latin typeface="Times New Roman"/>
                <a:cs typeface="Times New Roman"/>
              </a:rPr>
              <a:t>portability,</a:t>
            </a:r>
            <a:r>
              <a:rPr sz="2400" spc="-5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scalable</a:t>
            </a:r>
            <a:r>
              <a:rPr sz="2400" spc="-60" dirty="0">
                <a:latin typeface="Times New Roman"/>
                <a:cs typeface="Times New Roman"/>
              </a:rPr>
              <a:t> </a:t>
            </a:r>
            <a:r>
              <a:rPr sz="2400" dirty="0">
                <a:latin typeface="Times New Roman"/>
                <a:cs typeface="Times New Roman"/>
              </a:rPr>
              <a:t>mobile</a:t>
            </a:r>
            <a:r>
              <a:rPr sz="2400" spc="-25" dirty="0">
                <a:latin typeface="Times New Roman"/>
                <a:cs typeface="Times New Roman"/>
              </a:rPr>
              <a:t> </a:t>
            </a:r>
            <a:r>
              <a:rPr sz="2400" spc="-10" dirty="0">
                <a:latin typeface="Times New Roman"/>
                <a:cs typeface="Times New Roman"/>
              </a:rPr>
              <a:t>services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Seamless</a:t>
            </a:r>
            <a:r>
              <a:rPr sz="2400" spc="-5" dirty="0">
                <a:latin typeface="Times New Roman"/>
                <a:cs typeface="Times New Roman"/>
              </a:rPr>
              <a:t> </a:t>
            </a:r>
            <a:r>
              <a:rPr sz="2400" dirty="0">
                <a:latin typeface="Times New Roman"/>
                <a:cs typeface="Times New Roman"/>
              </a:rPr>
              <a:t>switching,</a:t>
            </a:r>
            <a:r>
              <a:rPr sz="2400" spc="-3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variety</a:t>
            </a:r>
            <a:r>
              <a:rPr sz="2400" spc="-4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Quality</a:t>
            </a:r>
            <a:r>
              <a:rPr sz="2400" spc="-3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spc="-10" dirty="0">
                <a:latin typeface="Times New Roman"/>
                <a:cs typeface="Times New Roman"/>
              </a:rPr>
              <a:t>Service</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Better</a:t>
            </a:r>
            <a:r>
              <a:rPr sz="2400" spc="-50" dirty="0">
                <a:latin typeface="Times New Roman"/>
                <a:cs typeface="Times New Roman"/>
              </a:rPr>
              <a:t> </a:t>
            </a:r>
            <a:r>
              <a:rPr sz="2400" dirty="0">
                <a:latin typeface="Times New Roman"/>
                <a:cs typeface="Times New Roman"/>
              </a:rPr>
              <a:t>scheduling</a:t>
            </a:r>
            <a:r>
              <a:rPr sz="2400" spc="-35"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call‐admission‐control</a:t>
            </a:r>
            <a:r>
              <a:rPr sz="2400" spc="-45" dirty="0">
                <a:latin typeface="Times New Roman"/>
                <a:cs typeface="Times New Roman"/>
              </a:rPr>
              <a:t> </a:t>
            </a:r>
            <a:r>
              <a:rPr sz="2400" spc="-10" dirty="0">
                <a:latin typeface="Times New Roman"/>
                <a:cs typeface="Times New Roman"/>
              </a:rPr>
              <a:t>techniques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Better</a:t>
            </a:r>
            <a:r>
              <a:rPr sz="2400" spc="-35" dirty="0">
                <a:latin typeface="Times New Roman"/>
                <a:cs typeface="Times New Roman"/>
              </a:rPr>
              <a:t> </a:t>
            </a:r>
            <a:r>
              <a:rPr sz="2400" dirty="0">
                <a:latin typeface="Times New Roman"/>
                <a:cs typeface="Times New Roman"/>
              </a:rPr>
              <a:t>spectral</a:t>
            </a:r>
            <a:r>
              <a:rPr sz="2400" spc="-35" dirty="0">
                <a:latin typeface="Times New Roman"/>
                <a:cs typeface="Times New Roman"/>
              </a:rPr>
              <a:t> </a:t>
            </a:r>
            <a:r>
              <a:rPr sz="2400" spc="-10" dirty="0">
                <a:latin typeface="Times New Roman"/>
                <a:cs typeface="Times New Roman"/>
              </a:rPr>
              <a:t>efficiency</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Interoperability</a:t>
            </a:r>
            <a:r>
              <a:rPr sz="2400" spc="-50"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dirty="0">
                <a:latin typeface="Times New Roman"/>
                <a:cs typeface="Times New Roman"/>
              </a:rPr>
              <a:t>existing</a:t>
            </a:r>
            <a:r>
              <a:rPr sz="2400" spc="-45" dirty="0">
                <a:latin typeface="Times New Roman"/>
                <a:cs typeface="Times New Roman"/>
              </a:rPr>
              <a:t> </a:t>
            </a:r>
            <a:r>
              <a:rPr sz="2400" dirty="0">
                <a:latin typeface="Times New Roman"/>
                <a:cs typeface="Times New Roman"/>
              </a:rPr>
              <a:t>wireless</a:t>
            </a:r>
            <a:r>
              <a:rPr sz="2400" spc="-25" dirty="0">
                <a:latin typeface="Times New Roman"/>
                <a:cs typeface="Times New Roman"/>
              </a:rPr>
              <a:t> </a:t>
            </a:r>
            <a:r>
              <a:rPr sz="2400" spc="-10" dirty="0">
                <a:latin typeface="Times New Roman"/>
                <a:cs typeface="Times New Roman"/>
              </a:rPr>
              <a:t>standards</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Packet</a:t>
            </a:r>
            <a:r>
              <a:rPr sz="2400" spc="-30" dirty="0">
                <a:latin typeface="Times New Roman"/>
                <a:cs typeface="Times New Roman"/>
              </a:rPr>
              <a:t> </a:t>
            </a:r>
            <a:r>
              <a:rPr sz="2400" dirty="0">
                <a:latin typeface="Times New Roman"/>
                <a:cs typeface="Times New Roman"/>
              </a:rPr>
              <a:t>switched</a:t>
            </a:r>
            <a:r>
              <a:rPr sz="2400" spc="-5" dirty="0">
                <a:latin typeface="Times New Roman"/>
                <a:cs typeface="Times New Roman"/>
              </a:rPr>
              <a:t> </a:t>
            </a:r>
            <a:r>
              <a:rPr sz="2400" spc="-10" dirty="0">
                <a:latin typeface="Times New Roman"/>
                <a:cs typeface="Times New Roman"/>
              </a:rPr>
              <a:t>network</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74</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378917"/>
            <a:ext cx="2978785" cy="574675"/>
          </a:xfrm>
          <a:prstGeom prst="rect">
            <a:avLst/>
          </a:prstGeom>
        </p:spPr>
        <p:txBody>
          <a:bodyPr vert="horz" wrap="square" lIns="0" tIns="12700" rIns="0" bIns="0" rtlCol="0">
            <a:spAutoFit/>
          </a:bodyPr>
          <a:lstStyle/>
          <a:p>
            <a:pPr marL="12700">
              <a:lnSpc>
                <a:spcPct val="100000"/>
              </a:lnSpc>
              <a:spcBef>
                <a:spcPts val="100"/>
              </a:spcBef>
            </a:pPr>
            <a:r>
              <a:rPr spc="-145" dirty="0"/>
              <a:t>Features</a:t>
            </a:r>
            <a:r>
              <a:rPr spc="-245" dirty="0"/>
              <a:t> </a:t>
            </a:r>
            <a:r>
              <a:rPr spc="-95" dirty="0"/>
              <a:t>of</a:t>
            </a:r>
            <a:r>
              <a:rPr spc="-265" dirty="0"/>
              <a:t> </a:t>
            </a:r>
            <a:r>
              <a:rPr spc="-25" dirty="0"/>
              <a:t>4G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07984" cy="3391535"/>
          </a:xfrm>
          <a:prstGeom prst="rect">
            <a:avLst/>
          </a:prstGeom>
        </p:spPr>
        <p:txBody>
          <a:bodyPr vert="horz" wrap="square" lIns="0" tIns="85725" rIns="0" bIns="0" rtlCol="0">
            <a:spAutoFit/>
          </a:bodyPr>
          <a:lstStyle/>
          <a:p>
            <a:pPr marL="354965" indent="-342265">
              <a:lnSpc>
                <a:spcPct val="100000"/>
              </a:lnSpc>
              <a:spcBef>
                <a:spcPts val="675"/>
              </a:spcBef>
              <a:buClr>
                <a:srgbClr val="0F1141"/>
              </a:buClr>
              <a:buFont typeface="Arial MT"/>
              <a:buChar char="•"/>
              <a:tabLst>
                <a:tab pos="354965" algn="l"/>
              </a:tabLst>
            </a:pPr>
            <a:r>
              <a:rPr sz="2400" dirty="0">
                <a:latin typeface="Times New Roman"/>
                <a:cs typeface="Times New Roman"/>
              </a:rPr>
              <a:t>Affordable</a:t>
            </a:r>
            <a:r>
              <a:rPr sz="2400" spc="-65" dirty="0">
                <a:latin typeface="Times New Roman"/>
                <a:cs typeface="Times New Roman"/>
              </a:rPr>
              <a:t> </a:t>
            </a:r>
            <a:r>
              <a:rPr sz="2400" dirty="0">
                <a:latin typeface="Times New Roman"/>
                <a:cs typeface="Times New Roman"/>
              </a:rPr>
              <a:t>communication</a:t>
            </a:r>
            <a:r>
              <a:rPr sz="2400" spc="-75" dirty="0">
                <a:latin typeface="Times New Roman"/>
                <a:cs typeface="Times New Roman"/>
              </a:rPr>
              <a:t> </a:t>
            </a:r>
            <a:r>
              <a:rPr sz="2400" spc="-10" dirty="0">
                <a:latin typeface="Times New Roman"/>
                <a:cs typeface="Times New Roman"/>
              </a:rPr>
              <a:t>services.</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High</a:t>
            </a:r>
            <a:r>
              <a:rPr sz="2400" spc="-5" dirty="0">
                <a:latin typeface="Times New Roman"/>
                <a:cs typeface="Times New Roman"/>
              </a:rPr>
              <a:t> </a:t>
            </a:r>
            <a:r>
              <a:rPr sz="2400" dirty="0">
                <a:latin typeface="Times New Roman"/>
                <a:cs typeface="Times New Roman"/>
              </a:rPr>
              <a:t>speed,</a:t>
            </a:r>
            <a:r>
              <a:rPr sz="2400" spc="-5" dirty="0">
                <a:latin typeface="Times New Roman"/>
                <a:cs typeface="Times New Roman"/>
              </a:rPr>
              <a:t> </a:t>
            </a:r>
            <a:r>
              <a:rPr sz="2400" dirty="0">
                <a:latin typeface="Times New Roman"/>
                <a:cs typeface="Times New Roman"/>
              </a:rPr>
              <a:t>high</a:t>
            </a:r>
            <a:r>
              <a:rPr sz="2400" spc="-20" dirty="0">
                <a:latin typeface="Times New Roman"/>
                <a:cs typeface="Times New Roman"/>
              </a:rPr>
              <a:t> </a:t>
            </a:r>
            <a:r>
              <a:rPr sz="2400" dirty="0">
                <a:latin typeface="Times New Roman"/>
                <a:cs typeface="Times New Roman"/>
              </a:rPr>
              <a:t>capacity</a:t>
            </a:r>
            <a:r>
              <a:rPr sz="2400" spc="-3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low</a:t>
            </a:r>
            <a:r>
              <a:rPr sz="2400" spc="-5" dirty="0">
                <a:latin typeface="Times New Roman"/>
                <a:cs typeface="Times New Roman"/>
              </a:rPr>
              <a:t> </a:t>
            </a:r>
            <a:r>
              <a:rPr sz="2400" dirty="0">
                <a:latin typeface="Times New Roman"/>
                <a:cs typeface="Times New Roman"/>
              </a:rPr>
              <a:t>cost</a:t>
            </a:r>
            <a:r>
              <a:rPr sz="2400" spc="-25" dirty="0">
                <a:latin typeface="Times New Roman"/>
                <a:cs typeface="Times New Roman"/>
              </a:rPr>
              <a:t> </a:t>
            </a:r>
            <a:r>
              <a:rPr sz="2400" dirty="0">
                <a:latin typeface="Times New Roman"/>
                <a:cs typeface="Times New Roman"/>
              </a:rPr>
              <a:t>per </a:t>
            </a:r>
            <a:r>
              <a:rPr sz="2400" spc="-20" dirty="0">
                <a:latin typeface="Times New Roman"/>
                <a:cs typeface="Times New Roman"/>
              </a:rPr>
              <a:t>bit.</a:t>
            </a:r>
            <a:endParaRPr sz="2400">
              <a:latin typeface="Times New Roman"/>
              <a:cs typeface="Times New Roman"/>
            </a:endParaRPr>
          </a:p>
          <a:p>
            <a:pPr marL="355600" marR="361950" indent="-342900">
              <a:lnSpc>
                <a:spcPct val="100000"/>
              </a:lnSpc>
              <a:spcBef>
                <a:spcPts val="580"/>
              </a:spcBef>
              <a:buClr>
                <a:srgbClr val="0F1141"/>
              </a:buClr>
              <a:buFont typeface="Arial MT"/>
              <a:buChar char="•"/>
              <a:tabLst>
                <a:tab pos="355600" algn="l"/>
              </a:tabLst>
            </a:pPr>
            <a:r>
              <a:rPr sz="2400" dirty="0">
                <a:latin typeface="Times New Roman"/>
                <a:cs typeface="Times New Roman"/>
              </a:rPr>
              <a:t>Support</a:t>
            </a:r>
            <a:r>
              <a:rPr sz="2400" spc="-25"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interactive</a:t>
            </a:r>
            <a:r>
              <a:rPr sz="2400" spc="-60" dirty="0">
                <a:latin typeface="Times New Roman"/>
                <a:cs typeface="Times New Roman"/>
              </a:rPr>
              <a:t> </a:t>
            </a:r>
            <a:r>
              <a:rPr sz="2400" dirty="0">
                <a:latin typeface="Times New Roman"/>
                <a:cs typeface="Times New Roman"/>
              </a:rPr>
              <a:t>multimedia,</a:t>
            </a:r>
            <a:r>
              <a:rPr sz="2400" spc="-20" dirty="0">
                <a:latin typeface="Times New Roman"/>
                <a:cs typeface="Times New Roman"/>
              </a:rPr>
              <a:t> </a:t>
            </a:r>
            <a:r>
              <a:rPr sz="2400" dirty="0">
                <a:latin typeface="Times New Roman"/>
                <a:cs typeface="Times New Roman"/>
              </a:rPr>
              <a:t>voice</a:t>
            </a:r>
            <a:r>
              <a:rPr sz="2400" spc="-3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streaming</a:t>
            </a:r>
            <a:r>
              <a:rPr sz="2400" spc="-30" dirty="0">
                <a:latin typeface="Times New Roman"/>
                <a:cs typeface="Times New Roman"/>
              </a:rPr>
              <a:t> </a:t>
            </a:r>
            <a:r>
              <a:rPr sz="2400" spc="-10" dirty="0">
                <a:latin typeface="Times New Roman"/>
                <a:cs typeface="Times New Roman"/>
              </a:rPr>
              <a:t>video, </a:t>
            </a:r>
            <a:r>
              <a:rPr sz="2400" dirty="0">
                <a:latin typeface="Times New Roman"/>
                <a:cs typeface="Times New Roman"/>
              </a:rPr>
              <a:t>Internet</a:t>
            </a:r>
            <a:r>
              <a:rPr sz="2400" spc="-4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other broadband</a:t>
            </a:r>
            <a:r>
              <a:rPr sz="2400" spc="-10" dirty="0">
                <a:latin typeface="Times New Roman"/>
                <a:cs typeface="Times New Roman"/>
              </a:rPr>
              <a:t> services.</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dirty="0">
                <a:latin typeface="Times New Roman"/>
                <a:cs typeface="Times New Roman"/>
              </a:rPr>
              <a:t>Global</a:t>
            </a:r>
            <a:r>
              <a:rPr sz="2400" spc="-15" dirty="0">
                <a:latin typeface="Times New Roman"/>
                <a:cs typeface="Times New Roman"/>
              </a:rPr>
              <a:t> </a:t>
            </a:r>
            <a:r>
              <a:rPr sz="2400" dirty="0">
                <a:latin typeface="Times New Roman"/>
                <a:cs typeface="Times New Roman"/>
              </a:rPr>
              <a:t>access,</a:t>
            </a:r>
            <a:r>
              <a:rPr sz="2400" spc="-30" dirty="0">
                <a:latin typeface="Times New Roman"/>
                <a:cs typeface="Times New Roman"/>
              </a:rPr>
              <a:t> </a:t>
            </a:r>
            <a:r>
              <a:rPr sz="2400" dirty="0">
                <a:latin typeface="Times New Roman"/>
                <a:cs typeface="Times New Roman"/>
              </a:rPr>
              <a:t>Service</a:t>
            </a:r>
            <a:r>
              <a:rPr sz="2400" spc="-25" dirty="0">
                <a:latin typeface="Times New Roman"/>
                <a:cs typeface="Times New Roman"/>
              </a:rPr>
              <a:t> </a:t>
            </a:r>
            <a:r>
              <a:rPr sz="2400" dirty="0">
                <a:latin typeface="Times New Roman"/>
                <a:cs typeface="Times New Roman"/>
              </a:rPr>
              <a:t>portability</a:t>
            </a:r>
            <a:r>
              <a:rPr sz="2400" spc="-4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scalable</a:t>
            </a:r>
            <a:r>
              <a:rPr sz="2400" spc="-40" dirty="0">
                <a:latin typeface="Times New Roman"/>
                <a:cs typeface="Times New Roman"/>
              </a:rPr>
              <a:t> </a:t>
            </a:r>
            <a:r>
              <a:rPr sz="2400" dirty="0">
                <a:latin typeface="Times New Roman"/>
                <a:cs typeface="Times New Roman"/>
              </a:rPr>
              <a:t>mobile</a:t>
            </a:r>
            <a:r>
              <a:rPr sz="2400" spc="-10" dirty="0">
                <a:latin typeface="Times New Roman"/>
                <a:cs typeface="Times New Roman"/>
              </a:rPr>
              <a:t> services </a:t>
            </a:r>
            <a:r>
              <a:rPr sz="2400" dirty="0">
                <a:latin typeface="Times New Roman"/>
                <a:cs typeface="Times New Roman"/>
              </a:rPr>
              <a:t>and variety</a:t>
            </a:r>
            <a:r>
              <a:rPr sz="2400" spc="-3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quality</a:t>
            </a:r>
            <a:r>
              <a:rPr sz="2400" spc="-3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services</a:t>
            </a:r>
            <a:r>
              <a:rPr sz="2400" spc="-20" dirty="0">
                <a:latin typeface="Times New Roman"/>
                <a:cs typeface="Times New Roman"/>
              </a:rPr>
              <a:t> </a:t>
            </a:r>
            <a:r>
              <a:rPr sz="2400" spc="-10" dirty="0">
                <a:latin typeface="Times New Roman"/>
                <a:cs typeface="Times New Roman"/>
              </a:rPr>
              <a:t>provided.</a:t>
            </a:r>
            <a:endParaRPr sz="2400">
              <a:latin typeface="Times New Roman"/>
              <a:cs typeface="Times New Roman"/>
            </a:endParaRPr>
          </a:p>
          <a:p>
            <a:pPr marL="354965" indent="-342265">
              <a:lnSpc>
                <a:spcPct val="100000"/>
              </a:lnSpc>
              <a:spcBef>
                <a:spcPts val="580"/>
              </a:spcBef>
              <a:buClr>
                <a:srgbClr val="0F1141"/>
              </a:buClr>
              <a:buFont typeface="Arial MT"/>
              <a:buChar char="•"/>
              <a:tabLst>
                <a:tab pos="354965" algn="l"/>
              </a:tabLst>
            </a:pPr>
            <a:r>
              <a:rPr sz="2400" dirty="0">
                <a:latin typeface="Times New Roman"/>
                <a:cs typeface="Times New Roman"/>
              </a:rPr>
              <a:t>Better</a:t>
            </a:r>
            <a:r>
              <a:rPr sz="2400" spc="-35" dirty="0">
                <a:latin typeface="Times New Roman"/>
                <a:cs typeface="Times New Roman"/>
              </a:rPr>
              <a:t> </a:t>
            </a:r>
            <a:r>
              <a:rPr sz="2400" dirty="0">
                <a:latin typeface="Times New Roman"/>
                <a:cs typeface="Times New Roman"/>
              </a:rPr>
              <a:t>spectral</a:t>
            </a:r>
            <a:r>
              <a:rPr sz="2400" spc="-35" dirty="0">
                <a:latin typeface="Times New Roman"/>
                <a:cs typeface="Times New Roman"/>
              </a:rPr>
              <a:t> </a:t>
            </a:r>
            <a:r>
              <a:rPr sz="2400" spc="-10" dirty="0">
                <a:latin typeface="Times New Roman"/>
                <a:cs typeface="Times New Roman"/>
              </a:rPr>
              <a:t>efficiency.</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seamless</a:t>
            </a:r>
            <a:r>
              <a:rPr sz="2400" spc="-30" dirty="0">
                <a:latin typeface="Times New Roman"/>
                <a:cs typeface="Times New Roman"/>
              </a:rPr>
              <a:t> </a:t>
            </a:r>
            <a:r>
              <a:rPr sz="2400" dirty="0">
                <a:latin typeface="Times New Roman"/>
                <a:cs typeface="Times New Roman"/>
              </a:rPr>
              <a:t>network</a:t>
            </a:r>
            <a:r>
              <a:rPr sz="2400" spc="-2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multiple</a:t>
            </a:r>
            <a:r>
              <a:rPr sz="2400" spc="-40" dirty="0">
                <a:latin typeface="Times New Roman"/>
                <a:cs typeface="Times New Roman"/>
              </a:rPr>
              <a:t> </a:t>
            </a:r>
            <a:r>
              <a:rPr sz="2400" dirty="0">
                <a:latin typeface="Times New Roman"/>
                <a:cs typeface="Times New Roman"/>
              </a:rPr>
              <a:t>protocol</a:t>
            </a:r>
            <a:r>
              <a:rPr sz="2400" spc="-4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air</a:t>
            </a:r>
            <a:r>
              <a:rPr sz="2400" spc="-40" dirty="0">
                <a:latin typeface="Times New Roman"/>
                <a:cs typeface="Times New Roman"/>
              </a:rPr>
              <a:t> </a:t>
            </a:r>
            <a:r>
              <a:rPr sz="2400" spc="-10" dirty="0">
                <a:latin typeface="Times New Roman"/>
                <a:cs typeface="Times New Roman"/>
              </a:rPr>
              <a:t>interfaces.</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75</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378917"/>
            <a:ext cx="3626485" cy="574675"/>
          </a:xfrm>
          <a:prstGeom prst="rect">
            <a:avLst/>
          </a:prstGeom>
        </p:spPr>
        <p:txBody>
          <a:bodyPr vert="horz" wrap="square" lIns="0" tIns="12700" rIns="0" bIns="0" rtlCol="0">
            <a:spAutoFit/>
          </a:bodyPr>
          <a:lstStyle/>
          <a:p>
            <a:pPr marL="12700">
              <a:lnSpc>
                <a:spcPct val="100000"/>
              </a:lnSpc>
              <a:spcBef>
                <a:spcPts val="100"/>
              </a:spcBef>
            </a:pPr>
            <a:r>
              <a:rPr spc="-150" dirty="0"/>
              <a:t>Advantages</a:t>
            </a:r>
            <a:r>
              <a:rPr spc="-220" dirty="0"/>
              <a:t> </a:t>
            </a:r>
            <a:r>
              <a:rPr spc="-95" dirty="0"/>
              <a:t>of</a:t>
            </a:r>
            <a:r>
              <a:rPr spc="-254" dirty="0"/>
              <a:t> </a:t>
            </a:r>
            <a:r>
              <a:rPr spc="-35" dirty="0"/>
              <a:t>4G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763" y="1461525"/>
            <a:ext cx="8882172" cy="4524391"/>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76</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48625" cy="3537585"/>
          </a:xfrm>
          <a:prstGeom prst="rect">
            <a:avLst/>
          </a:prstGeom>
        </p:spPr>
        <p:txBody>
          <a:bodyPr vert="horz" wrap="square" lIns="0" tIns="12700" rIns="0" bIns="0" rtlCol="0">
            <a:spAutoFit/>
          </a:bodyPr>
          <a:lstStyle/>
          <a:p>
            <a:pPr marL="12700" marR="5080">
              <a:lnSpc>
                <a:spcPct val="120000"/>
              </a:lnSpc>
              <a:spcBef>
                <a:spcPts val="100"/>
              </a:spcBef>
            </a:pPr>
            <a:r>
              <a:rPr sz="2400" i="1" dirty="0">
                <a:latin typeface="Times New Roman"/>
                <a:cs typeface="Times New Roman"/>
              </a:rPr>
              <a:t>Handoff:</a:t>
            </a:r>
            <a:r>
              <a:rPr sz="2400" i="1" spc="-5" dirty="0">
                <a:latin typeface="Times New Roman"/>
                <a:cs typeface="Times New Roman"/>
              </a:rPr>
              <a:t> </a:t>
            </a:r>
            <a:r>
              <a:rPr sz="2400" dirty="0">
                <a:latin typeface="Times New Roman"/>
                <a:cs typeface="Times New Roman"/>
              </a:rPr>
              <a:t>A</a:t>
            </a:r>
            <a:r>
              <a:rPr sz="2400" spc="-135" dirty="0">
                <a:latin typeface="Times New Roman"/>
                <a:cs typeface="Times New Roman"/>
              </a:rPr>
              <a:t> </a:t>
            </a:r>
            <a:r>
              <a:rPr sz="2400" dirty="0">
                <a:latin typeface="Times New Roman"/>
                <a:cs typeface="Times New Roman"/>
              </a:rPr>
              <a:t>crucial</a:t>
            </a:r>
            <a:r>
              <a:rPr sz="2400" spc="-50" dirty="0">
                <a:latin typeface="Times New Roman"/>
                <a:cs typeface="Times New Roman"/>
              </a:rPr>
              <a:t> </a:t>
            </a:r>
            <a:r>
              <a:rPr sz="2400" dirty="0">
                <a:latin typeface="Times New Roman"/>
                <a:cs typeface="Times New Roman"/>
              </a:rPr>
              <a:t>component</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cellular</a:t>
            </a:r>
            <a:r>
              <a:rPr sz="2400" spc="-50" dirty="0">
                <a:latin typeface="Times New Roman"/>
                <a:cs typeface="Times New Roman"/>
              </a:rPr>
              <a:t> </a:t>
            </a:r>
            <a:r>
              <a:rPr sz="2400" dirty="0">
                <a:latin typeface="Times New Roman"/>
                <a:cs typeface="Times New Roman"/>
              </a:rPr>
              <a:t>concept</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spc="-25" dirty="0">
                <a:latin typeface="Times New Roman"/>
                <a:cs typeface="Times New Roman"/>
              </a:rPr>
              <a:t>the</a:t>
            </a:r>
            <a:r>
              <a:rPr sz="2400" spc="600" dirty="0">
                <a:latin typeface="Times New Roman"/>
                <a:cs typeface="Times New Roman"/>
              </a:rPr>
              <a:t> </a:t>
            </a:r>
            <a:r>
              <a:rPr sz="2400" dirty="0">
                <a:latin typeface="Times New Roman"/>
                <a:cs typeface="Times New Roman"/>
              </a:rPr>
              <a:t>notion</a:t>
            </a:r>
            <a:r>
              <a:rPr sz="2400" spc="-6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handoffs.</a:t>
            </a:r>
            <a:r>
              <a:rPr sz="2400" spc="-40" dirty="0">
                <a:latin typeface="Times New Roman"/>
                <a:cs typeface="Times New Roman"/>
              </a:rPr>
              <a:t> </a:t>
            </a:r>
            <a:r>
              <a:rPr sz="2400" dirty="0">
                <a:latin typeface="Times New Roman"/>
                <a:cs typeface="Times New Roman"/>
              </a:rPr>
              <a:t>Handoff</a:t>
            </a:r>
            <a:r>
              <a:rPr sz="2400" spc="-15"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the</a:t>
            </a:r>
            <a:r>
              <a:rPr sz="2400" spc="-45" dirty="0">
                <a:latin typeface="Times New Roman"/>
                <a:cs typeface="Times New Roman"/>
              </a:rPr>
              <a:t> </a:t>
            </a:r>
            <a:r>
              <a:rPr sz="2400" dirty="0">
                <a:latin typeface="Times New Roman"/>
                <a:cs typeface="Times New Roman"/>
              </a:rPr>
              <a:t>process</a:t>
            </a:r>
            <a:r>
              <a:rPr sz="2400" spc="-50"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dirty="0">
                <a:latin typeface="Times New Roman"/>
                <a:cs typeface="Times New Roman"/>
              </a:rPr>
              <a:t>transferring</a:t>
            </a:r>
            <a:r>
              <a:rPr sz="2400" spc="-55" dirty="0">
                <a:latin typeface="Times New Roman"/>
                <a:cs typeface="Times New Roman"/>
              </a:rPr>
              <a:t> </a:t>
            </a:r>
            <a:r>
              <a:rPr sz="2400" spc="-25" dirty="0">
                <a:latin typeface="Times New Roman"/>
                <a:cs typeface="Times New Roman"/>
              </a:rPr>
              <a:t>an </a:t>
            </a:r>
            <a:r>
              <a:rPr sz="2400" dirty="0">
                <a:latin typeface="Times New Roman"/>
                <a:cs typeface="Times New Roman"/>
              </a:rPr>
              <a:t>active</a:t>
            </a:r>
            <a:r>
              <a:rPr sz="2400" spc="-45" dirty="0">
                <a:latin typeface="Times New Roman"/>
                <a:cs typeface="Times New Roman"/>
              </a:rPr>
              <a:t> </a:t>
            </a:r>
            <a:r>
              <a:rPr sz="2400" dirty="0">
                <a:latin typeface="Times New Roman"/>
                <a:cs typeface="Times New Roman"/>
              </a:rPr>
              <a:t>call</a:t>
            </a:r>
            <a:r>
              <a:rPr sz="2400" spc="-25" dirty="0">
                <a:latin typeface="Times New Roman"/>
                <a:cs typeface="Times New Roman"/>
              </a:rPr>
              <a:t> </a:t>
            </a:r>
            <a:r>
              <a:rPr sz="2400" dirty="0">
                <a:latin typeface="Times New Roman"/>
                <a:cs typeface="Times New Roman"/>
              </a:rPr>
              <a:t>from</a:t>
            </a:r>
            <a:r>
              <a:rPr sz="2400" spc="-25" dirty="0">
                <a:latin typeface="Times New Roman"/>
                <a:cs typeface="Times New Roman"/>
              </a:rPr>
              <a:t> </a:t>
            </a:r>
            <a:r>
              <a:rPr sz="2400" dirty="0">
                <a:latin typeface="Times New Roman"/>
                <a:cs typeface="Times New Roman"/>
              </a:rPr>
              <a:t>one</a:t>
            </a:r>
            <a:r>
              <a:rPr sz="2400" spc="-5" dirty="0">
                <a:latin typeface="Times New Roman"/>
                <a:cs typeface="Times New Roman"/>
              </a:rPr>
              <a:t> </a:t>
            </a:r>
            <a:r>
              <a:rPr sz="2400" dirty="0">
                <a:latin typeface="Times New Roman"/>
                <a:cs typeface="Times New Roman"/>
              </a:rPr>
              <a:t>cell</a:t>
            </a:r>
            <a:r>
              <a:rPr sz="2400" spc="-3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another</a:t>
            </a:r>
            <a:r>
              <a:rPr sz="2400" spc="-25" dirty="0">
                <a:latin typeface="Times New Roman"/>
                <a:cs typeface="Times New Roman"/>
              </a:rPr>
              <a:t> </a:t>
            </a:r>
            <a:r>
              <a:rPr sz="2400" dirty="0">
                <a:latin typeface="Times New Roman"/>
                <a:cs typeface="Times New Roman"/>
              </a:rPr>
              <a:t>as</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mobile</a:t>
            </a:r>
            <a:r>
              <a:rPr sz="2400" spc="-15" dirty="0">
                <a:latin typeface="Times New Roman"/>
                <a:cs typeface="Times New Roman"/>
              </a:rPr>
              <a:t> </a:t>
            </a:r>
            <a:r>
              <a:rPr sz="2400" dirty="0">
                <a:latin typeface="Times New Roman"/>
                <a:cs typeface="Times New Roman"/>
              </a:rPr>
              <a:t>unit</a:t>
            </a:r>
            <a:r>
              <a:rPr sz="2400" spc="-30" dirty="0">
                <a:latin typeface="Times New Roman"/>
                <a:cs typeface="Times New Roman"/>
              </a:rPr>
              <a:t> </a:t>
            </a:r>
            <a:r>
              <a:rPr sz="2400" dirty="0">
                <a:latin typeface="Times New Roman"/>
                <a:cs typeface="Times New Roman"/>
              </a:rPr>
              <a:t>moves</a:t>
            </a:r>
            <a:r>
              <a:rPr sz="2400" spc="5" dirty="0">
                <a:latin typeface="Times New Roman"/>
                <a:cs typeface="Times New Roman"/>
              </a:rPr>
              <a:t> </a:t>
            </a:r>
            <a:r>
              <a:rPr sz="2400" spc="-20" dirty="0">
                <a:latin typeface="Times New Roman"/>
                <a:cs typeface="Times New Roman"/>
              </a:rPr>
              <a:t>from </a:t>
            </a:r>
            <a:r>
              <a:rPr sz="2400" dirty="0">
                <a:latin typeface="Times New Roman"/>
                <a:cs typeface="Times New Roman"/>
              </a:rPr>
              <a:t>one cell</a:t>
            </a:r>
            <a:r>
              <a:rPr sz="2400" spc="-3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other.</a:t>
            </a:r>
            <a:endParaRPr sz="2400">
              <a:latin typeface="Times New Roman"/>
              <a:cs typeface="Times New Roman"/>
            </a:endParaRPr>
          </a:p>
          <a:p>
            <a:pPr marL="12700" marR="4683125">
              <a:lnSpc>
                <a:spcPts val="3460"/>
              </a:lnSpc>
              <a:spcBef>
                <a:spcPts val="204"/>
              </a:spcBef>
            </a:pPr>
            <a:r>
              <a:rPr sz="2400" dirty="0">
                <a:latin typeface="Times New Roman"/>
                <a:cs typeface="Times New Roman"/>
              </a:rPr>
              <a:t>Handoff</a:t>
            </a:r>
            <a:r>
              <a:rPr sz="2400" spc="-75" dirty="0">
                <a:latin typeface="Times New Roman"/>
                <a:cs typeface="Times New Roman"/>
              </a:rPr>
              <a:t> </a:t>
            </a:r>
            <a:r>
              <a:rPr sz="2400" dirty="0">
                <a:latin typeface="Times New Roman"/>
                <a:cs typeface="Times New Roman"/>
              </a:rPr>
              <a:t>operation</a:t>
            </a:r>
            <a:r>
              <a:rPr sz="2400" spc="-100" dirty="0">
                <a:latin typeface="Times New Roman"/>
                <a:cs typeface="Times New Roman"/>
              </a:rPr>
              <a:t> </a:t>
            </a:r>
            <a:r>
              <a:rPr sz="2400" spc="-10" dirty="0">
                <a:latin typeface="Times New Roman"/>
                <a:cs typeface="Times New Roman"/>
              </a:rPr>
              <a:t>involves </a:t>
            </a:r>
            <a:r>
              <a:rPr sz="2400" dirty="0">
                <a:latin typeface="Times New Roman"/>
                <a:cs typeface="Times New Roman"/>
              </a:rPr>
              <a:t>identifying</a:t>
            </a:r>
            <a:r>
              <a:rPr sz="2400" spc="-5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new</a:t>
            </a:r>
            <a:r>
              <a:rPr sz="2400" spc="-5" dirty="0">
                <a:latin typeface="Times New Roman"/>
                <a:cs typeface="Times New Roman"/>
              </a:rPr>
              <a:t> </a:t>
            </a:r>
            <a:r>
              <a:rPr sz="2400" dirty="0">
                <a:latin typeface="Times New Roman"/>
                <a:cs typeface="Times New Roman"/>
              </a:rPr>
              <a:t>BS</a:t>
            </a:r>
            <a:r>
              <a:rPr sz="2400" spc="-5" dirty="0">
                <a:latin typeface="Times New Roman"/>
                <a:cs typeface="Times New Roman"/>
              </a:rPr>
              <a:t> </a:t>
            </a:r>
            <a:r>
              <a:rPr sz="2400" spc="-25" dirty="0">
                <a:latin typeface="Times New Roman"/>
                <a:cs typeface="Times New Roman"/>
              </a:rPr>
              <a:t>and</a:t>
            </a:r>
            <a:endParaRPr sz="2400">
              <a:latin typeface="Times New Roman"/>
              <a:cs typeface="Times New Roman"/>
            </a:endParaRPr>
          </a:p>
          <a:p>
            <a:pPr marL="12700">
              <a:lnSpc>
                <a:spcPct val="100000"/>
              </a:lnSpc>
              <a:spcBef>
                <a:spcPts val="365"/>
              </a:spcBef>
            </a:pPr>
            <a:r>
              <a:rPr sz="2400" dirty="0">
                <a:latin typeface="Times New Roman"/>
                <a:cs typeface="Times New Roman"/>
              </a:rPr>
              <a:t>allocation</a:t>
            </a:r>
            <a:r>
              <a:rPr sz="2400" spc="-6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voice</a:t>
            </a:r>
            <a:r>
              <a:rPr sz="2400" spc="-35" dirty="0">
                <a:latin typeface="Times New Roman"/>
                <a:cs typeface="Times New Roman"/>
              </a:rPr>
              <a:t> </a:t>
            </a:r>
            <a:r>
              <a:rPr sz="2400" spc="-25" dirty="0">
                <a:latin typeface="Times New Roman"/>
                <a:cs typeface="Times New Roman"/>
              </a:rPr>
              <a:t>and</a:t>
            </a:r>
            <a:endParaRPr sz="2400">
              <a:latin typeface="Times New Roman"/>
              <a:cs typeface="Times New Roman"/>
            </a:endParaRPr>
          </a:p>
          <a:p>
            <a:pPr marL="12700">
              <a:lnSpc>
                <a:spcPct val="100000"/>
              </a:lnSpc>
              <a:spcBef>
                <a:spcPts val="575"/>
              </a:spcBef>
            </a:pPr>
            <a:r>
              <a:rPr sz="2400" dirty="0">
                <a:latin typeface="Times New Roman"/>
                <a:cs typeface="Times New Roman"/>
              </a:rPr>
              <a:t>control</a:t>
            </a:r>
            <a:r>
              <a:rPr sz="2400" spc="-30" dirty="0">
                <a:latin typeface="Times New Roman"/>
                <a:cs typeface="Times New Roman"/>
              </a:rPr>
              <a:t> </a:t>
            </a:r>
            <a:r>
              <a:rPr sz="2400" dirty="0">
                <a:latin typeface="Times New Roman"/>
                <a:cs typeface="Times New Roman"/>
              </a:rPr>
              <a:t>signals</a:t>
            </a:r>
            <a:r>
              <a:rPr sz="2400" spc="-15" dirty="0">
                <a:latin typeface="Times New Roman"/>
                <a:cs typeface="Times New Roman"/>
              </a:rPr>
              <a:t> </a:t>
            </a:r>
            <a:r>
              <a:rPr sz="2400" spc="-10" dirty="0">
                <a:latin typeface="Times New Roman"/>
                <a:cs typeface="Times New Roman"/>
              </a:rPr>
              <a:t>associated.</a:t>
            </a:r>
            <a:endParaRPr sz="2400">
              <a:latin typeface="Times New Roman"/>
              <a:cs typeface="Times New Roman"/>
            </a:endParaRPr>
          </a:p>
        </p:txBody>
      </p:sp>
      <p:pic>
        <p:nvPicPr>
          <p:cNvPr id="3" name="object 3"/>
          <p:cNvPicPr/>
          <p:nvPr/>
        </p:nvPicPr>
        <p:blipFill>
          <a:blip r:embed="rId2" cstate="print"/>
          <a:stretch>
            <a:fillRect/>
          </a:stretch>
        </p:blipFill>
        <p:spPr>
          <a:xfrm>
            <a:off x="4152900" y="3018612"/>
            <a:ext cx="3933825" cy="341947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77</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C39BF-D9F4-B39D-5EDE-3A55635E30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5B84AA1-5945-6FCA-F205-C582A3E83C5A}"/>
              </a:ext>
            </a:extLst>
          </p:cNvPr>
          <p:cNvSpPr txBox="1"/>
          <p:nvPr/>
        </p:nvSpPr>
        <p:spPr>
          <a:xfrm>
            <a:off x="383540" y="1443355"/>
            <a:ext cx="8048625" cy="4641655"/>
          </a:xfrm>
          <a:prstGeom prst="rect">
            <a:avLst/>
          </a:prstGeom>
        </p:spPr>
        <p:txBody>
          <a:bodyPr vert="horz" wrap="square" lIns="0" tIns="12700" rIns="0" bIns="0" rtlCol="0">
            <a:spAutoFit/>
          </a:bodyPr>
          <a:lstStyle/>
          <a:p>
            <a:pPr marL="12700" marR="5080">
              <a:lnSpc>
                <a:spcPct val="120000"/>
              </a:lnSpc>
              <a:spcBef>
                <a:spcPts val="100"/>
              </a:spcBef>
            </a:pPr>
            <a:r>
              <a:rPr lang="en-US" sz="1600" b="1" dirty="0"/>
              <a:t>Handoff</a:t>
            </a:r>
            <a:r>
              <a:rPr lang="en-US" sz="1600" dirty="0"/>
              <a:t> (or </a:t>
            </a:r>
            <a:r>
              <a:rPr lang="en-US" sz="1600" b="1" dirty="0"/>
              <a:t>handover</a:t>
            </a:r>
            <a:r>
              <a:rPr lang="en-US" sz="1600" dirty="0"/>
              <a:t>) is the process of transferring an </a:t>
            </a:r>
            <a:r>
              <a:rPr lang="en-US" sz="1600" b="1" dirty="0"/>
              <a:t>active call</a:t>
            </a:r>
            <a:r>
              <a:rPr lang="en-US" sz="1600" dirty="0"/>
              <a:t> or data session from one cell (base station) to another </a:t>
            </a:r>
            <a:r>
              <a:rPr lang="en-US" sz="1600" b="1" dirty="0"/>
              <a:t>without interrupting</a:t>
            </a:r>
            <a:r>
              <a:rPr lang="en-US" sz="1600" dirty="0"/>
              <a:t> the service as the user moves.</a:t>
            </a:r>
          </a:p>
          <a:p>
            <a:pPr marL="12700" marR="5080">
              <a:lnSpc>
                <a:spcPct val="120000"/>
              </a:lnSpc>
              <a:spcBef>
                <a:spcPts val="100"/>
              </a:spcBef>
            </a:pPr>
            <a:endParaRPr lang="en-US" sz="1600" dirty="0"/>
          </a:p>
          <a:p>
            <a:pPr>
              <a:buNone/>
            </a:pPr>
            <a:r>
              <a:rPr lang="en-US" sz="1600" b="1" dirty="0"/>
              <a:t>Why Handoff is Needed</a:t>
            </a:r>
          </a:p>
          <a:p>
            <a:pPr>
              <a:buFont typeface="Arial" panose="020B0604020202020204" pitchFamily="34" charset="0"/>
              <a:buChar char="•"/>
            </a:pPr>
            <a:r>
              <a:rPr lang="en-US" sz="1600" dirty="0"/>
              <a:t>When a mobile user moves </a:t>
            </a:r>
            <a:r>
              <a:rPr lang="en-US" sz="1600" b="1" dirty="0"/>
              <a:t>out of the coverage</a:t>
            </a:r>
            <a:r>
              <a:rPr lang="en-US" sz="1600" dirty="0"/>
              <a:t> area of one cell and into another.</a:t>
            </a:r>
          </a:p>
          <a:p>
            <a:pPr>
              <a:buFont typeface="Arial" panose="020B0604020202020204" pitchFamily="34" charset="0"/>
              <a:buChar char="•"/>
            </a:pPr>
            <a:r>
              <a:rPr lang="en-US" sz="1600" dirty="0"/>
              <a:t>To </a:t>
            </a:r>
            <a:r>
              <a:rPr lang="en-US" sz="1600" b="1" dirty="0"/>
              <a:t>maintain call quality</a:t>
            </a:r>
            <a:r>
              <a:rPr lang="en-US" sz="1600" dirty="0"/>
              <a:t> and avoid dropped calls.</a:t>
            </a:r>
          </a:p>
          <a:p>
            <a:endParaRPr lang="en-US" sz="1600" dirty="0"/>
          </a:p>
          <a:p>
            <a:pPr>
              <a:buNone/>
            </a:pPr>
            <a:r>
              <a:rPr lang="en-US" sz="1600" b="1" dirty="0"/>
              <a:t>Steps in the Handoff Process</a:t>
            </a:r>
          </a:p>
          <a:p>
            <a:pPr>
              <a:buFont typeface="+mj-lt"/>
              <a:buAutoNum type="arabicPeriod"/>
            </a:pPr>
            <a:r>
              <a:rPr lang="en-US" sz="1600" b="1" dirty="0"/>
              <a:t>Detection</a:t>
            </a:r>
            <a:r>
              <a:rPr lang="en-US" sz="1600" dirty="0"/>
              <a:t>: Mobile device or base station (BS1) detects weakening signal.</a:t>
            </a:r>
          </a:p>
          <a:p>
            <a:pPr>
              <a:buFont typeface="+mj-lt"/>
              <a:buAutoNum type="arabicPeriod"/>
            </a:pPr>
            <a:r>
              <a:rPr lang="en-US" sz="1600" b="1" dirty="0"/>
              <a:t>Initiation</a:t>
            </a:r>
            <a:r>
              <a:rPr lang="en-US" sz="1600" dirty="0"/>
              <a:t>: System identifies a stronger signal from a nearby base station (BS2).</a:t>
            </a:r>
          </a:p>
          <a:p>
            <a:pPr>
              <a:buFont typeface="+mj-lt"/>
              <a:buAutoNum type="arabicPeriod"/>
            </a:pPr>
            <a:r>
              <a:rPr lang="en-US" sz="1600" b="1" dirty="0"/>
              <a:t>Transfer</a:t>
            </a:r>
            <a:r>
              <a:rPr lang="en-US" sz="1600" dirty="0"/>
              <a:t>: Mobile switches connection from BS1 to BS2.</a:t>
            </a:r>
          </a:p>
          <a:p>
            <a:pPr>
              <a:buFont typeface="+mj-lt"/>
              <a:buAutoNum type="arabicPeriod"/>
            </a:pPr>
            <a:r>
              <a:rPr lang="en-US" sz="1600" b="1" dirty="0"/>
              <a:t>Completion</a:t>
            </a:r>
            <a:r>
              <a:rPr lang="en-US" sz="1600" dirty="0"/>
              <a:t>: Mobile unit is now connected to BS2, call continues seamlessly.</a:t>
            </a:r>
          </a:p>
          <a:p>
            <a:endParaRPr lang="en-US" sz="1600" dirty="0"/>
          </a:p>
          <a:p>
            <a:pPr>
              <a:buNone/>
            </a:pPr>
            <a:r>
              <a:rPr lang="en-US" sz="1600" b="1" dirty="0"/>
              <a:t>Involves:</a:t>
            </a:r>
          </a:p>
          <a:p>
            <a:pPr>
              <a:buFont typeface="Arial" panose="020B0604020202020204" pitchFamily="34" charset="0"/>
              <a:buChar char="•"/>
            </a:pPr>
            <a:r>
              <a:rPr lang="en-US" sz="1600" dirty="0"/>
              <a:t>Identifying a </a:t>
            </a:r>
            <a:r>
              <a:rPr lang="en-US" sz="1600" b="1" dirty="0"/>
              <a:t>new base station (BS)</a:t>
            </a:r>
            <a:endParaRPr lang="en-US" sz="1600" dirty="0"/>
          </a:p>
          <a:p>
            <a:pPr>
              <a:buFont typeface="Arial" panose="020B0604020202020204" pitchFamily="34" charset="0"/>
              <a:buChar char="•"/>
            </a:pPr>
            <a:r>
              <a:rPr lang="en-US" sz="1600" dirty="0"/>
              <a:t>Allocating </a:t>
            </a:r>
            <a:r>
              <a:rPr lang="en-US" sz="1600" b="1" dirty="0"/>
              <a:t>voice and control signals</a:t>
            </a:r>
            <a:endParaRPr lang="en-US" sz="1600" dirty="0"/>
          </a:p>
          <a:p>
            <a:pPr>
              <a:buFont typeface="Arial" panose="020B0604020202020204" pitchFamily="34" charset="0"/>
              <a:buChar char="•"/>
            </a:pPr>
            <a:r>
              <a:rPr lang="en-US" sz="1600" dirty="0"/>
              <a:t>Maintaining </a:t>
            </a:r>
            <a:r>
              <a:rPr lang="en-US" sz="1600" b="1" dirty="0"/>
              <a:t>call continuity</a:t>
            </a:r>
            <a:endParaRPr lang="en-US" sz="1600" dirty="0"/>
          </a:p>
          <a:p>
            <a:pPr marL="12700" marR="5080">
              <a:lnSpc>
                <a:spcPct val="120000"/>
              </a:lnSpc>
              <a:spcBef>
                <a:spcPts val="100"/>
              </a:spcBef>
            </a:pPr>
            <a:endParaRPr sz="1600" dirty="0">
              <a:latin typeface="Times New Roman"/>
              <a:cs typeface="Times New Roman"/>
            </a:endParaRPr>
          </a:p>
        </p:txBody>
      </p:sp>
      <p:sp>
        <p:nvSpPr>
          <p:cNvPr id="4" name="object 4">
            <a:extLst>
              <a:ext uri="{FF2B5EF4-FFF2-40B4-BE49-F238E27FC236}">
                <a16:creationId xmlns:a16="http://schemas.microsoft.com/office/drawing/2014/main" id="{9C98ECEF-C111-AD7C-06B6-72D184C0323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78</a:t>
            </a:fld>
            <a:endParaRPr spc="-25" dirty="0"/>
          </a:p>
        </p:txBody>
      </p:sp>
      <p:sp>
        <p:nvSpPr>
          <p:cNvPr id="5" name="object 5">
            <a:extLst>
              <a:ext uri="{FF2B5EF4-FFF2-40B4-BE49-F238E27FC236}">
                <a16:creationId xmlns:a16="http://schemas.microsoft.com/office/drawing/2014/main" id="{7E4BE2E3-0BCA-5085-2033-83EB8AADEC15}"/>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11149508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9F3C0-4652-FE58-CA7C-4A61A36A3A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5474E0-83B7-7347-26C8-EC706CB0039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79</a:t>
            </a:fld>
            <a:endParaRPr spc="-25" dirty="0"/>
          </a:p>
        </p:txBody>
      </p:sp>
      <p:sp>
        <p:nvSpPr>
          <p:cNvPr id="5" name="object 5">
            <a:extLst>
              <a:ext uri="{FF2B5EF4-FFF2-40B4-BE49-F238E27FC236}">
                <a16:creationId xmlns:a16="http://schemas.microsoft.com/office/drawing/2014/main" id="{D5A418D3-E9F4-AD10-3EEC-4379D53EE9AF}"/>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3" name="Table 2">
            <a:extLst>
              <a:ext uri="{FF2B5EF4-FFF2-40B4-BE49-F238E27FC236}">
                <a16:creationId xmlns:a16="http://schemas.microsoft.com/office/drawing/2014/main" id="{2D4C0D8C-3221-A2E2-30B2-ED92E3CADE1F}"/>
              </a:ext>
            </a:extLst>
          </p:cNvPr>
          <p:cNvGraphicFramePr>
            <a:graphicFrameLocks noGrp="1"/>
          </p:cNvGraphicFramePr>
          <p:nvPr>
            <p:extLst>
              <p:ext uri="{D42A27DB-BD31-4B8C-83A1-F6EECF244321}">
                <p14:modId xmlns:p14="http://schemas.microsoft.com/office/powerpoint/2010/main" val="639384410"/>
              </p:ext>
            </p:extLst>
          </p:nvPr>
        </p:nvGraphicFramePr>
        <p:xfrm>
          <a:off x="304800" y="1524000"/>
          <a:ext cx="8312150" cy="1737360"/>
        </p:xfrm>
        <a:graphic>
          <a:graphicData uri="http://schemas.openxmlformats.org/drawingml/2006/table">
            <a:tbl>
              <a:tblPr/>
              <a:tblGrid>
                <a:gridCol w="4156075">
                  <a:extLst>
                    <a:ext uri="{9D8B030D-6E8A-4147-A177-3AD203B41FA5}">
                      <a16:colId xmlns:a16="http://schemas.microsoft.com/office/drawing/2014/main" val="2872091069"/>
                    </a:ext>
                  </a:extLst>
                </a:gridCol>
                <a:gridCol w="4156075">
                  <a:extLst>
                    <a:ext uri="{9D8B030D-6E8A-4147-A177-3AD203B41FA5}">
                      <a16:colId xmlns:a16="http://schemas.microsoft.com/office/drawing/2014/main" val="1713768928"/>
                    </a:ext>
                  </a:extLst>
                </a:gridCol>
              </a:tblGrid>
              <a:tr h="0">
                <a:tc>
                  <a:txBody>
                    <a:bodyPr/>
                    <a:lstStyle/>
                    <a:p>
                      <a:r>
                        <a:rPr lang="en-IN"/>
                        <a:t>Step</a:t>
                      </a:r>
                    </a:p>
                  </a:txBody>
                  <a:tcPr anchor="ctr">
                    <a:lnL>
                      <a:noFill/>
                    </a:lnL>
                    <a:lnR>
                      <a:noFill/>
                    </a:lnR>
                    <a:lnT>
                      <a:noFill/>
                    </a:lnT>
                    <a:lnB>
                      <a:noFill/>
                    </a:lnB>
                    <a:noFill/>
                  </a:tcPr>
                </a:tc>
                <a:tc>
                  <a:txBody>
                    <a:bodyPr/>
                    <a:lstStyle/>
                    <a:p>
                      <a:r>
                        <a:rPr lang="en-IN"/>
                        <a:t>Description</a:t>
                      </a:r>
                    </a:p>
                  </a:txBody>
                  <a:tcPr anchor="ctr">
                    <a:lnL>
                      <a:noFill/>
                    </a:lnL>
                    <a:lnR>
                      <a:noFill/>
                    </a:lnR>
                    <a:lnT>
                      <a:noFill/>
                    </a:lnT>
                    <a:lnB>
                      <a:noFill/>
                    </a:lnB>
                    <a:noFill/>
                  </a:tcPr>
                </a:tc>
                <a:extLst>
                  <a:ext uri="{0D108BD9-81ED-4DB2-BD59-A6C34878D82A}">
                    <a16:rowId xmlns:a16="http://schemas.microsoft.com/office/drawing/2014/main" val="16654560"/>
                  </a:ext>
                </a:extLst>
              </a:tr>
              <a:tr h="0">
                <a:tc>
                  <a:txBody>
                    <a:bodyPr/>
                    <a:lstStyle/>
                    <a:p>
                      <a:r>
                        <a:rPr lang="en-IN" b="1"/>
                        <a:t>BS1</a:t>
                      </a:r>
                      <a:endParaRPr lang="en-IN"/>
                    </a:p>
                  </a:txBody>
                  <a:tcPr anchor="ctr">
                    <a:lnL>
                      <a:noFill/>
                    </a:lnL>
                    <a:lnR>
                      <a:noFill/>
                    </a:lnR>
                    <a:lnT>
                      <a:noFill/>
                    </a:lnT>
                    <a:lnB>
                      <a:noFill/>
                    </a:lnB>
                    <a:noFill/>
                  </a:tcPr>
                </a:tc>
                <a:tc>
                  <a:txBody>
                    <a:bodyPr/>
                    <a:lstStyle/>
                    <a:p>
                      <a:r>
                        <a:rPr lang="en-US"/>
                        <a:t>Mobile initially connected to BS1</a:t>
                      </a:r>
                    </a:p>
                  </a:txBody>
                  <a:tcPr anchor="ctr">
                    <a:lnL>
                      <a:noFill/>
                    </a:lnL>
                    <a:lnR>
                      <a:noFill/>
                    </a:lnR>
                    <a:lnT>
                      <a:noFill/>
                    </a:lnT>
                    <a:lnB>
                      <a:noFill/>
                    </a:lnB>
                    <a:noFill/>
                  </a:tcPr>
                </a:tc>
                <a:extLst>
                  <a:ext uri="{0D108BD9-81ED-4DB2-BD59-A6C34878D82A}">
                    <a16:rowId xmlns:a16="http://schemas.microsoft.com/office/drawing/2014/main" val="1726464950"/>
                  </a:ext>
                </a:extLst>
              </a:tr>
              <a:tr h="0">
                <a:tc>
                  <a:txBody>
                    <a:bodyPr/>
                    <a:lstStyle/>
                    <a:p>
                      <a:r>
                        <a:rPr lang="en-IN" b="1"/>
                        <a:t>Handoff Initiation</a:t>
                      </a:r>
                      <a:endParaRPr lang="en-IN"/>
                    </a:p>
                  </a:txBody>
                  <a:tcPr anchor="ctr">
                    <a:lnL>
                      <a:noFill/>
                    </a:lnL>
                    <a:lnR>
                      <a:noFill/>
                    </a:lnR>
                    <a:lnT>
                      <a:noFill/>
                    </a:lnT>
                    <a:lnB>
                      <a:noFill/>
                    </a:lnB>
                    <a:noFill/>
                  </a:tcPr>
                </a:tc>
                <a:tc>
                  <a:txBody>
                    <a:bodyPr/>
                    <a:lstStyle/>
                    <a:p>
                      <a:r>
                        <a:rPr lang="en-US"/>
                        <a:t>Mobile moves away from BS1</a:t>
                      </a:r>
                    </a:p>
                  </a:txBody>
                  <a:tcPr anchor="ctr">
                    <a:lnL>
                      <a:noFill/>
                    </a:lnL>
                    <a:lnR>
                      <a:noFill/>
                    </a:lnR>
                    <a:lnT>
                      <a:noFill/>
                    </a:lnT>
                    <a:lnB>
                      <a:noFill/>
                    </a:lnB>
                    <a:noFill/>
                  </a:tcPr>
                </a:tc>
                <a:extLst>
                  <a:ext uri="{0D108BD9-81ED-4DB2-BD59-A6C34878D82A}">
                    <a16:rowId xmlns:a16="http://schemas.microsoft.com/office/drawing/2014/main" val="3272070480"/>
                  </a:ext>
                </a:extLst>
              </a:tr>
              <a:tr h="0">
                <a:tc>
                  <a:txBody>
                    <a:bodyPr/>
                    <a:lstStyle/>
                    <a:p>
                      <a:r>
                        <a:rPr lang="en-IN" b="1"/>
                        <a:t>BS2</a:t>
                      </a:r>
                      <a:endParaRPr lang="en-IN"/>
                    </a:p>
                  </a:txBody>
                  <a:tcPr anchor="ctr">
                    <a:lnL>
                      <a:noFill/>
                    </a:lnL>
                    <a:lnR>
                      <a:noFill/>
                    </a:lnR>
                    <a:lnT>
                      <a:noFill/>
                    </a:lnT>
                    <a:lnB>
                      <a:noFill/>
                    </a:lnB>
                    <a:noFill/>
                  </a:tcPr>
                </a:tc>
                <a:tc>
                  <a:txBody>
                    <a:bodyPr/>
                    <a:lstStyle/>
                    <a:p>
                      <a:r>
                        <a:rPr lang="en-US" dirty="0"/>
                        <a:t>Handoff completed, mobile connected to BS2</a:t>
                      </a:r>
                    </a:p>
                  </a:txBody>
                  <a:tcPr anchor="ctr">
                    <a:lnL>
                      <a:noFill/>
                    </a:lnL>
                    <a:lnR>
                      <a:noFill/>
                    </a:lnR>
                    <a:lnT>
                      <a:noFill/>
                    </a:lnT>
                    <a:lnB>
                      <a:noFill/>
                    </a:lnB>
                    <a:noFill/>
                  </a:tcPr>
                </a:tc>
                <a:extLst>
                  <a:ext uri="{0D108BD9-81ED-4DB2-BD59-A6C34878D82A}">
                    <a16:rowId xmlns:a16="http://schemas.microsoft.com/office/drawing/2014/main" val="3968547494"/>
                  </a:ext>
                </a:extLst>
              </a:tr>
            </a:tbl>
          </a:graphicData>
        </a:graphic>
      </p:graphicFrame>
      <p:sp>
        <p:nvSpPr>
          <p:cNvPr id="7" name="TextBox 6">
            <a:extLst>
              <a:ext uri="{FF2B5EF4-FFF2-40B4-BE49-F238E27FC236}">
                <a16:creationId xmlns:a16="http://schemas.microsoft.com/office/drawing/2014/main" id="{D7277FE2-4257-78DB-EEA8-73370091B115}"/>
              </a:ext>
            </a:extLst>
          </p:cNvPr>
          <p:cNvSpPr txBox="1"/>
          <p:nvPr/>
        </p:nvSpPr>
        <p:spPr>
          <a:xfrm>
            <a:off x="152400" y="3520498"/>
            <a:ext cx="8839200" cy="1200329"/>
          </a:xfrm>
          <a:prstGeom prst="rect">
            <a:avLst/>
          </a:prstGeom>
          <a:noFill/>
        </p:spPr>
        <p:txBody>
          <a:bodyPr wrap="square">
            <a:spAutoFit/>
          </a:bodyPr>
          <a:lstStyle/>
          <a:p>
            <a:pPr>
              <a:buNone/>
            </a:pPr>
            <a:r>
              <a:rPr lang="en-US" b="1" dirty="0"/>
              <a:t>Key Points to Remember</a:t>
            </a:r>
          </a:p>
          <a:p>
            <a:pPr>
              <a:buFont typeface="Arial" panose="020B0604020202020204" pitchFamily="34" charset="0"/>
              <a:buChar char="•"/>
            </a:pPr>
            <a:r>
              <a:rPr lang="en-US" b="1" dirty="0"/>
              <a:t>Seamless call experience</a:t>
            </a:r>
            <a:r>
              <a:rPr lang="en-US" dirty="0"/>
              <a:t> is the goal.</a:t>
            </a:r>
          </a:p>
          <a:p>
            <a:pPr>
              <a:buFont typeface="Arial" panose="020B0604020202020204" pitchFamily="34" charset="0"/>
              <a:buChar char="•"/>
            </a:pPr>
            <a:r>
              <a:rPr lang="en-US" dirty="0"/>
              <a:t>It is triggered when </a:t>
            </a:r>
            <a:r>
              <a:rPr lang="en-US" b="1" dirty="0"/>
              <a:t>signal quality drops</a:t>
            </a:r>
            <a:r>
              <a:rPr lang="en-US" dirty="0"/>
              <a:t>.</a:t>
            </a:r>
          </a:p>
          <a:p>
            <a:pPr>
              <a:buFont typeface="Arial" panose="020B0604020202020204" pitchFamily="34" charset="0"/>
              <a:buChar char="•"/>
            </a:pPr>
            <a:r>
              <a:rPr lang="en-US" dirty="0"/>
              <a:t>Crucial for </a:t>
            </a:r>
            <a:r>
              <a:rPr lang="en-US" b="1" dirty="0"/>
              <a:t>user mobility</a:t>
            </a:r>
            <a:r>
              <a:rPr lang="en-US" dirty="0"/>
              <a:t> and </a:t>
            </a:r>
            <a:r>
              <a:rPr lang="en-US" b="1" dirty="0"/>
              <a:t>network reliability</a:t>
            </a:r>
            <a:r>
              <a:rPr lang="en-US" dirty="0"/>
              <a:t>.</a:t>
            </a:r>
          </a:p>
        </p:txBody>
      </p:sp>
    </p:spTree>
    <p:extLst>
      <p:ext uri="{BB962C8B-B14F-4D97-AF65-F5344CB8AC3E}">
        <p14:creationId xmlns:p14="http://schemas.microsoft.com/office/powerpoint/2010/main" val="14432696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5440" y="1446402"/>
            <a:ext cx="7853045" cy="3060700"/>
          </a:xfrm>
          <a:prstGeom prst="rect">
            <a:avLst/>
          </a:prstGeom>
        </p:spPr>
        <p:txBody>
          <a:bodyPr vert="horz" wrap="square" lIns="0" tIns="85725" rIns="0" bIns="0" rtlCol="0">
            <a:spAutoFit/>
          </a:bodyPr>
          <a:lstStyle/>
          <a:p>
            <a:pPr marL="50800">
              <a:lnSpc>
                <a:spcPct val="100000"/>
              </a:lnSpc>
              <a:spcBef>
                <a:spcPts val="675"/>
              </a:spcBef>
            </a:pPr>
            <a:r>
              <a:rPr sz="2400" dirty="0">
                <a:latin typeface="Arial MT"/>
                <a:cs typeface="Arial MT"/>
              </a:rPr>
              <a:t>Handoff</a:t>
            </a:r>
            <a:r>
              <a:rPr sz="2400" spc="-135" dirty="0">
                <a:latin typeface="Arial MT"/>
                <a:cs typeface="Arial MT"/>
              </a:rPr>
              <a:t> </a:t>
            </a:r>
            <a:r>
              <a:rPr sz="2400" spc="-50" dirty="0">
                <a:latin typeface="Arial MT"/>
                <a:cs typeface="Arial MT"/>
              </a:rPr>
              <a:t>–</a:t>
            </a:r>
            <a:endParaRPr sz="2400" dirty="0">
              <a:latin typeface="Arial MT"/>
              <a:cs typeface="Arial MT"/>
            </a:endParaRPr>
          </a:p>
          <a:p>
            <a:pPr marL="393065" indent="-342265">
              <a:lnSpc>
                <a:spcPct val="100000"/>
              </a:lnSpc>
              <a:spcBef>
                <a:spcPts val="575"/>
              </a:spcBef>
              <a:buClr>
                <a:srgbClr val="0F1141"/>
              </a:buClr>
              <a:buChar char="•"/>
              <a:tabLst>
                <a:tab pos="393065" algn="l"/>
              </a:tabLst>
            </a:pPr>
            <a:r>
              <a:rPr sz="2400" dirty="0">
                <a:latin typeface="Arial MT"/>
                <a:cs typeface="Arial MT"/>
              </a:rPr>
              <a:t>high</a:t>
            </a:r>
            <a:r>
              <a:rPr sz="2400" spc="-70" dirty="0">
                <a:latin typeface="Arial MT"/>
                <a:cs typeface="Arial MT"/>
              </a:rPr>
              <a:t> </a:t>
            </a:r>
            <a:r>
              <a:rPr sz="2400" dirty="0">
                <a:latin typeface="Arial MT"/>
                <a:cs typeface="Arial MT"/>
              </a:rPr>
              <a:t>priority</a:t>
            </a:r>
            <a:r>
              <a:rPr sz="2400" spc="-65" dirty="0">
                <a:latin typeface="Arial MT"/>
                <a:cs typeface="Arial MT"/>
              </a:rPr>
              <a:t> </a:t>
            </a:r>
            <a:r>
              <a:rPr sz="2400" dirty="0">
                <a:latin typeface="Arial MT"/>
                <a:cs typeface="Arial MT"/>
              </a:rPr>
              <a:t>over</a:t>
            </a:r>
            <a:r>
              <a:rPr sz="2400" spc="-85" dirty="0">
                <a:latin typeface="Arial MT"/>
                <a:cs typeface="Arial MT"/>
              </a:rPr>
              <a:t> </a:t>
            </a:r>
            <a:r>
              <a:rPr sz="2400" dirty="0">
                <a:latin typeface="Arial MT"/>
                <a:cs typeface="Arial MT"/>
              </a:rPr>
              <a:t>call</a:t>
            </a:r>
            <a:r>
              <a:rPr sz="2400" spc="-60" dirty="0">
                <a:latin typeface="Arial MT"/>
                <a:cs typeface="Arial MT"/>
              </a:rPr>
              <a:t> </a:t>
            </a:r>
            <a:r>
              <a:rPr sz="2400" dirty="0">
                <a:latin typeface="Arial MT"/>
                <a:cs typeface="Arial MT"/>
              </a:rPr>
              <a:t>initiation</a:t>
            </a:r>
            <a:r>
              <a:rPr sz="2400" spc="-55" dirty="0">
                <a:latin typeface="Arial MT"/>
                <a:cs typeface="Arial MT"/>
              </a:rPr>
              <a:t> </a:t>
            </a:r>
            <a:r>
              <a:rPr sz="2400" spc="-10" dirty="0">
                <a:latin typeface="Arial MT"/>
                <a:cs typeface="Arial MT"/>
              </a:rPr>
              <a:t>requests</a:t>
            </a:r>
            <a:endParaRPr sz="2400" dirty="0">
              <a:latin typeface="Arial MT"/>
              <a:cs typeface="Arial MT"/>
            </a:endParaRPr>
          </a:p>
          <a:p>
            <a:pPr marL="393065" indent="-342265">
              <a:lnSpc>
                <a:spcPct val="100000"/>
              </a:lnSpc>
              <a:spcBef>
                <a:spcPts val="580"/>
              </a:spcBef>
              <a:buClr>
                <a:srgbClr val="0F1141"/>
              </a:buClr>
              <a:buChar char="•"/>
              <a:tabLst>
                <a:tab pos="393065" algn="l"/>
              </a:tabLst>
            </a:pPr>
            <a:r>
              <a:rPr sz="2400" dirty="0">
                <a:latin typeface="Arial MT"/>
                <a:cs typeface="Arial MT"/>
              </a:rPr>
              <a:t>must</a:t>
            </a:r>
            <a:r>
              <a:rPr sz="2400" spc="-50" dirty="0">
                <a:latin typeface="Arial MT"/>
                <a:cs typeface="Arial MT"/>
              </a:rPr>
              <a:t> </a:t>
            </a:r>
            <a:r>
              <a:rPr sz="2400" dirty="0">
                <a:latin typeface="Arial MT"/>
                <a:cs typeface="Arial MT"/>
              </a:rPr>
              <a:t>be</a:t>
            </a:r>
            <a:r>
              <a:rPr sz="2400" spc="-50" dirty="0">
                <a:latin typeface="Arial MT"/>
                <a:cs typeface="Arial MT"/>
              </a:rPr>
              <a:t> </a:t>
            </a:r>
            <a:r>
              <a:rPr sz="2400" dirty="0">
                <a:latin typeface="Arial MT"/>
                <a:cs typeface="Arial MT"/>
              </a:rPr>
              <a:t>performed</a:t>
            </a:r>
            <a:r>
              <a:rPr sz="2400" spc="-60" dirty="0">
                <a:latin typeface="Arial MT"/>
                <a:cs typeface="Arial MT"/>
              </a:rPr>
              <a:t> </a:t>
            </a:r>
            <a:r>
              <a:rPr sz="2400" spc="-10" dirty="0">
                <a:latin typeface="Arial MT"/>
                <a:cs typeface="Arial MT"/>
              </a:rPr>
              <a:t>successfully</a:t>
            </a:r>
            <a:endParaRPr sz="2400" dirty="0">
              <a:latin typeface="Arial MT"/>
              <a:cs typeface="Arial MT"/>
            </a:endParaRPr>
          </a:p>
          <a:p>
            <a:pPr marL="393065" indent="-342265">
              <a:lnSpc>
                <a:spcPct val="100000"/>
              </a:lnSpc>
              <a:spcBef>
                <a:spcPts val="575"/>
              </a:spcBef>
              <a:buClr>
                <a:srgbClr val="0F1141"/>
              </a:buClr>
              <a:buChar char="•"/>
              <a:tabLst>
                <a:tab pos="393065" algn="l"/>
              </a:tabLst>
            </a:pPr>
            <a:r>
              <a:rPr sz="2400" spc="-10" dirty="0">
                <a:latin typeface="Arial MT"/>
                <a:cs typeface="Arial MT"/>
              </a:rPr>
              <a:t>Infrequently</a:t>
            </a:r>
            <a:endParaRPr sz="2400" dirty="0">
              <a:latin typeface="Arial MT"/>
              <a:cs typeface="Arial MT"/>
            </a:endParaRPr>
          </a:p>
          <a:p>
            <a:pPr marL="393065" indent="-342265">
              <a:lnSpc>
                <a:spcPct val="100000"/>
              </a:lnSpc>
              <a:spcBef>
                <a:spcPts val="575"/>
              </a:spcBef>
              <a:buClr>
                <a:srgbClr val="0F1141"/>
              </a:buClr>
              <a:buChar char="•"/>
              <a:tabLst>
                <a:tab pos="393065" algn="l"/>
              </a:tabLst>
            </a:pPr>
            <a:r>
              <a:rPr sz="2400" dirty="0">
                <a:latin typeface="Arial MT"/>
                <a:cs typeface="Arial MT"/>
              </a:rPr>
              <a:t>be</a:t>
            </a:r>
            <a:r>
              <a:rPr sz="2400" spc="-35" dirty="0">
                <a:latin typeface="Arial MT"/>
                <a:cs typeface="Arial MT"/>
              </a:rPr>
              <a:t> </a:t>
            </a:r>
            <a:r>
              <a:rPr sz="2400" spc="-10" dirty="0">
                <a:latin typeface="Arial MT"/>
                <a:cs typeface="Arial MT"/>
              </a:rPr>
              <a:t>imperceptible.</a:t>
            </a:r>
            <a:endParaRPr sz="2400" dirty="0">
              <a:latin typeface="Arial MT"/>
              <a:cs typeface="Arial MT"/>
            </a:endParaRPr>
          </a:p>
          <a:p>
            <a:pPr marL="393065" indent="-342265">
              <a:lnSpc>
                <a:spcPct val="100000"/>
              </a:lnSpc>
              <a:spcBef>
                <a:spcPts val="580"/>
              </a:spcBef>
              <a:buClr>
                <a:srgbClr val="0F1141"/>
              </a:buClr>
              <a:buChar char="•"/>
              <a:tabLst>
                <a:tab pos="393065" algn="l"/>
              </a:tabLst>
            </a:pPr>
            <a:r>
              <a:rPr sz="2400" dirty="0">
                <a:latin typeface="Arial MT"/>
                <a:cs typeface="Arial MT"/>
              </a:rPr>
              <a:t>The</a:t>
            </a:r>
            <a:r>
              <a:rPr sz="2400" spc="-45" dirty="0">
                <a:latin typeface="Arial MT"/>
                <a:cs typeface="Arial MT"/>
              </a:rPr>
              <a:t> </a:t>
            </a:r>
            <a:r>
              <a:rPr sz="2400" dirty="0">
                <a:latin typeface="Arial MT"/>
                <a:cs typeface="Arial MT"/>
              </a:rPr>
              <a:t>margin</a:t>
            </a:r>
            <a:r>
              <a:rPr sz="2400" spc="-35" dirty="0">
                <a:latin typeface="Arial MT"/>
                <a:cs typeface="Arial MT"/>
              </a:rPr>
              <a:t> </a:t>
            </a:r>
            <a:r>
              <a:rPr sz="2400" dirty="0">
                <a:latin typeface="Cambria Math"/>
                <a:cs typeface="Cambria Math"/>
              </a:rPr>
              <a:t>∆=</a:t>
            </a:r>
            <a:r>
              <a:rPr sz="2400" spc="80" dirty="0">
                <a:latin typeface="Cambria Math"/>
                <a:cs typeface="Cambria Math"/>
              </a:rPr>
              <a:t> </a:t>
            </a:r>
            <a:r>
              <a:rPr sz="2400" spc="-30" dirty="0">
                <a:latin typeface="Cambria Math"/>
                <a:cs typeface="Cambria Math"/>
              </a:rPr>
              <a:t>𝑃</a:t>
            </a:r>
            <a:r>
              <a:rPr sz="2625" spc="-44" baseline="-15873" dirty="0">
                <a:latin typeface="Cambria Math"/>
                <a:cs typeface="Cambria Math"/>
              </a:rPr>
              <a:t>𝑟</a:t>
            </a:r>
            <a:r>
              <a:rPr sz="2625" spc="22" baseline="-15873" dirty="0">
                <a:latin typeface="Cambria Math"/>
                <a:cs typeface="Cambria Math"/>
              </a:rPr>
              <a:t> </a:t>
            </a:r>
            <a:r>
              <a:rPr sz="2625" spc="150" baseline="-15873" dirty="0">
                <a:latin typeface="Cambria Math"/>
                <a:cs typeface="Cambria Math"/>
              </a:rPr>
              <a:t>ℎ𝑎𝑛𝑑𝑜𝑓𝑓</a:t>
            </a:r>
            <a:r>
              <a:rPr sz="2625" spc="382" baseline="-15873" dirty="0">
                <a:latin typeface="Cambria Math"/>
                <a:cs typeface="Cambria Math"/>
              </a:rPr>
              <a:t> </a:t>
            </a:r>
            <a:r>
              <a:rPr sz="2400" dirty="0">
                <a:latin typeface="Cambria Math"/>
                <a:cs typeface="Cambria Math"/>
              </a:rPr>
              <a:t>−</a:t>
            </a:r>
            <a:r>
              <a:rPr sz="2400" spc="-35" dirty="0">
                <a:latin typeface="Cambria Math"/>
                <a:cs typeface="Cambria Math"/>
              </a:rPr>
              <a:t> 𝑃</a:t>
            </a:r>
            <a:r>
              <a:rPr sz="2625" spc="-52" baseline="-15873" dirty="0">
                <a:latin typeface="Cambria Math"/>
                <a:cs typeface="Cambria Math"/>
              </a:rPr>
              <a:t>𝑟</a:t>
            </a:r>
            <a:r>
              <a:rPr sz="2625" spc="15" baseline="-15873" dirty="0">
                <a:latin typeface="Cambria Math"/>
                <a:cs typeface="Cambria Math"/>
              </a:rPr>
              <a:t> </a:t>
            </a:r>
            <a:r>
              <a:rPr sz="2625" spc="179" baseline="-15873" dirty="0">
                <a:latin typeface="Cambria Math"/>
                <a:cs typeface="Cambria Math"/>
              </a:rPr>
              <a:t>𝑚𝑖𝑛𝑖𝑚𝑢𝑚</a:t>
            </a:r>
            <a:r>
              <a:rPr sz="2625" spc="-15" baseline="-15873" dirty="0">
                <a:latin typeface="Cambria Math"/>
                <a:cs typeface="Cambria Math"/>
              </a:rPr>
              <a:t> </a:t>
            </a:r>
            <a:r>
              <a:rPr sz="2625" spc="120" baseline="-15873" dirty="0">
                <a:latin typeface="Cambria Math"/>
                <a:cs typeface="Cambria Math"/>
              </a:rPr>
              <a:t>𝑢𝑠𝑎𝑏𝑙𝑒</a:t>
            </a:r>
            <a:r>
              <a:rPr sz="2625" spc="382" baseline="-15873" dirty="0">
                <a:latin typeface="Cambria Math"/>
                <a:cs typeface="Cambria Math"/>
              </a:rPr>
              <a:t> </a:t>
            </a:r>
            <a:r>
              <a:rPr sz="2400" dirty="0">
                <a:latin typeface="Arial MT"/>
                <a:cs typeface="Arial MT"/>
              </a:rPr>
              <a:t>cannot</a:t>
            </a:r>
            <a:r>
              <a:rPr sz="2400" spc="-35" dirty="0">
                <a:latin typeface="Arial MT"/>
                <a:cs typeface="Arial MT"/>
              </a:rPr>
              <a:t> </a:t>
            </a:r>
            <a:r>
              <a:rPr sz="2400" spc="-25" dirty="0">
                <a:latin typeface="Arial MT"/>
                <a:cs typeface="Arial MT"/>
              </a:rPr>
              <a:t>be</a:t>
            </a:r>
            <a:endParaRPr sz="2400" dirty="0">
              <a:latin typeface="Arial MT"/>
              <a:cs typeface="Arial MT"/>
            </a:endParaRPr>
          </a:p>
          <a:p>
            <a:pPr marL="393700">
              <a:lnSpc>
                <a:spcPct val="100000"/>
              </a:lnSpc>
              <a:spcBef>
                <a:spcPts val="275"/>
              </a:spcBef>
            </a:pPr>
            <a:r>
              <a:rPr sz="2400" dirty="0">
                <a:latin typeface="Arial MT"/>
                <a:cs typeface="Arial MT"/>
              </a:rPr>
              <a:t>too</a:t>
            </a:r>
            <a:r>
              <a:rPr sz="2400" spc="-55" dirty="0">
                <a:latin typeface="Arial MT"/>
                <a:cs typeface="Arial MT"/>
              </a:rPr>
              <a:t> </a:t>
            </a:r>
            <a:r>
              <a:rPr sz="2400" dirty="0">
                <a:latin typeface="Arial MT"/>
                <a:cs typeface="Arial MT"/>
              </a:rPr>
              <a:t>large</a:t>
            </a:r>
            <a:r>
              <a:rPr sz="2400" spc="-30" dirty="0">
                <a:latin typeface="Arial MT"/>
                <a:cs typeface="Arial MT"/>
              </a:rPr>
              <a:t> </a:t>
            </a:r>
            <a:r>
              <a:rPr sz="2400" dirty="0">
                <a:latin typeface="Arial MT"/>
                <a:cs typeface="Arial MT"/>
              </a:rPr>
              <a:t>or</a:t>
            </a:r>
            <a:r>
              <a:rPr sz="2400" spc="-40" dirty="0">
                <a:latin typeface="Arial MT"/>
                <a:cs typeface="Arial MT"/>
              </a:rPr>
              <a:t> </a:t>
            </a:r>
            <a:r>
              <a:rPr sz="2400" dirty="0">
                <a:latin typeface="Arial MT"/>
                <a:cs typeface="Arial MT"/>
              </a:rPr>
              <a:t>too</a:t>
            </a:r>
            <a:r>
              <a:rPr sz="2400" spc="-55" dirty="0">
                <a:latin typeface="Arial MT"/>
                <a:cs typeface="Arial MT"/>
              </a:rPr>
              <a:t> </a:t>
            </a:r>
            <a:r>
              <a:rPr sz="2400" spc="-10" dirty="0">
                <a:latin typeface="Arial MT"/>
                <a:cs typeface="Arial MT"/>
              </a:rPr>
              <a:t>small.</a:t>
            </a:r>
            <a:endParaRPr sz="2400" dirty="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80</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B29A-E739-C096-4351-7E8D47049C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73AB83-ABE0-994A-D63B-95093D880C64}"/>
              </a:ext>
            </a:extLst>
          </p:cNvPr>
          <p:cNvSpPr txBox="1"/>
          <p:nvPr/>
        </p:nvSpPr>
        <p:spPr>
          <a:xfrm>
            <a:off x="76200" y="1446402"/>
            <a:ext cx="8987662" cy="3582798"/>
          </a:xfrm>
          <a:prstGeom prst="rect">
            <a:avLst/>
          </a:prstGeom>
        </p:spPr>
        <p:txBody>
          <a:bodyPr vert="horz" wrap="square" lIns="0" tIns="85725" rIns="0" bIns="0" rtlCol="0">
            <a:spAutoFit/>
          </a:bodyPr>
          <a:lstStyle/>
          <a:p>
            <a:pPr>
              <a:buNone/>
            </a:pPr>
            <a:r>
              <a:rPr lang="en-US" b="1" dirty="0"/>
              <a:t>Important Characteristics of a Good Handoff:</a:t>
            </a:r>
          </a:p>
          <a:p>
            <a:pPr>
              <a:buFont typeface="+mj-lt"/>
              <a:buAutoNum type="arabicPeriod"/>
            </a:pPr>
            <a:r>
              <a:rPr lang="en-US" b="1" dirty="0"/>
              <a:t>High Priority</a:t>
            </a:r>
            <a:endParaRPr lang="en-US" dirty="0"/>
          </a:p>
          <a:p>
            <a:pPr marL="742950" lvl="1" indent="-285750">
              <a:buFont typeface="+mj-lt"/>
              <a:buAutoNum type="arabicPeriod"/>
            </a:pPr>
            <a:r>
              <a:rPr lang="en-US" dirty="0"/>
              <a:t>Handoffs are given </a:t>
            </a:r>
            <a:r>
              <a:rPr lang="en-US" b="1" dirty="0"/>
              <a:t>higher priority</a:t>
            </a:r>
            <a:r>
              <a:rPr lang="en-US" dirty="0"/>
              <a:t> than new call initiations.</a:t>
            </a:r>
          </a:p>
          <a:p>
            <a:pPr marL="742950" lvl="1" indent="-285750">
              <a:buFont typeface="+mj-lt"/>
              <a:buAutoNum type="arabicPeriod"/>
            </a:pPr>
            <a:r>
              <a:rPr lang="en-US" dirty="0"/>
              <a:t>Reason: Ongoing calls must not be dropped.</a:t>
            </a:r>
          </a:p>
          <a:p>
            <a:pPr>
              <a:buFont typeface="+mj-lt"/>
              <a:buAutoNum type="arabicPeriod"/>
            </a:pPr>
            <a:r>
              <a:rPr lang="en-US" b="1" dirty="0"/>
              <a:t>Successful Execution</a:t>
            </a:r>
            <a:endParaRPr lang="en-US" dirty="0"/>
          </a:p>
          <a:p>
            <a:pPr marL="742950" lvl="1" indent="-285750">
              <a:buFont typeface="+mj-lt"/>
              <a:buAutoNum type="arabicPeriod"/>
            </a:pPr>
            <a:r>
              <a:rPr lang="en-US" dirty="0"/>
              <a:t>Handoffs </a:t>
            </a:r>
            <a:r>
              <a:rPr lang="en-US" b="1" dirty="0"/>
              <a:t>must be executed reliably</a:t>
            </a:r>
            <a:r>
              <a:rPr lang="en-US" dirty="0"/>
              <a:t> to avoid call drops or poor service.</a:t>
            </a:r>
          </a:p>
          <a:p>
            <a:pPr>
              <a:buFont typeface="+mj-lt"/>
              <a:buAutoNum type="arabicPeriod"/>
            </a:pPr>
            <a:r>
              <a:rPr lang="en-US" b="1" dirty="0"/>
              <a:t>Infrequent</a:t>
            </a:r>
            <a:endParaRPr lang="en-US" dirty="0"/>
          </a:p>
          <a:p>
            <a:pPr marL="742950" lvl="1" indent="-285750">
              <a:buFont typeface="+mj-lt"/>
              <a:buAutoNum type="arabicPeriod"/>
            </a:pPr>
            <a:r>
              <a:rPr lang="en-US" dirty="0"/>
              <a:t>They should not happen too often; frequent handoffs can degrade user experience.</a:t>
            </a:r>
          </a:p>
          <a:p>
            <a:pPr>
              <a:buFont typeface="+mj-lt"/>
              <a:buAutoNum type="arabicPeriod"/>
            </a:pPr>
            <a:r>
              <a:rPr lang="en-US" b="1" dirty="0"/>
              <a:t>Imperceptible to User</a:t>
            </a:r>
            <a:endParaRPr lang="en-US" dirty="0"/>
          </a:p>
          <a:p>
            <a:pPr marL="742950" lvl="1" indent="-285750">
              <a:buFont typeface="+mj-lt"/>
              <a:buAutoNum type="arabicPeriod"/>
            </a:pPr>
            <a:r>
              <a:rPr lang="en-US" dirty="0"/>
              <a:t>The transition should be </a:t>
            </a:r>
            <a:r>
              <a:rPr lang="en-US" b="1" dirty="0"/>
              <a:t>smooth and unnoticed</a:t>
            </a:r>
            <a:r>
              <a:rPr lang="en-US" dirty="0"/>
              <a:t> by the user.</a:t>
            </a:r>
          </a:p>
          <a:p>
            <a:pPr marL="50800">
              <a:lnSpc>
                <a:spcPct val="100000"/>
              </a:lnSpc>
              <a:spcBef>
                <a:spcPts val="675"/>
              </a:spcBef>
            </a:pPr>
            <a:endParaRPr sz="2400" dirty="0">
              <a:latin typeface="Arial MT"/>
              <a:cs typeface="Arial MT"/>
            </a:endParaRPr>
          </a:p>
        </p:txBody>
      </p:sp>
      <p:sp>
        <p:nvSpPr>
          <p:cNvPr id="3" name="object 3">
            <a:extLst>
              <a:ext uri="{FF2B5EF4-FFF2-40B4-BE49-F238E27FC236}">
                <a16:creationId xmlns:a16="http://schemas.microsoft.com/office/drawing/2014/main" id="{1774B23F-6CCC-B6E6-5836-1B2F430E9E6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81</a:t>
            </a:fld>
            <a:endParaRPr spc="-25" dirty="0"/>
          </a:p>
        </p:txBody>
      </p:sp>
      <p:sp>
        <p:nvSpPr>
          <p:cNvPr id="4" name="object 4">
            <a:extLst>
              <a:ext uri="{FF2B5EF4-FFF2-40B4-BE49-F238E27FC236}">
                <a16:creationId xmlns:a16="http://schemas.microsoft.com/office/drawing/2014/main" id="{27200FEB-13D9-F46E-E0D4-5A131A6BFC5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22322540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063E-DF8A-116A-8AD5-A8C496FBD54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6C9318-6272-3DE5-2AC1-773979052487}"/>
              </a:ext>
            </a:extLst>
          </p:cNvPr>
          <p:cNvSpPr txBox="1"/>
          <p:nvPr/>
        </p:nvSpPr>
        <p:spPr>
          <a:xfrm>
            <a:off x="76200" y="1446402"/>
            <a:ext cx="8987662" cy="3133550"/>
          </a:xfrm>
          <a:prstGeom prst="rect">
            <a:avLst/>
          </a:prstGeom>
        </p:spPr>
        <p:txBody>
          <a:bodyPr vert="horz" wrap="square" lIns="0" tIns="85725" rIns="0" bIns="0" rtlCol="0">
            <a:spAutoFit/>
          </a:bodyPr>
          <a:lstStyle/>
          <a:p>
            <a:pPr>
              <a:buNone/>
            </a:pPr>
            <a:r>
              <a:rPr lang="en-IN" b="1" dirty="0"/>
              <a:t>Handoff Margin Concept</a:t>
            </a:r>
          </a:p>
          <a:p>
            <a:pPr>
              <a:buFont typeface="Arial" panose="020B0604020202020204" pitchFamily="34" charset="0"/>
              <a:buChar char="•"/>
            </a:pPr>
            <a:r>
              <a:rPr lang="en-IN" b="1" dirty="0"/>
              <a:t>Handoff Margin (</a:t>
            </a:r>
            <a:r>
              <a:rPr lang="el-GR" b="1" dirty="0"/>
              <a:t>Δ)</a:t>
            </a:r>
            <a:r>
              <a:rPr lang="el-GR" dirty="0"/>
              <a:t>:</a:t>
            </a:r>
          </a:p>
          <a:p>
            <a:pPr>
              <a:buFont typeface="Arial" panose="020B0604020202020204" pitchFamily="34" charset="0"/>
              <a:buChar char="•"/>
            </a:pPr>
            <a:r>
              <a:rPr lang="el-GR" dirty="0"/>
              <a:t>Δ=</a:t>
            </a:r>
            <a:r>
              <a:rPr lang="en-IN" dirty="0" err="1"/>
              <a:t>Prhandoff</a:t>
            </a:r>
            <a:r>
              <a:rPr lang="en-IN" dirty="0"/>
              <a:t>​−</a:t>
            </a:r>
            <a:r>
              <a:rPr lang="en-IN" dirty="0" err="1"/>
              <a:t>Prminimumusable</a:t>
            </a:r>
            <a:r>
              <a:rPr lang="en-IN" dirty="0"/>
              <a:t>​ </a:t>
            </a:r>
          </a:p>
          <a:p>
            <a:pPr>
              <a:buFont typeface="Arial" panose="020B0604020202020204" pitchFamily="34" charset="0"/>
              <a:buChar char="•"/>
            </a:pPr>
            <a:r>
              <a:rPr lang="en-IN" b="1" dirty="0"/>
              <a:t>Explanation</a:t>
            </a:r>
            <a:r>
              <a:rPr lang="en-IN" dirty="0"/>
              <a:t>:</a:t>
            </a:r>
          </a:p>
          <a:p>
            <a:pPr marL="742950" lvl="1" indent="-285750">
              <a:buFont typeface="Arial" panose="020B0604020202020204" pitchFamily="34" charset="0"/>
              <a:buChar char="•"/>
            </a:pPr>
            <a:r>
              <a:rPr lang="en-IN" dirty="0" err="1"/>
              <a:t>Prhandoff</a:t>
            </a:r>
            <a:r>
              <a:rPr lang="en-IN" dirty="0"/>
              <a:t>​: Received power level at which handoff is triggered.</a:t>
            </a:r>
          </a:p>
          <a:p>
            <a:pPr marL="742950" lvl="1" indent="-285750">
              <a:buFont typeface="Arial" panose="020B0604020202020204" pitchFamily="34" charset="0"/>
              <a:buChar char="•"/>
            </a:pPr>
            <a:r>
              <a:rPr lang="en-IN" dirty="0" err="1"/>
              <a:t>Prminimumusable</a:t>
            </a:r>
            <a:r>
              <a:rPr lang="en-IN" dirty="0"/>
              <a:t>​: Minimum signal strength required for acceptable communication.</a:t>
            </a:r>
          </a:p>
          <a:p>
            <a:pPr>
              <a:buFont typeface="Arial" panose="020B0604020202020204" pitchFamily="34" charset="0"/>
              <a:buChar char="•"/>
            </a:pPr>
            <a:r>
              <a:rPr lang="en-IN" b="1" dirty="0"/>
              <a:t>Design Rule</a:t>
            </a:r>
            <a:r>
              <a:rPr lang="en-IN" dirty="0"/>
              <a:t>:</a:t>
            </a:r>
          </a:p>
          <a:p>
            <a:pPr marL="742950" lvl="1" indent="-285750">
              <a:buFont typeface="Arial" panose="020B0604020202020204" pitchFamily="34" charset="0"/>
              <a:buChar char="•"/>
            </a:pPr>
            <a:r>
              <a:rPr lang="en-IN" dirty="0"/>
              <a:t>This margin </a:t>
            </a:r>
            <a:r>
              <a:rPr lang="en-IN" b="1" dirty="0"/>
              <a:t>must not be too small or too large</a:t>
            </a:r>
            <a:r>
              <a:rPr lang="en-IN" dirty="0"/>
              <a:t>:</a:t>
            </a:r>
          </a:p>
          <a:p>
            <a:pPr marL="1143000" lvl="2" indent="-228600">
              <a:buFont typeface="Arial" panose="020B0604020202020204" pitchFamily="34" charset="0"/>
              <a:buChar char="•"/>
            </a:pPr>
            <a:r>
              <a:rPr lang="en-IN" dirty="0"/>
              <a:t>Too small → Late handoff, call might drop.</a:t>
            </a:r>
          </a:p>
          <a:p>
            <a:pPr marL="1143000" lvl="2" indent="-228600">
              <a:buFont typeface="Arial" panose="020B0604020202020204" pitchFamily="34" charset="0"/>
              <a:buChar char="•"/>
            </a:pPr>
            <a:r>
              <a:rPr lang="en-IN" dirty="0"/>
              <a:t>Too large → Unnecessary handoff, wasting resources.</a:t>
            </a:r>
          </a:p>
        </p:txBody>
      </p:sp>
      <p:sp>
        <p:nvSpPr>
          <p:cNvPr id="3" name="object 3">
            <a:extLst>
              <a:ext uri="{FF2B5EF4-FFF2-40B4-BE49-F238E27FC236}">
                <a16:creationId xmlns:a16="http://schemas.microsoft.com/office/drawing/2014/main" id="{8A3B645E-C15B-CA1C-14CA-00076DE4D49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82</a:t>
            </a:fld>
            <a:endParaRPr spc="-25" dirty="0"/>
          </a:p>
        </p:txBody>
      </p:sp>
      <p:sp>
        <p:nvSpPr>
          <p:cNvPr id="4" name="object 4">
            <a:extLst>
              <a:ext uri="{FF2B5EF4-FFF2-40B4-BE49-F238E27FC236}">
                <a16:creationId xmlns:a16="http://schemas.microsoft.com/office/drawing/2014/main" id="{8DBF2DA1-3877-742D-2B76-1C628B805B39}"/>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extLst>
      <p:ext uri="{BB962C8B-B14F-4D97-AF65-F5344CB8AC3E}">
        <p14:creationId xmlns:p14="http://schemas.microsoft.com/office/powerpoint/2010/main" val="40883539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0A8F5-337D-7E80-B369-8A0ED761CCB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58EB1E5-88B9-FDF0-6051-D47BC457ECD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83</a:t>
            </a:fld>
            <a:endParaRPr spc="-25" dirty="0"/>
          </a:p>
        </p:txBody>
      </p:sp>
      <p:sp>
        <p:nvSpPr>
          <p:cNvPr id="4" name="object 4">
            <a:extLst>
              <a:ext uri="{FF2B5EF4-FFF2-40B4-BE49-F238E27FC236}">
                <a16:creationId xmlns:a16="http://schemas.microsoft.com/office/drawing/2014/main" id="{501C7AB2-8814-F044-42A6-38498035D76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graphicFrame>
        <p:nvGraphicFramePr>
          <p:cNvPr id="5" name="Table 4">
            <a:extLst>
              <a:ext uri="{FF2B5EF4-FFF2-40B4-BE49-F238E27FC236}">
                <a16:creationId xmlns:a16="http://schemas.microsoft.com/office/drawing/2014/main" id="{55D1B3D3-29D2-75BB-15AF-BB6E8519CDA0}"/>
              </a:ext>
            </a:extLst>
          </p:cNvPr>
          <p:cNvGraphicFramePr>
            <a:graphicFrameLocks noGrp="1"/>
          </p:cNvGraphicFramePr>
          <p:nvPr>
            <p:extLst>
              <p:ext uri="{D42A27DB-BD31-4B8C-83A1-F6EECF244321}">
                <p14:modId xmlns:p14="http://schemas.microsoft.com/office/powerpoint/2010/main" val="4147153016"/>
              </p:ext>
            </p:extLst>
          </p:nvPr>
        </p:nvGraphicFramePr>
        <p:xfrm>
          <a:off x="152400" y="1447800"/>
          <a:ext cx="8312150" cy="2103120"/>
        </p:xfrm>
        <a:graphic>
          <a:graphicData uri="http://schemas.openxmlformats.org/drawingml/2006/table">
            <a:tbl>
              <a:tblPr/>
              <a:tblGrid>
                <a:gridCol w="4156075">
                  <a:extLst>
                    <a:ext uri="{9D8B030D-6E8A-4147-A177-3AD203B41FA5}">
                      <a16:colId xmlns:a16="http://schemas.microsoft.com/office/drawing/2014/main" val="3579190332"/>
                    </a:ext>
                  </a:extLst>
                </a:gridCol>
                <a:gridCol w="4156075">
                  <a:extLst>
                    <a:ext uri="{9D8B030D-6E8A-4147-A177-3AD203B41FA5}">
                      <a16:colId xmlns:a16="http://schemas.microsoft.com/office/drawing/2014/main" val="3217515467"/>
                    </a:ext>
                  </a:extLst>
                </a:gridCol>
              </a:tblGrid>
              <a:tr h="0">
                <a:tc>
                  <a:txBody>
                    <a:bodyPr/>
                    <a:lstStyle/>
                    <a:p>
                      <a:r>
                        <a:rPr lang="en-IN"/>
                        <a:t>Requirement</a:t>
                      </a:r>
                    </a:p>
                  </a:txBody>
                  <a:tcPr anchor="ctr">
                    <a:lnL>
                      <a:noFill/>
                    </a:lnL>
                    <a:lnR>
                      <a:noFill/>
                    </a:lnR>
                    <a:lnT>
                      <a:noFill/>
                    </a:lnT>
                    <a:lnB>
                      <a:noFill/>
                    </a:lnB>
                    <a:noFill/>
                  </a:tcPr>
                </a:tc>
                <a:tc>
                  <a:txBody>
                    <a:bodyPr/>
                    <a:lstStyle/>
                    <a:p>
                      <a:r>
                        <a:rPr lang="en-IN"/>
                        <a:t>Why It's Important</a:t>
                      </a:r>
                    </a:p>
                  </a:txBody>
                  <a:tcPr anchor="ctr">
                    <a:lnL>
                      <a:noFill/>
                    </a:lnL>
                    <a:lnR>
                      <a:noFill/>
                    </a:lnR>
                    <a:lnT>
                      <a:noFill/>
                    </a:lnT>
                    <a:lnB>
                      <a:noFill/>
                    </a:lnB>
                    <a:noFill/>
                  </a:tcPr>
                </a:tc>
                <a:extLst>
                  <a:ext uri="{0D108BD9-81ED-4DB2-BD59-A6C34878D82A}">
                    <a16:rowId xmlns:a16="http://schemas.microsoft.com/office/drawing/2014/main" val="48873938"/>
                  </a:ext>
                </a:extLst>
              </a:tr>
              <a:tr h="0">
                <a:tc>
                  <a:txBody>
                    <a:bodyPr/>
                    <a:lstStyle/>
                    <a:p>
                      <a:r>
                        <a:rPr lang="en-IN"/>
                        <a:t>High priority</a:t>
                      </a:r>
                    </a:p>
                  </a:txBody>
                  <a:tcPr anchor="ctr">
                    <a:lnL>
                      <a:noFill/>
                    </a:lnL>
                    <a:lnR>
                      <a:noFill/>
                    </a:lnR>
                    <a:lnT>
                      <a:noFill/>
                    </a:lnT>
                    <a:lnB>
                      <a:noFill/>
                    </a:lnB>
                    <a:noFill/>
                  </a:tcPr>
                </a:tc>
                <a:tc>
                  <a:txBody>
                    <a:bodyPr/>
                    <a:lstStyle/>
                    <a:p>
                      <a:r>
                        <a:rPr lang="en-US"/>
                        <a:t>To prevent ongoing calls from dropping</a:t>
                      </a:r>
                    </a:p>
                  </a:txBody>
                  <a:tcPr anchor="ctr">
                    <a:lnL>
                      <a:noFill/>
                    </a:lnL>
                    <a:lnR>
                      <a:noFill/>
                    </a:lnR>
                    <a:lnT>
                      <a:noFill/>
                    </a:lnT>
                    <a:lnB>
                      <a:noFill/>
                    </a:lnB>
                    <a:noFill/>
                  </a:tcPr>
                </a:tc>
                <a:extLst>
                  <a:ext uri="{0D108BD9-81ED-4DB2-BD59-A6C34878D82A}">
                    <a16:rowId xmlns:a16="http://schemas.microsoft.com/office/drawing/2014/main" val="2641027605"/>
                  </a:ext>
                </a:extLst>
              </a:tr>
              <a:tr h="0">
                <a:tc>
                  <a:txBody>
                    <a:bodyPr/>
                    <a:lstStyle/>
                    <a:p>
                      <a:r>
                        <a:rPr lang="en-IN"/>
                        <a:t>Successful &amp; infrequent</a:t>
                      </a:r>
                    </a:p>
                  </a:txBody>
                  <a:tcPr anchor="ctr">
                    <a:lnL>
                      <a:noFill/>
                    </a:lnL>
                    <a:lnR>
                      <a:noFill/>
                    </a:lnR>
                    <a:lnT>
                      <a:noFill/>
                    </a:lnT>
                    <a:lnB>
                      <a:noFill/>
                    </a:lnB>
                    <a:noFill/>
                  </a:tcPr>
                </a:tc>
                <a:tc>
                  <a:txBody>
                    <a:bodyPr/>
                    <a:lstStyle/>
                    <a:p>
                      <a:r>
                        <a:rPr lang="en-US"/>
                        <a:t>For quality service and reduced signaling load</a:t>
                      </a:r>
                    </a:p>
                  </a:txBody>
                  <a:tcPr anchor="ctr">
                    <a:lnL>
                      <a:noFill/>
                    </a:lnL>
                    <a:lnR>
                      <a:noFill/>
                    </a:lnR>
                    <a:lnT>
                      <a:noFill/>
                    </a:lnT>
                    <a:lnB>
                      <a:noFill/>
                    </a:lnB>
                    <a:noFill/>
                  </a:tcPr>
                </a:tc>
                <a:extLst>
                  <a:ext uri="{0D108BD9-81ED-4DB2-BD59-A6C34878D82A}">
                    <a16:rowId xmlns:a16="http://schemas.microsoft.com/office/drawing/2014/main" val="1581523757"/>
                  </a:ext>
                </a:extLst>
              </a:tr>
              <a:tr h="0">
                <a:tc>
                  <a:txBody>
                    <a:bodyPr/>
                    <a:lstStyle/>
                    <a:p>
                      <a:r>
                        <a:rPr lang="en-IN"/>
                        <a:t>Imperceptible</a:t>
                      </a:r>
                    </a:p>
                  </a:txBody>
                  <a:tcPr anchor="ctr">
                    <a:lnL>
                      <a:noFill/>
                    </a:lnL>
                    <a:lnR>
                      <a:noFill/>
                    </a:lnR>
                    <a:lnT>
                      <a:noFill/>
                    </a:lnT>
                    <a:lnB>
                      <a:noFill/>
                    </a:lnB>
                    <a:noFill/>
                  </a:tcPr>
                </a:tc>
                <a:tc>
                  <a:txBody>
                    <a:bodyPr/>
                    <a:lstStyle/>
                    <a:p>
                      <a:r>
                        <a:rPr lang="en-IN"/>
                        <a:t>Smooth user experience</a:t>
                      </a:r>
                    </a:p>
                  </a:txBody>
                  <a:tcPr anchor="ctr">
                    <a:lnL>
                      <a:noFill/>
                    </a:lnL>
                    <a:lnR>
                      <a:noFill/>
                    </a:lnR>
                    <a:lnT>
                      <a:noFill/>
                    </a:lnT>
                    <a:lnB>
                      <a:noFill/>
                    </a:lnB>
                    <a:noFill/>
                  </a:tcPr>
                </a:tc>
                <a:extLst>
                  <a:ext uri="{0D108BD9-81ED-4DB2-BD59-A6C34878D82A}">
                    <a16:rowId xmlns:a16="http://schemas.microsoft.com/office/drawing/2014/main" val="481793555"/>
                  </a:ext>
                </a:extLst>
              </a:tr>
              <a:tr h="0">
                <a:tc>
                  <a:txBody>
                    <a:bodyPr/>
                    <a:lstStyle/>
                    <a:p>
                      <a:r>
                        <a:rPr lang="en-IN"/>
                        <a:t>Balanced margin (</a:t>
                      </a:r>
                      <a:r>
                        <a:rPr lang="el-GR"/>
                        <a:t>Δ)</a:t>
                      </a:r>
                    </a:p>
                  </a:txBody>
                  <a:tcPr anchor="ctr">
                    <a:lnL>
                      <a:noFill/>
                    </a:lnL>
                    <a:lnR>
                      <a:noFill/>
                    </a:lnR>
                    <a:lnT>
                      <a:noFill/>
                    </a:lnT>
                    <a:lnB>
                      <a:noFill/>
                    </a:lnB>
                    <a:noFill/>
                  </a:tcPr>
                </a:tc>
                <a:tc>
                  <a:txBody>
                    <a:bodyPr/>
                    <a:lstStyle/>
                    <a:p>
                      <a:r>
                        <a:rPr lang="en-US" dirty="0"/>
                        <a:t>Ensures handoff happens </a:t>
                      </a:r>
                      <a:r>
                        <a:rPr lang="en-US" b="1" dirty="0"/>
                        <a:t>at the right time</a:t>
                      </a:r>
                      <a:endParaRPr lang="en-US" dirty="0"/>
                    </a:p>
                  </a:txBody>
                  <a:tcPr anchor="ctr">
                    <a:lnL>
                      <a:noFill/>
                    </a:lnL>
                    <a:lnR>
                      <a:noFill/>
                    </a:lnR>
                    <a:lnT>
                      <a:noFill/>
                    </a:lnT>
                    <a:lnB>
                      <a:noFill/>
                    </a:lnB>
                    <a:noFill/>
                  </a:tcPr>
                </a:tc>
                <a:extLst>
                  <a:ext uri="{0D108BD9-81ED-4DB2-BD59-A6C34878D82A}">
                    <a16:rowId xmlns:a16="http://schemas.microsoft.com/office/drawing/2014/main" val="2573120935"/>
                  </a:ext>
                </a:extLst>
              </a:tr>
            </a:tbl>
          </a:graphicData>
        </a:graphic>
      </p:graphicFrame>
    </p:spTree>
    <p:extLst>
      <p:ext uri="{BB962C8B-B14F-4D97-AF65-F5344CB8AC3E}">
        <p14:creationId xmlns:p14="http://schemas.microsoft.com/office/powerpoint/2010/main" val="11543669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705600"/>
            <a:chOff x="0" y="0"/>
            <a:chExt cx="9144000" cy="6705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p:cNvPicPr/>
            <p:nvPr/>
          </p:nvPicPr>
          <p:blipFill>
            <a:blip r:embed="rId2" cstate="print"/>
            <a:stretch>
              <a:fillRect/>
            </a:stretch>
          </p:blipFill>
          <p:spPr>
            <a:xfrm>
              <a:off x="6629400" y="0"/>
              <a:ext cx="2193163" cy="692658"/>
            </a:xfrm>
            <a:prstGeom prst="rect">
              <a:avLst/>
            </a:prstGeom>
          </p:spPr>
        </p:pic>
        <p:sp>
          <p:nvSpPr>
            <p:cNvPr id="7" name="object 7"/>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pic>
          <p:nvPicPr>
            <p:cNvPr id="13" name="object 13"/>
            <p:cNvPicPr/>
            <p:nvPr/>
          </p:nvPicPr>
          <p:blipFill>
            <a:blip r:embed="rId3" cstate="print"/>
            <a:stretch>
              <a:fillRect/>
            </a:stretch>
          </p:blipFill>
          <p:spPr>
            <a:xfrm>
              <a:off x="228600" y="0"/>
              <a:ext cx="6814566" cy="6705600"/>
            </a:xfrm>
            <a:prstGeom prst="rect">
              <a:avLst/>
            </a:prstGeom>
          </p:spPr>
        </p:pic>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84</a:t>
            </a:fld>
            <a:endParaRPr spc="-25" dirty="0"/>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34630" cy="3537585"/>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deciding</a:t>
            </a:r>
            <a:r>
              <a:rPr sz="2400" spc="-50" dirty="0">
                <a:latin typeface="Times New Roman"/>
                <a:cs typeface="Times New Roman"/>
              </a:rPr>
              <a:t> </a:t>
            </a:r>
            <a:r>
              <a:rPr sz="2400" dirty="0">
                <a:latin typeface="Times New Roman"/>
                <a:cs typeface="Times New Roman"/>
              </a:rPr>
              <a:t>when</a:t>
            </a:r>
            <a:r>
              <a:rPr sz="2400" spc="-1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handoff,</a:t>
            </a:r>
            <a:r>
              <a:rPr sz="2400" spc="-15" dirty="0">
                <a:latin typeface="Times New Roman"/>
                <a:cs typeface="Times New Roman"/>
              </a:rPr>
              <a:t> </a:t>
            </a:r>
            <a:r>
              <a:rPr sz="2400" dirty="0">
                <a:latin typeface="Times New Roman"/>
                <a:cs typeface="Times New Roman"/>
              </a:rPr>
              <a:t>it</a:t>
            </a:r>
            <a:r>
              <a:rPr sz="2400" spc="-4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important</a:t>
            </a:r>
            <a:r>
              <a:rPr sz="2400" spc="-4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ensure</a:t>
            </a:r>
            <a:r>
              <a:rPr sz="2400" spc="-30"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spc="-25" dirty="0">
                <a:latin typeface="Times New Roman"/>
                <a:cs typeface="Times New Roman"/>
              </a:rPr>
              <a:t>the </a:t>
            </a:r>
            <a:r>
              <a:rPr sz="2400" dirty="0">
                <a:latin typeface="Times New Roman"/>
                <a:cs typeface="Times New Roman"/>
              </a:rPr>
              <a:t>drop</a:t>
            </a:r>
            <a:r>
              <a:rPr sz="2400" spc="-1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measured</a:t>
            </a:r>
            <a:r>
              <a:rPr sz="2400" spc="-20" dirty="0">
                <a:latin typeface="Times New Roman"/>
                <a:cs typeface="Times New Roman"/>
              </a:rPr>
              <a:t> </a:t>
            </a:r>
            <a:r>
              <a:rPr sz="2400" dirty="0">
                <a:latin typeface="Times New Roman"/>
                <a:cs typeface="Times New Roman"/>
              </a:rPr>
              <a:t>signal</a:t>
            </a:r>
            <a:r>
              <a:rPr sz="2400" spc="-25" dirty="0">
                <a:latin typeface="Times New Roman"/>
                <a:cs typeface="Times New Roman"/>
              </a:rPr>
              <a:t> </a:t>
            </a:r>
            <a:r>
              <a:rPr sz="2400" dirty="0">
                <a:latin typeface="Times New Roman"/>
                <a:cs typeface="Times New Roman"/>
              </a:rPr>
              <a:t>level</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not</a:t>
            </a:r>
            <a:r>
              <a:rPr sz="2400" spc="-20" dirty="0">
                <a:latin typeface="Times New Roman"/>
                <a:cs typeface="Times New Roman"/>
              </a:rPr>
              <a:t> </a:t>
            </a:r>
            <a:r>
              <a:rPr sz="2400" dirty="0">
                <a:latin typeface="Times New Roman"/>
                <a:cs typeface="Times New Roman"/>
              </a:rPr>
              <a:t>due</a:t>
            </a:r>
            <a:r>
              <a:rPr sz="2400" spc="-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spc="-10" dirty="0">
                <a:latin typeface="Times New Roman"/>
                <a:cs typeface="Times New Roman"/>
              </a:rPr>
              <a:t>momentary fading.</a:t>
            </a:r>
            <a:endParaRPr sz="2400">
              <a:latin typeface="Times New Roman"/>
              <a:cs typeface="Times New Roman"/>
            </a:endParaRPr>
          </a:p>
          <a:p>
            <a:pPr marL="355600" marR="664845"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Information</a:t>
            </a:r>
            <a:r>
              <a:rPr sz="2400" spc="-20" dirty="0">
                <a:latin typeface="Times New Roman"/>
                <a:cs typeface="Times New Roman"/>
              </a:rPr>
              <a:t> </a:t>
            </a:r>
            <a:r>
              <a:rPr sz="2400" dirty="0">
                <a:latin typeface="Times New Roman"/>
                <a:cs typeface="Times New Roman"/>
              </a:rPr>
              <a:t>about</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vehicle</a:t>
            </a:r>
            <a:r>
              <a:rPr sz="2400" spc="-40" dirty="0">
                <a:latin typeface="Times New Roman"/>
                <a:cs typeface="Times New Roman"/>
              </a:rPr>
              <a:t> </a:t>
            </a:r>
            <a:r>
              <a:rPr sz="2400" dirty="0">
                <a:latin typeface="Times New Roman"/>
                <a:cs typeface="Times New Roman"/>
              </a:rPr>
              <a:t>speed</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useful</a:t>
            </a:r>
            <a:r>
              <a:rPr sz="2400" spc="-1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spc="-10" dirty="0">
                <a:latin typeface="Times New Roman"/>
                <a:cs typeface="Times New Roman"/>
              </a:rPr>
              <a:t>handoff decisions.</a:t>
            </a:r>
            <a:endParaRPr sz="2400">
              <a:latin typeface="Times New Roman"/>
              <a:cs typeface="Times New Roman"/>
            </a:endParaRPr>
          </a:p>
          <a:p>
            <a:pPr marL="355600" marR="238125" indent="-342900">
              <a:lnSpc>
                <a:spcPct val="100000"/>
              </a:lnSpc>
              <a:spcBef>
                <a:spcPts val="575"/>
              </a:spcBef>
              <a:buClr>
                <a:srgbClr val="0F1141"/>
              </a:buClr>
              <a:buFont typeface="Arial MT"/>
              <a:buChar char="•"/>
              <a:tabLst>
                <a:tab pos="355600" algn="l"/>
              </a:tabLst>
            </a:pPr>
            <a:r>
              <a:rPr sz="2400" dirty="0">
                <a:latin typeface="Times New Roman"/>
                <a:cs typeface="Times New Roman"/>
              </a:rPr>
              <a:t>Dwell</a:t>
            </a:r>
            <a:r>
              <a:rPr sz="2400" spc="-10" dirty="0">
                <a:latin typeface="Times New Roman"/>
                <a:cs typeface="Times New Roman"/>
              </a:rPr>
              <a:t> </a:t>
            </a:r>
            <a:r>
              <a:rPr sz="2400" dirty="0">
                <a:latin typeface="Times New Roman"/>
                <a:cs typeface="Times New Roman"/>
              </a:rPr>
              <a:t>time</a:t>
            </a:r>
            <a:r>
              <a:rPr sz="2400" spc="-1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time</a:t>
            </a:r>
            <a:r>
              <a:rPr sz="2400" spc="-20" dirty="0">
                <a:latin typeface="Times New Roman"/>
                <a:cs typeface="Times New Roman"/>
              </a:rPr>
              <a:t> </a:t>
            </a:r>
            <a:r>
              <a:rPr sz="2400" dirty="0">
                <a:latin typeface="Times New Roman"/>
                <a:cs typeface="Times New Roman"/>
              </a:rPr>
              <a:t>over</a:t>
            </a:r>
            <a:r>
              <a:rPr sz="2400" spc="-5" dirty="0">
                <a:latin typeface="Times New Roman"/>
                <a:cs typeface="Times New Roman"/>
              </a:rPr>
              <a:t> </a:t>
            </a:r>
            <a:r>
              <a:rPr sz="2400" dirty="0">
                <a:latin typeface="Times New Roman"/>
                <a:cs typeface="Times New Roman"/>
              </a:rPr>
              <a:t>which</a:t>
            </a:r>
            <a:r>
              <a:rPr sz="2400" spc="-2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call</a:t>
            </a:r>
            <a:r>
              <a:rPr sz="2400" spc="-40" dirty="0">
                <a:latin typeface="Times New Roman"/>
                <a:cs typeface="Times New Roman"/>
              </a:rPr>
              <a:t> </a:t>
            </a:r>
            <a:r>
              <a:rPr sz="2400" dirty="0">
                <a:latin typeface="Times New Roman"/>
                <a:cs typeface="Times New Roman"/>
              </a:rPr>
              <a:t>may be</a:t>
            </a:r>
            <a:r>
              <a:rPr sz="2400" spc="-15" dirty="0">
                <a:latin typeface="Times New Roman"/>
                <a:cs typeface="Times New Roman"/>
              </a:rPr>
              <a:t> </a:t>
            </a:r>
            <a:r>
              <a:rPr sz="2400" spc="-10" dirty="0">
                <a:latin typeface="Times New Roman"/>
                <a:cs typeface="Times New Roman"/>
              </a:rPr>
              <a:t>maintained </a:t>
            </a:r>
            <a:r>
              <a:rPr sz="2400" dirty="0">
                <a:latin typeface="Times New Roman"/>
                <a:cs typeface="Times New Roman"/>
              </a:rPr>
              <a:t>within</a:t>
            </a:r>
            <a:r>
              <a:rPr sz="2400" spc="-25" dirty="0">
                <a:latin typeface="Times New Roman"/>
                <a:cs typeface="Times New Roman"/>
              </a:rPr>
              <a:t> </a:t>
            </a:r>
            <a:r>
              <a:rPr sz="2400" dirty="0">
                <a:latin typeface="Times New Roman"/>
                <a:cs typeface="Times New Roman"/>
              </a:rPr>
              <a:t>a cell</a:t>
            </a:r>
            <a:r>
              <a:rPr sz="2400" spc="-30" dirty="0">
                <a:latin typeface="Times New Roman"/>
                <a:cs typeface="Times New Roman"/>
              </a:rPr>
              <a:t> </a:t>
            </a:r>
            <a:r>
              <a:rPr sz="2400" dirty="0">
                <a:latin typeface="Times New Roman"/>
                <a:cs typeface="Times New Roman"/>
              </a:rPr>
              <a:t>without </a:t>
            </a:r>
            <a:r>
              <a:rPr sz="2400" spc="-10" dirty="0">
                <a:latin typeface="Times New Roman"/>
                <a:cs typeface="Times New Roman"/>
              </a:rPr>
              <a:t>handoff.</a:t>
            </a:r>
            <a:endParaRPr sz="2400">
              <a:latin typeface="Times New Roman"/>
              <a:cs typeface="Times New Roman"/>
            </a:endParaRPr>
          </a:p>
          <a:p>
            <a:pPr marL="355600" marR="585470" indent="-342900">
              <a:lnSpc>
                <a:spcPct val="100000"/>
              </a:lnSpc>
              <a:spcBef>
                <a:spcPts val="580"/>
              </a:spcBef>
              <a:buClr>
                <a:srgbClr val="0F1141"/>
              </a:buClr>
              <a:buFont typeface="Arial MT"/>
              <a:buChar char="•"/>
              <a:tabLst>
                <a:tab pos="35560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statistics</a:t>
            </a:r>
            <a:r>
              <a:rPr sz="2400" spc="-40" dirty="0">
                <a:latin typeface="Times New Roman"/>
                <a:cs typeface="Times New Roman"/>
              </a:rPr>
              <a:t> </a:t>
            </a:r>
            <a:r>
              <a:rPr sz="2400" dirty="0">
                <a:latin typeface="Times New Roman"/>
                <a:cs typeface="Times New Roman"/>
              </a:rPr>
              <a:t>of dwell</a:t>
            </a:r>
            <a:r>
              <a:rPr sz="2400" spc="-25" dirty="0">
                <a:latin typeface="Times New Roman"/>
                <a:cs typeface="Times New Roman"/>
              </a:rPr>
              <a:t> </a:t>
            </a:r>
            <a:r>
              <a:rPr sz="2400" dirty="0">
                <a:latin typeface="Times New Roman"/>
                <a:cs typeface="Times New Roman"/>
              </a:rPr>
              <a:t>time are</a:t>
            </a:r>
            <a:r>
              <a:rPr sz="2400" spc="-30" dirty="0">
                <a:latin typeface="Times New Roman"/>
                <a:cs typeface="Times New Roman"/>
              </a:rPr>
              <a:t> </a:t>
            </a:r>
            <a:r>
              <a:rPr sz="2400" dirty="0">
                <a:latin typeface="Times New Roman"/>
                <a:cs typeface="Times New Roman"/>
              </a:rPr>
              <a:t>important</a:t>
            </a:r>
            <a:r>
              <a:rPr sz="2400" spc="-2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practical </a:t>
            </a:r>
            <a:r>
              <a:rPr sz="2400" dirty="0">
                <a:latin typeface="Times New Roman"/>
                <a:cs typeface="Times New Roman"/>
              </a:rPr>
              <a:t>design</a:t>
            </a:r>
            <a:r>
              <a:rPr sz="2400" spc="-4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handoff</a:t>
            </a:r>
            <a:r>
              <a:rPr sz="2400" spc="-25" dirty="0">
                <a:latin typeface="Times New Roman"/>
                <a:cs typeface="Times New Roman"/>
              </a:rPr>
              <a:t> </a:t>
            </a:r>
            <a:r>
              <a:rPr sz="2400" spc="-10" dirty="0">
                <a:latin typeface="Times New Roman"/>
                <a:cs typeface="Times New Roman"/>
              </a:rPr>
              <a:t>algorithm.</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85</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49EB6C-C0C8-35AE-E4DC-1FAA662B484D}"/>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BD6FEB5-F6C6-F37B-5F94-4113039BC4B6}"/>
              </a:ext>
            </a:extLst>
          </p:cNvPr>
          <p:cNvGrpSpPr/>
          <p:nvPr/>
        </p:nvGrpSpPr>
        <p:grpSpPr>
          <a:xfrm>
            <a:off x="0" y="0"/>
            <a:ext cx="9144380" cy="6603835"/>
            <a:chOff x="0" y="0"/>
            <a:chExt cx="9144380" cy="6603835"/>
          </a:xfrm>
        </p:grpSpPr>
        <p:sp>
          <p:nvSpPr>
            <p:cNvPr id="3" name="object 3">
              <a:extLst>
                <a:ext uri="{FF2B5EF4-FFF2-40B4-BE49-F238E27FC236}">
                  <a16:creationId xmlns:a16="http://schemas.microsoft.com/office/drawing/2014/main" id="{27385E13-EA82-2521-3112-4065397441D4}"/>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4EAB97DD-F8F2-11CD-6FC6-08560CEFC04E}"/>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923DF53A-57FC-F52B-B2E7-3229A6D19180}"/>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a:extLst>
                <a:ext uri="{FF2B5EF4-FFF2-40B4-BE49-F238E27FC236}">
                  <a16:creationId xmlns:a16="http://schemas.microsoft.com/office/drawing/2014/main" id="{9633C55F-6579-3BE4-C5D6-B0C850865C4F}"/>
                </a:ext>
              </a:extLst>
            </p:cNvPr>
            <p:cNvPicPr/>
            <p:nvPr/>
          </p:nvPicPr>
          <p:blipFill>
            <a:blip r:embed="rId2" cstate="print"/>
            <a:stretch>
              <a:fillRect/>
            </a:stretch>
          </p:blipFill>
          <p:spPr>
            <a:xfrm>
              <a:off x="6629400" y="0"/>
              <a:ext cx="2193163" cy="692658"/>
            </a:xfrm>
            <a:prstGeom prst="rect">
              <a:avLst/>
            </a:prstGeom>
          </p:spPr>
        </p:pic>
        <p:sp>
          <p:nvSpPr>
            <p:cNvPr id="7" name="object 7">
              <a:extLst>
                <a:ext uri="{FF2B5EF4-FFF2-40B4-BE49-F238E27FC236}">
                  <a16:creationId xmlns:a16="http://schemas.microsoft.com/office/drawing/2014/main" id="{6B8D09BD-963E-7300-1F88-1289D47325F0}"/>
                </a:ext>
              </a:extLst>
            </p:cNvPr>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a:extLst>
                <a:ext uri="{FF2B5EF4-FFF2-40B4-BE49-F238E27FC236}">
                  <a16:creationId xmlns:a16="http://schemas.microsoft.com/office/drawing/2014/main" id="{2A3BB99C-29AF-4B55-3B07-25E0DBB683EE}"/>
                </a:ext>
              </a:extLst>
            </p:cNvPr>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a:extLst>
                <a:ext uri="{FF2B5EF4-FFF2-40B4-BE49-F238E27FC236}">
                  <a16:creationId xmlns:a16="http://schemas.microsoft.com/office/drawing/2014/main" id="{11309400-BE12-FA7E-3D86-FD9EB3987D7A}"/>
                </a:ext>
              </a:extLst>
            </p:cNvPr>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a:extLst>
                <a:ext uri="{FF2B5EF4-FFF2-40B4-BE49-F238E27FC236}">
                  <a16:creationId xmlns:a16="http://schemas.microsoft.com/office/drawing/2014/main" id="{FE9A296C-7CF4-9811-548C-0C8A16BA2BC3}"/>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a:extLst>
                <a:ext uri="{FF2B5EF4-FFF2-40B4-BE49-F238E27FC236}">
                  <a16:creationId xmlns:a16="http://schemas.microsoft.com/office/drawing/2014/main" id="{DD48C7F6-812B-DF0F-3904-D27AECA0FFD9}"/>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a:extLst>
                <a:ext uri="{FF2B5EF4-FFF2-40B4-BE49-F238E27FC236}">
                  <a16:creationId xmlns:a16="http://schemas.microsoft.com/office/drawing/2014/main" id="{327ADF1D-90ED-3759-0F41-1DFBBA368AD9}"/>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BC562D56-8BD5-7E97-BB98-D62E3B79D0A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86</a:t>
            </a:fld>
            <a:endParaRPr spc="-25" dirty="0"/>
          </a:p>
        </p:txBody>
      </p:sp>
      <p:sp>
        <p:nvSpPr>
          <p:cNvPr id="15" name="object 15">
            <a:extLst>
              <a:ext uri="{FF2B5EF4-FFF2-40B4-BE49-F238E27FC236}">
                <a16:creationId xmlns:a16="http://schemas.microsoft.com/office/drawing/2014/main" id="{4421C115-4F86-F59E-9E95-7B0A8C23FEE0}"/>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17" name="TextBox 16">
            <a:extLst>
              <a:ext uri="{FF2B5EF4-FFF2-40B4-BE49-F238E27FC236}">
                <a16:creationId xmlns:a16="http://schemas.microsoft.com/office/drawing/2014/main" id="{94CFC243-3F36-0FD5-A58E-3C805E581615}"/>
              </a:ext>
            </a:extLst>
          </p:cNvPr>
          <p:cNvSpPr txBox="1"/>
          <p:nvPr/>
        </p:nvSpPr>
        <p:spPr>
          <a:xfrm>
            <a:off x="0" y="1376716"/>
            <a:ext cx="9063862" cy="4801314"/>
          </a:xfrm>
          <a:prstGeom prst="rect">
            <a:avLst/>
          </a:prstGeom>
          <a:noFill/>
        </p:spPr>
        <p:txBody>
          <a:bodyPr wrap="square">
            <a:spAutoFit/>
          </a:bodyPr>
          <a:lstStyle/>
          <a:p>
            <a:pPr>
              <a:buNone/>
            </a:pPr>
            <a:r>
              <a:rPr lang="en-US" b="1" dirty="0"/>
              <a:t>(a) Improper Handoff Situation</a:t>
            </a:r>
          </a:p>
          <a:p>
            <a:pPr>
              <a:buFont typeface="Arial" panose="020B0604020202020204" pitchFamily="34" charset="0"/>
              <a:buChar char="•"/>
            </a:pPr>
            <a:r>
              <a:rPr lang="en-US" dirty="0"/>
              <a:t>The handoff decision is </a:t>
            </a:r>
            <a:r>
              <a:rPr lang="en-US" b="1" dirty="0"/>
              <a:t>delayed</a:t>
            </a:r>
            <a:r>
              <a:rPr lang="en-US" dirty="0"/>
              <a:t>.</a:t>
            </a:r>
          </a:p>
          <a:p>
            <a:pPr>
              <a:buFont typeface="Arial" panose="020B0604020202020204" pitchFamily="34" charset="0"/>
              <a:buChar char="•"/>
            </a:pPr>
            <a:r>
              <a:rPr lang="en-US" dirty="0"/>
              <a:t>The signal strength from </a:t>
            </a:r>
            <a:r>
              <a:rPr lang="en-US" b="1" dirty="0"/>
              <a:t>Base Station 1 (BS1)</a:t>
            </a:r>
            <a:r>
              <a:rPr lang="en-US" dirty="0"/>
              <a:t> falls </a:t>
            </a:r>
            <a:r>
              <a:rPr lang="en-US" b="1" dirty="0"/>
              <a:t>below the minimum acceptable signal level</a:t>
            </a:r>
            <a:r>
              <a:rPr lang="en-US" dirty="0"/>
              <a:t> before a handoff is initiated.</a:t>
            </a:r>
          </a:p>
          <a:p>
            <a:pPr>
              <a:buFont typeface="Arial" panose="020B0604020202020204" pitchFamily="34" charset="0"/>
              <a:buChar char="•"/>
            </a:pPr>
            <a:r>
              <a:rPr lang="en-US" dirty="0"/>
              <a:t>As a result, the call is </a:t>
            </a:r>
            <a:r>
              <a:rPr lang="en-US" b="1" dirty="0"/>
              <a:t>dropped at point B</a:t>
            </a:r>
            <a:r>
              <a:rPr lang="en-US" dirty="0"/>
              <a:t> because the signal becomes too weak to maintain the call.</a:t>
            </a:r>
          </a:p>
          <a:p>
            <a:pPr>
              <a:buFont typeface="Arial" panose="020B0604020202020204" pitchFamily="34" charset="0"/>
              <a:buChar char="•"/>
            </a:pPr>
            <a:r>
              <a:rPr lang="en-US" b="1" dirty="0"/>
              <a:t>Conclusion</a:t>
            </a:r>
            <a:r>
              <a:rPr lang="en-US" dirty="0"/>
              <a:t>: Handoff occurred too late, resulting in call termination.</a:t>
            </a:r>
          </a:p>
          <a:p>
            <a:endParaRPr lang="en-US" dirty="0"/>
          </a:p>
          <a:p>
            <a:pPr>
              <a:buNone/>
            </a:pPr>
            <a:r>
              <a:rPr lang="en-US" b="1" dirty="0"/>
              <a:t>(b) Proper Handoff Situation</a:t>
            </a:r>
          </a:p>
          <a:p>
            <a:pPr>
              <a:buFont typeface="Arial" panose="020B0604020202020204" pitchFamily="34" charset="0"/>
              <a:buChar char="•"/>
            </a:pPr>
            <a:r>
              <a:rPr lang="en-US" dirty="0"/>
              <a:t>The handoff is triggered </a:t>
            </a:r>
            <a:r>
              <a:rPr lang="en-US" b="1" dirty="0"/>
              <a:t>in advance</a:t>
            </a:r>
            <a:r>
              <a:rPr lang="en-US" dirty="0"/>
              <a:t>, before the signal drops below the minimum acceptable level.</a:t>
            </a:r>
          </a:p>
          <a:p>
            <a:pPr>
              <a:buFont typeface="Arial" panose="020B0604020202020204" pitchFamily="34" charset="0"/>
              <a:buChar char="•"/>
            </a:pPr>
            <a:r>
              <a:rPr lang="en-US" dirty="0"/>
              <a:t>When the signal from </a:t>
            </a:r>
            <a:r>
              <a:rPr lang="en-US" b="1" dirty="0"/>
              <a:t>BS1</a:t>
            </a:r>
            <a:r>
              <a:rPr lang="en-US" dirty="0"/>
              <a:t> falls to the </a:t>
            </a:r>
            <a:r>
              <a:rPr lang="en-US" b="1" dirty="0"/>
              <a:t>handoff threshold</a:t>
            </a:r>
            <a:r>
              <a:rPr lang="en-US" dirty="0"/>
              <a:t>, the mobile is transferred to </a:t>
            </a:r>
            <a:r>
              <a:rPr lang="en-US" b="1" dirty="0"/>
              <a:t>Base Station 2 (BS2)</a:t>
            </a:r>
            <a:r>
              <a:rPr lang="en-US" dirty="0"/>
              <a:t>.</a:t>
            </a:r>
          </a:p>
          <a:p>
            <a:pPr>
              <a:buFont typeface="Arial" panose="020B0604020202020204" pitchFamily="34" charset="0"/>
              <a:buChar char="•"/>
            </a:pPr>
            <a:r>
              <a:rPr lang="en-US" dirty="0"/>
              <a:t>The signal strength from BS2 at this point is sufficient to maintain the call.</a:t>
            </a:r>
          </a:p>
          <a:p>
            <a:pPr>
              <a:buFont typeface="Arial" panose="020B0604020202020204" pitchFamily="34" charset="0"/>
              <a:buChar char="•"/>
            </a:pPr>
            <a:r>
              <a:rPr lang="en-US" b="1" dirty="0"/>
              <a:t>Conclusion</a:t>
            </a:r>
            <a:r>
              <a:rPr lang="en-US" dirty="0"/>
              <a:t>: Handoff occurred at the right time, allowing </a:t>
            </a:r>
            <a:r>
              <a:rPr lang="en-US" b="1" dirty="0"/>
              <a:t>seamless call transfer</a:t>
            </a:r>
            <a:r>
              <a:rPr lang="en-US" dirty="0"/>
              <a:t> and avoiding call drop.</a:t>
            </a:r>
          </a:p>
          <a:p>
            <a:endParaRPr lang="en-US" dirty="0"/>
          </a:p>
        </p:txBody>
      </p:sp>
    </p:spTree>
    <p:extLst>
      <p:ext uri="{BB962C8B-B14F-4D97-AF65-F5344CB8AC3E}">
        <p14:creationId xmlns:p14="http://schemas.microsoft.com/office/powerpoint/2010/main" val="8060683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64DBE1-23CF-3BEC-1F39-44BCFB376AF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2A7D6CF-2FC0-7AAA-2927-2E2024B94C0B}"/>
              </a:ext>
            </a:extLst>
          </p:cNvPr>
          <p:cNvGrpSpPr/>
          <p:nvPr/>
        </p:nvGrpSpPr>
        <p:grpSpPr>
          <a:xfrm>
            <a:off x="0" y="0"/>
            <a:ext cx="9144380" cy="6603835"/>
            <a:chOff x="0" y="0"/>
            <a:chExt cx="9144380" cy="6603835"/>
          </a:xfrm>
        </p:grpSpPr>
        <p:sp>
          <p:nvSpPr>
            <p:cNvPr id="3" name="object 3">
              <a:extLst>
                <a:ext uri="{FF2B5EF4-FFF2-40B4-BE49-F238E27FC236}">
                  <a16:creationId xmlns:a16="http://schemas.microsoft.com/office/drawing/2014/main" id="{3A0D6D33-FD1A-58C9-33AB-D8A4D6B8E4B8}"/>
                </a:ext>
              </a:extLst>
            </p:cNvPr>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endParaRPr/>
            </a:p>
          </p:txBody>
        </p:sp>
        <p:sp>
          <p:nvSpPr>
            <p:cNvPr id="4" name="object 4">
              <a:extLst>
                <a:ext uri="{FF2B5EF4-FFF2-40B4-BE49-F238E27FC236}">
                  <a16:creationId xmlns:a16="http://schemas.microsoft.com/office/drawing/2014/main" id="{6DF4A84D-4352-1301-FE8B-762AEE32B9A0}"/>
                </a:ext>
              </a:extLst>
            </p:cNvPr>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endParaRPr/>
            </a:p>
          </p:txBody>
        </p:sp>
        <p:sp>
          <p:nvSpPr>
            <p:cNvPr id="5" name="object 5">
              <a:extLst>
                <a:ext uri="{FF2B5EF4-FFF2-40B4-BE49-F238E27FC236}">
                  <a16:creationId xmlns:a16="http://schemas.microsoft.com/office/drawing/2014/main" id="{32A6B304-CCD1-CC2D-B4C5-0F3FB9B6002C}"/>
                </a:ext>
              </a:extLst>
            </p:cNvPr>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endParaRPr/>
            </a:p>
          </p:txBody>
        </p:sp>
        <p:pic>
          <p:nvPicPr>
            <p:cNvPr id="6" name="object 6">
              <a:extLst>
                <a:ext uri="{FF2B5EF4-FFF2-40B4-BE49-F238E27FC236}">
                  <a16:creationId xmlns:a16="http://schemas.microsoft.com/office/drawing/2014/main" id="{B41A0FCA-BFD4-F54F-8477-A4A8C5795EBA}"/>
                </a:ext>
              </a:extLst>
            </p:cNvPr>
            <p:cNvPicPr/>
            <p:nvPr/>
          </p:nvPicPr>
          <p:blipFill>
            <a:blip r:embed="rId2" cstate="print"/>
            <a:stretch>
              <a:fillRect/>
            </a:stretch>
          </p:blipFill>
          <p:spPr>
            <a:xfrm>
              <a:off x="6629400" y="0"/>
              <a:ext cx="2193163" cy="692658"/>
            </a:xfrm>
            <a:prstGeom prst="rect">
              <a:avLst/>
            </a:prstGeom>
          </p:spPr>
        </p:pic>
        <p:sp>
          <p:nvSpPr>
            <p:cNvPr id="7" name="object 7">
              <a:extLst>
                <a:ext uri="{FF2B5EF4-FFF2-40B4-BE49-F238E27FC236}">
                  <a16:creationId xmlns:a16="http://schemas.microsoft.com/office/drawing/2014/main" id="{271DBB7D-D814-954F-4FEC-0FAD185A1B8E}"/>
                </a:ext>
              </a:extLst>
            </p:cNvPr>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8" name="object 8">
              <a:extLst>
                <a:ext uri="{FF2B5EF4-FFF2-40B4-BE49-F238E27FC236}">
                  <a16:creationId xmlns:a16="http://schemas.microsoft.com/office/drawing/2014/main" id="{1699F8FD-D6AB-4CA0-3393-0ACEDBB5F4DC}"/>
                </a:ext>
              </a:extLst>
            </p:cNvPr>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9" name="object 9">
              <a:extLst>
                <a:ext uri="{FF2B5EF4-FFF2-40B4-BE49-F238E27FC236}">
                  <a16:creationId xmlns:a16="http://schemas.microsoft.com/office/drawing/2014/main" id="{BB7E6164-E4EC-4325-A9C9-B66A38E8BE1D}"/>
                </a:ext>
              </a:extLst>
            </p:cNvPr>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sp>
          <p:nvSpPr>
            <p:cNvPr id="10" name="object 10">
              <a:extLst>
                <a:ext uri="{FF2B5EF4-FFF2-40B4-BE49-F238E27FC236}">
                  <a16:creationId xmlns:a16="http://schemas.microsoft.com/office/drawing/2014/main" id="{7680FD0B-FDA0-00CC-3DCC-7BF76B4CBAF3}"/>
                </a:ext>
              </a:extLst>
            </p:cNvPr>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endParaRPr/>
            </a:p>
          </p:txBody>
        </p:sp>
        <p:sp>
          <p:nvSpPr>
            <p:cNvPr id="11" name="object 11">
              <a:extLst>
                <a:ext uri="{FF2B5EF4-FFF2-40B4-BE49-F238E27FC236}">
                  <a16:creationId xmlns:a16="http://schemas.microsoft.com/office/drawing/2014/main" id="{49507738-19FA-D330-042B-AE3B2F6CD43E}"/>
                </a:ext>
              </a:extLst>
            </p:cNvPr>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endParaRPr/>
            </a:p>
          </p:txBody>
        </p:sp>
        <p:sp>
          <p:nvSpPr>
            <p:cNvPr id="12" name="object 12">
              <a:extLst>
                <a:ext uri="{FF2B5EF4-FFF2-40B4-BE49-F238E27FC236}">
                  <a16:creationId xmlns:a16="http://schemas.microsoft.com/office/drawing/2014/main" id="{583FAD3A-D32B-F0ED-46C9-2020D53BA691}"/>
                </a:ext>
              </a:extLst>
            </p:cNvPr>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A94FACF9-E349-81E1-FC52-AB8E4F3600E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87</a:t>
            </a:fld>
            <a:endParaRPr spc="-25" dirty="0"/>
          </a:p>
        </p:txBody>
      </p:sp>
      <p:sp>
        <p:nvSpPr>
          <p:cNvPr id="15" name="object 15">
            <a:extLst>
              <a:ext uri="{FF2B5EF4-FFF2-40B4-BE49-F238E27FC236}">
                <a16:creationId xmlns:a16="http://schemas.microsoft.com/office/drawing/2014/main" id="{BEC4F5C5-D1B1-4CC5-1DAD-6CD10B2C2A7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20" name="TextBox 19">
            <a:extLst>
              <a:ext uri="{FF2B5EF4-FFF2-40B4-BE49-F238E27FC236}">
                <a16:creationId xmlns:a16="http://schemas.microsoft.com/office/drawing/2014/main" id="{9EE0346A-63F6-A512-BE8F-0542A5EF166F}"/>
              </a:ext>
            </a:extLst>
          </p:cNvPr>
          <p:cNvSpPr txBox="1"/>
          <p:nvPr/>
        </p:nvSpPr>
        <p:spPr>
          <a:xfrm>
            <a:off x="76200" y="1376716"/>
            <a:ext cx="8987662"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Two adjacent cells are shown: one served by </a:t>
            </a:r>
            <a:r>
              <a:rPr kumimoji="0" lang="en-US" altLang="en-US" sz="1800" b="1" i="0" u="none" strike="noStrike" cap="none" normalizeH="0" baseline="0" dirty="0">
                <a:ln>
                  <a:noFill/>
                </a:ln>
                <a:solidFill>
                  <a:schemeClr val="tx1"/>
                </a:solidFill>
                <a:effectLst/>
                <a:latin typeface="Arial" panose="020B0604020202020204" pitchFamily="34" charset="0"/>
              </a:rPr>
              <a:t>BS1</a:t>
            </a:r>
            <a:r>
              <a:rPr kumimoji="0" lang="en-US" altLang="en-US" sz="1800" b="0" i="0" u="none" strike="noStrike" cap="none" normalizeH="0" baseline="0" dirty="0">
                <a:ln>
                  <a:noFill/>
                </a:ln>
                <a:solidFill>
                  <a:schemeClr val="tx1"/>
                </a:solidFill>
                <a:effectLst/>
                <a:latin typeface="Arial" panose="020B0604020202020204" pitchFamily="34" charset="0"/>
              </a:rPr>
              <a:t> and the other by </a:t>
            </a:r>
            <a:r>
              <a:rPr kumimoji="0" lang="en-US" altLang="en-US" sz="1800" b="1" i="0" u="none" strike="noStrike" cap="none" normalizeH="0" baseline="0" dirty="0">
                <a:ln>
                  <a:noFill/>
                </a:ln>
                <a:solidFill>
                  <a:schemeClr val="tx1"/>
                </a:solidFill>
                <a:effectLst/>
                <a:latin typeface="Arial" panose="020B0604020202020204" pitchFamily="34" charset="0"/>
              </a:rPr>
              <a:t>BS2</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mobile user moves from point </a:t>
            </a:r>
            <a:r>
              <a:rPr kumimoji="0" lang="en-US" altLang="en-US" sz="1800" b="1" i="0" u="none" strike="noStrike" cap="none" normalizeH="0" baseline="0" dirty="0">
                <a:ln>
                  <a:noFill/>
                </a:ln>
                <a:solidFill>
                  <a:schemeClr val="tx1"/>
                </a:solidFill>
                <a:effectLst/>
                <a:latin typeface="Arial" panose="020B0604020202020204" pitchFamily="34" charset="0"/>
              </a:rPr>
              <a:t>A</a:t>
            </a:r>
            <a:r>
              <a:rPr kumimoji="0" lang="en-US" altLang="en-US" sz="1800" b="0" i="0" u="none" strike="noStrike" cap="none" normalizeH="0" baseline="0" dirty="0">
                <a:ln>
                  <a:noFill/>
                </a:ln>
                <a:solidFill>
                  <a:schemeClr val="tx1"/>
                </a:solidFill>
                <a:effectLst/>
                <a:latin typeface="Arial" panose="020B0604020202020204" pitchFamily="34" charset="0"/>
              </a:rPr>
              <a:t> (in BS1’s coverage) to point </a:t>
            </a:r>
            <a:r>
              <a:rPr kumimoji="0" lang="en-US" altLang="en-US" sz="1800" b="1" i="0" u="none" strike="noStrike" cap="none" normalizeH="0" baseline="0" dirty="0">
                <a:ln>
                  <a:noFill/>
                </a:ln>
                <a:solidFill>
                  <a:schemeClr val="tx1"/>
                </a:solidFill>
                <a:effectLst/>
                <a:latin typeface="Arial" panose="020B0604020202020204" pitchFamily="34" charset="0"/>
              </a:rPr>
              <a:t>B</a:t>
            </a:r>
            <a:r>
              <a:rPr kumimoji="0" lang="en-US" altLang="en-US" sz="1800" b="0" i="0" u="none" strike="noStrike" cap="none" normalizeH="0" baseline="0" dirty="0">
                <a:ln>
                  <a:noFill/>
                </a:ln>
                <a:solidFill>
                  <a:schemeClr val="tx1"/>
                </a:solidFill>
                <a:effectLst/>
                <a:latin typeface="Arial" panose="020B0604020202020204" pitchFamily="34" charset="0"/>
              </a:rPr>
              <a:t> (towards BS2).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Handoff must be performed near the </a:t>
            </a:r>
            <a:r>
              <a:rPr kumimoji="0" lang="en-US" altLang="en-US" sz="1800" b="1" i="0" u="none" strike="noStrike" cap="none" normalizeH="0" baseline="0" dirty="0">
                <a:ln>
                  <a:noFill/>
                </a:ln>
                <a:solidFill>
                  <a:schemeClr val="tx1"/>
                </a:solidFill>
                <a:effectLst/>
                <a:latin typeface="Arial" panose="020B0604020202020204" pitchFamily="34" charset="0"/>
              </a:rPr>
              <a:t>cell boundary</a:t>
            </a:r>
            <a:r>
              <a:rPr kumimoji="0" lang="en-US" altLang="en-US" sz="1800" b="0" i="0" u="none" strike="noStrike" cap="none" normalizeH="0" baseline="0" dirty="0">
                <a:ln>
                  <a:noFill/>
                </a:ln>
                <a:solidFill>
                  <a:schemeClr val="tx1"/>
                </a:solidFill>
                <a:effectLst/>
                <a:latin typeface="Arial" panose="020B0604020202020204" pitchFamily="34" charset="0"/>
              </a:rPr>
              <a:t> to ensure uninterrupted service.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a:buNone/>
            </a:pPr>
            <a:r>
              <a:rPr lang="en-US" b="1" dirty="0"/>
              <a:t>Key Terms</a:t>
            </a:r>
          </a:p>
          <a:p>
            <a:pPr>
              <a:buFont typeface="Arial" panose="020B0604020202020204" pitchFamily="34" charset="0"/>
              <a:buChar char="•"/>
            </a:pPr>
            <a:r>
              <a:rPr lang="en-US" b="1" dirty="0"/>
              <a:t>Handoff Threshold</a:t>
            </a:r>
            <a:r>
              <a:rPr lang="en-US" dirty="0"/>
              <a:t>: Signal level at which a handoff should ideally occur.</a:t>
            </a:r>
          </a:p>
          <a:p>
            <a:pPr>
              <a:buFont typeface="Arial" panose="020B0604020202020204" pitchFamily="34" charset="0"/>
              <a:buChar char="•"/>
            </a:pPr>
            <a:r>
              <a:rPr lang="en-US" b="1" dirty="0"/>
              <a:t>Minimum Acceptable Signal</a:t>
            </a:r>
            <a:r>
              <a:rPr lang="en-US" dirty="0"/>
              <a:t>: Lowest signal level at which a call can still be maintained.</a:t>
            </a:r>
          </a:p>
          <a:p>
            <a:pPr>
              <a:buFont typeface="Arial" panose="020B0604020202020204" pitchFamily="34" charset="0"/>
              <a:buChar char="•"/>
            </a:pPr>
            <a:r>
              <a:rPr lang="en-US" b="1" dirty="0"/>
              <a:t>Call Dropped</a:t>
            </a:r>
            <a:r>
              <a:rPr lang="en-US" dirty="0"/>
              <a:t>: Happens when the signal falls below the minimum acceptable level before handoff.</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dirty="0"/>
              <a:t>Proper handoff management ensures that the user experiences </a:t>
            </a:r>
            <a:r>
              <a:rPr lang="en-US" b="1" dirty="0"/>
              <a:t>no service disruption</a:t>
            </a:r>
            <a:r>
              <a:rPr lang="en-US" dirty="0"/>
              <a:t> while moving across cells. Delayed handoff may lead to </a:t>
            </a:r>
            <a:r>
              <a:rPr lang="en-US" b="1" dirty="0"/>
              <a:t>call drops</a:t>
            </a:r>
            <a:r>
              <a:rPr lang="en-US" dirty="0"/>
              <a:t>, affecting user experience.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67686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47330" cy="2000885"/>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first</a:t>
            </a:r>
            <a:r>
              <a:rPr sz="2400" spc="-10" dirty="0">
                <a:latin typeface="Times New Roman"/>
                <a:cs typeface="Times New Roman"/>
              </a:rPr>
              <a:t> </a:t>
            </a:r>
            <a:r>
              <a:rPr sz="2400" dirty="0">
                <a:latin typeface="Times New Roman"/>
                <a:cs typeface="Times New Roman"/>
              </a:rPr>
              <a:t>generation</a:t>
            </a:r>
            <a:r>
              <a:rPr sz="2400" spc="-50" dirty="0">
                <a:latin typeface="Times New Roman"/>
                <a:cs typeface="Times New Roman"/>
              </a:rPr>
              <a:t> </a:t>
            </a:r>
            <a:r>
              <a:rPr sz="2400" dirty="0">
                <a:latin typeface="Times New Roman"/>
                <a:cs typeface="Times New Roman"/>
              </a:rPr>
              <a:t>analog</a:t>
            </a:r>
            <a:r>
              <a:rPr sz="2400" spc="-25" dirty="0">
                <a:latin typeface="Times New Roman"/>
                <a:cs typeface="Times New Roman"/>
              </a:rPr>
              <a:t> </a:t>
            </a:r>
            <a:r>
              <a:rPr sz="2400" dirty="0">
                <a:latin typeface="Times New Roman"/>
                <a:cs typeface="Times New Roman"/>
              </a:rPr>
              <a:t>cellular</a:t>
            </a:r>
            <a:r>
              <a:rPr sz="2400" spc="-55" dirty="0">
                <a:latin typeface="Times New Roman"/>
                <a:cs typeface="Times New Roman"/>
              </a:rPr>
              <a:t> </a:t>
            </a:r>
            <a:r>
              <a:rPr sz="2400" dirty="0">
                <a:latin typeface="Times New Roman"/>
                <a:cs typeface="Times New Roman"/>
              </a:rPr>
              <a:t>system,</a:t>
            </a:r>
            <a:r>
              <a:rPr sz="2400" spc="-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locator</a:t>
            </a:r>
            <a:r>
              <a:rPr sz="2400" spc="-30" dirty="0">
                <a:latin typeface="Times New Roman"/>
                <a:cs typeface="Times New Roman"/>
              </a:rPr>
              <a:t> </a:t>
            </a:r>
            <a:r>
              <a:rPr sz="2400" spc="-10" dirty="0">
                <a:latin typeface="Times New Roman"/>
                <a:cs typeface="Times New Roman"/>
              </a:rPr>
              <a:t>receiver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for</a:t>
            </a:r>
            <a:r>
              <a:rPr sz="2400" spc="-30" dirty="0">
                <a:latin typeface="Times New Roman"/>
                <a:cs typeface="Times New Roman"/>
              </a:rPr>
              <a:t> </a:t>
            </a:r>
            <a:r>
              <a:rPr sz="2400" spc="-10" dirty="0">
                <a:latin typeface="Times New Roman"/>
                <a:cs typeface="Times New Roman"/>
              </a:rPr>
              <a:t>handoff.</a:t>
            </a:r>
            <a:endParaRPr sz="2400">
              <a:latin typeface="Times New Roman"/>
              <a:cs typeface="Times New Roman"/>
            </a:endParaRPr>
          </a:p>
          <a:p>
            <a:pPr marL="355600" marR="353060" indent="-342900">
              <a:lnSpc>
                <a:spcPct val="100000"/>
              </a:lnSpc>
              <a:spcBef>
                <a:spcPts val="575"/>
              </a:spcBef>
              <a:buClr>
                <a:srgbClr val="0F1141"/>
              </a:buClr>
              <a:buFont typeface="Arial MT"/>
              <a:buChar char="•"/>
              <a:tabLst>
                <a:tab pos="355600" algn="l"/>
              </a:tabLst>
            </a:pP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second</a:t>
            </a:r>
            <a:r>
              <a:rPr sz="2400" spc="-25" dirty="0">
                <a:latin typeface="Times New Roman"/>
                <a:cs typeface="Times New Roman"/>
              </a:rPr>
              <a:t> </a:t>
            </a:r>
            <a:r>
              <a:rPr sz="2400" dirty="0">
                <a:latin typeface="Times New Roman"/>
                <a:cs typeface="Times New Roman"/>
              </a:rPr>
              <a:t>generation</a:t>
            </a:r>
            <a:r>
              <a:rPr sz="2400" spc="-65"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dirty="0">
                <a:latin typeface="Times New Roman"/>
                <a:cs typeface="Times New Roman"/>
              </a:rPr>
              <a:t>handoff</a:t>
            </a:r>
            <a:r>
              <a:rPr sz="2400" spc="-30" dirty="0">
                <a:latin typeface="Times New Roman"/>
                <a:cs typeface="Times New Roman"/>
              </a:rPr>
              <a:t> </a:t>
            </a:r>
            <a:r>
              <a:rPr sz="2400" dirty="0">
                <a:latin typeface="Times New Roman"/>
                <a:cs typeface="Times New Roman"/>
              </a:rPr>
              <a:t>decisions</a:t>
            </a:r>
            <a:r>
              <a:rPr sz="2400" spc="-45" dirty="0">
                <a:latin typeface="Times New Roman"/>
                <a:cs typeface="Times New Roman"/>
              </a:rPr>
              <a:t> </a:t>
            </a:r>
            <a:r>
              <a:rPr sz="2400" dirty="0">
                <a:latin typeface="Times New Roman"/>
                <a:cs typeface="Times New Roman"/>
              </a:rPr>
              <a:t>are</a:t>
            </a:r>
            <a:r>
              <a:rPr sz="2400" spc="-35" dirty="0">
                <a:latin typeface="Times New Roman"/>
                <a:cs typeface="Times New Roman"/>
              </a:rPr>
              <a:t> </a:t>
            </a:r>
            <a:r>
              <a:rPr sz="2400" spc="-10" dirty="0">
                <a:latin typeface="Times New Roman"/>
                <a:cs typeface="Times New Roman"/>
              </a:rPr>
              <a:t>mobile </a:t>
            </a:r>
            <a:r>
              <a:rPr sz="2400" dirty="0">
                <a:latin typeface="Times New Roman"/>
                <a:cs typeface="Times New Roman"/>
              </a:rPr>
              <a:t>assisted</a:t>
            </a:r>
            <a:r>
              <a:rPr sz="2400" spc="-50" dirty="0">
                <a:latin typeface="Times New Roman"/>
                <a:cs typeface="Times New Roman"/>
              </a:rPr>
              <a:t> </a:t>
            </a:r>
            <a:r>
              <a:rPr sz="2400" dirty="0">
                <a:latin typeface="Times New Roman"/>
                <a:cs typeface="Times New Roman"/>
              </a:rPr>
              <a:t>–mobile</a:t>
            </a:r>
            <a:r>
              <a:rPr sz="2400" spc="-40" dirty="0">
                <a:latin typeface="Times New Roman"/>
                <a:cs typeface="Times New Roman"/>
              </a:rPr>
              <a:t> </a:t>
            </a:r>
            <a:r>
              <a:rPr sz="2400" dirty="0">
                <a:latin typeface="Times New Roman"/>
                <a:cs typeface="Times New Roman"/>
              </a:rPr>
              <a:t>assisted</a:t>
            </a:r>
            <a:r>
              <a:rPr sz="2400" spc="-55" dirty="0">
                <a:latin typeface="Times New Roman"/>
                <a:cs typeface="Times New Roman"/>
              </a:rPr>
              <a:t> </a:t>
            </a:r>
            <a:r>
              <a:rPr sz="2400" dirty="0">
                <a:latin typeface="Times New Roman"/>
                <a:cs typeface="Times New Roman"/>
              </a:rPr>
              <a:t>handoff</a:t>
            </a:r>
            <a:r>
              <a:rPr sz="2400" spc="-35" dirty="0">
                <a:latin typeface="Times New Roman"/>
                <a:cs typeface="Times New Roman"/>
              </a:rPr>
              <a:t> </a:t>
            </a:r>
            <a:r>
              <a:rPr sz="2400" spc="-10" dirty="0">
                <a:latin typeface="Times New Roman"/>
                <a:cs typeface="Times New Roman"/>
              </a:rPr>
              <a:t>(MAHO).</a:t>
            </a:r>
            <a:endParaRPr sz="2400">
              <a:latin typeface="Times New Roman"/>
              <a:cs typeface="Times New Roman"/>
            </a:endParaRPr>
          </a:p>
          <a:p>
            <a:pPr marL="354965" indent="-342265">
              <a:lnSpc>
                <a:spcPct val="100000"/>
              </a:lnSpc>
              <a:spcBef>
                <a:spcPts val="575"/>
              </a:spcBef>
              <a:buClr>
                <a:srgbClr val="0F1141"/>
              </a:buClr>
              <a:buFont typeface="Arial MT"/>
              <a:buChar char="•"/>
              <a:tabLst>
                <a:tab pos="354965" algn="l"/>
              </a:tabLst>
            </a:pPr>
            <a:r>
              <a:rPr sz="2400" dirty="0">
                <a:latin typeface="Times New Roman"/>
                <a:cs typeface="Times New Roman"/>
              </a:rPr>
              <a:t>Intersystem</a:t>
            </a:r>
            <a:r>
              <a:rPr sz="2400" spc="-85" dirty="0">
                <a:latin typeface="Times New Roman"/>
                <a:cs typeface="Times New Roman"/>
              </a:rPr>
              <a:t> </a:t>
            </a:r>
            <a:r>
              <a:rPr sz="2400" dirty="0">
                <a:latin typeface="Times New Roman"/>
                <a:cs typeface="Times New Roman"/>
              </a:rPr>
              <a:t>handoff</a:t>
            </a:r>
            <a:r>
              <a:rPr sz="2400" spc="-10" dirty="0">
                <a:latin typeface="Times New Roman"/>
                <a:cs typeface="Times New Roman"/>
              </a:rPr>
              <a:t> </a:t>
            </a:r>
            <a:r>
              <a:rPr sz="2400" dirty="0">
                <a:latin typeface="Times New Roman"/>
                <a:cs typeface="Times New Roman"/>
              </a:rPr>
              <a:t>–different</a:t>
            </a:r>
            <a:r>
              <a:rPr sz="2400" spc="-60" dirty="0">
                <a:latin typeface="Times New Roman"/>
                <a:cs typeface="Times New Roman"/>
              </a:rPr>
              <a:t> </a:t>
            </a:r>
            <a:r>
              <a:rPr sz="2400" dirty="0">
                <a:latin typeface="Times New Roman"/>
                <a:cs typeface="Times New Roman"/>
              </a:rPr>
              <a:t>cellular</a:t>
            </a:r>
            <a:r>
              <a:rPr sz="2400" spc="-85" dirty="0">
                <a:latin typeface="Times New Roman"/>
                <a:cs typeface="Times New Roman"/>
              </a:rPr>
              <a:t> </a:t>
            </a:r>
            <a:r>
              <a:rPr sz="2400" dirty="0">
                <a:latin typeface="Times New Roman"/>
                <a:cs typeface="Times New Roman"/>
              </a:rPr>
              <a:t>systems</a:t>
            </a:r>
            <a:r>
              <a:rPr sz="2400" spc="-15" dirty="0">
                <a:latin typeface="Times New Roman"/>
                <a:cs typeface="Times New Roman"/>
              </a:rPr>
              <a:t> </a:t>
            </a:r>
            <a:r>
              <a:rPr sz="2400" spc="-10" dirty="0">
                <a:latin typeface="Times New Roman"/>
                <a:cs typeface="Times New Roman"/>
              </a:rPr>
              <a:t>–roamer.</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88</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468B-3ACD-D01F-9298-85405FC8AE2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1B55292-59C4-9934-C921-F27F64E8DF4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89</a:t>
            </a:fld>
            <a:endParaRPr spc="-25" dirty="0"/>
          </a:p>
        </p:txBody>
      </p:sp>
      <p:sp>
        <p:nvSpPr>
          <p:cNvPr id="4" name="object 4">
            <a:extLst>
              <a:ext uri="{FF2B5EF4-FFF2-40B4-BE49-F238E27FC236}">
                <a16:creationId xmlns:a16="http://schemas.microsoft.com/office/drawing/2014/main" id="{06843E87-97D5-971C-D3EA-9106A1FC5E4B}"/>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6" name="TextBox 5">
            <a:extLst>
              <a:ext uri="{FF2B5EF4-FFF2-40B4-BE49-F238E27FC236}">
                <a16:creationId xmlns:a16="http://schemas.microsoft.com/office/drawing/2014/main" id="{8A8FE396-198C-947D-DC18-64FA5B56A6B9}"/>
              </a:ext>
            </a:extLst>
          </p:cNvPr>
          <p:cNvSpPr txBox="1"/>
          <p:nvPr/>
        </p:nvSpPr>
        <p:spPr>
          <a:xfrm>
            <a:off x="0" y="1314786"/>
            <a:ext cx="9103233" cy="5355312"/>
          </a:xfrm>
          <a:prstGeom prst="rect">
            <a:avLst/>
          </a:prstGeom>
          <a:noFill/>
        </p:spPr>
        <p:txBody>
          <a:bodyPr wrap="square">
            <a:spAutoFit/>
          </a:bodyPr>
          <a:lstStyle/>
          <a:p>
            <a:r>
              <a:rPr lang="en-US" dirty="0"/>
              <a:t>Mobile Assisted Handoff (MAHO) is a technique used in </a:t>
            </a:r>
            <a:r>
              <a:rPr lang="en-US" b="1" dirty="0"/>
              <a:t>2G cellular systems (like GSM)</a:t>
            </a:r>
            <a:r>
              <a:rPr lang="en-US" dirty="0"/>
              <a:t> where the </a:t>
            </a:r>
            <a:r>
              <a:rPr lang="en-US" b="1" dirty="0"/>
              <a:t>mobile device helps the network</a:t>
            </a:r>
            <a:r>
              <a:rPr lang="en-US" dirty="0"/>
              <a:t> in making handoff decisions.</a:t>
            </a:r>
          </a:p>
          <a:p>
            <a:pPr>
              <a:buNone/>
            </a:pPr>
            <a:r>
              <a:rPr lang="en-US" b="1" dirty="0"/>
              <a:t>How it works:</a:t>
            </a:r>
          </a:p>
          <a:p>
            <a:pPr>
              <a:buFont typeface="+mj-lt"/>
              <a:buAutoNum type="arabicPeriod"/>
            </a:pPr>
            <a:r>
              <a:rPr lang="en-US" dirty="0"/>
              <a:t>The </a:t>
            </a:r>
            <a:r>
              <a:rPr lang="en-US" b="1" dirty="0"/>
              <a:t>mobile station (MS)</a:t>
            </a:r>
            <a:r>
              <a:rPr lang="en-US" dirty="0"/>
              <a:t> continuously measures:</a:t>
            </a:r>
          </a:p>
          <a:p>
            <a:pPr marL="742950" lvl="1" indent="-285750">
              <a:buFont typeface="+mj-lt"/>
              <a:buAutoNum type="arabicPeriod"/>
            </a:pPr>
            <a:r>
              <a:rPr lang="en-US" dirty="0"/>
              <a:t>Signal strength of the </a:t>
            </a:r>
            <a:r>
              <a:rPr lang="en-US" b="1" dirty="0"/>
              <a:t>serving base station (BS)</a:t>
            </a:r>
            <a:r>
              <a:rPr lang="en-US" dirty="0"/>
              <a:t>.</a:t>
            </a:r>
          </a:p>
          <a:p>
            <a:pPr marL="742950" lvl="1" indent="-285750">
              <a:buFont typeface="+mj-lt"/>
              <a:buAutoNum type="arabicPeriod"/>
            </a:pPr>
            <a:r>
              <a:rPr lang="en-US" dirty="0"/>
              <a:t>Signal strength of </a:t>
            </a:r>
            <a:r>
              <a:rPr lang="en-US" b="1" dirty="0"/>
              <a:t>neighboring base stations</a:t>
            </a:r>
            <a:r>
              <a:rPr lang="en-US" dirty="0"/>
              <a:t>.</a:t>
            </a:r>
          </a:p>
          <a:p>
            <a:pPr>
              <a:buFont typeface="+mj-lt"/>
              <a:buAutoNum type="arabicPeriod"/>
            </a:pPr>
            <a:r>
              <a:rPr lang="en-US" dirty="0"/>
              <a:t>The mobile sends this measurement data to the </a:t>
            </a:r>
            <a:r>
              <a:rPr lang="en-US" b="1" dirty="0"/>
              <a:t>serving base station</a:t>
            </a:r>
            <a:r>
              <a:rPr lang="en-US" dirty="0"/>
              <a:t> at regular intervals.</a:t>
            </a:r>
          </a:p>
          <a:p>
            <a:pPr>
              <a:buFont typeface="+mj-lt"/>
              <a:buAutoNum type="arabicPeriod"/>
            </a:pPr>
            <a:r>
              <a:rPr lang="en-US" dirty="0"/>
              <a:t>The </a:t>
            </a:r>
            <a:r>
              <a:rPr lang="en-US" b="1" dirty="0"/>
              <a:t>network (Base Station Controller or BSC)</a:t>
            </a:r>
            <a:r>
              <a:rPr lang="en-US" dirty="0"/>
              <a:t> uses these reports to decide:</a:t>
            </a:r>
          </a:p>
          <a:p>
            <a:pPr marL="742950" lvl="1" indent="-285750">
              <a:buFont typeface="+mj-lt"/>
              <a:buAutoNum type="arabicPeriod"/>
            </a:pPr>
            <a:r>
              <a:rPr lang="en-US" dirty="0"/>
              <a:t>Whether a handoff is needed.</a:t>
            </a:r>
          </a:p>
          <a:p>
            <a:pPr marL="742950" lvl="1" indent="-285750">
              <a:buFont typeface="+mj-lt"/>
              <a:buAutoNum type="arabicPeriod"/>
            </a:pPr>
            <a:r>
              <a:rPr lang="en-US" dirty="0"/>
              <a:t>Which neighboring BS has the strongest signal for a smooth transition.</a:t>
            </a:r>
          </a:p>
          <a:p>
            <a:pPr>
              <a:buFont typeface="+mj-lt"/>
              <a:buAutoNum type="arabicPeriod"/>
            </a:pPr>
            <a:r>
              <a:rPr lang="en-US" dirty="0"/>
              <a:t>If the signal of a neighbor BS is stronger than the current one, the </a:t>
            </a:r>
            <a:r>
              <a:rPr lang="en-US" b="1" dirty="0"/>
              <a:t>handoff is triggered</a:t>
            </a:r>
            <a:r>
              <a:rPr lang="en-US" dirty="0"/>
              <a:t> to that BS.</a:t>
            </a:r>
          </a:p>
          <a:p>
            <a:pPr>
              <a:buNone/>
            </a:pPr>
            <a:r>
              <a:rPr lang="en-US" b="1" dirty="0"/>
              <a:t>Why MAHO is useful:</a:t>
            </a:r>
          </a:p>
          <a:p>
            <a:pPr>
              <a:buFont typeface="Arial" panose="020B0604020202020204" pitchFamily="34" charset="0"/>
              <a:buChar char="•"/>
            </a:pPr>
            <a:r>
              <a:rPr lang="en-US" dirty="0"/>
              <a:t>Reduces the </a:t>
            </a:r>
            <a:r>
              <a:rPr lang="en-US" b="1" dirty="0"/>
              <a:t>handoff delay</a:t>
            </a:r>
            <a:r>
              <a:rPr lang="en-US" dirty="0"/>
              <a:t>, as signal strength is monitored in advance.</a:t>
            </a:r>
          </a:p>
          <a:p>
            <a:pPr>
              <a:buFont typeface="Arial" panose="020B0604020202020204" pitchFamily="34" charset="0"/>
              <a:buChar char="•"/>
            </a:pPr>
            <a:r>
              <a:rPr lang="en-US" dirty="0"/>
              <a:t>Provides </a:t>
            </a:r>
            <a:r>
              <a:rPr lang="en-US" b="1" dirty="0"/>
              <a:t>better decision-making</a:t>
            </a:r>
            <a:r>
              <a:rPr lang="en-US" dirty="0"/>
              <a:t> as the mobile has a better view of its surrounding signal environment.</a:t>
            </a:r>
          </a:p>
          <a:p>
            <a:pPr>
              <a:buFont typeface="Arial" panose="020B0604020202020204" pitchFamily="34" charset="0"/>
              <a:buChar char="•"/>
            </a:pPr>
            <a:r>
              <a:rPr lang="en-US" dirty="0"/>
              <a:t>Improves </a:t>
            </a:r>
            <a:r>
              <a:rPr lang="en-US" b="1" dirty="0"/>
              <a:t>call quality</a:t>
            </a:r>
            <a:r>
              <a:rPr lang="en-US" dirty="0"/>
              <a:t> and reduces the chances of call drops.</a:t>
            </a:r>
          </a:p>
          <a:p>
            <a:endParaRPr lang="en-IN" dirty="0"/>
          </a:p>
        </p:txBody>
      </p:sp>
      <p:sp>
        <p:nvSpPr>
          <p:cNvPr id="8" name="TextBox 7">
            <a:extLst>
              <a:ext uri="{FF2B5EF4-FFF2-40B4-BE49-F238E27FC236}">
                <a16:creationId xmlns:a16="http://schemas.microsoft.com/office/drawing/2014/main" id="{C418C732-11D2-8801-F630-2742A4F95275}"/>
              </a:ext>
            </a:extLst>
          </p:cNvPr>
          <p:cNvSpPr txBox="1"/>
          <p:nvPr/>
        </p:nvSpPr>
        <p:spPr>
          <a:xfrm>
            <a:off x="152400" y="457200"/>
            <a:ext cx="4572000" cy="400110"/>
          </a:xfrm>
          <a:prstGeom prst="rect">
            <a:avLst/>
          </a:prstGeom>
          <a:noFill/>
        </p:spPr>
        <p:txBody>
          <a:bodyPr wrap="square">
            <a:spAutoFit/>
          </a:bodyPr>
          <a:lstStyle/>
          <a:p>
            <a:r>
              <a:rPr lang="en-IN" sz="2000" b="1" dirty="0"/>
              <a:t>Mobile Assisted Handoff (MAHO)</a:t>
            </a:r>
          </a:p>
        </p:txBody>
      </p:sp>
    </p:spTree>
    <p:extLst>
      <p:ext uri="{BB962C8B-B14F-4D97-AF65-F5344CB8AC3E}">
        <p14:creationId xmlns:p14="http://schemas.microsoft.com/office/powerpoint/2010/main" val="19053737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702550" cy="1927860"/>
          </a:xfrm>
          <a:prstGeom prst="rect">
            <a:avLst/>
          </a:prstGeom>
        </p:spPr>
        <p:txBody>
          <a:bodyPr vert="horz" wrap="square" lIns="0" tIns="12700" rIns="0" bIns="0" rtlCol="0">
            <a:spAutoFit/>
          </a:bodyPr>
          <a:lstStyle/>
          <a:p>
            <a:pPr marL="355600" marR="117475" indent="-342900">
              <a:lnSpc>
                <a:spcPct val="100000"/>
              </a:lnSpc>
              <a:spcBef>
                <a:spcPts val="100"/>
              </a:spcBef>
              <a:buClr>
                <a:srgbClr val="0F1141"/>
              </a:buClr>
              <a:buFont typeface="Arial MT"/>
              <a:buChar char="•"/>
              <a:tabLst>
                <a:tab pos="355600" algn="l"/>
              </a:tabLst>
            </a:pPr>
            <a:r>
              <a:rPr sz="2400" dirty="0">
                <a:latin typeface="Times New Roman"/>
                <a:cs typeface="Times New Roman"/>
              </a:rPr>
              <a:t>Guard</a:t>
            </a:r>
            <a:r>
              <a:rPr sz="2400" spc="-15" dirty="0">
                <a:latin typeface="Times New Roman"/>
                <a:cs typeface="Times New Roman"/>
              </a:rPr>
              <a:t> </a:t>
            </a:r>
            <a:r>
              <a:rPr sz="2400" dirty="0">
                <a:latin typeface="Times New Roman"/>
                <a:cs typeface="Times New Roman"/>
              </a:rPr>
              <a:t>channel</a:t>
            </a:r>
            <a:r>
              <a:rPr sz="2400" spc="-35" dirty="0">
                <a:latin typeface="Times New Roman"/>
                <a:cs typeface="Times New Roman"/>
              </a:rPr>
              <a:t> </a:t>
            </a:r>
            <a:r>
              <a:rPr sz="2400" dirty="0">
                <a:latin typeface="Times New Roman"/>
                <a:cs typeface="Times New Roman"/>
              </a:rPr>
              <a:t>concept</a:t>
            </a:r>
            <a:r>
              <a:rPr sz="2400" spc="-25" dirty="0">
                <a:latin typeface="Times New Roman"/>
                <a:cs typeface="Times New Roman"/>
              </a:rPr>
              <a:t> </a:t>
            </a:r>
            <a:r>
              <a:rPr sz="2400" dirty="0">
                <a:latin typeface="Times New Roman"/>
                <a:cs typeface="Times New Roman"/>
              </a:rPr>
              <a:t>–can</a:t>
            </a:r>
            <a:r>
              <a:rPr sz="2400" spc="-15" dirty="0">
                <a:latin typeface="Times New Roman"/>
                <a:cs typeface="Times New Roman"/>
              </a:rPr>
              <a:t> </a:t>
            </a:r>
            <a:r>
              <a:rPr sz="2400" dirty="0">
                <a:latin typeface="Times New Roman"/>
                <a:cs typeface="Times New Roman"/>
              </a:rPr>
              <a:t>be</a:t>
            </a:r>
            <a:r>
              <a:rPr sz="2400" spc="-35" dirty="0">
                <a:latin typeface="Times New Roman"/>
                <a:cs typeface="Times New Roman"/>
              </a:rPr>
              <a:t> </a:t>
            </a:r>
            <a:r>
              <a:rPr sz="2400" dirty="0">
                <a:latin typeface="Times New Roman"/>
                <a:cs typeface="Times New Roman"/>
              </a:rPr>
              <a:t>used</a:t>
            </a:r>
            <a:r>
              <a:rPr sz="2400" spc="-15"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dirty="0">
                <a:latin typeface="Times New Roman"/>
                <a:cs typeface="Times New Roman"/>
              </a:rPr>
              <a:t>dynamic</a:t>
            </a:r>
            <a:r>
              <a:rPr sz="2400" spc="-15" dirty="0">
                <a:latin typeface="Times New Roman"/>
                <a:cs typeface="Times New Roman"/>
              </a:rPr>
              <a:t> </a:t>
            </a:r>
            <a:r>
              <a:rPr sz="2400" spc="-10" dirty="0">
                <a:latin typeface="Times New Roman"/>
                <a:cs typeface="Times New Roman"/>
              </a:rPr>
              <a:t>channel </a:t>
            </a:r>
            <a:r>
              <a:rPr sz="2400" dirty="0">
                <a:latin typeface="Times New Roman"/>
                <a:cs typeface="Times New Roman"/>
              </a:rPr>
              <a:t>assignment</a:t>
            </a:r>
            <a:r>
              <a:rPr sz="2400" spc="-20" dirty="0">
                <a:latin typeface="Times New Roman"/>
                <a:cs typeface="Times New Roman"/>
              </a:rPr>
              <a:t> </a:t>
            </a:r>
            <a:r>
              <a:rPr sz="2400" dirty="0">
                <a:latin typeface="Times New Roman"/>
                <a:cs typeface="Times New Roman"/>
              </a:rPr>
              <a:t>strategies</a:t>
            </a:r>
            <a:r>
              <a:rPr sz="2400" spc="-4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increase</a:t>
            </a:r>
            <a:r>
              <a:rPr sz="2400" spc="-25" dirty="0">
                <a:latin typeface="Times New Roman"/>
                <a:cs typeface="Times New Roman"/>
              </a:rPr>
              <a:t> </a:t>
            </a:r>
            <a:r>
              <a:rPr sz="2400" dirty="0">
                <a:latin typeface="Times New Roman"/>
                <a:cs typeface="Times New Roman"/>
              </a:rPr>
              <a:t>spectrum</a:t>
            </a:r>
            <a:r>
              <a:rPr sz="2400" spc="-40" dirty="0">
                <a:latin typeface="Times New Roman"/>
                <a:cs typeface="Times New Roman"/>
              </a:rPr>
              <a:t> </a:t>
            </a:r>
            <a:r>
              <a:rPr sz="2400" spc="-10" dirty="0">
                <a:latin typeface="Times New Roman"/>
                <a:cs typeface="Times New Roman"/>
              </a:rPr>
              <a:t>utilization.</a:t>
            </a:r>
            <a:endParaRPr sz="2400">
              <a:latin typeface="Times New Roman"/>
              <a:cs typeface="Times New Roman"/>
            </a:endParaRPr>
          </a:p>
          <a:p>
            <a:pPr marL="355600" marR="5080" indent="-342900">
              <a:lnSpc>
                <a:spcPct val="100000"/>
              </a:lnSpc>
              <a:spcBef>
                <a:spcPts val="575"/>
              </a:spcBef>
              <a:buClr>
                <a:srgbClr val="0F1141"/>
              </a:buClr>
              <a:buFont typeface="Arial MT"/>
              <a:buChar char="•"/>
              <a:tabLst>
                <a:tab pos="355600" algn="l"/>
              </a:tabLst>
            </a:pPr>
            <a:r>
              <a:rPr sz="2400" dirty="0">
                <a:latin typeface="Times New Roman"/>
                <a:cs typeface="Times New Roman"/>
              </a:rPr>
              <a:t>Queuing</a:t>
            </a:r>
            <a:r>
              <a:rPr sz="2400" spc="-1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handoff</a:t>
            </a:r>
            <a:r>
              <a:rPr sz="2400" spc="-5" dirty="0">
                <a:latin typeface="Times New Roman"/>
                <a:cs typeface="Times New Roman"/>
              </a:rPr>
              <a:t> </a:t>
            </a:r>
            <a:r>
              <a:rPr sz="2400" dirty="0">
                <a:latin typeface="Times New Roman"/>
                <a:cs typeface="Times New Roman"/>
              </a:rPr>
              <a:t>–possible</a:t>
            </a:r>
            <a:r>
              <a:rPr sz="2400" spc="-20" dirty="0">
                <a:latin typeface="Times New Roman"/>
                <a:cs typeface="Times New Roman"/>
              </a:rPr>
              <a:t> </a:t>
            </a:r>
            <a:r>
              <a:rPr sz="2400" dirty="0">
                <a:latin typeface="Times New Roman"/>
                <a:cs typeface="Times New Roman"/>
              </a:rPr>
              <a:t>due</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fact</a:t>
            </a:r>
            <a:r>
              <a:rPr sz="2400" spc="-25" dirty="0">
                <a:latin typeface="Times New Roman"/>
                <a:cs typeface="Times New Roman"/>
              </a:rPr>
              <a:t> </a:t>
            </a:r>
            <a:r>
              <a:rPr sz="2400" dirty="0">
                <a:latin typeface="Times New Roman"/>
                <a:cs typeface="Times New Roman"/>
              </a:rPr>
              <a:t>that</a:t>
            </a:r>
            <a:r>
              <a:rPr sz="2400" spc="-30" dirty="0">
                <a:latin typeface="Times New Roman"/>
                <a:cs typeface="Times New Roman"/>
              </a:rPr>
              <a:t> </a:t>
            </a:r>
            <a:r>
              <a:rPr sz="2400" dirty="0">
                <a:latin typeface="Times New Roman"/>
                <a:cs typeface="Times New Roman"/>
              </a:rPr>
              <a:t>there</a:t>
            </a:r>
            <a:r>
              <a:rPr sz="2400" spc="-3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spc="-50" dirty="0">
                <a:latin typeface="Times New Roman"/>
                <a:cs typeface="Times New Roman"/>
              </a:rPr>
              <a:t>a </a:t>
            </a:r>
            <a:r>
              <a:rPr sz="2400" dirty="0">
                <a:latin typeface="Times New Roman"/>
                <a:cs typeface="Times New Roman"/>
              </a:rPr>
              <a:t>finite</a:t>
            </a:r>
            <a:r>
              <a:rPr sz="2400" spc="-35" dirty="0">
                <a:latin typeface="Times New Roman"/>
                <a:cs typeface="Times New Roman"/>
              </a:rPr>
              <a:t> </a:t>
            </a:r>
            <a:r>
              <a:rPr sz="2400" dirty="0">
                <a:latin typeface="Times New Roman"/>
                <a:cs typeface="Times New Roman"/>
              </a:rPr>
              <a:t>time</a:t>
            </a:r>
            <a:r>
              <a:rPr sz="2400" spc="-20" dirty="0">
                <a:latin typeface="Times New Roman"/>
                <a:cs typeface="Times New Roman"/>
              </a:rPr>
              <a:t> </a:t>
            </a:r>
            <a:r>
              <a:rPr sz="2400" dirty="0">
                <a:latin typeface="Times New Roman"/>
                <a:cs typeface="Times New Roman"/>
              </a:rPr>
              <a:t>interval</a:t>
            </a:r>
            <a:r>
              <a:rPr sz="2400" spc="-55" dirty="0">
                <a:latin typeface="Times New Roman"/>
                <a:cs typeface="Times New Roman"/>
              </a:rPr>
              <a:t> </a:t>
            </a:r>
            <a:r>
              <a:rPr sz="2400" dirty="0">
                <a:latin typeface="Times New Roman"/>
                <a:cs typeface="Times New Roman"/>
              </a:rPr>
              <a:t>between</a:t>
            </a:r>
            <a:r>
              <a:rPr sz="2400" spc="-25" dirty="0">
                <a:latin typeface="Times New Roman"/>
                <a:cs typeface="Times New Roman"/>
              </a:rPr>
              <a:t> </a:t>
            </a:r>
            <a:r>
              <a:rPr sz="2400" dirty="0">
                <a:latin typeface="Times New Roman"/>
                <a:cs typeface="Times New Roman"/>
              </a:rPr>
              <a:t>handoff</a:t>
            </a:r>
            <a:r>
              <a:rPr sz="2400" spc="-10" dirty="0">
                <a:latin typeface="Times New Roman"/>
                <a:cs typeface="Times New Roman"/>
              </a:rPr>
              <a:t> </a:t>
            </a:r>
            <a:r>
              <a:rPr sz="2400" dirty="0">
                <a:latin typeface="Times New Roman"/>
                <a:cs typeface="Times New Roman"/>
              </a:rPr>
              <a:t>threshold</a:t>
            </a:r>
            <a:r>
              <a:rPr sz="2400" spc="-35" dirty="0">
                <a:latin typeface="Times New Roman"/>
                <a:cs typeface="Times New Roman"/>
              </a:rPr>
              <a:t> </a:t>
            </a:r>
            <a:r>
              <a:rPr sz="2400" dirty="0">
                <a:latin typeface="Times New Roman"/>
                <a:cs typeface="Times New Roman"/>
              </a:rPr>
              <a:t>time</a:t>
            </a:r>
            <a:r>
              <a:rPr sz="2400" spc="-20" dirty="0">
                <a:latin typeface="Times New Roman"/>
                <a:cs typeface="Times New Roman"/>
              </a:rPr>
              <a:t> </a:t>
            </a:r>
            <a:r>
              <a:rPr sz="2400" dirty="0">
                <a:latin typeface="Times New Roman"/>
                <a:cs typeface="Times New Roman"/>
              </a:rPr>
              <a:t>and</a:t>
            </a:r>
            <a:r>
              <a:rPr sz="2400" spc="-10" dirty="0">
                <a:latin typeface="Times New Roman"/>
                <a:cs typeface="Times New Roman"/>
              </a:rPr>
              <a:t> call- </a:t>
            </a:r>
            <a:r>
              <a:rPr sz="2400" dirty="0">
                <a:latin typeface="Times New Roman"/>
                <a:cs typeface="Times New Roman"/>
              </a:rPr>
              <a:t>terminated</a:t>
            </a:r>
            <a:r>
              <a:rPr sz="2400" spc="-55" dirty="0">
                <a:latin typeface="Times New Roman"/>
                <a:cs typeface="Times New Roman"/>
              </a:rPr>
              <a:t> </a:t>
            </a:r>
            <a:r>
              <a:rPr sz="2400" spc="-20" dirty="0">
                <a:latin typeface="Times New Roman"/>
                <a:cs typeface="Times New Roman"/>
              </a:rPr>
              <a:t>time</a:t>
            </a:r>
            <a:endParaRPr sz="24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90</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5" dirty="0"/>
              <a:t>Prioritizing</a:t>
            </a:r>
            <a:r>
              <a:rPr spc="-140" dirty="0"/>
              <a:t> </a:t>
            </a:r>
            <a:r>
              <a:rPr spc="-130" dirty="0"/>
              <a:t>Handoffs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5D8F2-698B-CF7D-A761-685D551335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63BC3A-3E0C-2543-F7AD-876A5C4D9EF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91</a:t>
            </a:fld>
            <a:endParaRPr spc="-25" dirty="0"/>
          </a:p>
        </p:txBody>
      </p:sp>
      <p:sp>
        <p:nvSpPr>
          <p:cNvPr id="5" name="object 5">
            <a:extLst>
              <a:ext uri="{FF2B5EF4-FFF2-40B4-BE49-F238E27FC236}">
                <a16:creationId xmlns:a16="http://schemas.microsoft.com/office/drawing/2014/main" id="{F01E35D2-9469-6EF4-F8B1-5C72C82D1C44}"/>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a:extLst>
              <a:ext uri="{FF2B5EF4-FFF2-40B4-BE49-F238E27FC236}">
                <a16:creationId xmlns:a16="http://schemas.microsoft.com/office/drawing/2014/main" id="{ED5AA647-A4EC-B1E1-85DF-BA131C6D32ED}"/>
              </a:ext>
            </a:extLst>
          </p:cNvPr>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5" dirty="0"/>
              <a:t>Prioritizing</a:t>
            </a:r>
            <a:r>
              <a:rPr spc="-140" dirty="0"/>
              <a:t> </a:t>
            </a:r>
            <a:r>
              <a:rPr spc="-130" dirty="0"/>
              <a:t>Handoffs</a:t>
            </a:r>
          </a:p>
        </p:txBody>
      </p:sp>
      <p:sp>
        <p:nvSpPr>
          <p:cNvPr id="7" name="TextBox 6">
            <a:extLst>
              <a:ext uri="{FF2B5EF4-FFF2-40B4-BE49-F238E27FC236}">
                <a16:creationId xmlns:a16="http://schemas.microsoft.com/office/drawing/2014/main" id="{88973BCE-2DD3-8549-9D54-4F68E1EE4775}"/>
              </a:ext>
            </a:extLst>
          </p:cNvPr>
          <p:cNvSpPr txBox="1"/>
          <p:nvPr/>
        </p:nvSpPr>
        <p:spPr>
          <a:xfrm>
            <a:off x="0" y="1434453"/>
            <a:ext cx="9063862" cy="5078313"/>
          </a:xfrm>
          <a:prstGeom prst="rect">
            <a:avLst/>
          </a:prstGeom>
          <a:noFill/>
        </p:spPr>
        <p:txBody>
          <a:bodyPr wrap="square">
            <a:spAutoFit/>
          </a:bodyPr>
          <a:lstStyle/>
          <a:p>
            <a:r>
              <a:rPr lang="en-US" dirty="0"/>
              <a:t>To maintain call continuity and improve network efficiency, handoffs are often </a:t>
            </a:r>
            <a:r>
              <a:rPr lang="en-US" b="1" dirty="0"/>
              <a:t>prioritized</a:t>
            </a:r>
            <a:r>
              <a:rPr lang="en-US" dirty="0"/>
              <a:t> using specific techniques:</a:t>
            </a:r>
          </a:p>
          <a:p>
            <a:pPr>
              <a:buNone/>
            </a:pPr>
            <a:r>
              <a:rPr lang="en-US" b="1" dirty="0"/>
              <a:t>1. Guard Channel Concept</a:t>
            </a:r>
          </a:p>
          <a:p>
            <a:pPr>
              <a:buFont typeface="Arial" panose="020B0604020202020204" pitchFamily="34" charset="0"/>
              <a:buChar char="•"/>
            </a:pPr>
            <a:r>
              <a:rPr lang="en-US" dirty="0"/>
              <a:t>A </a:t>
            </a:r>
            <a:r>
              <a:rPr lang="en-US" b="1" dirty="0"/>
              <a:t>certain number of channels</a:t>
            </a:r>
            <a:r>
              <a:rPr lang="en-US" dirty="0"/>
              <a:t> in each cell are reserved </a:t>
            </a:r>
            <a:r>
              <a:rPr lang="en-US" b="1" dirty="0"/>
              <a:t>only for handoffs</a:t>
            </a:r>
            <a:r>
              <a:rPr lang="en-US" dirty="0"/>
              <a:t>.</a:t>
            </a:r>
          </a:p>
          <a:p>
            <a:pPr>
              <a:buFont typeface="Arial" panose="020B0604020202020204" pitchFamily="34" charset="0"/>
              <a:buChar char="•"/>
            </a:pPr>
            <a:r>
              <a:rPr lang="en-US" dirty="0"/>
              <a:t>These reserved channels are </a:t>
            </a:r>
            <a:r>
              <a:rPr lang="en-US" b="1" dirty="0"/>
              <a:t>not used for new call initiations</a:t>
            </a:r>
            <a:r>
              <a:rPr lang="en-US" dirty="0"/>
              <a:t>.</a:t>
            </a:r>
          </a:p>
          <a:p>
            <a:pPr>
              <a:buFont typeface="Arial" panose="020B0604020202020204" pitchFamily="34" charset="0"/>
              <a:buChar char="•"/>
            </a:pPr>
            <a:r>
              <a:rPr lang="en-US" dirty="0"/>
              <a:t>This ensures that ongoing calls can be </a:t>
            </a:r>
            <a:r>
              <a:rPr lang="en-US" b="1" dirty="0"/>
              <a:t>handed off smoothly</a:t>
            </a:r>
            <a:r>
              <a:rPr lang="en-US" dirty="0"/>
              <a:t> without dropping, especially in high-traffic areas.</a:t>
            </a:r>
          </a:p>
          <a:p>
            <a:pPr>
              <a:buFont typeface="Arial" panose="020B0604020202020204" pitchFamily="34" charset="0"/>
              <a:buChar char="•"/>
            </a:pPr>
            <a:r>
              <a:rPr lang="en-US" dirty="0"/>
              <a:t>Can be combined with </a:t>
            </a:r>
            <a:r>
              <a:rPr lang="en-US" b="1" dirty="0"/>
              <a:t>dynamic channel assignment</a:t>
            </a:r>
            <a:r>
              <a:rPr lang="en-US" dirty="0"/>
              <a:t> to improve </a:t>
            </a:r>
            <a:r>
              <a:rPr lang="en-US" b="1" dirty="0"/>
              <a:t>spectrum utilization</a:t>
            </a:r>
            <a:r>
              <a:rPr lang="en-US" dirty="0"/>
              <a:t>.</a:t>
            </a:r>
          </a:p>
          <a:p>
            <a:pPr>
              <a:buNone/>
            </a:pPr>
            <a:r>
              <a:rPr lang="en-US" b="1" dirty="0"/>
              <a:t>2. Queuing of Handoff Requests</a:t>
            </a:r>
          </a:p>
          <a:p>
            <a:pPr>
              <a:buFont typeface="Arial" panose="020B0604020202020204" pitchFamily="34" charset="0"/>
              <a:buChar char="•"/>
            </a:pPr>
            <a:r>
              <a:rPr lang="en-US" dirty="0"/>
              <a:t>Not all handoff requests need to be processed </a:t>
            </a:r>
            <a:r>
              <a:rPr lang="en-US" b="1" dirty="0"/>
              <a:t>instantly</a:t>
            </a:r>
            <a:r>
              <a:rPr lang="en-US" dirty="0"/>
              <a:t>.</a:t>
            </a:r>
          </a:p>
          <a:p>
            <a:pPr>
              <a:buFont typeface="Arial" panose="020B0604020202020204" pitchFamily="34" charset="0"/>
              <a:buChar char="•"/>
            </a:pPr>
            <a:r>
              <a:rPr lang="en-US" dirty="0"/>
              <a:t>There is a </a:t>
            </a:r>
            <a:r>
              <a:rPr lang="en-US" b="1" dirty="0"/>
              <a:t>small time interval</a:t>
            </a:r>
            <a:r>
              <a:rPr lang="en-US" dirty="0"/>
              <a:t> between when a handoff is needed (handoff threshold) and when the call would actually drop (call-terminated time).</a:t>
            </a:r>
          </a:p>
          <a:p>
            <a:pPr>
              <a:buFont typeface="Arial" panose="020B0604020202020204" pitchFamily="34" charset="0"/>
              <a:buChar char="•"/>
            </a:pPr>
            <a:r>
              <a:rPr lang="en-US" dirty="0"/>
              <a:t>During this interval, </a:t>
            </a:r>
            <a:r>
              <a:rPr lang="en-US" b="1" dirty="0"/>
              <a:t>handoff requests can be queued</a:t>
            </a:r>
            <a:r>
              <a:rPr lang="en-US" dirty="0"/>
              <a:t>, especially if no channel is currently available.</a:t>
            </a:r>
          </a:p>
          <a:p>
            <a:pPr>
              <a:buFont typeface="Arial" panose="020B0604020202020204" pitchFamily="34" charset="0"/>
              <a:buChar char="•"/>
            </a:pPr>
            <a:r>
              <a:rPr lang="en-US" dirty="0"/>
              <a:t>If a channel becomes available shortly, the handoff can be </a:t>
            </a:r>
            <a:r>
              <a:rPr lang="en-US" b="1" dirty="0"/>
              <a:t>executed in time</a:t>
            </a:r>
            <a:r>
              <a:rPr lang="en-US" dirty="0"/>
              <a:t> to avoid call drop.</a:t>
            </a:r>
          </a:p>
          <a:p>
            <a:endParaRPr lang="en-IN" dirty="0"/>
          </a:p>
        </p:txBody>
      </p:sp>
    </p:spTree>
    <p:extLst>
      <p:ext uri="{BB962C8B-B14F-4D97-AF65-F5344CB8AC3E}">
        <p14:creationId xmlns:p14="http://schemas.microsoft.com/office/powerpoint/2010/main" val="20798998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361555" cy="3270126"/>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Arial MT"/>
              <a:buChar char="•"/>
              <a:tabLst>
                <a:tab pos="355600" algn="l"/>
              </a:tabLst>
            </a:pPr>
            <a:r>
              <a:rPr sz="2400" dirty="0">
                <a:latin typeface="Times New Roman"/>
                <a:cs typeface="Times New Roman"/>
              </a:rPr>
              <a:t>Several</a:t>
            </a:r>
            <a:r>
              <a:rPr sz="2400" spc="-35" dirty="0">
                <a:latin typeface="Times New Roman"/>
                <a:cs typeface="Times New Roman"/>
              </a:rPr>
              <a:t> </a:t>
            </a:r>
            <a:r>
              <a:rPr sz="2400" dirty="0">
                <a:latin typeface="Times New Roman"/>
                <a:cs typeface="Times New Roman"/>
              </a:rPr>
              <a:t>handoff</a:t>
            </a:r>
            <a:r>
              <a:rPr sz="2400" spc="-15" dirty="0">
                <a:latin typeface="Times New Roman"/>
                <a:cs typeface="Times New Roman"/>
              </a:rPr>
              <a:t> </a:t>
            </a:r>
            <a:r>
              <a:rPr sz="2400" dirty="0">
                <a:latin typeface="Times New Roman"/>
                <a:cs typeface="Times New Roman"/>
              </a:rPr>
              <a:t>schemes</a:t>
            </a:r>
            <a:r>
              <a:rPr sz="2400" spc="-10" dirty="0">
                <a:latin typeface="Times New Roman"/>
                <a:cs typeface="Times New Roman"/>
              </a:rPr>
              <a:t> </a:t>
            </a:r>
            <a:r>
              <a:rPr sz="2400" dirty="0">
                <a:latin typeface="Times New Roman"/>
                <a:cs typeface="Times New Roman"/>
              </a:rPr>
              <a:t>have</a:t>
            </a:r>
            <a:r>
              <a:rPr sz="2400" spc="-25" dirty="0">
                <a:latin typeface="Times New Roman"/>
                <a:cs typeface="Times New Roman"/>
              </a:rPr>
              <a:t> </a:t>
            </a:r>
            <a:r>
              <a:rPr sz="2400" dirty="0">
                <a:latin typeface="Times New Roman"/>
                <a:cs typeface="Times New Roman"/>
              </a:rPr>
              <a:t>been</a:t>
            </a:r>
            <a:r>
              <a:rPr sz="2400" spc="-20" dirty="0">
                <a:latin typeface="Times New Roman"/>
                <a:cs typeface="Times New Roman"/>
              </a:rPr>
              <a:t> </a:t>
            </a:r>
            <a:r>
              <a:rPr sz="2400" dirty="0">
                <a:latin typeface="Times New Roman"/>
                <a:cs typeface="Times New Roman"/>
              </a:rPr>
              <a:t>devised</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handle</a:t>
            </a:r>
            <a:r>
              <a:rPr sz="2400" spc="-35" dirty="0">
                <a:latin typeface="Times New Roman"/>
                <a:cs typeface="Times New Roman"/>
              </a:rPr>
              <a:t> </a:t>
            </a:r>
            <a:r>
              <a:rPr sz="2400" spc="-25" dirty="0">
                <a:latin typeface="Times New Roman"/>
                <a:cs typeface="Times New Roman"/>
              </a:rPr>
              <a:t>the </a:t>
            </a:r>
            <a:r>
              <a:rPr sz="2400" dirty="0">
                <a:latin typeface="Times New Roman"/>
                <a:cs typeface="Times New Roman"/>
              </a:rPr>
              <a:t>simultaneous</a:t>
            </a:r>
            <a:r>
              <a:rPr sz="2400" spc="-40" dirty="0">
                <a:latin typeface="Times New Roman"/>
                <a:cs typeface="Times New Roman"/>
              </a:rPr>
              <a:t> </a:t>
            </a:r>
            <a:r>
              <a:rPr sz="2400" dirty="0">
                <a:latin typeface="Times New Roman"/>
                <a:cs typeface="Times New Roman"/>
              </a:rPr>
              <a:t>traffic</a:t>
            </a:r>
            <a:r>
              <a:rPr sz="2400" spc="-3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high</a:t>
            </a:r>
            <a:r>
              <a:rPr sz="2400" spc="-15" dirty="0">
                <a:latin typeface="Times New Roman"/>
                <a:cs typeface="Times New Roman"/>
              </a:rPr>
              <a:t> </a:t>
            </a:r>
            <a:r>
              <a:rPr sz="2400" dirty="0">
                <a:latin typeface="Times New Roman"/>
                <a:cs typeface="Times New Roman"/>
              </a:rPr>
              <a:t>speed</a:t>
            </a:r>
            <a:r>
              <a:rPr sz="2400" spc="-3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low</a:t>
            </a:r>
            <a:r>
              <a:rPr sz="2400" spc="-15" dirty="0">
                <a:latin typeface="Times New Roman"/>
                <a:cs typeface="Times New Roman"/>
              </a:rPr>
              <a:t> </a:t>
            </a:r>
            <a:r>
              <a:rPr sz="2400" dirty="0">
                <a:latin typeface="Times New Roman"/>
                <a:cs typeface="Times New Roman"/>
              </a:rPr>
              <a:t>speed</a:t>
            </a:r>
            <a:r>
              <a:rPr sz="2400" spc="-30" dirty="0">
                <a:latin typeface="Times New Roman"/>
                <a:cs typeface="Times New Roman"/>
              </a:rPr>
              <a:t> </a:t>
            </a:r>
            <a:r>
              <a:rPr sz="2400" dirty="0">
                <a:latin typeface="Times New Roman"/>
                <a:cs typeface="Times New Roman"/>
              </a:rPr>
              <a:t>users </a:t>
            </a:r>
            <a:r>
              <a:rPr sz="2400" spc="-50" dirty="0">
                <a:latin typeface="Times New Roman"/>
                <a:cs typeface="Times New Roman"/>
              </a:rPr>
              <a:t>– </a:t>
            </a:r>
            <a:r>
              <a:rPr sz="2400" dirty="0">
                <a:latin typeface="Times New Roman"/>
                <a:cs typeface="Times New Roman"/>
              </a:rPr>
              <a:t>minimizing</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handoff</a:t>
            </a:r>
            <a:r>
              <a:rPr sz="2400" spc="-20" dirty="0">
                <a:latin typeface="Times New Roman"/>
                <a:cs typeface="Times New Roman"/>
              </a:rPr>
              <a:t> </a:t>
            </a:r>
            <a:r>
              <a:rPr sz="2400" dirty="0">
                <a:latin typeface="Times New Roman"/>
                <a:cs typeface="Times New Roman"/>
              </a:rPr>
              <a:t>intervention</a:t>
            </a:r>
            <a:r>
              <a:rPr sz="2400" spc="-55" dirty="0">
                <a:latin typeface="Times New Roman"/>
                <a:cs typeface="Times New Roman"/>
              </a:rPr>
              <a:t> </a:t>
            </a:r>
            <a:r>
              <a:rPr sz="2400" dirty="0">
                <a:latin typeface="Times New Roman"/>
                <a:cs typeface="Times New Roman"/>
              </a:rPr>
              <a:t>from</a:t>
            </a:r>
            <a:r>
              <a:rPr sz="2400" spc="-2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25" dirty="0">
                <a:latin typeface="Times New Roman"/>
                <a:cs typeface="Times New Roman"/>
              </a:rPr>
              <a:t>MSC</a:t>
            </a:r>
            <a:endParaRPr lang="en-US" sz="2400" spc="-25" dirty="0">
              <a:latin typeface="Times New Roman"/>
              <a:cs typeface="Times New Roman"/>
            </a:endParaRPr>
          </a:p>
          <a:p>
            <a:pPr marL="355600" marR="5080" indent="-342900">
              <a:lnSpc>
                <a:spcPct val="100000"/>
              </a:lnSpc>
              <a:spcBef>
                <a:spcPts val="100"/>
              </a:spcBef>
              <a:buClr>
                <a:srgbClr val="0F1141"/>
              </a:buClr>
              <a:buFont typeface="Arial MT"/>
              <a:buChar char="•"/>
              <a:tabLst>
                <a:tab pos="355600" algn="l"/>
              </a:tabLst>
            </a:pPr>
            <a:endParaRPr lang="en-IN" sz="2400" spc="-25" dirty="0">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Guard channels</a:t>
            </a:r>
            <a:r>
              <a:rPr kumimoji="0" lang="en-US" altLang="en-US" b="0" i="0" u="none" strike="noStrike" cap="none" normalizeH="0" baseline="0" dirty="0">
                <a:ln>
                  <a:noFill/>
                </a:ln>
                <a:solidFill>
                  <a:schemeClr val="tx1"/>
                </a:solidFill>
                <a:effectLst/>
                <a:latin typeface="Arial" panose="020B0604020202020204" pitchFamily="34" charset="0"/>
              </a:rPr>
              <a:t> protect ongoing calls during handoff.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Handoff queuing</a:t>
            </a:r>
            <a:r>
              <a:rPr kumimoji="0" lang="en-US" altLang="en-US" b="0" i="0" u="none" strike="noStrike" cap="none" normalizeH="0" baseline="0" dirty="0">
                <a:ln>
                  <a:noFill/>
                </a:ln>
                <a:solidFill>
                  <a:schemeClr val="tx1"/>
                </a:solidFill>
                <a:effectLst/>
                <a:latin typeface="Arial" panose="020B0604020202020204" pitchFamily="34" charset="0"/>
              </a:rPr>
              <a:t> uses the delay tolerance between threshold and drop.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Both techniques </a:t>
            </a:r>
            <a:r>
              <a:rPr kumimoji="0" lang="en-US" altLang="en-US" b="1" i="0" u="none" strike="noStrike" cap="none" normalizeH="0" baseline="0" dirty="0">
                <a:ln>
                  <a:noFill/>
                </a:ln>
                <a:solidFill>
                  <a:schemeClr val="tx1"/>
                </a:solidFill>
                <a:effectLst/>
                <a:latin typeface="Arial" panose="020B0604020202020204" pitchFamily="34" charset="0"/>
              </a:rPr>
              <a:t>prioritize handoffs over new calls</a:t>
            </a:r>
            <a:r>
              <a:rPr kumimoji="0" lang="en-US" altLang="en-US" b="0" i="0" u="none" strike="noStrike" cap="none" normalizeH="0" baseline="0" dirty="0">
                <a:ln>
                  <a:noFill/>
                </a:ln>
                <a:solidFill>
                  <a:schemeClr val="tx1"/>
                </a:solidFill>
                <a:effectLst/>
                <a:latin typeface="Arial" panose="020B0604020202020204" pitchFamily="34" charset="0"/>
              </a:rPr>
              <a:t> to minimize call drops.</a:t>
            </a:r>
          </a:p>
          <a:p>
            <a:pPr marL="12700" marR="5080">
              <a:lnSpc>
                <a:spcPct val="100000"/>
              </a:lnSpc>
              <a:spcBef>
                <a:spcPts val="100"/>
              </a:spcBef>
              <a:buClr>
                <a:srgbClr val="0F1141"/>
              </a:buClr>
              <a:tabLst>
                <a:tab pos="355600" algn="l"/>
              </a:tabLst>
            </a:pPr>
            <a:endParaRPr sz="24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92</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383540" y="150367"/>
            <a:ext cx="3474085" cy="1031875"/>
          </a:xfrm>
          <a:prstGeom prst="rect">
            <a:avLst/>
          </a:prstGeom>
        </p:spPr>
        <p:txBody>
          <a:bodyPr vert="horz" wrap="square" lIns="0" tIns="104139" rIns="0" bIns="0" rtlCol="0">
            <a:spAutoFit/>
          </a:bodyPr>
          <a:lstStyle/>
          <a:p>
            <a:pPr marL="12700" marR="5080">
              <a:lnSpc>
                <a:spcPts val="3600"/>
              </a:lnSpc>
              <a:spcBef>
                <a:spcPts val="819"/>
              </a:spcBef>
            </a:pPr>
            <a:r>
              <a:rPr spc="-150" dirty="0"/>
              <a:t>Practical</a:t>
            </a:r>
            <a:r>
              <a:rPr spc="-195" dirty="0"/>
              <a:t> </a:t>
            </a:r>
            <a:r>
              <a:rPr spc="-140" dirty="0"/>
              <a:t>Handoff </a:t>
            </a:r>
            <a:r>
              <a:rPr spc="-85" dirty="0"/>
              <a:t>Considerations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140" y="1518031"/>
            <a:ext cx="8560435" cy="4111625"/>
          </a:xfrm>
          <a:prstGeom prst="rect">
            <a:avLst/>
          </a:prstGeom>
        </p:spPr>
        <p:txBody>
          <a:bodyPr vert="horz" wrap="square" lIns="0" tIns="13335" rIns="0" bIns="0" rtlCol="0">
            <a:spAutoFit/>
          </a:bodyPr>
          <a:lstStyle/>
          <a:p>
            <a:pPr marL="381000" marR="266065" indent="-342900">
              <a:lnSpc>
                <a:spcPct val="100000"/>
              </a:lnSpc>
              <a:spcBef>
                <a:spcPts val="105"/>
              </a:spcBef>
            </a:pPr>
            <a:r>
              <a:rPr sz="2000" dirty="0">
                <a:latin typeface="Times New Roman"/>
                <a:cs typeface="Times New Roman"/>
              </a:rPr>
              <a:t>1.2</a:t>
            </a:r>
            <a:r>
              <a:rPr sz="2000" spc="-15" dirty="0">
                <a:latin typeface="Times New Roman"/>
                <a:cs typeface="Times New Roman"/>
              </a:rPr>
              <a:t> </a:t>
            </a: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0</a:t>
            </a:r>
            <a:r>
              <a:rPr sz="2000" spc="5" dirty="0">
                <a:latin typeface="Times New Roman"/>
                <a:cs typeface="Times New Roman"/>
              </a:rPr>
              <a:t> </a:t>
            </a:r>
            <a:r>
              <a:rPr sz="2000" dirty="0">
                <a:latin typeface="Times New Roman"/>
                <a:cs typeface="Times New Roman"/>
              </a:rPr>
              <a:t>dBm</a:t>
            </a:r>
            <a:r>
              <a:rPr sz="2000" spc="-1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equal</a:t>
            </a:r>
            <a:r>
              <a:rPr sz="2000" spc="-2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1</a:t>
            </a:r>
            <a:r>
              <a:rPr sz="2000" spc="5" dirty="0">
                <a:latin typeface="Times New Roman"/>
                <a:cs typeface="Times New Roman"/>
              </a:rPr>
              <a:t> </a:t>
            </a:r>
            <a:r>
              <a:rPr sz="2000" dirty="0">
                <a:latin typeface="Times New Roman"/>
                <a:cs typeface="Times New Roman"/>
              </a:rPr>
              <a:t>mW</a:t>
            </a:r>
            <a:r>
              <a:rPr sz="2000" spc="-20" dirty="0">
                <a:latin typeface="Times New Roman"/>
                <a:cs typeface="Times New Roman"/>
              </a:rPr>
              <a:t> </a:t>
            </a:r>
            <a:r>
              <a:rPr sz="2000" dirty="0">
                <a:latin typeface="Times New Roman"/>
                <a:cs typeface="Times New Roman"/>
              </a:rPr>
              <a:t>(10</a:t>
            </a:r>
            <a:r>
              <a:rPr sz="1950" baseline="25641" dirty="0">
                <a:latin typeface="Times New Roman"/>
                <a:cs typeface="Times New Roman"/>
              </a:rPr>
              <a:t>-3</a:t>
            </a:r>
            <a:r>
              <a:rPr sz="1950" spc="165" baseline="25641" dirty="0">
                <a:latin typeface="Times New Roman"/>
                <a:cs typeface="Times New Roman"/>
              </a:rPr>
              <a:t> </a:t>
            </a:r>
            <a:r>
              <a:rPr sz="2000" dirty="0">
                <a:latin typeface="Times New Roman"/>
                <a:cs typeface="Times New Roman"/>
              </a:rPr>
              <a:t>W)</a:t>
            </a:r>
            <a:r>
              <a:rPr sz="2000" spc="-25" dirty="0">
                <a:latin typeface="Times New Roman"/>
                <a:cs typeface="Times New Roman"/>
              </a:rPr>
              <a:t> </a:t>
            </a:r>
            <a:r>
              <a:rPr sz="2000" dirty="0">
                <a:latin typeface="Times New Roman"/>
                <a:cs typeface="Times New Roman"/>
              </a:rPr>
              <a:t>over</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50Ω</a:t>
            </a:r>
            <a:r>
              <a:rPr sz="2000" spc="-10" dirty="0">
                <a:latin typeface="Times New Roman"/>
                <a:cs typeface="Times New Roman"/>
              </a:rPr>
              <a:t> </a:t>
            </a:r>
            <a:r>
              <a:rPr sz="2000" dirty="0">
                <a:latin typeface="Times New Roman"/>
                <a:cs typeface="Times New Roman"/>
              </a:rPr>
              <a:t>load;</a:t>
            </a:r>
            <a:r>
              <a:rPr sz="2000" spc="-15" dirty="0">
                <a:latin typeface="Times New Roman"/>
                <a:cs typeface="Times New Roman"/>
              </a:rPr>
              <a:t> </a:t>
            </a:r>
            <a:r>
              <a:rPr sz="2000" dirty="0">
                <a:latin typeface="Times New Roman"/>
                <a:cs typeface="Times New Roman"/>
              </a:rPr>
              <a:t>express</a:t>
            </a:r>
            <a:r>
              <a:rPr sz="2000" spc="-40" dirty="0">
                <a:latin typeface="Times New Roman"/>
                <a:cs typeface="Times New Roman"/>
              </a:rPr>
              <a:t> </a:t>
            </a:r>
            <a:r>
              <a:rPr sz="2000" dirty="0">
                <a:latin typeface="Times New Roman"/>
                <a:cs typeface="Times New Roman"/>
              </a:rPr>
              <a:t>10W</a:t>
            </a:r>
            <a:r>
              <a:rPr sz="2000" spc="-5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units</a:t>
            </a:r>
            <a:r>
              <a:rPr sz="2000" spc="-30" dirty="0">
                <a:latin typeface="Times New Roman"/>
                <a:cs typeface="Times New Roman"/>
              </a:rPr>
              <a:t> </a:t>
            </a:r>
            <a:r>
              <a:rPr sz="2000" spc="-25" dirty="0">
                <a:latin typeface="Times New Roman"/>
                <a:cs typeface="Times New Roman"/>
              </a:rPr>
              <a:t>of </a:t>
            </a:r>
            <a:r>
              <a:rPr sz="2000" spc="-20" dirty="0">
                <a:latin typeface="Times New Roman"/>
                <a:cs typeface="Times New Roman"/>
              </a:rPr>
              <a:t>dBm.</a:t>
            </a:r>
            <a:endParaRPr sz="2000">
              <a:latin typeface="Times New Roman"/>
              <a:cs typeface="Times New Roman"/>
            </a:endParaRPr>
          </a:p>
          <a:p>
            <a:pPr marL="381000" marR="30480" indent="-342900">
              <a:lnSpc>
                <a:spcPct val="100000"/>
              </a:lnSpc>
              <a:spcBef>
                <a:spcPts val="480"/>
              </a:spcBef>
            </a:pPr>
            <a:r>
              <a:rPr sz="2000" dirty="0">
                <a:latin typeface="Times New Roman"/>
                <a:cs typeface="Times New Roman"/>
              </a:rPr>
              <a:t>1.5</a:t>
            </a:r>
            <a:r>
              <a:rPr sz="2000" spc="-2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simulcasting</a:t>
            </a:r>
            <a:r>
              <a:rPr sz="2000" spc="-35" dirty="0">
                <a:latin typeface="Times New Roman"/>
                <a:cs typeface="Times New Roman"/>
              </a:rPr>
              <a:t> </a:t>
            </a:r>
            <a:r>
              <a:rPr sz="2000" dirty="0">
                <a:latin typeface="Times New Roman"/>
                <a:cs typeface="Times New Roman"/>
              </a:rPr>
              <a:t>paging</a:t>
            </a:r>
            <a:r>
              <a:rPr sz="2000" spc="-35" dirty="0">
                <a:latin typeface="Times New Roman"/>
                <a:cs typeface="Times New Roman"/>
              </a:rPr>
              <a:t> </a:t>
            </a:r>
            <a:r>
              <a:rPr sz="2000" dirty="0">
                <a:latin typeface="Times New Roman"/>
                <a:cs typeface="Times New Roman"/>
              </a:rPr>
              <a:t>systems,</a:t>
            </a:r>
            <a:r>
              <a:rPr sz="2000" spc="-5" dirty="0">
                <a:latin typeface="Times New Roman"/>
                <a:cs typeface="Times New Roman"/>
              </a:rPr>
              <a:t> </a:t>
            </a:r>
            <a:r>
              <a:rPr sz="2000" dirty="0">
                <a:latin typeface="Times New Roman"/>
                <a:cs typeface="Times New Roman"/>
              </a:rPr>
              <a:t>there</a:t>
            </a:r>
            <a:r>
              <a:rPr sz="2000" spc="-25" dirty="0">
                <a:latin typeface="Times New Roman"/>
                <a:cs typeface="Times New Roman"/>
              </a:rPr>
              <a:t> </a:t>
            </a:r>
            <a:r>
              <a:rPr sz="2000" dirty="0">
                <a:latin typeface="Times New Roman"/>
                <a:cs typeface="Times New Roman"/>
              </a:rPr>
              <a:t>usually</a:t>
            </a:r>
            <a:r>
              <a:rPr sz="2000" spc="-5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one</a:t>
            </a:r>
            <a:r>
              <a:rPr sz="2000" spc="-25" dirty="0">
                <a:latin typeface="Times New Roman"/>
                <a:cs typeface="Times New Roman"/>
              </a:rPr>
              <a:t> </a:t>
            </a:r>
            <a:r>
              <a:rPr sz="2000" dirty="0">
                <a:latin typeface="Times New Roman"/>
                <a:cs typeface="Times New Roman"/>
              </a:rPr>
              <a:t>dominant</a:t>
            </a:r>
            <a:r>
              <a:rPr sz="2000" spc="-30" dirty="0">
                <a:latin typeface="Times New Roman"/>
                <a:cs typeface="Times New Roman"/>
              </a:rPr>
              <a:t> </a:t>
            </a:r>
            <a:r>
              <a:rPr sz="2000" dirty="0">
                <a:latin typeface="Times New Roman"/>
                <a:cs typeface="Times New Roman"/>
              </a:rPr>
              <a:t>signal</a:t>
            </a:r>
            <a:r>
              <a:rPr sz="2000" spc="-50" dirty="0">
                <a:latin typeface="Times New Roman"/>
                <a:cs typeface="Times New Roman"/>
              </a:rPr>
              <a:t> </a:t>
            </a:r>
            <a:r>
              <a:rPr sz="2000" dirty="0">
                <a:latin typeface="Times New Roman"/>
                <a:cs typeface="Times New Roman"/>
              </a:rPr>
              <a:t>arriving</a:t>
            </a:r>
            <a:r>
              <a:rPr sz="2000" spc="-45" dirty="0">
                <a:latin typeface="Times New Roman"/>
                <a:cs typeface="Times New Roman"/>
              </a:rPr>
              <a:t> </a:t>
            </a:r>
            <a:r>
              <a:rPr sz="2000" spc="-25" dirty="0">
                <a:latin typeface="Times New Roman"/>
                <a:cs typeface="Times New Roman"/>
              </a:rPr>
              <a:t>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paging</a:t>
            </a:r>
            <a:r>
              <a:rPr sz="2000" spc="-30" dirty="0">
                <a:latin typeface="Times New Roman"/>
                <a:cs typeface="Times New Roman"/>
              </a:rPr>
              <a:t> </a:t>
            </a:r>
            <a:r>
              <a:rPr sz="2000" spc="-10" dirty="0">
                <a:latin typeface="Times New Roman"/>
                <a:cs typeface="Times New Roman"/>
              </a:rPr>
              <a:t>receiver.</a:t>
            </a:r>
            <a:r>
              <a:rPr sz="2000" spc="-4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most,</a:t>
            </a:r>
            <a:r>
              <a:rPr sz="2000" spc="-5" dirty="0">
                <a:latin typeface="Times New Roman"/>
                <a:cs typeface="Times New Roman"/>
              </a:rPr>
              <a:t> </a:t>
            </a:r>
            <a:r>
              <a:rPr sz="2000" dirty="0">
                <a:latin typeface="Times New Roman"/>
                <a:cs typeface="Times New Roman"/>
              </a:rPr>
              <a:t>but</a:t>
            </a:r>
            <a:r>
              <a:rPr sz="2000" spc="-20" dirty="0">
                <a:latin typeface="Times New Roman"/>
                <a:cs typeface="Times New Roman"/>
              </a:rPr>
              <a:t> </a:t>
            </a:r>
            <a:r>
              <a:rPr sz="2000" dirty="0">
                <a:latin typeface="Times New Roman"/>
                <a:cs typeface="Times New Roman"/>
              </a:rPr>
              <a:t>not</a:t>
            </a:r>
            <a:r>
              <a:rPr sz="2000" spc="-35" dirty="0">
                <a:latin typeface="Times New Roman"/>
                <a:cs typeface="Times New Roman"/>
              </a:rPr>
              <a:t> </a:t>
            </a:r>
            <a:r>
              <a:rPr sz="2000" dirty="0">
                <a:latin typeface="Times New Roman"/>
                <a:cs typeface="Times New Roman"/>
              </a:rPr>
              <a:t>all</a:t>
            </a:r>
            <a:r>
              <a:rPr sz="2000" spc="-15" dirty="0">
                <a:latin typeface="Times New Roman"/>
                <a:cs typeface="Times New Roman"/>
              </a:rPr>
              <a:t> </a:t>
            </a:r>
            <a:r>
              <a:rPr sz="2000" dirty="0">
                <a:latin typeface="Times New Roman"/>
                <a:cs typeface="Times New Roman"/>
              </a:rPr>
              <a:t>cases,</a:t>
            </a:r>
            <a:r>
              <a:rPr sz="2000" spc="-1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dominant</a:t>
            </a:r>
            <a:r>
              <a:rPr sz="2000" spc="-20" dirty="0">
                <a:latin typeface="Times New Roman"/>
                <a:cs typeface="Times New Roman"/>
              </a:rPr>
              <a:t> </a:t>
            </a:r>
            <a:r>
              <a:rPr sz="2000" dirty="0">
                <a:latin typeface="Times New Roman"/>
                <a:cs typeface="Times New Roman"/>
              </a:rPr>
              <a:t>signal</a:t>
            </a:r>
            <a:r>
              <a:rPr sz="2000" spc="-35" dirty="0">
                <a:latin typeface="Times New Roman"/>
                <a:cs typeface="Times New Roman"/>
              </a:rPr>
              <a:t> </a:t>
            </a:r>
            <a:r>
              <a:rPr sz="2000" dirty="0">
                <a:latin typeface="Times New Roman"/>
                <a:cs typeface="Times New Roman"/>
              </a:rPr>
              <a:t>arrives</a:t>
            </a:r>
            <a:r>
              <a:rPr sz="2000" spc="-50" dirty="0">
                <a:latin typeface="Times New Roman"/>
                <a:cs typeface="Times New Roman"/>
              </a:rPr>
              <a:t> </a:t>
            </a:r>
            <a:r>
              <a:rPr sz="2000" spc="-20" dirty="0">
                <a:latin typeface="Times New Roman"/>
                <a:cs typeface="Times New Roman"/>
              </a:rPr>
              <a:t>from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transmitter</a:t>
            </a:r>
            <a:r>
              <a:rPr sz="2000" spc="-35" dirty="0">
                <a:latin typeface="Times New Roman"/>
                <a:cs typeface="Times New Roman"/>
              </a:rPr>
              <a:t> </a:t>
            </a:r>
            <a:r>
              <a:rPr sz="2000" dirty="0">
                <a:latin typeface="Times New Roman"/>
                <a:cs typeface="Times New Roman"/>
              </a:rPr>
              <a:t>closest</a:t>
            </a:r>
            <a:r>
              <a:rPr sz="2000" spc="-3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paging</a:t>
            </a:r>
            <a:r>
              <a:rPr sz="2000" spc="-40" dirty="0">
                <a:latin typeface="Times New Roman"/>
                <a:cs typeface="Times New Roman"/>
              </a:rPr>
              <a:t> </a:t>
            </a:r>
            <a:r>
              <a:rPr sz="2000" spc="-10" dirty="0">
                <a:latin typeface="Times New Roman"/>
                <a:cs typeface="Times New Roman"/>
              </a:rPr>
              <a:t>receiver.</a:t>
            </a:r>
            <a:r>
              <a:rPr sz="2000" spc="-35" dirty="0">
                <a:latin typeface="Times New Roman"/>
                <a:cs typeface="Times New Roman"/>
              </a:rPr>
              <a:t> </a:t>
            </a:r>
            <a:r>
              <a:rPr sz="2000" dirty="0">
                <a:latin typeface="Times New Roman"/>
                <a:cs typeface="Times New Roman"/>
              </a:rPr>
              <a:t>Explain</a:t>
            </a:r>
            <a:r>
              <a:rPr sz="2000" spc="-40" dirty="0">
                <a:latin typeface="Times New Roman"/>
                <a:cs typeface="Times New Roman"/>
              </a:rPr>
              <a:t> </a:t>
            </a:r>
            <a:r>
              <a:rPr sz="2000" dirty="0">
                <a:latin typeface="Times New Roman"/>
                <a:cs typeface="Times New Roman"/>
              </a:rPr>
              <a:t>how</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FM capture</a:t>
            </a:r>
            <a:r>
              <a:rPr sz="2000" spc="-40" dirty="0">
                <a:latin typeface="Times New Roman"/>
                <a:cs typeface="Times New Roman"/>
              </a:rPr>
              <a:t> </a:t>
            </a:r>
            <a:r>
              <a:rPr sz="2000" spc="-10" dirty="0">
                <a:latin typeface="Times New Roman"/>
                <a:cs typeface="Times New Roman"/>
              </a:rPr>
              <a:t>effect </a:t>
            </a:r>
            <a:r>
              <a:rPr sz="2000" dirty="0">
                <a:latin typeface="Times New Roman"/>
                <a:cs typeface="Times New Roman"/>
              </a:rPr>
              <a:t>could</a:t>
            </a:r>
            <a:r>
              <a:rPr sz="2000" spc="-50" dirty="0">
                <a:latin typeface="Times New Roman"/>
                <a:cs typeface="Times New Roman"/>
              </a:rPr>
              <a:t> </a:t>
            </a:r>
            <a:r>
              <a:rPr sz="2000" dirty="0">
                <a:latin typeface="Times New Roman"/>
                <a:cs typeface="Times New Roman"/>
              </a:rPr>
              <a:t>help</a:t>
            </a:r>
            <a:r>
              <a:rPr sz="2000" spc="-5" dirty="0">
                <a:latin typeface="Times New Roman"/>
                <a:cs typeface="Times New Roman"/>
              </a:rPr>
              <a:t> </a:t>
            </a:r>
            <a:r>
              <a:rPr sz="2000" dirty="0">
                <a:latin typeface="Times New Roman"/>
                <a:cs typeface="Times New Roman"/>
              </a:rPr>
              <a:t>reception</a:t>
            </a:r>
            <a:r>
              <a:rPr sz="2000" spc="-3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paging</a:t>
            </a:r>
            <a:r>
              <a:rPr sz="2000" spc="-35" dirty="0">
                <a:latin typeface="Times New Roman"/>
                <a:cs typeface="Times New Roman"/>
              </a:rPr>
              <a:t> </a:t>
            </a:r>
            <a:r>
              <a:rPr sz="2000" spc="-10" dirty="0">
                <a:latin typeface="Times New Roman"/>
                <a:cs typeface="Times New Roman"/>
              </a:rPr>
              <a:t>receiver.</a:t>
            </a:r>
            <a:r>
              <a:rPr sz="2000" spc="-45" dirty="0">
                <a:latin typeface="Times New Roman"/>
                <a:cs typeface="Times New Roman"/>
              </a:rPr>
              <a:t> </a:t>
            </a:r>
            <a:r>
              <a:rPr sz="2000" dirty="0">
                <a:latin typeface="Times New Roman"/>
                <a:cs typeface="Times New Roman"/>
              </a:rPr>
              <a:t>Could</a:t>
            </a:r>
            <a:r>
              <a:rPr sz="2000" spc="-2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FM</a:t>
            </a:r>
            <a:r>
              <a:rPr sz="2000" spc="-15" dirty="0">
                <a:latin typeface="Times New Roman"/>
                <a:cs typeface="Times New Roman"/>
              </a:rPr>
              <a:t> </a:t>
            </a:r>
            <a:r>
              <a:rPr sz="2000" dirty="0">
                <a:latin typeface="Times New Roman"/>
                <a:cs typeface="Times New Roman"/>
              </a:rPr>
              <a:t>capture</a:t>
            </a:r>
            <a:r>
              <a:rPr sz="2000" spc="-30" dirty="0">
                <a:latin typeface="Times New Roman"/>
                <a:cs typeface="Times New Roman"/>
              </a:rPr>
              <a:t> </a:t>
            </a:r>
            <a:r>
              <a:rPr sz="2000" dirty="0">
                <a:latin typeface="Times New Roman"/>
                <a:cs typeface="Times New Roman"/>
              </a:rPr>
              <a:t>effect</a:t>
            </a:r>
            <a:r>
              <a:rPr sz="2000" spc="-40" dirty="0">
                <a:latin typeface="Times New Roman"/>
                <a:cs typeface="Times New Roman"/>
              </a:rPr>
              <a:t> </a:t>
            </a:r>
            <a:r>
              <a:rPr sz="2000" spc="-20" dirty="0">
                <a:latin typeface="Times New Roman"/>
                <a:cs typeface="Times New Roman"/>
              </a:rPr>
              <a:t>help </a:t>
            </a:r>
            <a:r>
              <a:rPr sz="2000" dirty="0">
                <a:latin typeface="Times New Roman"/>
                <a:cs typeface="Times New Roman"/>
              </a:rPr>
              <a:t>cellular</a:t>
            </a:r>
            <a:r>
              <a:rPr sz="2000" spc="-35" dirty="0">
                <a:latin typeface="Times New Roman"/>
                <a:cs typeface="Times New Roman"/>
              </a:rPr>
              <a:t> </a:t>
            </a:r>
            <a:r>
              <a:rPr sz="2000" dirty="0">
                <a:latin typeface="Times New Roman"/>
                <a:cs typeface="Times New Roman"/>
              </a:rPr>
              <a:t>radio</a:t>
            </a:r>
            <a:r>
              <a:rPr sz="2000" spc="-45" dirty="0">
                <a:latin typeface="Times New Roman"/>
                <a:cs typeface="Times New Roman"/>
              </a:rPr>
              <a:t> </a:t>
            </a:r>
            <a:r>
              <a:rPr sz="2000" dirty="0">
                <a:latin typeface="Times New Roman"/>
                <a:cs typeface="Times New Roman"/>
              </a:rPr>
              <a:t>systems?</a:t>
            </a:r>
            <a:r>
              <a:rPr sz="2000" spc="-15" dirty="0">
                <a:latin typeface="Times New Roman"/>
                <a:cs typeface="Times New Roman"/>
              </a:rPr>
              <a:t> </a:t>
            </a:r>
            <a:r>
              <a:rPr sz="2000" dirty="0">
                <a:latin typeface="Times New Roman"/>
                <a:cs typeface="Times New Roman"/>
              </a:rPr>
              <a:t>Explain</a:t>
            </a:r>
            <a:r>
              <a:rPr sz="2000" spc="-40" dirty="0">
                <a:latin typeface="Times New Roman"/>
                <a:cs typeface="Times New Roman"/>
              </a:rPr>
              <a:t> </a:t>
            </a:r>
            <a:r>
              <a:rPr sz="2000" spc="-25" dirty="0">
                <a:latin typeface="Times New Roman"/>
                <a:cs typeface="Times New Roman"/>
              </a:rPr>
              <a:t>how</a:t>
            </a:r>
            <a:endParaRPr sz="2000">
              <a:latin typeface="Times New Roman"/>
              <a:cs typeface="Times New Roman"/>
            </a:endParaRPr>
          </a:p>
          <a:p>
            <a:pPr marL="381000" marR="48260" indent="-342900">
              <a:lnSpc>
                <a:spcPct val="100000"/>
              </a:lnSpc>
              <a:spcBef>
                <a:spcPts val="480"/>
              </a:spcBef>
            </a:pPr>
            <a:r>
              <a:rPr sz="2000" dirty="0">
                <a:latin typeface="Times New Roman"/>
                <a:cs typeface="Times New Roman"/>
              </a:rPr>
              <a:t>1.9</a:t>
            </a:r>
            <a:r>
              <a:rPr sz="2000" spc="-125" dirty="0">
                <a:latin typeface="Times New Roman"/>
                <a:cs typeface="Times New Roman"/>
              </a:rPr>
              <a:t> </a:t>
            </a:r>
            <a:r>
              <a:rPr sz="2000" dirty="0">
                <a:latin typeface="Times New Roman"/>
                <a:cs typeface="Times New Roman"/>
              </a:rPr>
              <a:t>Assume</a:t>
            </a:r>
            <a:r>
              <a:rPr sz="2000" spc="-25" dirty="0">
                <a:latin typeface="Times New Roman"/>
                <a:cs typeface="Times New Roman"/>
              </a:rPr>
              <a:t> </a:t>
            </a:r>
            <a:r>
              <a:rPr sz="2000" dirty="0">
                <a:latin typeface="Times New Roman"/>
                <a:cs typeface="Times New Roman"/>
              </a:rPr>
              <a:t>a I</a:t>
            </a:r>
            <a:r>
              <a:rPr sz="2000" spc="-125" dirty="0">
                <a:latin typeface="Times New Roman"/>
                <a:cs typeface="Times New Roman"/>
              </a:rPr>
              <a:t> </a:t>
            </a:r>
            <a:r>
              <a:rPr sz="2000" spc="-10" dirty="0">
                <a:latin typeface="Times New Roman"/>
                <a:cs typeface="Times New Roman"/>
              </a:rPr>
              <a:t>Amp-</a:t>
            </a:r>
            <a:r>
              <a:rPr sz="2000" dirty="0">
                <a:latin typeface="Times New Roman"/>
                <a:cs typeface="Times New Roman"/>
              </a:rPr>
              <a:t>hour</a:t>
            </a:r>
            <a:r>
              <a:rPr sz="2000" spc="-35" dirty="0">
                <a:latin typeface="Times New Roman"/>
                <a:cs typeface="Times New Roman"/>
              </a:rPr>
              <a:t> </a:t>
            </a:r>
            <a:r>
              <a:rPr sz="2000" dirty="0">
                <a:latin typeface="Times New Roman"/>
                <a:cs typeface="Times New Roman"/>
              </a:rPr>
              <a:t>battery</a:t>
            </a:r>
            <a:r>
              <a:rPr sz="2000" spc="-3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used</a:t>
            </a:r>
            <a:r>
              <a:rPr sz="2000" spc="-25" dirty="0">
                <a:latin typeface="Times New Roman"/>
                <a:cs typeface="Times New Roman"/>
              </a:rPr>
              <a:t> </a:t>
            </a:r>
            <a:r>
              <a:rPr sz="2000" dirty="0">
                <a:latin typeface="Times New Roman"/>
                <a:cs typeface="Times New Roman"/>
              </a:rPr>
              <a:t>on</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cellular</a:t>
            </a:r>
            <a:r>
              <a:rPr sz="2000" spc="-35" dirty="0">
                <a:latin typeface="Times New Roman"/>
                <a:cs typeface="Times New Roman"/>
              </a:rPr>
              <a:t> </a:t>
            </a:r>
            <a:r>
              <a:rPr sz="2000" dirty="0">
                <a:latin typeface="Times New Roman"/>
                <a:cs typeface="Times New Roman"/>
              </a:rPr>
              <a:t>telephone</a:t>
            </a:r>
            <a:r>
              <a:rPr sz="2000" spc="-40" dirty="0">
                <a:latin typeface="Times New Roman"/>
                <a:cs typeface="Times New Roman"/>
              </a:rPr>
              <a:t> </a:t>
            </a:r>
            <a:r>
              <a:rPr sz="2000" dirty="0">
                <a:latin typeface="Times New Roman"/>
                <a:cs typeface="Times New Roman"/>
              </a:rPr>
              <a:t>(often</a:t>
            </a:r>
            <a:r>
              <a:rPr sz="2000" spc="-45" dirty="0">
                <a:latin typeface="Times New Roman"/>
                <a:cs typeface="Times New Roman"/>
              </a:rPr>
              <a:t> </a:t>
            </a:r>
            <a:r>
              <a:rPr sz="2000" dirty="0">
                <a:latin typeface="Times New Roman"/>
                <a:cs typeface="Times New Roman"/>
              </a:rPr>
              <a:t>called</a:t>
            </a:r>
            <a:r>
              <a:rPr sz="2000" spc="-5" dirty="0">
                <a:latin typeface="Times New Roman"/>
                <a:cs typeface="Times New Roman"/>
              </a:rPr>
              <a:t> </a:t>
            </a:r>
            <a:r>
              <a:rPr sz="2000" spc="-50" dirty="0">
                <a:latin typeface="Times New Roman"/>
                <a:cs typeface="Times New Roman"/>
              </a:rPr>
              <a:t>a </a:t>
            </a:r>
            <a:r>
              <a:rPr sz="2000" dirty="0">
                <a:latin typeface="Times New Roman"/>
                <a:cs typeface="Times New Roman"/>
              </a:rPr>
              <a:t>cellular</a:t>
            </a:r>
            <a:r>
              <a:rPr sz="2000" spc="-35" dirty="0">
                <a:latin typeface="Times New Roman"/>
                <a:cs typeface="Times New Roman"/>
              </a:rPr>
              <a:t> </a:t>
            </a:r>
            <a:r>
              <a:rPr sz="2000" dirty="0">
                <a:latin typeface="Times New Roman"/>
                <a:cs typeface="Times New Roman"/>
              </a:rPr>
              <a:t>subscriber</a:t>
            </a:r>
            <a:r>
              <a:rPr sz="2000" spc="-40" dirty="0">
                <a:latin typeface="Times New Roman"/>
                <a:cs typeface="Times New Roman"/>
              </a:rPr>
              <a:t> </a:t>
            </a:r>
            <a:r>
              <a:rPr sz="2000" dirty="0">
                <a:latin typeface="Times New Roman"/>
                <a:cs typeface="Times New Roman"/>
              </a:rPr>
              <a:t>unit).</a:t>
            </a:r>
            <a:r>
              <a:rPr sz="2000" spc="-150" dirty="0">
                <a:latin typeface="Times New Roman"/>
                <a:cs typeface="Times New Roman"/>
              </a:rPr>
              <a:t> </a:t>
            </a:r>
            <a:r>
              <a:rPr sz="2000" dirty="0">
                <a:latin typeface="Times New Roman"/>
                <a:cs typeface="Times New Roman"/>
              </a:rPr>
              <a:t>Also</a:t>
            </a:r>
            <a:r>
              <a:rPr sz="2000" spc="-10" dirty="0">
                <a:latin typeface="Times New Roman"/>
                <a:cs typeface="Times New Roman"/>
              </a:rPr>
              <a:t> </a:t>
            </a:r>
            <a:r>
              <a:rPr sz="2000" dirty="0">
                <a:latin typeface="Times New Roman"/>
                <a:cs typeface="Times New Roman"/>
              </a:rPr>
              <a:t>assume</a:t>
            </a:r>
            <a:r>
              <a:rPr sz="2000" spc="-15" dirty="0">
                <a:latin typeface="Times New Roman"/>
                <a:cs typeface="Times New Roman"/>
              </a:rPr>
              <a:t> </a:t>
            </a:r>
            <a:r>
              <a:rPr sz="2000" dirty="0">
                <a:latin typeface="Times New Roman"/>
                <a:cs typeface="Times New Roman"/>
              </a:rPr>
              <a:t>that</a:t>
            </a:r>
            <a:r>
              <a:rPr sz="2000" spc="-3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cellular</a:t>
            </a:r>
            <a:r>
              <a:rPr sz="2000" spc="-30" dirty="0">
                <a:latin typeface="Times New Roman"/>
                <a:cs typeface="Times New Roman"/>
              </a:rPr>
              <a:t> </a:t>
            </a:r>
            <a:r>
              <a:rPr sz="2000" dirty="0">
                <a:latin typeface="Times New Roman"/>
                <a:cs typeface="Times New Roman"/>
              </a:rPr>
              <a:t>telephone</a:t>
            </a:r>
            <a:r>
              <a:rPr sz="2000" spc="-55" dirty="0">
                <a:latin typeface="Times New Roman"/>
                <a:cs typeface="Times New Roman"/>
              </a:rPr>
              <a:t> </a:t>
            </a:r>
            <a:r>
              <a:rPr sz="2000" dirty="0">
                <a:latin typeface="Times New Roman"/>
                <a:cs typeface="Times New Roman"/>
              </a:rPr>
              <a:t>draws</a:t>
            </a:r>
            <a:r>
              <a:rPr sz="2000" spc="-25" dirty="0">
                <a:latin typeface="Times New Roman"/>
                <a:cs typeface="Times New Roman"/>
              </a:rPr>
              <a:t> </a:t>
            </a:r>
            <a:r>
              <a:rPr sz="2000" dirty="0">
                <a:latin typeface="Times New Roman"/>
                <a:cs typeface="Times New Roman"/>
              </a:rPr>
              <a:t>35</a:t>
            </a:r>
            <a:r>
              <a:rPr sz="2000" spc="20" dirty="0">
                <a:latin typeface="Times New Roman"/>
                <a:cs typeface="Times New Roman"/>
              </a:rPr>
              <a:t> </a:t>
            </a:r>
            <a:r>
              <a:rPr sz="2000" spc="-20" dirty="0">
                <a:latin typeface="Times New Roman"/>
                <a:cs typeface="Times New Roman"/>
              </a:rPr>
              <a:t>mAin </a:t>
            </a:r>
            <a:r>
              <a:rPr sz="2000" dirty="0">
                <a:latin typeface="Times New Roman"/>
                <a:cs typeface="Times New Roman"/>
              </a:rPr>
              <a:t>idle</a:t>
            </a:r>
            <a:r>
              <a:rPr sz="2000" spc="-20" dirty="0">
                <a:latin typeface="Times New Roman"/>
                <a:cs typeface="Times New Roman"/>
              </a:rPr>
              <a:t> </a:t>
            </a:r>
            <a:r>
              <a:rPr sz="2000" dirty="0">
                <a:latin typeface="Times New Roman"/>
                <a:cs typeface="Times New Roman"/>
              </a:rPr>
              <a:t>mode</a:t>
            </a:r>
            <a:r>
              <a:rPr sz="2000" spc="-15"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250</a:t>
            </a:r>
            <a:r>
              <a:rPr sz="2000" spc="-20" dirty="0">
                <a:latin typeface="Times New Roman"/>
                <a:cs typeface="Times New Roman"/>
              </a:rPr>
              <a:t> </a:t>
            </a:r>
            <a:r>
              <a:rPr sz="2000" spc="-10" dirty="0">
                <a:latin typeface="Times New Roman"/>
                <a:cs typeface="Times New Roman"/>
              </a:rPr>
              <a:t>mA</a:t>
            </a:r>
            <a:r>
              <a:rPr sz="2000" spc="-95" dirty="0">
                <a:latin typeface="Times New Roman"/>
                <a:cs typeface="Times New Roman"/>
              </a:rPr>
              <a:t> </a:t>
            </a:r>
            <a:r>
              <a:rPr sz="2000" dirty="0">
                <a:latin typeface="Times New Roman"/>
                <a:cs typeface="Times New Roman"/>
              </a:rPr>
              <a:t>during</a:t>
            </a:r>
            <a:r>
              <a:rPr sz="2000" spc="-35"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call.</a:t>
            </a:r>
            <a:r>
              <a:rPr sz="2000" spc="-20" dirty="0">
                <a:latin typeface="Times New Roman"/>
                <a:cs typeface="Times New Roman"/>
              </a:rPr>
              <a:t> </a:t>
            </a:r>
            <a:r>
              <a:rPr sz="2000" dirty="0">
                <a:latin typeface="Times New Roman"/>
                <a:cs typeface="Times New Roman"/>
              </a:rPr>
              <a:t>How</a:t>
            </a:r>
            <a:r>
              <a:rPr sz="2000" spc="-5" dirty="0">
                <a:latin typeface="Times New Roman"/>
                <a:cs typeface="Times New Roman"/>
              </a:rPr>
              <a:t> </a:t>
            </a:r>
            <a:r>
              <a:rPr sz="2000" dirty="0">
                <a:latin typeface="Times New Roman"/>
                <a:cs typeface="Times New Roman"/>
              </a:rPr>
              <a:t>long</a:t>
            </a:r>
            <a:r>
              <a:rPr sz="2000" spc="-35" dirty="0">
                <a:latin typeface="Times New Roman"/>
                <a:cs typeface="Times New Roman"/>
              </a:rPr>
              <a:t> </a:t>
            </a:r>
            <a:r>
              <a:rPr sz="2000" dirty="0">
                <a:latin typeface="Times New Roman"/>
                <a:cs typeface="Times New Roman"/>
              </a:rPr>
              <a:t>would</a:t>
            </a:r>
            <a:r>
              <a:rPr sz="2000" spc="-1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phone</a:t>
            </a:r>
            <a:r>
              <a:rPr sz="2000" spc="-40" dirty="0">
                <a:latin typeface="Times New Roman"/>
                <a:cs typeface="Times New Roman"/>
              </a:rPr>
              <a:t> </a:t>
            </a:r>
            <a:r>
              <a:rPr sz="2000" dirty="0">
                <a:latin typeface="Times New Roman"/>
                <a:cs typeface="Times New Roman"/>
              </a:rPr>
              <a:t>work</a:t>
            </a:r>
            <a:r>
              <a:rPr sz="2000" spc="-20" dirty="0">
                <a:latin typeface="Times New Roman"/>
                <a:cs typeface="Times New Roman"/>
              </a:rPr>
              <a:t> </a:t>
            </a:r>
            <a:r>
              <a:rPr sz="2000" spc="-10" dirty="0">
                <a:latin typeface="Times New Roman"/>
                <a:cs typeface="Times New Roman"/>
              </a:rPr>
              <a:t>(i.e., </a:t>
            </a:r>
            <a:r>
              <a:rPr sz="2000" dirty="0">
                <a:latin typeface="Times New Roman"/>
                <a:cs typeface="Times New Roman"/>
              </a:rPr>
              <a:t>what</a:t>
            </a:r>
            <a:r>
              <a:rPr sz="2000" spc="-2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battery</a:t>
            </a:r>
            <a:r>
              <a:rPr sz="2000" spc="-10" dirty="0">
                <a:latin typeface="Times New Roman"/>
                <a:cs typeface="Times New Roman"/>
              </a:rPr>
              <a:t> </a:t>
            </a:r>
            <a:r>
              <a:rPr sz="2000" dirty="0">
                <a:latin typeface="Times New Roman"/>
                <a:cs typeface="Times New Roman"/>
              </a:rPr>
              <a:t>life)</a:t>
            </a:r>
            <a:r>
              <a:rPr sz="2000" spc="-30" dirty="0">
                <a:latin typeface="Times New Roman"/>
                <a:cs typeface="Times New Roman"/>
              </a:rPr>
              <a:t> </a:t>
            </a: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user</a:t>
            </a:r>
            <a:r>
              <a:rPr sz="2000" spc="-20" dirty="0">
                <a:latin typeface="Times New Roman"/>
                <a:cs typeface="Times New Roman"/>
              </a:rPr>
              <a:t> </a:t>
            </a:r>
            <a:r>
              <a:rPr sz="2000" dirty="0">
                <a:latin typeface="Times New Roman"/>
                <a:cs typeface="Times New Roman"/>
              </a:rPr>
              <a:t>leaves</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phone</a:t>
            </a:r>
            <a:r>
              <a:rPr sz="2000" spc="-40" dirty="0">
                <a:latin typeface="Times New Roman"/>
                <a:cs typeface="Times New Roman"/>
              </a:rPr>
              <a:t> </a:t>
            </a:r>
            <a:r>
              <a:rPr sz="2000" dirty="0">
                <a:latin typeface="Times New Roman"/>
                <a:cs typeface="Times New Roman"/>
              </a:rPr>
              <a:t>on</a:t>
            </a:r>
            <a:r>
              <a:rPr sz="2000" spc="-10" dirty="0">
                <a:latin typeface="Times New Roman"/>
                <a:cs typeface="Times New Roman"/>
              </a:rPr>
              <a:t> </a:t>
            </a:r>
            <a:r>
              <a:rPr sz="2000" dirty="0">
                <a:latin typeface="Times New Roman"/>
                <a:cs typeface="Times New Roman"/>
              </a:rPr>
              <a:t>continually</a:t>
            </a:r>
            <a:r>
              <a:rPr sz="2000" spc="-4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has</a:t>
            </a:r>
            <a:r>
              <a:rPr sz="2000" spc="-15" dirty="0">
                <a:latin typeface="Times New Roman"/>
                <a:cs typeface="Times New Roman"/>
              </a:rPr>
              <a:t> </a:t>
            </a:r>
            <a:r>
              <a:rPr sz="2000" spc="-25" dirty="0">
                <a:latin typeface="Times New Roman"/>
                <a:cs typeface="Times New Roman"/>
              </a:rPr>
              <a:t>one </a:t>
            </a:r>
            <a:r>
              <a:rPr sz="2000" dirty="0">
                <a:latin typeface="Times New Roman"/>
                <a:cs typeface="Times New Roman"/>
              </a:rPr>
              <a:t>3-minute</a:t>
            </a:r>
            <a:r>
              <a:rPr sz="2000" spc="-30" dirty="0">
                <a:latin typeface="Times New Roman"/>
                <a:cs typeface="Times New Roman"/>
              </a:rPr>
              <a:t> </a:t>
            </a:r>
            <a:r>
              <a:rPr sz="2000" dirty="0">
                <a:latin typeface="Times New Roman"/>
                <a:cs typeface="Times New Roman"/>
              </a:rPr>
              <a:t>call</a:t>
            </a:r>
            <a:r>
              <a:rPr sz="2000" spc="-15" dirty="0">
                <a:latin typeface="Times New Roman"/>
                <a:cs typeface="Times New Roman"/>
              </a:rPr>
              <a:t> </a:t>
            </a:r>
            <a:r>
              <a:rPr sz="2000" dirty="0">
                <a:latin typeface="Times New Roman"/>
                <a:cs typeface="Times New Roman"/>
              </a:rPr>
              <a:t>every</a:t>
            </a:r>
            <a:r>
              <a:rPr sz="2000" spc="-30" dirty="0">
                <a:latin typeface="Times New Roman"/>
                <a:cs typeface="Times New Roman"/>
              </a:rPr>
              <a:t> </a:t>
            </a:r>
            <a:r>
              <a:rPr sz="2000" dirty="0">
                <a:latin typeface="Times New Roman"/>
                <a:cs typeface="Times New Roman"/>
              </a:rPr>
              <a:t>day?</a:t>
            </a:r>
            <a:r>
              <a:rPr sz="2000" spc="-5" dirty="0">
                <a:latin typeface="Times New Roman"/>
                <a:cs typeface="Times New Roman"/>
              </a:rPr>
              <a:t> </a:t>
            </a:r>
            <a:r>
              <a:rPr sz="2000" dirty="0">
                <a:latin typeface="Times New Roman"/>
                <a:cs typeface="Times New Roman"/>
              </a:rPr>
              <a:t>Every</a:t>
            </a:r>
            <a:r>
              <a:rPr sz="2000" spc="-30" dirty="0">
                <a:latin typeface="Times New Roman"/>
                <a:cs typeface="Times New Roman"/>
              </a:rPr>
              <a:t> </a:t>
            </a:r>
            <a:r>
              <a:rPr sz="2000" dirty="0">
                <a:latin typeface="Times New Roman"/>
                <a:cs typeface="Times New Roman"/>
              </a:rPr>
              <a:t>6 hours?</a:t>
            </a:r>
            <a:r>
              <a:rPr sz="2000" spc="-25" dirty="0">
                <a:latin typeface="Times New Roman"/>
                <a:cs typeface="Times New Roman"/>
              </a:rPr>
              <a:t> </a:t>
            </a:r>
            <a:r>
              <a:rPr sz="2000" dirty="0">
                <a:latin typeface="Times New Roman"/>
                <a:cs typeface="Times New Roman"/>
              </a:rPr>
              <a:t>Every</a:t>
            </a:r>
            <a:r>
              <a:rPr sz="2000" spc="-30" dirty="0">
                <a:latin typeface="Times New Roman"/>
                <a:cs typeface="Times New Roman"/>
              </a:rPr>
              <a:t> </a:t>
            </a:r>
            <a:r>
              <a:rPr sz="2000" dirty="0">
                <a:latin typeface="Times New Roman"/>
                <a:cs typeface="Times New Roman"/>
              </a:rPr>
              <a:t>hour?</a:t>
            </a:r>
            <a:r>
              <a:rPr sz="2000" spc="-65" dirty="0">
                <a:latin typeface="Times New Roman"/>
                <a:cs typeface="Times New Roman"/>
              </a:rPr>
              <a:t> </a:t>
            </a:r>
            <a:r>
              <a:rPr sz="2000" dirty="0">
                <a:latin typeface="Times New Roman"/>
                <a:cs typeface="Times New Roman"/>
              </a:rPr>
              <a:t>What</a:t>
            </a:r>
            <a:r>
              <a:rPr sz="2000" spc="-35"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the</a:t>
            </a:r>
            <a:r>
              <a:rPr sz="2000" spc="-10" dirty="0">
                <a:latin typeface="Times New Roman"/>
                <a:cs typeface="Times New Roman"/>
              </a:rPr>
              <a:t> maximum</a:t>
            </a:r>
            <a:r>
              <a:rPr sz="2000" spc="500" dirty="0">
                <a:latin typeface="Times New Roman"/>
                <a:cs typeface="Times New Roman"/>
              </a:rPr>
              <a:t> </a:t>
            </a:r>
            <a:r>
              <a:rPr sz="2000" dirty="0">
                <a:latin typeface="Times New Roman"/>
                <a:cs typeface="Times New Roman"/>
              </a:rPr>
              <a:t>talk</a:t>
            </a:r>
            <a:r>
              <a:rPr sz="2000" spc="-20" dirty="0">
                <a:latin typeface="Times New Roman"/>
                <a:cs typeface="Times New Roman"/>
              </a:rPr>
              <a:t> </a:t>
            </a:r>
            <a:r>
              <a:rPr sz="2000" dirty="0">
                <a:latin typeface="Times New Roman"/>
                <a:cs typeface="Times New Roman"/>
              </a:rPr>
              <a:t>time</a:t>
            </a:r>
            <a:r>
              <a:rPr sz="2000" spc="-10" dirty="0">
                <a:latin typeface="Times New Roman"/>
                <a:cs typeface="Times New Roman"/>
              </a:rPr>
              <a:t> </a:t>
            </a:r>
            <a:r>
              <a:rPr sz="2000" dirty="0">
                <a:latin typeface="Times New Roman"/>
                <a:cs typeface="Times New Roman"/>
              </a:rPr>
              <a:t>available</a:t>
            </a:r>
            <a:r>
              <a:rPr sz="2000" spc="-35" dirty="0">
                <a:latin typeface="Times New Roman"/>
                <a:cs typeface="Times New Roman"/>
              </a:rPr>
              <a:t> </a:t>
            </a:r>
            <a:r>
              <a:rPr sz="2000" dirty="0">
                <a:latin typeface="Times New Roman"/>
                <a:cs typeface="Times New Roman"/>
              </a:rPr>
              <a:t>on</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cellular</a:t>
            </a:r>
            <a:r>
              <a:rPr sz="2000" spc="-45" dirty="0">
                <a:latin typeface="Times New Roman"/>
                <a:cs typeface="Times New Roman"/>
              </a:rPr>
              <a:t> </a:t>
            </a:r>
            <a:r>
              <a:rPr sz="2000" dirty="0">
                <a:latin typeface="Times New Roman"/>
                <a:cs typeface="Times New Roman"/>
              </a:rPr>
              <a:t>phone</a:t>
            </a:r>
            <a:r>
              <a:rPr sz="2000" spc="-4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this</a:t>
            </a:r>
            <a:r>
              <a:rPr sz="2000" spc="-20" dirty="0">
                <a:latin typeface="Times New Roman"/>
                <a:cs typeface="Times New Roman"/>
              </a:rPr>
              <a:t> </a:t>
            </a:r>
            <a:r>
              <a:rPr sz="2000" spc="-10" dirty="0">
                <a:latin typeface="Times New Roman"/>
                <a:cs typeface="Times New Roman"/>
              </a:rPr>
              <a:t>example?</a:t>
            </a:r>
            <a:endParaRPr sz="20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93</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
        <p:nvSpPr>
          <p:cNvPr id="3" name="object 3"/>
          <p:cNvSpPr txBox="1">
            <a:spLocks noGrp="1"/>
          </p:cNvSpPr>
          <p:nvPr>
            <p:ph type="title"/>
          </p:nvPr>
        </p:nvSpPr>
        <p:spPr>
          <a:xfrm>
            <a:off x="2068448" y="378917"/>
            <a:ext cx="2817495" cy="574675"/>
          </a:xfrm>
          <a:prstGeom prst="rect">
            <a:avLst/>
          </a:prstGeom>
        </p:spPr>
        <p:txBody>
          <a:bodyPr vert="horz" wrap="square" lIns="0" tIns="12700" rIns="0" bIns="0" rtlCol="0">
            <a:spAutoFit/>
          </a:bodyPr>
          <a:lstStyle/>
          <a:p>
            <a:pPr marL="12700">
              <a:lnSpc>
                <a:spcPct val="100000"/>
              </a:lnSpc>
              <a:spcBef>
                <a:spcPts val="100"/>
              </a:spcBef>
            </a:pPr>
            <a:r>
              <a:rPr spc="-120" dirty="0"/>
              <a:t>HOME</a:t>
            </a:r>
            <a:r>
              <a:rPr spc="-285" dirty="0"/>
              <a:t> </a:t>
            </a:r>
            <a:r>
              <a:rPr spc="-110" dirty="0"/>
              <a:t>WORK</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54975" cy="2220595"/>
          </a:xfrm>
          <a:prstGeom prst="rect">
            <a:avLst/>
          </a:prstGeom>
        </p:spPr>
        <p:txBody>
          <a:bodyPr vert="horz" wrap="square" lIns="0" tIns="12700" rIns="0" bIns="0" rtlCol="0">
            <a:spAutoFit/>
          </a:bodyPr>
          <a:lstStyle/>
          <a:p>
            <a:pPr marL="355600" marR="5080" indent="-342900">
              <a:lnSpc>
                <a:spcPct val="100000"/>
              </a:lnSpc>
              <a:spcBef>
                <a:spcPts val="100"/>
              </a:spcBef>
            </a:pPr>
            <a:r>
              <a:rPr sz="2400" dirty="0">
                <a:latin typeface="Times New Roman"/>
                <a:cs typeface="Times New Roman"/>
              </a:rPr>
              <a:t>1.16</a:t>
            </a:r>
            <a:r>
              <a:rPr sz="2400" spc="-30" dirty="0">
                <a:latin typeface="Times New Roman"/>
                <a:cs typeface="Times New Roman"/>
              </a:rPr>
              <a:t> </a:t>
            </a:r>
            <a:r>
              <a:rPr sz="2400" dirty="0">
                <a:latin typeface="Times New Roman"/>
                <a:cs typeface="Times New Roman"/>
              </a:rPr>
              <a:t>Discuss</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similarities</a:t>
            </a:r>
            <a:r>
              <a:rPr sz="2400" spc="-60"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differences</a:t>
            </a:r>
            <a:r>
              <a:rPr sz="2400" spc="-40" dirty="0">
                <a:latin typeface="Times New Roman"/>
                <a:cs typeface="Times New Roman"/>
              </a:rPr>
              <a:t> </a:t>
            </a:r>
            <a:r>
              <a:rPr sz="2400" dirty="0">
                <a:latin typeface="Times New Roman"/>
                <a:cs typeface="Times New Roman"/>
              </a:rPr>
              <a:t>between</a:t>
            </a:r>
            <a:r>
              <a:rPr sz="2400" spc="-50" dirty="0">
                <a:latin typeface="Times New Roman"/>
                <a:cs typeface="Times New Roman"/>
              </a:rPr>
              <a:t> a </a:t>
            </a:r>
            <a:r>
              <a:rPr sz="2400" dirty="0">
                <a:latin typeface="Times New Roman"/>
                <a:cs typeface="Times New Roman"/>
              </a:rPr>
              <a:t>conventional</a:t>
            </a:r>
            <a:r>
              <a:rPr sz="2400" spc="-40" dirty="0">
                <a:latin typeface="Times New Roman"/>
                <a:cs typeface="Times New Roman"/>
              </a:rPr>
              <a:t> </a:t>
            </a:r>
            <a:r>
              <a:rPr sz="2400" dirty="0">
                <a:latin typeface="Times New Roman"/>
                <a:cs typeface="Times New Roman"/>
              </a:rPr>
              <a:t>cellular</a:t>
            </a:r>
            <a:r>
              <a:rPr sz="2400" spc="-40" dirty="0">
                <a:latin typeface="Times New Roman"/>
                <a:cs typeface="Times New Roman"/>
              </a:rPr>
              <a:t> </a:t>
            </a:r>
            <a:r>
              <a:rPr sz="2400" dirty="0">
                <a:latin typeface="Times New Roman"/>
                <a:cs typeface="Times New Roman"/>
              </a:rPr>
              <a:t>radio</a:t>
            </a:r>
            <a:r>
              <a:rPr sz="2400" spc="-5" dirty="0">
                <a:latin typeface="Times New Roman"/>
                <a:cs typeface="Times New Roman"/>
              </a:rPr>
              <a:t> </a:t>
            </a:r>
            <a:r>
              <a:rPr sz="2400" dirty="0">
                <a:latin typeface="Times New Roman"/>
                <a:cs typeface="Times New Roman"/>
              </a:rPr>
              <a:t>system</a:t>
            </a:r>
            <a:r>
              <a:rPr sz="2400" spc="-1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10" dirty="0">
                <a:latin typeface="Times New Roman"/>
                <a:cs typeface="Times New Roman"/>
              </a:rPr>
              <a:t>space-</a:t>
            </a:r>
            <a:r>
              <a:rPr sz="2400" dirty="0">
                <a:latin typeface="Times New Roman"/>
                <a:cs typeface="Times New Roman"/>
              </a:rPr>
              <a:t>based</a:t>
            </a:r>
            <a:r>
              <a:rPr sz="2400" spc="-20" dirty="0">
                <a:latin typeface="Times New Roman"/>
                <a:cs typeface="Times New Roman"/>
              </a:rPr>
              <a:t> </a:t>
            </a:r>
            <a:r>
              <a:rPr sz="2400" spc="-10" dirty="0">
                <a:latin typeface="Times New Roman"/>
                <a:cs typeface="Times New Roman"/>
              </a:rPr>
              <a:t>(satellite) </a:t>
            </a:r>
            <a:r>
              <a:rPr sz="2400" dirty="0">
                <a:latin typeface="Times New Roman"/>
                <a:cs typeface="Times New Roman"/>
              </a:rPr>
              <a:t>cellular</a:t>
            </a:r>
            <a:r>
              <a:rPr sz="2400" spc="-50" dirty="0">
                <a:latin typeface="Times New Roman"/>
                <a:cs typeface="Times New Roman"/>
              </a:rPr>
              <a:t> </a:t>
            </a:r>
            <a:r>
              <a:rPr sz="2400" dirty="0">
                <a:latin typeface="Times New Roman"/>
                <a:cs typeface="Times New Roman"/>
              </a:rPr>
              <a:t>radio</a:t>
            </a:r>
            <a:r>
              <a:rPr sz="2400" spc="-30" dirty="0">
                <a:latin typeface="Times New Roman"/>
                <a:cs typeface="Times New Roman"/>
              </a:rPr>
              <a:t> </a:t>
            </a:r>
            <a:r>
              <a:rPr sz="2400" dirty="0">
                <a:latin typeface="Times New Roman"/>
                <a:cs typeface="Times New Roman"/>
              </a:rPr>
              <a:t>system.</a:t>
            </a:r>
            <a:r>
              <a:rPr sz="2400" spc="-50" dirty="0">
                <a:latin typeface="Times New Roman"/>
                <a:cs typeface="Times New Roman"/>
              </a:rPr>
              <a:t> </a:t>
            </a:r>
            <a:r>
              <a:rPr sz="2400" dirty="0">
                <a:latin typeface="Times New Roman"/>
                <a:cs typeface="Times New Roman"/>
              </a:rPr>
              <a:t>What</a:t>
            </a:r>
            <a:r>
              <a:rPr sz="2400" spc="-15"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advantages</a:t>
            </a:r>
            <a:r>
              <a:rPr sz="2400" spc="-50" dirty="0">
                <a:latin typeface="Times New Roman"/>
                <a:cs typeface="Times New Roman"/>
              </a:rPr>
              <a:t> </a:t>
            </a:r>
            <a:r>
              <a:rPr sz="2400" spc="-25" dirty="0">
                <a:latin typeface="Times New Roman"/>
                <a:cs typeface="Times New Roman"/>
              </a:rPr>
              <a:t>and </a:t>
            </a:r>
            <a:r>
              <a:rPr sz="2400" dirty="0">
                <a:latin typeface="Times New Roman"/>
                <a:cs typeface="Times New Roman"/>
              </a:rPr>
              <a:t>disadvantages</a:t>
            </a:r>
            <a:r>
              <a:rPr sz="2400" spc="-5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each</a:t>
            </a:r>
            <a:r>
              <a:rPr sz="2400" spc="-40" dirty="0">
                <a:latin typeface="Times New Roman"/>
                <a:cs typeface="Times New Roman"/>
              </a:rPr>
              <a:t> </a:t>
            </a:r>
            <a:r>
              <a:rPr sz="2400" dirty="0">
                <a:latin typeface="Times New Roman"/>
                <a:cs typeface="Times New Roman"/>
              </a:rPr>
              <a:t>system?</a:t>
            </a:r>
            <a:r>
              <a:rPr sz="2400" spc="-65" dirty="0">
                <a:latin typeface="Times New Roman"/>
                <a:cs typeface="Times New Roman"/>
              </a:rPr>
              <a:t> </a:t>
            </a:r>
            <a:r>
              <a:rPr sz="2400" dirty="0">
                <a:latin typeface="Times New Roman"/>
                <a:cs typeface="Times New Roman"/>
              </a:rPr>
              <a:t>Which</a:t>
            </a:r>
            <a:r>
              <a:rPr sz="2400" spc="-10" dirty="0">
                <a:latin typeface="Times New Roman"/>
                <a:cs typeface="Times New Roman"/>
              </a:rPr>
              <a:t> </a:t>
            </a:r>
            <a:r>
              <a:rPr sz="2400" dirty="0">
                <a:latin typeface="Times New Roman"/>
                <a:cs typeface="Times New Roman"/>
              </a:rPr>
              <a:t>system</a:t>
            </a:r>
            <a:r>
              <a:rPr sz="2400" spc="-35" dirty="0">
                <a:latin typeface="Times New Roman"/>
                <a:cs typeface="Times New Roman"/>
              </a:rPr>
              <a:t> </a:t>
            </a:r>
            <a:r>
              <a:rPr sz="2400" dirty="0">
                <a:latin typeface="Times New Roman"/>
                <a:cs typeface="Times New Roman"/>
              </a:rPr>
              <a:t>could</a:t>
            </a:r>
            <a:r>
              <a:rPr sz="2400" spc="-15" dirty="0">
                <a:latin typeface="Times New Roman"/>
                <a:cs typeface="Times New Roman"/>
              </a:rPr>
              <a:t> </a:t>
            </a:r>
            <a:r>
              <a:rPr sz="2400" dirty="0">
                <a:latin typeface="Times New Roman"/>
                <a:cs typeface="Times New Roman"/>
              </a:rPr>
              <a:t>support</a:t>
            </a:r>
            <a:r>
              <a:rPr sz="2400" spc="-15" dirty="0">
                <a:latin typeface="Times New Roman"/>
                <a:cs typeface="Times New Roman"/>
              </a:rPr>
              <a:t> </a:t>
            </a:r>
            <a:r>
              <a:rPr sz="2400" spc="-50" dirty="0">
                <a:latin typeface="Times New Roman"/>
                <a:cs typeface="Times New Roman"/>
              </a:rPr>
              <a:t>a </a:t>
            </a:r>
            <a:r>
              <a:rPr sz="2400" dirty="0">
                <a:latin typeface="Times New Roman"/>
                <a:cs typeface="Times New Roman"/>
              </a:rPr>
              <a:t>larger</a:t>
            </a:r>
            <a:r>
              <a:rPr sz="2400" spc="-40" dirty="0">
                <a:latin typeface="Times New Roman"/>
                <a:cs typeface="Times New Roman"/>
              </a:rPr>
              <a:t> </a:t>
            </a:r>
            <a:r>
              <a:rPr sz="2400" dirty="0">
                <a:latin typeface="Times New Roman"/>
                <a:cs typeface="Times New Roman"/>
              </a:rPr>
              <a:t>number</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users</a:t>
            </a:r>
            <a:r>
              <a:rPr sz="2400" spc="-15"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given</a:t>
            </a:r>
            <a:r>
              <a:rPr sz="2400" spc="-35" dirty="0">
                <a:latin typeface="Times New Roman"/>
                <a:cs typeface="Times New Roman"/>
              </a:rPr>
              <a:t> </a:t>
            </a:r>
            <a:r>
              <a:rPr sz="2400" dirty="0">
                <a:latin typeface="Times New Roman"/>
                <a:cs typeface="Times New Roman"/>
              </a:rPr>
              <a:t>frequency</a:t>
            </a:r>
            <a:r>
              <a:rPr sz="2400" spc="-25" dirty="0">
                <a:latin typeface="Times New Roman"/>
                <a:cs typeface="Times New Roman"/>
              </a:rPr>
              <a:t> </a:t>
            </a:r>
            <a:r>
              <a:rPr sz="2400" dirty="0">
                <a:latin typeface="Times New Roman"/>
                <a:cs typeface="Times New Roman"/>
              </a:rPr>
              <a:t>allocation?</a:t>
            </a:r>
            <a:r>
              <a:rPr sz="2400" spc="-70" dirty="0">
                <a:latin typeface="Times New Roman"/>
                <a:cs typeface="Times New Roman"/>
              </a:rPr>
              <a:t> </a:t>
            </a:r>
            <a:r>
              <a:rPr sz="2400" spc="-20" dirty="0">
                <a:latin typeface="Times New Roman"/>
                <a:cs typeface="Times New Roman"/>
              </a:rPr>
              <a:t>Why? </a:t>
            </a:r>
            <a:r>
              <a:rPr sz="2400" dirty="0">
                <a:latin typeface="Times New Roman"/>
                <a:cs typeface="Times New Roman"/>
              </a:rPr>
              <a:t>How</a:t>
            </a:r>
            <a:r>
              <a:rPr sz="2400" spc="-5" dirty="0">
                <a:latin typeface="Times New Roman"/>
                <a:cs typeface="Times New Roman"/>
              </a:rPr>
              <a:t> </a:t>
            </a:r>
            <a:r>
              <a:rPr sz="2400" dirty="0">
                <a:latin typeface="Times New Roman"/>
                <a:cs typeface="Times New Roman"/>
              </a:rPr>
              <a:t>would</a:t>
            </a:r>
            <a:r>
              <a:rPr sz="2400" spc="-15" dirty="0">
                <a:latin typeface="Times New Roman"/>
                <a:cs typeface="Times New Roman"/>
              </a:rPr>
              <a:t> </a:t>
            </a:r>
            <a:r>
              <a:rPr sz="2400" dirty="0">
                <a:latin typeface="Times New Roman"/>
                <a:cs typeface="Times New Roman"/>
              </a:rPr>
              <a:t>this</a:t>
            </a:r>
            <a:r>
              <a:rPr sz="2400" spc="-40" dirty="0">
                <a:latin typeface="Times New Roman"/>
                <a:cs typeface="Times New Roman"/>
              </a:rPr>
              <a:t> </a:t>
            </a:r>
            <a:r>
              <a:rPr sz="2400" dirty="0">
                <a:latin typeface="Times New Roman"/>
                <a:cs typeface="Times New Roman"/>
              </a:rPr>
              <a:t>impact</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cost</a:t>
            </a:r>
            <a:r>
              <a:rPr sz="2400" spc="-3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service</a:t>
            </a:r>
            <a:r>
              <a:rPr sz="2400" spc="-35"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each</a:t>
            </a:r>
            <a:r>
              <a:rPr sz="2400" spc="-25" dirty="0">
                <a:latin typeface="Times New Roman"/>
                <a:cs typeface="Times New Roman"/>
              </a:rPr>
              <a:t> </a:t>
            </a:r>
            <a:r>
              <a:rPr sz="2400" spc="-10" dirty="0">
                <a:latin typeface="Times New Roman"/>
                <a:cs typeface="Times New Roman"/>
              </a:rPr>
              <a:t>subscriber?</a:t>
            </a:r>
            <a:endParaRPr sz="24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94</a:t>
            </a:fld>
            <a:endParaRPr spc="-25"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984631"/>
            <a:ext cx="8063230" cy="5086985"/>
          </a:xfrm>
          <a:prstGeom prst="rect">
            <a:avLst/>
          </a:prstGeom>
        </p:spPr>
        <p:txBody>
          <a:bodyPr vert="horz" wrap="square" lIns="0" tIns="13335" rIns="0" bIns="0" rtlCol="0">
            <a:spAutoFit/>
          </a:bodyPr>
          <a:lstStyle/>
          <a:p>
            <a:pPr marL="355600" marR="25400" lvl="1" indent="-342900">
              <a:lnSpc>
                <a:spcPct val="100000"/>
              </a:lnSpc>
              <a:spcBef>
                <a:spcPts val="105"/>
              </a:spcBef>
              <a:buAutoNum type="arabicPeriod"/>
              <a:tabLst>
                <a:tab pos="355600" algn="l"/>
                <a:tab pos="393065" algn="l"/>
              </a:tabLst>
            </a:pPr>
            <a:r>
              <a:rPr sz="2000" dirty="0">
                <a:latin typeface="Times New Roman"/>
                <a:cs typeface="Times New Roman"/>
              </a:rPr>
              <a:t>	</a:t>
            </a:r>
            <a:r>
              <a:rPr sz="2000" dirty="0">
                <a:solidFill>
                  <a:srgbClr val="221F1F"/>
                </a:solidFill>
                <a:latin typeface="Times New Roman"/>
                <a:cs typeface="Times New Roman"/>
              </a:rPr>
              <a:t>In</a:t>
            </a:r>
            <a:r>
              <a:rPr sz="2000" spc="-25" dirty="0">
                <a:solidFill>
                  <a:srgbClr val="221F1F"/>
                </a:solidFill>
                <a:latin typeface="Times New Roman"/>
                <a:cs typeface="Times New Roman"/>
              </a:rPr>
              <a:t> </a:t>
            </a:r>
            <a:r>
              <a:rPr sz="2000" dirty="0">
                <a:solidFill>
                  <a:srgbClr val="221F1F"/>
                </a:solidFill>
                <a:latin typeface="Times New Roman"/>
                <a:cs typeface="Times New Roman"/>
              </a:rPr>
              <a:t>your</a:t>
            </a:r>
            <a:r>
              <a:rPr sz="2000" spc="-20" dirty="0">
                <a:solidFill>
                  <a:srgbClr val="221F1F"/>
                </a:solidFill>
                <a:latin typeface="Times New Roman"/>
                <a:cs typeface="Times New Roman"/>
              </a:rPr>
              <a:t> </a:t>
            </a:r>
            <a:r>
              <a:rPr sz="2000" dirty="0">
                <a:solidFill>
                  <a:srgbClr val="221F1F"/>
                </a:solidFill>
                <a:latin typeface="Times New Roman"/>
                <a:cs typeface="Times New Roman"/>
              </a:rPr>
              <a:t>place</a:t>
            </a:r>
            <a:r>
              <a:rPr sz="2000" spc="-20" dirty="0">
                <a:solidFill>
                  <a:srgbClr val="221F1F"/>
                </a:solidFill>
                <a:latin typeface="Times New Roman"/>
                <a:cs typeface="Times New Roman"/>
              </a:rPr>
              <a:t> </a:t>
            </a:r>
            <a:r>
              <a:rPr sz="2000" dirty="0">
                <a:solidFill>
                  <a:srgbClr val="221F1F"/>
                </a:solidFill>
                <a:latin typeface="Times New Roman"/>
                <a:cs typeface="Times New Roman"/>
              </a:rPr>
              <a:t>of</a:t>
            </a:r>
            <a:r>
              <a:rPr sz="2000" spc="-20" dirty="0">
                <a:solidFill>
                  <a:srgbClr val="221F1F"/>
                </a:solidFill>
                <a:latin typeface="Times New Roman"/>
                <a:cs typeface="Times New Roman"/>
              </a:rPr>
              <a:t> </a:t>
            </a:r>
            <a:r>
              <a:rPr sz="2000" dirty="0">
                <a:solidFill>
                  <a:srgbClr val="221F1F"/>
                </a:solidFill>
                <a:latin typeface="Times New Roman"/>
                <a:cs typeface="Times New Roman"/>
              </a:rPr>
              <a:t>work,</a:t>
            </a:r>
            <a:r>
              <a:rPr sz="2000" spc="-35" dirty="0">
                <a:solidFill>
                  <a:srgbClr val="221F1F"/>
                </a:solidFill>
                <a:latin typeface="Times New Roman"/>
                <a:cs typeface="Times New Roman"/>
              </a:rPr>
              <a:t> </a:t>
            </a:r>
            <a:r>
              <a:rPr sz="2000" dirty="0">
                <a:solidFill>
                  <a:srgbClr val="221F1F"/>
                </a:solidFill>
                <a:latin typeface="Times New Roman"/>
                <a:cs typeface="Times New Roman"/>
              </a:rPr>
              <a:t>how</a:t>
            </a:r>
            <a:r>
              <a:rPr sz="2000" spc="-25" dirty="0">
                <a:solidFill>
                  <a:srgbClr val="221F1F"/>
                </a:solidFill>
                <a:latin typeface="Times New Roman"/>
                <a:cs typeface="Times New Roman"/>
              </a:rPr>
              <a:t> </a:t>
            </a:r>
            <a:r>
              <a:rPr sz="2000" dirty="0">
                <a:solidFill>
                  <a:srgbClr val="221F1F"/>
                </a:solidFill>
                <a:latin typeface="Times New Roman"/>
                <a:cs typeface="Times New Roman"/>
              </a:rPr>
              <a:t>many</a:t>
            </a:r>
            <a:r>
              <a:rPr sz="2000" spc="5" dirty="0">
                <a:solidFill>
                  <a:srgbClr val="221F1F"/>
                </a:solidFill>
                <a:latin typeface="Times New Roman"/>
                <a:cs typeface="Times New Roman"/>
              </a:rPr>
              <a:t> </a:t>
            </a:r>
            <a:r>
              <a:rPr sz="2000" dirty="0">
                <a:solidFill>
                  <a:srgbClr val="221F1F"/>
                </a:solidFill>
                <a:latin typeface="Times New Roman"/>
                <a:cs typeface="Times New Roman"/>
              </a:rPr>
              <a:t>modern</a:t>
            </a:r>
            <a:r>
              <a:rPr sz="2000" spc="-20" dirty="0">
                <a:solidFill>
                  <a:srgbClr val="221F1F"/>
                </a:solidFill>
                <a:latin typeface="Times New Roman"/>
                <a:cs typeface="Times New Roman"/>
              </a:rPr>
              <a:t> </a:t>
            </a:r>
            <a:r>
              <a:rPr sz="2000" dirty="0">
                <a:solidFill>
                  <a:srgbClr val="221F1F"/>
                </a:solidFill>
                <a:latin typeface="Times New Roman"/>
                <a:cs typeface="Times New Roman"/>
              </a:rPr>
              <a:t>wireless</a:t>
            </a:r>
            <a:r>
              <a:rPr sz="2000" spc="-45" dirty="0">
                <a:solidFill>
                  <a:srgbClr val="221F1F"/>
                </a:solidFill>
                <a:latin typeface="Times New Roman"/>
                <a:cs typeface="Times New Roman"/>
              </a:rPr>
              <a:t> </a:t>
            </a:r>
            <a:r>
              <a:rPr sz="2000" spc="-10" dirty="0">
                <a:solidFill>
                  <a:srgbClr val="221F1F"/>
                </a:solidFill>
                <a:latin typeface="Times New Roman"/>
                <a:cs typeface="Times New Roman"/>
              </a:rPr>
              <a:t>communications </a:t>
            </a:r>
            <a:r>
              <a:rPr sz="2000" dirty="0">
                <a:solidFill>
                  <a:srgbClr val="221F1F"/>
                </a:solidFill>
                <a:latin typeface="Times New Roman"/>
                <a:cs typeface="Times New Roman"/>
              </a:rPr>
              <a:t>networks</a:t>
            </a:r>
            <a:r>
              <a:rPr sz="2000" spc="-50" dirty="0">
                <a:solidFill>
                  <a:srgbClr val="221F1F"/>
                </a:solidFill>
                <a:latin typeface="Times New Roman"/>
                <a:cs typeface="Times New Roman"/>
              </a:rPr>
              <a:t> </a:t>
            </a:r>
            <a:r>
              <a:rPr sz="2000" dirty="0">
                <a:solidFill>
                  <a:srgbClr val="221F1F"/>
                </a:solidFill>
                <a:latin typeface="Times New Roman"/>
                <a:cs typeface="Times New Roman"/>
              </a:rPr>
              <a:t>are</a:t>
            </a:r>
            <a:r>
              <a:rPr sz="2000" spc="-10" dirty="0">
                <a:solidFill>
                  <a:srgbClr val="221F1F"/>
                </a:solidFill>
                <a:latin typeface="Times New Roman"/>
                <a:cs typeface="Times New Roman"/>
              </a:rPr>
              <a:t> </a:t>
            </a:r>
            <a:r>
              <a:rPr sz="2000" dirty="0">
                <a:solidFill>
                  <a:srgbClr val="221F1F"/>
                </a:solidFill>
                <a:latin typeface="Times New Roman"/>
                <a:cs typeface="Times New Roman"/>
              </a:rPr>
              <a:t>available</a:t>
            </a:r>
            <a:r>
              <a:rPr sz="2000" spc="-30" dirty="0">
                <a:solidFill>
                  <a:srgbClr val="221F1F"/>
                </a:solidFill>
                <a:latin typeface="Times New Roman"/>
                <a:cs typeface="Times New Roman"/>
              </a:rPr>
              <a:t> </a:t>
            </a:r>
            <a:r>
              <a:rPr sz="2000" dirty="0">
                <a:solidFill>
                  <a:srgbClr val="221F1F"/>
                </a:solidFill>
                <a:latin typeface="Times New Roman"/>
                <a:cs typeface="Times New Roman"/>
              </a:rPr>
              <a:t>to</a:t>
            </a:r>
            <a:r>
              <a:rPr sz="2000" spc="-20" dirty="0">
                <a:solidFill>
                  <a:srgbClr val="221F1F"/>
                </a:solidFill>
                <a:latin typeface="Times New Roman"/>
                <a:cs typeface="Times New Roman"/>
              </a:rPr>
              <a:t> </a:t>
            </a:r>
            <a:r>
              <a:rPr sz="2000" dirty="0">
                <a:solidFill>
                  <a:srgbClr val="221F1F"/>
                </a:solidFill>
                <a:latin typeface="Times New Roman"/>
                <a:cs typeface="Times New Roman"/>
              </a:rPr>
              <a:t>you?</a:t>
            </a:r>
            <a:r>
              <a:rPr sz="2000" spc="-10" dirty="0">
                <a:solidFill>
                  <a:srgbClr val="221F1F"/>
                </a:solidFill>
                <a:latin typeface="Times New Roman"/>
                <a:cs typeface="Times New Roman"/>
              </a:rPr>
              <a:t> </a:t>
            </a:r>
            <a:r>
              <a:rPr sz="2000" dirty="0">
                <a:solidFill>
                  <a:srgbClr val="221F1F"/>
                </a:solidFill>
                <a:latin typeface="Times New Roman"/>
                <a:cs typeface="Times New Roman"/>
              </a:rPr>
              <a:t>Identify</a:t>
            </a:r>
            <a:r>
              <a:rPr sz="2000" spc="-40" dirty="0">
                <a:solidFill>
                  <a:srgbClr val="221F1F"/>
                </a:solidFill>
                <a:latin typeface="Times New Roman"/>
                <a:cs typeface="Times New Roman"/>
              </a:rPr>
              <a:t> </a:t>
            </a:r>
            <a:r>
              <a:rPr sz="2000" dirty="0">
                <a:solidFill>
                  <a:srgbClr val="221F1F"/>
                </a:solidFill>
                <a:latin typeface="Times New Roman"/>
                <a:cs typeface="Times New Roman"/>
              </a:rPr>
              <a:t>the</a:t>
            </a:r>
            <a:r>
              <a:rPr sz="2000" spc="-15" dirty="0">
                <a:solidFill>
                  <a:srgbClr val="221F1F"/>
                </a:solidFill>
                <a:latin typeface="Times New Roman"/>
                <a:cs typeface="Times New Roman"/>
              </a:rPr>
              <a:t> </a:t>
            </a:r>
            <a:r>
              <a:rPr sz="2000" dirty="0">
                <a:solidFill>
                  <a:srgbClr val="221F1F"/>
                </a:solidFill>
                <a:latin typeface="Times New Roman"/>
                <a:cs typeface="Times New Roman"/>
              </a:rPr>
              <a:t>types</a:t>
            </a:r>
            <a:r>
              <a:rPr sz="2000" spc="-15" dirty="0">
                <a:solidFill>
                  <a:srgbClr val="221F1F"/>
                </a:solidFill>
                <a:latin typeface="Times New Roman"/>
                <a:cs typeface="Times New Roman"/>
              </a:rPr>
              <a:t> </a:t>
            </a:r>
            <a:r>
              <a:rPr sz="2000" dirty="0">
                <a:solidFill>
                  <a:srgbClr val="221F1F"/>
                </a:solidFill>
                <a:latin typeface="Times New Roman"/>
                <a:cs typeface="Times New Roman"/>
              </a:rPr>
              <a:t>of</a:t>
            </a:r>
            <a:r>
              <a:rPr sz="2000" spc="-20" dirty="0">
                <a:solidFill>
                  <a:srgbClr val="221F1F"/>
                </a:solidFill>
                <a:latin typeface="Times New Roman"/>
                <a:cs typeface="Times New Roman"/>
              </a:rPr>
              <a:t> </a:t>
            </a:r>
            <a:r>
              <a:rPr sz="2000" dirty="0">
                <a:solidFill>
                  <a:srgbClr val="221F1F"/>
                </a:solidFill>
                <a:latin typeface="Times New Roman"/>
                <a:cs typeface="Times New Roman"/>
              </a:rPr>
              <a:t>services,</a:t>
            </a:r>
            <a:r>
              <a:rPr sz="2000" spc="-35" dirty="0">
                <a:solidFill>
                  <a:srgbClr val="221F1F"/>
                </a:solidFill>
                <a:latin typeface="Times New Roman"/>
                <a:cs typeface="Times New Roman"/>
              </a:rPr>
              <a:t> </a:t>
            </a:r>
            <a:r>
              <a:rPr sz="2000" dirty="0">
                <a:solidFill>
                  <a:srgbClr val="221F1F"/>
                </a:solidFill>
                <a:latin typeface="Times New Roman"/>
                <a:cs typeface="Times New Roman"/>
              </a:rPr>
              <a:t>the</a:t>
            </a:r>
            <a:r>
              <a:rPr sz="2000" spc="-15" dirty="0">
                <a:solidFill>
                  <a:srgbClr val="221F1F"/>
                </a:solidFill>
                <a:latin typeface="Times New Roman"/>
                <a:cs typeface="Times New Roman"/>
              </a:rPr>
              <a:t> </a:t>
            </a:r>
            <a:r>
              <a:rPr sz="2000" dirty="0">
                <a:solidFill>
                  <a:srgbClr val="221F1F"/>
                </a:solidFill>
                <a:latin typeface="Times New Roman"/>
                <a:cs typeface="Times New Roman"/>
              </a:rPr>
              <a:t>types </a:t>
            </a:r>
            <a:r>
              <a:rPr sz="2000" spc="-25" dirty="0">
                <a:solidFill>
                  <a:srgbClr val="221F1F"/>
                </a:solidFill>
                <a:latin typeface="Times New Roman"/>
                <a:cs typeface="Times New Roman"/>
              </a:rPr>
              <a:t>of </a:t>
            </a:r>
            <a:r>
              <a:rPr sz="2000" dirty="0">
                <a:solidFill>
                  <a:srgbClr val="221F1F"/>
                </a:solidFill>
                <a:latin typeface="Times New Roman"/>
                <a:cs typeface="Times New Roman"/>
              </a:rPr>
              <a:t>technologies,</a:t>
            </a:r>
            <a:r>
              <a:rPr sz="2000" spc="-60" dirty="0">
                <a:solidFill>
                  <a:srgbClr val="221F1F"/>
                </a:solidFill>
                <a:latin typeface="Times New Roman"/>
                <a:cs typeface="Times New Roman"/>
              </a:rPr>
              <a:t> </a:t>
            </a:r>
            <a:r>
              <a:rPr sz="2000" dirty="0">
                <a:solidFill>
                  <a:srgbClr val="221F1F"/>
                </a:solidFill>
                <a:latin typeface="Times New Roman"/>
                <a:cs typeface="Times New Roman"/>
              </a:rPr>
              <a:t>the</a:t>
            </a:r>
            <a:r>
              <a:rPr sz="2000" spc="-20" dirty="0">
                <a:solidFill>
                  <a:srgbClr val="221F1F"/>
                </a:solidFill>
                <a:latin typeface="Times New Roman"/>
                <a:cs typeface="Times New Roman"/>
              </a:rPr>
              <a:t> </a:t>
            </a:r>
            <a:r>
              <a:rPr sz="2000" dirty="0">
                <a:solidFill>
                  <a:srgbClr val="221F1F"/>
                </a:solidFill>
                <a:latin typeface="Times New Roman"/>
                <a:cs typeface="Times New Roman"/>
              </a:rPr>
              <a:t>commercial</a:t>
            </a:r>
            <a:r>
              <a:rPr sz="2000" spc="-20" dirty="0">
                <a:solidFill>
                  <a:srgbClr val="221F1F"/>
                </a:solidFill>
                <a:latin typeface="Times New Roman"/>
                <a:cs typeface="Times New Roman"/>
              </a:rPr>
              <a:t> </a:t>
            </a:r>
            <a:r>
              <a:rPr sz="2000" dirty="0">
                <a:solidFill>
                  <a:srgbClr val="221F1F"/>
                </a:solidFill>
                <a:latin typeface="Times New Roman"/>
                <a:cs typeface="Times New Roman"/>
              </a:rPr>
              <a:t>names</a:t>
            </a:r>
            <a:r>
              <a:rPr sz="2000" spc="-20" dirty="0">
                <a:solidFill>
                  <a:srgbClr val="221F1F"/>
                </a:solidFill>
                <a:latin typeface="Times New Roman"/>
                <a:cs typeface="Times New Roman"/>
              </a:rPr>
              <a:t> </a:t>
            </a:r>
            <a:r>
              <a:rPr sz="2000" dirty="0">
                <a:solidFill>
                  <a:srgbClr val="221F1F"/>
                </a:solidFill>
                <a:latin typeface="Times New Roman"/>
                <a:cs typeface="Times New Roman"/>
              </a:rPr>
              <a:t>of</a:t>
            </a:r>
            <a:r>
              <a:rPr sz="2000" spc="-15" dirty="0">
                <a:solidFill>
                  <a:srgbClr val="221F1F"/>
                </a:solidFill>
                <a:latin typeface="Times New Roman"/>
                <a:cs typeface="Times New Roman"/>
              </a:rPr>
              <a:t> </a:t>
            </a:r>
            <a:r>
              <a:rPr sz="2000" dirty="0">
                <a:solidFill>
                  <a:srgbClr val="221F1F"/>
                </a:solidFill>
                <a:latin typeface="Times New Roman"/>
                <a:cs typeface="Times New Roman"/>
              </a:rPr>
              <a:t>the</a:t>
            </a:r>
            <a:r>
              <a:rPr sz="2000" spc="-35" dirty="0">
                <a:solidFill>
                  <a:srgbClr val="221F1F"/>
                </a:solidFill>
                <a:latin typeface="Times New Roman"/>
                <a:cs typeface="Times New Roman"/>
              </a:rPr>
              <a:t> </a:t>
            </a:r>
            <a:r>
              <a:rPr sz="2000" dirty="0">
                <a:solidFill>
                  <a:srgbClr val="221F1F"/>
                </a:solidFill>
                <a:latin typeface="Times New Roman"/>
                <a:cs typeface="Times New Roman"/>
              </a:rPr>
              <a:t>service</a:t>
            </a:r>
            <a:r>
              <a:rPr sz="2000" spc="-35" dirty="0">
                <a:solidFill>
                  <a:srgbClr val="221F1F"/>
                </a:solidFill>
                <a:latin typeface="Times New Roman"/>
                <a:cs typeface="Times New Roman"/>
              </a:rPr>
              <a:t> </a:t>
            </a:r>
            <a:r>
              <a:rPr sz="2000" dirty="0">
                <a:solidFill>
                  <a:srgbClr val="221F1F"/>
                </a:solidFill>
                <a:latin typeface="Times New Roman"/>
                <a:cs typeface="Times New Roman"/>
              </a:rPr>
              <a:t>providers,</a:t>
            </a:r>
            <a:r>
              <a:rPr sz="2000" spc="-55" dirty="0">
                <a:solidFill>
                  <a:srgbClr val="221F1F"/>
                </a:solidFill>
                <a:latin typeface="Times New Roman"/>
                <a:cs typeface="Times New Roman"/>
              </a:rPr>
              <a:t> </a:t>
            </a:r>
            <a:r>
              <a:rPr sz="2000" dirty="0">
                <a:solidFill>
                  <a:srgbClr val="221F1F"/>
                </a:solidFill>
                <a:latin typeface="Times New Roman"/>
                <a:cs typeface="Times New Roman"/>
              </a:rPr>
              <a:t>and</a:t>
            </a:r>
            <a:r>
              <a:rPr sz="2000" spc="-10" dirty="0">
                <a:solidFill>
                  <a:srgbClr val="221F1F"/>
                </a:solidFill>
                <a:latin typeface="Times New Roman"/>
                <a:cs typeface="Times New Roman"/>
              </a:rPr>
              <a:t> </a:t>
            </a:r>
            <a:r>
              <a:rPr sz="2000" spc="-25" dirty="0">
                <a:solidFill>
                  <a:srgbClr val="221F1F"/>
                </a:solidFill>
                <a:latin typeface="Times New Roman"/>
                <a:cs typeface="Times New Roman"/>
              </a:rPr>
              <a:t>the </a:t>
            </a:r>
            <a:r>
              <a:rPr sz="2000" dirty="0">
                <a:solidFill>
                  <a:srgbClr val="221F1F"/>
                </a:solidFill>
                <a:latin typeface="Times New Roman"/>
                <a:cs typeface="Times New Roman"/>
              </a:rPr>
              <a:t>commercial</a:t>
            </a:r>
            <a:r>
              <a:rPr sz="2000" spc="-25" dirty="0">
                <a:solidFill>
                  <a:srgbClr val="221F1F"/>
                </a:solidFill>
                <a:latin typeface="Times New Roman"/>
                <a:cs typeface="Times New Roman"/>
              </a:rPr>
              <a:t> </a:t>
            </a:r>
            <a:r>
              <a:rPr sz="2000" dirty="0">
                <a:solidFill>
                  <a:srgbClr val="221F1F"/>
                </a:solidFill>
                <a:latin typeface="Times New Roman"/>
                <a:cs typeface="Times New Roman"/>
              </a:rPr>
              <a:t>names</a:t>
            </a:r>
            <a:r>
              <a:rPr sz="2000" spc="-15" dirty="0">
                <a:solidFill>
                  <a:srgbClr val="221F1F"/>
                </a:solidFill>
                <a:latin typeface="Times New Roman"/>
                <a:cs typeface="Times New Roman"/>
              </a:rPr>
              <a:t> </a:t>
            </a:r>
            <a:r>
              <a:rPr sz="2000" dirty="0">
                <a:solidFill>
                  <a:srgbClr val="221F1F"/>
                </a:solidFill>
                <a:latin typeface="Times New Roman"/>
                <a:cs typeface="Times New Roman"/>
              </a:rPr>
              <a:t>of</a:t>
            </a:r>
            <a:r>
              <a:rPr sz="2000" spc="-30" dirty="0">
                <a:solidFill>
                  <a:srgbClr val="221F1F"/>
                </a:solidFill>
                <a:latin typeface="Times New Roman"/>
                <a:cs typeface="Times New Roman"/>
              </a:rPr>
              <a:t> </a:t>
            </a:r>
            <a:r>
              <a:rPr sz="2000" dirty="0">
                <a:solidFill>
                  <a:srgbClr val="221F1F"/>
                </a:solidFill>
                <a:latin typeface="Times New Roman"/>
                <a:cs typeface="Times New Roman"/>
              </a:rPr>
              <a:t>the</a:t>
            </a:r>
            <a:r>
              <a:rPr sz="2000" spc="-25" dirty="0">
                <a:solidFill>
                  <a:srgbClr val="221F1F"/>
                </a:solidFill>
                <a:latin typeface="Times New Roman"/>
                <a:cs typeface="Times New Roman"/>
              </a:rPr>
              <a:t> </a:t>
            </a:r>
            <a:r>
              <a:rPr sz="2000" dirty="0">
                <a:solidFill>
                  <a:srgbClr val="221F1F"/>
                </a:solidFill>
                <a:latin typeface="Times New Roman"/>
                <a:cs typeface="Times New Roman"/>
              </a:rPr>
              <a:t>equipment</a:t>
            </a:r>
            <a:r>
              <a:rPr sz="2000" spc="-50" dirty="0">
                <a:solidFill>
                  <a:srgbClr val="221F1F"/>
                </a:solidFill>
                <a:latin typeface="Times New Roman"/>
                <a:cs typeface="Times New Roman"/>
              </a:rPr>
              <a:t> </a:t>
            </a:r>
            <a:r>
              <a:rPr sz="2000" dirty="0">
                <a:solidFill>
                  <a:srgbClr val="221F1F"/>
                </a:solidFill>
                <a:latin typeface="Times New Roman"/>
                <a:cs typeface="Times New Roman"/>
              </a:rPr>
              <a:t>manufacturers</a:t>
            </a:r>
            <a:r>
              <a:rPr sz="2000" spc="-60" dirty="0">
                <a:solidFill>
                  <a:srgbClr val="221F1F"/>
                </a:solidFill>
                <a:latin typeface="Times New Roman"/>
                <a:cs typeface="Times New Roman"/>
              </a:rPr>
              <a:t> </a:t>
            </a:r>
            <a:r>
              <a:rPr sz="2000" dirty="0">
                <a:solidFill>
                  <a:srgbClr val="221F1F"/>
                </a:solidFill>
                <a:latin typeface="Times New Roman"/>
                <a:cs typeface="Times New Roman"/>
              </a:rPr>
              <a:t>that</a:t>
            </a:r>
            <a:r>
              <a:rPr sz="2000" spc="-30" dirty="0">
                <a:solidFill>
                  <a:srgbClr val="221F1F"/>
                </a:solidFill>
                <a:latin typeface="Times New Roman"/>
                <a:cs typeface="Times New Roman"/>
              </a:rPr>
              <a:t> </a:t>
            </a:r>
            <a:r>
              <a:rPr sz="2000" dirty="0">
                <a:solidFill>
                  <a:srgbClr val="221F1F"/>
                </a:solidFill>
                <a:latin typeface="Times New Roman"/>
                <a:cs typeface="Times New Roman"/>
              </a:rPr>
              <a:t>offer</a:t>
            </a:r>
            <a:r>
              <a:rPr sz="2000" spc="-55" dirty="0">
                <a:solidFill>
                  <a:srgbClr val="221F1F"/>
                </a:solidFill>
                <a:latin typeface="Times New Roman"/>
                <a:cs typeface="Times New Roman"/>
              </a:rPr>
              <a:t> </a:t>
            </a:r>
            <a:r>
              <a:rPr sz="2000" dirty="0">
                <a:solidFill>
                  <a:srgbClr val="221F1F"/>
                </a:solidFill>
                <a:latin typeface="Times New Roman"/>
                <a:cs typeface="Times New Roman"/>
              </a:rPr>
              <a:t>these</a:t>
            </a:r>
            <a:r>
              <a:rPr sz="2000" spc="-25" dirty="0">
                <a:solidFill>
                  <a:srgbClr val="221F1F"/>
                </a:solidFill>
                <a:latin typeface="Times New Roman"/>
                <a:cs typeface="Times New Roman"/>
              </a:rPr>
              <a:t> </a:t>
            </a:r>
            <a:r>
              <a:rPr sz="2000" spc="-10" dirty="0">
                <a:solidFill>
                  <a:srgbClr val="221F1F"/>
                </a:solidFill>
                <a:latin typeface="Times New Roman"/>
                <a:cs typeface="Times New Roman"/>
              </a:rPr>
              <a:t>wireless </a:t>
            </a:r>
            <a:r>
              <a:rPr sz="2000" dirty="0">
                <a:solidFill>
                  <a:srgbClr val="221F1F"/>
                </a:solidFill>
                <a:latin typeface="Times New Roman"/>
                <a:cs typeface="Times New Roman"/>
              </a:rPr>
              <a:t>access</a:t>
            </a:r>
            <a:r>
              <a:rPr sz="2000" spc="-20" dirty="0">
                <a:solidFill>
                  <a:srgbClr val="221F1F"/>
                </a:solidFill>
                <a:latin typeface="Times New Roman"/>
                <a:cs typeface="Times New Roman"/>
              </a:rPr>
              <a:t> </a:t>
            </a:r>
            <a:r>
              <a:rPr sz="2000" spc="-10" dirty="0">
                <a:solidFill>
                  <a:srgbClr val="221F1F"/>
                </a:solidFill>
                <a:latin typeface="Times New Roman"/>
                <a:cs typeface="Times New Roman"/>
              </a:rPr>
              <a:t>capabilities.</a:t>
            </a:r>
            <a:endParaRPr sz="2000">
              <a:latin typeface="Times New Roman"/>
              <a:cs typeface="Times New Roman"/>
            </a:endParaRPr>
          </a:p>
          <a:p>
            <a:pPr lvl="1">
              <a:lnSpc>
                <a:spcPct val="100000"/>
              </a:lnSpc>
              <a:spcBef>
                <a:spcPts val="1060"/>
              </a:spcBef>
              <a:buAutoNum type="arabicPeriod"/>
            </a:pPr>
            <a:endParaRPr sz="2000">
              <a:latin typeface="Times New Roman"/>
              <a:cs typeface="Times New Roman"/>
            </a:endParaRPr>
          </a:p>
          <a:p>
            <a:pPr marL="355600" marR="5080" lvl="1" indent="-342900">
              <a:lnSpc>
                <a:spcPct val="100000"/>
              </a:lnSpc>
              <a:buAutoNum type="arabicPeriod"/>
              <a:tabLst>
                <a:tab pos="355600" algn="l"/>
                <a:tab pos="393065" algn="l"/>
              </a:tabLst>
            </a:pPr>
            <a:r>
              <a:rPr sz="2000" dirty="0">
                <a:solidFill>
                  <a:srgbClr val="221F1F"/>
                </a:solidFill>
                <a:latin typeface="Times New Roman"/>
                <a:cs typeface="Times New Roman"/>
              </a:rPr>
              <a:t>	In</a:t>
            </a:r>
            <a:r>
              <a:rPr sz="2000" spc="-30" dirty="0">
                <a:solidFill>
                  <a:srgbClr val="221F1F"/>
                </a:solidFill>
                <a:latin typeface="Times New Roman"/>
                <a:cs typeface="Times New Roman"/>
              </a:rPr>
              <a:t> </a:t>
            </a:r>
            <a:r>
              <a:rPr sz="2000" dirty="0">
                <a:solidFill>
                  <a:srgbClr val="221F1F"/>
                </a:solidFill>
                <a:latin typeface="Times New Roman"/>
                <a:cs typeface="Times New Roman"/>
              </a:rPr>
              <a:t>your</a:t>
            </a:r>
            <a:r>
              <a:rPr sz="2000" spc="-25" dirty="0">
                <a:solidFill>
                  <a:srgbClr val="221F1F"/>
                </a:solidFill>
                <a:latin typeface="Times New Roman"/>
                <a:cs typeface="Times New Roman"/>
              </a:rPr>
              <a:t> </a:t>
            </a:r>
            <a:r>
              <a:rPr sz="2000" dirty="0">
                <a:solidFill>
                  <a:srgbClr val="221F1F"/>
                </a:solidFill>
                <a:latin typeface="Times New Roman"/>
                <a:cs typeface="Times New Roman"/>
              </a:rPr>
              <a:t>home,</a:t>
            </a:r>
            <a:r>
              <a:rPr sz="2000" spc="-25" dirty="0">
                <a:solidFill>
                  <a:srgbClr val="221F1F"/>
                </a:solidFill>
                <a:latin typeface="Times New Roman"/>
                <a:cs typeface="Times New Roman"/>
              </a:rPr>
              <a:t> </a:t>
            </a:r>
            <a:r>
              <a:rPr sz="2000" dirty="0">
                <a:solidFill>
                  <a:srgbClr val="221F1F"/>
                </a:solidFill>
                <a:latin typeface="Times New Roman"/>
                <a:cs typeface="Times New Roman"/>
              </a:rPr>
              <a:t>how</a:t>
            </a:r>
            <a:r>
              <a:rPr sz="2000" spc="-25" dirty="0">
                <a:solidFill>
                  <a:srgbClr val="221F1F"/>
                </a:solidFill>
                <a:latin typeface="Times New Roman"/>
                <a:cs typeface="Times New Roman"/>
              </a:rPr>
              <a:t> </a:t>
            </a:r>
            <a:r>
              <a:rPr sz="2000" dirty="0">
                <a:solidFill>
                  <a:srgbClr val="221F1F"/>
                </a:solidFill>
                <a:latin typeface="Times New Roman"/>
                <a:cs typeface="Times New Roman"/>
              </a:rPr>
              <a:t>many modern</a:t>
            </a:r>
            <a:r>
              <a:rPr sz="2000" spc="-30" dirty="0">
                <a:solidFill>
                  <a:srgbClr val="221F1F"/>
                </a:solidFill>
                <a:latin typeface="Times New Roman"/>
                <a:cs typeface="Times New Roman"/>
              </a:rPr>
              <a:t> </a:t>
            </a:r>
            <a:r>
              <a:rPr sz="2000" dirty="0">
                <a:solidFill>
                  <a:srgbClr val="221F1F"/>
                </a:solidFill>
                <a:latin typeface="Times New Roman"/>
                <a:cs typeface="Times New Roman"/>
              </a:rPr>
              <a:t>wireless</a:t>
            </a:r>
            <a:r>
              <a:rPr sz="2000" spc="-50" dirty="0">
                <a:solidFill>
                  <a:srgbClr val="221F1F"/>
                </a:solidFill>
                <a:latin typeface="Times New Roman"/>
                <a:cs typeface="Times New Roman"/>
              </a:rPr>
              <a:t> </a:t>
            </a:r>
            <a:r>
              <a:rPr sz="2000" dirty="0">
                <a:solidFill>
                  <a:srgbClr val="221F1F"/>
                </a:solidFill>
                <a:latin typeface="Times New Roman"/>
                <a:cs typeface="Times New Roman"/>
              </a:rPr>
              <a:t>communications</a:t>
            </a:r>
            <a:r>
              <a:rPr sz="2000" spc="-30" dirty="0">
                <a:solidFill>
                  <a:srgbClr val="221F1F"/>
                </a:solidFill>
                <a:latin typeface="Times New Roman"/>
                <a:cs typeface="Times New Roman"/>
              </a:rPr>
              <a:t> </a:t>
            </a:r>
            <a:r>
              <a:rPr sz="2000" dirty="0">
                <a:solidFill>
                  <a:srgbClr val="221F1F"/>
                </a:solidFill>
                <a:latin typeface="Times New Roman"/>
                <a:cs typeface="Times New Roman"/>
              </a:rPr>
              <a:t>networks</a:t>
            </a:r>
            <a:r>
              <a:rPr sz="2000" spc="-55" dirty="0">
                <a:solidFill>
                  <a:srgbClr val="221F1F"/>
                </a:solidFill>
                <a:latin typeface="Times New Roman"/>
                <a:cs typeface="Times New Roman"/>
              </a:rPr>
              <a:t> </a:t>
            </a:r>
            <a:r>
              <a:rPr sz="2000" spc="-25" dirty="0">
                <a:solidFill>
                  <a:srgbClr val="221F1F"/>
                </a:solidFill>
                <a:latin typeface="Times New Roman"/>
                <a:cs typeface="Times New Roman"/>
              </a:rPr>
              <a:t>are </a:t>
            </a:r>
            <a:r>
              <a:rPr sz="2000" dirty="0">
                <a:solidFill>
                  <a:srgbClr val="221F1F"/>
                </a:solidFill>
                <a:latin typeface="Times New Roman"/>
                <a:cs typeface="Times New Roman"/>
              </a:rPr>
              <a:t>available</a:t>
            </a:r>
            <a:r>
              <a:rPr sz="2000" spc="-30" dirty="0">
                <a:solidFill>
                  <a:srgbClr val="221F1F"/>
                </a:solidFill>
                <a:latin typeface="Times New Roman"/>
                <a:cs typeface="Times New Roman"/>
              </a:rPr>
              <a:t> </a:t>
            </a:r>
            <a:r>
              <a:rPr sz="2000" dirty="0">
                <a:solidFill>
                  <a:srgbClr val="221F1F"/>
                </a:solidFill>
                <a:latin typeface="Times New Roman"/>
                <a:cs typeface="Times New Roman"/>
              </a:rPr>
              <a:t>to</a:t>
            </a:r>
            <a:r>
              <a:rPr sz="2000" spc="-25" dirty="0">
                <a:solidFill>
                  <a:srgbClr val="221F1F"/>
                </a:solidFill>
                <a:latin typeface="Times New Roman"/>
                <a:cs typeface="Times New Roman"/>
              </a:rPr>
              <a:t> </a:t>
            </a:r>
            <a:r>
              <a:rPr sz="2000" dirty="0">
                <a:solidFill>
                  <a:srgbClr val="221F1F"/>
                </a:solidFill>
                <a:latin typeface="Times New Roman"/>
                <a:cs typeface="Times New Roman"/>
              </a:rPr>
              <a:t>you?</a:t>
            </a:r>
            <a:r>
              <a:rPr sz="2000" spc="-10" dirty="0">
                <a:solidFill>
                  <a:srgbClr val="221F1F"/>
                </a:solidFill>
                <a:latin typeface="Times New Roman"/>
                <a:cs typeface="Times New Roman"/>
              </a:rPr>
              <a:t> </a:t>
            </a:r>
            <a:r>
              <a:rPr sz="2000" dirty="0">
                <a:solidFill>
                  <a:srgbClr val="221F1F"/>
                </a:solidFill>
                <a:latin typeface="Times New Roman"/>
                <a:cs typeface="Times New Roman"/>
              </a:rPr>
              <a:t>Identify</a:t>
            </a:r>
            <a:r>
              <a:rPr sz="2000" spc="-40" dirty="0">
                <a:solidFill>
                  <a:srgbClr val="221F1F"/>
                </a:solidFill>
                <a:latin typeface="Times New Roman"/>
                <a:cs typeface="Times New Roman"/>
              </a:rPr>
              <a:t> </a:t>
            </a:r>
            <a:r>
              <a:rPr sz="2000" dirty="0">
                <a:solidFill>
                  <a:srgbClr val="221F1F"/>
                </a:solidFill>
                <a:latin typeface="Times New Roman"/>
                <a:cs typeface="Times New Roman"/>
              </a:rPr>
              <a:t>the</a:t>
            </a:r>
            <a:r>
              <a:rPr sz="2000" spc="-15" dirty="0">
                <a:solidFill>
                  <a:srgbClr val="221F1F"/>
                </a:solidFill>
                <a:latin typeface="Times New Roman"/>
                <a:cs typeface="Times New Roman"/>
              </a:rPr>
              <a:t> </a:t>
            </a:r>
            <a:r>
              <a:rPr sz="2000" dirty="0">
                <a:solidFill>
                  <a:srgbClr val="221F1F"/>
                </a:solidFill>
                <a:latin typeface="Times New Roman"/>
                <a:cs typeface="Times New Roman"/>
              </a:rPr>
              <a:t>types</a:t>
            </a:r>
            <a:r>
              <a:rPr sz="2000" spc="-20" dirty="0">
                <a:solidFill>
                  <a:srgbClr val="221F1F"/>
                </a:solidFill>
                <a:latin typeface="Times New Roman"/>
                <a:cs typeface="Times New Roman"/>
              </a:rPr>
              <a:t> </a:t>
            </a:r>
            <a:r>
              <a:rPr sz="2000" dirty="0">
                <a:solidFill>
                  <a:srgbClr val="221F1F"/>
                </a:solidFill>
                <a:latin typeface="Times New Roman"/>
                <a:cs typeface="Times New Roman"/>
              </a:rPr>
              <a:t>of</a:t>
            </a:r>
            <a:r>
              <a:rPr sz="2000" spc="-5" dirty="0">
                <a:solidFill>
                  <a:srgbClr val="221F1F"/>
                </a:solidFill>
                <a:latin typeface="Times New Roman"/>
                <a:cs typeface="Times New Roman"/>
              </a:rPr>
              <a:t> </a:t>
            </a:r>
            <a:r>
              <a:rPr sz="2000" dirty="0">
                <a:solidFill>
                  <a:srgbClr val="221F1F"/>
                </a:solidFill>
                <a:latin typeface="Times New Roman"/>
                <a:cs typeface="Times New Roman"/>
              </a:rPr>
              <a:t>services,</a:t>
            </a:r>
            <a:r>
              <a:rPr sz="2000" spc="-45" dirty="0">
                <a:solidFill>
                  <a:srgbClr val="221F1F"/>
                </a:solidFill>
                <a:latin typeface="Times New Roman"/>
                <a:cs typeface="Times New Roman"/>
              </a:rPr>
              <a:t> </a:t>
            </a:r>
            <a:r>
              <a:rPr sz="2000" dirty="0">
                <a:solidFill>
                  <a:srgbClr val="221F1F"/>
                </a:solidFill>
                <a:latin typeface="Times New Roman"/>
                <a:cs typeface="Times New Roman"/>
              </a:rPr>
              <a:t>the</a:t>
            </a:r>
            <a:r>
              <a:rPr sz="2000" spc="-15" dirty="0">
                <a:solidFill>
                  <a:srgbClr val="221F1F"/>
                </a:solidFill>
                <a:latin typeface="Times New Roman"/>
                <a:cs typeface="Times New Roman"/>
              </a:rPr>
              <a:t> </a:t>
            </a:r>
            <a:r>
              <a:rPr sz="2000" dirty="0">
                <a:solidFill>
                  <a:srgbClr val="221F1F"/>
                </a:solidFill>
                <a:latin typeface="Times New Roman"/>
                <a:cs typeface="Times New Roman"/>
              </a:rPr>
              <a:t>types</a:t>
            </a:r>
            <a:r>
              <a:rPr sz="2000" spc="-5" dirty="0">
                <a:solidFill>
                  <a:srgbClr val="221F1F"/>
                </a:solidFill>
                <a:latin typeface="Times New Roman"/>
                <a:cs typeface="Times New Roman"/>
              </a:rPr>
              <a:t> </a:t>
            </a:r>
            <a:r>
              <a:rPr sz="2000" dirty="0">
                <a:solidFill>
                  <a:srgbClr val="221F1F"/>
                </a:solidFill>
                <a:latin typeface="Times New Roman"/>
                <a:cs typeface="Times New Roman"/>
              </a:rPr>
              <a:t>of</a:t>
            </a:r>
            <a:r>
              <a:rPr sz="2000" spc="-15" dirty="0">
                <a:solidFill>
                  <a:srgbClr val="221F1F"/>
                </a:solidFill>
                <a:latin typeface="Times New Roman"/>
                <a:cs typeface="Times New Roman"/>
              </a:rPr>
              <a:t> </a:t>
            </a:r>
            <a:r>
              <a:rPr sz="2000" spc="-10" dirty="0">
                <a:solidFill>
                  <a:srgbClr val="221F1F"/>
                </a:solidFill>
                <a:latin typeface="Times New Roman"/>
                <a:cs typeface="Times New Roman"/>
              </a:rPr>
              <a:t>technologies, </a:t>
            </a:r>
            <a:r>
              <a:rPr sz="2000" dirty="0">
                <a:solidFill>
                  <a:srgbClr val="221F1F"/>
                </a:solidFill>
                <a:latin typeface="Times New Roman"/>
                <a:cs typeface="Times New Roman"/>
              </a:rPr>
              <a:t>the</a:t>
            </a:r>
            <a:r>
              <a:rPr sz="2000" spc="-25" dirty="0">
                <a:solidFill>
                  <a:srgbClr val="221F1F"/>
                </a:solidFill>
                <a:latin typeface="Times New Roman"/>
                <a:cs typeface="Times New Roman"/>
              </a:rPr>
              <a:t> </a:t>
            </a:r>
            <a:r>
              <a:rPr sz="2000" dirty="0">
                <a:solidFill>
                  <a:srgbClr val="221F1F"/>
                </a:solidFill>
                <a:latin typeface="Times New Roman"/>
                <a:cs typeface="Times New Roman"/>
              </a:rPr>
              <a:t>commercial</a:t>
            </a:r>
            <a:r>
              <a:rPr sz="2000" spc="-20" dirty="0">
                <a:solidFill>
                  <a:srgbClr val="221F1F"/>
                </a:solidFill>
                <a:latin typeface="Times New Roman"/>
                <a:cs typeface="Times New Roman"/>
              </a:rPr>
              <a:t> </a:t>
            </a:r>
            <a:r>
              <a:rPr sz="2000" dirty="0">
                <a:solidFill>
                  <a:srgbClr val="221F1F"/>
                </a:solidFill>
                <a:latin typeface="Times New Roman"/>
                <a:cs typeface="Times New Roman"/>
              </a:rPr>
              <a:t>names</a:t>
            </a:r>
            <a:r>
              <a:rPr sz="2000" spc="-15" dirty="0">
                <a:solidFill>
                  <a:srgbClr val="221F1F"/>
                </a:solidFill>
                <a:latin typeface="Times New Roman"/>
                <a:cs typeface="Times New Roman"/>
              </a:rPr>
              <a:t> </a:t>
            </a:r>
            <a:r>
              <a:rPr sz="2000" dirty="0">
                <a:solidFill>
                  <a:srgbClr val="221F1F"/>
                </a:solidFill>
                <a:latin typeface="Times New Roman"/>
                <a:cs typeface="Times New Roman"/>
              </a:rPr>
              <a:t>of</a:t>
            </a:r>
            <a:r>
              <a:rPr sz="2000" spc="-25" dirty="0">
                <a:solidFill>
                  <a:srgbClr val="221F1F"/>
                </a:solidFill>
                <a:latin typeface="Times New Roman"/>
                <a:cs typeface="Times New Roman"/>
              </a:rPr>
              <a:t> </a:t>
            </a:r>
            <a:r>
              <a:rPr sz="2000" dirty="0">
                <a:solidFill>
                  <a:srgbClr val="221F1F"/>
                </a:solidFill>
                <a:latin typeface="Times New Roman"/>
                <a:cs typeface="Times New Roman"/>
              </a:rPr>
              <a:t>the</a:t>
            </a:r>
            <a:r>
              <a:rPr sz="2000" spc="-25" dirty="0">
                <a:solidFill>
                  <a:srgbClr val="221F1F"/>
                </a:solidFill>
                <a:latin typeface="Times New Roman"/>
                <a:cs typeface="Times New Roman"/>
              </a:rPr>
              <a:t> </a:t>
            </a:r>
            <a:r>
              <a:rPr sz="2000" dirty="0">
                <a:solidFill>
                  <a:srgbClr val="221F1F"/>
                </a:solidFill>
                <a:latin typeface="Times New Roman"/>
                <a:cs typeface="Times New Roman"/>
              </a:rPr>
              <a:t>service</a:t>
            </a:r>
            <a:r>
              <a:rPr sz="2000" spc="-45" dirty="0">
                <a:solidFill>
                  <a:srgbClr val="221F1F"/>
                </a:solidFill>
                <a:latin typeface="Times New Roman"/>
                <a:cs typeface="Times New Roman"/>
              </a:rPr>
              <a:t> </a:t>
            </a:r>
            <a:r>
              <a:rPr sz="2000" dirty="0">
                <a:solidFill>
                  <a:srgbClr val="221F1F"/>
                </a:solidFill>
                <a:latin typeface="Times New Roman"/>
                <a:cs typeface="Times New Roman"/>
              </a:rPr>
              <a:t>providers,</a:t>
            </a:r>
            <a:r>
              <a:rPr sz="2000" spc="-55" dirty="0">
                <a:solidFill>
                  <a:srgbClr val="221F1F"/>
                </a:solidFill>
                <a:latin typeface="Times New Roman"/>
                <a:cs typeface="Times New Roman"/>
              </a:rPr>
              <a:t> </a:t>
            </a:r>
            <a:r>
              <a:rPr sz="2000" dirty="0">
                <a:solidFill>
                  <a:srgbClr val="221F1F"/>
                </a:solidFill>
                <a:latin typeface="Times New Roman"/>
                <a:cs typeface="Times New Roman"/>
              </a:rPr>
              <a:t>and</a:t>
            </a:r>
            <a:r>
              <a:rPr sz="2000" spc="-15" dirty="0">
                <a:solidFill>
                  <a:srgbClr val="221F1F"/>
                </a:solidFill>
                <a:latin typeface="Times New Roman"/>
                <a:cs typeface="Times New Roman"/>
              </a:rPr>
              <a:t> </a:t>
            </a:r>
            <a:r>
              <a:rPr sz="2000" dirty="0">
                <a:solidFill>
                  <a:srgbClr val="221F1F"/>
                </a:solidFill>
                <a:latin typeface="Times New Roman"/>
                <a:cs typeface="Times New Roman"/>
              </a:rPr>
              <a:t>the</a:t>
            </a:r>
            <a:r>
              <a:rPr sz="2000" spc="-20" dirty="0">
                <a:solidFill>
                  <a:srgbClr val="221F1F"/>
                </a:solidFill>
                <a:latin typeface="Times New Roman"/>
                <a:cs typeface="Times New Roman"/>
              </a:rPr>
              <a:t> </a:t>
            </a:r>
            <a:r>
              <a:rPr sz="2000" dirty="0">
                <a:solidFill>
                  <a:srgbClr val="221F1F"/>
                </a:solidFill>
                <a:latin typeface="Times New Roman"/>
                <a:cs typeface="Times New Roman"/>
              </a:rPr>
              <a:t>commercial</a:t>
            </a:r>
            <a:r>
              <a:rPr sz="2000" spc="-20" dirty="0">
                <a:solidFill>
                  <a:srgbClr val="221F1F"/>
                </a:solidFill>
                <a:latin typeface="Times New Roman"/>
                <a:cs typeface="Times New Roman"/>
              </a:rPr>
              <a:t> </a:t>
            </a:r>
            <a:r>
              <a:rPr sz="2000" spc="-10" dirty="0">
                <a:solidFill>
                  <a:srgbClr val="221F1F"/>
                </a:solidFill>
                <a:latin typeface="Times New Roman"/>
                <a:cs typeface="Times New Roman"/>
              </a:rPr>
              <a:t>names </a:t>
            </a:r>
            <a:r>
              <a:rPr sz="2000" dirty="0">
                <a:solidFill>
                  <a:srgbClr val="221F1F"/>
                </a:solidFill>
                <a:latin typeface="Times New Roman"/>
                <a:cs typeface="Times New Roman"/>
              </a:rPr>
              <a:t>of</a:t>
            </a:r>
            <a:r>
              <a:rPr sz="2000" spc="-40" dirty="0">
                <a:solidFill>
                  <a:srgbClr val="221F1F"/>
                </a:solidFill>
                <a:latin typeface="Times New Roman"/>
                <a:cs typeface="Times New Roman"/>
              </a:rPr>
              <a:t> </a:t>
            </a:r>
            <a:r>
              <a:rPr sz="2000" dirty="0">
                <a:solidFill>
                  <a:srgbClr val="221F1F"/>
                </a:solidFill>
                <a:latin typeface="Times New Roman"/>
                <a:cs typeface="Times New Roman"/>
              </a:rPr>
              <a:t>the</a:t>
            </a:r>
            <a:r>
              <a:rPr sz="2000" spc="-20" dirty="0">
                <a:solidFill>
                  <a:srgbClr val="221F1F"/>
                </a:solidFill>
                <a:latin typeface="Times New Roman"/>
                <a:cs typeface="Times New Roman"/>
              </a:rPr>
              <a:t> </a:t>
            </a:r>
            <a:r>
              <a:rPr sz="2000" dirty="0">
                <a:solidFill>
                  <a:srgbClr val="221F1F"/>
                </a:solidFill>
                <a:latin typeface="Times New Roman"/>
                <a:cs typeface="Times New Roman"/>
              </a:rPr>
              <a:t>equipment</a:t>
            </a:r>
            <a:r>
              <a:rPr sz="2000" spc="-35" dirty="0">
                <a:solidFill>
                  <a:srgbClr val="221F1F"/>
                </a:solidFill>
                <a:latin typeface="Times New Roman"/>
                <a:cs typeface="Times New Roman"/>
              </a:rPr>
              <a:t> </a:t>
            </a:r>
            <a:r>
              <a:rPr sz="2000" dirty="0">
                <a:solidFill>
                  <a:srgbClr val="221F1F"/>
                </a:solidFill>
                <a:latin typeface="Times New Roman"/>
                <a:cs typeface="Times New Roman"/>
              </a:rPr>
              <a:t>manufacturers</a:t>
            </a:r>
            <a:r>
              <a:rPr sz="2000" spc="-50" dirty="0">
                <a:solidFill>
                  <a:srgbClr val="221F1F"/>
                </a:solidFill>
                <a:latin typeface="Times New Roman"/>
                <a:cs typeface="Times New Roman"/>
              </a:rPr>
              <a:t> </a:t>
            </a:r>
            <a:r>
              <a:rPr sz="2000" dirty="0">
                <a:solidFill>
                  <a:srgbClr val="221F1F"/>
                </a:solidFill>
                <a:latin typeface="Times New Roman"/>
                <a:cs typeface="Times New Roman"/>
              </a:rPr>
              <a:t>that</a:t>
            </a:r>
            <a:r>
              <a:rPr sz="2000" spc="-30" dirty="0">
                <a:solidFill>
                  <a:srgbClr val="221F1F"/>
                </a:solidFill>
                <a:latin typeface="Times New Roman"/>
                <a:cs typeface="Times New Roman"/>
              </a:rPr>
              <a:t> </a:t>
            </a:r>
            <a:r>
              <a:rPr sz="2000" dirty="0">
                <a:solidFill>
                  <a:srgbClr val="221F1F"/>
                </a:solidFill>
                <a:latin typeface="Times New Roman"/>
                <a:cs typeface="Times New Roman"/>
              </a:rPr>
              <a:t>offer</a:t>
            </a:r>
            <a:r>
              <a:rPr sz="2000" spc="-40" dirty="0">
                <a:solidFill>
                  <a:srgbClr val="221F1F"/>
                </a:solidFill>
                <a:latin typeface="Times New Roman"/>
                <a:cs typeface="Times New Roman"/>
              </a:rPr>
              <a:t> </a:t>
            </a:r>
            <a:r>
              <a:rPr sz="2000" dirty="0">
                <a:solidFill>
                  <a:srgbClr val="221F1F"/>
                </a:solidFill>
                <a:latin typeface="Times New Roman"/>
                <a:cs typeface="Times New Roman"/>
              </a:rPr>
              <a:t>these</a:t>
            </a:r>
            <a:r>
              <a:rPr sz="2000" spc="-30" dirty="0">
                <a:solidFill>
                  <a:srgbClr val="221F1F"/>
                </a:solidFill>
                <a:latin typeface="Times New Roman"/>
                <a:cs typeface="Times New Roman"/>
              </a:rPr>
              <a:t> </a:t>
            </a:r>
            <a:r>
              <a:rPr sz="2000" dirty="0">
                <a:solidFill>
                  <a:srgbClr val="221F1F"/>
                </a:solidFill>
                <a:latin typeface="Times New Roman"/>
                <a:cs typeface="Times New Roman"/>
              </a:rPr>
              <a:t>wireless</a:t>
            </a:r>
            <a:r>
              <a:rPr sz="2000" spc="-50" dirty="0">
                <a:solidFill>
                  <a:srgbClr val="221F1F"/>
                </a:solidFill>
                <a:latin typeface="Times New Roman"/>
                <a:cs typeface="Times New Roman"/>
              </a:rPr>
              <a:t> </a:t>
            </a:r>
            <a:r>
              <a:rPr sz="2000" dirty="0">
                <a:solidFill>
                  <a:srgbClr val="221F1F"/>
                </a:solidFill>
                <a:latin typeface="Times New Roman"/>
                <a:cs typeface="Times New Roman"/>
              </a:rPr>
              <a:t>access</a:t>
            </a:r>
            <a:r>
              <a:rPr sz="2000" spc="-20" dirty="0">
                <a:solidFill>
                  <a:srgbClr val="221F1F"/>
                </a:solidFill>
                <a:latin typeface="Times New Roman"/>
                <a:cs typeface="Times New Roman"/>
              </a:rPr>
              <a:t> </a:t>
            </a:r>
            <a:r>
              <a:rPr sz="2000" spc="-10" dirty="0">
                <a:solidFill>
                  <a:srgbClr val="221F1F"/>
                </a:solidFill>
                <a:latin typeface="Times New Roman"/>
                <a:cs typeface="Times New Roman"/>
              </a:rPr>
              <a:t>capabilities.</a:t>
            </a:r>
            <a:endParaRPr sz="2000">
              <a:latin typeface="Times New Roman"/>
              <a:cs typeface="Times New Roman"/>
            </a:endParaRPr>
          </a:p>
          <a:p>
            <a:pPr>
              <a:lnSpc>
                <a:spcPct val="100000"/>
              </a:lnSpc>
              <a:spcBef>
                <a:spcPts val="580"/>
              </a:spcBef>
            </a:pPr>
            <a:endParaRPr sz="2000">
              <a:latin typeface="Times New Roman"/>
              <a:cs typeface="Times New Roman"/>
            </a:endParaRPr>
          </a:p>
          <a:p>
            <a:pPr marL="355600" marR="186055" indent="-342900">
              <a:lnSpc>
                <a:spcPct val="100000"/>
              </a:lnSpc>
              <a:spcBef>
                <a:spcPts val="5"/>
              </a:spcBef>
            </a:pPr>
            <a:r>
              <a:rPr sz="2000" dirty="0">
                <a:solidFill>
                  <a:srgbClr val="221F1F"/>
                </a:solidFill>
                <a:latin typeface="Times New Roman"/>
                <a:cs typeface="Times New Roman"/>
              </a:rPr>
              <a:t>2.8</a:t>
            </a:r>
            <a:r>
              <a:rPr sz="2000" spc="-35" dirty="0">
                <a:solidFill>
                  <a:srgbClr val="221F1F"/>
                </a:solidFill>
                <a:latin typeface="Times New Roman"/>
                <a:cs typeface="Times New Roman"/>
              </a:rPr>
              <a:t> </a:t>
            </a:r>
            <a:r>
              <a:rPr sz="2000" dirty="0">
                <a:solidFill>
                  <a:srgbClr val="221F1F"/>
                </a:solidFill>
                <a:latin typeface="Times New Roman"/>
                <a:cs typeface="Times New Roman"/>
              </a:rPr>
              <a:t>How</a:t>
            </a:r>
            <a:r>
              <a:rPr sz="2000" spc="-20" dirty="0">
                <a:solidFill>
                  <a:srgbClr val="221F1F"/>
                </a:solidFill>
                <a:latin typeface="Times New Roman"/>
                <a:cs typeface="Times New Roman"/>
              </a:rPr>
              <a:t> </a:t>
            </a:r>
            <a:r>
              <a:rPr sz="2000" dirty="0">
                <a:solidFill>
                  <a:srgbClr val="221F1F"/>
                </a:solidFill>
                <a:latin typeface="Times New Roman"/>
                <a:cs typeface="Times New Roman"/>
              </a:rPr>
              <a:t>would</a:t>
            </a:r>
            <a:r>
              <a:rPr sz="2000" spc="-50" dirty="0">
                <a:solidFill>
                  <a:srgbClr val="221F1F"/>
                </a:solidFill>
                <a:latin typeface="Times New Roman"/>
                <a:cs typeface="Times New Roman"/>
              </a:rPr>
              <a:t> </a:t>
            </a:r>
            <a:r>
              <a:rPr sz="2000" dirty="0">
                <a:solidFill>
                  <a:srgbClr val="221F1F"/>
                </a:solidFill>
                <a:latin typeface="Times New Roman"/>
                <a:cs typeface="Times New Roman"/>
              </a:rPr>
              <a:t>multicarrier</a:t>
            </a:r>
            <a:r>
              <a:rPr sz="2000" spc="-50" dirty="0">
                <a:solidFill>
                  <a:srgbClr val="221F1F"/>
                </a:solidFill>
                <a:latin typeface="Times New Roman"/>
                <a:cs typeface="Times New Roman"/>
              </a:rPr>
              <a:t> </a:t>
            </a:r>
            <a:r>
              <a:rPr sz="2000" dirty="0">
                <a:solidFill>
                  <a:srgbClr val="221F1F"/>
                </a:solidFill>
                <a:latin typeface="Times New Roman"/>
                <a:cs typeface="Times New Roman"/>
              </a:rPr>
              <a:t>transmissions</a:t>
            </a:r>
            <a:r>
              <a:rPr sz="2000" spc="-65" dirty="0">
                <a:solidFill>
                  <a:srgbClr val="221F1F"/>
                </a:solidFill>
                <a:latin typeface="Times New Roman"/>
                <a:cs typeface="Times New Roman"/>
              </a:rPr>
              <a:t> </a:t>
            </a:r>
            <a:r>
              <a:rPr sz="2000" dirty="0">
                <a:solidFill>
                  <a:srgbClr val="221F1F"/>
                </a:solidFill>
                <a:latin typeface="Times New Roman"/>
                <a:cs typeface="Times New Roman"/>
              </a:rPr>
              <a:t>impact</a:t>
            </a:r>
            <a:r>
              <a:rPr sz="2000" spc="-20" dirty="0">
                <a:solidFill>
                  <a:srgbClr val="221F1F"/>
                </a:solidFill>
                <a:latin typeface="Times New Roman"/>
                <a:cs typeface="Times New Roman"/>
              </a:rPr>
              <a:t> </a:t>
            </a:r>
            <a:r>
              <a:rPr sz="2000" dirty="0">
                <a:solidFill>
                  <a:srgbClr val="221F1F"/>
                </a:solidFill>
                <a:latin typeface="Times New Roman"/>
                <a:cs typeface="Times New Roman"/>
              </a:rPr>
              <a:t>an</a:t>
            </a:r>
            <a:r>
              <a:rPr sz="2000" spc="-20" dirty="0">
                <a:solidFill>
                  <a:srgbClr val="221F1F"/>
                </a:solidFill>
                <a:latin typeface="Times New Roman"/>
                <a:cs typeface="Times New Roman"/>
              </a:rPr>
              <a:t> </a:t>
            </a:r>
            <a:r>
              <a:rPr sz="2000" dirty="0">
                <a:solidFill>
                  <a:srgbClr val="221F1F"/>
                </a:solidFill>
                <a:latin typeface="Times New Roman"/>
                <a:cs typeface="Times New Roman"/>
              </a:rPr>
              <a:t>operator’s</a:t>
            </a:r>
            <a:r>
              <a:rPr sz="2000" spc="-65" dirty="0">
                <a:solidFill>
                  <a:srgbClr val="221F1F"/>
                </a:solidFill>
                <a:latin typeface="Times New Roman"/>
                <a:cs typeface="Times New Roman"/>
              </a:rPr>
              <a:t> </a:t>
            </a:r>
            <a:r>
              <a:rPr sz="2000" dirty="0">
                <a:solidFill>
                  <a:srgbClr val="221F1F"/>
                </a:solidFill>
                <a:latin typeface="Times New Roman"/>
                <a:cs typeface="Times New Roman"/>
              </a:rPr>
              <a:t>approach</a:t>
            </a:r>
            <a:r>
              <a:rPr sz="2000" spc="-60" dirty="0">
                <a:solidFill>
                  <a:srgbClr val="221F1F"/>
                </a:solidFill>
                <a:latin typeface="Times New Roman"/>
                <a:cs typeface="Times New Roman"/>
              </a:rPr>
              <a:t> </a:t>
            </a:r>
            <a:r>
              <a:rPr sz="2000" spc="-25" dirty="0">
                <a:solidFill>
                  <a:srgbClr val="221F1F"/>
                </a:solidFill>
                <a:latin typeface="Times New Roman"/>
                <a:cs typeface="Times New Roman"/>
              </a:rPr>
              <a:t>to </a:t>
            </a:r>
            <a:r>
              <a:rPr sz="2000" dirty="0">
                <a:solidFill>
                  <a:srgbClr val="221F1F"/>
                </a:solidFill>
                <a:latin typeface="Times New Roman"/>
                <a:cs typeface="Times New Roman"/>
              </a:rPr>
              <a:t>allocating</a:t>
            </a:r>
            <a:r>
              <a:rPr sz="2000" spc="-50" dirty="0">
                <a:solidFill>
                  <a:srgbClr val="221F1F"/>
                </a:solidFill>
                <a:latin typeface="Times New Roman"/>
                <a:cs typeface="Times New Roman"/>
              </a:rPr>
              <a:t> </a:t>
            </a:r>
            <a:r>
              <a:rPr sz="2000" dirty="0">
                <a:solidFill>
                  <a:srgbClr val="221F1F"/>
                </a:solidFill>
                <a:latin typeface="Times New Roman"/>
                <a:cs typeface="Times New Roman"/>
              </a:rPr>
              <a:t>resources</a:t>
            </a:r>
            <a:r>
              <a:rPr sz="2000" spc="-45" dirty="0">
                <a:solidFill>
                  <a:srgbClr val="221F1F"/>
                </a:solidFill>
                <a:latin typeface="Times New Roman"/>
                <a:cs typeface="Times New Roman"/>
              </a:rPr>
              <a:t> </a:t>
            </a:r>
            <a:r>
              <a:rPr sz="2000" dirty="0">
                <a:solidFill>
                  <a:srgbClr val="221F1F"/>
                </a:solidFill>
                <a:latin typeface="Times New Roman"/>
                <a:cs typeface="Times New Roman"/>
              </a:rPr>
              <a:t>to</a:t>
            </a:r>
            <a:r>
              <a:rPr sz="2000" spc="-20" dirty="0">
                <a:solidFill>
                  <a:srgbClr val="221F1F"/>
                </a:solidFill>
                <a:latin typeface="Times New Roman"/>
                <a:cs typeface="Times New Roman"/>
              </a:rPr>
              <a:t> </a:t>
            </a:r>
            <a:r>
              <a:rPr sz="2000" dirty="0">
                <a:solidFill>
                  <a:srgbClr val="221F1F"/>
                </a:solidFill>
                <a:latin typeface="Times New Roman"/>
                <a:cs typeface="Times New Roman"/>
              </a:rPr>
              <a:t>accommodate</a:t>
            </a:r>
            <a:r>
              <a:rPr sz="2000" spc="-25" dirty="0">
                <a:solidFill>
                  <a:srgbClr val="221F1F"/>
                </a:solidFill>
                <a:latin typeface="Times New Roman"/>
                <a:cs typeface="Times New Roman"/>
              </a:rPr>
              <a:t> </a:t>
            </a:r>
            <a:r>
              <a:rPr sz="2000" dirty="0">
                <a:solidFill>
                  <a:srgbClr val="221F1F"/>
                </a:solidFill>
                <a:latin typeface="Times New Roman"/>
                <a:cs typeface="Times New Roman"/>
              </a:rPr>
              <a:t>a</a:t>
            </a:r>
            <a:r>
              <a:rPr sz="2000" spc="-10" dirty="0">
                <a:solidFill>
                  <a:srgbClr val="221F1F"/>
                </a:solidFill>
                <a:latin typeface="Times New Roman"/>
                <a:cs typeface="Times New Roman"/>
              </a:rPr>
              <a:t> </a:t>
            </a:r>
            <a:r>
              <a:rPr sz="2000" dirty="0">
                <a:solidFill>
                  <a:srgbClr val="221F1F"/>
                </a:solidFill>
                <a:latin typeface="Times New Roman"/>
                <a:cs typeface="Times New Roman"/>
              </a:rPr>
              <a:t>growing</a:t>
            </a:r>
            <a:r>
              <a:rPr sz="2000" spc="-45" dirty="0">
                <a:solidFill>
                  <a:srgbClr val="221F1F"/>
                </a:solidFill>
                <a:latin typeface="Times New Roman"/>
                <a:cs typeface="Times New Roman"/>
              </a:rPr>
              <a:t> </a:t>
            </a:r>
            <a:r>
              <a:rPr sz="2000" dirty="0">
                <a:solidFill>
                  <a:srgbClr val="221F1F"/>
                </a:solidFill>
                <a:latin typeface="Times New Roman"/>
                <a:cs typeface="Times New Roman"/>
              </a:rPr>
              <a:t>subscriber</a:t>
            </a:r>
            <a:r>
              <a:rPr sz="2000" spc="-50" dirty="0">
                <a:solidFill>
                  <a:srgbClr val="221F1F"/>
                </a:solidFill>
                <a:latin typeface="Times New Roman"/>
                <a:cs typeface="Times New Roman"/>
              </a:rPr>
              <a:t> </a:t>
            </a:r>
            <a:r>
              <a:rPr sz="2000" dirty="0">
                <a:solidFill>
                  <a:srgbClr val="221F1F"/>
                </a:solidFill>
                <a:latin typeface="Times New Roman"/>
                <a:cs typeface="Times New Roman"/>
              </a:rPr>
              <a:t>database</a:t>
            </a:r>
            <a:r>
              <a:rPr sz="2000" spc="-40" dirty="0">
                <a:solidFill>
                  <a:srgbClr val="221F1F"/>
                </a:solidFill>
                <a:latin typeface="Times New Roman"/>
                <a:cs typeface="Times New Roman"/>
              </a:rPr>
              <a:t> </a:t>
            </a:r>
            <a:r>
              <a:rPr sz="2000" spc="-20" dirty="0">
                <a:solidFill>
                  <a:srgbClr val="221F1F"/>
                </a:solidFill>
                <a:latin typeface="Times New Roman"/>
                <a:cs typeface="Times New Roman"/>
              </a:rPr>
              <a:t>that </a:t>
            </a:r>
            <a:r>
              <a:rPr sz="2000" dirty="0">
                <a:solidFill>
                  <a:srgbClr val="221F1F"/>
                </a:solidFill>
                <a:latin typeface="Times New Roman"/>
                <a:cs typeface="Times New Roman"/>
              </a:rPr>
              <a:t>increasingly</a:t>
            </a:r>
            <a:r>
              <a:rPr sz="2000" spc="-55" dirty="0">
                <a:solidFill>
                  <a:srgbClr val="221F1F"/>
                </a:solidFill>
                <a:latin typeface="Times New Roman"/>
                <a:cs typeface="Times New Roman"/>
              </a:rPr>
              <a:t> </a:t>
            </a:r>
            <a:r>
              <a:rPr sz="2000" dirty="0">
                <a:solidFill>
                  <a:srgbClr val="221F1F"/>
                </a:solidFill>
                <a:latin typeface="Times New Roman"/>
                <a:cs typeface="Times New Roman"/>
              </a:rPr>
              <a:t>desires</a:t>
            </a:r>
            <a:r>
              <a:rPr sz="2000" spc="-45" dirty="0">
                <a:solidFill>
                  <a:srgbClr val="221F1F"/>
                </a:solidFill>
                <a:latin typeface="Times New Roman"/>
                <a:cs typeface="Times New Roman"/>
              </a:rPr>
              <a:t> </a:t>
            </a:r>
            <a:r>
              <a:rPr sz="2000" dirty="0">
                <a:solidFill>
                  <a:srgbClr val="221F1F"/>
                </a:solidFill>
                <a:latin typeface="Times New Roman"/>
                <a:cs typeface="Times New Roman"/>
              </a:rPr>
              <a:t>data</a:t>
            </a:r>
            <a:r>
              <a:rPr sz="2000" spc="-25" dirty="0">
                <a:solidFill>
                  <a:srgbClr val="221F1F"/>
                </a:solidFill>
                <a:latin typeface="Times New Roman"/>
                <a:cs typeface="Times New Roman"/>
              </a:rPr>
              <a:t> </a:t>
            </a:r>
            <a:r>
              <a:rPr sz="2000" dirty="0">
                <a:solidFill>
                  <a:srgbClr val="221F1F"/>
                </a:solidFill>
                <a:latin typeface="Times New Roman"/>
                <a:cs typeface="Times New Roman"/>
              </a:rPr>
              <a:t>connectivity</a:t>
            </a:r>
            <a:r>
              <a:rPr sz="2000" spc="-50" dirty="0">
                <a:solidFill>
                  <a:srgbClr val="221F1F"/>
                </a:solidFill>
                <a:latin typeface="Times New Roman"/>
                <a:cs typeface="Times New Roman"/>
              </a:rPr>
              <a:t> </a:t>
            </a:r>
            <a:r>
              <a:rPr sz="2000" dirty="0">
                <a:solidFill>
                  <a:srgbClr val="221F1F"/>
                </a:solidFill>
                <a:latin typeface="Times New Roman"/>
                <a:cs typeface="Times New Roman"/>
              </a:rPr>
              <a:t>over</a:t>
            </a:r>
            <a:r>
              <a:rPr sz="2000" spc="-45" dirty="0">
                <a:solidFill>
                  <a:srgbClr val="221F1F"/>
                </a:solidFill>
                <a:latin typeface="Times New Roman"/>
                <a:cs typeface="Times New Roman"/>
              </a:rPr>
              <a:t> </a:t>
            </a:r>
            <a:r>
              <a:rPr sz="2000" dirty="0">
                <a:solidFill>
                  <a:srgbClr val="221F1F"/>
                </a:solidFill>
                <a:latin typeface="Times New Roman"/>
                <a:cs typeface="Times New Roman"/>
              </a:rPr>
              <a:t>voice?</a:t>
            </a:r>
            <a:r>
              <a:rPr sz="2000" spc="-20" dirty="0">
                <a:solidFill>
                  <a:srgbClr val="221F1F"/>
                </a:solidFill>
                <a:latin typeface="Times New Roman"/>
                <a:cs typeface="Times New Roman"/>
              </a:rPr>
              <a:t> </a:t>
            </a:r>
            <a:r>
              <a:rPr sz="2000" dirty="0">
                <a:solidFill>
                  <a:srgbClr val="221F1F"/>
                </a:solidFill>
                <a:latin typeface="Times New Roman"/>
                <a:cs typeface="Times New Roman"/>
              </a:rPr>
              <a:t>How</a:t>
            </a:r>
            <a:r>
              <a:rPr sz="2000" spc="-15" dirty="0">
                <a:solidFill>
                  <a:srgbClr val="221F1F"/>
                </a:solidFill>
                <a:latin typeface="Times New Roman"/>
                <a:cs typeface="Times New Roman"/>
              </a:rPr>
              <a:t> </a:t>
            </a:r>
            <a:r>
              <a:rPr sz="2000" dirty="0">
                <a:solidFill>
                  <a:srgbClr val="221F1F"/>
                </a:solidFill>
                <a:latin typeface="Times New Roman"/>
                <a:cs typeface="Times New Roman"/>
              </a:rPr>
              <a:t>would</a:t>
            </a:r>
            <a:r>
              <a:rPr sz="2000" spc="-35" dirty="0">
                <a:solidFill>
                  <a:srgbClr val="221F1F"/>
                </a:solidFill>
                <a:latin typeface="Times New Roman"/>
                <a:cs typeface="Times New Roman"/>
              </a:rPr>
              <a:t> </a:t>
            </a:r>
            <a:r>
              <a:rPr sz="2000" spc="-10" dirty="0">
                <a:solidFill>
                  <a:srgbClr val="221F1F"/>
                </a:solidFill>
                <a:latin typeface="Times New Roman"/>
                <a:cs typeface="Times New Roman"/>
              </a:rPr>
              <a:t>heavy </a:t>
            </a:r>
            <a:r>
              <a:rPr sz="2000" dirty="0">
                <a:solidFill>
                  <a:srgbClr val="221F1F"/>
                </a:solidFill>
                <a:latin typeface="Times New Roman"/>
                <a:cs typeface="Times New Roman"/>
              </a:rPr>
              <a:t>HSCSD</a:t>
            </a:r>
            <a:r>
              <a:rPr sz="2000" spc="-35" dirty="0">
                <a:solidFill>
                  <a:srgbClr val="221F1F"/>
                </a:solidFill>
                <a:latin typeface="Times New Roman"/>
                <a:cs typeface="Times New Roman"/>
              </a:rPr>
              <a:t> </a:t>
            </a:r>
            <a:r>
              <a:rPr sz="2000" dirty="0">
                <a:solidFill>
                  <a:srgbClr val="221F1F"/>
                </a:solidFill>
                <a:latin typeface="Times New Roman"/>
                <a:cs typeface="Times New Roman"/>
              </a:rPr>
              <a:t>usage</a:t>
            </a:r>
            <a:r>
              <a:rPr sz="2000" spc="-40" dirty="0">
                <a:solidFill>
                  <a:srgbClr val="221F1F"/>
                </a:solidFill>
                <a:latin typeface="Times New Roman"/>
                <a:cs typeface="Times New Roman"/>
              </a:rPr>
              <a:t> </a:t>
            </a:r>
            <a:r>
              <a:rPr sz="2000" dirty="0">
                <a:solidFill>
                  <a:srgbClr val="221F1F"/>
                </a:solidFill>
                <a:latin typeface="Times New Roman"/>
                <a:cs typeface="Times New Roman"/>
              </a:rPr>
              <a:t>impact</a:t>
            </a:r>
            <a:r>
              <a:rPr sz="2000" spc="-20" dirty="0">
                <a:solidFill>
                  <a:srgbClr val="221F1F"/>
                </a:solidFill>
                <a:latin typeface="Times New Roman"/>
                <a:cs typeface="Times New Roman"/>
              </a:rPr>
              <a:t> </a:t>
            </a:r>
            <a:r>
              <a:rPr sz="2000" dirty="0">
                <a:solidFill>
                  <a:srgbClr val="221F1F"/>
                </a:solidFill>
                <a:latin typeface="Times New Roman"/>
                <a:cs typeface="Times New Roman"/>
              </a:rPr>
              <a:t>a</a:t>
            </a:r>
            <a:r>
              <a:rPr sz="2000" spc="-30" dirty="0">
                <a:solidFill>
                  <a:srgbClr val="221F1F"/>
                </a:solidFill>
                <a:latin typeface="Times New Roman"/>
                <a:cs typeface="Times New Roman"/>
              </a:rPr>
              <a:t> </a:t>
            </a:r>
            <a:r>
              <a:rPr sz="2000" dirty="0">
                <a:solidFill>
                  <a:srgbClr val="221F1F"/>
                </a:solidFill>
                <a:latin typeface="Times New Roman"/>
                <a:cs typeface="Times New Roman"/>
              </a:rPr>
              <a:t>cellular</a:t>
            </a:r>
            <a:r>
              <a:rPr sz="2000" spc="-45" dirty="0">
                <a:solidFill>
                  <a:srgbClr val="221F1F"/>
                </a:solidFill>
                <a:latin typeface="Times New Roman"/>
                <a:cs typeface="Times New Roman"/>
              </a:rPr>
              <a:t> </a:t>
            </a:r>
            <a:r>
              <a:rPr sz="2000" dirty="0">
                <a:solidFill>
                  <a:srgbClr val="221F1F"/>
                </a:solidFill>
                <a:latin typeface="Times New Roman"/>
                <a:cs typeface="Times New Roman"/>
              </a:rPr>
              <a:t>carrier’s</a:t>
            </a:r>
            <a:r>
              <a:rPr sz="2000" spc="-65" dirty="0">
                <a:solidFill>
                  <a:srgbClr val="221F1F"/>
                </a:solidFill>
                <a:latin typeface="Times New Roman"/>
                <a:cs typeface="Times New Roman"/>
              </a:rPr>
              <a:t> </a:t>
            </a:r>
            <a:r>
              <a:rPr sz="2000" dirty="0">
                <a:solidFill>
                  <a:srgbClr val="221F1F"/>
                </a:solidFill>
                <a:latin typeface="Times New Roman"/>
                <a:cs typeface="Times New Roman"/>
              </a:rPr>
              <a:t>strategy</a:t>
            </a:r>
            <a:r>
              <a:rPr sz="2000" spc="-55" dirty="0">
                <a:solidFill>
                  <a:srgbClr val="221F1F"/>
                </a:solidFill>
                <a:latin typeface="Times New Roman"/>
                <a:cs typeface="Times New Roman"/>
              </a:rPr>
              <a:t> </a:t>
            </a:r>
            <a:r>
              <a:rPr sz="2000" dirty="0">
                <a:solidFill>
                  <a:srgbClr val="221F1F"/>
                </a:solidFill>
                <a:latin typeface="Times New Roman"/>
                <a:cs typeface="Times New Roman"/>
              </a:rPr>
              <a:t>in</a:t>
            </a:r>
            <a:r>
              <a:rPr sz="2000" spc="-30" dirty="0">
                <a:solidFill>
                  <a:srgbClr val="221F1F"/>
                </a:solidFill>
                <a:latin typeface="Times New Roman"/>
                <a:cs typeface="Times New Roman"/>
              </a:rPr>
              <a:t> </a:t>
            </a:r>
            <a:r>
              <a:rPr sz="2000" dirty="0">
                <a:solidFill>
                  <a:srgbClr val="221F1F"/>
                </a:solidFill>
                <a:latin typeface="Times New Roman"/>
                <a:cs typeface="Times New Roman"/>
              </a:rPr>
              <a:t>allocating</a:t>
            </a:r>
            <a:r>
              <a:rPr sz="2000" spc="-50" dirty="0">
                <a:solidFill>
                  <a:srgbClr val="221F1F"/>
                </a:solidFill>
                <a:latin typeface="Times New Roman"/>
                <a:cs typeface="Times New Roman"/>
              </a:rPr>
              <a:t> </a:t>
            </a:r>
            <a:r>
              <a:rPr sz="2000" dirty="0">
                <a:solidFill>
                  <a:srgbClr val="221F1F"/>
                </a:solidFill>
                <a:latin typeface="Times New Roman"/>
                <a:cs typeface="Times New Roman"/>
              </a:rPr>
              <a:t>channels</a:t>
            </a:r>
            <a:r>
              <a:rPr sz="2000" spc="-50" dirty="0">
                <a:solidFill>
                  <a:srgbClr val="221F1F"/>
                </a:solidFill>
                <a:latin typeface="Times New Roman"/>
                <a:cs typeface="Times New Roman"/>
              </a:rPr>
              <a:t> </a:t>
            </a:r>
            <a:r>
              <a:rPr sz="2000" spc="-25" dirty="0">
                <a:solidFill>
                  <a:srgbClr val="221F1F"/>
                </a:solidFill>
                <a:latin typeface="Times New Roman"/>
                <a:cs typeface="Times New Roman"/>
              </a:rPr>
              <a:t>in </a:t>
            </a:r>
            <a:r>
              <a:rPr sz="2000" dirty="0">
                <a:solidFill>
                  <a:srgbClr val="221F1F"/>
                </a:solidFill>
                <a:latin typeface="Times New Roman"/>
                <a:cs typeface="Times New Roman"/>
              </a:rPr>
              <a:t>the</a:t>
            </a:r>
            <a:r>
              <a:rPr sz="2000" spc="-15" dirty="0">
                <a:solidFill>
                  <a:srgbClr val="221F1F"/>
                </a:solidFill>
                <a:latin typeface="Times New Roman"/>
                <a:cs typeface="Times New Roman"/>
              </a:rPr>
              <a:t> </a:t>
            </a:r>
            <a:r>
              <a:rPr sz="2000" dirty="0">
                <a:solidFill>
                  <a:srgbClr val="221F1F"/>
                </a:solidFill>
                <a:latin typeface="Times New Roman"/>
                <a:cs typeface="Times New Roman"/>
              </a:rPr>
              <a:t>base</a:t>
            </a:r>
            <a:r>
              <a:rPr sz="2000" spc="-25" dirty="0">
                <a:solidFill>
                  <a:srgbClr val="221F1F"/>
                </a:solidFill>
                <a:latin typeface="Times New Roman"/>
                <a:cs typeface="Times New Roman"/>
              </a:rPr>
              <a:t> </a:t>
            </a:r>
            <a:r>
              <a:rPr sz="2000" dirty="0">
                <a:solidFill>
                  <a:srgbClr val="221F1F"/>
                </a:solidFill>
                <a:latin typeface="Times New Roman"/>
                <a:cs typeface="Times New Roman"/>
              </a:rPr>
              <a:t>stations</a:t>
            </a:r>
            <a:r>
              <a:rPr sz="2000" spc="-40" dirty="0">
                <a:solidFill>
                  <a:srgbClr val="221F1F"/>
                </a:solidFill>
                <a:latin typeface="Times New Roman"/>
                <a:cs typeface="Times New Roman"/>
              </a:rPr>
              <a:t> </a:t>
            </a:r>
            <a:r>
              <a:rPr sz="2000" dirty="0">
                <a:solidFill>
                  <a:srgbClr val="221F1F"/>
                </a:solidFill>
                <a:latin typeface="Times New Roman"/>
                <a:cs typeface="Times New Roman"/>
              </a:rPr>
              <a:t>of</a:t>
            </a:r>
            <a:r>
              <a:rPr sz="2000" spc="-20" dirty="0">
                <a:solidFill>
                  <a:srgbClr val="221F1F"/>
                </a:solidFill>
                <a:latin typeface="Times New Roman"/>
                <a:cs typeface="Times New Roman"/>
              </a:rPr>
              <a:t> </a:t>
            </a:r>
            <a:r>
              <a:rPr sz="2000" dirty="0">
                <a:solidFill>
                  <a:srgbClr val="221F1F"/>
                </a:solidFill>
                <a:latin typeface="Times New Roman"/>
                <a:cs typeface="Times New Roman"/>
              </a:rPr>
              <a:t>a</a:t>
            </a:r>
            <a:r>
              <a:rPr sz="2000" spc="-5" dirty="0">
                <a:solidFill>
                  <a:srgbClr val="221F1F"/>
                </a:solidFill>
                <a:latin typeface="Times New Roman"/>
                <a:cs typeface="Times New Roman"/>
              </a:rPr>
              <a:t> </a:t>
            </a:r>
            <a:r>
              <a:rPr sz="2000" dirty="0">
                <a:solidFill>
                  <a:srgbClr val="221F1F"/>
                </a:solidFill>
                <a:latin typeface="Times New Roman"/>
                <a:cs typeface="Times New Roman"/>
              </a:rPr>
              <a:t>cellular</a:t>
            </a:r>
            <a:r>
              <a:rPr sz="2000" spc="-30" dirty="0">
                <a:solidFill>
                  <a:srgbClr val="221F1F"/>
                </a:solidFill>
                <a:latin typeface="Times New Roman"/>
                <a:cs typeface="Times New Roman"/>
              </a:rPr>
              <a:t> </a:t>
            </a:r>
            <a:r>
              <a:rPr sz="2000" dirty="0">
                <a:solidFill>
                  <a:srgbClr val="221F1F"/>
                </a:solidFill>
                <a:latin typeface="Times New Roman"/>
                <a:cs typeface="Times New Roman"/>
              </a:rPr>
              <a:t>network?</a:t>
            </a:r>
            <a:r>
              <a:rPr sz="2000" spc="-30" dirty="0">
                <a:solidFill>
                  <a:srgbClr val="221F1F"/>
                </a:solidFill>
                <a:latin typeface="Times New Roman"/>
                <a:cs typeface="Times New Roman"/>
              </a:rPr>
              <a:t> </a:t>
            </a:r>
            <a:r>
              <a:rPr sz="2000" dirty="0">
                <a:solidFill>
                  <a:srgbClr val="221F1F"/>
                </a:solidFill>
                <a:latin typeface="Times New Roman"/>
                <a:cs typeface="Times New Roman"/>
              </a:rPr>
              <a:t>How</a:t>
            </a:r>
            <a:r>
              <a:rPr sz="2000" spc="-5" dirty="0">
                <a:solidFill>
                  <a:srgbClr val="221F1F"/>
                </a:solidFill>
                <a:latin typeface="Times New Roman"/>
                <a:cs typeface="Times New Roman"/>
              </a:rPr>
              <a:t> </a:t>
            </a:r>
            <a:r>
              <a:rPr sz="2000" dirty="0">
                <a:solidFill>
                  <a:srgbClr val="221F1F"/>
                </a:solidFill>
                <a:latin typeface="Times New Roman"/>
                <a:cs typeface="Times New Roman"/>
              </a:rPr>
              <a:t>would</a:t>
            </a:r>
            <a:r>
              <a:rPr sz="2000" spc="-35" dirty="0">
                <a:solidFill>
                  <a:srgbClr val="221F1F"/>
                </a:solidFill>
                <a:latin typeface="Times New Roman"/>
                <a:cs typeface="Times New Roman"/>
              </a:rPr>
              <a:t> </a:t>
            </a:r>
            <a:r>
              <a:rPr sz="2000" dirty="0">
                <a:solidFill>
                  <a:srgbClr val="221F1F"/>
                </a:solidFill>
                <a:latin typeface="Times New Roman"/>
                <a:cs typeface="Times New Roman"/>
              </a:rPr>
              <a:t>the</a:t>
            </a:r>
            <a:r>
              <a:rPr sz="2000" spc="-15" dirty="0">
                <a:solidFill>
                  <a:srgbClr val="221F1F"/>
                </a:solidFill>
                <a:latin typeface="Times New Roman"/>
                <a:cs typeface="Times New Roman"/>
              </a:rPr>
              <a:t> </a:t>
            </a:r>
            <a:r>
              <a:rPr sz="2000" dirty="0">
                <a:solidFill>
                  <a:srgbClr val="221F1F"/>
                </a:solidFill>
                <a:latin typeface="Times New Roman"/>
                <a:cs typeface="Times New Roman"/>
              </a:rPr>
              <a:t>rapid</a:t>
            </a:r>
            <a:r>
              <a:rPr sz="2000" spc="-40" dirty="0">
                <a:solidFill>
                  <a:srgbClr val="221F1F"/>
                </a:solidFill>
                <a:latin typeface="Times New Roman"/>
                <a:cs typeface="Times New Roman"/>
              </a:rPr>
              <a:t> </a:t>
            </a:r>
            <a:r>
              <a:rPr sz="2000" dirty="0">
                <a:solidFill>
                  <a:srgbClr val="221F1F"/>
                </a:solidFill>
                <a:latin typeface="Times New Roman"/>
                <a:cs typeface="Times New Roman"/>
              </a:rPr>
              <a:t>adoption</a:t>
            </a:r>
            <a:r>
              <a:rPr sz="2000" spc="-45" dirty="0">
                <a:solidFill>
                  <a:srgbClr val="221F1F"/>
                </a:solidFill>
                <a:latin typeface="Times New Roman"/>
                <a:cs typeface="Times New Roman"/>
              </a:rPr>
              <a:t> </a:t>
            </a:r>
            <a:r>
              <a:rPr sz="2000" spc="-25" dirty="0">
                <a:solidFill>
                  <a:srgbClr val="221F1F"/>
                </a:solidFill>
                <a:latin typeface="Times New Roman"/>
                <a:cs typeface="Times New Roman"/>
              </a:rPr>
              <a:t>of</a:t>
            </a:r>
            <a:endParaRPr sz="2000">
              <a:latin typeface="Times New Roman"/>
              <a:cs typeface="Times New Roman"/>
            </a:endParaRPr>
          </a:p>
        </p:txBody>
      </p:sp>
      <p:sp>
        <p:nvSpPr>
          <p:cNvPr id="3" name="object 3"/>
          <p:cNvSpPr txBox="1"/>
          <p:nvPr/>
        </p:nvSpPr>
        <p:spPr>
          <a:xfrm>
            <a:off x="726440" y="6072912"/>
            <a:ext cx="7389495" cy="307340"/>
          </a:xfrm>
          <a:prstGeom prst="rect">
            <a:avLst/>
          </a:prstGeom>
        </p:spPr>
        <p:txBody>
          <a:bodyPr vert="horz" wrap="square" lIns="0" tIns="0" rIns="0" bIns="0" rtlCol="0">
            <a:spAutoFit/>
          </a:bodyPr>
          <a:lstStyle/>
          <a:p>
            <a:pPr marL="12700">
              <a:lnSpc>
                <a:spcPts val="2285"/>
              </a:lnSpc>
            </a:pPr>
            <a:r>
              <a:rPr sz="2000" spc="-50" dirty="0">
                <a:solidFill>
                  <a:srgbClr val="221F1F"/>
                </a:solidFill>
                <a:latin typeface="Times New Roman"/>
                <a:cs typeface="Times New Roman"/>
              </a:rPr>
              <a:t>Voice</a:t>
            </a:r>
            <a:r>
              <a:rPr sz="2000" spc="-40" dirty="0">
                <a:solidFill>
                  <a:srgbClr val="221F1F"/>
                </a:solidFill>
                <a:latin typeface="Times New Roman"/>
                <a:cs typeface="Times New Roman"/>
              </a:rPr>
              <a:t> </a:t>
            </a:r>
            <a:r>
              <a:rPr sz="2000" dirty="0">
                <a:solidFill>
                  <a:srgbClr val="221F1F"/>
                </a:solidFill>
                <a:latin typeface="Times New Roman"/>
                <a:cs typeface="Times New Roman"/>
              </a:rPr>
              <a:t>over</a:t>
            </a:r>
            <a:r>
              <a:rPr sz="2000" spc="-35" dirty="0">
                <a:solidFill>
                  <a:srgbClr val="221F1F"/>
                </a:solidFill>
                <a:latin typeface="Times New Roman"/>
                <a:cs typeface="Times New Roman"/>
              </a:rPr>
              <a:t> </a:t>
            </a:r>
            <a:r>
              <a:rPr sz="2000" dirty="0">
                <a:solidFill>
                  <a:srgbClr val="221F1F"/>
                </a:solidFill>
                <a:latin typeface="Times New Roman"/>
                <a:cs typeface="Times New Roman"/>
              </a:rPr>
              <a:t>Internet</a:t>
            </a:r>
            <a:r>
              <a:rPr sz="2000" spc="-55" dirty="0">
                <a:solidFill>
                  <a:srgbClr val="221F1F"/>
                </a:solidFill>
                <a:latin typeface="Times New Roman"/>
                <a:cs typeface="Times New Roman"/>
              </a:rPr>
              <a:t> </a:t>
            </a:r>
            <a:r>
              <a:rPr sz="2000" dirty="0">
                <a:solidFill>
                  <a:srgbClr val="221F1F"/>
                </a:solidFill>
                <a:latin typeface="Times New Roman"/>
                <a:cs typeface="Times New Roman"/>
              </a:rPr>
              <a:t>Protocol</a:t>
            </a:r>
            <a:r>
              <a:rPr sz="2000" spc="-55" dirty="0">
                <a:solidFill>
                  <a:srgbClr val="221F1F"/>
                </a:solidFill>
                <a:latin typeface="Times New Roman"/>
                <a:cs typeface="Times New Roman"/>
              </a:rPr>
              <a:t> </a:t>
            </a:r>
            <a:r>
              <a:rPr sz="2000" spc="-35" dirty="0">
                <a:solidFill>
                  <a:srgbClr val="221F1F"/>
                </a:solidFill>
                <a:latin typeface="Times New Roman"/>
                <a:cs typeface="Times New Roman"/>
              </a:rPr>
              <a:t>(VoIP)</a:t>
            </a:r>
            <a:r>
              <a:rPr sz="2000" spc="-55" dirty="0">
                <a:solidFill>
                  <a:srgbClr val="221F1F"/>
                </a:solidFill>
                <a:latin typeface="Times New Roman"/>
                <a:cs typeface="Times New Roman"/>
              </a:rPr>
              <a:t> </a:t>
            </a:r>
            <a:r>
              <a:rPr sz="2000" dirty="0">
                <a:solidFill>
                  <a:srgbClr val="221F1F"/>
                </a:solidFill>
                <a:latin typeface="Times New Roman"/>
                <a:cs typeface="Times New Roman"/>
              </a:rPr>
              <a:t>impact</a:t>
            </a:r>
            <a:r>
              <a:rPr sz="2000" spc="-15" dirty="0">
                <a:solidFill>
                  <a:srgbClr val="221F1F"/>
                </a:solidFill>
                <a:latin typeface="Times New Roman"/>
                <a:cs typeface="Times New Roman"/>
              </a:rPr>
              <a:t> </a:t>
            </a:r>
            <a:r>
              <a:rPr sz="2000" dirty="0">
                <a:solidFill>
                  <a:srgbClr val="221F1F"/>
                </a:solidFill>
                <a:latin typeface="Times New Roman"/>
                <a:cs typeface="Times New Roman"/>
              </a:rPr>
              <a:t>cellular</a:t>
            </a:r>
            <a:r>
              <a:rPr sz="2000" spc="-50" dirty="0">
                <a:solidFill>
                  <a:srgbClr val="221F1F"/>
                </a:solidFill>
                <a:latin typeface="Times New Roman"/>
                <a:cs typeface="Times New Roman"/>
              </a:rPr>
              <a:t> </a:t>
            </a:r>
            <a:r>
              <a:rPr sz="2000" dirty="0">
                <a:solidFill>
                  <a:srgbClr val="221F1F"/>
                </a:solidFill>
                <a:latin typeface="Times New Roman"/>
                <a:cs typeface="Times New Roman"/>
              </a:rPr>
              <a:t>congestion?</a:t>
            </a:r>
            <a:r>
              <a:rPr sz="2000" spc="-35" dirty="0">
                <a:solidFill>
                  <a:srgbClr val="221F1F"/>
                </a:solidFill>
                <a:latin typeface="Times New Roman"/>
                <a:cs typeface="Times New Roman"/>
              </a:rPr>
              <a:t> </a:t>
            </a:r>
            <a:r>
              <a:rPr sz="2000" spc="-10" dirty="0">
                <a:solidFill>
                  <a:srgbClr val="221F1F"/>
                </a:solidFill>
                <a:latin typeface="Times New Roman"/>
                <a:cs typeface="Times New Roman"/>
              </a:rPr>
              <a:t>Explain.</a:t>
            </a:r>
            <a:endParaRPr sz="20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95</a:t>
            </a:fld>
            <a:endParaRPr spc="-2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25" dirty="0">
                <a:latin typeface="Arial"/>
                <a:cs typeface="Arial"/>
              </a:rPr>
              <a:t> </a:t>
            </a:r>
            <a:r>
              <a:rPr dirty="0"/>
              <a:t>Pilani,</a:t>
            </a:r>
            <a:r>
              <a:rPr spc="-5" dirty="0"/>
              <a:t> </a:t>
            </a:r>
            <a:r>
              <a:rPr dirty="0"/>
              <a:t>Deemed</a:t>
            </a:r>
            <a:r>
              <a:rPr spc="-30" dirty="0"/>
              <a:t> </a:t>
            </a:r>
            <a:r>
              <a:rPr dirty="0"/>
              <a:t>to</a:t>
            </a:r>
            <a:r>
              <a:rPr spc="-40" dirty="0"/>
              <a:t> </a:t>
            </a:r>
            <a:r>
              <a:rPr dirty="0"/>
              <a:t>be</a:t>
            </a:r>
            <a:r>
              <a:rPr spc="-30" dirty="0"/>
              <a:t> </a:t>
            </a:r>
            <a:r>
              <a:rPr dirty="0"/>
              <a:t>University</a:t>
            </a:r>
            <a:r>
              <a:rPr spc="-10" dirty="0"/>
              <a:t> </a:t>
            </a:r>
            <a:r>
              <a:rPr dirty="0"/>
              <a:t>under</a:t>
            </a:r>
            <a:r>
              <a:rPr spc="-35" dirty="0"/>
              <a:t> </a:t>
            </a:r>
            <a:r>
              <a:rPr dirty="0"/>
              <a:t>Section</a:t>
            </a:r>
            <a:r>
              <a:rPr spc="-35" dirty="0"/>
              <a:t> </a:t>
            </a:r>
            <a:r>
              <a:rPr dirty="0"/>
              <a:t>3</a:t>
            </a:r>
            <a:r>
              <a:rPr spc="-30" dirty="0"/>
              <a:t> </a:t>
            </a:r>
            <a:r>
              <a:rPr dirty="0"/>
              <a:t>of</a:t>
            </a:r>
            <a:r>
              <a:rPr spc="-40" dirty="0"/>
              <a:t> </a:t>
            </a:r>
            <a:r>
              <a:rPr dirty="0"/>
              <a:t>UGC</a:t>
            </a:r>
            <a:r>
              <a:rPr spc="-35" dirty="0"/>
              <a:t> </a:t>
            </a:r>
            <a:r>
              <a:rPr dirty="0"/>
              <a:t>Act,</a:t>
            </a:r>
            <a:r>
              <a:rPr spc="-40" dirty="0"/>
              <a:t> </a:t>
            </a:r>
            <a:r>
              <a:rPr spc="-20" dirty="0"/>
              <a:t>1956</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a:xfrm>
            <a:off x="245444" y="973956"/>
            <a:ext cx="8348140" cy="582930"/>
          </a:xfrm>
        </p:spPr>
        <p:txBody>
          <a:bodyPr/>
          <a:lstStyle/>
          <a:p>
            <a:r>
              <a:rPr lang="en-US" altLang="zh-TW" dirty="0"/>
              <a:t>Introduction to wireless communication systems</a:t>
            </a:r>
            <a:endParaRPr lang="en-US" cap="small" dirty="0"/>
          </a:p>
        </p:txBody>
      </p:sp>
      <p:sp>
        <p:nvSpPr>
          <p:cNvPr id="6" name="Rectangle 5"/>
          <p:cNvSpPr/>
          <p:nvPr/>
        </p:nvSpPr>
        <p:spPr>
          <a:xfrm>
            <a:off x="-482030" y="1823877"/>
            <a:ext cx="9338354" cy="2610458"/>
          </a:xfrm>
          <a:prstGeom prst="rect">
            <a:avLst/>
          </a:prstGeom>
        </p:spPr>
        <p:txBody>
          <a:bodyPr wrap="square">
            <a:spAutoFit/>
          </a:bodyPr>
          <a:lstStyle/>
          <a:p>
            <a:pPr marL="1257300" indent="-342900" algn="l" rtl="0">
              <a:lnSpc>
                <a:spcPct val="107000"/>
              </a:lnSpc>
              <a:spcAft>
                <a:spcPts val="800"/>
              </a:spcAft>
              <a:buFont typeface="Wingdings" panose="05000000000000000000" pitchFamily="2" charset="2"/>
              <a:buChar char="v"/>
            </a:pPr>
            <a:r>
              <a:rPr lang="en-IN" sz="1600" kern="1200" dirty="0">
                <a:solidFill>
                  <a:prstClr val="black"/>
                </a:solidFill>
                <a:latin typeface="Arial" panose="020B0604020202020204" pitchFamily="34" charset="0"/>
                <a:ea typeface="Calibri" panose="020F0502020204030204" pitchFamily="34" charset="0"/>
                <a:cs typeface="Arial" panose="020B0604020202020204" pitchFamily="34" charset="0"/>
              </a:rPr>
              <a:t>It is the Transfer of data between 2 points that aren’t connected by an electrical conductor. </a:t>
            </a:r>
          </a:p>
          <a:p>
            <a:pPr marL="1257300" indent="-342900" algn="l" rtl="0">
              <a:lnSpc>
                <a:spcPct val="107000"/>
              </a:lnSpc>
              <a:spcAft>
                <a:spcPts val="800"/>
              </a:spcAft>
              <a:buFont typeface="Wingdings" panose="05000000000000000000" pitchFamily="2" charset="2"/>
              <a:buChar char="v"/>
            </a:pPr>
            <a:r>
              <a:rPr lang="en-IN" sz="1600" kern="1200" dirty="0">
                <a:solidFill>
                  <a:prstClr val="black"/>
                </a:solidFill>
                <a:latin typeface="Arial" panose="020B0604020202020204" pitchFamily="34" charset="0"/>
                <a:ea typeface="Calibri" panose="020F0502020204030204" pitchFamily="34" charset="0"/>
                <a:cs typeface="Arial" panose="020B0604020202020204" pitchFamily="34" charset="0"/>
              </a:rPr>
              <a:t>They typically use electromagnetic waves.  </a:t>
            </a:r>
          </a:p>
          <a:p>
            <a:pPr marL="1257300" indent="-342900" algn="l" rtl="0">
              <a:lnSpc>
                <a:spcPct val="107000"/>
              </a:lnSpc>
              <a:spcAft>
                <a:spcPts val="800"/>
              </a:spcAft>
              <a:buFont typeface="Wingdings" panose="05000000000000000000" pitchFamily="2" charset="2"/>
              <a:buChar char="v"/>
            </a:pPr>
            <a:r>
              <a:rPr lang="en-US" sz="1600" kern="1200" dirty="0">
                <a:solidFill>
                  <a:prstClr val="black"/>
                </a:solidFill>
                <a:latin typeface="Arial" panose="020B0604020202020204" pitchFamily="34" charset="0"/>
                <a:ea typeface="+mn-ea"/>
                <a:cs typeface="Arial" panose="020B0604020202020204" pitchFamily="34" charset="0"/>
              </a:rPr>
              <a:t>Transmitting voice and data using electromagnetic waves in open space (atmosphere)</a:t>
            </a:r>
          </a:p>
          <a:p>
            <a:pPr marL="1257300" indent="-342900" algn="l" rtl="0">
              <a:lnSpc>
                <a:spcPct val="107000"/>
              </a:lnSpc>
              <a:spcAft>
                <a:spcPts val="800"/>
              </a:spcAft>
              <a:buFont typeface="Wingdings" panose="05000000000000000000" pitchFamily="2" charset="2"/>
              <a:buChar char="v"/>
            </a:pPr>
            <a:r>
              <a:rPr lang="en-US" sz="1600" kern="1200" dirty="0">
                <a:solidFill>
                  <a:prstClr val="black"/>
                </a:solidFill>
                <a:latin typeface="Arial" panose="020B0604020202020204" pitchFamily="34" charset="0"/>
                <a:ea typeface="Calibri" panose="020F0502020204030204" pitchFamily="34" charset="0"/>
                <a:cs typeface="Arial" panose="020B0604020202020204" pitchFamily="34" charset="0"/>
              </a:rPr>
              <a:t>The information from the sender to the receiver is carried over a well-defined frequency band. </a:t>
            </a:r>
          </a:p>
          <a:p>
            <a:pPr marL="1257300" indent="-342900" algn="l" rtl="0">
              <a:lnSpc>
                <a:spcPct val="107000"/>
              </a:lnSpc>
              <a:spcAft>
                <a:spcPts val="800"/>
              </a:spcAft>
              <a:buFont typeface="Wingdings" panose="05000000000000000000" pitchFamily="2" charset="2"/>
              <a:buChar char="v"/>
            </a:pPr>
            <a:r>
              <a:rPr lang="en-US" sz="1600" kern="1200" dirty="0">
                <a:solidFill>
                  <a:prstClr val="black"/>
                </a:solidFill>
                <a:latin typeface="Arial" panose="020B0604020202020204" pitchFamily="34" charset="0"/>
                <a:ea typeface="Calibri" panose="020F0502020204030204" pitchFamily="34" charset="0"/>
                <a:cs typeface="Arial" panose="020B0604020202020204" pitchFamily="34" charset="0"/>
              </a:rPr>
              <a:t>Each Channel has a fixed bandwidth. Different channels can be used to transmit information in parallel and independently.</a:t>
            </a:r>
            <a:endParaRPr lang="en-IN" sz="1600" kern="12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000708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Why Wireless Communication</a:t>
            </a:r>
          </a:p>
          <a:p>
            <a:endParaRPr lang="en-IN" dirty="0"/>
          </a:p>
        </p:txBody>
      </p:sp>
      <p:sp>
        <p:nvSpPr>
          <p:cNvPr id="3" name="Content Placeholder 2"/>
          <p:cNvSpPr>
            <a:spLocks noGrp="1"/>
          </p:cNvSpPr>
          <p:nvPr>
            <p:ph idx="1"/>
          </p:nvPr>
        </p:nvSpPr>
        <p:spPr/>
        <p:txBody>
          <a:bodyPr/>
          <a:lstStyle/>
          <a:p>
            <a:r>
              <a:rPr lang="en-IN" dirty="0">
                <a:solidFill>
                  <a:srgbClr val="0070C0"/>
                </a:solidFill>
              </a:rPr>
              <a:t>Mobility</a:t>
            </a:r>
          </a:p>
          <a:p>
            <a:pPr marL="0" indent="0">
              <a:buNone/>
            </a:pPr>
            <a:r>
              <a:rPr lang="en-US" dirty="0"/>
              <a:t>	- </a:t>
            </a:r>
            <a:r>
              <a:rPr lang="en-IN" dirty="0"/>
              <a:t>Radio waves travel freely through the air, wireless modes of communication give  a great deal of mobility.</a:t>
            </a:r>
          </a:p>
          <a:p>
            <a:pPr marL="0" indent="0"/>
            <a:endParaRPr lang="en-IN" dirty="0"/>
          </a:p>
          <a:p>
            <a:r>
              <a:rPr lang="en-IN" dirty="0">
                <a:solidFill>
                  <a:srgbClr val="0070C0"/>
                </a:solidFill>
              </a:rPr>
              <a:t>Freedom from wires</a:t>
            </a:r>
          </a:p>
          <a:p>
            <a:pPr marL="0" indent="0">
              <a:buNone/>
            </a:pPr>
            <a:r>
              <a:rPr lang="en-US" dirty="0"/>
              <a:t>	-</a:t>
            </a:r>
            <a:r>
              <a:rPr lang="en-IN" dirty="0"/>
              <a:t>Wired networks can be inflexible in terms of mobility.  </a:t>
            </a:r>
          </a:p>
          <a:p>
            <a:pPr marL="0" indent="0">
              <a:buNone/>
            </a:pPr>
            <a:r>
              <a:rPr lang="en-IN" dirty="0"/>
              <a:t>	- Extra cables and switches to connect a device to the network and use in   </a:t>
            </a:r>
          </a:p>
          <a:p>
            <a:pPr marL="0" indent="0">
              <a:buNone/>
            </a:pPr>
            <a:r>
              <a:rPr lang="en-IN" dirty="0"/>
              <a:t>             different location</a:t>
            </a:r>
          </a:p>
          <a:p>
            <a:pPr marL="0" indent="0">
              <a:buNone/>
            </a:pPr>
            <a:r>
              <a:rPr lang="en-IN" dirty="0"/>
              <a:t>	-  Installation can be lengthy and complex </a:t>
            </a:r>
          </a:p>
          <a:p>
            <a:pPr marL="0" indent="0">
              <a:buNone/>
            </a:pPr>
            <a:r>
              <a:rPr lang="en-IN" dirty="0"/>
              <a:t>	- Maintenance  costly.</a:t>
            </a:r>
          </a:p>
          <a:p>
            <a:pPr marL="0" indent="0">
              <a:buNone/>
            </a:pPr>
            <a:endParaRPr lang="en-IN" dirty="0"/>
          </a:p>
        </p:txBody>
      </p:sp>
    </p:spTree>
    <p:extLst>
      <p:ext uri="{BB962C8B-B14F-4D97-AF65-F5344CB8AC3E}">
        <p14:creationId xmlns:p14="http://schemas.microsoft.com/office/powerpoint/2010/main" val="3321979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Why Wireless Communication</a:t>
            </a:r>
          </a:p>
          <a:p>
            <a:endParaRPr lang="en-IN" dirty="0"/>
          </a:p>
        </p:txBody>
      </p:sp>
      <p:sp>
        <p:nvSpPr>
          <p:cNvPr id="3" name="Content Placeholder 2"/>
          <p:cNvSpPr>
            <a:spLocks noGrp="1"/>
          </p:cNvSpPr>
          <p:nvPr>
            <p:ph idx="1"/>
          </p:nvPr>
        </p:nvSpPr>
        <p:spPr/>
        <p:txBody>
          <a:bodyPr/>
          <a:lstStyle/>
          <a:p>
            <a:r>
              <a:rPr lang="en-IN" dirty="0">
                <a:solidFill>
                  <a:srgbClr val="0070C0"/>
                </a:solidFill>
              </a:rPr>
              <a:t>Global Coverage</a:t>
            </a:r>
          </a:p>
          <a:p>
            <a:r>
              <a:rPr lang="en-US" dirty="0">
                <a:solidFill>
                  <a:srgbClr val="0070C0"/>
                </a:solidFill>
              </a:rPr>
              <a:t>Communication can reach where wiring is infeasible or costly(e.g. hazardous areas, long distances etc.).</a:t>
            </a:r>
            <a:endParaRPr lang="en-IN" dirty="0">
              <a:solidFill>
                <a:srgbClr val="0070C0"/>
              </a:solidFill>
            </a:endParaRPr>
          </a:p>
          <a:p>
            <a:r>
              <a:rPr lang="en-IN" dirty="0">
                <a:solidFill>
                  <a:srgbClr val="0070C0"/>
                </a:solidFill>
              </a:rPr>
              <a:t>Scalability</a:t>
            </a:r>
          </a:p>
          <a:p>
            <a:pPr marL="0" indent="0">
              <a:buNone/>
            </a:pPr>
            <a:r>
              <a:rPr lang="en-US" dirty="0"/>
              <a:t>	- P</a:t>
            </a:r>
            <a:r>
              <a:rPr lang="en-IN" dirty="0" err="1"/>
              <a:t>roblems</a:t>
            </a:r>
            <a:r>
              <a:rPr lang="en-IN" dirty="0"/>
              <a:t> with a wired network is coping with expansion and can be expensive. </a:t>
            </a:r>
          </a:p>
          <a:p>
            <a:pPr marL="0" indent="0">
              <a:buNone/>
            </a:pPr>
            <a:r>
              <a:rPr lang="en-IN" dirty="0"/>
              <a:t>	- Addition of new users is fast and relatively convenient in wireless communication.</a:t>
            </a:r>
          </a:p>
          <a:p>
            <a:r>
              <a:rPr lang="en-US" dirty="0">
                <a:solidFill>
                  <a:srgbClr val="0070C0"/>
                </a:solidFill>
              </a:rPr>
              <a:t>Stay Connected any where any time</a:t>
            </a:r>
            <a:r>
              <a:rPr lang="en-US" dirty="0"/>
              <a:t>.</a:t>
            </a:r>
          </a:p>
          <a:p>
            <a:pPr marL="0" indent="0">
              <a:buNone/>
            </a:pPr>
            <a:endParaRPr lang="en-IN" dirty="0"/>
          </a:p>
        </p:txBody>
      </p:sp>
    </p:spTree>
    <p:extLst>
      <p:ext uri="{BB962C8B-B14F-4D97-AF65-F5344CB8AC3E}">
        <p14:creationId xmlns:p14="http://schemas.microsoft.com/office/powerpoint/2010/main" val="15324248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endParaRPr lang="en-US" sz="1800" dirty="0">
              <a:solidFill>
                <a:srgbClr val="FF0000"/>
              </a:solidFill>
            </a:endParaRPr>
          </a:p>
          <a:p>
            <a:pPr lvl="1"/>
            <a:r>
              <a:rPr lang="en-US" sz="1800" b="0" dirty="0">
                <a:solidFill>
                  <a:srgbClr val="FF0000"/>
                </a:solidFill>
              </a:rPr>
              <a:t>High costs for setting up the infrastructure </a:t>
            </a:r>
          </a:p>
          <a:p>
            <a:pPr lvl="1"/>
            <a:r>
              <a:rPr lang="en-US" sz="1800" b="0" dirty="0">
                <a:solidFill>
                  <a:srgbClr val="FF0000"/>
                </a:solidFill>
              </a:rPr>
              <a:t>Security vulnerabilities.</a:t>
            </a:r>
          </a:p>
          <a:p>
            <a:pPr lvl="1"/>
            <a:r>
              <a:rPr lang="en-US" sz="1800" b="0" dirty="0">
                <a:solidFill>
                  <a:srgbClr val="FF0000"/>
                </a:solidFill>
              </a:rPr>
              <a:t>Efficient use of Finite Radio Spectrum</a:t>
            </a:r>
          </a:p>
          <a:p>
            <a:pPr marL="857250" lvl="1" indent="-457200"/>
            <a:r>
              <a:rPr lang="en-US" sz="1800" b="0" dirty="0">
                <a:solidFill>
                  <a:srgbClr val="FF0000"/>
                </a:solidFill>
              </a:rPr>
              <a:t>Efficient Hardware</a:t>
            </a:r>
          </a:p>
          <a:p>
            <a:pPr lvl="2"/>
            <a:r>
              <a:rPr lang="en-US" i="1" dirty="0">
                <a:solidFill>
                  <a:schemeClr val="accent1"/>
                </a:solidFill>
              </a:rPr>
              <a:t>Low power  </a:t>
            </a:r>
            <a:r>
              <a:rPr lang="en-US" dirty="0">
                <a:solidFill>
                  <a:srgbClr val="FF0000"/>
                </a:solidFill>
              </a:rPr>
              <a:t>transmitter, receivers</a:t>
            </a:r>
          </a:p>
          <a:p>
            <a:pPr marL="914400" lvl="2" indent="0">
              <a:buNone/>
            </a:pPr>
            <a:r>
              <a:rPr lang="en-US" dirty="0">
                <a:solidFill>
                  <a:srgbClr val="FF0000"/>
                </a:solidFill>
              </a:rPr>
              <a:t>	-</a:t>
            </a:r>
            <a:r>
              <a:rPr lang="en-US" dirty="0">
                <a:solidFill>
                  <a:srgbClr val="0070C0"/>
                </a:solidFill>
              </a:rPr>
              <a:t>Many devices are battery operated. We need to have low power transmitters and receivers</a:t>
            </a:r>
          </a:p>
          <a:p>
            <a:pPr lvl="2"/>
            <a:r>
              <a:rPr lang="en-US" i="1" dirty="0">
                <a:solidFill>
                  <a:schemeClr val="accent1"/>
                </a:solidFill>
              </a:rPr>
              <a:t>Low power </a:t>
            </a:r>
            <a:r>
              <a:rPr lang="en-US" dirty="0">
                <a:solidFill>
                  <a:srgbClr val="FF0000"/>
                </a:solidFill>
              </a:rPr>
              <a:t>signal processing tools</a:t>
            </a:r>
            <a:endParaRPr lang="en-US" sz="3200" dirty="0">
              <a:solidFill>
                <a:srgbClr val="FF0000"/>
              </a:solidFill>
            </a:endParaRPr>
          </a:p>
          <a:p>
            <a:pPr marL="0" indent="0">
              <a:buNone/>
            </a:pPr>
            <a:endParaRPr lang="en-IN" dirty="0"/>
          </a:p>
        </p:txBody>
      </p:sp>
      <p:sp>
        <p:nvSpPr>
          <p:cNvPr id="4" name="Content Placeholder 3"/>
          <p:cNvSpPr>
            <a:spLocks noGrp="1"/>
          </p:cNvSpPr>
          <p:nvPr>
            <p:ph sz="quarter" idx="10"/>
          </p:nvPr>
        </p:nvSpPr>
        <p:spPr>
          <a:xfrm>
            <a:off x="245444" y="1096144"/>
            <a:ext cx="7930890" cy="338554"/>
          </a:xfrm>
          <a:prstGeom prst="rect">
            <a:avLst/>
          </a:prstGeom>
        </p:spPr>
        <p:txBody>
          <a:bodyPr wrap="square">
            <a:spAutoFit/>
          </a:bodyPr>
          <a:lstStyle/>
          <a:p>
            <a:r>
              <a:rPr lang="en-US" b="1" dirty="0"/>
              <a:t>Challenges of wireless communication system</a:t>
            </a:r>
          </a:p>
        </p:txBody>
      </p:sp>
    </p:spTree>
    <p:extLst>
      <p:ext uri="{BB962C8B-B14F-4D97-AF65-F5344CB8AC3E}">
        <p14:creationId xmlns:p14="http://schemas.microsoft.com/office/powerpoint/2010/main" val="3316176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947260"/>
            <a:ext cx="8463550" cy="582930"/>
          </a:xfrm>
        </p:spPr>
        <p:txBody>
          <a:bodyPr/>
          <a:lstStyle/>
          <a:p>
            <a:r>
              <a:rPr lang="en-US" dirty="0"/>
              <a:t>Challenges of wireless communication system</a:t>
            </a:r>
          </a:p>
        </p:txBody>
      </p:sp>
      <p:sp>
        <p:nvSpPr>
          <p:cNvPr id="3" name="Content Placeholder 2"/>
          <p:cNvSpPr>
            <a:spLocks noGrp="1"/>
          </p:cNvSpPr>
          <p:nvPr>
            <p:ph idx="1"/>
          </p:nvPr>
        </p:nvSpPr>
        <p:spPr/>
        <p:txBody>
          <a:bodyPr/>
          <a:lstStyle/>
          <a:p>
            <a:pPr lvl="1"/>
            <a:endParaRPr lang="en-US" sz="2000" b="0" dirty="0">
              <a:solidFill>
                <a:srgbClr val="FF0000"/>
              </a:solidFill>
            </a:endParaRPr>
          </a:p>
          <a:p>
            <a:pPr lvl="1"/>
            <a:r>
              <a:rPr lang="en-US" sz="2000" b="0" dirty="0">
                <a:solidFill>
                  <a:srgbClr val="0070C0"/>
                </a:solidFill>
              </a:rPr>
              <a:t>Multipath propagation and fading</a:t>
            </a:r>
          </a:p>
          <a:p>
            <a:pPr marL="0" indent="0">
              <a:buNone/>
            </a:pPr>
            <a:r>
              <a:rPr lang="en-US" sz="1600" dirty="0"/>
              <a:t>	Fading is caused by destructive interference of two or more versions of the transmitted signal arriving at the receiver in different times with different amplitude and phases</a:t>
            </a:r>
          </a:p>
          <a:p>
            <a:pPr lvl="1"/>
            <a:endParaRPr lang="en-US" sz="2000" dirty="0">
              <a:solidFill>
                <a:srgbClr val="FF0000"/>
              </a:solidFill>
            </a:endParaRPr>
          </a:p>
          <a:p>
            <a:pPr lvl="1"/>
            <a:r>
              <a:rPr lang="en-US" sz="2000" b="0" dirty="0">
                <a:solidFill>
                  <a:srgbClr val="0070C0"/>
                </a:solidFill>
              </a:rPr>
              <a:t>Integrated services</a:t>
            </a:r>
          </a:p>
          <a:p>
            <a:pPr lvl="2">
              <a:buFont typeface="Wingdings" panose="05000000000000000000" pitchFamily="2" charset="2"/>
              <a:buChar char="§"/>
            </a:pPr>
            <a:r>
              <a:rPr lang="en-US" sz="1600" dirty="0"/>
              <a:t>Voice, data, </a:t>
            </a:r>
            <a:r>
              <a:rPr lang="en-US" sz="1600" i="1" dirty="0"/>
              <a:t>multimedia</a:t>
            </a:r>
            <a:r>
              <a:rPr lang="en-US" sz="1600" dirty="0"/>
              <a:t> over a single network</a:t>
            </a:r>
          </a:p>
          <a:p>
            <a:endParaRPr lang="en-IN" sz="1600" dirty="0"/>
          </a:p>
          <a:p>
            <a:pPr marL="0" indent="0">
              <a:buNone/>
            </a:pPr>
            <a:endParaRPr lang="en-IN" sz="1600" dirty="0"/>
          </a:p>
        </p:txBody>
      </p:sp>
    </p:spTree>
    <p:extLst>
      <p:ext uri="{BB962C8B-B14F-4D97-AF65-F5344CB8AC3E}">
        <p14:creationId xmlns:p14="http://schemas.microsoft.com/office/powerpoint/2010/main" val="39515697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43585" y="1028700"/>
            <a:ext cx="8765391" cy="582930"/>
          </a:xfrm>
        </p:spPr>
        <p:txBody>
          <a:bodyPr/>
          <a:lstStyle/>
          <a:p>
            <a:r>
              <a:rPr lang="en-US" sz="2000" dirty="0"/>
              <a:t>Challenges of wireless communication system</a:t>
            </a:r>
          </a:p>
        </p:txBody>
      </p:sp>
      <p:sp>
        <p:nvSpPr>
          <p:cNvPr id="3" name="Content Placeholder 2"/>
          <p:cNvSpPr>
            <a:spLocks noGrp="1"/>
          </p:cNvSpPr>
          <p:nvPr>
            <p:ph idx="1"/>
          </p:nvPr>
        </p:nvSpPr>
        <p:spPr/>
        <p:txBody>
          <a:bodyPr/>
          <a:lstStyle/>
          <a:p>
            <a:pPr lvl="1">
              <a:buFont typeface="Wingdings" panose="05000000000000000000" pitchFamily="2" charset="2"/>
              <a:buChar char="§"/>
            </a:pPr>
            <a:r>
              <a:rPr lang="en-US" sz="2000" b="0" dirty="0">
                <a:solidFill>
                  <a:srgbClr val="0070C0"/>
                </a:solidFill>
              </a:rPr>
              <a:t>wireless communication is influenced by </a:t>
            </a:r>
          </a:p>
          <a:p>
            <a:pPr lvl="2">
              <a:buFont typeface="Wingdings" panose="05000000000000000000" pitchFamily="2" charset="2"/>
              <a:buChar char="§"/>
            </a:pPr>
            <a:r>
              <a:rPr lang="en-US" sz="2000" dirty="0"/>
              <a:t>Physical obstructions</a:t>
            </a:r>
          </a:p>
          <a:p>
            <a:pPr lvl="2">
              <a:buFont typeface="Wingdings" panose="05000000000000000000" pitchFamily="2" charset="2"/>
              <a:buChar char="§"/>
            </a:pPr>
            <a:r>
              <a:rPr lang="en-US" sz="2000" dirty="0"/>
              <a:t> climatic conditions</a:t>
            </a:r>
          </a:p>
          <a:p>
            <a:pPr lvl="2">
              <a:buFont typeface="Wingdings" panose="05000000000000000000" pitchFamily="2" charset="2"/>
              <a:buChar char="§"/>
            </a:pPr>
            <a:r>
              <a:rPr lang="en-US" sz="2000" dirty="0"/>
              <a:t> Interference from other wireless devices</a:t>
            </a:r>
          </a:p>
          <a:p>
            <a:pPr marL="457200" indent="-457200">
              <a:buFont typeface="Wingdings" panose="05000000000000000000" pitchFamily="2" charset="2"/>
              <a:buChar char="§"/>
            </a:pPr>
            <a:endParaRPr lang="en-US" sz="2000" dirty="0">
              <a:solidFill>
                <a:srgbClr val="FF0000"/>
              </a:solidFill>
            </a:endParaRPr>
          </a:p>
          <a:p>
            <a:pPr marL="457200" indent="-457200">
              <a:buFont typeface="Wingdings" panose="05000000000000000000" pitchFamily="2" charset="2"/>
              <a:buChar char="§"/>
            </a:pPr>
            <a:r>
              <a:rPr lang="en-US" sz="2000" dirty="0">
                <a:solidFill>
                  <a:srgbClr val="0070C0"/>
                </a:solidFill>
              </a:rPr>
              <a:t>Maintaining quality of service over unreliable links</a:t>
            </a:r>
          </a:p>
          <a:p>
            <a:pPr marL="457200" indent="-457200">
              <a:buFont typeface="Wingdings" panose="05000000000000000000" pitchFamily="2" charset="2"/>
              <a:buChar char="§"/>
            </a:pPr>
            <a:endParaRPr lang="en-US" sz="2000" dirty="0">
              <a:solidFill>
                <a:srgbClr val="FF0000"/>
              </a:solidFill>
            </a:endParaRPr>
          </a:p>
          <a:p>
            <a:pPr marL="0" indent="0">
              <a:buNone/>
            </a:pPr>
            <a:endParaRPr lang="en-IN" dirty="0"/>
          </a:p>
        </p:txBody>
      </p:sp>
    </p:spTree>
    <p:extLst>
      <p:ext uri="{BB962C8B-B14F-4D97-AF65-F5344CB8AC3E}">
        <p14:creationId xmlns:p14="http://schemas.microsoft.com/office/powerpoint/2010/main" val="39579498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US" dirty="0"/>
              <a:t>Wireless communication is the  transmission of  voice and data in free space(atmosphere)</a:t>
            </a:r>
          </a:p>
          <a:p>
            <a:r>
              <a:rPr lang="en-US" dirty="0"/>
              <a:t>Stay connected any where any time, mobility, scalability, wide coverage are some of the advantages of wireless network and hence preferred.</a:t>
            </a:r>
          </a:p>
          <a:p>
            <a:r>
              <a:rPr lang="en-US" dirty="0"/>
              <a:t>Challenges of wireless communication in terms of security of the data transferred, setting up of the infrastructure, efficient use of radio spectrum </a:t>
            </a:r>
            <a:r>
              <a:rPr lang="en-US" dirty="0" err="1"/>
              <a:t>etc</a:t>
            </a:r>
            <a:r>
              <a:rPr lang="en-US" dirty="0"/>
              <a:t> need to be addressed.</a:t>
            </a:r>
          </a:p>
          <a:p>
            <a:pPr marL="0" indent="0">
              <a:buNone/>
            </a:pPr>
            <a:r>
              <a:rPr lang="en-US" dirty="0"/>
              <a:t>.</a:t>
            </a:r>
            <a:endParaRPr lang="en-IN" dirty="0"/>
          </a:p>
          <a:p>
            <a:pPr marL="0" indent="0">
              <a:buNone/>
            </a:pPr>
            <a:endParaRPr lang="en-IN" dirty="0"/>
          </a:p>
          <a:p>
            <a:endParaRPr lang="en-IN" dirty="0"/>
          </a:p>
          <a:p>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Wireless Communication </a:t>
            </a:r>
          </a:p>
          <a:p>
            <a:endParaRPr lang="en-IN" dirty="0"/>
          </a:p>
        </p:txBody>
      </p:sp>
      <p:sp>
        <p:nvSpPr>
          <p:cNvPr id="4" name="Content Placeholder 1"/>
          <p:cNvSpPr txBox="1">
            <a:spLocks/>
          </p:cNvSpPr>
          <p:nvPr/>
        </p:nvSpPr>
        <p:spPr bwMode="auto">
          <a:xfrm>
            <a:off x="77805" y="3646305"/>
            <a:ext cx="5090097" cy="539772"/>
          </a:xfrm>
          <a:prstGeom prst="rect">
            <a:avLst/>
          </a:prstGeom>
          <a:solidFill>
            <a:schemeClr val="accent6">
              <a:lumMod val="40000"/>
              <a:lumOff val="60000"/>
            </a:schemeClr>
          </a:solidFill>
          <a:ln>
            <a:solidFill>
              <a:schemeClr val="tx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fontScale="92500" lnSpcReduction="20000"/>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solidFill>
                  <a:prstClr val="black"/>
                </a:solidFill>
              </a:rPr>
              <a:t>Easily generated, Omni-directionally travel long distances, easily penetrate buildings</a:t>
            </a:r>
          </a:p>
          <a:p>
            <a:endParaRPr lang="en-US" dirty="0">
              <a:solidFill>
                <a:prstClr val="black"/>
              </a:solidFill>
            </a:endParaRPr>
          </a:p>
        </p:txBody>
      </p:sp>
      <p:cxnSp>
        <p:nvCxnSpPr>
          <p:cNvPr id="5" name="Straight Arrow Connector 4"/>
          <p:cNvCxnSpPr/>
          <p:nvPr/>
        </p:nvCxnSpPr>
        <p:spPr>
          <a:xfrm flipV="1">
            <a:off x="4752654" y="3189105"/>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Content Placeholder 1"/>
          <p:cNvSpPr txBox="1">
            <a:spLocks/>
          </p:cNvSpPr>
          <p:nvPr/>
        </p:nvSpPr>
        <p:spPr bwMode="auto">
          <a:xfrm>
            <a:off x="77804" y="4415954"/>
            <a:ext cx="6705600" cy="583951"/>
          </a:xfrm>
          <a:prstGeom prst="rect">
            <a:avLst/>
          </a:prstGeom>
          <a:solidFill>
            <a:schemeClr val="tx2">
              <a:lumMod val="20000"/>
              <a:lumOff val="80000"/>
            </a:schemeClr>
          </a:solidFill>
          <a:ln>
            <a:solidFill>
              <a:schemeClr val="tx1"/>
            </a:solidFill>
          </a:ln>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prstClr val="black"/>
                </a:solidFill>
              </a:rPr>
              <a:t>Used for long distance communication, high SNR, point to point- line of sight</a:t>
            </a:r>
          </a:p>
          <a:p>
            <a:endParaRPr lang="en-US" sz="1800" dirty="0">
              <a:solidFill>
                <a:prstClr val="black"/>
              </a:solidFill>
            </a:endParaRPr>
          </a:p>
        </p:txBody>
      </p:sp>
      <p:cxnSp>
        <p:nvCxnSpPr>
          <p:cNvPr id="7" name="Straight Arrow Connector 6"/>
          <p:cNvCxnSpPr/>
          <p:nvPr/>
        </p:nvCxnSpPr>
        <p:spPr>
          <a:xfrm flipV="1">
            <a:off x="5878530" y="3189105"/>
            <a:ext cx="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Content Placeholder 1"/>
          <p:cNvSpPr txBox="1">
            <a:spLocks/>
          </p:cNvSpPr>
          <p:nvPr/>
        </p:nvSpPr>
        <p:spPr bwMode="auto">
          <a:xfrm>
            <a:off x="1399854" y="5176277"/>
            <a:ext cx="6705600" cy="760324"/>
          </a:xfrm>
          <a:prstGeom prst="rect">
            <a:avLst/>
          </a:prstGeom>
          <a:solidFill>
            <a:schemeClr val="accent3">
              <a:lumMod val="60000"/>
              <a:lumOff val="40000"/>
            </a:schemeClr>
          </a:solidFill>
          <a:ln>
            <a:solidFill>
              <a:schemeClr val="tx1"/>
            </a:solidFill>
          </a:ln>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prstClr val="black"/>
                </a:solidFill>
              </a:rPr>
              <a:t>Short range communication, unable to pass through solid objects</a:t>
            </a:r>
          </a:p>
          <a:p>
            <a:endParaRPr lang="en-US" dirty="0">
              <a:solidFill>
                <a:prstClr val="black"/>
              </a:solidFill>
            </a:endParaRPr>
          </a:p>
        </p:txBody>
      </p:sp>
      <p:cxnSp>
        <p:nvCxnSpPr>
          <p:cNvPr id="9" name="Straight Arrow Connector 8"/>
          <p:cNvCxnSpPr/>
          <p:nvPr/>
        </p:nvCxnSpPr>
        <p:spPr>
          <a:xfrm flipV="1">
            <a:off x="7097730" y="3189105"/>
            <a:ext cx="0" cy="19795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 name="Picture 2" descr="http://ecomputernotes.com/images/Types-of-Transmission-Media.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0544" y="1564535"/>
            <a:ext cx="6895753" cy="1624571"/>
          </a:xfrm>
          <a:prstGeom prst="rect">
            <a:avLst/>
          </a:prstGeom>
          <a:solidFill>
            <a:schemeClr val="accent6">
              <a:lumMod val="40000"/>
              <a:lumOff val="60000"/>
            </a:schemeClr>
          </a:solidFill>
        </p:spPr>
      </p:pic>
    </p:spTree>
    <p:extLst>
      <p:ext uri="{BB962C8B-B14F-4D97-AF65-F5344CB8AC3E}">
        <p14:creationId xmlns:p14="http://schemas.microsoft.com/office/powerpoint/2010/main" val="370683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42"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42"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Types of wireless communication</a:t>
            </a:r>
          </a:p>
          <a:p>
            <a:endParaRPr lang="en-IN" dirty="0"/>
          </a:p>
        </p:txBody>
      </p:sp>
      <p:sp>
        <p:nvSpPr>
          <p:cNvPr id="5" name="Text Box 1029"/>
          <p:cNvSpPr txBox="1">
            <a:spLocks noChangeArrowheads="1"/>
          </p:cNvSpPr>
          <p:nvPr/>
        </p:nvSpPr>
        <p:spPr bwMode="auto">
          <a:xfrm>
            <a:off x="1065944" y="4723145"/>
            <a:ext cx="1219200" cy="400110"/>
          </a:xfrm>
          <a:prstGeom prst="rect">
            <a:avLst/>
          </a:prstGeom>
          <a:noFill/>
          <a:ln w="9525">
            <a:noFill/>
            <a:miter lim="800000"/>
            <a:headEnd/>
            <a:tailEnd/>
          </a:ln>
          <a:effectLst/>
        </p:spPr>
        <p:txBody>
          <a:bodyPr wrap="square">
            <a:spAutoFit/>
          </a:bodyPr>
          <a:lstStyle/>
          <a:p>
            <a:pPr algn="l" rtl="0">
              <a:spcBef>
                <a:spcPct val="50000"/>
              </a:spcBef>
            </a:pPr>
            <a:r>
              <a:rPr lang="en-US" sz="2000" b="1" kern="1200" dirty="0">
                <a:solidFill>
                  <a:prstClr val="black"/>
                </a:solidFill>
                <a:latin typeface="Calibri"/>
                <a:ea typeface="+mn-ea"/>
                <a:cs typeface="+mn-cs"/>
              </a:rPr>
              <a:t>cellular</a:t>
            </a:r>
          </a:p>
        </p:txBody>
      </p:sp>
      <p:sp>
        <p:nvSpPr>
          <p:cNvPr id="6" name="Text Box 1031"/>
          <p:cNvSpPr txBox="1">
            <a:spLocks noChangeArrowheads="1"/>
          </p:cNvSpPr>
          <p:nvPr/>
        </p:nvSpPr>
        <p:spPr bwMode="auto">
          <a:xfrm>
            <a:off x="3020602" y="4608904"/>
            <a:ext cx="2667000" cy="646331"/>
          </a:xfrm>
          <a:prstGeom prst="rect">
            <a:avLst/>
          </a:prstGeom>
          <a:noFill/>
          <a:ln w="9525">
            <a:noFill/>
            <a:miter lim="800000"/>
            <a:headEnd/>
            <a:tailEnd/>
          </a:ln>
          <a:effectLst/>
        </p:spPr>
        <p:txBody>
          <a:bodyPr>
            <a:spAutoFit/>
          </a:bodyPr>
          <a:lstStyle/>
          <a:p>
            <a:pPr algn="l" rtl="0">
              <a:spcBef>
                <a:spcPct val="50000"/>
              </a:spcBef>
            </a:pPr>
            <a:r>
              <a:rPr lang="en-US" b="1" kern="1200" dirty="0">
                <a:solidFill>
                  <a:prstClr val="black"/>
                </a:solidFill>
                <a:latin typeface="Calibri"/>
                <a:ea typeface="+mn-ea"/>
                <a:cs typeface="+mn-cs"/>
              </a:rPr>
              <a:t>wireless computer network</a:t>
            </a:r>
          </a:p>
        </p:txBody>
      </p:sp>
      <p:sp>
        <p:nvSpPr>
          <p:cNvPr id="7" name="Text Box 1032"/>
          <p:cNvSpPr txBox="1">
            <a:spLocks noChangeArrowheads="1"/>
          </p:cNvSpPr>
          <p:nvPr/>
        </p:nvSpPr>
        <p:spPr bwMode="auto">
          <a:xfrm>
            <a:off x="5389652" y="4608903"/>
            <a:ext cx="1752600" cy="369332"/>
          </a:xfrm>
          <a:prstGeom prst="rect">
            <a:avLst/>
          </a:prstGeom>
          <a:noFill/>
          <a:ln w="9525">
            <a:noFill/>
            <a:miter lim="800000"/>
            <a:headEnd/>
            <a:tailEnd/>
          </a:ln>
          <a:effectLst/>
        </p:spPr>
        <p:txBody>
          <a:bodyPr wrap="square">
            <a:spAutoFit/>
          </a:bodyPr>
          <a:lstStyle/>
          <a:p>
            <a:pPr algn="l" rtl="0">
              <a:spcBef>
                <a:spcPct val="50000"/>
              </a:spcBef>
            </a:pPr>
            <a:r>
              <a:rPr lang="en-US" b="1" kern="1200" dirty="0">
                <a:solidFill>
                  <a:prstClr val="black"/>
                </a:solidFill>
                <a:latin typeface="Calibri"/>
                <a:ea typeface="+mn-ea"/>
                <a:cs typeface="+mn-cs"/>
              </a:rPr>
              <a:t>radio service</a:t>
            </a:r>
          </a:p>
        </p:txBody>
      </p:sp>
      <p:sp>
        <p:nvSpPr>
          <p:cNvPr id="8" name="Text Box 1029"/>
          <p:cNvSpPr txBox="1">
            <a:spLocks noChangeArrowheads="1"/>
          </p:cNvSpPr>
          <p:nvPr/>
        </p:nvSpPr>
        <p:spPr bwMode="auto">
          <a:xfrm>
            <a:off x="1065944" y="4723145"/>
            <a:ext cx="1219200" cy="400110"/>
          </a:xfrm>
          <a:prstGeom prst="rect">
            <a:avLst/>
          </a:prstGeom>
          <a:noFill/>
          <a:ln w="9525">
            <a:noFill/>
            <a:miter lim="800000"/>
            <a:headEnd/>
            <a:tailEnd/>
          </a:ln>
          <a:effectLst/>
        </p:spPr>
        <p:txBody>
          <a:bodyPr wrap="square">
            <a:spAutoFit/>
          </a:bodyPr>
          <a:lstStyle/>
          <a:p>
            <a:pPr algn="l" rtl="0">
              <a:spcBef>
                <a:spcPct val="50000"/>
              </a:spcBef>
            </a:pPr>
            <a:r>
              <a:rPr lang="en-US" sz="2000" b="1" kern="1200" dirty="0">
                <a:solidFill>
                  <a:prstClr val="black"/>
                </a:solidFill>
                <a:latin typeface="Calibri"/>
                <a:ea typeface="+mn-ea"/>
                <a:cs typeface="+mn-cs"/>
              </a:rPr>
              <a:t>cellular</a:t>
            </a:r>
          </a:p>
        </p:txBody>
      </p:sp>
      <p:sp>
        <p:nvSpPr>
          <p:cNvPr id="9" name="Text Box 1031"/>
          <p:cNvSpPr txBox="1">
            <a:spLocks noChangeArrowheads="1"/>
          </p:cNvSpPr>
          <p:nvPr/>
        </p:nvSpPr>
        <p:spPr bwMode="auto">
          <a:xfrm>
            <a:off x="3020602" y="4608904"/>
            <a:ext cx="2667000" cy="646331"/>
          </a:xfrm>
          <a:prstGeom prst="rect">
            <a:avLst/>
          </a:prstGeom>
          <a:noFill/>
          <a:ln w="9525">
            <a:noFill/>
            <a:miter lim="800000"/>
            <a:headEnd/>
            <a:tailEnd/>
          </a:ln>
          <a:effectLst/>
        </p:spPr>
        <p:txBody>
          <a:bodyPr>
            <a:spAutoFit/>
          </a:bodyPr>
          <a:lstStyle/>
          <a:p>
            <a:pPr algn="l" rtl="0">
              <a:spcBef>
                <a:spcPct val="50000"/>
              </a:spcBef>
            </a:pPr>
            <a:r>
              <a:rPr lang="en-US" b="1" kern="1200" dirty="0">
                <a:solidFill>
                  <a:prstClr val="black"/>
                </a:solidFill>
                <a:latin typeface="Calibri"/>
                <a:ea typeface="+mn-ea"/>
                <a:cs typeface="+mn-cs"/>
              </a:rPr>
              <a:t>wireless computer network</a:t>
            </a:r>
          </a:p>
        </p:txBody>
      </p:sp>
      <p:sp>
        <p:nvSpPr>
          <p:cNvPr id="10" name="Text Box 1032"/>
          <p:cNvSpPr txBox="1">
            <a:spLocks noChangeArrowheads="1"/>
          </p:cNvSpPr>
          <p:nvPr/>
        </p:nvSpPr>
        <p:spPr bwMode="auto">
          <a:xfrm>
            <a:off x="5389652" y="4608903"/>
            <a:ext cx="1752600" cy="369332"/>
          </a:xfrm>
          <a:prstGeom prst="rect">
            <a:avLst/>
          </a:prstGeom>
          <a:noFill/>
          <a:ln w="9525">
            <a:noFill/>
            <a:miter lim="800000"/>
            <a:headEnd/>
            <a:tailEnd/>
          </a:ln>
          <a:effectLst/>
        </p:spPr>
        <p:txBody>
          <a:bodyPr wrap="square">
            <a:spAutoFit/>
          </a:bodyPr>
          <a:lstStyle/>
          <a:p>
            <a:pPr algn="l" rtl="0">
              <a:spcBef>
                <a:spcPct val="50000"/>
              </a:spcBef>
            </a:pPr>
            <a:r>
              <a:rPr lang="en-US" b="1" kern="1200" dirty="0">
                <a:solidFill>
                  <a:prstClr val="black"/>
                </a:solidFill>
                <a:latin typeface="Calibri"/>
                <a:ea typeface="+mn-ea"/>
                <a:cs typeface="+mn-cs"/>
              </a:rPr>
              <a:t>radio service</a:t>
            </a:r>
          </a:p>
        </p:txBody>
      </p:sp>
      <p:sp>
        <p:nvSpPr>
          <p:cNvPr id="11" name="Text Box 2"/>
          <p:cNvSpPr txBox="1">
            <a:spLocks noChangeArrowheads="1"/>
          </p:cNvSpPr>
          <p:nvPr/>
        </p:nvSpPr>
        <p:spPr bwMode="auto">
          <a:xfrm>
            <a:off x="3020603" y="2037628"/>
            <a:ext cx="1970405" cy="567055"/>
          </a:xfrm>
          <a:prstGeom prst="rect">
            <a:avLst/>
          </a:prstGeom>
          <a:solidFill>
            <a:srgbClr val="FFC000"/>
          </a:solidFill>
          <a:ln w="9525">
            <a:solidFill>
              <a:srgbClr val="000000"/>
            </a:solidFill>
            <a:miter lim="800000"/>
            <a:headEnd/>
            <a:tailEnd/>
          </a:ln>
        </p:spPr>
        <p:txBody>
          <a:bodyPr rot="0" vert="horz" wrap="square" lIns="91440" tIns="45720" rIns="91440" bIns="45720" anchor="t" anchorCtr="0">
            <a:noAutofit/>
          </a:bodyPr>
          <a:lstStyle/>
          <a:p>
            <a:pPr algn="l" rtl="0">
              <a:lnSpc>
                <a:spcPct val="107000"/>
              </a:lnSpc>
              <a:spcAft>
                <a:spcPts val="800"/>
              </a:spcAft>
            </a:pPr>
            <a:r>
              <a:rPr lang="en-IN" sz="1200" kern="1200" dirty="0">
                <a:solidFill>
                  <a:prstClr val="black"/>
                </a:solidFill>
                <a:latin typeface="Arial" panose="020B0604020202020204" pitchFamily="34" charset="0"/>
                <a:ea typeface="Calibri" panose="020F0502020204030204" pitchFamily="34" charset="0"/>
                <a:cs typeface="Arial" panose="020B0604020202020204" pitchFamily="34" charset="0"/>
              </a:rPr>
              <a:t>Wireless communication</a:t>
            </a:r>
          </a:p>
        </p:txBody>
      </p:sp>
      <p:sp>
        <p:nvSpPr>
          <p:cNvPr id="12" name="Text Box 2"/>
          <p:cNvSpPr txBox="1">
            <a:spLocks noChangeArrowheads="1"/>
          </p:cNvSpPr>
          <p:nvPr/>
        </p:nvSpPr>
        <p:spPr bwMode="auto">
          <a:xfrm>
            <a:off x="1001303" y="3656877"/>
            <a:ext cx="1457325" cy="438150"/>
          </a:xfrm>
          <a:prstGeom prst="rect">
            <a:avLst/>
          </a:prstGeom>
          <a:solidFill>
            <a:srgbClr val="FFC000"/>
          </a:solidFill>
          <a:ln w="9525">
            <a:solidFill>
              <a:srgbClr val="000000"/>
            </a:solidFill>
            <a:miter lim="800000"/>
            <a:headEnd/>
            <a:tailEnd/>
          </a:ln>
        </p:spPr>
        <p:txBody>
          <a:bodyPr rot="0" vert="horz" wrap="square" lIns="91440" tIns="45720" rIns="91440" bIns="45720" anchor="t" anchorCtr="0">
            <a:noAutofit/>
          </a:bodyPr>
          <a:lstStyle/>
          <a:p>
            <a:pPr algn="l" rtl="0">
              <a:lnSpc>
                <a:spcPct val="107000"/>
              </a:lnSpc>
              <a:spcAft>
                <a:spcPts val="800"/>
              </a:spcAft>
            </a:pPr>
            <a:r>
              <a:rPr lang="en-IN" sz="1200" kern="1200" dirty="0">
                <a:solidFill>
                  <a:prstClr val="black"/>
                </a:solidFill>
                <a:latin typeface="Arial" panose="020B0604020202020204" pitchFamily="34" charset="0"/>
                <a:ea typeface="Calibri" panose="020F0502020204030204" pitchFamily="34" charset="0"/>
                <a:cs typeface="Arial" panose="020B0604020202020204" pitchFamily="34" charset="0"/>
              </a:rPr>
              <a:t>Point to Point communication</a:t>
            </a:r>
          </a:p>
        </p:txBody>
      </p:sp>
      <p:sp>
        <p:nvSpPr>
          <p:cNvPr id="13" name="Text Box 2"/>
          <p:cNvSpPr txBox="1">
            <a:spLocks noChangeArrowheads="1"/>
          </p:cNvSpPr>
          <p:nvPr/>
        </p:nvSpPr>
        <p:spPr bwMode="auto">
          <a:xfrm>
            <a:off x="3105057" y="3714027"/>
            <a:ext cx="1885950" cy="461806"/>
          </a:xfrm>
          <a:prstGeom prst="rect">
            <a:avLst/>
          </a:prstGeom>
          <a:solidFill>
            <a:srgbClr val="FFC000"/>
          </a:solidFill>
          <a:ln w="9525">
            <a:solidFill>
              <a:srgbClr val="000000"/>
            </a:solidFill>
            <a:miter lim="800000"/>
            <a:headEnd/>
            <a:tailEnd/>
          </a:ln>
        </p:spPr>
        <p:txBody>
          <a:bodyPr rot="0" vert="horz" wrap="square" lIns="91440" tIns="45720" rIns="91440" bIns="45720" anchor="t" anchorCtr="0">
            <a:noAutofit/>
          </a:bodyPr>
          <a:lstStyle/>
          <a:p>
            <a:pPr algn="l" rtl="0">
              <a:lnSpc>
                <a:spcPct val="107000"/>
              </a:lnSpc>
              <a:spcAft>
                <a:spcPts val="800"/>
              </a:spcAft>
            </a:pPr>
            <a:r>
              <a:rPr lang="en-IN" sz="1200" kern="1200" dirty="0">
                <a:solidFill>
                  <a:prstClr val="black"/>
                </a:solidFill>
                <a:latin typeface="Arial" panose="020B0604020202020204" pitchFamily="34" charset="0"/>
                <a:ea typeface="Calibri" panose="020F0502020204030204" pitchFamily="34" charset="0"/>
                <a:cs typeface="Arial" panose="020B0604020202020204" pitchFamily="34" charset="0"/>
              </a:rPr>
              <a:t>Multipoint Communication</a:t>
            </a:r>
          </a:p>
        </p:txBody>
      </p:sp>
      <p:sp>
        <p:nvSpPr>
          <p:cNvPr id="14" name="Text Box 2"/>
          <p:cNvSpPr txBox="1">
            <a:spLocks noChangeArrowheads="1"/>
          </p:cNvSpPr>
          <p:nvPr/>
        </p:nvSpPr>
        <p:spPr bwMode="auto">
          <a:xfrm>
            <a:off x="5544727" y="3714027"/>
            <a:ext cx="1752600" cy="461806"/>
          </a:xfrm>
          <a:prstGeom prst="rect">
            <a:avLst/>
          </a:prstGeom>
          <a:solidFill>
            <a:srgbClr val="FFC000"/>
          </a:solidFill>
          <a:ln w="9525">
            <a:solidFill>
              <a:srgbClr val="000000"/>
            </a:solidFill>
            <a:miter lim="800000"/>
            <a:headEnd/>
            <a:tailEnd/>
          </a:ln>
        </p:spPr>
        <p:txBody>
          <a:bodyPr rot="0" vert="horz" wrap="square" lIns="91440" tIns="45720" rIns="91440" bIns="45720" anchor="t" anchorCtr="0">
            <a:noAutofit/>
          </a:bodyPr>
          <a:lstStyle/>
          <a:p>
            <a:pPr algn="l" rtl="0">
              <a:lnSpc>
                <a:spcPct val="107000"/>
              </a:lnSpc>
              <a:spcAft>
                <a:spcPts val="800"/>
              </a:spcAft>
            </a:pPr>
            <a:r>
              <a:rPr lang="en-US" sz="1200" kern="1200" dirty="0">
                <a:solidFill>
                  <a:prstClr val="black"/>
                </a:solidFill>
                <a:latin typeface="Arial" panose="020B0604020202020204" pitchFamily="34" charset="0"/>
                <a:ea typeface="Calibri" panose="020F0502020204030204" pitchFamily="34" charset="0"/>
                <a:cs typeface="Arial" panose="020B0604020202020204" pitchFamily="34" charset="0"/>
              </a:rPr>
              <a:t>Broadcast communication</a:t>
            </a:r>
            <a:endParaRPr lang="en-IN" sz="1200" kern="12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cxnSp>
        <p:nvCxnSpPr>
          <p:cNvPr id="15" name="Straight Connector 14"/>
          <p:cNvCxnSpPr/>
          <p:nvPr/>
        </p:nvCxnSpPr>
        <p:spPr>
          <a:xfrm>
            <a:off x="3811177" y="2618653"/>
            <a:ext cx="0" cy="352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543593" y="3009178"/>
            <a:ext cx="4905375" cy="28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525177" y="3018703"/>
            <a:ext cx="19050" cy="638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421027" y="3057438"/>
            <a:ext cx="19050" cy="638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830227" y="3057438"/>
            <a:ext cx="19050" cy="638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07550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Wireless Systems: Range</a:t>
            </a:r>
          </a:p>
          <a:p>
            <a:endParaRPr lang="en-IN" dirty="0"/>
          </a:p>
        </p:txBody>
      </p:sp>
      <p:cxnSp>
        <p:nvCxnSpPr>
          <p:cNvPr id="5" name="Straight Connector 4"/>
          <p:cNvCxnSpPr/>
          <p:nvPr/>
        </p:nvCxnSpPr>
        <p:spPr>
          <a:xfrm flipV="1">
            <a:off x="1520456" y="2292645"/>
            <a:ext cx="5645888" cy="63796"/>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77927" y="1888609"/>
            <a:ext cx="5635255" cy="307777"/>
          </a:xfrm>
          <a:prstGeom prst="rect">
            <a:avLst/>
          </a:prstGeom>
          <a:noFill/>
        </p:spPr>
        <p:txBody>
          <a:bodyPr wrap="square" rtlCol="0">
            <a:spAutoFit/>
          </a:bodyPr>
          <a:lstStyle/>
          <a:p>
            <a:pPr algn="l" rtl="0"/>
            <a:r>
              <a:rPr lang="en-US" sz="1400" kern="1200" dirty="0">
                <a:solidFill>
                  <a:prstClr val="black"/>
                </a:solidFill>
                <a:latin typeface="Arial" panose="020B0604020202020204" pitchFamily="34" charset="0"/>
                <a:ea typeface="+mn-ea"/>
                <a:cs typeface="Arial" panose="020B0604020202020204" pitchFamily="34" charset="0"/>
              </a:rPr>
              <a:t>1m  10m    100m    1Km      10Km     100Km            1000Km</a:t>
            </a:r>
            <a:endParaRPr lang="en-IN" sz="1400" kern="1200" dirty="0">
              <a:solidFill>
                <a:prstClr val="black"/>
              </a:solidFill>
              <a:latin typeface="Arial" panose="020B0604020202020204" pitchFamily="34" charset="0"/>
              <a:ea typeface="+mn-ea"/>
              <a:cs typeface="Arial" panose="020B0604020202020204" pitchFamily="34" charset="0"/>
            </a:endParaRPr>
          </a:p>
        </p:txBody>
      </p:sp>
      <p:sp>
        <p:nvSpPr>
          <p:cNvPr id="7" name="Oval 6"/>
          <p:cNvSpPr/>
          <p:nvPr/>
        </p:nvSpPr>
        <p:spPr>
          <a:xfrm>
            <a:off x="1626781" y="2781743"/>
            <a:ext cx="4710224" cy="1254642"/>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8" name="Oval 7"/>
          <p:cNvSpPr/>
          <p:nvPr/>
        </p:nvSpPr>
        <p:spPr>
          <a:xfrm>
            <a:off x="1648048" y="2872543"/>
            <a:ext cx="3838353" cy="1040445"/>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9" name="Oval 8"/>
          <p:cNvSpPr/>
          <p:nvPr/>
        </p:nvSpPr>
        <p:spPr>
          <a:xfrm>
            <a:off x="1626781" y="3036925"/>
            <a:ext cx="3423684" cy="71600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0" name="Oval 9"/>
          <p:cNvSpPr/>
          <p:nvPr/>
        </p:nvSpPr>
        <p:spPr>
          <a:xfrm>
            <a:off x="1648048" y="3155996"/>
            <a:ext cx="2232837" cy="5082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1" name="Oval 10"/>
          <p:cNvSpPr/>
          <p:nvPr/>
        </p:nvSpPr>
        <p:spPr>
          <a:xfrm>
            <a:off x="1648047" y="3260209"/>
            <a:ext cx="1690576" cy="308343"/>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2" name="Oval 11"/>
          <p:cNvSpPr/>
          <p:nvPr/>
        </p:nvSpPr>
        <p:spPr>
          <a:xfrm>
            <a:off x="1648048" y="3345270"/>
            <a:ext cx="754911" cy="121151"/>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cxnSp>
        <p:nvCxnSpPr>
          <p:cNvPr id="13" name="Straight Arrow Connector 12"/>
          <p:cNvCxnSpPr>
            <a:stCxn id="12" idx="1"/>
          </p:cNvCxnSpPr>
          <p:nvPr/>
        </p:nvCxnSpPr>
        <p:spPr>
          <a:xfrm>
            <a:off x="1758602" y="3363011"/>
            <a:ext cx="4885" cy="673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251858" y="4057651"/>
            <a:ext cx="1151101" cy="276999"/>
          </a:xfrm>
          <a:prstGeom prst="rect">
            <a:avLst/>
          </a:prstGeom>
          <a:noFill/>
        </p:spPr>
        <p:txBody>
          <a:bodyPr wrap="square" rtlCol="0">
            <a:spAutoFit/>
          </a:bodyPr>
          <a:lstStyle/>
          <a:p>
            <a:pPr algn="l" rtl="0"/>
            <a:r>
              <a:rPr lang="en-US" sz="1200" kern="1200" dirty="0">
                <a:solidFill>
                  <a:prstClr val="black"/>
                </a:solidFill>
                <a:latin typeface="Arial" panose="020B0604020202020204" pitchFamily="34" charset="0"/>
                <a:ea typeface="+mn-ea"/>
                <a:cs typeface="Arial" panose="020B0604020202020204" pitchFamily="34" charset="0"/>
              </a:rPr>
              <a:t>Bluetooth</a:t>
            </a:r>
            <a:endParaRPr lang="en-IN" sz="1200" kern="1200" dirty="0">
              <a:solidFill>
                <a:prstClr val="black"/>
              </a:solidFill>
              <a:latin typeface="Arial" panose="020B0604020202020204" pitchFamily="34" charset="0"/>
              <a:ea typeface="+mn-ea"/>
              <a:cs typeface="Arial" panose="020B0604020202020204" pitchFamily="34" charset="0"/>
            </a:endParaRPr>
          </a:p>
        </p:txBody>
      </p:sp>
      <p:cxnSp>
        <p:nvCxnSpPr>
          <p:cNvPr id="15" name="Straight Arrow Connector 14"/>
          <p:cNvCxnSpPr/>
          <p:nvPr/>
        </p:nvCxnSpPr>
        <p:spPr>
          <a:xfrm>
            <a:off x="2493335" y="3405844"/>
            <a:ext cx="0" cy="907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827408" y="4320521"/>
            <a:ext cx="1151101" cy="276999"/>
          </a:xfrm>
          <a:prstGeom prst="rect">
            <a:avLst/>
          </a:prstGeom>
          <a:noFill/>
        </p:spPr>
        <p:txBody>
          <a:bodyPr wrap="square" rtlCol="0">
            <a:spAutoFit/>
          </a:bodyPr>
          <a:lstStyle/>
          <a:p>
            <a:pPr algn="l" rtl="0"/>
            <a:r>
              <a:rPr lang="en-US" sz="1200" kern="1200" dirty="0">
                <a:solidFill>
                  <a:prstClr val="black"/>
                </a:solidFill>
                <a:latin typeface="Arial" panose="020B0604020202020204" pitchFamily="34" charset="0"/>
                <a:ea typeface="+mn-ea"/>
                <a:cs typeface="Arial" panose="020B0604020202020204" pitchFamily="34" charset="0"/>
              </a:rPr>
              <a:t>WLAN</a:t>
            </a:r>
            <a:endParaRPr lang="en-IN" sz="1200" kern="1200" dirty="0">
              <a:solidFill>
                <a:prstClr val="black"/>
              </a:solidFill>
              <a:latin typeface="Arial" panose="020B0604020202020204" pitchFamily="34" charset="0"/>
              <a:ea typeface="+mn-ea"/>
              <a:cs typeface="Arial" panose="020B0604020202020204" pitchFamily="34" charset="0"/>
            </a:endParaRPr>
          </a:p>
        </p:txBody>
      </p:sp>
      <p:cxnSp>
        <p:nvCxnSpPr>
          <p:cNvPr id="17" name="Straight Arrow Connector 16"/>
          <p:cNvCxnSpPr/>
          <p:nvPr/>
        </p:nvCxnSpPr>
        <p:spPr>
          <a:xfrm flipH="1">
            <a:off x="3514425" y="3405845"/>
            <a:ext cx="52799" cy="1451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763072" y="4830056"/>
            <a:ext cx="1504128" cy="276999"/>
          </a:xfrm>
          <a:prstGeom prst="rect">
            <a:avLst/>
          </a:prstGeom>
          <a:noFill/>
        </p:spPr>
        <p:txBody>
          <a:bodyPr wrap="square" rtlCol="0">
            <a:spAutoFit/>
          </a:bodyPr>
          <a:lstStyle/>
          <a:p>
            <a:pPr algn="l" rtl="0"/>
            <a:r>
              <a:rPr lang="en-US" sz="1200" kern="1200" dirty="0">
                <a:solidFill>
                  <a:prstClr val="black"/>
                </a:solidFill>
                <a:latin typeface="Arial" panose="020B0604020202020204" pitchFamily="34" charset="0"/>
                <a:ea typeface="+mn-ea"/>
                <a:cs typeface="Arial" panose="020B0604020202020204" pitchFamily="34" charset="0"/>
              </a:rPr>
              <a:t>Mobile telephony</a:t>
            </a:r>
            <a:endParaRPr lang="en-IN" sz="1200" kern="1200" dirty="0">
              <a:solidFill>
                <a:prstClr val="black"/>
              </a:solidFill>
              <a:latin typeface="Arial" panose="020B0604020202020204" pitchFamily="34" charset="0"/>
              <a:ea typeface="+mn-ea"/>
              <a:cs typeface="Arial" panose="020B0604020202020204" pitchFamily="34" charset="0"/>
            </a:endParaRPr>
          </a:p>
        </p:txBody>
      </p:sp>
      <p:cxnSp>
        <p:nvCxnSpPr>
          <p:cNvPr id="19" name="Straight Arrow Connector 18"/>
          <p:cNvCxnSpPr/>
          <p:nvPr/>
        </p:nvCxnSpPr>
        <p:spPr>
          <a:xfrm>
            <a:off x="4615544" y="3363012"/>
            <a:ext cx="21771" cy="1674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174926" y="5048817"/>
            <a:ext cx="1151101" cy="276999"/>
          </a:xfrm>
          <a:prstGeom prst="rect">
            <a:avLst/>
          </a:prstGeom>
          <a:noFill/>
        </p:spPr>
        <p:txBody>
          <a:bodyPr wrap="square" rtlCol="0">
            <a:spAutoFit/>
          </a:bodyPr>
          <a:lstStyle/>
          <a:p>
            <a:pPr algn="l" rtl="0"/>
            <a:r>
              <a:rPr lang="en-US" sz="1200" kern="1200" dirty="0">
                <a:solidFill>
                  <a:prstClr val="black"/>
                </a:solidFill>
                <a:latin typeface="Arial" panose="020B0604020202020204" pitchFamily="34" charset="0"/>
                <a:ea typeface="+mn-ea"/>
                <a:cs typeface="Arial" panose="020B0604020202020204" pitchFamily="34" charset="0"/>
              </a:rPr>
              <a:t>MW Radio</a:t>
            </a:r>
            <a:endParaRPr lang="en-IN" sz="1200" kern="1200" dirty="0">
              <a:solidFill>
                <a:prstClr val="black"/>
              </a:solidFill>
              <a:latin typeface="Arial" panose="020B0604020202020204" pitchFamily="34" charset="0"/>
              <a:ea typeface="+mn-ea"/>
              <a:cs typeface="Arial" panose="020B0604020202020204" pitchFamily="34" charset="0"/>
            </a:endParaRPr>
          </a:p>
        </p:txBody>
      </p:sp>
      <p:cxnSp>
        <p:nvCxnSpPr>
          <p:cNvPr id="21" name="Straight Arrow Connector 20"/>
          <p:cNvCxnSpPr/>
          <p:nvPr/>
        </p:nvCxnSpPr>
        <p:spPr>
          <a:xfrm flipH="1">
            <a:off x="5214258" y="3466420"/>
            <a:ext cx="43543" cy="1897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677333" y="5331299"/>
            <a:ext cx="1151101" cy="276999"/>
          </a:xfrm>
          <a:prstGeom prst="rect">
            <a:avLst/>
          </a:prstGeom>
          <a:noFill/>
        </p:spPr>
        <p:txBody>
          <a:bodyPr wrap="square" rtlCol="0">
            <a:spAutoFit/>
          </a:bodyPr>
          <a:lstStyle/>
          <a:p>
            <a:pPr algn="l" rtl="0"/>
            <a:r>
              <a:rPr lang="en-US" sz="1200" kern="1200" dirty="0">
                <a:solidFill>
                  <a:prstClr val="black"/>
                </a:solidFill>
                <a:latin typeface="Arial" panose="020B0604020202020204" pitchFamily="34" charset="0"/>
                <a:ea typeface="+mn-ea"/>
                <a:cs typeface="Arial" panose="020B0604020202020204" pitchFamily="34" charset="0"/>
              </a:rPr>
              <a:t>SW Radio</a:t>
            </a:r>
            <a:endParaRPr lang="en-IN" sz="1200" kern="1200" dirty="0">
              <a:solidFill>
                <a:prstClr val="black"/>
              </a:solidFill>
              <a:latin typeface="Arial" panose="020B0604020202020204" pitchFamily="34" charset="0"/>
              <a:ea typeface="+mn-ea"/>
              <a:cs typeface="Arial" panose="020B0604020202020204" pitchFamily="34" charset="0"/>
            </a:endParaRPr>
          </a:p>
        </p:txBody>
      </p:sp>
      <p:cxnSp>
        <p:nvCxnSpPr>
          <p:cNvPr id="23" name="Straight Arrow Connector 22"/>
          <p:cNvCxnSpPr/>
          <p:nvPr/>
        </p:nvCxnSpPr>
        <p:spPr>
          <a:xfrm flipH="1">
            <a:off x="6096001" y="3363012"/>
            <a:ext cx="32657" cy="2181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489313" y="5616734"/>
            <a:ext cx="1151101" cy="276999"/>
          </a:xfrm>
          <a:prstGeom prst="rect">
            <a:avLst/>
          </a:prstGeom>
          <a:noFill/>
        </p:spPr>
        <p:txBody>
          <a:bodyPr wrap="square" rtlCol="0">
            <a:spAutoFit/>
          </a:bodyPr>
          <a:lstStyle/>
          <a:p>
            <a:pPr algn="l" rtl="0"/>
            <a:r>
              <a:rPr lang="en-US" sz="1200" kern="1200" dirty="0">
                <a:solidFill>
                  <a:prstClr val="black"/>
                </a:solidFill>
                <a:latin typeface="Arial" panose="020B0604020202020204" pitchFamily="34" charset="0"/>
                <a:ea typeface="+mn-ea"/>
                <a:cs typeface="Arial" panose="020B0604020202020204" pitchFamily="34" charset="0"/>
              </a:rPr>
              <a:t>Satellite Links</a:t>
            </a:r>
            <a:endParaRPr lang="en-IN" sz="1200" kern="12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432621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altLang="zh-TW" dirty="0"/>
          </a:p>
          <a:p>
            <a:r>
              <a:rPr lang="en-US" altLang="zh-TW" dirty="0"/>
              <a:t>Example of Mobile Radio Systems</a:t>
            </a:r>
            <a:endParaRPr lang="en-US" dirty="0"/>
          </a:p>
          <a:p>
            <a:endParaRPr lang="en-IN" dirty="0"/>
          </a:p>
        </p:txBody>
      </p:sp>
      <p:sp>
        <p:nvSpPr>
          <p:cNvPr id="4" name="Content Placeholder 1"/>
          <p:cNvSpPr txBox="1">
            <a:spLocks/>
          </p:cNvSpPr>
          <p:nvPr/>
        </p:nvSpPr>
        <p:spPr bwMode="auto">
          <a:xfrm>
            <a:off x="106808" y="1755387"/>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zh-TW" b="1" dirty="0">
                <a:solidFill>
                  <a:srgbClr val="0070C0"/>
                </a:solidFill>
                <a:ea typeface="新細明體" panose="02020500000000000000" pitchFamily="18" charset="-120"/>
              </a:rPr>
              <a:t>Examples</a:t>
            </a:r>
          </a:p>
          <a:p>
            <a:pPr lvl="1"/>
            <a:r>
              <a:rPr lang="en-US" altLang="zh-TW" sz="1800" dirty="0">
                <a:solidFill>
                  <a:srgbClr val="0070C0"/>
                </a:solidFill>
                <a:ea typeface="新細明體" panose="02020500000000000000" pitchFamily="18" charset="-120"/>
              </a:rPr>
              <a:t>Cordless phone</a:t>
            </a:r>
          </a:p>
          <a:p>
            <a:pPr lvl="1"/>
            <a:r>
              <a:rPr lang="en-US" altLang="zh-TW" sz="1800" dirty="0">
                <a:solidFill>
                  <a:srgbClr val="0070C0"/>
                </a:solidFill>
                <a:ea typeface="新細明體" panose="02020500000000000000" pitchFamily="18" charset="-120"/>
              </a:rPr>
              <a:t>Remote controller</a:t>
            </a:r>
          </a:p>
          <a:p>
            <a:pPr lvl="1"/>
            <a:r>
              <a:rPr lang="en-US" altLang="zh-TW" sz="1800" dirty="0">
                <a:solidFill>
                  <a:srgbClr val="0070C0"/>
                </a:solidFill>
                <a:ea typeface="新細明體" panose="02020500000000000000" pitchFamily="18" charset="-120"/>
              </a:rPr>
              <a:t>Hand-held walkie-talkies</a:t>
            </a:r>
          </a:p>
          <a:p>
            <a:pPr lvl="1"/>
            <a:r>
              <a:rPr lang="en-US" altLang="zh-TW" sz="1800" dirty="0">
                <a:solidFill>
                  <a:srgbClr val="0070C0"/>
                </a:solidFill>
                <a:ea typeface="新細明體" panose="02020500000000000000" pitchFamily="18" charset="-120"/>
              </a:rPr>
              <a:t>Pagers</a:t>
            </a:r>
          </a:p>
          <a:p>
            <a:pPr lvl="1"/>
            <a:r>
              <a:rPr lang="en-US" altLang="zh-TW" sz="1800" dirty="0">
                <a:solidFill>
                  <a:srgbClr val="0070C0"/>
                </a:solidFill>
                <a:ea typeface="新細明體" panose="02020500000000000000" pitchFamily="18" charset="-120"/>
              </a:rPr>
              <a:t>Cellular telephone</a:t>
            </a:r>
          </a:p>
          <a:p>
            <a:pPr lvl="1"/>
            <a:r>
              <a:rPr lang="en-US" altLang="zh-TW" sz="1800" dirty="0">
                <a:solidFill>
                  <a:srgbClr val="0070C0"/>
                </a:solidFill>
                <a:ea typeface="新細明體" panose="02020500000000000000" pitchFamily="18" charset="-120"/>
              </a:rPr>
              <a:t>Wireless LAN</a:t>
            </a:r>
          </a:p>
          <a:p>
            <a:endParaRPr lang="en-US" dirty="0">
              <a:solidFill>
                <a:srgbClr val="0070C0"/>
              </a:solidFill>
            </a:endParaRPr>
          </a:p>
        </p:txBody>
      </p:sp>
      <p:pic>
        <p:nvPicPr>
          <p:cNvPr id="5" name="Picture 2" descr="http://s3.amazonaws.com/rapgenius/lrg_Cordless_Phone_no_basestation.png"/>
          <p:cNvPicPr>
            <a:picLocks noChangeAspect="1" noChangeArrowheads="1"/>
          </p:cNvPicPr>
          <p:nvPr/>
        </p:nvPicPr>
        <p:blipFill>
          <a:blip r:embed="rId2"/>
          <a:srcRect/>
          <a:stretch>
            <a:fillRect/>
          </a:stretch>
        </p:blipFill>
        <p:spPr bwMode="auto">
          <a:xfrm>
            <a:off x="6795390" y="2082573"/>
            <a:ext cx="912260" cy="912260"/>
          </a:xfrm>
          <a:prstGeom prst="rect">
            <a:avLst/>
          </a:prstGeom>
          <a:noFill/>
        </p:spPr>
      </p:pic>
      <p:pic>
        <p:nvPicPr>
          <p:cNvPr id="6" name="Picture 6" descr="http://upload.wikimedia.org/wikipedia/commons/5/51/Toshiba_Remote_Control_CT-9863.jpg"/>
          <p:cNvPicPr>
            <a:picLocks noChangeAspect="1" noChangeArrowheads="1"/>
          </p:cNvPicPr>
          <p:nvPr/>
        </p:nvPicPr>
        <p:blipFill>
          <a:blip r:embed="rId3" cstate="print"/>
          <a:srcRect/>
          <a:stretch>
            <a:fillRect/>
          </a:stretch>
        </p:blipFill>
        <p:spPr bwMode="auto">
          <a:xfrm>
            <a:off x="5684544" y="2022337"/>
            <a:ext cx="614689" cy="593338"/>
          </a:xfrm>
          <a:prstGeom prst="rect">
            <a:avLst/>
          </a:prstGeom>
          <a:noFill/>
        </p:spPr>
      </p:pic>
      <p:pic>
        <p:nvPicPr>
          <p:cNvPr id="7" name="Picture 8" descr="http://www.walkie-talkie-radio.co.uk/images/kirisun-pt558-walkie-talkie.jpg"/>
          <p:cNvPicPr>
            <a:picLocks noChangeAspect="1" noChangeArrowheads="1"/>
          </p:cNvPicPr>
          <p:nvPr/>
        </p:nvPicPr>
        <p:blipFill>
          <a:blip r:embed="rId4" cstate="print"/>
          <a:srcRect/>
          <a:stretch>
            <a:fillRect/>
          </a:stretch>
        </p:blipFill>
        <p:spPr bwMode="auto">
          <a:xfrm>
            <a:off x="7086600" y="3175768"/>
            <a:ext cx="556044" cy="1061538"/>
          </a:xfrm>
          <a:prstGeom prst="rect">
            <a:avLst/>
          </a:prstGeom>
          <a:noFill/>
        </p:spPr>
      </p:pic>
      <p:pic>
        <p:nvPicPr>
          <p:cNvPr id="8" name="Picture 10" descr="http://onpage.com/wp-content/uploads/2014/07/pager.jpg"/>
          <p:cNvPicPr>
            <a:picLocks noChangeAspect="1" noChangeArrowheads="1"/>
          </p:cNvPicPr>
          <p:nvPr/>
        </p:nvPicPr>
        <p:blipFill>
          <a:blip r:embed="rId5" cstate="print"/>
          <a:srcRect/>
          <a:stretch>
            <a:fillRect/>
          </a:stretch>
        </p:blipFill>
        <p:spPr bwMode="auto">
          <a:xfrm>
            <a:off x="5872680" y="2937391"/>
            <a:ext cx="790502" cy="580140"/>
          </a:xfrm>
          <a:prstGeom prst="rect">
            <a:avLst/>
          </a:prstGeom>
          <a:noFill/>
        </p:spPr>
      </p:pic>
      <p:pic>
        <p:nvPicPr>
          <p:cNvPr id="9" name="Picture 12" descr="http://lifestyle.iloveindia.com/lounge/images/how-to-use-your-cell-phone.jpg"/>
          <p:cNvPicPr>
            <a:picLocks noChangeAspect="1" noChangeArrowheads="1"/>
          </p:cNvPicPr>
          <p:nvPr/>
        </p:nvPicPr>
        <p:blipFill>
          <a:blip r:embed="rId6" cstate="print"/>
          <a:srcRect/>
          <a:stretch>
            <a:fillRect/>
          </a:stretch>
        </p:blipFill>
        <p:spPr bwMode="auto">
          <a:xfrm>
            <a:off x="4315146" y="1954102"/>
            <a:ext cx="912260" cy="729808"/>
          </a:xfrm>
          <a:prstGeom prst="rect">
            <a:avLst/>
          </a:prstGeom>
          <a:noFill/>
        </p:spPr>
      </p:pic>
      <p:pic>
        <p:nvPicPr>
          <p:cNvPr id="10" name="Picture 14" descr="https://conceptdraw.com/a863c3/p1/preview/640/pict--wlan-diagram-ultra-high-performance-wlans-wireless-network-diagram"/>
          <p:cNvPicPr>
            <a:picLocks noChangeAspect="1" noChangeArrowheads="1"/>
          </p:cNvPicPr>
          <p:nvPr/>
        </p:nvPicPr>
        <p:blipFill>
          <a:blip r:embed="rId7"/>
          <a:srcRect/>
          <a:stretch>
            <a:fillRect/>
          </a:stretch>
        </p:blipFill>
        <p:spPr bwMode="auto">
          <a:xfrm>
            <a:off x="4078507" y="3543670"/>
            <a:ext cx="2189424" cy="1946155"/>
          </a:xfrm>
          <a:prstGeom prst="rect">
            <a:avLst/>
          </a:prstGeom>
          <a:noFill/>
        </p:spPr>
      </p:pic>
    </p:spTree>
    <p:extLst>
      <p:ext uri="{BB962C8B-B14F-4D97-AF65-F5344CB8AC3E}">
        <p14:creationId xmlns:p14="http://schemas.microsoft.com/office/powerpoint/2010/main" val="1689870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Wireless communication systems</a:t>
            </a:r>
            <a:endParaRPr lang="en-IN" dirty="0"/>
          </a:p>
        </p:txBody>
      </p:sp>
      <p:sp>
        <p:nvSpPr>
          <p:cNvPr id="3" name="TextBox 2"/>
          <p:cNvSpPr txBox="1"/>
          <p:nvPr/>
        </p:nvSpPr>
        <p:spPr>
          <a:xfrm>
            <a:off x="1052624" y="2133158"/>
            <a:ext cx="1531089" cy="584775"/>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sz="1600" b="1" kern="1200" dirty="0">
                <a:solidFill>
                  <a:prstClr val="black"/>
                </a:solidFill>
                <a:latin typeface="Calibri"/>
                <a:ea typeface="+mn-ea"/>
                <a:cs typeface="+mn-cs"/>
              </a:rPr>
              <a:t>Information to be transmitted</a:t>
            </a:r>
            <a:endParaRPr lang="en-IN" sz="1600" b="1" kern="1200" dirty="0">
              <a:solidFill>
                <a:prstClr val="black"/>
              </a:solidFill>
              <a:latin typeface="Calibri"/>
              <a:ea typeface="+mn-ea"/>
              <a:cs typeface="+mn-cs"/>
            </a:endParaRPr>
          </a:p>
        </p:txBody>
      </p:sp>
      <p:sp>
        <p:nvSpPr>
          <p:cNvPr id="5" name="TextBox 4"/>
          <p:cNvSpPr txBox="1"/>
          <p:nvPr/>
        </p:nvSpPr>
        <p:spPr>
          <a:xfrm>
            <a:off x="2852902" y="2166778"/>
            <a:ext cx="154526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coding</a:t>
            </a:r>
            <a:endParaRPr lang="en-IN" kern="1200" dirty="0">
              <a:solidFill>
                <a:prstClr val="black"/>
              </a:solidFill>
              <a:latin typeface="Calibri"/>
              <a:ea typeface="+mn-ea"/>
              <a:cs typeface="+mn-cs"/>
            </a:endParaRPr>
          </a:p>
        </p:txBody>
      </p:sp>
      <p:sp>
        <p:nvSpPr>
          <p:cNvPr id="6" name="TextBox 5"/>
          <p:cNvSpPr txBox="1"/>
          <p:nvPr/>
        </p:nvSpPr>
        <p:spPr>
          <a:xfrm>
            <a:off x="4555147" y="2166778"/>
            <a:ext cx="154526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Modulator</a:t>
            </a:r>
            <a:endParaRPr lang="en-IN" kern="1200" dirty="0">
              <a:solidFill>
                <a:prstClr val="black"/>
              </a:solidFill>
              <a:latin typeface="Calibri"/>
              <a:ea typeface="+mn-ea"/>
              <a:cs typeface="+mn-cs"/>
            </a:endParaRPr>
          </a:p>
        </p:txBody>
      </p:sp>
      <p:sp>
        <p:nvSpPr>
          <p:cNvPr id="7" name="TextBox 6"/>
          <p:cNvSpPr txBox="1"/>
          <p:nvPr/>
        </p:nvSpPr>
        <p:spPr>
          <a:xfrm>
            <a:off x="6379030" y="2119165"/>
            <a:ext cx="1545607" cy="383325"/>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Transmitter</a:t>
            </a:r>
            <a:endParaRPr lang="en-IN" kern="1200" dirty="0">
              <a:solidFill>
                <a:prstClr val="black"/>
              </a:solidFill>
              <a:latin typeface="Calibri"/>
              <a:ea typeface="+mn-ea"/>
              <a:cs typeface="+mn-cs"/>
            </a:endParaRPr>
          </a:p>
        </p:txBody>
      </p:sp>
      <p:cxnSp>
        <p:nvCxnSpPr>
          <p:cNvPr id="11" name="Straight Connector 10"/>
          <p:cNvCxnSpPr>
            <a:stCxn id="7" idx="3"/>
          </p:cNvCxnSpPr>
          <p:nvPr/>
        </p:nvCxnSpPr>
        <p:spPr>
          <a:xfrm>
            <a:off x="7924637" y="2310827"/>
            <a:ext cx="432555" cy="6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8357191" y="1920507"/>
            <a:ext cx="10632" cy="39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584558" y="1475690"/>
            <a:ext cx="132552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Antenna</a:t>
            </a:r>
            <a:endParaRPr lang="en-IN" kern="1200" dirty="0">
              <a:solidFill>
                <a:prstClr val="black"/>
              </a:solidFill>
              <a:latin typeface="Calibri"/>
              <a:ea typeface="+mn-ea"/>
              <a:cs typeface="+mn-cs"/>
            </a:endParaRPr>
          </a:p>
        </p:txBody>
      </p:sp>
      <p:sp>
        <p:nvSpPr>
          <p:cNvPr id="15" name="TextBox 14"/>
          <p:cNvSpPr txBox="1"/>
          <p:nvPr/>
        </p:nvSpPr>
        <p:spPr>
          <a:xfrm>
            <a:off x="7517642" y="3957633"/>
            <a:ext cx="1169158"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Antenna</a:t>
            </a:r>
            <a:endParaRPr lang="en-IN" kern="1200" dirty="0">
              <a:solidFill>
                <a:prstClr val="black"/>
              </a:solidFill>
              <a:latin typeface="Calibri"/>
              <a:ea typeface="+mn-ea"/>
              <a:cs typeface="+mn-cs"/>
            </a:endParaRPr>
          </a:p>
        </p:txBody>
      </p:sp>
      <p:cxnSp>
        <p:nvCxnSpPr>
          <p:cNvPr id="23" name="Straight Arrow Connector 22"/>
          <p:cNvCxnSpPr>
            <a:stCxn id="3" idx="3"/>
            <a:endCxn id="5" idx="1"/>
          </p:cNvCxnSpPr>
          <p:nvPr/>
        </p:nvCxnSpPr>
        <p:spPr>
          <a:xfrm flipV="1">
            <a:off x="2583712" y="2351445"/>
            <a:ext cx="269190" cy="74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5" idx="3"/>
            <a:endCxn id="6" idx="1"/>
          </p:cNvCxnSpPr>
          <p:nvPr/>
        </p:nvCxnSpPr>
        <p:spPr>
          <a:xfrm>
            <a:off x="4398169" y="2351444"/>
            <a:ext cx="1569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6" idx="3"/>
            <a:endCxn id="7" idx="1"/>
          </p:cNvCxnSpPr>
          <p:nvPr/>
        </p:nvCxnSpPr>
        <p:spPr>
          <a:xfrm flipV="1">
            <a:off x="6100413" y="2310828"/>
            <a:ext cx="278616" cy="40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7152003" y="4667250"/>
            <a:ext cx="1138272"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606226" y="4387172"/>
            <a:ext cx="1545607" cy="383325"/>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Receiver</a:t>
            </a:r>
            <a:endParaRPr lang="en-IN" kern="1200" dirty="0">
              <a:solidFill>
                <a:prstClr val="black"/>
              </a:solidFill>
              <a:latin typeface="Calibri"/>
              <a:ea typeface="+mn-ea"/>
              <a:cs typeface="+mn-cs"/>
            </a:endParaRPr>
          </a:p>
        </p:txBody>
      </p:sp>
      <p:sp>
        <p:nvSpPr>
          <p:cNvPr id="35" name="TextBox 34"/>
          <p:cNvSpPr txBox="1"/>
          <p:nvPr/>
        </p:nvSpPr>
        <p:spPr>
          <a:xfrm>
            <a:off x="3674643" y="4401164"/>
            <a:ext cx="154526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err="1">
                <a:solidFill>
                  <a:prstClr val="black"/>
                </a:solidFill>
                <a:latin typeface="Calibri"/>
                <a:ea typeface="+mn-ea"/>
                <a:cs typeface="+mn-cs"/>
              </a:rPr>
              <a:t>DeModulator</a:t>
            </a:r>
            <a:endParaRPr lang="en-IN" kern="1200" dirty="0">
              <a:solidFill>
                <a:prstClr val="black"/>
              </a:solidFill>
              <a:latin typeface="Calibri"/>
              <a:ea typeface="+mn-ea"/>
              <a:cs typeface="+mn-cs"/>
            </a:endParaRPr>
          </a:p>
        </p:txBody>
      </p:sp>
      <p:cxnSp>
        <p:nvCxnSpPr>
          <p:cNvPr id="37" name="Straight Arrow Connector 36"/>
          <p:cNvCxnSpPr>
            <a:stCxn id="34" idx="1"/>
            <a:endCxn id="35" idx="3"/>
          </p:cNvCxnSpPr>
          <p:nvPr/>
        </p:nvCxnSpPr>
        <p:spPr>
          <a:xfrm flipH="1">
            <a:off x="5219909" y="4578834"/>
            <a:ext cx="386316" cy="6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818167" y="4401164"/>
            <a:ext cx="154526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decoding</a:t>
            </a:r>
            <a:endParaRPr lang="en-IN" kern="1200" dirty="0">
              <a:solidFill>
                <a:prstClr val="black"/>
              </a:solidFill>
              <a:latin typeface="Calibri"/>
              <a:ea typeface="+mn-ea"/>
              <a:cs typeface="+mn-cs"/>
            </a:endParaRPr>
          </a:p>
        </p:txBody>
      </p:sp>
      <p:cxnSp>
        <p:nvCxnSpPr>
          <p:cNvPr id="40" name="Straight Arrow Connector 39"/>
          <p:cNvCxnSpPr>
            <a:endCxn id="38" idx="3"/>
          </p:cNvCxnSpPr>
          <p:nvPr/>
        </p:nvCxnSpPr>
        <p:spPr>
          <a:xfrm flipH="1">
            <a:off x="3363434" y="4578834"/>
            <a:ext cx="310869" cy="6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72560" y="4286446"/>
            <a:ext cx="1241358" cy="584775"/>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sz="1600" b="1" kern="1200" dirty="0">
                <a:solidFill>
                  <a:prstClr val="black"/>
                </a:solidFill>
                <a:latin typeface="Calibri"/>
                <a:ea typeface="+mn-ea"/>
                <a:cs typeface="+mn-cs"/>
              </a:rPr>
              <a:t>Information Received</a:t>
            </a:r>
            <a:endParaRPr lang="en-IN" sz="1600" b="1" kern="1200" dirty="0">
              <a:solidFill>
                <a:prstClr val="black"/>
              </a:solidFill>
              <a:latin typeface="Calibri"/>
              <a:ea typeface="+mn-ea"/>
              <a:cs typeface="+mn-cs"/>
            </a:endParaRPr>
          </a:p>
        </p:txBody>
      </p:sp>
      <p:cxnSp>
        <p:nvCxnSpPr>
          <p:cNvPr id="43" name="Straight Arrow Connector 42"/>
          <p:cNvCxnSpPr>
            <a:stCxn id="38" idx="1"/>
          </p:cNvCxnSpPr>
          <p:nvPr/>
        </p:nvCxnSpPr>
        <p:spPr>
          <a:xfrm flipH="1" flipV="1">
            <a:off x="1533337" y="4578832"/>
            <a:ext cx="284830" cy="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5" idx="2"/>
          </p:cNvCxnSpPr>
          <p:nvPr/>
        </p:nvCxnSpPr>
        <p:spPr>
          <a:xfrm>
            <a:off x="8102221" y="4326966"/>
            <a:ext cx="0" cy="3511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6" idx="2"/>
          </p:cNvCxnSpPr>
          <p:nvPr/>
        </p:nvCxnSpPr>
        <p:spPr>
          <a:xfrm flipV="1">
            <a:off x="5316280" y="2536110"/>
            <a:ext cx="11501" cy="44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4555148" y="2976766"/>
            <a:ext cx="154526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carrier</a:t>
            </a:r>
            <a:endParaRPr lang="en-IN" kern="1200" dirty="0">
              <a:solidFill>
                <a:prstClr val="black"/>
              </a:solidFill>
              <a:latin typeface="Calibri"/>
              <a:ea typeface="+mn-ea"/>
              <a:cs typeface="+mn-cs"/>
            </a:endParaRPr>
          </a:p>
        </p:txBody>
      </p:sp>
      <p:sp>
        <p:nvSpPr>
          <p:cNvPr id="61" name="TextBox 60"/>
          <p:cNvSpPr txBox="1"/>
          <p:nvPr/>
        </p:nvSpPr>
        <p:spPr>
          <a:xfrm>
            <a:off x="3704024" y="5218701"/>
            <a:ext cx="1545266" cy="369332"/>
          </a:xfrm>
          <a:prstGeom prst="rect">
            <a:avLst/>
          </a:prstGeom>
          <a:solidFill>
            <a:schemeClr val="tx2">
              <a:lumMod val="20000"/>
              <a:lumOff val="80000"/>
            </a:schemeClr>
          </a:solidFill>
          <a:ln>
            <a:solidFill>
              <a:schemeClr val="tx1"/>
            </a:solidFill>
          </a:ln>
        </p:spPr>
        <p:txBody>
          <a:bodyPr wrap="square" rtlCol="0">
            <a:spAutoFit/>
          </a:bodyPr>
          <a:lstStyle/>
          <a:p>
            <a:pPr algn="l" rtl="0"/>
            <a:r>
              <a:rPr lang="en-US" kern="1200" dirty="0">
                <a:solidFill>
                  <a:prstClr val="black"/>
                </a:solidFill>
                <a:latin typeface="Calibri"/>
                <a:ea typeface="+mn-ea"/>
                <a:cs typeface="+mn-cs"/>
              </a:rPr>
              <a:t>carrier</a:t>
            </a:r>
            <a:endParaRPr lang="en-IN" kern="1200" dirty="0">
              <a:solidFill>
                <a:prstClr val="black"/>
              </a:solidFill>
              <a:latin typeface="Calibri"/>
              <a:ea typeface="+mn-ea"/>
              <a:cs typeface="+mn-cs"/>
            </a:endParaRPr>
          </a:p>
        </p:txBody>
      </p:sp>
      <p:cxnSp>
        <p:nvCxnSpPr>
          <p:cNvPr id="62" name="Straight Arrow Connector 61"/>
          <p:cNvCxnSpPr/>
          <p:nvPr/>
        </p:nvCxnSpPr>
        <p:spPr>
          <a:xfrm flipV="1">
            <a:off x="4398169" y="4771049"/>
            <a:ext cx="11501" cy="44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5746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973956"/>
            <a:ext cx="7624560" cy="582930"/>
          </a:xfrm>
        </p:spPr>
        <p:txBody>
          <a:bodyPr/>
          <a:lstStyle/>
          <a:p>
            <a:endParaRPr lang="en-IN" dirty="0"/>
          </a:p>
          <a:p>
            <a:r>
              <a:rPr lang="en-IN" dirty="0"/>
              <a:t>Wireless Communication System Definitions</a:t>
            </a:r>
          </a:p>
          <a:p>
            <a:endParaRPr lang="en-IN" dirty="0"/>
          </a:p>
        </p:txBody>
      </p:sp>
      <p:sp>
        <p:nvSpPr>
          <p:cNvPr id="3" name="Content Placeholder 2"/>
          <p:cNvSpPr>
            <a:spLocks noGrp="1"/>
          </p:cNvSpPr>
          <p:nvPr>
            <p:ph idx="1"/>
          </p:nvPr>
        </p:nvSpPr>
        <p:spPr/>
        <p:txBody>
          <a:bodyPr/>
          <a:lstStyle/>
          <a:p>
            <a:r>
              <a:rPr lang="en-IN" dirty="0"/>
              <a:t>Base Station:  A fixed station in a mobile radio system used for radio communication with mobile stations</a:t>
            </a:r>
          </a:p>
          <a:p>
            <a:pPr marL="0" indent="0"/>
            <a:endParaRPr lang="en-IN" dirty="0"/>
          </a:p>
          <a:p>
            <a:r>
              <a:rPr lang="en-IN" dirty="0"/>
              <a:t>Control Channel : Radio channels used for transmission of call setup, call request, call initiation, and other beacon or control purposes. </a:t>
            </a:r>
          </a:p>
          <a:p>
            <a:pPr marL="0" indent="0"/>
            <a:endParaRPr lang="en-IN" dirty="0"/>
          </a:p>
          <a:p>
            <a:r>
              <a:rPr lang="en-IN" dirty="0"/>
              <a:t>Subscriber : A user who pays subscription charges for using a mobile communications system. </a:t>
            </a:r>
          </a:p>
          <a:p>
            <a:pPr marL="0" indent="0"/>
            <a:endParaRPr lang="en-IN" dirty="0"/>
          </a:p>
          <a:p>
            <a:r>
              <a:rPr lang="en-IN" dirty="0"/>
              <a:t>Transceiver : A device capable of simultaneously transmitting and receiving radio signals. </a:t>
            </a:r>
          </a:p>
          <a:p>
            <a:pPr marL="0" indent="0">
              <a:buNone/>
            </a:pPr>
            <a:endParaRPr lang="en-IN" dirty="0"/>
          </a:p>
        </p:txBody>
      </p:sp>
    </p:spTree>
    <p:extLst>
      <p:ext uri="{BB962C8B-B14F-4D97-AF65-F5344CB8AC3E}">
        <p14:creationId xmlns:p14="http://schemas.microsoft.com/office/powerpoint/2010/main" val="31547062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1" y="978827"/>
            <a:ext cx="8199913" cy="582930"/>
          </a:xfrm>
        </p:spPr>
        <p:txBody>
          <a:bodyPr/>
          <a:lstStyle/>
          <a:p>
            <a:endParaRPr lang="en-IN" dirty="0"/>
          </a:p>
          <a:p>
            <a:r>
              <a:rPr lang="en-IN" dirty="0"/>
              <a:t>Wireless Communication System Definitions</a:t>
            </a:r>
          </a:p>
          <a:p>
            <a:endParaRPr lang="en-IN" dirty="0"/>
          </a:p>
        </p:txBody>
      </p:sp>
      <p:sp>
        <p:nvSpPr>
          <p:cNvPr id="3" name="Content Placeholder 2"/>
          <p:cNvSpPr>
            <a:spLocks noGrp="1"/>
          </p:cNvSpPr>
          <p:nvPr>
            <p:ph idx="1"/>
          </p:nvPr>
        </p:nvSpPr>
        <p:spPr/>
        <p:txBody>
          <a:bodyPr/>
          <a:lstStyle/>
          <a:p>
            <a:r>
              <a:rPr lang="en-IN" dirty="0"/>
              <a:t>Handoff: The process of transferring a mobile station from one channel or base station to another. </a:t>
            </a:r>
          </a:p>
          <a:p>
            <a:pPr marL="0" indent="0"/>
            <a:endParaRPr lang="en-IN" dirty="0"/>
          </a:p>
          <a:p>
            <a:r>
              <a:rPr lang="en-IN" dirty="0"/>
              <a:t>Mobile Station : A station in the cellular radio service intended for use while in motion at unspecified locations. </a:t>
            </a:r>
          </a:p>
          <a:p>
            <a:pPr marL="0" indent="0"/>
            <a:endParaRPr lang="en-IN" dirty="0"/>
          </a:p>
          <a:p>
            <a:r>
              <a:rPr lang="en-IN" dirty="0"/>
              <a:t>Mobile Switching </a:t>
            </a:r>
            <a:r>
              <a:rPr lang="en-IN" dirty="0" err="1"/>
              <a:t>Center</a:t>
            </a:r>
            <a:r>
              <a:rPr lang="en-IN" dirty="0"/>
              <a:t> : coordinates the routing of calls in a large </a:t>
            </a:r>
            <a:r>
              <a:rPr lang="en-IN" dirty="0" err="1"/>
              <a:t>Center</a:t>
            </a:r>
            <a:r>
              <a:rPr lang="en-IN" dirty="0"/>
              <a:t> service area. An MSC is also called a mobile telephone switching office (MTSO). </a:t>
            </a:r>
          </a:p>
          <a:p>
            <a:pPr marL="0" indent="0">
              <a:buNone/>
            </a:pPr>
            <a:endParaRPr lang="en-IN" dirty="0"/>
          </a:p>
        </p:txBody>
      </p:sp>
    </p:spTree>
    <p:extLst>
      <p:ext uri="{BB962C8B-B14F-4D97-AF65-F5344CB8AC3E}">
        <p14:creationId xmlns:p14="http://schemas.microsoft.com/office/powerpoint/2010/main" val="415164710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Forward and Reverse Channel</a:t>
            </a:r>
          </a:p>
          <a:p>
            <a:endParaRPr lang="en-IN" dirty="0"/>
          </a:p>
        </p:txBody>
      </p:sp>
      <p:sp>
        <p:nvSpPr>
          <p:cNvPr id="5" name="Rectangle 4"/>
          <p:cNvSpPr/>
          <p:nvPr/>
        </p:nvSpPr>
        <p:spPr>
          <a:xfrm>
            <a:off x="1807300" y="4843445"/>
            <a:ext cx="4575412" cy="605935"/>
          </a:xfrm>
          <a:prstGeom prst="rect">
            <a:avLst/>
          </a:prstGeom>
          <a:solidFill>
            <a:srgbClr val="FFC000"/>
          </a:solidFill>
          <a:ln>
            <a:solidFill>
              <a:schemeClr val="tx1"/>
            </a:solidFill>
          </a:ln>
        </p:spPr>
        <p:txBody>
          <a:bodyPr wrap="square">
            <a:spAutoFit/>
          </a:bodyPr>
          <a:lstStyle/>
          <a:p>
            <a:pPr algn="l" rtl="0">
              <a:lnSpc>
                <a:spcPct val="107000"/>
              </a:lnSpc>
              <a:spcAft>
                <a:spcPts val="800"/>
              </a:spcAft>
            </a:pPr>
            <a:r>
              <a:rPr lang="en-IN" sz="16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rPr>
              <a:t>Radio channel used for transmission of information from the mobile to base stations</a:t>
            </a:r>
            <a:endParaRPr lang="en-IN" sz="16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4383691" y="1678440"/>
            <a:ext cx="4585648" cy="605935"/>
          </a:xfrm>
          <a:prstGeom prst="rect">
            <a:avLst/>
          </a:prstGeom>
          <a:solidFill>
            <a:srgbClr val="FFFF00"/>
          </a:solidFill>
          <a:ln>
            <a:solidFill>
              <a:schemeClr val="tx1"/>
            </a:solidFill>
          </a:ln>
        </p:spPr>
        <p:txBody>
          <a:bodyPr wrap="square">
            <a:spAutoFit/>
          </a:bodyPr>
          <a:lstStyle/>
          <a:p>
            <a:pPr algn="l" rtl="0">
              <a:lnSpc>
                <a:spcPct val="107000"/>
              </a:lnSpc>
              <a:spcAft>
                <a:spcPts val="800"/>
              </a:spcAft>
            </a:pPr>
            <a:r>
              <a:rPr lang="en-IN" sz="16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rPr>
              <a:t>Radio channel used for transmission of information from the base station to the mobile. </a:t>
            </a:r>
            <a:endParaRPr lang="en-IN" sz="16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2061" name="Picture 13"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92" y="2454196"/>
            <a:ext cx="2965228" cy="2219429"/>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p:cNvSpPr/>
          <p:nvPr/>
        </p:nvSpPr>
        <p:spPr>
          <a:xfrm>
            <a:off x="3264196" y="2717949"/>
            <a:ext cx="2573079"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7" name="Right Arrow 6"/>
          <p:cNvSpPr/>
          <p:nvPr/>
        </p:nvSpPr>
        <p:spPr>
          <a:xfrm rot="10800000">
            <a:off x="3264195" y="3749306"/>
            <a:ext cx="2541182" cy="2658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8" name="TextBox 7"/>
          <p:cNvSpPr txBox="1"/>
          <p:nvPr/>
        </p:nvSpPr>
        <p:spPr>
          <a:xfrm>
            <a:off x="3455581" y="2284374"/>
            <a:ext cx="2094614"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Forward Channel</a:t>
            </a:r>
            <a:endParaRPr lang="en-IN" kern="1200" dirty="0">
              <a:solidFill>
                <a:prstClr val="black"/>
              </a:solidFill>
              <a:latin typeface="Calibri"/>
              <a:ea typeface="+mn-ea"/>
              <a:cs typeface="+mn-cs"/>
            </a:endParaRPr>
          </a:p>
        </p:txBody>
      </p:sp>
      <p:sp>
        <p:nvSpPr>
          <p:cNvPr id="10" name="TextBox 9"/>
          <p:cNvSpPr txBox="1"/>
          <p:nvPr/>
        </p:nvSpPr>
        <p:spPr>
          <a:xfrm>
            <a:off x="3336384" y="4230307"/>
            <a:ext cx="2094614"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Reverse Channel</a:t>
            </a:r>
            <a:endParaRPr lang="en-IN" kern="1200" dirty="0">
              <a:solidFill>
                <a:prstClr val="black"/>
              </a:solidFill>
              <a:latin typeface="Calibri"/>
              <a:ea typeface="+mn-ea"/>
              <a:cs typeface="+mn-cs"/>
            </a:endParaRPr>
          </a:p>
        </p:txBody>
      </p:sp>
      <p:pic>
        <p:nvPicPr>
          <p:cNvPr id="2063" name="Picture 15"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3121" y="2717949"/>
            <a:ext cx="1259158" cy="1297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923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973956"/>
            <a:ext cx="8364300" cy="582930"/>
          </a:xfrm>
        </p:spPr>
        <p:txBody>
          <a:bodyPr/>
          <a:lstStyle/>
          <a:p>
            <a:endParaRPr lang="en-US" dirty="0"/>
          </a:p>
          <a:p>
            <a:r>
              <a:rPr lang="en-US" dirty="0"/>
              <a:t>Classification of Mobile Radio Transmission</a:t>
            </a:r>
          </a:p>
          <a:p>
            <a:endParaRPr lang="en-IN" dirty="0"/>
          </a:p>
        </p:txBody>
      </p:sp>
      <p:sp>
        <p:nvSpPr>
          <p:cNvPr id="3" name="Content Placeholder 2"/>
          <p:cNvSpPr>
            <a:spLocks noGrp="1"/>
          </p:cNvSpPr>
          <p:nvPr>
            <p:ph idx="1"/>
          </p:nvPr>
        </p:nvSpPr>
        <p:spPr/>
        <p:txBody>
          <a:bodyPr/>
          <a:lstStyle/>
          <a:p>
            <a:pPr marL="0" indent="0">
              <a:buNone/>
            </a:pPr>
            <a:r>
              <a:rPr kumimoji="1" lang="en-US" altLang="zh-TW" b="1" dirty="0"/>
              <a:t>Classification of mobile radio transmission system</a:t>
            </a:r>
          </a:p>
          <a:p>
            <a:pPr marL="0" indent="0">
              <a:buNone/>
            </a:pPr>
            <a:endParaRPr lang="en-IN" dirty="0"/>
          </a:p>
        </p:txBody>
      </p:sp>
      <p:pic>
        <p:nvPicPr>
          <p:cNvPr id="4" name="Content Placeholder 4" descr="fig10_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802" y="2156164"/>
            <a:ext cx="6600701" cy="3259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063714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Forms of Full Duplexing</a:t>
            </a:r>
            <a:endParaRPr lang="en-IN" dirty="0"/>
          </a:p>
          <a:p>
            <a:endParaRPr lang="en-IN" dirty="0"/>
          </a:p>
        </p:txBody>
      </p:sp>
      <p:sp>
        <p:nvSpPr>
          <p:cNvPr id="4" name="Content Placeholder 1"/>
          <p:cNvSpPr txBox="1">
            <a:spLocks/>
          </p:cNvSpPr>
          <p:nvPr/>
        </p:nvSpPr>
        <p:spPr bwMode="auto">
          <a:xfrm>
            <a:off x="683659" y="1284288"/>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endParaRPr kumimoji="1" lang="en-US" altLang="zh-TW" sz="2000" dirty="0">
              <a:solidFill>
                <a:srgbClr val="0070C0"/>
              </a:solidFill>
              <a:ea typeface="新細明體" panose="02020500000000000000" pitchFamily="18" charset="-120"/>
            </a:endParaRPr>
          </a:p>
          <a:p>
            <a:pPr marL="0" indent="0"/>
            <a:r>
              <a:rPr kumimoji="1" lang="en-US" altLang="zh-TW" sz="2000" dirty="0">
                <a:solidFill>
                  <a:srgbClr val="0070C0"/>
                </a:solidFill>
                <a:ea typeface="新細明體" panose="02020500000000000000" pitchFamily="18" charset="-120"/>
              </a:rPr>
              <a:t>Two forms of Full Duplexing </a:t>
            </a:r>
          </a:p>
          <a:p>
            <a:pPr>
              <a:buFontTx/>
              <a:buChar char="•"/>
            </a:pPr>
            <a:r>
              <a:rPr kumimoji="1" lang="en-US" altLang="zh-TW" sz="2000" dirty="0">
                <a:solidFill>
                  <a:srgbClr val="0070C0"/>
                </a:solidFill>
                <a:ea typeface="新細明體" panose="02020500000000000000" pitchFamily="18" charset="-120"/>
              </a:rPr>
              <a:t>Frequency division duplexing </a:t>
            </a:r>
            <a:r>
              <a:rPr kumimoji="1" lang="en-US" altLang="zh-TW" sz="2000" dirty="0">
                <a:solidFill>
                  <a:prstClr val="black"/>
                </a:solidFill>
                <a:ea typeface="新細明體" panose="02020500000000000000" pitchFamily="18" charset="-120"/>
              </a:rPr>
              <a:t>uses two radio channel</a:t>
            </a:r>
          </a:p>
          <a:p>
            <a:pPr lvl="1">
              <a:buFontTx/>
              <a:buChar char="–"/>
            </a:pPr>
            <a:r>
              <a:rPr kumimoji="1" lang="en-US" altLang="zh-TW" sz="2000" b="0" dirty="0">
                <a:solidFill>
                  <a:prstClr val="black"/>
                </a:solidFill>
                <a:ea typeface="新細明體" panose="02020500000000000000" pitchFamily="18" charset="-120"/>
              </a:rPr>
              <a:t>Forward channel: base station to mobile user</a:t>
            </a:r>
          </a:p>
          <a:p>
            <a:pPr lvl="1">
              <a:buFontTx/>
              <a:buChar char="–"/>
            </a:pPr>
            <a:r>
              <a:rPr kumimoji="1" lang="en-US" altLang="zh-TW" sz="2000" b="0" dirty="0">
                <a:solidFill>
                  <a:prstClr val="black"/>
                </a:solidFill>
                <a:ea typeface="新細明體" panose="02020500000000000000" pitchFamily="18" charset="-120"/>
              </a:rPr>
              <a:t>Reverse channel: mobile user to base station</a:t>
            </a:r>
          </a:p>
        </p:txBody>
      </p:sp>
      <p:cxnSp>
        <p:nvCxnSpPr>
          <p:cNvPr id="5" name="Straight Arrow Connector 4"/>
          <p:cNvCxnSpPr/>
          <p:nvPr/>
        </p:nvCxnSpPr>
        <p:spPr>
          <a:xfrm flipV="1">
            <a:off x="2155004" y="3124414"/>
            <a:ext cx="0" cy="198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2155004" y="5105614"/>
            <a:ext cx="381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155004" y="3505414"/>
            <a:ext cx="3581400" cy="369332"/>
          </a:xfrm>
          <a:prstGeom prst="rect">
            <a:avLst/>
          </a:prstGeom>
          <a:solidFill>
            <a:schemeClr val="accent1">
              <a:lumMod val="20000"/>
              <a:lumOff val="80000"/>
            </a:schemeClr>
          </a:solidFill>
          <a:ln>
            <a:solidFill>
              <a:schemeClr val="tx1">
                <a:lumMod val="50000"/>
                <a:lumOff val="50000"/>
              </a:schemeClr>
            </a:solidFill>
          </a:ln>
        </p:spPr>
        <p:txBody>
          <a:bodyPr wrap="square" rtlCol="0">
            <a:spAutoFit/>
          </a:bodyPr>
          <a:lstStyle/>
          <a:p>
            <a:pPr algn="l" rtl="0"/>
            <a:r>
              <a:rPr lang="en-US" kern="1200" dirty="0">
                <a:solidFill>
                  <a:prstClr val="black"/>
                </a:solidFill>
                <a:latin typeface="Calibri"/>
                <a:ea typeface="+mn-ea"/>
                <a:cs typeface="+mn-cs"/>
              </a:rPr>
              <a:t>Base Station(</a:t>
            </a:r>
            <a:r>
              <a:rPr lang="en-US" kern="1200" dirty="0" err="1">
                <a:solidFill>
                  <a:prstClr val="black"/>
                </a:solidFill>
                <a:latin typeface="Calibri"/>
                <a:ea typeface="+mn-ea"/>
                <a:cs typeface="+mn-cs"/>
              </a:rPr>
              <a:t>Tx</a:t>
            </a:r>
            <a:r>
              <a:rPr lang="en-US" kern="1200" dirty="0">
                <a:solidFill>
                  <a:prstClr val="black"/>
                </a:solidFill>
                <a:latin typeface="Calibri"/>
                <a:ea typeface="+mn-ea"/>
                <a:cs typeface="+mn-cs"/>
              </a:rPr>
              <a:t>), Mobile Station(Rx</a:t>
            </a:r>
            <a:endParaRPr lang="en-IN" kern="1200" dirty="0">
              <a:solidFill>
                <a:prstClr val="black"/>
              </a:solidFill>
              <a:latin typeface="Calibri"/>
              <a:ea typeface="+mn-ea"/>
              <a:cs typeface="+mn-cs"/>
            </a:endParaRPr>
          </a:p>
        </p:txBody>
      </p:sp>
      <p:sp>
        <p:nvSpPr>
          <p:cNvPr id="8" name="TextBox 7"/>
          <p:cNvSpPr txBox="1"/>
          <p:nvPr/>
        </p:nvSpPr>
        <p:spPr>
          <a:xfrm>
            <a:off x="2172064" y="4589717"/>
            <a:ext cx="3581400" cy="369332"/>
          </a:xfrm>
          <a:prstGeom prst="rect">
            <a:avLst/>
          </a:prstGeom>
          <a:solidFill>
            <a:schemeClr val="accent6">
              <a:lumMod val="40000"/>
              <a:lumOff val="60000"/>
            </a:schemeClr>
          </a:solidFill>
        </p:spPr>
        <p:txBody>
          <a:bodyPr wrap="square" rtlCol="0">
            <a:spAutoFit/>
          </a:bodyPr>
          <a:lstStyle/>
          <a:p>
            <a:pPr algn="l" rtl="0"/>
            <a:r>
              <a:rPr lang="en-US" kern="1200" dirty="0">
                <a:solidFill>
                  <a:prstClr val="black"/>
                </a:solidFill>
                <a:latin typeface="Calibri"/>
                <a:ea typeface="+mn-ea"/>
                <a:cs typeface="+mn-cs"/>
              </a:rPr>
              <a:t>Mobile station (</a:t>
            </a:r>
            <a:r>
              <a:rPr lang="en-US" kern="1200" dirty="0" err="1">
                <a:solidFill>
                  <a:prstClr val="black"/>
                </a:solidFill>
                <a:latin typeface="Calibri"/>
                <a:ea typeface="+mn-ea"/>
                <a:cs typeface="+mn-cs"/>
              </a:rPr>
              <a:t>tx</a:t>
            </a:r>
            <a:r>
              <a:rPr lang="en-US" kern="1200" dirty="0">
                <a:solidFill>
                  <a:prstClr val="black"/>
                </a:solidFill>
                <a:latin typeface="Calibri"/>
                <a:ea typeface="+mn-ea"/>
                <a:cs typeface="+mn-cs"/>
              </a:rPr>
              <a:t>), Base station(Rx)</a:t>
            </a:r>
            <a:endParaRPr lang="en-IN" kern="1200" dirty="0">
              <a:solidFill>
                <a:prstClr val="black"/>
              </a:solidFill>
              <a:latin typeface="Calibri"/>
              <a:ea typeface="+mn-ea"/>
              <a:cs typeface="+mn-cs"/>
            </a:endParaRPr>
          </a:p>
        </p:txBody>
      </p:sp>
      <p:sp>
        <p:nvSpPr>
          <p:cNvPr id="9" name="TextBox 8"/>
          <p:cNvSpPr txBox="1"/>
          <p:nvPr/>
        </p:nvSpPr>
        <p:spPr>
          <a:xfrm>
            <a:off x="3450405" y="5220779"/>
            <a:ext cx="1827663"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Time (</a:t>
            </a:r>
            <a:r>
              <a:rPr lang="en-US" kern="1200" dirty="0" err="1">
                <a:solidFill>
                  <a:prstClr val="black"/>
                </a:solidFill>
                <a:latin typeface="Calibri"/>
                <a:ea typeface="+mn-ea"/>
                <a:cs typeface="+mn-cs"/>
              </a:rPr>
              <a:t>ms</a:t>
            </a:r>
            <a:r>
              <a:rPr lang="en-US" kern="1200" dirty="0">
                <a:solidFill>
                  <a:prstClr val="black"/>
                </a:solidFill>
                <a:latin typeface="Calibri"/>
                <a:ea typeface="+mn-ea"/>
                <a:cs typeface="+mn-cs"/>
              </a:rPr>
              <a:t>)</a:t>
            </a:r>
            <a:endParaRPr lang="en-IN" kern="1200" dirty="0">
              <a:solidFill>
                <a:prstClr val="black"/>
              </a:solidFill>
              <a:latin typeface="Calibri"/>
              <a:ea typeface="+mn-ea"/>
              <a:cs typeface="+mn-cs"/>
            </a:endParaRPr>
          </a:p>
        </p:txBody>
      </p:sp>
      <p:sp>
        <p:nvSpPr>
          <p:cNvPr id="10" name="TextBox 9"/>
          <p:cNvSpPr txBox="1"/>
          <p:nvPr/>
        </p:nvSpPr>
        <p:spPr>
          <a:xfrm rot="-5400000">
            <a:off x="871843" y="4007116"/>
            <a:ext cx="1827663" cy="369332"/>
          </a:xfrm>
          <a:prstGeom prst="rect">
            <a:avLst/>
          </a:prstGeom>
          <a:noFill/>
          <a:ln>
            <a:noFill/>
          </a:ln>
        </p:spPr>
        <p:txBody>
          <a:bodyPr wrap="square" rtlCol="0">
            <a:spAutoFit/>
          </a:bodyPr>
          <a:lstStyle/>
          <a:p>
            <a:pPr algn="l" rtl="0"/>
            <a:r>
              <a:rPr lang="en-US" kern="1200" dirty="0">
                <a:solidFill>
                  <a:prstClr val="black"/>
                </a:solidFill>
                <a:latin typeface="Calibri"/>
                <a:ea typeface="+mn-ea"/>
                <a:cs typeface="+mn-cs"/>
              </a:rPr>
              <a:t>Frequency(</a:t>
            </a:r>
            <a:r>
              <a:rPr lang="en-US" kern="1200" dirty="0" err="1">
                <a:solidFill>
                  <a:prstClr val="black"/>
                </a:solidFill>
                <a:latin typeface="Calibri"/>
                <a:ea typeface="+mn-ea"/>
                <a:cs typeface="+mn-cs"/>
              </a:rPr>
              <a:t>Mhz</a:t>
            </a:r>
            <a:r>
              <a:rPr lang="en-US" kern="1200" dirty="0">
                <a:solidFill>
                  <a:prstClr val="black"/>
                </a:solidFill>
                <a:latin typeface="Calibri"/>
                <a:ea typeface="+mn-ea"/>
                <a:cs typeface="+mn-cs"/>
              </a:rPr>
              <a:t>)</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153333795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Forms of Full Duplexing</a:t>
            </a:r>
            <a:endParaRPr lang="en-IN" dirty="0"/>
          </a:p>
          <a:p>
            <a:endParaRPr lang="en-IN" dirty="0"/>
          </a:p>
        </p:txBody>
      </p:sp>
      <p:sp>
        <p:nvSpPr>
          <p:cNvPr id="4" name="Content Placeholder 1"/>
          <p:cNvSpPr txBox="1">
            <a:spLocks/>
          </p:cNvSpPr>
          <p:nvPr/>
        </p:nvSpPr>
        <p:spPr bwMode="auto">
          <a:xfrm>
            <a:off x="297129" y="1827482"/>
            <a:ext cx="8229600" cy="932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kumimoji="1" lang="en-US" altLang="zh-TW" b="1" dirty="0">
                <a:solidFill>
                  <a:srgbClr val="0070C0"/>
                </a:solidFill>
                <a:ea typeface="新細明體" panose="02020500000000000000" pitchFamily="18" charset="-120"/>
              </a:rPr>
              <a:t>Time division duplexing</a:t>
            </a:r>
            <a:r>
              <a:rPr kumimoji="1" lang="en-US" altLang="zh-TW" b="1" dirty="0">
                <a:solidFill>
                  <a:prstClr val="black"/>
                </a:solidFill>
                <a:ea typeface="新細明體" panose="02020500000000000000" pitchFamily="18" charset="-120"/>
              </a:rPr>
              <a:t> shares a single radio channel in time.</a:t>
            </a:r>
          </a:p>
          <a:p>
            <a:r>
              <a:rPr kumimoji="1" lang="en-US" altLang="zh-TW" b="1" dirty="0">
                <a:solidFill>
                  <a:prstClr val="black"/>
                </a:solidFill>
                <a:ea typeface="新細明體" panose="02020500000000000000" pitchFamily="18" charset="-120"/>
              </a:rPr>
              <a:t>Receives for half the frame and transmits for half the frame. </a:t>
            </a:r>
          </a:p>
          <a:p>
            <a:endParaRPr lang="en-IN" dirty="0">
              <a:solidFill>
                <a:prstClr val="black"/>
              </a:solidFill>
            </a:endParaRPr>
          </a:p>
        </p:txBody>
      </p:sp>
      <p:cxnSp>
        <p:nvCxnSpPr>
          <p:cNvPr id="5" name="Straight Arrow Connector 4"/>
          <p:cNvCxnSpPr/>
          <p:nvPr/>
        </p:nvCxnSpPr>
        <p:spPr>
          <a:xfrm flipV="1">
            <a:off x="2118312" y="3031073"/>
            <a:ext cx="0" cy="198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2118312" y="5012273"/>
            <a:ext cx="381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232169" y="3757395"/>
            <a:ext cx="1606479" cy="1200329"/>
          </a:xfrm>
          <a:prstGeom prst="rect">
            <a:avLst/>
          </a:prstGeom>
          <a:solidFill>
            <a:schemeClr val="accent1">
              <a:lumMod val="20000"/>
              <a:lumOff val="80000"/>
            </a:schemeClr>
          </a:solidFill>
          <a:ln>
            <a:solidFill>
              <a:schemeClr val="tx1">
                <a:lumMod val="50000"/>
                <a:lumOff val="50000"/>
              </a:schemeClr>
            </a:solidFill>
          </a:ln>
        </p:spPr>
        <p:txBody>
          <a:bodyPr wrap="square" rtlCol="0">
            <a:spAutoFit/>
          </a:bodyPr>
          <a:lstStyle/>
          <a:p>
            <a:pPr algn="l" rtl="0"/>
            <a:r>
              <a:rPr lang="en-US" kern="1200" dirty="0">
                <a:solidFill>
                  <a:prstClr val="black"/>
                </a:solidFill>
                <a:latin typeface="Calibri"/>
                <a:ea typeface="+mn-ea"/>
                <a:cs typeface="+mn-cs"/>
              </a:rPr>
              <a:t>Base Station(</a:t>
            </a:r>
            <a:r>
              <a:rPr lang="en-US" kern="1200" dirty="0" err="1">
                <a:solidFill>
                  <a:prstClr val="black"/>
                </a:solidFill>
                <a:latin typeface="Calibri"/>
                <a:ea typeface="+mn-ea"/>
                <a:cs typeface="+mn-cs"/>
              </a:rPr>
              <a:t>Tx</a:t>
            </a:r>
            <a:r>
              <a:rPr lang="en-US" kern="1200" dirty="0">
                <a:solidFill>
                  <a:prstClr val="black"/>
                </a:solidFill>
                <a:latin typeface="Calibri"/>
                <a:ea typeface="+mn-ea"/>
                <a:cs typeface="+mn-cs"/>
              </a:rPr>
              <a:t>), Mobile Station(Rx)</a:t>
            </a:r>
            <a:endParaRPr lang="en-IN" kern="1200" dirty="0">
              <a:solidFill>
                <a:prstClr val="black"/>
              </a:solidFill>
              <a:latin typeface="Calibri"/>
              <a:ea typeface="+mn-ea"/>
              <a:cs typeface="+mn-cs"/>
            </a:endParaRPr>
          </a:p>
        </p:txBody>
      </p:sp>
      <p:sp>
        <p:nvSpPr>
          <p:cNvPr id="8" name="TextBox 7"/>
          <p:cNvSpPr txBox="1"/>
          <p:nvPr/>
        </p:nvSpPr>
        <p:spPr>
          <a:xfrm>
            <a:off x="3887972" y="3757395"/>
            <a:ext cx="1524000" cy="1200329"/>
          </a:xfrm>
          <a:prstGeom prst="rect">
            <a:avLst/>
          </a:prstGeom>
          <a:solidFill>
            <a:schemeClr val="accent6">
              <a:lumMod val="40000"/>
              <a:lumOff val="60000"/>
            </a:schemeClr>
          </a:solidFill>
        </p:spPr>
        <p:txBody>
          <a:bodyPr wrap="square" rtlCol="0">
            <a:spAutoFit/>
          </a:bodyPr>
          <a:lstStyle/>
          <a:p>
            <a:pPr algn="l" rtl="0"/>
            <a:r>
              <a:rPr lang="en-US" kern="1200" dirty="0">
                <a:solidFill>
                  <a:prstClr val="black"/>
                </a:solidFill>
                <a:latin typeface="Calibri"/>
                <a:ea typeface="+mn-ea"/>
                <a:cs typeface="+mn-cs"/>
              </a:rPr>
              <a:t>Mobile station (</a:t>
            </a:r>
            <a:r>
              <a:rPr lang="en-US" kern="1200" dirty="0" err="1">
                <a:solidFill>
                  <a:prstClr val="black"/>
                </a:solidFill>
                <a:latin typeface="Calibri"/>
                <a:ea typeface="+mn-ea"/>
                <a:cs typeface="+mn-cs"/>
              </a:rPr>
              <a:t>tx</a:t>
            </a:r>
            <a:r>
              <a:rPr lang="en-US" kern="1200" dirty="0">
                <a:solidFill>
                  <a:prstClr val="black"/>
                </a:solidFill>
                <a:latin typeface="Calibri"/>
                <a:ea typeface="+mn-ea"/>
                <a:cs typeface="+mn-cs"/>
              </a:rPr>
              <a:t>), Base station(Rx)</a:t>
            </a:r>
            <a:endParaRPr lang="en-IN" kern="1200" dirty="0">
              <a:solidFill>
                <a:prstClr val="black"/>
              </a:solidFill>
              <a:latin typeface="Calibri"/>
              <a:ea typeface="+mn-ea"/>
              <a:cs typeface="+mn-cs"/>
            </a:endParaRPr>
          </a:p>
        </p:txBody>
      </p:sp>
      <p:sp>
        <p:nvSpPr>
          <p:cNvPr id="9" name="TextBox 8"/>
          <p:cNvSpPr txBox="1"/>
          <p:nvPr/>
        </p:nvSpPr>
        <p:spPr>
          <a:xfrm>
            <a:off x="3413713" y="5127438"/>
            <a:ext cx="1827663"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Time (</a:t>
            </a:r>
            <a:r>
              <a:rPr lang="en-US" kern="1200" dirty="0" err="1">
                <a:solidFill>
                  <a:prstClr val="black"/>
                </a:solidFill>
                <a:latin typeface="Calibri"/>
                <a:ea typeface="+mn-ea"/>
                <a:cs typeface="+mn-cs"/>
              </a:rPr>
              <a:t>ms</a:t>
            </a:r>
            <a:r>
              <a:rPr lang="en-US" kern="1200" dirty="0">
                <a:solidFill>
                  <a:prstClr val="black"/>
                </a:solidFill>
                <a:latin typeface="Calibri"/>
                <a:ea typeface="+mn-ea"/>
                <a:cs typeface="+mn-cs"/>
              </a:rPr>
              <a:t>)</a:t>
            </a:r>
            <a:endParaRPr lang="en-IN" kern="1200" dirty="0">
              <a:solidFill>
                <a:prstClr val="black"/>
              </a:solidFill>
              <a:latin typeface="Calibri"/>
              <a:ea typeface="+mn-ea"/>
              <a:cs typeface="+mn-cs"/>
            </a:endParaRPr>
          </a:p>
        </p:txBody>
      </p:sp>
      <p:sp>
        <p:nvSpPr>
          <p:cNvPr id="10" name="TextBox 9"/>
          <p:cNvSpPr txBox="1"/>
          <p:nvPr/>
        </p:nvSpPr>
        <p:spPr>
          <a:xfrm rot="-5400000">
            <a:off x="835151" y="3913775"/>
            <a:ext cx="1827663" cy="369332"/>
          </a:xfrm>
          <a:prstGeom prst="rect">
            <a:avLst/>
          </a:prstGeom>
          <a:noFill/>
          <a:ln>
            <a:noFill/>
          </a:ln>
        </p:spPr>
        <p:txBody>
          <a:bodyPr wrap="square" rtlCol="0">
            <a:spAutoFit/>
          </a:bodyPr>
          <a:lstStyle/>
          <a:p>
            <a:pPr algn="l" rtl="0"/>
            <a:r>
              <a:rPr lang="en-US" kern="1200" dirty="0">
                <a:solidFill>
                  <a:prstClr val="black"/>
                </a:solidFill>
                <a:latin typeface="Calibri"/>
                <a:ea typeface="+mn-ea"/>
                <a:cs typeface="+mn-cs"/>
              </a:rPr>
              <a:t>Frequency(</a:t>
            </a:r>
            <a:r>
              <a:rPr lang="en-US" kern="1200" dirty="0" err="1">
                <a:solidFill>
                  <a:prstClr val="black"/>
                </a:solidFill>
                <a:latin typeface="Calibri"/>
                <a:ea typeface="+mn-ea"/>
                <a:cs typeface="+mn-cs"/>
              </a:rPr>
              <a:t>Mhz</a:t>
            </a:r>
            <a:r>
              <a:rPr lang="en-US" kern="1200" dirty="0">
                <a:solidFill>
                  <a:prstClr val="black"/>
                </a:solidFill>
                <a:latin typeface="Calibri"/>
                <a:ea typeface="+mn-ea"/>
                <a:cs typeface="+mn-cs"/>
              </a:rPr>
              <a:t>)</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27147789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US" dirty="0"/>
              <a:t>Point to point communication, multipoint communication, broadcast communication are some of the types of wireless communication.</a:t>
            </a:r>
          </a:p>
          <a:p>
            <a:r>
              <a:rPr lang="en-US" dirty="0"/>
              <a:t>In wireless communication system, the data is modulated before the transmission and demodulated at the receiver.</a:t>
            </a:r>
          </a:p>
          <a:p>
            <a:r>
              <a:rPr lang="en-US" dirty="0"/>
              <a:t>In cellular communication, reverse channel is used for communication from mobile to base station and forward channel for communication between the base station to Mobile station.</a:t>
            </a:r>
          </a:p>
          <a:p>
            <a:r>
              <a:rPr lang="en-US" dirty="0"/>
              <a:t>Simplex, half duplex and full duplex are various ways of mobile radio transmission</a:t>
            </a:r>
          </a:p>
          <a:p>
            <a:r>
              <a:rPr lang="en-US" dirty="0"/>
              <a:t>Frequency division duplexing and time division duplexing are the forms of full duplex.</a:t>
            </a:r>
            <a:endParaRPr lang="en-IN" dirty="0"/>
          </a:p>
          <a:p>
            <a:endParaRPr lang="en-IN" dirty="0"/>
          </a:p>
          <a:p>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Cellular Network- 1G</a:t>
            </a:r>
            <a:endParaRPr lang="en-IN" dirty="0"/>
          </a:p>
        </p:txBody>
      </p:sp>
      <p:sp>
        <p:nvSpPr>
          <p:cNvPr id="3" name="Content Placeholder 2"/>
          <p:cNvSpPr>
            <a:spLocks noGrp="1"/>
          </p:cNvSpPr>
          <p:nvPr>
            <p:ph idx="1"/>
          </p:nvPr>
        </p:nvSpPr>
        <p:spPr/>
        <p:txBody>
          <a:bodyPr/>
          <a:lstStyle/>
          <a:p>
            <a:pPr marL="457200" indent="-457200"/>
            <a:r>
              <a:rPr lang="en-US" sz="2000" dirty="0"/>
              <a:t>Goal: To develop a working system that could provide basic </a:t>
            </a:r>
            <a:r>
              <a:rPr lang="en-US" sz="2000" dirty="0">
                <a:solidFill>
                  <a:schemeClr val="accent1"/>
                </a:solidFill>
              </a:rPr>
              <a:t>voice</a:t>
            </a:r>
            <a:r>
              <a:rPr lang="en-US" sz="2000" dirty="0"/>
              <a:t> service</a:t>
            </a:r>
          </a:p>
          <a:p>
            <a:pPr marL="457200" indent="-457200"/>
            <a:r>
              <a:rPr lang="en-US" sz="2000" dirty="0"/>
              <a:t>Time frame: 1980s </a:t>
            </a:r>
          </a:p>
          <a:p>
            <a:pPr marL="457200" indent="-457200"/>
            <a:r>
              <a:rPr lang="en-US" sz="2000" dirty="0"/>
              <a:t>Technology: FDMA/FDD</a:t>
            </a:r>
          </a:p>
          <a:p>
            <a:pPr marL="457200" indent="-457200"/>
            <a:r>
              <a:rPr lang="en-US" sz="2000" dirty="0"/>
              <a:t>Speed: 2.4Kbps</a:t>
            </a:r>
          </a:p>
          <a:p>
            <a:pPr marL="457200" indent="-457200"/>
            <a:r>
              <a:rPr lang="en-US" sz="2000" dirty="0"/>
              <a:t>1G network used Analog signal</a:t>
            </a:r>
          </a:p>
          <a:p>
            <a:pPr marL="457200" indent="-457200"/>
            <a:r>
              <a:rPr lang="en-US" sz="2000" dirty="0"/>
              <a:t>Example Systems: </a:t>
            </a:r>
          </a:p>
          <a:p>
            <a:pPr lvl="1"/>
            <a:r>
              <a:rPr lang="en-US" sz="1800" dirty="0"/>
              <a:t>Advanced Mobile Phone System (AMPS-USA)</a:t>
            </a:r>
          </a:p>
          <a:p>
            <a:pPr lvl="1"/>
            <a:r>
              <a:rPr lang="en-US" sz="1800" dirty="0"/>
              <a:t>Total Access Communication System (TACS-UK)</a:t>
            </a:r>
          </a:p>
          <a:p>
            <a:pPr lvl="1"/>
            <a:r>
              <a:rPr lang="en-US" sz="1800" dirty="0"/>
              <a:t>Nordic Mobile Telephone (NMT-Europe)</a:t>
            </a:r>
          </a:p>
          <a:p>
            <a:pPr marL="0" indent="0">
              <a:lnSpc>
                <a:spcPct val="90000"/>
              </a:lnSpc>
            </a:pPr>
            <a:endParaRPr lang="en-US" sz="2000" dirty="0"/>
          </a:p>
          <a:p>
            <a:endParaRPr lang="en-IN" sz="1200" dirty="0"/>
          </a:p>
        </p:txBody>
      </p:sp>
    </p:spTree>
    <p:extLst>
      <p:ext uri="{BB962C8B-B14F-4D97-AF65-F5344CB8AC3E}">
        <p14:creationId xmlns:p14="http://schemas.microsoft.com/office/powerpoint/2010/main" val="9093426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Draw backs of 1G</a:t>
            </a:r>
          </a:p>
          <a:p>
            <a:endParaRPr lang="en-IN" dirty="0"/>
          </a:p>
        </p:txBody>
      </p:sp>
      <p:sp>
        <p:nvSpPr>
          <p:cNvPr id="3" name="Content Placeholder 2"/>
          <p:cNvSpPr>
            <a:spLocks noGrp="1"/>
          </p:cNvSpPr>
          <p:nvPr>
            <p:ph idx="1"/>
          </p:nvPr>
        </p:nvSpPr>
        <p:spPr>
          <a:xfrm>
            <a:off x="245444" y="1632896"/>
            <a:ext cx="8503920" cy="4114800"/>
          </a:xfrm>
        </p:spPr>
        <p:txBody>
          <a:bodyPr/>
          <a:lstStyle/>
          <a:p>
            <a:r>
              <a:rPr lang="en-IN" dirty="0"/>
              <a:t>Poor voice quality</a:t>
            </a:r>
          </a:p>
          <a:p>
            <a:pPr marL="0" indent="0"/>
            <a:endParaRPr lang="en-IN" dirty="0"/>
          </a:p>
          <a:p>
            <a:r>
              <a:rPr lang="en-IN" dirty="0"/>
              <a:t>Poor battery life</a:t>
            </a:r>
          </a:p>
          <a:p>
            <a:pPr marL="0" indent="0"/>
            <a:endParaRPr lang="en-IN" dirty="0"/>
          </a:p>
          <a:p>
            <a:r>
              <a:rPr lang="en-IN" dirty="0"/>
              <a:t>Large phone size</a:t>
            </a:r>
          </a:p>
          <a:p>
            <a:pPr marL="0" indent="0"/>
            <a:endParaRPr lang="en-IN" dirty="0"/>
          </a:p>
          <a:p>
            <a:r>
              <a:rPr lang="en-IN" dirty="0"/>
              <a:t>Limited capacity</a:t>
            </a:r>
          </a:p>
          <a:p>
            <a:pPr marL="0" indent="0"/>
            <a:endParaRPr lang="en-IN" dirty="0"/>
          </a:p>
          <a:p>
            <a:r>
              <a:rPr lang="en-IN" dirty="0"/>
              <a:t>Poor handoff reliability</a:t>
            </a:r>
          </a:p>
          <a:p>
            <a:endParaRPr lang="en-IN" dirty="0"/>
          </a:p>
        </p:txBody>
      </p:sp>
      <p:pic>
        <p:nvPicPr>
          <p:cNvPr id="4" name="Picture 3"/>
          <p:cNvPicPr>
            <a:picLocks noChangeAspect="1"/>
          </p:cNvPicPr>
          <p:nvPr/>
        </p:nvPicPr>
        <p:blipFill rotWithShape="1">
          <a:blip r:embed="rId2"/>
          <a:srcRect l="48829" t="43750" r="45314" b="36808"/>
          <a:stretch/>
        </p:blipFill>
        <p:spPr>
          <a:xfrm>
            <a:off x="4614530" y="2285557"/>
            <a:ext cx="1295400" cy="1943100"/>
          </a:xfrm>
          <a:prstGeom prst="rect">
            <a:avLst/>
          </a:prstGeom>
          <a:effectLst>
            <a:outerShdw blurRad="50800" dist="50800" dir="5400000" algn="ctr" rotWithShape="0">
              <a:srgbClr val="000000">
                <a:alpha val="99000"/>
              </a:srgbClr>
            </a:outerShdw>
          </a:effectLst>
        </p:spPr>
      </p:pic>
    </p:spTree>
    <p:extLst>
      <p:ext uri="{BB962C8B-B14F-4D97-AF65-F5344CB8AC3E}">
        <p14:creationId xmlns:p14="http://schemas.microsoft.com/office/powerpoint/2010/main" val="279132938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Cellular Network-2G</a:t>
            </a:r>
            <a:endParaRPr lang="en-IN" dirty="0"/>
          </a:p>
        </p:txBody>
      </p:sp>
      <p:sp>
        <p:nvSpPr>
          <p:cNvPr id="3" name="Content Placeholder 2"/>
          <p:cNvSpPr>
            <a:spLocks noGrp="1"/>
          </p:cNvSpPr>
          <p:nvPr>
            <p:ph idx="1"/>
          </p:nvPr>
        </p:nvSpPr>
        <p:spPr/>
        <p:txBody>
          <a:bodyPr/>
          <a:lstStyle/>
          <a:p>
            <a:pPr marL="457200" indent="-457200"/>
            <a:r>
              <a:rPr lang="en-US" sz="2000" dirty="0"/>
              <a:t>Goal: </a:t>
            </a:r>
            <a:r>
              <a:rPr lang="en-US" sz="2000" dirty="0">
                <a:solidFill>
                  <a:schemeClr val="accent1"/>
                </a:solidFill>
              </a:rPr>
              <a:t>Digital</a:t>
            </a:r>
            <a:r>
              <a:rPr lang="en-US" sz="2000" dirty="0"/>
              <a:t> voice service with improved quality and also provide better services</a:t>
            </a:r>
          </a:p>
          <a:p>
            <a:pPr marL="457200" indent="-457200"/>
            <a:r>
              <a:rPr lang="en-US" sz="2000" dirty="0"/>
              <a:t>Time Frame: Launched in Finland in 1991</a:t>
            </a:r>
          </a:p>
          <a:p>
            <a:pPr marL="457200" indent="-457200"/>
            <a:r>
              <a:rPr lang="en-US" sz="2000" dirty="0"/>
              <a:t>Used digital signals</a:t>
            </a:r>
          </a:p>
          <a:p>
            <a:pPr marL="457200" indent="-457200"/>
            <a:r>
              <a:rPr lang="en-US" sz="2000" dirty="0"/>
              <a:t>Digital modulation formats were introduced in this generation with the main technology as TDMA/FDD </a:t>
            </a:r>
          </a:p>
          <a:p>
            <a:pPr marL="457200" indent="-457200"/>
            <a:r>
              <a:rPr lang="en-US" sz="2000" dirty="0"/>
              <a:t>Data Speed: </a:t>
            </a:r>
            <a:r>
              <a:rPr lang="en-US" sz="2000" dirty="0" err="1"/>
              <a:t>upto</a:t>
            </a:r>
            <a:r>
              <a:rPr lang="en-US" sz="2000" dirty="0"/>
              <a:t> 64kbps</a:t>
            </a:r>
          </a:p>
          <a:p>
            <a:pPr marL="457200" indent="-457200"/>
            <a:r>
              <a:rPr lang="en-US" sz="2000" dirty="0"/>
              <a:t>Services like text message, picture message was included.</a:t>
            </a:r>
          </a:p>
          <a:p>
            <a:pPr marL="457200" indent="-457200"/>
            <a:r>
              <a:rPr lang="en-US" sz="2000" dirty="0"/>
              <a:t>Example Systems:</a:t>
            </a:r>
          </a:p>
          <a:p>
            <a:pPr lvl="1"/>
            <a:r>
              <a:rPr lang="en-US" sz="1800" dirty="0"/>
              <a:t>Global System for Mobile Communications (GSM) (TDMA and FDMA)</a:t>
            </a:r>
          </a:p>
          <a:p>
            <a:pPr lvl="1"/>
            <a:r>
              <a:rPr lang="en-US" sz="1800" dirty="0"/>
              <a:t>IS-95(Interim Standard) (CDMA)</a:t>
            </a:r>
            <a:endParaRPr lang="en-US" sz="1050" dirty="0"/>
          </a:p>
          <a:p>
            <a:endParaRPr lang="en-IN" sz="1400" dirty="0"/>
          </a:p>
        </p:txBody>
      </p:sp>
    </p:spTree>
    <p:extLst>
      <p:ext uri="{BB962C8B-B14F-4D97-AF65-F5344CB8AC3E}">
        <p14:creationId xmlns:p14="http://schemas.microsoft.com/office/powerpoint/2010/main" val="26593024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Cellular Network- 2.5G</a:t>
            </a:r>
            <a:endParaRPr lang="en-IN" dirty="0"/>
          </a:p>
        </p:txBody>
      </p:sp>
      <p:sp>
        <p:nvSpPr>
          <p:cNvPr id="4" name="Content Placeholder 1"/>
          <p:cNvSpPr>
            <a:spLocks noGrp="1"/>
          </p:cNvSpPr>
          <p:nvPr>
            <p:ph idx="1"/>
          </p:nvPr>
        </p:nvSpPr>
        <p:spPr/>
        <p:txBody>
          <a:bodyPr/>
          <a:lstStyle/>
          <a:p>
            <a:pPr marL="457200" indent="-457200"/>
            <a:r>
              <a:rPr lang="en-US" sz="2000" dirty="0">
                <a:latin typeface="+mj-lt"/>
              </a:rPr>
              <a:t>Goal: To provide better data rates and wider range of data services and it was </a:t>
            </a:r>
            <a:r>
              <a:rPr lang="en-US" sz="2000" dirty="0">
                <a:solidFill>
                  <a:schemeClr val="accent1"/>
                </a:solidFill>
                <a:latin typeface="+mj-lt"/>
              </a:rPr>
              <a:t>a transition  from 2G to 3G</a:t>
            </a:r>
          </a:p>
          <a:p>
            <a:pPr marL="457200" indent="-457200"/>
            <a:r>
              <a:rPr lang="en-US" sz="2000" dirty="0">
                <a:latin typeface="+mj-lt"/>
              </a:rPr>
              <a:t>Time frame: 2000-2002</a:t>
            </a:r>
          </a:p>
          <a:p>
            <a:pPr marL="457200" indent="-457200"/>
            <a:r>
              <a:rPr lang="en-US" sz="2000" dirty="0">
                <a:latin typeface="+mj-lt"/>
              </a:rPr>
              <a:t>Features</a:t>
            </a:r>
          </a:p>
          <a:p>
            <a:pPr marL="857250" lvl="1" indent="-457200">
              <a:buFont typeface="Arial" pitchFamily="34" charset="0"/>
              <a:buChar char="•"/>
            </a:pPr>
            <a:r>
              <a:rPr lang="en-US" sz="1600" dirty="0">
                <a:latin typeface="+mj-lt"/>
              </a:rPr>
              <a:t>Phone calls</a:t>
            </a:r>
          </a:p>
          <a:p>
            <a:pPr marL="857250" lvl="1" indent="-457200">
              <a:buFont typeface="Arial" pitchFamily="34" charset="0"/>
              <a:buChar char="•"/>
            </a:pPr>
            <a:r>
              <a:rPr lang="en-US" sz="1600" dirty="0">
                <a:latin typeface="+mj-lt"/>
              </a:rPr>
              <a:t>Send/receive e-mail</a:t>
            </a:r>
          </a:p>
          <a:p>
            <a:pPr marL="857250" lvl="1" indent="-457200">
              <a:buFont typeface="Arial" pitchFamily="34" charset="0"/>
              <a:buChar char="•"/>
            </a:pPr>
            <a:r>
              <a:rPr lang="en-US" sz="1600" dirty="0">
                <a:latin typeface="+mj-lt"/>
              </a:rPr>
              <a:t>Speed: 64-144kbps</a:t>
            </a:r>
          </a:p>
          <a:p>
            <a:pPr marL="857250" lvl="1" indent="-457200">
              <a:buFont typeface="Arial" pitchFamily="34" charset="0"/>
              <a:buChar char="•"/>
            </a:pPr>
            <a:r>
              <a:rPr lang="en-US" sz="1600" dirty="0">
                <a:latin typeface="+mj-lt"/>
              </a:rPr>
              <a:t>Camera phones</a:t>
            </a:r>
          </a:p>
          <a:p>
            <a:pPr marL="457200" indent="-457200"/>
            <a:r>
              <a:rPr lang="en-US" sz="2000" dirty="0">
                <a:latin typeface="+mj-lt"/>
              </a:rPr>
              <a:t>Example Systems:</a:t>
            </a:r>
          </a:p>
          <a:p>
            <a:pPr lvl="1"/>
            <a:r>
              <a:rPr lang="en-US" sz="1800" dirty="0">
                <a:latin typeface="+mj-lt"/>
              </a:rPr>
              <a:t>General Packet Radio Service (GPRS)</a:t>
            </a:r>
          </a:p>
          <a:p>
            <a:pPr lvl="1"/>
            <a:r>
              <a:rPr lang="en-US" sz="1800" dirty="0">
                <a:latin typeface="+mj-lt"/>
              </a:rPr>
              <a:t>Enhanced Data rates for GSM Evolution (EDGE)</a:t>
            </a:r>
          </a:p>
          <a:p>
            <a:endParaRPr lang="en-US" sz="1400" dirty="0">
              <a:latin typeface="+mj-lt"/>
            </a:endParaRPr>
          </a:p>
        </p:txBody>
      </p:sp>
    </p:spTree>
    <p:extLst>
      <p:ext uri="{BB962C8B-B14F-4D97-AF65-F5344CB8AC3E}">
        <p14:creationId xmlns:p14="http://schemas.microsoft.com/office/powerpoint/2010/main" val="427861118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Drawbacks of 2G</a:t>
            </a:r>
            <a:endParaRPr lang="en-IN" dirty="0"/>
          </a:p>
          <a:p>
            <a:endParaRPr lang="en-IN" dirty="0"/>
          </a:p>
        </p:txBody>
      </p:sp>
      <p:sp>
        <p:nvSpPr>
          <p:cNvPr id="3" name="Content Placeholder 2"/>
          <p:cNvSpPr>
            <a:spLocks noGrp="1"/>
          </p:cNvSpPr>
          <p:nvPr>
            <p:ph idx="1"/>
          </p:nvPr>
        </p:nvSpPr>
        <p:spPr/>
        <p:txBody>
          <a:bodyPr/>
          <a:lstStyle/>
          <a:p>
            <a:r>
              <a:rPr lang="en-IN" dirty="0"/>
              <a:t>Requires strong digital signals to help mobile phones work. If there is no network coverage in any specific area, digital signals would be weak.</a:t>
            </a:r>
          </a:p>
          <a:p>
            <a:r>
              <a:rPr lang="en-IN" dirty="0"/>
              <a:t> 2G The GSM is a circuit switched, connection oriented technology, where the end systems are dedicated for the entire call session. This causes inefficiency in usage of bandwidth and resources.</a:t>
            </a:r>
          </a:p>
          <a:p>
            <a:r>
              <a:rPr lang="en-IN" dirty="0"/>
              <a:t>The GSM-enabled systems do not support high data rates.</a:t>
            </a:r>
          </a:p>
          <a:p>
            <a:r>
              <a:rPr lang="en-IN" dirty="0"/>
              <a:t>They are unable to handle complex data such as video.</a:t>
            </a:r>
          </a:p>
          <a:p>
            <a:pPr marL="0" indent="0">
              <a:buNone/>
            </a:pPr>
            <a:endParaRPr lang="en-IN" dirty="0"/>
          </a:p>
        </p:txBody>
      </p:sp>
    </p:spTree>
    <p:extLst>
      <p:ext uri="{BB962C8B-B14F-4D97-AF65-F5344CB8AC3E}">
        <p14:creationId xmlns:p14="http://schemas.microsoft.com/office/powerpoint/2010/main" val="36293794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Cellular Network- 3G</a:t>
            </a:r>
            <a:endParaRPr lang="en-IN" dirty="0"/>
          </a:p>
        </p:txBody>
      </p:sp>
      <p:sp>
        <p:nvSpPr>
          <p:cNvPr id="3" name="Content Placeholder 2"/>
          <p:cNvSpPr>
            <a:spLocks noGrp="1"/>
          </p:cNvSpPr>
          <p:nvPr>
            <p:ph idx="1"/>
          </p:nvPr>
        </p:nvSpPr>
        <p:spPr/>
        <p:txBody>
          <a:bodyPr/>
          <a:lstStyle/>
          <a:p>
            <a:pPr marL="457200" indent="-457200">
              <a:lnSpc>
                <a:spcPct val="90000"/>
              </a:lnSpc>
            </a:pPr>
            <a:endParaRPr lang="en-US" dirty="0"/>
          </a:p>
          <a:p>
            <a:pPr marL="457200" indent="-457200">
              <a:lnSpc>
                <a:spcPct val="90000"/>
              </a:lnSpc>
            </a:pPr>
            <a:r>
              <a:rPr lang="en-US" dirty="0"/>
              <a:t>Goal: High speed wireless data access </a:t>
            </a:r>
          </a:p>
          <a:p>
            <a:pPr marL="457200" indent="-457200">
              <a:lnSpc>
                <a:spcPct val="90000"/>
              </a:lnSpc>
            </a:pPr>
            <a:r>
              <a:rPr lang="en-US" dirty="0"/>
              <a:t>3rd Generation Partnership Project (3GPP) is the standard</a:t>
            </a:r>
          </a:p>
          <a:p>
            <a:pPr marL="457200" indent="-457200">
              <a:lnSpc>
                <a:spcPct val="90000"/>
              </a:lnSpc>
            </a:pPr>
            <a:r>
              <a:rPr lang="en-US" dirty="0"/>
              <a:t>Technology used: TD- CDMA</a:t>
            </a:r>
          </a:p>
          <a:p>
            <a:pPr>
              <a:lnSpc>
                <a:spcPct val="90000"/>
              </a:lnSpc>
            </a:pPr>
            <a:r>
              <a:rPr lang="en-US" sz="1400" dirty="0"/>
              <a:t>    </a:t>
            </a:r>
            <a:r>
              <a:rPr lang="en-US" dirty="0"/>
              <a:t>Enhanced data rates of  2- 20Mpbs</a:t>
            </a:r>
          </a:p>
          <a:p>
            <a:pPr marL="457200" indent="-457200">
              <a:lnSpc>
                <a:spcPct val="90000"/>
              </a:lnSpc>
            </a:pPr>
            <a:r>
              <a:rPr lang="en-US" dirty="0"/>
              <a:t>Service flexibility</a:t>
            </a:r>
          </a:p>
          <a:p>
            <a:pPr marL="457200" indent="-457200">
              <a:lnSpc>
                <a:spcPct val="90000"/>
              </a:lnSpc>
            </a:pPr>
            <a:r>
              <a:rPr lang="en-US" dirty="0"/>
              <a:t>Global roaming across networks</a:t>
            </a:r>
          </a:p>
          <a:p>
            <a:pPr marL="457200" indent="-457200">
              <a:lnSpc>
                <a:spcPct val="90000"/>
              </a:lnSpc>
            </a:pPr>
            <a:r>
              <a:rPr lang="en-US" dirty="0"/>
              <a:t>Improved security</a:t>
            </a:r>
          </a:p>
          <a:p>
            <a:endParaRPr lang="en-IN" dirty="0"/>
          </a:p>
        </p:txBody>
      </p:sp>
    </p:spTree>
    <p:extLst>
      <p:ext uri="{BB962C8B-B14F-4D97-AF65-F5344CB8AC3E}">
        <p14:creationId xmlns:p14="http://schemas.microsoft.com/office/powerpoint/2010/main" val="9240149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3G Applications</a:t>
            </a:r>
            <a:endParaRPr lang="en-IN" dirty="0"/>
          </a:p>
          <a:p>
            <a:endParaRPr lang="en-IN" dirty="0"/>
          </a:p>
        </p:txBody>
      </p:sp>
      <p:sp>
        <p:nvSpPr>
          <p:cNvPr id="3" name="Content Placeholder 2"/>
          <p:cNvSpPr>
            <a:spLocks noGrp="1"/>
          </p:cNvSpPr>
          <p:nvPr>
            <p:ph idx="1"/>
          </p:nvPr>
        </p:nvSpPr>
        <p:spPr/>
        <p:txBody>
          <a:bodyPr/>
          <a:lstStyle/>
          <a:p>
            <a:pPr marL="0" indent="0">
              <a:buNone/>
            </a:pPr>
            <a:r>
              <a:rPr lang="en-US" dirty="0"/>
              <a:t>3G mobile is the major opportunity for business, commerce and consumers</a:t>
            </a:r>
          </a:p>
          <a:p>
            <a:pPr marL="0" indent="0">
              <a:buNone/>
            </a:pPr>
            <a:r>
              <a:rPr lang="en-IN" dirty="0">
                <a:solidFill>
                  <a:srgbClr val="FF0000"/>
                </a:solidFill>
              </a:rPr>
              <a:t>Higher bandwidth enables a range of new applications</a:t>
            </a:r>
            <a:r>
              <a:rPr lang="en-IN" dirty="0"/>
              <a:t>.</a:t>
            </a:r>
          </a:p>
          <a:p>
            <a:pPr marL="0" indent="0">
              <a:buNone/>
            </a:pPr>
            <a:r>
              <a:rPr lang="en-IN" b="1" dirty="0">
                <a:solidFill>
                  <a:srgbClr val="0070C0"/>
                </a:solidFill>
              </a:rPr>
              <a:t>For the consumer </a:t>
            </a:r>
          </a:p>
          <a:p>
            <a:pPr marL="0" indent="0">
              <a:buNone/>
            </a:pPr>
            <a:r>
              <a:rPr lang="en-IN" dirty="0"/>
              <a:t> Video seamless roaming, TV broadcast </a:t>
            </a:r>
          </a:p>
          <a:p>
            <a:pPr marL="0" indent="0">
              <a:buNone/>
            </a:pPr>
            <a:r>
              <a:rPr lang="en-IN" dirty="0"/>
              <a:t> Video calls, video clips – news, music, sports </a:t>
            </a:r>
          </a:p>
          <a:p>
            <a:pPr marL="0" indent="0">
              <a:buNone/>
            </a:pPr>
            <a:r>
              <a:rPr lang="en-IN" dirty="0"/>
              <a:t> Enhanced gaming, chat, location services…</a:t>
            </a:r>
          </a:p>
          <a:p>
            <a:pPr marL="0" indent="0">
              <a:buNone/>
            </a:pPr>
            <a:r>
              <a:rPr lang="en-IN" dirty="0"/>
              <a:t> </a:t>
            </a:r>
            <a:r>
              <a:rPr lang="en-IN" b="1" dirty="0">
                <a:solidFill>
                  <a:srgbClr val="0070C0"/>
                </a:solidFill>
              </a:rPr>
              <a:t>For business </a:t>
            </a:r>
          </a:p>
          <a:p>
            <a:pPr marL="0" indent="0">
              <a:buNone/>
            </a:pPr>
            <a:r>
              <a:rPr lang="en-IN" dirty="0"/>
              <a:t> High speed teleworking / VPN access </a:t>
            </a:r>
          </a:p>
          <a:p>
            <a:pPr marL="0" indent="0">
              <a:buNone/>
            </a:pPr>
            <a:r>
              <a:rPr lang="en-IN" dirty="0"/>
              <a:t> Sales force automation </a:t>
            </a:r>
          </a:p>
          <a:p>
            <a:pPr marL="0" indent="0">
              <a:buNone/>
            </a:pPr>
            <a:r>
              <a:rPr lang="en-IN" dirty="0"/>
              <a:t> Video conferencing </a:t>
            </a:r>
          </a:p>
          <a:p>
            <a:pPr marL="0" indent="0">
              <a:buNone/>
            </a:pPr>
            <a:r>
              <a:rPr lang="en-IN" dirty="0"/>
              <a:t> Real-time financial information</a:t>
            </a:r>
          </a:p>
          <a:p>
            <a:pPr marL="0" indent="0">
              <a:buNone/>
            </a:pPr>
            <a:endParaRPr lang="en-IN" dirty="0"/>
          </a:p>
        </p:txBody>
      </p:sp>
    </p:spTree>
    <p:extLst>
      <p:ext uri="{BB962C8B-B14F-4D97-AF65-F5344CB8AC3E}">
        <p14:creationId xmlns:p14="http://schemas.microsoft.com/office/powerpoint/2010/main" val="10362196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Cellular Network- 4G</a:t>
            </a:r>
            <a:endParaRPr lang="en-IN" dirty="0"/>
          </a:p>
        </p:txBody>
      </p:sp>
      <p:sp>
        <p:nvSpPr>
          <p:cNvPr id="3" name="Content Placeholder 2"/>
          <p:cNvSpPr>
            <a:spLocks noGrp="1"/>
          </p:cNvSpPr>
          <p:nvPr>
            <p:ph idx="1"/>
          </p:nvPr>
        </p:nvSpPr>
        <p:spPr/>
        <p:txBody>
          <a:bodyPr/>
          <a:lstStyle/>
          <a:p>
            <a:pPr marL="0" indent="0">
              <a:lnSpc>
                <a:spcPct val="90000"/>
              </a:lnSpc>
              <a:buNone/>
            </a:pPr>
            <a:endParaRPr lang="en-US" dirty="0"/>
          </a:p>
          <a:p>
            <a:pPr marL="0" indent="0">
              <a:lnSpc>
                <a:spcPct val="90000"/>
              </a:lnSpc>
              <a:buNone/>
            </a:pPr>
            <a:r>
              <a:rPr lang="en-US" dirty="0"/>
              <a:t>Goal:</a:t>
            </a:r>
          </a:p>
          <a:p>
            <a:pPr lvl="1">
              <a:lnSpc>
                <a:spcPct val="90000"/>
              </a:lnSpc>
            </a:pPr>
            <a:r>
              <a:rPr lang="en-US" sz="1800" dirty="0"/>
              <a:t>High mobility, High data rate</a:t>
            </a:r>
          </a:p>
          <a:p>
            <a:pPr marL="0" indent="0">
              <a:lnSpc>
                <a:spcPct val="90000"/>
              </a:lnSpc>
              <a:buNone/>
            </a:pPr>
            <a:r>
              <a:rPr lang="en-US" dirty="0"/>
              <a:t>Frequency Band: 2 to 8 </a:t>
            </a:r>
            <a:r>
              <a:rPr lang="en-US" dirty="0" err="1"/>
              <a:t>Ghz</a:t>
            </a:r>
            <a:r>
              <a:rPr lang="en-US" dirty="0"/>
              <a:t>. </a:t>
            </a:r>
          </a:p>
          <a:p>
            <a:pPr marL="0" indent="0">
              <a:lnSpc>
                <a:spcPct val="90000"/>
              </a:lnSpc>
              <a:buNone/>
            </a:pPr>
            <a:r>
              <a:rPr lang="en-US" dirty="0"/>
              <a:t>Download speed is </a:t>
            </a:r>
            <a:r>
              <a:rPr lang="en-US" dirty="0" err="1"/>
              <a:t>upto</a:t>
            </a:r>
            <a:r>
              <a:rPr lang="en-US" dirty="0"/>
              <a:t> 100 Mbps for moving users and 1GPS for stationary users.</a:t>
            </a:r>
          </a:p>
          <a:p>
            <a:pPr marL="0" indent="0">
              <a:lnSpc>
                <a:spcPct val="90000"/>
              </a:lnSpc>
              <a:buNone/>
            </a:pPr>
            <a:r>
              <a:rPr lang="en-US" altLang="zh-CN" dirty="0"/>
              <a:t>LTE (Long Term Evolution)</a:t>
            </a:r>
          </a:p>
          <a:p>
            <a:pPr lvl="1">
              <a:lnSpc>
                <a:spcPct val="90000"/>
              </a:lnSpc>
              <a:buFont typeface="Wingdings" pitchFamily="2" charset="2"/>
              <a:buChar char="ü"/>
            </a:pPr>
            <a:r>
              <a:rPr lang="en-US" altLang="zh-CN" sz="1800" dirty="0"/>
              <a:t>Uses Orthogonal Frequency Division Multiplexing (OFDM) </a:t>
            </a:r>
          </a:p>
          <a:p>
            <a:pPr lvl="1">
              <a:lnSpc>
                <a:spcPct val="90000"/>
              </a:lnSpc>
              <a:buFont typeface="Wingdings" pitchFamily="2" charset="2"/>
              <a:buChar char="ü"/>
            </a:pPr>
            <a:r>
              <a:rPr lang="en-US" altLang="zh-CN" sz="1800" dirty="0"/>
              <a:t>Uses Multi-input Multi-output(MIMO) for enhanced throughput</a:t>
            </a:r>
          </a:p>
          <a:p>
            <a:pPr marL="0" indent="0">
              <a:buNone/>
            </a:pPr>
            <a:endParaRPr lang="en-IN" dirty="0"/>
          </a:p>
        </p:txBody>
      </p:sp>
    </p:spTree>
    <p:extLst>
      <p:ext uri="{BB962C8B-B14F-4D97-AF65-F5344CB8AC3E}">
        <p14:creationId xmlns:p14="http://schemas.microsoft.com/office/powerpoint/2010/main" val="20761513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Features of 4G</a:t>
            </a:r>
            <a:endParaRPr lang="en-IN" dirty="0"/>
          </a:p>
          <a:p>
            <a:endParaRPr lang="en-IN" dirty="0"/>
          </a:p>
        </p:txBody>
      </p:sp>
      <p:sp>
        <p:nvSpPr>
          <p:cNvPr id="3" name="Content Placeholder 2"/>
          <p:cNvSpPr>
            <a:spLocks noGrp="1"/>
          </p:cNvSpPr>
          <p:nvPr>
            <p:ph idx="1"/>
          </p:nvPr>
        </p:nvSpPr>
        <p:spPr/>
        <p:txBody>
          <a:bodyPr/>
          <a:lstStyle/>
          <a:p>
            <a:r>
              <a:rPr lang="en-IN" dirty="0"/>
              <a:t>Support for interactive multimedia, voice, streaming video, Internet, and other broadband services</a:t>
            </a:r>
          </a:p>
          <a:p>
            <a:r>
              <a:rPr lang="en-IN" dirty="0"/>
              <a:t>• Fully IP based mobile system</a:t>
            </a:r>
          </a:p>
          <a:p>
            <a:r>
              <a:rPr lang="en-IN" dirty="0"/>
              <a:t>• High speed, high capacity, and low cost‐per‐bit</a:t>
            </a:r>
          </a:p>
          <a:p>
            <a:r>
              <a:rPr lang="en-IN" dirty="0"/>
              <a:t>• Global access, service portability, and scalable mobile services</a:t>
            </a:r>
          </a:p>
          <a:p>
            <a:r>
              <a:rPr lang="en-IN" dirty="0"/>
              <a:t>• Seamless switching, and a variety of Quality of Service</a:t>
            </a:r>
          </a:p>
          <a:p>
            <a:r>
              <a:rPr lang="en-IN" dirty="0"/>
              <a:t>• Better scheduling and call‐admission‐control techniques</a:t>
            </a:r>
          </a:p>
          <a:p>
            <a:r>
              <a:rPr lang="en-IN" dirty="0"/>
              <a:t>• Better spectral efficiency</a:t>
            </a:r>
          </a:p>
          <a:p>
            <a:r>
              <a:rPr lang="en-IN" dirty="0"/>
              <a:t>• Interoperability with existing wireless standards</a:t>
            </a:r>
          </a:p>
          <a:p>
            <a:r>
              <a:rPr lang="en-IN" dirty="0"/>
              <a:t>• Packet switched network</a:t>
            </a:r>
          </a:p>
          <a:p>
            <a:endParaRPr lang="en-IN" dirty="0"/>
          </a:p>
        </p:txBody>
      </p:sp>
    </p:spTree>
    <p:extLst>
      <p:ext uri="{BB962C8B-B14F-4D97-AF65-F5344CB8AC3E}">
        <p14:creationId xmlns:p14="http://schemas.microsoft.com/office/powerpoint/2010/main" val="343553475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Advantages of 4G</a:t>
            </a:r>
            <a:endParaRPr lang="en-IN" dirty="0"/>
          </a:p>
          <a:p>
            <a:endParaRPr lang="en-IN" dirty="0"/>
          </a:p>
        </p:txBody>
      </p:sp>
      <p:sp>
        <p:nvSpPr>
          <p:cNvPr id="3" name="Content Placeholder 2"/>
          <p:cNvSpPr>
            <a:spLocks noGrp="1"/>
          </p:cNvSpPr>
          <p:nvPr>
            <p:ph idx="1"/>
          </p:nvPr>
        </p:nvSpPr>
        <p:spPr/>
        <p:txBody>
          <a:bodyPr/>
          <a:lstStyle/>
          <a:p>
            <a:r>
              <a:rPr lang="en-IN" dirty="0"/>
              <a:t>Affordable communication services.</a:t>
            </a:r>
          </a:p>
          <a:p>
            <a:r>
              <a:rPr lang="en-IN" dirty="0"/>
              <a:t>High speed, high capacity and low cost per bit.</a:t>
            </a:r>
          </a:p>
          <a:p>
            <a:r>
              <a:rPr lang="en-IN" dirty="0"/>
              <a:t>Support for interactive multimedia, voice , streaming video, Internet and other broadband services.</a:t>
            </a:r>
          </a:p>
          <a:p>
            <a:r>
              <a:rPr lang="en-IN" dirty="0"/>
              <a:t>Global access, Service portability and scalable mobile services and variety of quality of services provided.</a:t>
            </a:r>
          </a:p>
          <a:p>
            <a:r>
              <a:rPr lang="en-IN" dirty="0"/>
              <a:t>Better spectral efficiency.</a:t>
            </a:r>
          </a:p>
          <a:p>
            <a:r>
              <a:rPr lang="en-IN" dirty="0"/>
              <a:t>seamless network of multiple protocol and air interfaces.</a:t>
            </a:r>
          </a:p>
          <a:p>
            <a:pPr marL="0" indent="0">
              <a:buNone/>
            </a:pPr>
            <a:endParaRPr lang="en-IN" dirty="0"/>
          </a:p>
        </p:txBody>
      </p:sp>
    </p:spTree>
    <p:extLst>
      <p:ext uri="{BB962C8B-B14F-4D97-AF65-F5344CB8AC3E}">
        <p14:creationId xmlns:p14="http://schemas.microsoft.com/office/powerpoint/2010/main" val="3644175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1" y="1253316"/>
            <a:ext cx="8388193" cy="582930"/>
          </a:xfrm>
        </p:spPr>
        <p:txBody>
          <a:bodyPr/>
          <a:lstStyle/>
          <a:p>
            <a:r>
              <a:rPr kumimoji="1" lang="en-US" altLang="zh-TW" dirty="0"/>
              <a:t>Example of Wireless Communication- Cellular Telephone Systems</a:t>
            </a:r>
            <a:endParaRPr lang="en-US" dirty="0"/>
          </a:p>
          <a:p>
            <a:endParaRPr lang="en-US" dirty="0"/>
          </a:p>
          <a:p>
            <a:r>
              <a:rPr lang="en-IN" dirty="0"/>
              <a:t> </a:t>
            </a:r>
          </a:p>
        </p:txBody>
      </p:sp>
      <p:pic>
        <p:nvPicPr>
          <p:cNvPr id="4" name="Picture 5" descr="D:\mcchiu\course\mobile communications\ch1\1_5.gif"/>
          <p:cNvPicPr>
            <a:picLocks noGrp="1" noChangeAspect="1" noChangeArrowheads="1"/>
          </p:cNvPicPr>
          <p:nvPr>
            <p:ph idx="1"/>
          </p:nvPr>
        </p:nvPicPr>
        <p:blipFill rotWithShape="1">
          <a:blip r:embed="rId2"/>
          <a:srcRect b="666"/>
          <a:stretch/>
        </p:blipFill>
        <p:spPr bwMode="auto">
          <a:xfrm>
            <a:off x="1562986" y="2025983"/>
            <a:ext cx="5143673" cy="3273785"/>
          </a:xfrm>
          <a:prstGeom prst="rect">
            <a:avLst/>
          </a:prstGeom>
          <a:noFill/>
          <a:ln w="9525">
            <a:noFill/>
            <a:miter lim="800000"/>
            <a:headEnd/>
            <a:tailEnd/>
          </a:ln>
        </p:spPr>
      </p:pic>
      <p:sp>
        <p:nvSpPr>
          <p:cNvPr id="3" name="Rectangle 2"/>
          <p:cNvSpPr/>
          <p:nvPr/>
        </p:nvSpPr>
        <p:spPr>
          <a:xfrm>
            <a:off x="4699592" y="5213099"/>
            <a:ext cx="2007067"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542260" y="4833827"/>
            <a:ext cx="2232838"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Fig: A cellular system</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278594022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Tx/>
              <a:buChar char="•"/>
            </a:pPr>
            <a:r>
              <a:rPr kumimoji="1" lang="en-US" altLang="zh-TW" sz="2000" dirty="0"/>
              <a:t>Communication between the base station and mobiles is defined by the standard </a:t>
            </a:r>
            <a:r>
              <a:rPr kumimoji="1" lang="en-US" altLang="zh-TW" sz="2000" dirty="0">
                <a:solidFill>
                  <a:srgbClr val="0000FF"/>
                </a:solidFill>
              </a:rPr>
              <a:t>Common Air Interface (CAI)</a:t>
            </a:r>
          </a:p>
          <a:p>
            <a:pPr lvl="1">
              <a:buFontTx/>
              <a:buChar char="–"/>
            </a:pPr>
            <a:r>
              <a:rPr kumimoji="1" lang="en-US" altLang="zh-TW" sz="2000" dirty="0">
                <a:solidFill>
                  <a:srgbClr val="FF0000"/>
                </a:solidFill>
              </a:rPr>
              <a:t>forward voice channel (FVC): </a:t>
            </a:r>
            <a:r>
              <a:rPr kumimoji="1" lang="en-US" altLang="zh-TW" sz="2000" dirty="0"/>
              <a:t>voice transmission from base station to mobile</a:t>
            </a:r>
          </a:p>
          <a:p>
            <a:pPr lvl="1">
              <a:buFontTx/>
              <a:buChar char="–"/>
            </a:pPr>
            <a:r>
              <a:rPr kumimoji="1" lang="en-US" altLang="zh-TW" sz="2000" dirty="0">
                <a:solidFill>
                  <a:srgbClr val="FF0000"/>
                </a:solidFill>
              </a:rPr>
              <a:t>reverse voice channel (RVC):  </a:t>
            </a:r>
            <a:r>
              <a:rPr kumimoji="1" lang="en-US" altLang="zh-TW" sz="2000" dirty="0"/>
              <a:t>voice transmission from mobile to base station</a:t>
            </a:r>
          </a:p>
          <a:p>
            <a:pPr lvl="1">
              <a:buFontTx/>
              <a:buChar char="–"/>
            </a:pPr>
            <a:r>
              <a:rPr kumimoji="1" lang="en-US" altLang="zh-TW" sz="2000" dirty="0">
                <a:solidFill>
                  <a:srgbClr val="FF0000"/>
                </a:solidFill>
              </a:rPr>
              <a:t>forward control channels (FCC): </a:t>
            </a:r>
            <a:r>
              <a:rPr kumimoji="1" lang="en-US" altLang="zh-TW" sz="2000" dirty="0"/>
              <a:t>initiating mobile call from base station to mobile</a:t>
            </a:r>
          </a:p>
          <a:p>
            <a:pPr lvl="1">
              <a:buFontTx/>
              <a:buChar char="–"/>
            </a:pPr>
            <a:r>
              <a:rPr kumimoji="1" lang="en-US" altLang="zh-TW" sz="2000" dirty="0">
                <a:solidFill>
                  <a:srgbClr val="FF0000"/>
                </a:solidFill>
              </a:rPr>
              <a:t>reverse control channel (RCC):</a:t>
            </a:r>
            <a:r>
              <a:rPr kumimoji="1" lang="en-US" altLang="zh-TW" sz="2000" dirty="0"/>
              <a:t> initiating mobile call from mobile to base station</a:t>
            </a:r>
          </a:p>
          <a:p>
            <a:endParaRPr lang="en-IN" sz="1400" dirty="0"/>
          </a:p>
        </p:txBody>
      </p:sp>
      <p:sp>
        <p:nvSpPr>
          <p:cNvPr id="2" name="Rectangle 1"/>
          <p:cNvSpPr/>
          <p:nvPr/>
        </p:nvSpPr>
        <p:spPr>
          <a:xfrm>
            <a:off x="274320" y="857250"/>
            <a:ext cx="8449733" cy="1446550"/>
          </a:xfrm>
          <a:prstGeom prst="rect">
            <a:avLst/>
          </a:prstGeom>
        </p:spPr>
        <p:txBody>
          <a:bodyPr wrap="square">
            <a:spAutoFit/>
          </a:bodyPr>
          <a:lstStyle/>
          <a:p>
            <a:pPr algn="l" rtl="0"/>
            <a:r>
              <a:rPr kumimoji="1" lang="en-US" altLang="zh-TW" sz="2200" b="1" kern="1200" dirty="0">
                <a:solidFill>
                  <a:srgbClr val="FF0000"/>
                </a:solidFill>
                <a:latin typeface="Arial" panose="020B0604020202020204" pitchFamily="34" charset="0"/>
                <a:ea typeface="新細明體" panose="02020500000000000000" pitchFamily="18" charset="-120"/>
                <a:cs typeface="Arial" panose="020B0604020202020204" pitchFamily="34" charset="0"/>
              </a:rPr>
              <a:t>Example of Wireless Communication- Cellular Telephone Systems</a:t>
            </a:r>
            <a:endParaRPr lang="en-US" sz="2200" b="1" kern="1200" dirty="0">
              <a:solidFill>
                <a:srgbClr val="FF0000"/>
              </a:solidFill>
              <a:latin typeface="Arial" panose="020B0604020202020204" pitchFamily="34" charset="0"/>
              <a:ea typeface="+mn-ea"/>
              <a:cs typeface="Arial" panose="020B0604020202020204" pitchFamily="34" charset="0"/>
            </a:endParaRPr>
          </a:p>
          <a:p>
            <a:pPr algn="l" rtl="0"/>
            <a:endParaRPr lang="en-US" sz="2200" b="1" kern="1200" dirty="0">
              <a:solidFill>
                <a:srgbClr val="FF0000"/>
              </a:solidFill>
              <a:latin typeface="Arial" panose="020B0604020202020204" pitchFamily="34" charset="0"/>
              <a:ea typeface="+mn-ea"/>
              <a:cs typeface="Arial" panose="020B0604020202020204" pitchFamily="34" charset="0"/>
            </a:endParaRPr>
          </a:p>
          <a:p>
            <a:pPr algn="l" rtl="0"/>
            <a:r>
              <a:rPr lang="en-IN" sz="2200" b="1" kern="1200" dirty="0">
                <a:solidFill>
                  <a:srgbClr val="FF0000"/>
                </a:solidFill>
                <a:latin typeface="Arial" panose="020B0604020202020204" pitchFamily="34" charset="0"/>
                <a:ea typeface="+mn-ea"/>
                <a:cs typeface="Arial" panose="020B0604020202020204" pitchFamily="34" charset="0"/>
              </a:rPr>
              <a:t> </a:t>
            </a:r>
          </a:p>
        </p:txBody>
      </p:sp>
    </p:spTree>
    <p:extLst>
      <p:ext uri="{BB962C8B-B14F-4D97-AF65-F5344CB8AC3E}">
        <p14:creationId xmlns:p14="http://schemas.microsoft.com/office/powerpoint/2010/main" val="274660063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How a Cellular Call is Made</a:t>
            </a:r>
          </a:p>
          <a:p>
            <a:endParaRPr lang="en-IN" dirty="0"/>
          </a:p>
        </p:txBody>
      </p:sp>
      <p:sp>
        <p:nvSpPr>
          <p:cNvPr id="3" name="Content Placeholder 2"/>
          <p:cNvSpPr>
            <a:spLocks noGrp="1"/>
          </p:cNvSpPr>
          <p:nvPr>
            <p:ph idx="1"/>
          </p:nvPr>
        </p:nvSpPr>
        <p:spPr/>
        <p:txBody>
          <a:bodyPr/>
          <a:lstStyle/>
          <a:p>
            <a:pPr>
              <a:buFont typeface="Wingdings" pitchFamily="2" charset="2"/>
              <a:buChar char="§"/>
            </a:pPr>
            <a:r>
              <a:rPr lang="en-US" dirty="0"/>
              <a:t>A cell phone when turned on(even when it is not engaged with the call) , scans the group of Control Channels  to determine the one with the strongest signal.</a:t>
            </a:r>
          </a:p>
          <a:p>
            <a:pPr>
              <a:buFont typeface="Wingdings" pitchFamily="2" charset="2"/>
              <a:buChar char="§"/>
            </a:pPr>
            <a:endParaRPr lang="en-US" dirty="0"/>
          </a:p>
          <a:p>
            <a:pPr>
              <a:buFont typeface="Wingdings" pitchFamily="2" charset="2"/>
              <a:buChar char="§"/>
            </a:pPr>
            <a:r>
              <a:rPr lang="en-US" dirty="0"/>
              <a:t>Typically the control channels use up to 5% of the total number of channels</a:t>
            </a:r>
            <a:endParaRPr lang="en-IN" dirty="0"/>
          </a:p>
        </p:txBody>
      </p:sp>
    </p:spTree>
    <p:extLst>
      <p:ext uri="{BB962C8B-B14F-4D97-AF65-F5344CB8AC3E}">
        <p14:creationId xmlns:p14="http://schemas.microsoft.com/office/powerpoint/2010/main" val="121932527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Call initiated by Mobile</a:t>
            </a:r>
            <a:endParaRPr lang="en-IN" dirty="0"/>
          </a:p>
          <a:p>
            <a:endParaRPr lang="en-IN" dirty="0"/>
          </a:p>
        </p:txBody>
      </p:sp>
      <p:graphicFrame>
        <p:nvGraphicFramePr>
          <p:cNvPr id="4" name="Content Placeholder 3"/>
          <p:cNvGraphicFramePr>
            <a:graphicFrameLocks noGrp="1"/>
          </p:cNvGraphicFramePr>
          <p:nvPr>
            <p:ph idx="1"/>
          </p:nvPr>
        </p:nvGraphicFramePr>
        <p:xfrm>
          <a:off x="132200" y="1650465"/>
          <a:ext cx="8923664" cy="4983292"/>
        </p:xfrm>
        <a:graphic>
          <a:graphicData uri="http://schemas.openxmlformats.org/drawingml/2006/table">
            <a:tbl>
              <a:tblPr>
                <a:tableStyleId>{5C22544A-7EE6-4342-B048-85BDC9FD1C3A}</a:tableStyleId>
              </a:tblPr>
              <a:tblGrid>
                <a:gridCol w="557500">
                  <a:extLst>
                    <a:ext uri="{9D8B030D-6E8A-4147-A177-3AD203B41FA5}">
                      <a16:colId xmlns:a16="http://schemas.microsoft.com/office/drawing/2014/main" val="20000"/>
                    </a:ext>
                  </a:extLst>
                </a:gridCol>
                <a:gridCol w="363991">
                  <a:extLst>
                    <a:ext uri="{9D8B030D-6E8A-4147-A177-3AD203B41FA5}">
                      <a16:colId xmlns:a16="http://schemas.microsoft.com/office/drawing/2014/main" val="20001"/>
                    </a:ext>
                  </a:extLst>
                </a:gridCol>
                <a:gridCol w="1633981">
                  <a:extLst>
                    <a:ext uri="{9D8B030D-6E8A-4147-A177-3AD203B41FA5}">
                      <a16:colId xmlns:a16="http://schemas.microsoft.com/office/drawing/2014/main" val="20002"/>
                    </a:ext>
                  </a:extLst>
                </a:gridCol>
                <a:gridCol w="1752230">
                  <a:extLst>
                    <a:ext uri="{9D8B030D-6E8A-4147-A177-3AD203B41FA5}">
                      <a16:colId xmlns:a16="http://schemas.microsoft.com/office/drawing/2014/main" val="20003"/>
                    </a:ext>
                  </a:extLst>
                </a:gridCol>
                <a:gridCol w="1472692">
                  <a:extLst>
                    <a:ext uri="{9D8B030D-6E8A-4147-A177-3AD203B41FA5}">
                      <a16:colId xmlns:a16="http://schemas.microsoft.com/office/drawing/2014/main" val="20004"/>
                    </a:ext>
                  </a:extLst>
                </a:gridCol>
                <a:gridCol w="1265376">
                  <a:extLst>
                    <a:ext uri="{9D8B030D-6E8A-4147-A177-3AD203B41FA5}">
                      <a16:colId xmlns:a16="http://schemas.microsoft.com/office/drawing/2014/main" val="20005"/>
                    </a:ext>
                  </a:extLst>
                </a:gridCol>
                <a:gridCol w="938947">
                  <a:extLst>
                    <a:ext uri="{9D8B030D-6E8A-4147-A177-3AD203B41FA5}">
                      <a16:colId xmlns:a16="http://schemas.microsoft.com/office/drawing/2014/main" val="20006"/>
                    </a:ext>
                  </a:extLst>
                </a:gridCol>
                <a:gridCol w="938947">
                  <a:extLst>
                    <a:ext uri="{9D8B030D-6E8A-4147-A177-3AD203B41FA5}">
                      <a16:colId xmlns:a16="http://schemas.microsoft.com/office/drawing/2014/main" val="20007"/>
                    </a:ext>
                  </a:extLst>
                </a:gridCol>
              </a:tblGrid>
              <a:tr h="69861">
                <a:tc>
                  <a:txBody>
                    <a:bodyPr/>
                    <a:lstStyle/>
                    <a:p>
                      <a:pPr algn="l" fontAlgn="b"/>
                      <a:r>
                        <a:rPr lang="en-IN" sz="1200" u="none" strike="noStrike" dirty="0">
                          <a:effectLst/>
                          <a:latin typeface="Arial" panose="020B0604020202020204" pitchFamily="34" charset="0"/>
                          <a:cs typeface="Arial" panose="020B0604020202020204" pitchFamily="34" charset="0"/>
                        </a:rPr>
                        <a:t>MSC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Receives call initiation request from base station and verifies mobile has valid MIN and ESN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Instructs originating base station to allot voice channels</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connects the mobile with the called party on PSTN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0"/>
                  </a:ext>
                </a:extLst>
              </a:tr>
              <a:tr h="492132">
                <a:tc rowSpan="4">
                  <a:txBody>
                    <a:bodyPr/>
                    <a:lstStyle/>
                    <a:p>
                      <a:pPr algn="l" fontAlgn="ctr"/>
                      <a:r>
                        <a:rPr lang="en-IN" sz="1200" u="none" strike="noStrike" dirty="0">
                          <a:effectLst/>
                          <a:latin typeface="Arial" panose="020B0604020202020204" pitchFamily="34" charset="0"/>
                          <a:cs typeface="Arial" panose="020B0604020202020204" pitchFamily="34" charset="0"/>
                        </a:rPr>
                        <a:t>Base Station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ctr">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FCC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Instruct mobile to move to voice channel</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1"/>
                  </a:ext>
                </a:extLst>
              </a:tr>
              <a:tr h="492132">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RCC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Receives call initiation request and MIN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2"/>
                  </a:ext>
                </a:extLst>
              </a:tr>
              <a:tr h="394499">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FVC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transmission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3"/>
                  </a:ext>
                </a:extLst>
              </a:tr>
              <a:tr h="394499">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RVC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reception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4"/>
                  </a:ext>
                </a:extLst>
              </a:tr>
              <a:tr h="492132">
                <a:tc rowSpan="4">
                  <a:txBody>
                    <a:bodyPr/>
                    <a:lstStyle/>
                    <a:p>
                      <a:pPr algn="l" fontAlgn="ctr"/>
                      <a:r>
                        <a:rPr lang="en-IN" sz="1200" u="none" strike="noStrike">
                          <a:effectLst/>
                          <a:latin typeface="Arial" panose="020B0604020202020204" pitchFamily="34" charset="0"/>
                          <a:cs typeface="Arial" panose="020B0604020202020204" pitchFamily="34" charset="0"/>
                        </a:rPr>
                        <a:t>Mobile station</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ctr">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FCC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Receives instruction to move to voice channel</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5"/>
                  </a:ext>
                </a:extLst>
              </a:tr>
              <a:tr h="541817">
                <a:tc vMerge="1">
                  <a:txBody>
                    <a:bodyPr/>
                    <a:lstStyle/>
                    <a:p>
                      <a:endParaRPr lang="en-IN"/>
                    </a:p>
                  </a:txBody>
                  <a:tcPr/>
                </a:tc>
                <a:tc>
                  <a:txBody>
                    <a:bodyPr/>
                    <a:lstStyle/>
                    <a:p>
                      <a:pPr algn="l" fontAlgn="b"/>
                      <a:r>
                        <a:rPr lang="en-IN" sz="1200" u="none" strike="noStrike" dirty="0">
                          <a:effectLst/>
                          <a:latin typeface="Arial" panose="020B0604020202020204" pitchFamily="34" charset="0"/>
                          <a:cs typeface="Arial" panose="020B0604020202020204" pitchFamily="34" charset="0"/>
                        </a:rPr>
                        <a:t>RCC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Sends a call initiation request along with MIN and number of called party</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6"/>
                  </a:ext>
                </a:extLst>
              </a:tr>
              <a:tr h="343007">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FVC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reception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7"/>
                  </a:ext>
                </a:extLst>
              </a:tr>
              <a:tr h="84084">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RVC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transmission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9545011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a:p>
        </p:txBody>
      </p:sp>
      <p:sp>
        <p:nvSpPr>
          <p:cNvPr id="3" name="Content Placeholder 2"/>
          <p:cNvSpPr>
            <a:spLocks noGrp="1"/>
          </p:cNvSpPr>
          <p:nvPr>
            <p:ph idx="1"/>
          </p:nvPr>
        </p:nvSpPr>
        <p:spPr/>
        <p:txBody>
          <a:bodyPr/>
          <a:lstStyle/>
          <a:p>
            <a:endParaRPr lang="en-IN"/>
          </a:p>
        </p:txBody>
      </p:sp>
      <p:graphicFrame>
        <p:nvGraphicFramePr>
          <p:cNvPr id="4" name="Content Placeholder 3"/>
          <p:cNvGraphicFramePr>
            <a:graphicFrameLocks/>
          </p:cNvGraphicFramePr>
          <p:nvPr/>
        </p:nvGraphicFramePr>
        <p:xfrm>
          <a:off x="121183" y="946138"/>
          <a:ext cx="8923664" cy="4983292"/>
        </p:xfrm>
        <a:graphic>
          <a:graphicData uri="http://schemas.openxmlformats.org/drawingml/2006/table">
            <a:tbl>
              <a:tblPr>
                <a:tableStyleId>{5C22544A-7EE6-4342-B048-85BDC9FD1C3A}</a:tableStyleId>
              </a:tblPr>
              <a:tblGrid>
                <a:gridCol w="557500">
                  <a:extLst>
                    <a:ext uri="{9D8B030D-6E8A-4147-A177-3AD203B41FA5}">
                      <a16:colId xmlns:a16="http://schemas.microsoft.com/office/drawing/2014/main" val="20000"/>
                    </a:ext>
                  </a:extLst>
                </a:gridCol>
                <a:gridCol w="363991">
                  <a:extLst>
                    <a:ext uri="{9D8B030D-6E8A-4147-A177-3AD203B41FA5}">
                      <a16:colId xmlns:a16="http://schemas.microsoft.com/office/drawing/2014/main" val="20001"/>
                    </a:ext>
                  </a:extLst>
                </a:gridCol>
                <a:gridCol w="1633981">
                  <a:extLst>
                    <a:ext uri="{9D8B030D-6E8A-4147-A177-3AD203B41FA5}">
                      <a16:colId xmlns:a16="http://schemas.microsoft.com/office/drawing/2014/main" val="20002"/>
                    </a:ext>
                  </a:extLst>
                </a:gridCol>
                <a:gridCol w="1752230">
                  <a:extLst>
                    <a:ext uri="{9D8B030D-6E8A-4147-A177-3AD203B41FA5}">
                      <a16:colId xmlns:a16="http://schemas.microsoft.com/office/drawing/2014/main" val="20003"/>
                    </a:ext>
                  </a:extLst>
                </a:gridCol>
                <a:gridCol w="1472692">
                  <a:extLst>
                    <a:ext uri="{9D8B030D-6E8A-4147-A177-3AD203B41FA5}">
                      <a16:colId xmlns:a16="http://schemas.microsoft.com/office/drawing/2014/main" val="20004"/>
                    </a:ext>
                  </a:extLst>
                </a:gridCol>
                <a:gridCol w="1265376">
                  <a:extLst>
                    <a:ext uri="{9D8B030D-6E8A-4147-A177-3AD203B41FA5}">
                      <a16:colId xmlns:a16="http://schemas.microsoft.com/office/drawing/2014/main" val="20005"/>
                    </a:ext>
                  </a:extLst>
                </a:gridCol>
                <a:gridCol w="938947">
                  <a:extLst>
                    <a:ext uri="{9D8B030D-6E8A-4147-A177-3AD203B41FA5}">
                      <a16:colId xmlns:a16="http://schemas.microsoft.com/office/drawing/2014/main" val="20006"/>
                    </a:ext>
                  </a:extLst>
                </a:gridCol>
                <a:gridCol w="938947">
                  <a:extLst>
                    <a:ext uri="{9D8B030D-6E8A-4147-A177-3AD203B41FA5}">
                      <a16:colId xmlns:a16="http://schemas.microsoft.com/office/drawing/2014/main" val="20007"/>
                    </a:ext>
                  </a:extLst>
                </a:gridCol>
              </a:tblGrid>
              <a:tr h="69861">
                <a:tc>
                  <a:txBody>
                    <a:bodyPr/>
                    <a:lstStyle/>
                    <a:p>
                      <a:pPr algn="l" fontAlgn="b"/>
                      <a:r>
                        <a:rPr lang="en-IN" sz="1200" u="none" strike="noStrike" dirty="0">
                          <a:effectLst/>
                          <a:latin typeface="Arial" panose="020B0604020202020204" pitchFamily="34" charset="0"/>
                          <a:cs typeface="Arial" panose="020B0604020202020204" pitchFamily="34" charset="0"/>
                        </a:rPr>
                        <a:t>MSC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Receives call initiation request from base station and verifies mobile has valid MIN and ESN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Instructs originating base station to allot voice channels</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connects the mobile with the called party on PSTN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0"/>
                  </a:ext>
                </a:extLst>
              </a:tr>
              <a:tr h="492132">
                <a:tc rowSpan="4">
                  <a:txBody>
                    <a:bodyPr/>
                    <a:lstStyle/>
                    <a:p>
                      <a:pPr algn="l" fontAlgn="ctr"/>
                      <a:r>
                        <a:rPr lang="en-IN" sz="1200" u="none" strike="noStrike" dirty="0">
                          <a:effectLst/>
                          <a:latin typeface="Arial" panose="020B0604020202020204" pitchFamily="34" charset="0"/>
                          <a:cs typeface="Arial" panose="020B0604020202020204" pitchFamily="34" charset="0"/>
                        </a:rPr>
                        <a:t>Base Station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ctr">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FCC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Instruct mobile to move to voice channel</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1"/>
                  </a:ext>
                </a:extLst>
              </a:tr>
              <a:tr h="492132">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RCC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Receives call initiation request and MIN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2"/>
                  </a:ext>
                </a:extLst>
              </a:tr>
              <a:tr h="394499">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FVC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transmission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3"/>
                  </a:ext>
                </a:extLst>
              </a:tr>
              <a:tr h="394499">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RVC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reception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4"/>
                  </a:ext>
                </a:extLst>
              </a:tr>
              <a:tr h="492132">
                <a:tc rowSpan="4">
                  <a:txBody>
                    <a:bodyPr/>
                    <a:lstStyle/>
                    <a:p>
                      <a:pPr algn="l" fontAlgn="ctr"/>
                      <a:r>
                        <a:rPr lang="en-IN" sz="1200" u="none" strike="noStrike">
                          <a:effectLst/>
                          <a:latin typeface="Arial" panose="020B0604020202020204" pitchFamily="34" charset="0"/>
                          <a:cs typeface="Arial" panose="020B0604020202020204" pitchFamily="34" charset="0"/>
                        </a:rPr>
                        <a:t>Mobile station</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ctr">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FCC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Receives instruction to move to voice channel</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5"/>
                  </a:ext>
                </a:extLst>
              </a:tr>
              <a:tr h="541817">
                <a:tc vMerge="1">
                  <a:txBody>
                    <a:bodyPr/>
                    <a:lstStyle/>
                    <a:p>
                      <a:endParaRPr lang="en-IN"/>
                    </a:p>
                  </a:txBody>
                  <a:tcPr/>
                </a:tc>
                <a:tc>
                  <a:txBody>
                    <a:bodyPr/>
                    <a:lstStyle/>
                    <a:p>
                      <a:pPr algn="l" fontAlgn="b"/>
                      <a:r>
                        <a:rPr lang="en-IN" sz="1200" u="none" strike="noStrike" dirty="0">
                          <a:effectLst/>
                          <a:latin typeface="Arial" panose="020B0604020202020204" pitchFamily="34" charset="0"/>
                          <a:cs typeface="Arial" panose="020B0604020202020204" pitchFamily="34" charset="0"/>
                        </a:rPr>
                        <a:t>RCC</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Sends a call initiation request along with MIN and number of called party</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6"/>
                  </a:ext>
                </a:extLst>
              </a:tr>
              <a:tr h="343007">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FVC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reception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7"/>
                  </a:ext>
                </a:extLst>
              </a:tr>
              <a:tr h="84084">
                <a:tc vMerge="1">
                  <a:txBody>
                    <a:bodyPr/>
                    <a:lstStyle/>
                    <a:p>
                      <a:endParaRPr lang="en-IN"/>
                    </a:p>
                  </a:txBody>
                  <a:tcPr/>
                </a:tc>
                <a:tc>
                  <a:txBody>
                    <a:bodyPr/>
                    <a:lstStyle/>
                    <a:p>
                      <a:pPr algn="l" fontAlgn="b"/>
                      <a:r>
                        <a:rPr lang="en-IN" sz="1200" u="none" strike="noStrike">
                          <a:effectLst/>
                          <a:latin typeface="Arial" panose="020B0604020202020204" pitchFamily="34" charset="0"/>
                          <a:cs typeface="Arial" panose="020B0604020202020204" pitchFamily="34" charset="0"/>
                        </a:rPr>
                        <a:t>RVC</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 </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a:effectLst/>
                          <a:latin typeface="Arial" panose="020B0604020202020204" pitchFamily="34" charset="0"/>
                          <a:cs typeface="Arial" panose="020B0604020202020204" pitchFamily="34" charset="0"/>
                        </a:rPr>
                        <a:t> </a:t>
                      </a:r>
                      <a:endParaRPr lang="en-IN" sz="1200" b="0" i="0" u="none" strike="noStrike">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tc>
                  <a:txBody>
                    <a:bodyPr/>
                    <a:lstStyle/>
                    <a:p>
                      <a:pPr algn="l" fontAlgn="b"/>
                      <a:r>
                        <a:rPr lang="en-IN" sz="1200" u="none" strike="noStrike" dirty="0">
                          <a:effectLst/>
                          <a:latin typeface="Arial" panose="020B0604020202020204" pitchFamily="34" charset="0"/>
                          <a:cs typeface="Arial" panose="020B0604020202020204" pitchFamily="34" charset="0"/>
                        </a:rPr>
                        <a:t>Begin voice transmission</a:t>
                      </a:r>
                      <a:endParaRPr lang="en-IN" sz="1200" b="0" i="0" u="none" strike="noStrike" dirty="0">
                        <a:solidFill>
                          <a:srgbClr val="000000"/>
                        </a:solidFill>
                        <a:effectLst/>
                        <a:latin typeface="Arial" panose="020B0604020202020204" pitchFamily="34" charset="0"/>
                        <a:cs typeface="Arial" panose="020B0604020202020204" pitchFamily="34" charset="0"/>
                      </a:endParaRPr>
                    </a:p>
                  </a:txBody>
                  <a:tcPr marL="7427" marR="7427" marT="7427" marB="0" anchor="b">
                    <a:solidFill>
                      <a:schemeClr val="accent5">
                        <a:lumMod val="40000"/>
                        <a:lumOff val="60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0002717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US" dirty="0"/>
              <a:t>1G cellular network was developed to provide basic voice service. It was analog in nature.</a:t>
            </a:r>
          </a:p>
          <a:p>
            <a:r>
              <a:rPr lang="en-US" dirty="0"/>
              <a:t>2G was developed to provide digital voice service with improved quality.</a:t>
            </a:r>
          </a:p>
          <a:p>
            <a:r>
              <a:rPr lang="en-US" dirty="0"/>
              <a:t>To achieve high speed data access, 3G was developed. 3G mobile provided major opportunity for business, commerce and consumers</a:t>
            </a:r>
          </a:p>
          <a:p>
            <a:r>
              <a:rPr lang="en-US" dirty="0"/>
              <a:t>Next generation 4G was developed for very high data rates and </a:t>
            </a:r>
            <a:r>
              <a:rPr lang="en-IN" dirty="0"/>
              <a:t>Support for interactive multimedia, voice, streaming video, Internet, and other broadband services</a:t>
            </a:r>
          </a:p>
          <a:p>
            <a:endParaRPr lang="en-US" dirty="0"/>
          </a:p>
          <a:p>
            <a:endParaRPr lang="en-US" dirty="0"/>
          </a:p>
          <a:p>
            <a:pPr marL="0" indent="0">
              <a:buNone/>
            </a:pPr>
            <a:endParaRPr lang="en-US" dirty="0"/>
          </a:p>
          <a:p>
            <a:pPr marL="0" indent="0">
              <a:buNone/>
            </a:pPr>
            <a:endParaRPr lang="en-US" dirty="0"/>
          </a:p>
          <a:p>
            <a:pPr marL="0" indent="0" algn="ctr">
              <a:buNone/>
            </a:pPr>
            <a:r>
              <a:rPr lang="en-US" b="1" dirty="0"/>
              <a:t>CS - 2</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2305" rIns="0" bIns="0" rtlCol="0">
            <a:spAutoFit/>
          </a:bodyPr>
          <a:lstStyle/>
          <a:p>
            <a:pPr marL="12700" marR="5080">
              <a:lnSpc>
                <a:spcPts val="3600"/>
              </a:lnSpc>
              <a:spcBef>
                <a:spcPts val="819"/>
              </a:spcBef>
            </a:pPr>
            <a:r>
              <a:rPr spc="-155" dirty="0"/>
              <a:t>Wireless</a:t>
            </a:r>
            <a:r>
              <a:rPr spc="-195" dirty="0"/>
              <a:t> </a:t>
            </a:r>
            <a:r>
              <a:rPr spc="-150" dirty="0"/>
              <a:t>communication </a:t>
            </a:r>
            <a:r>
              <a:rPr spc="-25" dirty="0"/>
              <a:t>systems</a:t>
            </a:r>
          </a:p>
        </p:txBody>
      </p:sp>
      <p:sp>
        <p:nvSpPr>
          <p:cNvPr id="3" name="object 3"/>
          <p:cNvSpPr txBox="1"/>
          <p:nvPr/>
        </p:nvSpPr>
        <p:spPr>
          <a:xfrm>
            <a:off x="372135" y="2057463"/>
            <a:ext cx="1531620" cy="584835"/>
          </a:xfrm>
          <a:prstGeom prst="rect">
            <a:avLst/>
          </a:prstGeom>
          <a:solidFill>
            <a:srgbClr val="C5D9F0"/>
          </a:solidFill>
          <a:ln w="9525">
            <a:solidFill>
              <a:srgbClr val="000000"/>
            </a:solidFill>
          </a:ln>
        </p:spPr>
        <p:txBody>
          <a:bodyPr vert="horz" wrap="square" lIns="0" tIns="33020" rIns="0" bIns="0" rtlCol="0">
            <a:spAutoFit/>
          </a:bodyPr>
          <a:lstStyle/>
          <a:p>
            <a:pPr marL="91440" marR="0" lvl="0" indent="0" defTabSz="914400" eaLnBrk="1" fontAlgn="auto" latinLnBrk="0" hangingPunct="1">
              <a:lnSpc>
                <a:spcPct val="100000"/>
              </a:lnSpc>
              <a:spcBef>
                <a:spcPts val="26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Information</a:t>
            </a:r>
            <a:r>
              <a:rPr kumimoji="0" sz="1600" b="1" i="0" u="none" strike="noStrike" kern="0" cap="none" spc="10" normalizeH="0" baseline="0" noProof="0" dirty="0">
                <a:ln>
                  <a:noFill/>
                </a:ln>
                <a:solidFill>
                  <a:sysClr val="windowText" lastClr="000000"/>
                </a:solidFill>
                <a:effectLst/>
                <a:uLnTx/>
                <a:uFillTx/>
                <a:latin typeface="Calibri"/>
                <a:cs typeface="Calibri"/>
              </a:rPr>
              <a:t> </a:t>
            </a:r>
            <a:r>
              <a:rPr kumimoji="0" sz="1600" b="1" i="0" u="none" strike="noStrike" kern="0" cap="none" spc="-25" normalizeH="0" baseline="0" noProof="0" dirty="0">
                <a:ln>
                  <a:noFill/>
                </a:ln>
                <a:solidFill>
                  <a:sysClr val="windowText" lastClr="000000"/>
                </a:solidFill>
                <a:effectLst/>
                <a:uLnTx/>
                <a:uFillTx/>
                <a:latin typeface="Calibri"/>
                <a:cs typeface="Calibri"/>
              </a:rPr>
              <a:t>to</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91440" marR="0" lvl="0" indent="0" defTabSz="914400" eaLnBrk="1" fontAlgn="auto" latinLnBrk="0" hangingPunct="1">
              <a:lnSpc>
                <a:spcPct val="100000"/>
              </a:lnSpc>
              <a:spcBef>
                <a:spcPts val="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be</a:t>
            </a:r>
            <a:r>
              <a:rPr kumimoji="0" sz="1600" b="1" i="0" u="none" strike="noStrike" kern="0" cap="none" spc="-10" normalizeH="0" baseline="0" noProof="0" dirty="0">
                <a:ln>
                  <a:noFill/>
                </a:ln>
                <a:solidFill>
                  <a:sysClr val="windowText" lastClr="000000"/>
                </a:solidFill>
                <a:effectLst/>
                <a:uLnTx/>
                <a:uFillTx/>
                <a:latin typeface="Calibri"/>
                <a:cs typeface="Calibri"/>
              </a:rPr>
              <a:t> transmitted</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4" name="object 4"/>
          <p:cNvSpPr txBox="1"/>
          <p:nvPr/>
        </p:nvSpPr>
        <p:spPr>
          <a:xfrm>
            <a:off x="2172461" y="2141334"/>
            <a:ext cx="1545590" cy="369570"/>
          </a:xfrm>
          <a:prstGeom prst="rect">
            <a:avLst/>
          </a:prstGeom>
          <a:solidFill>
            <a:srgbClr val="C5D9F0"/>
          </a:solidFill>
          <a:ln w="9525">
            <a:solidFill>
              <a:srgbClr val="000000"/>
            </a:solidFill>
          </a:ln>
        </p:spPr>
        <p:txBody>
          <a:bodyPr vert="horz" wrap="square" lIns="0" tIns="31114" rIns="0" bIns="0" rtlCol="0">
            <a:spAutoFit/>
          </a:bodyPr>
          <a:lstStyle/>
          <a:p>
            <a:pPr marL="91440" marR="0" lvl="0" indent="0" defTabSz="914400" eaLnBrk="1" fontAlgn="auto" latinLnBrk="0" hangingPunct="1">
              <a:lnSpc>
                <a:spcPct val="100000"/>
              </a:lnSpc>
              <a:spcBef>
                <a:spcPts val="244"/>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coding</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5" name="object 5"/>
          <p:cNvSpPr txBox="1"/>
          <p:nvPr/>
        </p:nvSpPr>
        <p:spPr>
          <a:xfrm>
            <a:off x="3874642" y="2141334"/>
            <a:ext cx="1545590" cy="369570"/>
          </a:xfrm>
          <a:prstGeom prst="rect">
            <a:avLst/>
          </a:prstGeom>
          <a:solidFill>
            <a:srgbClr val="C5D9F0"/>
          </a:solidFill>
          <a:ln w="9525">
            <a:solidFill>
              <a:srgbClr val="000000"/>
            </a:solidFill>
          </a:ln>
        </p:spPr>
        <p:txBody>
          <a:bodyPr vert="horz" wrap="square" lIns="0" tIns="31114" rIns="0" bIns="0" rtlCol="0">
            <a:spAutoFit/>
          </a:bodyPr>
          <a:lstStyle/>
          <a:p>
            <a:pPr marL="92075" marR="0" lvl="0" indent="0" defTabSz="914400" eaLnBrk="1" fontAlgn="auto" latinLnBrk="0" hangingPunct="1">
              <a:lnSpc>
                <a:spcPct val="100000"/>
              </a:lnSpc>
              <a:spcBef>
                <a:spcPts val="244"/>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Modulator</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6" name="object 6"/>
          <p:cNvSpPr txBox="1"/>
          <p:nvPr/>
        </p:nvSpPr>
        <p:spPr>
          <a:xfrm>
            <a:off x="5698490" y="2131275"/>
            <a:ext cx="1545590" cy="383540"/>
          </a:xfrm>
          <a:prstGeom prst="rect">
            <a:avLst/>
          </a:prstGeom>
          <a:solidFill>
            <a:srgbClr val="C5D9F0"/>
          </a:solidFill>
          <a:ln w="9525">
            <a:solidFill>
              <a:srgbClr val="000000"/>
            </a:solidFill>
          </a:ln>
        </p:spPr>
        <p:txBody>
          <a:bodyPr vert="horz" wrap="square" lIns="0" tIns="31114" rIns="0" bIns="0" rtlCol="0">
            <a:spAutoFit/>
          </a:bodyPr>
          <a:lstStyle/>
          <a:p>
            <a:pPr marL="92075" marR="0" lvl="0" indent="0" defTabSz="914400" eaLnBrk="1" fontAlgn="auto" latinLnBrk="0" hangingPunct="1">
              <a:lnSpc>
                <a:spcPct val="100000"/>
              </a:lnSpc>
              <a:spcBef>
                <a:spcPts val="244"/>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Transmitter</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7" name="object 7"/>
          <p:cNvSpPr txBox="1"/>
          <p:nvPr/>
        </p:nvSpPr>
        <p:spPr>
          <a:xfrm>
            <a:off x="6904101" y="1450200"/>
            <a:ext cx="1325880" cy="369570"/>
          </a:xfrm>
          <a:prstGeom prst="rect">
            <a:avLst/>
          </a:prstGeom>
          <a:solidFill>
            <a:srgbClr val="C5D9F0"/>
          </a:solidFill>
          <a:ln w="9525">
            <a:solidFill>
              <a:srgbClr val="000000"/>
            </a:solidFill>
          </a:ln>
        </p:spPr>
        <p:txBody>
          <a:bodyPr vert="horz" wrap="square" lIns="0" tIns="30480" rIns="0" bIns="0" rtlCol="0">
            <a:spAutoFit/>
          </a:bodyPr>
          <a:lstStyle/>
          <a:p>
            <a:pPr marL="92075" marR="0" lvl="0" indent="0" defTabSz="914400" eaLnBrk="1" fontAlgn="auto" latinLnBrk="0" hangingPunct="1">
              <a:lnSpc>
                <a:spcPct val="100000"/>
              </a:lnSpc>
              <a:spcBef>
                <a:spcPts val="240"/>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Antenna</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8" name="object 8"/>
          <p:cNvSpPr txBox="1"/>
          <p:nvPr/>
        </p:nvSpPr>
        <p:spPr>
          <a:xfrm>
            <a:off x="7522971" y="3932161"/>
            <a:ext cx="1169670" cy="369570"/>
          </a:xfrm>
          <a:prstGeom prst="rect">
            <a:avLst/>
          </a:prstGeom>
          <a:solidFill>
            <a:srgbClr val="C5D9F0"/>
          </a:solidFill>
          <a:ln w="9525">
            <a:solidFill>
              <a:srgbClr val="000000"/>
            </a:solidFill>
          </a:ln>
        </p:spPr>
        <p:txBody>
          <a:bodyPr vert="horz" wrap="square" lIns="0" tIns="31115" rIns="0" bIns="0" rtlCol="0">
            <a:spAutoFit/>
          </a:bodyPr>
          <a:lstStyle/>
          <a:p>
            <a:pPr marL="92075" marR="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Antenna</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9" name="object 9"/>
          <p:cNvSpPr/>
          <p:nvPr/>
        </p:nvSpPr>
        <p:spPr>
          <a:xfrm>
            <a:off x="1902714" y="2294763"/>
            <a:ext cx="269875" cy="76200"/>
          </a:xfrm>
          <a:custGeom>
            <a:avLst/>
            <a:gdLst/>
            <a:ahLst/>
            <a:cxnLst/>
            <a:rect l="l" t="t" r="r" b="b"/>
            <a:pathLst>
              <a:path w="269875" h="76200">
                <a:moveTo>
                  <a:pt x="267815" y="30479"/>
                </a:moveTo>
                <a:lnTo>
                  <a:pt x="205867" y="30479"/>
                </a:lnTo>
                <a:lnTo>
                  <a:pt x="207010" y="43179"/>
                </a:lnTo>
                <a:lnTo>
                  <a:pt x="194351" y="44295"/>
                </a:lnTo>
                <a:lnTo>
                  <a:pt x="197104" y="75946"/>
                </a:lnTo>
                <a:lnTo>
                  <a:pt x="269748" y="31241"/>
                </a:lnTo>
                <a:lnTo>
                  <a:pt x="267815" y="30479"/>
                </a:lnTo>
                <a:close/>
              </a:path>
              <a:path w="269875" h="76200">
                <a:moveTo>
                  <a:pt x="193247" y="31593"/>
                </a:moveTo>
                <a:lnTo>
                  <a:pt x="0" y="48640"/>
                </a:lnTo>
                <a:lnTo>
                  <a:pt x="1016" y="61340"/>
                </a:lnTo>
                <a:lnTo>
                  <a:pt x="194351" y="44295"/>
                </a:lnTo>
                <a:lnTo>
                  <a:pt x="193247" y="31593"/>
                </a:lnTo>
                <a:close/>
              </a:path>
              <a:path w="269875" h="76200">
                <a:moveTo>
                  <a:pt x="205867" y="30479"/>
                </a:moveTo>
                <a:lnTo>
                  <a:pt x="193247" y="31593"/>
                </a:lnTo>
                <a:lnTo>
                  <a:pt x="194254" y="43179"/>
                </a:lnTo>
                <a:lnTo>
                  <a:pt x="194351" y="44295"/>
                </a:lnTo>
                <a:lnTo>
                  <a:pt x="207010" y="43179"/>
                </a:lnTo>
                <a:lnTo>
                  <a:pt x="205967" y="31593"/>
                </a:lnTo>
                <a:lnTo>
                  <a:pt x="205867" y="30479"/>
                </a:lnTo>
                <a:close/>
              </a:path>
              <a:path w="269875" h="76200">
                <a:moveTo>
                  <a:pt x="190500" y="0"/>
                </a:moveTo>
                <a:lnTo>
                  <a:pt x="193150" y="30479"/>
                </a:lnTo>
                <a:lnTo>
                  <a:pt x="193247" y="31593"/>
                </a:lnTo>
                <a:lnTo>
                  <a:pt x="205867" y="30479"/>
                </a:lnTo>
                <a:lnTo>
                  <a:pt x="267815" y="30479"/>
                </a:lnTo>
                <a:lnTo>
                  <a:pt x="190500" y="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5419852" y="2285619"/>
            <a:ext cx="278765" cy="76200"/>
          </a:xfrm>
          <a:custGeom>
            <a:avLst/>
            <a:gdLst/>
            <a:ahLst/>
            <a:cxnLst/>
            <a:rect l="l" t="t" r="r" b="b"/>
            <a:pathLst>
              <a:path w="278764" h="76200">
                <a:moveTo>
                  <a:pt x="266916" y="31622"/>
                </a:moveTo>
                <a:lnTo>
                  <a:pt x="215137" y="31622"/>
                </a:lnTo>
                <a:lnTo>
                  <a:pt x="215264" y="44322"/>
                </a:lnTo>
                <a:lnTo>
                  <a:pt x="202575" y="44465"/>
                </a:lnTo>
                <a:lnTo>
                  <a:pt x="202946" y="76200"/>
                </a:lnTo>
                <a:lnTo>
                  <a:pt x="278638" y="37337"/>
                </a:lnTo>
                <a:lnTo>
                  <a:pt x="266916" y="31622"/>
                </a:lnTo>
                <a:close/>
              </a:path>
              <a:path w="278764" h="76200">
                <a:moveTo>
                  <a:pt x="202427" y="31765"/>
                </a:moveTo>
                <a:lnTo>
                  <a:pt x="0" y="34035"/>
                </a:lnTo>
                <a:lnTo>
                  <a:pt x="126" y="46735"/>
                </a:lnTo>
                <a:lnTo>
                  <a:pt x="202575" y="44465"/>
                </a:lnTo>
                <a:lnTo>
                  <a:pt x="202454" y="34035"/>
                </a:lnTo>
                <a:lnTo>
                  <a:pt x="202427" y="31765"/>
                </a:lnTo>
                <a:close/>
              </a:path>
              <a:path w="278764" h="76200">
                <a:moveTo>
                  <a:pt x="215137" y="31622"/>
                </a:moveTo>
                <a:lnTo>
                  <a:pt x="202427" y="31765"/>
                </a:lnTo>
                <a:lnTo>
                  <a:pt x="202454" y="34035"/>
                </a:lnTo>
                <a:lnTo>
                  <a:pt x="202575" y="44465"/>
                </a:lnTo>
                <a:lnTo>
                  <a:pt x="215264" y="44322"/>
                </a:lnTo>
                <a:lnTo>
                  <a:pt x="215137" y="31622"/>
                </a:lnTo>
                <a:close/>
              </a:path>
              <a:path w="278764" h="76200">
                <a:moveTo>
                  <a:pt x="202057" y="0"/>
                </a:moveTo>
                <a:lnTo>
                  <a:pt x="202425" y="31622"/>
                </a:lnTo>
                <a:lnTo>
                  <a:pt x="202427" y="31765"/>
                </a:lnTo>
                <a:lnTo>
                  <a:pt x="215137" y="31622"/>
                </a:lnTo>
                <a:lnTo>
                  <a:pt x="266916" y="31622"/>
                </a:lnTo>
                <a:lnTo>
                  <a:pt x="202057" y="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1" name="object 11"/>
          <p:cNvPicPr/>
          <p:nvPr/>
        </p:nvPicPr>
        <p:blipFill>
          <a:blip r:embed="rId2" cstate="print"/>
          <a:stretch>
            <a:fillRect/>
          </a:stretch>
        </p:blipFill>
        <p:spPr>
          <a:xfrm>
            <a:off x="3717671" y="2287904"/>
            <a:ext cx="156971" cy="76200"/>
          </a:xfrm>
          <a:prstGeom prst="rect">
            <a:avLst/>
          </a:prstGeom>
        </p:spPr>
      </p:pic>
      <p:grpSp>
        <p:nvGrpSpPr>
          <p:cNvPr id="12" name="object 12"/>
          <p:cNvGrpSpPr/>
          <p:nvPr/>
        </p:nvGrpSpPr>
        <p:grpSpPr>
          <a:xfrm>
            <a:off x="7157339" y="4301490"/>
            <a:ext cx="1153795" cy="379095"/>
            <a:chOff x="7157339" y="4301490"/>
            <a:chExt cx="1153795" cy="379095"/>
          </a:xfrm>
        </p:grpSpPr>
        <p:sp>
          <p:nvSpPr>
            <p:cNvPr id="13" name="object 13"/>
            <p:cNvSpPr/>
            <p:nvPr/>
          </p:nvSpPr>
          <p:spPr>
            <a:xfrm>
              <a:off x="7157339" y="4604385"/>
              <a:ext cx="1138555" cy="76200"/>
            </a:xfrm>
            <a:custGeom>
              <a:avLst/>
              <a:gdLst/>
              <a:ahLst/>
              <a:cxnLst/>
              <a:rect l="l" t="t" r="r" b="b"/>
              <a:pathLst>
                <a:path w="1138554" h="76200">
                  <a:moveTo>
                    <a:pt x="76580" y="0"/>
                  </a:moveTo>
                  <a:lnTo>
                    <a:pt x="0" y="37464"/>
                  </a:lnTo>
                  <a:lnTo>
                    <a:pt x="75818" y="76200"/>
                  </a:lnTo>
                  <a:lnTo>
                    <a:pt x="76034" y="54609"/>
                  </a:lnTo>
                  <a:lnTo>
                    <a:pt x="76135" y="44570"/>
                  </a:lnTo>
                  <a:lnTo>
                    <a:pt x="63371" y="44570"/>
                  </a:lnTo>
                  <a:lnTo>
                    <a:pt x="63442" y="37464"/>
                  </a:lnTo>
                  <a:lnTo>
                    <a:pt x="63498" y="31870"/>
                  </a:lnTo>
                  <a:lnTo>
                    <a:pt x="76262" y="31870"/>
                  </a:lnTo>
                  <a:lnTo>
                    <a:pt x="76580" y="0"/>
                  </a:lnTo>
                  <a:close/>
                </a:path>
                <a:path w="1138554" h="76200">
                  <a:moveTo>
                    <a:pt x="76262" y="31870"/>
                  </a:moveTo>
                  <a:lnTo>
                    <a:pt x="76135" y="44570"/>
                  </a:lnTo>
                  <a:lnTo>
                    <a:pt x="1138174" y="54609"/>
                  </a:lnTo>
                  <a:lnTo>
                    <a:pt x="1138301" y="41909"/>
                  </a:lnTo>
                  <a:lnTo>
                    <a:pt x="76262" y="31870"/>
                  </a:lnTo>
                  <a:close/>
                </a:path>
                <a:path w="1138554" h="76200">
                  <a:moveTo>
                    <a:pt x="76262" y="31870"/>
                  </a:moveTo>
                  <a:lnTo>
                    <a:pt x="63498" y="31870"/>
                  </a:lnTo>
                  <a:lnTo>
                    <a:pt x="63442" y="37464"/>
                  </a:lnTo>
                  <a:lnTo>
                    <a:pt x="63371" y="44570"/>
                  </a:lnTo>
                  <a:lnTo>
                    <a:pt x="76135" y="44570"/>
                  </a:lnTo>
                  <a:lnTo>
                    <a:pt x="76262" y="3187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p:nvPr/>
          </p:nvSpPr>
          <p:spPr>
            <a:xfrm>
              <a:off x="8305800" y="4301490"/>
              <a:ext cx="0" cy="351155"/>
            </a:xfrm>
            <a:custGeom>
              <a:avLst/>
              <a:gdLst/>
              <a:ahLst/>
              <a:cxnLst/>
              <a:rect l="l" t="t" r="r" b="b"/>
              <a:pathLst>
                <a:path h="351154">
                  <a:moveTo>
                    <a:pt x="0" y="0"/>
                  </a:moveTo>
                  <a:lnTo>
                    <a:pt x="0" y="351155"/>
                  </a:lnTo>
                </a:path>
              </a:pathLst>
            </a:custGeom>
            <a:ln w="9525">
              <a:solidFill>
                <a:srgbClr val="497D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5" name="object 15"/>
          <p:cNvSpPr txBox="1"/>
          <p:nvPr/>
        </p:nvSpPr>
        <p:spPr>
          <a:xfrm>
            <a:off x="5611495" y="4361776"/>
            <a:ext cx="1545590" cy="383540"/>
          </a:xfrm>
          <a:prstGeom prst="rect">
            <a:avLst/>
          </a:prstGeom>
          <a:solidFill>
            <a:srgbClr val="C5D9F0"/>
          </a:solidFill>
          <a:ln w="9525">
            <a:solidFill>
              <a:srgbClr val="000000"/>
            </a:solidFill>
          </a:ln>
        </p:spPr>
        <p:txBody>
          <a:bodyPr vert="horz" wrap="square" lIns="0" tIns="31115" rIns="0" bIns="0" rtlCol="0">
            <a:spAutoFit/>
          </a:bodyPr>
          <a:lstStyle/>
          <a:p>
            <a:pPr marL="92075" marR="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Receiver</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16" name="object 16"/>
          <p:cNvSpPr txBox="1"/>
          <p:nvPr/>
        </p:nvSpPr>
        <p:spPr>
          <a:xfrm>
            <a:off x="3679952" y="4375772"/>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1440" marR="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DeModulator</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17" name="object 17"/>
          <p:cNvSpPr/>
          <p:nvPr/>
        </p:nvSpPr>
        <p:spPr>
          <a:xfrm>
            <a:off x="5225288" y="4520946"/>
            <a:ext cx="386715" cy="76200"/>
          </a:xfrm>
          <a:custGeom>
            <a:avLst/>
            <a:gdLst/>
            <a:ahLst/>
            <a:cxnLst/>
            <a:rect l="l" t="t" r="r" b="b"/>
            <a:pathLst>
              <a:path w="386714" h="76200">
                <a:moveTo>
                  <a:pt x="75437" y="0"/>
                </a:moveTo>
                <a:lnTo>
                  <a:pt x="0" y="39496"/>
                </a:lnTo>
                <a:lnTo>
                  <a:pt x="76835" y="76199"/>
                </a:lnTo>
                <a:lnTo>
                  <a:pt x="76257" y="44703"/>
                </a:lnTo>
                <a:lnTo>
                  <a:pt x="63500" y="44703"/>
                </a:lnTo>
                <a:lnTo>
                  <a:pt x="63373" y="32003"/>
                </a:lnTo>
                <a:lnTo>
                  <a:pt x="76020" y="31775"/>
                </a:lnTo>
                <a:lnTo>
                  <a:pt x="75437" y="0"/>
                </a:lnTo>
                <a:close/>
              </a:path>
              <a:path w="386714" h="76200">
                <a:moveTo>
                  <a:pt x="76020" y="31775"/>
                </a:moveTo>
                <a:lnTo>
                  <a:pt x="63373" y="32003"/>
                </a:lnTo>
                <a:lnTo>
                  <a:pt x="63500" y="44703"/>
                </a:lnTo>
                <a:lnTo>
                  <a:pt x="76253" y="44473"/>
                </a:lnTo>
                <a:lnTo>
                  <a:pt x="76150" y="38861"/>
                </a:lnTo>
                <a:lnTo>
                  <a:pt x="76024" y="32003"/>
                </a:lnTo>
                <a:lnTo>
                  <a:pt x="76020" y="31775"/>
                </a:lnTo>
                <a:close/>
              </a:path>
              <a:path w="386714" h="76200">
                <a:moveTo>
                  <a:pt x="76253" y="44473"/>
                </a:moveTo>
                <a:lnTo>
                  <a:pt x="63500" y="44703"/>
                </a:lnTo>
                <a:lnTo>
                  <a:pt x="76257" y="44703"/>
                </a:lnTo>
                <a:lnTo>
                  <a:pt x="76253" y="44473"/>
                </a:lnTo>
                <a:close/>
              </a:path>
              <a:path w="386714" h="76200">
                <a:moveTo>
                  <a:pt x="386079" y="26161"/>
                </a:moveTo>
                <a:lnTo>
                  <a:pt x="76020" y="31775"/>
                </a:lnTo>
                <a:lnTo>
                  <a:pt x="76024" y="32003"/>
                </a:lnTo>
                <a:lnTo>
                  <a:pt x="76150" y="38861"/>
                </a:lnTo>
                <a:lnTo>
                  <a:pt x="76253" y="44473"/>
                </a:lnTo>
                <a:lnTo>
                  <a:pt x="386334" y="38861"/>
                </a:lnTo>
                <a:lnTo>
                  <a:pt x="386196" y="32003"/>
                </a:lnTo>
                <a:lnTo>
                  <a:pt x="386079" y="26161"/>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p:cNvSpPr txBox="1"/>
          <p:nvPr/>
        </p:nvSpPr>
        <p:spPr>
          <a:xfrm>
            <a:off x="1823466" y="4375772"/>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1440" marR="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decoding</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19" name="object 19"/>
          <p:cNvSpPr/>
          <p:nvPr/>
        </p:nvSpPr>
        <p:spPr>
          <a:xfrm>
            <a:off x="3368802" y="4520565"/>
            <a:ext cx="311150" cy="76200"/>
          </a:xfrm>
          <a:custGeom>
            <a:avLst/>
            <a:gdLst/>
            <a:ahLst/>
            <a:cxnLst/>
            <a:rect l="l" t="t" r="r" b="b"/>
            <a:pathLst>
              <a:path w="311150" h="76200">
                <a:moveTo>
                  <a:pt x="75311" y="0"/>
                </a:moveTo>
                <a:lnTo>
                  <a:pt x="0" y="39878"/>
                </a:lnTo>
                <a:lnTo>
                  <a:pt x="76962" y="76200"/>
                </a:lnTo>
                <a:lnTo>
                  <a:pt x="76279" y="44704"/>
                </a:lnTo>
                <a:lnTo>
                  <a:pt x="63626" y="44704"/>
                </a:lnTo>
                <a:lnTo>
                  <a:pt x="63246" y="32004"/>
                </a:lnTo>
                <a:lnTo>
                  <a:pt x="75998" y="31722"/>
                </a:lnTo>
                <a:lnTo>
                  <a:pt x="75311" y="0"/>
                </a:lnTo>
                <a:close/>
              </a:path>
              <a:path w="311150" h="76200">
                <a:moveTo>
                  <a:pt x="75998" y="31722"/>
                </a:moveTo>
                <a:lnTo>
                  <a:pt x="63246" y="32004"/>
                </a:lnTo>
                <a:lnTo>
                  <a:pt x="63618" y="44424"/>
                </a:lnTo>
                <a:lnTo>
                  <a:pt x="63626" y="44704"/>
                </a:lnTo>
                <a:lnTo>
                  <a:pt x="76273" y="44424"/>
                </a:lnTo>
                <a:lnTo>
                  <a:pt x="76004" y="32004"/>
                </a:lnTo>
                <a:lnTo>
                  <a:pt x="75998" y="31722"/>
                </a:lnTo>
                <a:close/>
              </a:path>
              <a:path w="311150" h="76200">
                <a:moveTo>
                  <a:pt x="76273" y="44424"/>
                </a:moveTo>
                <a:lnTo>
                  <a:pt x="63626" y="44704"/>
                </a:lnTo>
                <a:lnTo>
                  <a:pt x="76279" y="44704"/>
                </a:lnTo>
                <a:lnTo>
                  <a:pt x="76273" y="44424"/>
                </a:lnTo>
                <a:close/>
              </a:path>
              <a:path w="311150" h="76200">
                <a:moveTo>
                  <a:pt x="310642" y="26543"/>
                </a:moveTo>
                <a:lnTo>
                  <a:pt x="75998" y="31722"/>
                </a:lnTo>
                <a:lnTo>
                  <a:pt x="76161" y="39243"/>
                </a:lnTo>
                <a:lnTo>
                  <a:pt x="76273" y="44424"/>
                </a:lnTo>
                <a:lnTo>
                  <a:pt x="310896" y="39243"/>
                </a:lnTo>
                <a:lnTo>
                  <a:pt x="310751" y="32004"/>
                </a:lnTo>
                <a:lnTo>
                  <a:pt x="310642" y="26543"/>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20"/>
          <p:cNvSpPr txBox="1"/>
          <p:nvPr/>
        </p:nvSpPr>
        <p:spPr>
          <a:xfrm>
            <a:off x="277875" y="4261040"/>
            <a:ext cx="1241425" cy="584835"/>
          </a:xfrm>
          <a:prstGeom prst="rect">
            <a:avLst/>
          </a:prstGeom>
          <a:solidFill>
            <a:srgbClr val="C5D9F0"/>
          </a:solidFill>
          <a:ln w="9525">
            <a:solidFill>
              <a:srgbClr val="000000"/>
            </a:solidFill>
          </a:ln>
        </p:spPr>
        <p:txBody>
          <a:bodyPr vert="horz" wrap="square" lIns="0" tIns="33655" rIns="0" bIns="0" rtlCol="0">
            <a:spAutoFit/>
          </a:bodyPr>
          <a:lstStyle/>
          <a:p>
            <a:pPr marL="91440" marR="0" lvl="0" indent="0" defTabSz="914400" eaLnBrk="1" fontAlgn="auto" latinLnBrk="0" hangingPunct="1">
              <a:lnSpc>
                <a:spcPct val="100000"/>
              </a:lnSpc>
              <a:spcBef>
                <a:spcPts val="265"/>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Information</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91440" marR="0" lvl="0" indent="0"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Received</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21" name="object 21"/>
          <p:cNvSpPr/>
          <p:nvPr/>
        </p:nvSpPr>
        <p:spPr>
          <a:xfrm>
            <a:off x="1538605" y="4517135"/>
            <a:ext cx="285115" cy="76200"/>
          </a:xfrm>
          <a:custGeom>
            <a:avLst/>
            <a:gdLst/>
            <a:ahLst/>
            <a:cxnLst/>
            <a:rect l="l" t="t" r="r" b="b"/>
            <a:pathLst>
              <a:path w="285114" h="76200">
                <a:moveTo>
                  <a:pt x="77215" y="0"/>
                </a:moveTo>
                <a:lnTo>
                  <a:pt x="0" y="36321"/>
                </a:lnTo>
                <a:lnTo>
                  <a:pt x="75310" y="76200"/>
                </a:lnTo>
                <a:lnTo>
                  <a:pt x="76103" y="44510"/>
                </a:lnTo>
                <a:lnTo>
                  <a:pt x="63372" y="44195"/>
                </a:lnTo>
                <a:lnTo>
                  <a:pt x="63517" y="36956"/>
                </a:lnTo>
                <a:lnTo>
                  <a:pt x="63626" y="31495"/>
                </a:lnTo>
                <a:lnTo>
                  <a:pt x="76428" y="31495"/>
                </a:lnTo>
                <a:lnTo>
                  <a:pt x="77215" y="0"/>
                </a:lnTo>
                <a:close/>
              </a:path>
              <a:path w="285114" h="76200">
                <a:moveTo>
                  <a:pt x="76420" y="31811"/>
                </a:moveTo>
                <a:lnTo>
                  <a:pt x="76111" y="44195"/>
                </a:lnTo>
                <a:lnTo>
                  <a:pt x="76103" y="44510"/>
                </a:lnTo>
                <a:lnTo>
                  <a:pt x="284733" y="49656"/>
                </a:lnTo>
                <a:lnTo>
                  <a:pt x="284988" y="36956"/>
                </a:lnTo>
                <a:lnTo>
                  <a:pt x="76420" y="31811"/>
                </a:lnTo>
                <a:close/>
              </a:path>
              <a:path w="285114" h="76200">
                <a:moveTo>
                  <a:pt x="63626" y="31495"/>
                </a:moveTo>
                <a:lnTo>
                  <a:pt x="63372" y="44195"/>
                </a:lnTo>
                <a:lnTo>
                  <a:pt x="76103" y="44510"/>
                </a:lnTo>
                <a:lnTo>
                  <a:pt x="76292" y="36956"/>
                </a:lnTo>
                <a:lnTo>
                  <a:pt x="76307" y="36321"/>
                </a:lnTo>
                <a:lnTo>
                  <a:pt x="76420" y="31811"/>
                </a:lnTo>
                <a:lnTo>
                  <a:pt x="63626" y="31495"/>
                </a:lnTo>
                <a:close/>
              </a:path>
              <a:path w="285114" h="76200">
                <a:moveTo>
                  <a:pt x="76428" y="31495"/>
                </a:moveTo>
                <a:lnTo>
                  <a:pt x="63626" y="31495"/>
                </a:lnTo>
                <a:lnTo>
                  <a:pt x="76420" y="31811"/>
                </a:lnTo>
                <a:lnTo>
                  <a:pt x="76428" y="31495"/>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2"/>
          <p:cNvSpPr/>
          <p:nvPr/>
        </p:nvSpPr>
        <p:spPr>
          <a:xfrm>
            <a:off x="4607305" y="2510663"/>
            <a:ext cx="76200" cy="448309"/>
          </a:xfrm>
          <a:custGeom>
            <a:avLst/>
            <a:gdLst/>
            <a:ahLst/>
            <a:cxnLst/>
            <a:rect l="l" t="t" r="r" b="b"/>
            <a:pathLst>
              <a:path w="76200" h="448310">
                <a:moveTo>
                  <a:pt x="31677" y="76030"/>
                </a:moveTo>
                <a:lnTo>
                  <a:pt x="22098" y="447548"/>
                </a:lnTo>
                <a:lnTo>
                  <a:pt x="34798" y="447801"/>
                </a:lnTo>
                <a:lnTo>
                  <a:pt x="44353" y="77215"/>
                </a:lnTo>
                <a:lnTo>
                  <a:pt x="44375" y="76369"/>
                </a:lnTo>
                <a:lnTo>
                  <a:pt x="31677" y="76030"/>
                </a:lnTo>
                <a:close/>
              </a:path>
              <a:path w="76200" h="448310">
                <a:moveTo>
                  <a:pt x="69606" y="63373"/>
                </a:moveTo>
                <a:lnTo>
                  <a:pt x="32004" y="63373"/>
                </a:lnTo>
                <a:lnTo>
                  <a:pt x="44704" y="63626"/>
                </a:lnTo>
                <a:lnTo>
                  <a:pt x="44406" y="75184"/>
                </a:lnTo>
                <a:lnTo>
                  <a:pt x="44375" y="76369"/>
                </a:lnTo>
                <a:lnTo>
                  <a:pt x="76073" y="77215"/>
                </a:lnTo>
                <a:lnTo>
                  <a:pt x="69725" y="63626"/>
                </a:lnTo>
                <a:lnTo>
                  <a:pt x="69606" y="63373"/>
                </a:lnTo>
                <a:close/>
              </a:path>
              <a:path w="76200" h="448310">
                <a:moveTo>
                  <a:pt x="32004" y="63373"/>
                </a:moveTo>
                <a:lnTo>
                  <a:pt x="31699" y="75184"/>
                </a:lnTo>
                <a:lnTo>
                  <a:pt x="31677" y="76030"/>
                </a:lnTo>
                <a:lnTo>
                  <a:pt x="44375" y="76369"/>
                </a:lnTo>
                <a:lnTo>
                  <a:pt x="44704" y="63626"/>
                </a:lnTo>
                <a:lnTo>
                  <a:pt x="32004" y="63373"/>
                </a:lnTo>
                <a:close/>
              </a:path>
              <a:path w="76200" h="448310">
                <a:moveTo>
                  <a:pt x="40005" y="0"/>
                </a:moveTo>
                <a:lnTo>
                  <a:pt x="0" y="75184"/>
                </a:lnTo>
                <a:lnTo>
                  <a:pt x="31677" y="76030"/>
                </a:lnTo>
                <a:lnTo>
                  <a:pt x="31997" y="63626"/>
                </a:lnTo>
                <a:lnTo>
                  <a:pt x="32004" y="63373"/>
                </a:lnTo>
                <a:lnTo>
                  <a:pt x="69606" y="63373"/>
                </a:lnTo>
                <a:lnTo>
                  <a:pt x="40005" y="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23" name="object 23"/>
          <p:cNvGrpSpPr/>
          <p:nvPr/>
        </p:nvGrpSpPr>
        <p:grpSpPr>
          <a:xfrm>
            <a:off x="7234237" y="1895094"/>
            <a:ext cx="489584" cy="403225"/>
            <a:chOff x="7234237" y="1895094"/>
            <a:chExt cx="489584" cy="403225"/>
          </a:xfrm>
        </p:grpSpPr>
        <p:sp>
          <p:nvSpPr>
            <p:cNvPr id="24" name="object 24"/>
            <p:cNvSpPr/>
            <p:nvPr/>
          </p:nvSpPr>
          <p:spPr>
            <a:xfrm>
              <a:off x="7647177" y="1895094"/>
              <a:ext cx="76200" cy="397510"/>
            </a:xfrm>
            <a:custGeom>
              <a:avLst/>
              <a:gdLst/>
              <a:ahLst/>
              <a:cxnLst/>
              <a:rect l="l" t="t" r="r" b="b"/>
              <a:pathLst>
                <a:path w="76200" h="397510">
                  <a:moveTo>
                    <a:pt x="31790" y="76031"/>
                  </a:moveTo>
                  <a:lnTo>
                    <a:pt x="23241" y="397128"/>
                  </a:lnTo>
                  <a:lnTo>
                    <a:pt x="35814" y="397509"/>
                  </a:lnTo>
                  <a:lnTo>
                    <a:pt x="44464" y="77215"/>
                  </a:lnTo>
                  <a:lnTo>
                    <a:pt x="44486" y="76370"/>
                  </a:lnTo>
                  <a:lnTo>
                    <a:pt x="31790" y="76031"/>
                  </a:lnTo>
                  <a:close/>
                </a:path>
                <a:path w="76200" h="397510">
                  <a:moveTo>
                    <a:pt x="69674" y="63245"/>
                  </a:moveTo>
                  <a:lnTo>
                    <a:pt x="32130" y="63245"/>
                  </a:lnTo>
                  <a:lnTo>
                    <a:pt x="44830" y="63626"/>
                  </a:lnTo>
                  <a:lnTo>
                    <a:pt x="44518" y="75183"/>
                  </a:lnTo>
                  <a:lnTo>
                    <a:pt x="44486" y="76370"/>
                  </a:lnTo>
                  <a:lnTo>
                    <a:pt x="76200" y="77215"/>
                  </a:lnTo>
                  <a:lnTo>
                    <a:pt x="69674" y="63245"/>
                  </a:lnTo>
                  <a:close/>
                </a:path>
                <a:path w="76200" h="397510">
                  <a:moveTo>
                    <a:pt x="32130" y="63245"/>
                  </a:moveTo>
                  <a:lnTo>
                    <a:pt x="31813" y="75183"/>
                  </a:lnTo>
                  <a:lnTo>
                    <a:pt x="31790" y="76031"/>
                  </a:lnTo>
                  <a:lnTo>
                    <a:pt x="44486" y="76370"/>
                  </a:lnTo>
                  <a:lnTo>
                    <a:pt x="44830" y="63626"/>
                  </a:lnTo>
                  <a:lnTo>
                    <a:pt x="32130" y="63245"/>
                  </a:lnTo>
                  <a:close/>
                </a:path>
                <a:path w="76200" h="397510">
                  <a:moveTo>
                    <a:pt x="40131" y="0"/>
                  </a:moveTo>
                  <a:lnTo>
                    <a:pt x="0" y="75183"/>
                  </a:lnTo>
                  <a:lnTo>
                    <a:pt x="31790" y="76031"/>
                  </a:lnTo>
                  <a:lnTo>
                    <a:pt x="32120" y="63626"/>
                  </a:lnTo>
                  <a:lnTo>
                    <a:pt x="32130" y="63245"/>
                  </a:lnTo>
                  <a:lnTo>
                    <a:pt x="69674" y="63245"/>
                  </a:lnTo>
                  <a:lnTo>
                    <a:pt x="40131" y="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5"/>
            <p:cNvSpPr/>
            <p:nvPr/>
          </p:nvSpPr>
          <p:spPr>
            <a:xfrm>
              <a:off x="7239000" y="2286000"/>
              <a:ext cx="433070" cy="6985"/>
            </a:xfrm>
            <a:custGeom>
              <a:avLst/>
              <a:gdLst/>
              <a:ahLst/>
              <a:cxnLst/>
              <a:rect l="l" t="t" r="r" b="b"/>
              <a:pathLst>
                <a:path w="433070" h="6985">
                  <a:moveTo>
                    <a:pt x="0" y="0"/>
                  </a:moveTo>
                  <a:lnTo>
                    <a:pt x="432561" y="6985"/>
                  </a:lnTo>
                </a:path>
              </a:pathLst>
            </a:custGeom>
            <a:ln w="9525">
              <a:solidFill>
                <a:srgbClr val="497D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6"/>
          <p:cNvSpPr txBox="1"/>
          <p:nvPr/>
        </p:nvSpPr>
        <p:spPr>
          <a:xfrm>
            <a:off x="3874642" y="2951340"/>
            <a:ext cx="1545590" cy="369570"/>
          </a:xfrm>
          <a:prstGeom prst="rect">
            <a:avLst/>
          </a:prstGeom>
          <a:solidFill>
            <a:srgbClr val="C5D9F0"/>
          </a:solidFill>
          <a:ln w="9525">
            <a:solidFill>
              <a:srgbClr val="000000"/>
            </a:solidFill>
          </a:ln>
        </p:spPr>
        <p:txBody>
          <a:bodyPr vert="horz" wrap="square" lIns="0" tIns="31115" rIns="0" bIns="0" rtlCol="0">
            <a:spAutoFit/>
          </a:bodyPr>
          <a:lstStyle/>
          <a:p>
            <a:pPr marL="92075" marR="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carrier</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27" name="object 27"/>
          <p:cNvSpPr txBox="1"/>
          <p:nvPr/>
        </p:nvSpPr>
        <p:spPr>
          <a:xfrm>
            <a:off x="3709289" y="5193271"/>
            <a:ext cx="1545590" cy="369570"/>
          </a:xfrm>
          <a:prstGeom prst="rect">
            <a:avLst/>
          </a:prstGeom>
          <a:solidFill>
            <a:srgbClr val="C5D9F0"/>
          </a:solidFill>
          <a:ln w="9525">
            <a:solidFill>
              <a:srgbClr val="000000"/>
            </a:solidFill>
          </a:ln>
        </p:spPr>
        <p:txBody>
          <a:bodyPr vert="horz" wrap="square" lIns="0" tIns="31750" rIns="0" bIns="0" rtlCol="0">
            <a:spAutoFit/>
          </a:bodyPr>
          <a:lstStyle/>
          <a:p>
            <a:pPr marL="92075" marR="0" lvl="0" indent="0" defTabSz="914400" eaLnBrk="1" fontAlgn="auto" latinLnBrk="0" hangingPunct="1">
              <a:lnSpc>
                <a:spcPct val="100000"/>
              </a:lnSpc>
              <a:spcBef>
                <a:spcPts val="250"/>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carrier</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28" name="object 28"/>
          <p:cNvSpPr/>
          <p:nvPr/>
        </p:nvSpPr>
        <p:spPr>
          <a:xfrm>
            <a:off x="4374896" y="4745609"/>
            <a:ext cx="76200" cy="448309"/>
          </a:xfrm>
          <a:custGeom>
            <a:avLst/>
            <a:gdLst/>
            <a:ahLst/>
            <a:cxnLst/>
            <a:rect l="l" t="t" r="r" b="b"/>
            <a:pathLst>
              <a:path w="76200" h="448310">
                <a:moveTo>
                  <a:pt x="31804" y="76032"/>
                </a:moveTo>
                <a:lnTo>
                  <a:pt x="22225" y="447548"/>
                </a:lnTo>
                <a:lnTo>
                  <a:pt x="34925" y="447802"/>
                </a:lnTo>
                <a:lnTo>
                  <a:pt x="44480" y="77216"/>
                </a:lnTo>
                <a:lnTo>
                  <a:pt x="44502" y="76370"/>
                </a:lnTo>
                <a:lnTo>
                  <a:pt x="31804" y="76032"/>
                </a:lnTo>
                <a:close/>
              </a:path>
              <a:path w="76200" h="448310">
                <a:moveTo>
                  <a:pt x="69733" y="63373"/>
                </a:moveTo>
                <a:lnTo>
                  <a:pt x="32130" y="63373"/>
                </a:lnTo>
                <a:lnTo>
                  <a:pt x="44830" y="63627"/>
                </a:lnTo>
                <a:lnTo>
                  <a:pt x="44533" y="75184"/>
                </a:lnTo>
                <a:lnTo>
                  <a:pt x="44502" y="76370"/>
                </a:lnTo>
                <a:lnTo>
                  <a:pt x="76200" y="77216"/>
                </a:lnTo>
                <a:lnTo>
                  <a:pt x="69852" y="63627"/>
                </a:lnTo>
                <a:lnTo>
                  <a:pt x="69733" y="63373"/>
                </a:lnTo>
                <a:close/>
              </a:path>
              <a:path w="76200" h="448310">
                <a:moveTo>
                  <a:pt x="32130" y="63373"/>
                </a:moveTo>
                <a:lnTo>
                  <a:pt x="31826" y="75184"/>
                </a:lnTo>
                <a:lnTo>
                  <a:pt x="31804" y="76032"/>
                </a:lnTo>
                <a:lnTo>
                  <a:pt x="44502" y="76370"/>
                </a:lnTo>
                <a:lnTo>
                  <a:pt x="44830" y="63627"/>
                </a:lnTo>
                <a:lnTo>
                  <a:pt x="32130" y="63373"/>
                </a:lnTo>
                <a:close/>
              </a:path>
              <a:path w="76200" h="448310">
                <a:moveTo>
                  <a:pt x="40131" y="0"/>
                </a:moveTo>
                <a:lnTo>
                  <a:pt x="0" y="75184"/>
                </a:lnTo>
                <a:lnTo>
                  <a:pt x="31804" y="76032"/>
                </a:lnTo>
                <a:lnTo>
                  <a:pt x="32124" y="63627"/>
                </a:lnTo>
                <a:lnTo>
                  <a:pt x="32130" y="63373"/>
                </a:lnTo>
                <a:lnTo>
                  <a:pt x="69733" y="63373"/>
                </a:lnTo>
                <a:lnTo>
                  <a:pt x="40131" y="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123189"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srgbClr val="888888"/>
                </a:solidFill>
                <a:effectLst/>
                <a:uLnTx/>
                <a:uFillTx/>
                <a:latin typeface="Arial MT"/>
              </a:rPr>
              <a:pPr marL="123189" marR="0" lvl="0" indent="0" defTabSz="914400" eaLnBrk="1" fontAlgn="auto" latinLnBrk="0" hangingPunct="1">
                <a:lnSpc>
                  <a:spcPts val="1425"/>
                </a:lnSpc>
                <a:spcBef>
                  <a:spcPts val="0"/>
                </a:spcBef>
                <a:spcAft>
                  <a:spcPts val="0"/>
                </a:spcAft>
                <a:buClrTx/>
                <a:buSzTx/>
                <a:buFontTx/>
                <a:buNone/>
                <a:tabLst/>
                <a:defRPr/>
              </a:pPr>
              <a:t>131</a:t>
            </a:fld>
            <a:endParaRPr kumimoji="0" sz="1200" b="0" i="0" u="none" strike="noStrike" kern="0" cap="none" spc="-50" normalizeH="0" baseline="0" noProof="0" dirty="0">
              <a:ln>
                <a:noFill/>
              </a:ln>
              <a:solidFill>
                <a:srgbClr val="888888"/>
              </a:solidFill>
              <a:effectLst/>
              <a:uLnTx/>
              <a:uFillTx/>
              <a:latin typeface="Arial MT"/>
            </a:endParaRPr>
          </a:p>
        </p:txBody>
      </p:sp>
      <p:sp>
        <p:nvSpPr>
          <p:cNvPr id="30" name="object 30"/>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630159" cy="3244850"/>
          </a:xfrm>
          <a:prstGeom prst="rect">
            <a:avLst/>
          </a:prstGeom>
        </p:spPr>
        <p:txBody>
          <a:bodyPr vert="horz" wrap="square" lIns="0" tIns="85725" rIns="0" bIns="0" rtlCol="0">
            <a:spAutoFit/>
          </a:bodyPr>
          <a:lstStyle/>
          <a:p>
            <a:pPr marL="354965" marR="0" lvl="0" indent="-342265" defTabSz="914400" eaLnBrk="1" fontAlgn="auto" latinLnBrk="0" hangingPunct="1">
              <a:lnSpc>
                <a:spcPct val="100000"/>
              </a:lnSpc>
              <a:spcBef>
                <a:spcPts val="675"/>
              </a:spcBef>
              <a:spcAft>
                <a:spcPts val="0"/>
              </a:spcAft>
              <a:buClr>
                <a:srgbClr val="0F1141"/>
              </a:buClr>
              <a:buSzTx/>
              <a:buFont typeface="Arial MT"/>
              <a:buChar char="•"/>
              <a:tabLst>
                <a:tab pos="354965"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Simplex</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systems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broadcast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pagers.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4965" marR="0" lvl="0" indent="-342265" defTabSz="914400" eaLnBrk="1" fontAlgn="auto" latinLnBrk="0" hangingPunct="1">
              <a:lnSpc>
                <a:spcPct val="100000"/>
              </a:lnSpc>
              <a:spcBef>
                <a:spcPts val="575"/>
              </a:spcBef>
              <a:spcAft>
                <a:spcPts val="0"/>
              </a:spcAft>
              <a:buClr>
                <a:srgbClr val="0F1141"/>
              </a:buClr>
              <a:buSzTx/>
              <a:buFont typeface="Arial MT"/>
              <a:buChar char="•"/>
              <a:tabLst>
                <a:tab pos="354965" algn="l"/>
              </a:tabLst>
              <a:defRPr/>
            </a:pPr>
            <a:r>
              <a:rPr kumimoji="0" sz="2400" b="0" i="1" u="none" strike="noStrike" kern="0" cap="none" spc="-10" normalizeH="0" baseline="0" noProof="0" dirty="0">
                <a:ln>
                  <a:noFill/>
                </a:ln>
                <a:solidFill>
                  <a:sysClr val="windowText" lastClr="000000"/>
                </a:solidFill>
                <a:effectLst/>
                <a:uLnTx/>
                <a:uFillTx/>
                <a:latin typeface="Times New Roman"/>
                <a:cs typeface="Times New Roman"/>
              </a:rPr>
              <a:t>Semi-</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duplex</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systems</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e.g.,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Walkie-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talkies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4965" marR="0" lvl="0" indent="-342265" defTabSz="914400" eaLnBrk="1" fontAlgn="auto" latinLnBrk="0" hangingPunct="1">
              <a:lnSpc>
                <a:spcPct val="100000"/>
              </a:lnSpc>
              <a:spcBef>
                <a:spcPts val="580"/>
              </a:spcBef>
              <a:spcAft>
                <a:spcPts val="0"/>
              </a:spcAft>
              <a:buClr>
                <a:srgbClr val="0F1141"/>
              </a:buClr>
              <a:buSzTx/>
              <a:buFont typeface="Arial MT"/>
              <a:buChar char="•"/>
              <a:tabLst>
                <a:tab pos="354965"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Full-duplex</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systems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e.g.,</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cellphones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cordless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phones.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5080"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1" i="1" u="none" strike="noStrike" kern="0" cap="none" spc="0" normalizeH="0" baseline="0" noProof="0" dirty="0">
                <a:ln>
                  <a:noFill/>
                </a:ln>
                <a:solidFill>
                  <a:sysClr val="windowText" lastClr="000000"/>
                </a:solidFill>
                <a:effectLst/>
                <a:uLnTx/>
                <a:uFillTx/>
                <a:latin typeface="Times New Roman"/>
                <a:cs typeface="Times New Roman"/>
              </a:rPr>
              <a:t>FDD</a:t>
            </a:r>
            <a:r>
              <a:rPr kumimoji="0" sz="2400" b="1"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uses</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two</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separate</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frequencies</a:t>
            </a:r>
            <a:r>
              <a:rPr kumimoji="0" sz="2400" b="0" i="1"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uplink</a:t>
            </a:r>
            <a:r>
              <a:rPr kumimoji="0" sz="2400" b="0" i="1"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BS)</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downlink</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BS</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mobile).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19050" lvl="0" indent="0" defTabSz="914400" eaLnBrk="1" fontAlgn="auto" latinLnBrk="0" hangingPunct="1">
              <a:lnSpc>
                <a:spcPct val="100000"/>
              </a:lnSpc>
              <a:spcBef>
                <a:spcPts val="0"/>
              </a:spcBef>
              <a:spcAft>
                <a:spcPts val="0"/>
              </a:spcAft>
              <a:buClrTx/>
              <a:buSzTx/>
              <a:buFontTx/>
              <a:buNone/>
              <a:tabLst/>
              <a:defRPr/>
            </a:pPr>
            <a:r>
              <a:rPr kumimoji="0" sz="2400" b="1" i="1" u="none" strike="noStrike" kern="0" cap="none" spc="0" normalizeH="0" baseline="0" noProof="0" dirty="0">
                <a:ln>
                  <a:noFill/>
                </a:ln>
                <a:solidFill>
                  <a:sysClr val="windowText" lastClr="000000"/>
                </a:solidFill>
                <a:effectLst/>
                <a:uLnTx/>
                <a:uFillTx/>
                <a:latin typeface="Times New Roman"/>
                <a:cs typeface="Times New Roman"/>
              </a:rPr>
              <a:t>TDD</a:t>
            </a:r>
            <a:r>
              <a:rPr kumimoji="0" sz="2400" b="1"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uses</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single</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transmit</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both</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the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downlink</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and uplink</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directions.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title"/>
          </p:nvPr>
        </p:nvSpPr>
        <p:spPr>
          <a:xfrm>
            <a:off x="383540" y="150367"/>
            <a:ext cx="4685665" cy="1031875"/>
          </a:xfrm>
          <a:prstGeom prst="rect">
            <a:avLst/>
          </a:prstGeom>
        </p:spPr>
        <p:txBody>
          <a:bodyPr vert="horz" wrap="square" lIns="0" tIns="104139" rIns="0" bIns="0" rtlCol="0">
            <a:spAutoFit/>
          </a:bodyPr>
          <a:lstStyle/>
          <a:p>
            <a:pPr marL="12700" marR="5080">
              <a:lnSpc>
                <a:spcPts val="3600"/>
              </a:lnSpc>
              <a:spcBef>
                <a:spcPts val="819"/>
              </a:spcBef>
            </a:pPr>
            <a:r>
              <a:rPr b="0" i="1" spc="-150" dirty="0">
                <a:latin typeface="Arial"/>
                <a:cs typeface="Arial"/>
              </a:rPr>
              <a:t>Direction</a:t>
            </a:r>
            <a:r>
              <a:rPr b="0" i="1" spc="-240" dirty="0">
                <a:latin typeface="Arial"/>
                <a:cs typeface="Arial"/>
              </a:rPr>
              <a:t> </a:t>
            </a:r>
            <a:r>
              <a:rPr b="0" i="1" spc="-85" dirty="0">
                <a:latin typeface="Arial"/>
                <a:cs typeface="Arial"/>
              </a:rPr>
              <a:t>of</a:t>
            </a:r>
            <a:r>
              <a:rPr b="0" i="1" spc="-270" dirty="0">
                <a:latin typeface="Arial"/>
                <a:cs typeface="Arial"/>
              </a:rPr>
              <a:t> </a:t>
            </a:r>
            <a:r>
              <a:rPr b="0" i="1" spc="-165" dirty="0">
                <a:latin typeface="Arial"/>
                <a:cs typeface="Arial"/>
              </a:rPr>
              <a:t>Transmission </a:t>
            </a:r>
            <a:r>
              <a:rPr b="0" i="1" spc="-130" dirty="0">
                <a:latin typeface="Arial"/>
                <a:cs typeface="Arial"/>
              </a:rPr>
              <a:t>(</a:t>
            </a:r>
            <a:r>
              <a:rPr b="0" spc="-130" dirty="0">
                <a:latin typeface="Arial MT"/>
                <a:cs typeface="Arial MT"/>
              </a:rPr>
              <a:t>The</a:t>
            </a:r>
            <a:r>
              <a:rPr b="0" spc="-254" dirty="0">
                <a:latin typeface="Arial MT"/>
                <a:cs typeface="Arial MT"/>
              </a:rPr>
              <a:t> </a:t>
            </a:r>
            <a:r>
              <a:rPr b="0" spc="-140" dirty="0">
                <a:latin typeface="Arial MT"/>
                <a:cs typeface="Arial MT"/>
              </a:rPr>
              <a:t>duplex</a:t>
            </a:r>
            <a:r>
              <a:rPr b="0" spc="-245" dirty="0">
                <a:latin typeface="Arial MT"/>
                <a:cs typeface="Arial MT"/>
              </a:rPr>
              <a:t> </a:t>
            </a:r>
            <a:r>
              <a:rPr b="0" spc="-145" dirty="0">
                <a:latin typeface="Arial MT"/>
                <a:cs typeface="Arial MT"/>
              </a:rPr>
              <a:t>concept</a:t>
            </a:r>
            <a:r>
              <a:rPr b="0" spc="-240" dirty="0">
                <a:latin typeface="Arial MT"/>
                <a:cs typeface="Arial MT"/>
              </a:rPr>
              <a:t> </a:t>
            </a:r>
            <a:r>
              <a:rPr spc="-50" dirty="0"/>
              <a:t>)</a:t>
            </a:r>
          </a:p>
        </p:txBody>
      </p:sp>
      <p:sp>
        <p:nvSpPr>
          <p:cNvPr id="4" name="object 4"/>
          <p:cNvSpPr/>
          <p:nvPr/>
        </p:nvSpPr>
        <p:spPr>
          <a:xfrm>
            <a:off x="744499" y="4392294"/>
            <a:ext cx="3848100" cy="2019300"/>
          </a:xfrm>
          <a:custGeom>
            <a:avLst/>
            <a:gdLst/>
            <a:ahLst/>
            <a:cxnLst/>
            <a:rect l="l" t="t" r="r" b="b"/>
            <a:pathLst>
              <a:path w="3848100" h="2019300">
                <a:moveTo>
                  <a:pt x="3848074" y="1981200"/>
                </a:moveTo>
                <a:lnTo>
                  <a:pt x="3835400" y="1974862"/>
                </a:lnTo>
                <a:lnTo>
                  <a:pt x="3771874" y="1943100"/>
                </a:lnTo>
                <a:lnTo>
                  <a:pt x="3771874" y="1974862"/>
                </a:lnTo>
                <a:lnTo>
                  <a:pt x="44450" y="1974862"/>
                </a:lnTo>
                <a:lnTo>
                  <a:pt x="44450" y="76200"/>
                </a:lnTo>
                <a:lnTo>
                  <a:pt x="76200" y="76200"/>
                </a:lnTo>
                <a:lnTo>
                  <a:pt x="69850" y="63500"/>
                </a:lnTo>
                <a:lnTo>
                  <a:pt x="38100" y="0"/>
                </a:lnTo>
                <a:lnTo>
                  <a:pt x="0" y="76200"/>
                </a:lnTo>
                <a:lnTo>
                  <a:pt x="31750" y="76200"/>
                </a:lnTo>
                <a:lnTo>
                  <a:pt x="31750" y="1981212"/>
                </a:lnTo>
                <a:lnTo>
                  <a:pt x="38100" y="1981212"/>
                </a:lnTo>
                <a:lnTo>
                  <a:pt x="38100" y="1987562"/>
                </a:lnTo>
                <a:lnTo>
                  <a:pt x="3771874" y="1987562"/>
                </a:lnTo>
                <a:lnTo>
                  <a:pt x="3771874" y="2019300"/>
                </a:lnTo>
                <a:lnTo>
                  <a:pt x="3835349" y="1987562"/>
                </a:lnTo>
                <a:lnTo>
                  <a:pt x="3848074" y="198120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782599" y="4773282"/>
            <a:ext cx="3581400" cy="369570"/>
          </a:xfrm>
          <a:prstGeom prst="rect">
            <a:avLst/>
          </a:prstGeom>
          <a:solidFill>
            <a:srgbClr val="DCE6F1"/>
          </a:solidFill>
          <a:ln w="9525">
            <a:solidFill>
              <a:srgbClr val="7E7E7E"/>
            </a:solidFill>
          </a:ln>
        </p:spPr>
        <p:txBody>
          <a:bodyPr vert="horz" wrap="square" lIns="0" tIns="31750" rIns="0" bIns="0" rtlCol="0">
            <a:spAutoFit/>
          </a:bodyPr>
          <a:lstStyle/>
          <a:p>
            <a:pPr marL="91440" marR="0" lvl="0" indent="0" defTabSz="914400" eaLnBrk="1" fontAlgn="auto" latinLnBrk="0" hangingPunct="1">
              <a:lnSpc>
                <a:spcPct val="100000"/>
              </a:lnSpc>
              <a:spcBef>
                <a:spcPts val="25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Calibri"/>
                <a:cs typeface="Calibri"/>
              </a:rPr>
              <a:t>Base</a:t>
            </a:r>
            <a:r>
              <a:rPr kumimoji="0" sz="1800" b="0" i="0" u="none" strike="noStrike" kern="0" cap="none" spc="-55"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Station(Tx),</a:t>
            </a:r>
            <a:r>
              <a:rPr kumimoji="0" sz="1800" b="0" i="0" u="none" strike="noStrike" kern="0" cap="none" spc="-40"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Mobile</a:t>
            </a:r>
            <a:r>
              <a:rPr kumimoji="0" sz="1800" b="0" i="0" u="none" strike="noStrike" kern="0" cap="none" spc="-25"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Station(Rx</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6" name="object 6"/>
          <p:cNvSpPr txBox="1"/>
          <p:nvPr/>
        </p:nvSpPr>
        <p:spPr>
          <a:xfrm>
            <a:off x="799655" y="5857608"/>
            <a:ext cx="3581400" cy="369570"/>
          </a:xfrm>
          <a:prstGeom prst="rect">
            <a:avLst/>
          </a:prstGeom>
          <a:solidFill>
            <a:srgbClr val="FBD4B5"/>
          </a:solidFill>
        </p:spPr>
        <p:txBody>
          <a:bodyPr vert="horz" wrap="square" lIns="0" tIns="31750" rIns="0" bIns="0" rtlCol="0">
            <a:spAutoFit/>
          </a:bodyPr>
          <a:lstStyle/>
          <a:p>
            <a:pPr marL="91440" marR="0" lvl="0" indent="0" defTabSz="914400" eaLnBrk="1" fontAlgn="auto" latinLnBrk="0" hangingPunct="1">
              <a:lnSpc>
                <a:spcPct val="100000"/>
              </a:lnSpc>
              <a:spcBef>
                <a:spcPts val="25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Calibri"/>
                <a:cs typeface="Calibri"/>
              </a:rPr>
              <a:t>Mobile</a:t>
            </a:r>
            <a:r>
              <a:rPr kumimoji="0" sz="1800" b="0" i="0" u="none" strike="noStrike" kern="0" cap="none" spc="-15"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station</a:t>
            </a:r>
            <a:r>
              <a:rPr kumimoji="0" sz="1800" b="0" i="0" u="none" strike="noStrike" kern="0" cap="none" spc="-35"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(tx),</a:t>
            </a:r>
            <a:r>
              <a:rPr kumimoji="0" sz="1800" b="0" i="0" u="none" strike="noStrike" kern="0" cap="none" spc="-25"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Base</a:t>
            </a:r>
            <a:r>
              <a:rPr kumimoji="0" sz="1800" b="0" i="0" u="none" strike="noStrike" kern="0" cap="none" spc="-40"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station(Rx)</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7" name="object 7"/>
          <p:cNvSpPr txBox="1"/>
          <p:nvPr/>
        </p:nvSpPr>
        <p:spPr>
          <a:xfrm>
            <a:off x="303529" y="4756429"/>
            <a:ext cx="254000" cy="1539875"/>
          </a:xfrm>
          <a:prstGeom prst="rect">
            <a:avLst/>
          </a:prstGeom>
        </p:spPr>
        <p:txBody>
          <a:bodyPr vert="vert270" wrap="square" lIns="0" tIns="0" rIns="0" bIns="0" rtlCol="0">
            <a:spAutoFit/>
          </a:bodyPr>
          <a:lstStyle/>
          <a:p>
            <a:pPr marL="12700" marR="0" lvl="0" indent="0" defTabSz="914400" eaLnBrk="1" fontAlgn="auto" latinLnBrk="0" hangingPunct="1">
              <a:lnSpc>
                <a:spcPts val="1810"/>
              </a:lnSpc>
              <a:spcBef>
                <a:spcPts val="0"/>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Frequency(Mhz)</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8" name="object 8"/>
          <p:cNvSpPr/>
          <p:nvPr/>
        </p:nvSpPr>
        <p:spPr>
          <a:xfrm>
            <a:off x="5448300" y="4419600"/>
            <a:ext cx="3695700" cy="1987550"/>
          </a:xfrm>
          <a:custGeom>
            <a:avLst/>
            <a:gdLst/>
            <a:ahLst/>
            <a:cxnLst/>
            <a:rect l="l" t="t" r="r" b="b"/>
            <a:pathLst>
              <a:path w="3695700" h="1987550">
                <a:moveTo>
                  <a:pt x="3695700" y="1974850"/>
                </a:moveTo>
                <a:lnTo>
                  <a:pt x="44450" y="1974850"/>
                </a:lnTo>
                <a:lnTo>
                  <a:pt x="44450" y="76200"/>
                </a:lnTo>
                <a:lnTo>
                  <a:pt x="76200" y="76200"/>
                </a:lnTo>
                <a:lnTo>
                  <a:pt x="69850" y="63500"/>
                </a:lnTo>
                <a:lnTo>
                  <a:pt x="38100" y="0"/>
                </a:lnTo>
                <a:lnTo>
                  <a:pt x="0" y="76200"/>
                </a:lnTo>
                <a:lnTo>
                  <a:pt x="31750" y="76200"/>
                </a:lnTo>
                <a:lnTo>
                  <a:pt x="31750" y="1981200"/>
                </a:lnTo>
                <a:lnTo>
                  <a:pt x="38100" y="1981200"/>
                </a:lnTo>
                <a:lnTo>
                  <a:pt x="38100" y="1987550"/>
                </a:lnTo>
                <a:lnTo>
                  <a:pt x="3695700" y="1987550"/>
                </a:lnTo>
                <a:lnTo>
                  <a:pt x="3695700" y="1974850"/>
                </a:lnTo>
                <a:close/>
              </a:path>
            </a:pathLst>
          </a:custGeom>
          <a:solidFill>
            <a:srgbClr val="497DB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5600319" y="5145925"/>
            <a:ext cx="1606550" cy="1200785"/>
          </a:xfrm>
          <a:prstGeom prst="rect">
            <a:avLst/>
          </a:prstGeom>
          <a:solidFill>
            <a:srgbClr val="DCE6F1"/>
          </a:solidFill>
          <a:ln w="9525">
            <a:solidFill>
              <a:srgbClr val="7E7E7E"/>
            </a:solidFill>
          </a:ln>
        </p:spPr>
        <p:txBody>
          <a:bodyPr vert="horz" wrap="square" lIns="0" tIns="31115" rIns="0" bIns="0" rtlCol="0">
            <a:spAutoFit/>
          </a:bodyPr>
          <a:lstStyle/>
          <a:p>
            <a:pPr marL="92075" marR="45720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20" normalizeH="0" baseline="0" noProof="0" dirty="0">
                <a:ln>
                  <a:noFill/>
                </a:ln>
                <a:solidFill>
                  <a:sysClr val="windowText" lastClr="000000"/>
                </a:solidFill>
                <a:effectLst/>
                <a:uLnTx/>
                <a:uFillTx/>
                <a:latin typeface="Calibri"/>
                <a:cs typeface="Calibri"/>
              </a:rPr>
              <a:t>Base Station(Tx), </a:t>
            </a:r>
            <a:r>
              <a:rPr kumimoji="0" sz="1800" b="0" i="0" u="none" strike="noStrike" kern="0" cap="none" spc="-10" normalizeH="0" baseline="0" noProof="0" dirty="0">
                <a:ln>
                  <a:noFill/>
                </a:ln>
                <a:solidFill>
                  <a:sysClr val="windowText" lastClr="000000"/>
                </a:solidFill>
                <a:effectLst/>
                <a:uLnTx/>
                <a:uFillTx/>
                <a:latin typeface="Calibri"/>
                <a:cs typeface="Calibri"/>
              </a:rPr>
              <a:t>Mobile Station(Rx)</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132</a:t>
            </a:fld>
            <a:endParaRPr kumimoji="0" sz="1200" b="0" i="0" u="none" strike="noStrike" kern="0" cap="none" spc="-25" normalizeH="0" baseline="0" noProof="0" dirty="0">
              <a:ln>
                <a:noFill/>
              </a:ln>
              <a:solidFill>
                <a:srgbClr val="888888"/>
              </a:solidFill>
              <a:effectLst/>
              <a:uLnTx/>
              <a:uFillTx/>
              <a:latin typeface="Arial MT"/>
            </a:endParaRPr>
          </a:p>
        </p:txBody>
      </p:sp>
      <p:sp>
        <p:nvSpPr>
          <p:cNvPr id="13" name="object 13"/>
          <p:cNvSpPr txBox="1"/>
          <p:nvPr/>
        </p:nvSpPr>
        <p:spPr>
          <a:xfrm>
            <a:off x="2157222" y="6565036"/>
            <a:ext cx="948690" cy="254000"/>
          </a:xfrm>
          <a:prstGeom prst="rect">
            <a:avLst/>
          </a:prstGeom>
        </p:spPr>
        <p:txBody>
          <a:bodyPr vert="horz" wrap="square" lIns="0" tIns="0" rIns="0" bIns="0" rtlCol="0">
            <a:spAutoFit/>
          </a:bodyPr>
          <a:lstStyle/>
          <a:p>
            <a:pPr marL="12700" marR="0" lvl="0" indent="0" defTabSz="914400" eaLnBrk="1" fontAlgn="auto" latinLnBrk="0" hangingPunct="1">
              <a:lnSpc>
                <a:spcPts val="1810"/>
              </a:lnSpc>
              <a:spcBef>
                <a:spcPts val="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Calibri"/>
                <a:cs typeface="Calibri"/>
              </a:rPr>
              <a:t>Time</a:t>
            </a:r>
            <a:r>
              <a:rPr kumimoji="0" sz="1800" b="0" i="0" u="none" strike="noStrike" kern="0" cap="none" spc="-30" normalizeH="0" baseline="0" noProof="0" dirty="0">
                <a:ln>
                  <a:noFill/>
                </a:ln>
                <a:solidFill>
                  <a:sysClr val="windowText" lastClr="000000"/>
                </a:solidFill>
                <a:effectLst/>
                <a:uLnTx/>
                <a:uFillTx/>
                <a:latin typeface="Calibri"/>
                <a:cs typeface="Calibri"/>
              </a:rPr>
              <a:t> </a:t>
            </a:r>
            <a:r>
              <a:rPr kumimoji="0" sz="1800" b="0" i="0" u="none" strike="noStrike" kern="0" cap="none" spc="-20" normalizeH="0" baseline="0" noProof="0" dirty="0">
                <a:ln>
                  <a:noFill/>
                </a:ln>
                <a:solidFill>
                  <a:sysClr val="windowText" lastClr="000000"/>
                </a:solidFill>
                <a:effectLst/>
                <a:uLnTx/>
                <a:uFillTx/>
                <a:latin typeface="Calibri"/>
                <a:cs typeface="Calibri"/>
              </a:rPr>
              <a:t>(ms)</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14" name="object 14"/>
          <p:cNvSpPr txBox="1"/>
          <p:nvPr/>
        </p:nvSpPr>
        <p:spPr>
          <a:xfrm>
            <a:off x="4585842" y="6592163"/>
            <a:ext cx="4478020" cy="254000"/>
          </a:xfrm>
          <a:prstGeom prst="rect">
            <a:avLst/>
          </a:prstGeom>
        </p:spPr>
        <p:txBody>
          <a:bodyPr vert="horz" wrap="square" lIns="0" tIns="0" rIns="0" bIns="0" rtlCol="0">
            <a:spAutoFit/>
          </a:bodyPr>
          <a:lstStyle/>
          <a:p>
            <a:pPr marL="12700" marR="0" lvl="0" indent="0" defTabSz="914400" eaLnBrk="1" fontAlgn="auto" latinLnBrk="0" hangingPunct="1">
              <a:lnSpc>
                <a:spcPts val="183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1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20" normalizeH="0" baseline="0" noProof="0" dirty="0">
                <a:ln>
                  <a:noFill/>
                </a:ln>
                <a:solidFill>
                  <a:srgbClr val="0F1141"/>
                </a:solidFill>
                <a:effectLst/>
                <a:uLnTx/>
                <a:uFillTx/>
                <a:latin typeface="Arial MT"/>
                <a:cs typeface="Arial MT"/>
              </a:rPr>
              <a:t>U</a:t>
            </a:r>
            <a:r>
              <a:rPr kumimoji="0" sz="1100" b="0" i="0" u="none" strike="noStrike" kern="0" cap="none" spc="-15" normalizeH="0" baseline="0" noProof="0" dirty="0">
                <a:ln>
                  <a:noFill/>
                </a:ln>
                <a:solidFill>
                  <a:srgbClr val="0F1141"/>
                </a:solidFill>
                <a:effectLst/>
                <a:uLnTx/>
                <a:uFillTx/>
                <a:latin typeface="Arial MT"/>
                <a:cs typeface="Arial MT"/>
              </a:rPr>
              <a:t>n</a:t>
            </a:r>
            <a:r>
              <a:rPr kumimoji="0" sz="1100" b="0" i="0" u="none" strike="noStrike" kern="0" cap="none" spc="-20" normalizeH="0" baseline="0" noProof="0" dirty="0">
                <a:ln>
                  <a:noFill/>
                </a:ln>
                <a:solidFill>
                  <a:srgbClr val="0F1141"/>
                </a:solidFill>
                <a:effectLst/>
                <a:uLnTx/>
                <a:uFillTx/>
                <a:latin typeface="Arial MT"/>
                <a:cs typeface="Arial MT"/>
              </a:rPr>
              <a:t>iv</a:t>
            </a:r>
            <a:r>
              <a:rPr kumimoji="0" sz="1100" b="0" i="0" u="none" strike="noStrike" kern="0" cap="none" spc="-5" normalizeH="0" baseline="0" noProof="0" dirty="0">
                <a:ln>
                  <a:noFill/>
                </a:ln>
                <a:solidFill>
                  <a:srgbClr val="0F1141"/>
                </a:solidFill>
                <a:effectLst/>
                <a:uLnTx/>
                <a:uFillTx/>
                <a:latin typeface="Arial MT"/>
                <a:cs typeface="Arial MT"/>
              </a:rPr>
              <a:t>ersit</a:t>
            </a:r>
            <a:r>
              <a:rPr kumimoji="0" sz="1100" b="0" i="0" u="none" strike="noStrike" kern="0" cap="none" spc="-225" normalizeH="0" baseline="0" noProof="0" dirty="0">
                <a:ln>
                  <a:noFill/>
                </a:ln>
                <a:solidFill>
                  <a:srgbClr val="0F1141"/>
                </a:solidFill>
                <a:effectLst/>
                <a:uLnTx/>
                <a:uFillTx/>
                <a:latin typeface="Arial MT"/>
                <a:cs typeface="Arial MT"/>
              </a:rPr>
              <a:t>y</a:t>
            </a:r>
            <a:r>
              <a:rPr kumimoji="0" sz="1800" b="0" i="0" u="none" strike="noStrike" kern="0" cap="none" spc="-340" normalizeH="0" baseline="0" noProof="0" dirty="0">
                <a:ln>
                  <a:noFill/>
                </a:ln>
                <a:solidFill>
                  <a:sysClr val="windowText" lastClr="000000"/>
                </a:solidFill>
                <a:effectLst/>
                <a:uLnTx/>
                <a:uFillTx/>
                <a:latin typeface="Calibri"/>
                <a:cs typeface="Calibri"/>
              </a:rPr>
              <a:t>T</a:t>
            </a:r>
            <a:r>
              <a:rPr kumimoji="0" sz="1100" b="0" i="0" u="none" strike="noStrike" kern="0" cap="none" spc="-285" normalizeH="0" baseline="0" noProof="0" dirty="0">
                <a:ln>
                  <a:noFill/>
                </a:ln>
                <a:solidFill>
                  <a:srgbClr val="0F1141"/>
                </a:solidFill>
                <a:effectLst/>
                <a:uLnTx/>
                <a:uFillTx/>
                <a:latin typeface="Arial MT"/>
                <a:cs typeface="Arial MT"/>
              </a:rPr>
              <a:t>u</a:t>
            </a:r>
            <a:r>
              <a:rPr kumimoji="0" sz="1800" b="0" i="0" u="none" strike="noStrike" kern="0" cap="none" spc="-140" normalizeH="0" baseline="0" noProof="0" dirty="0">
                <a:ln>
                  <a:noFill/>
                </a:ln>
                <a:solidFill>
                  <a:sysClr val="windowText" lastClr="000000"/>
                </a:solidFill>
                <a:effectLst/>
                <a:uLnTx/>
                <a:uFillTx/>
                <a:latin typeface="Calibri"/>
                <a:cs typeface="Calibri"/>
              </a:rPr>
              <a:t>i</a:t>
            </a:r>
            <a:r>
              <a:rPr kumimoji="0" sz="1100" b="0" i="0" u="none" strike="noStrike" kern="0" cap="none" spc="-495" normalizeH="0" baseline="0" noProof="0" dirty="0">
                <a:ln>
                  <a:noFill/>
                </a:ln>
                <a:solidFill>
                  <a:srgbClr val="0F1141"/>
                </a:solidFill>
                <a:effectLst/>
                <a:uLnTx/>
                <a:uFillTx/>
                <a:latin typeface="Arial MT"/>
                <a:cs typeface="Arial MT"/>
              </a:rPr>
              <a:t>n</a:t>
            </a:r>
            <a:r>
              <a:rPr kumimoji="0" sz="1800" b="0" i="0" u="none" strike="noStrike" kern="0" cap="none" spc="-960" normalizeH="0" baseline="0" noProof="0" dirty="0">
                <a:ln>
                  <a:noFill/>
                </a:ln>
                <a:solidFill>
                  <a:sysClr val="windowText" lastClr="000000"/>
                </a:solidFill>
                <a:effectLst/>
                <a:uLnTx/>
                <a:uFillTx/>
                <a:latin typeface="Calibri"/>
                <a:cs typeface="Calibri"/>
              </a:rPr>
              <a:t>m</a:t>
            </a:r>
            <a:r>
              <a:rPr kumimoji="0" sz="1100" b="0" i="0" u="none" strike="noStrike" kern="0" cap="none" spc="-10" normalizeH="0" baseline="0" noProof="0" dirty="0">
                <a:ln>
                  <a:noFill/>
                </a:ln>
                <a:solidFill>
                  <a:srgbClr val="0F1141"/>
                </a:solidFill>
                <a:effectLst/>
                <a:uLnTx/>
                <a:uFillTx/>
                <a:latin typeface="Arial MT"/>
                <a:cs typeface="Arial MT"/>
              </a:rPr>
              <a:t>d</a:t>
            </a:r>
            <a:r>
              <a:rPr kumimoji="0" sz="1100" b="0" i="0" u="none" strike="noStrike" kern="0" cap="none" spc="-280" normalizeH="0" baseline="0" noProof="0" dirty="0">
                <a:ln>
                  <a:noFill/>
                </a:ln>
                <a:solidFill>
                  <a:srgbClr val="0F1141"/>
                </a:solidFill>
                <a:effectLst/>
                <a:uLnTx/>
                <a:uFillTx/>
                <a:latin typeface="Arial MT"/>
                <a:cs typeface="Arial MT"/>
              </a:rPr>
              <a:t>e</a:t>
            </a:r>
            <a:r>
              <a:rPr kumimoji="0" sz="1800" b="0" i="0" u="none" strike="noStrike" kern="0" cap="none" spc="-645" normalizeH="0" baseline="0" noProof="0" dirty="0">
                <a:ln>
                  <a:noFill/>
                </a:ln>
                <a:solidFill>
                  <a:sysClr val="windowText" lastClr="000000"/>
                </a:solidFill>
                <a:effectLst/>
                <a:uLnTx/>
                <a:uFillTx/>
                <a:latin typeface="Calibri"/>
                <a:cs typeface="Calibri"/>
              </a:rPr>
              <a:t>e</a:t>
            </a:r>
            <a:r>
              <a:rPr kumimoji="0" sz="1100" b="0" i="0" u="none" strike="noStrike" kern="0" cap="none" spc="-5" normalizeH="0" baseline="0" noProof="0" dirty="0">
                <a:ln>
                  <a:noFill/>
                </a:ln>
                <a:solidFill>
                  <a:srgbClr val="0F1141"/>
                </a:solidFill>
                <a:effectLst/>
                <a:uLnTx/>
                <a:uFillTx/>
                <a:latin typeface="Arial MT"/>
                <a:cs typeface="Arial MT"/>
              </a:rPr>
              <a:t>r</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375" normalizeH="0" baseline="0" noProof="0" dirty="0">
                <a:ln>
                  <a:noFill/>
                </a:ln>
                <a:solidFill>
                  <a:srgbClr val="0F1141"/>
                </a:solidFill>
                <a:effectLst/>
                <a:uLnTx/>
                <a:uFillTx/>
                <a:latin typeface="Arial MT"/>
                <a:cs typeface="Arial MT"/>
              </a:rPr>
              <a:t>S</a:t>
            </a:r>
            <a:r>
              <a:rPr kumimoji="0" sz="1800" b="0" i="0" u="none" strike="noStrike" kern="0" cap="none" spc="-210" normalizeH="0" baseline="0" noProof="0" dirty="0">
                <a:ln>
                  <a:noFill/>
                </a:ln>
                <a:solidFill>
                  <a:sysClr val="windowText" lastClr="000000"/>
                </a:solidFill>
                <a:effectLst/>
                <a:uLnTx/>
                <a:uFillTx/>
                <a:latin typeface="Calibri"/>
                <a:cs typeface="Calibri"/>
              </a:rPr>
              <a:t>(</a:t>
            </a:r>
            <a:r>
              <a:rPr kumimoji="0" sz="1100" b="0" i="0" u="none" strike="noStrike" kern="0" cap="none" spc="-434" normalizeH="0" baseline="0" noProof="0" dirty="0">
                <a:ln>
                  <a:noFill/>
                </a:ln>
                <a:solidFill>
                  <a:srgbClr val="0F1141"/>
                </a:solidFill>
                <a:effectLst/>
                <a:uLnTx/>
                <a:uFillTx/>
                <a:latin typeface="Arial MT"/>
                <a:cs typeface="Arial MT"/>
              </a:rPr>
              <a:t>e</a:t>
            </a:r>
            <a:r>
              <a:rPr kumimoji="0" sz="1800" b="0" i="0" u="none" strike="noStrike" kern="0" cap="none" spc="-1030" normalizeH="0" baseline="0" noProof="0" dirty="0">
                <a:ln>
                  <a:noFill/>
                </a:ln>
                <a:solidFill>
                  <a:sysClr val="windowText" lastClr="000000"/>
                </a:solidFill>
                <a:effectLst/>
                <a:uLnTx/>
                <a:uFillTx/>
                <a:latin typeface="Calibri"/>
                <a:cs typeface="Calibri"/>
              </a:rPr>
              <a:t>m</a:t>
            </a:r>
            <a:r>
              <a:rPr kumimoji="0" sz="1100" b="0" i="0" u="none" strike="noStrike" kern="0" cap="none" spc="-15" normalizeH="0" baseline="0" noProof="0" dirty="0">
                <a:ln>
                  <a:noFill/>
                </a:ln>
                <a:solidFill>
                  <a:srgbClr val="0F1141"/>
                </a:solidFill>
                <a:effectLst/>
                <a:uLnTx/>
                <a:uFillTx/>
                <a:latin typeface="Arial MT"/>
                <a:cs typeface="Arial MT"/>
              </a:rPr>
              <a:t>ct</a:t>
            </a:r>
            <a:r>
              <a:rPr kumimoji="0" sz="1100" b="0" i="0" u="none" strike="noStrike" kern="0" cap="none" spc="-105" normalizeH="0" baseline="0" noProof="0" dirty="0">
                <a:ln>
                  <a:noFill/>
                </a:ln>
                <a:solidFill>
                  <a:srgbClr val="0F1141"/>
                </a:solidFill>
                <a:effectLst/>
                <a:uLnTx/>
                <a:uFillTx/>
                <a:latin typeface="Arial MT"/>
                <a:cs typeface="Arial MT"/>
              </a:rPr>
              <a:t>i</a:t>
            </a:r>
            <a:r>
              <a:rPr kumimoji="0" sz="1800" b="0" i="0" u="none" strike="noStrike" kern="0" cap="none" spc="-630" normalizeH="0" baseline="0" noProof="0" dirty="0">
                <a:ln>
                  <a:noFill/>
                </a:ln>
                <a:solidFill>
                  <a:sysClr val="windowText" lastClr="000000"/>
                </a:solidFill>
                <a:effectLst/>
                <a:uLnTx/>
                <a:uFillTx/>
                <a:latin typeface="Calibri"/>
                <a:cs typeface="Calibri"/>
              </a:rPr>
              <a:t>s</a:t>
            </a:r>
            <a:r>
              <a:rPr kumimoji="0" sz="1100" b="0" i="0" u="none" strike="noStrike" kern="0" cap="none" spc="-15" normalizeH="0" baseline="0" noProof="0" dirty="0">
                <a:ln>
                  <a:noFill/>
                </a:ln>
                <a:solidFill>
                  <a:srgbClr val="0F1141"/>
                </a:solidFill>
                <a:effectLst/>
                <a:uLnTx/>
                <a:uFillTx/>
                <a:latin typeface="Arial MT"/>
                <a:cs typeface="Arial MT"/>
              </a:rPr>
              <a:t>o</a:t>
            </a:r>
            <a:r>
              <a:rPr kumimoji="0" sz="1100" b="0" i="0" u="none" strike="noStrike" kern="0" cap="none" spc="-615" normalizeH="0" baseline="0" noProof="0" dirty="0">
                <a:ln>
                  <a:noFill/>
                </a:ln>
                <a:solidFill>
                  <a:srgbClr val="0F1141"/>
                </a:solidFill>
                <a:effectLst/>
                <a:uLnTx/>
                <a:uFillTx/>
                <a:latin typeface="Arial MT"/>
                <a:cs typeface="Arial MT"/>
              </a:rPr>
              <a:t>n</a:t>
            </a:r>
            <a:r>
              <a:rPr kumimoji="0" sz="1800" b="0" i="0" u="none" strike="noStrike" kern="0" cap="none" spc="-10" normalizeH="0" baseline="0" noProof="0" dirty="0">
                <a:ln>
                  <a:noFill/>
                </a:ln>
                <a:solidFill>
                  <a:sysClr val="windowText" lastClr="000000"/>
                </a:solidFill>
                <a:effectLst/>
                <a:uLnTx/>
                <a:uFillTx/>
                <a:latin typeface="Calibri"/>
                <a:cs typeface="Calibri"/>
              </a:rPr>
              <a:t>)</a:t>
            </a:r>
            <a:r>
              <a:rPr kumimoji="0" sz="1800" b="0" i="0" u="none" strike="noStrike" kern="0" cap="none" spc="-50" normalizeH="0" baseline="0" noProof="0" dirty="0">
                <a:ln>
                  <a:noFill/>
                </a:ln>
                <a:solidFill>
                  <a:sysClr val="windowText" lastClr="000000"/>
                </a:solidFill>
                <a:effectLst/>
                <a:uLnTx/>
                <a:uFillTx/>
                <a:latin typeface="Calibri"/>
                <a:cs typeface="Calibri"/>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1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20" normalizeH="0" baseline="0" noProof="0" dirty="0">
                <a:ln>
                  <a:noFill/>
                </a:ln>
                <a:solidFill>
                  <a:srgbClr val="0F1141"/>
                </a:solidFill>
                <a:effectLst/>
                <a:uLnTx/>
                <a:uFillTx/>
                <a:latin typeface="Arial MT"/>
                <a:cs typeface="Arial MT"/>
              </a:rPr>
              <a:t>1956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
        <p:nvSpPr>
          <p:cNvPr id="10" name="object 10"/>
          <p:cNvSpPr txBox="1"/>
          <p:nvPr/>
        </p:nvSpPr>
        <p:spPr>
          <a:xfrm>
            <a:off x="7256018" y="5145925"/>
            <a:ext cx="1524000" cy="1200785"/>
          </a:xfrm>
          <a:prstGeom prst="rect">
            <a:avLst/>
          </a:prstGeom>
          <a:solidFill>
            <a:srgbClr val="FBD4B5"/>
          </a:solidFill>
        </p:spPr>
        <p:txBody>
          <a:bodyPr vert="horz" wrap="square" lIns="0" tIns="31115" rIns="0" bIns="0" rtlCol="0">
            <a:spAutoFit/>
          </a:bodyPr>
          <a:lstStyle/>
          <a:p>
            <a:pPr marL="92075" marR="365760" lvl="0" indent="0" defTabSz="914400" eaLnBrk="1" fontAlgn="auto" latinLnBrk="0" hangingPunct="1">
              <a:lnSpc>
                <a:spcPct val="100000"/>
              </a:lnSpc>
              <a:spcBef>
                <a:spcPts val="245"/>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Mobile station</a:t>
            </a:r>
            <a:r>
              <a:rPr kumimoji="0" sz="1800" b="0" i="0" u="none" strike="noStrike" kern="0" cap="none" spc="-40"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(tx), </a:t>
            </a:r>
            <a:r>
              <a:rPr kumimoji="0" sz="1800" b="0" i="0" u="none" strike="noStrike" kern="0" cap="none" spc="-20" normalizeH="0" baseline="0" noProof="0" dirty="0">
                <a:ln>
                  <a:noFill/>
                </a:ln>
                <a:solidFill>
                  <a:sysClr val="windowText" lastClr="000000"/>
                </a:solidFill>
                <a:effectLst/>
                <a:uLnTx/>
                <a:uFillTx/>
                <a:latin typeface="Calibri"/>
                <a:cs typeface="Calibri"/>
              </a:rPr>
              <a:t>Base </a:t>
            </a:r>
            <a:r>
              <a:rPr kumimoji="0" sz="1800" b="0" i="0" u="none" strike="noStrike" kern="0" cap="none" spc="-10" normalizeH="0" baseline="0" noProof="0" dirty="0">
                <a:ln>
                  <a:noFill/>
                </a:ln>
                <a:solidFill>
                  <a:sysClr val="windowText" lastClr="000000"/>
                </a:solidFill>
                <a:effectLst/>
                <a:uLnTx/>
                <a:uFillTx/>
                <a:latin typeface="Calibri"/>
                <a:cs typeface="Calibri"/>
              </a:rPr>
              <a:t>station(Rx)</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11" name="object 11"/>
          <p:cNvSpPr txBox="1"/>
          <p:nvPr/>
        </p:nvSpPr>
        <p:spPr>
          <a:xfrm>
            <a:off x="5008117" y="4783480"/>
            <a:ext cx="254000" cy="1539875"/>
          </a:xfrm>
          <a:prstGeom prst="rect">
            <a:avLst/>
          </a:prstGeom>
        </p:spPr>
        <p:txBody>
          <a:bodyPr vert="vert270" wrap="square" lIns="0" tIns="0" rIns="0" bIns="0" rtlCol="0">
            <a:spAutoFit/>
          </a:bodyPr>
          <a:lstStyle/>
          <a:p>
            <a:pPr marL="12700" marR="0" lvl="0" indent="0" defTabSz="914400" eaLnBrk="1" fontAlgn="auto" latinLnBrk="0" hangingPunct="1">
              <a:lnSpc>
                <a:spcPts val="1810"/>
              </a:lnSpc>
              <a:spcBef>
                <a:spcPts val="0"/>
              </a:spcBef>
              <a:spcAft>
                <a:spcPts val="0"/>
              </a:spcAft>
              <a:buClrTx/>
              <a:buSzTx/>
              <a:buFontTx/>
              <a:buNone/>
              <a:tabLst/>
              <a:defRPr/>
            </a:pPr>
            <a:r>
              <a:rPr kumimoji="0" sz="1800" b="0" i="0" u="none" strike="noStrike" kern="0" cap="none" spc="-10" normalizeH="0" baseline="0" noProof="0" dirty="0">
                <a:ln>
                  <a:noFill/>
                </a:ln>
                <a:solidFill>
                  <a:sysClr val="windowText" lastClr="000000"/>
                </a:solidFill>
                <a:effectLst/>
                <a:uLnTx/>
                <a:uFillTx/>
                <a:latin typeface="Calibri"/>
                <a:cs typeface="Calibri"/>
              </a:rPr>
              <a:t>Frequency(Mhz)</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9930"/>
            <a:ext cx="8010525" cy="3171825"/>
          </a:xfrm>
          <a:prstGeom prst="rect">
            <a:avLst/>
          </a:prstGeom>
        </p:spPr>
        <p:txBody>
          <a:bodyPr vert="horz" wrap="square" lIns="0" tIns="53975" rIns="0" bIns="0" rtlCol="0">
            <a:spAutoFit/>
          </a:bodyPr>
          <a:lstStyle/>
          <a:p>
            <a:pPr marL="355600" marR="75565" lvl="0" indent="-342900" defTabSz="914400" eaLnBrk="1" fontAlgn="auto" latinLnBrk="0" hangingPunct="1">
              <a:lnSpc>
                <a:spcPts val="2590"/>
              </a:lnSpc>
              <a:spcBef>
                <a:spcPts val="42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reason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defining</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land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mobile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outline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specific</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and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specific</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sites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used.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103505" lvl="0" indent="-342900" defTabSz="914400" eaLnBrk="1" fontAlgn="auto" latinLnBrk="0" hangingPunct="1">
              <a:lnSpc>
                <a:spcPts val="2590"/>
              </a:lnSpc>
              <a:spcBef>
                <a:spcPts val="58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Designers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have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realized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visualizing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having</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geometrical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shape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helps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ease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design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cellular systems.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5080" lvl="0" indent="-342900" defTabSz="914400" eaLnBrk="1" fontAlgn="auto" latinLnBrk="0" hangingPunct="1">
              <a:lnSpc>
                <a:spcPts val="2590"/>
              </a:lnSpc>
              <a:spcBef>
                <a:spcPts val="58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geometry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helps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ease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assessment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spectral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efficiency</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various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particular</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calculate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significant</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(CCI)</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b="0" spc="-85" dirty="0">
                <a:latin typeface="Arial MT"/>
                <a:cs typeface="Arial MT"/>
              </a:rPr>
              <a:t>Ce</a:t>
            </a:r>
            <a:r>
              <a:rPr b="0" spc="-495" dirty="0">
                <a:latin typeface="Arial MT"/>
                <a:cs typeface="Arial MT"/>
              </a:rPr>
              <a:t> </a:t>
            </a:r>
            <a:r>
              <a:rPr spc="-175" dirty="0"/>
              <a:t>l</a:t>
            </a:r>
            <a:r>
              <a:rPr b="0" spc="-175" dirty="0">
                <a:latin typeface="Arial MT"/>
                <a:cs typeface="Arial MT"/>
              </a:rPr>
              <a:t>ular</a:t>
            </a:r>
            <a:r>
              <a:rPr b="0" spc="-265" dirty="0">
                <a:latin typeface="Arial MT"/>
                <a:cs typeface="Arial MT"/>
              </a:rPr>
              <a:t> </a:t>
            </a:r>
            <a:r>
              <a:rPr b="0" spc="-130" dirty="0">
                <a:latin typeface="Arial MT"/>
                <a:cs typeface="Arial MT"/>
              </a:rPr>
              <a:t>Geometry</a:t>
            </a:r>
          </a:p>
        </p:txBody>
      </p:sp>
      <p:sp>
        <p:nvSpPr>
          <p:cNvPr id="4" name="object 4"/>
          <p:cNvSpPr txBox="1"/>
          <p:nvPr/>
        </p:nvSpPr>
        <p:spPr>
          <a:xfrm>
            <a:off x="8879585" y="6176568"/>
            <a:ext cx="175260"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55" normalizeH="0" baseline="0" noProof="0" dirty="0">
                <a:ln>
                  <a:noFill/>
                </a:ln>
                <a:solidFill>
                  <a:srgbClr val="888888"/>
                </a:solidFill>
                <a:effectLst/>
                <a:uLnTx/>
                <a:uFillTx/>
                <a:latin typeface="Arial MT"/>
                <a:cs typeface="Arial MT"/>
              </a:rPr>
              <a:t>11</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6942455" cy="1342390"/>
          </a:xfrm>
          <a:prstGeom prst="rect">
            <a:avLst/>
          </a:prstGeom>
        </p:spPr>
        <p:txBody>
          <a:bodyPr vert="horz" wrap="square" lIns="0" tIns="12700" rIns="0" bIns="0" rtlCol="0">
            <a:spAutoFit/>
          </a:bodyPr>
          <a:lstStyle/>
          <a:p>
            <a:pPr marL="12700" marR="5080" lvl="0" indent="0" defTabSz="914400" eaLnBrk="1" fontAlgn="auto" latinLnBrk="0" hangingPunct="1">
              <a:lnSpc>
                <a:spcPct val="12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Shapes: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Regular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Hexagon, Square, Circle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&amp;</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Triangle.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regular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hexagon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favoured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designers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for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following</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reasons: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p:nvPr/>
        </p:nvSpPr>
        <p:spPr>
          <a:xfrm>
            <a:off x="383540" y="2833496"/>
            <a:ext cx="7958455" cy="3537585"/>
          </a:xfrm>
          <a:prstGeom prst="rect">
            <a:avLst/>
          </a:prstGeom>
        </p:spPr>
        <p:txBody>
          <a:bodyPr vert="horz" wrap="square" lIns="0" tIns="12700" rIns="0" bIns="0" rtlCol="0">
            <a:spAutoFit/>
          </a:bodyPr>
          <a:lstStyle/>
          <a:p>
            <a:pPr marL="355600" marR="848360" lvl="0" indent="-342900" defTabSz="914400" eaLnBrk="1" fontAlgn="auto" latinLnBrk="0" hangingPunct="1">
              <a:lnSpc>
                <a:spcPct val="100000"/>
              </a:lnSpc>
              <a:spcBef>
                <a:spcPts val="10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provides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best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approximation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circular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omni-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directional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patterns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achieved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practice.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4965" marR="0" lvl="0" indent="-342265" defTabSz="914400" eaLnBrk="1" fontAlgn="auto" latinLnBrk="0" hangingPunct="1">
              <a:lnSpc>
                <a:spcPct val="100000"/>
              </a:lnSpc>
              <a:spcBef>
                <a:spcPts val="580"/>
              </a:spcBef>
              <a:spcAft>
                <a:spcPts val="0"/>
              </a:spcAft>
              <a:buClr>
                <a:srgbClr val="0F1141"/>
              </a:buClr>
              <a:buSzTx/>
              <a:buFont typeface="Arial MT"/>
              <a:buChar char="•"/>
              <a:tabLst>
                <a:tab pos="3549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more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economical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since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hexagonal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layout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requires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fewer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hence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fewer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stations.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138430"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combines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ease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geometry</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practical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realization</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overlapping</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circles.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5080"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 a given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centre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a polygon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its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farthest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perimeter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points,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hexagon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largest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almost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approximates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circular</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radiation</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pattern.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b="0" spc="-85" dirty="0">
                <a:latin typeface="Arial MT"/>
                <a:cs typeface="Arial MT"/>
              </a:rPr>
              <a:t>Ce</a:t>
            </a:r>
            <a:r>
              <a:rPr b="0" spc="-505" dirty="0">
                <a:latin typeface="Arial MT"/>
                <a:cs typeface="Arial MT"/>
              </a:rPr>
              <a:t> </a:t>
            </a:r>
            <a:r>
              <a:rPr spc="-200" dirty="0"/>
              <a:t>l</a:t>
            </a:r>
            <a:r>
              <a:rPr spc="-290" dirty="0"/>
              <a:t> </a:t>
            </a:r>
            <a:r>
              <a:rPr b="0" spc="-125" dirty="0">
                <a:latin typeface="Arial MT"/>
                <a:cs typeface="Arial MT"/>
              </a:rPr>
              <a:t>Shapes</a:t>
            </a:r>
          </a:p>
        </p:txBody>
      </p:sp>
      <p:sp>
        <p:nvSpPr>
          <p:cNvPr id="5" name="object 5"/>
          <p:cNvSpPr txBox="1"/>
          <p:nvPr/>
        </p:nvSpPr>
        <p:spPr>
          <a:xfrm>
            <a:off x="8868918" y="6176568"/>
            <a:ext cx="19621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rgbClr val="888888"/>
                </a:solidFill>
                <a:effectLst/>
                <a:uLnTx/>
                <a:uFillTx/>
                <a:latin typeface="Arial MT"/>
                <a:cs typeface="Arial MT"/>
              </a:rPr>
              <a:t>12</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8918" y="6176568"/>
            <a:ext cx="19621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rgbClr val="888888"/>
                </a:solidFill>
                <a:effectLst/>
                <a:uLnTx/>
                <a:uFillTx/>
                <a:latin typeface="Arial MT"/>
                <a:cs typeface="Arial MT"/>
              </a:rPr>
              <a:t>13</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grpSp>
        <p:nvGrpSpPr>
          <p:cNvPr id="3" name="object 3"/>
          <p:cNvGrpSpPr/>
          <p:nvPr/>
        </p:nvGrpSpPr>
        <p:grpSpPr>
          <a:xfrm>
            <a:off x="76200" y="0"/>
            <a:ext cx="7696200" cy="6858000"/>
            <a:chOff x="76200" y="0"/>
            <a:chExt cx="7696200" cy="6858000"/>
          </a:xfrm>
        </p:grpSpPr>
        <p:pic>
          <p:nvPicPr>
            <p:cNvPr id="4" name="object 4"/>
            <p:cNvPicPr/>
            <p:nvPr/>
          </p:nvPicPr>
          <p:blipFill>
            <a:blip r:embed="rId2" cstate="print"/>
            <a:stretch>
              <a:fillRect/>
            </a:stretch>
          </p:blipFill>
          <p:spPr>
            <a:xfrm>
              <a:off x="76200" y="0"/>
              <a:ext cx="4324350" cy="1304925"/>
            </a:xfrm>
            <a:prstGeom prst="rect">
              <a:avLst/>
            </a:prstGeom>
          </p:spPr>
        </p:pic>
        <p:pic>
          <p:nvPicPr>
            <p:cNvPr id="5" name="object 5"/>
            <p:cNvPicPr/>
            <p:nvPr/>
          </p:nvPicPr>
          <p:blipFill>
            <a:blip r:embed="rId3" cstate="print"/>
            <a:stretch>
              <a:fillRect/>
            </a:stretch>
          </p:blipFill>
          <p:spPr>
            <a:xfrm>
              <a:off x="914400" y="1314449"/>
              <a:ext cx="6858000" cy="5543550"/>
            </a:xfrm>
            <a:prstGeom prst="rect">
              <a:avLst/>
            </a:prstGeom>
          </p:spPr>
        </p:pic>
      </p:gr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8918" y="6176568"/>
            <a:ext cx="19621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rgbClr val="888888"/>
                </a:solidFill>
                <a:effectLst/>
                <a:uLnTx/>
                <a:uFillTx/>
                <a:latin typeface="Arial MT"/>
                <a:cs typeface="Arial MT"/>
              </a:rPr>
              <a:t>14</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pic>
        <p:nvPicPr>
          <p:cNvPr id="3" name="object 3"/>
          <p:cNvPicPr/>
          <p:nvPr/>
        </p:nvPicPr>
        <p:blipFill>
          <a:blip r:embed="rId2" cstate="print"/>
          <a:stretch>
            <a:fillRect/>
          </a:stretch>
        </p:blipFill>
        <p:spPr>
          <a:xfrm>
            <a:off x="216458" y="1701939"/>
            <a:ext cx="8670509" cy="1876529"/>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979409" cy="3464560"/>
          </a:xfrm>
          <a:prstGeom prst="rect">
            <a:avLst/>
          </a:prstGeom>
        </p:spPr>
        <p:txBody>
          <a:bodyPr vert="horz" wrap="square" lIns="0" tIns="12700" rIns="0" bIns="0" rtlCol="0">
            <a:spAutoFit/>
          </a:bodyPr>
          <a:lstStyle/>
          <a:p>
            <a:pPr marL="12700" marR="5080" lvl="0" indent="0" defTabSz="914400" eaLnBrk="1" fontAlgn="auto" latinLnBrk="0" hangingPunct="1">
              <a:lnSpc>
                <a:spcPct val="12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concept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was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developed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response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limitations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conventional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services.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634365" lvl="0" indent="0" defTabSz="914400" eaLnBrk="1" fontAlgn="auto" latinLnBrk="0" hangingPunct="1">
              <a:lnSpc>
                <a:spcPct val="12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limitations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previous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communication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follows: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69265" marR="0" lvl="0" indent="-456565" defTabSz="914400" eaLnBrk="1" fontAlgn="auto" latinLnBrk="0" hangingPunct="1">
              <a:lnSpc>
                <a:spcPct val="100000"/>
              </a:lnSpc>
              <a:spcBef>
                <a:spcPts val="575"/>
              </a:spcBef>
              <a:spcAft>
                <a:spcPts val="0"/>
              </a:spcAft>
              <a:buClr>
                <a:srgbClr val="0F1141"/>
              </a:buClr>
              <a:buSzTx/>
              <a:buFontTx/>
              <a:buAutoNum type="arabicPeriod"/>
              <a:tabLst>
                <a:tab pos="469265"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High-</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power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transmitters</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were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cover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very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large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area.</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69265" marR="0" lvl="0" indent="-456565" defTabSz="914400" eaLnBrk="1" fontAlgn="auto" latinLnBrk="0" hangingPunct="1">
              <a:lnSpc>
                <a:spcPct val="100000"/>
              </a:lnSpc>
              <a:spcBef>
                <a:spcPts val="580"/>
              </a:spcBef>
              <a:spcAft>
                <a:spcPts val="0"/>
              </a:spcAft>
              <a:buClr>
                <a:srgbClr val="0F1141"/>
              </a:buClr>
              <a:buSzTx/>
              <a:buFontTx/>
              <a:buAutoNum type="arabicPeriod"/>
              <a:tabLst>
                <a:tab pos="4692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Inefficient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spectrum.</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69900" marR="355600" lvl="0" indent="-457200" defTabSz="914400" eaLnBrk="1" fontAlgn="auto" latinLnBrk="0" hangingPunct="1">
              <a:lnSpc>
                <a:spcPct val="100000"/>
              </a:lnSpc>
              <a:spcBef>
                <a:spcPts val="575"/>
              </a:spcBef>
              <a:spcAft>
                <a:spcPts val="0"/>
              </a:spcAft>
              <a:buClr>
                <a:srgbClr val="0F1141"/>
              </a:buClr>
              <a:buSzTx/>
              <a:buFontTx/>
              <a:buAutoNum type="arabicPeriod"/>
              <a:tabLst>
                <a:tab pos="4699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leaves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coverage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reinitiate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different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137</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b="0" spc="-155" dirty="0">
                <a:latin typeface="Arial MT"/>
                <a:cs typeface="Arial MT"/>
              </a:rPr>
              <a:t>Introduction</a:t>
            </a:r>
            <a:r>
              <a:rPr b="0" spc="-210" dirty="0">
                <a:latin typeface="Arial MT"/>
                <a:cs typeface="Arial MT"/>
              </a:rPr>
              <a:t> </a:t>
            </a:r>
            <a:r>
              <a:rPr b="0" spc="-90" dirty="0">
                <a:latin typeface="Arial MT"/>
                <a:cs typeface="Arial MT"/>
              </a:rPr>
              <a:t>to</a:t>
            </a:r>
            <a:r>
              <a:rPr b="0" spc="-270" dirty="0">
                <a:latin typeface="Arial MT"/>
                <a:cs typeface="Arial MT"/>
              </a:rPr>
              <a:t> </a:t>
            </a:r>
            <a:r>
              <a:rPr b="0" spc="-80" dirty="0">
                <a:latin typeface="Arial MT"/>
                <a:cs typeface="Arial MT"/>
              </a:rPr>
              <a:t>ce</a:t>
            </a:r>
            <a:r>
              <a:rPr b="0" spc="-484" dirty="0">
                <a:latin typeface="Arial MT"/>
                <a:cs typeface="Arial MT"/>
              </a:rPr>
              <a:t> </a:t>
            </a:r>
            <a:r>
              <a:rPr spc="-175" dirty="0"/>
              <a:t>l</a:t>
            </a:r>
            <a:r>
              <a:rPr b="0" spc="-175" dirty="0">
                <a:latin typeface="Arial MT"/>
                <a:cs typeface="Arial MT"/>
              </a:rPr>
              <a:t>ular</a:t>
            </a:r>
            <a:r>
              <a:rPr b="0" spc="-245" dirty="0">
                <a:latin typeface="Arial MT"/>
                <a:cs typeface="Arial MT"/>
              </a:rPr>
              <a:t> </a:t>
            </a:r>
            <a:r>
              <a:rPr b="0" spc="-114" dirty="0">
                <a:latin typeface="Arial MT"/>
                <a:cs typeface="Arial MT"/>
              </a:rPr>
              <a:t>concept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95401"/>
            <a:ext cx="9144000" cy="5308600"/>
            <a:chOff x="0" y="1295401"/>
            <a:chExt cx="9144000" cy="5308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4495800"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2133600" y="6558116"/>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6815455"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p:cNvPicPr/>
            <p:nvPr/>
          </p:nvPicPr>
          <p:blipFill>
            <a:blip r:embed="rId2" cstate="print"/>
            <a:stretch>
              <a:fillRect/>
            </a:stretch>
          </p:blipFill>
          <p:spPr>
            <a:xfrm>
              <a:off x="381000" y="1366900"/>
              <a:ext cx="8077200" cy="5196713"/>
            </a:xfrm>
            <a:prstGeom prst="rect">
              <a:avLst/>
            </a:prstGeom>
          </p:spPr>
        </p:pic>
      </p:grpSp>
      <p:pic>
        <p:nvPicPr>
          <p:cNvPr id="13" name="object 13"/>
          <p:cNvPicPr/>
          <p:nvPr/>
        </p:nvPicPr>
        <p:blipFill>
          <a:blip r:embed="rId3" cstate="print"/>
          <a:stretch>
            <a:fillRect/>
          </a:stretch>
        </p:blipFill>
        <p:spPr>
          <a:xfrm>
            <a:off x="6629400" y="0"/>
            <a:ext cx="2193163" cy="692658"/>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138</a:t>
            </a:fld>
            <a:endParaRPr kumimoji="0" sz="1200" b="0" i="0" u="none" strike="noStrike" kern="0" cap="none" spc="-25" normalizeH="0" baseline="0" noProof="0" dirty="0">
              <a:ln>
                <a:noFill/>
              </a:ln>
              <a:solidFill>
                <a:srgbClr val="888888"/>
              </a:solidFill>
              <a:effectLst/>
              <a:uLnTx/>
              <a:uFillTx/>
              <a:latin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2633" y="1470073"/>
            <a:ext cx="8765362" cy="4361688"/>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139</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67675" cy="3537585"/>
          </a:xfrm>
          <a:prstGeom prst="rect">
            <a:avLst/>
          </a:prstGeom>
        </p:spPr>
        <p:txBody>
          <a:bodyPr vert="horz" wrap="square" lIns="0" tIns="12700" rIns="0" bIns="0" rtlCol="0">
            <a:spAutoFit/>
          </a:bodyPr>
          <a:lstStyle/>
          <a:p>
            <a:pPr marL="12700" marR="5080" lvl="0" indent="0" defTabSz="914400" eaLnBrk="1" fontAlgn="auto" latinLnBrk="0" hangingPunct="1">
              <a:lnSpc>
                <a:spcPct val="120000"/>
              </a:lnSpc>
              <a:spcBef>
                <a:spcPts val="10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process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frequencies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more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to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Instead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deploying</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powerful</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large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coverage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 divided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multiple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smaller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BS deployed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smaller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transmit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power.</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Thus,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transmissions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employ</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if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away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enough such</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CCI</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level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below</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a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desired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threshold.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140</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1203" y="0"/>
            <a:ext cx="8956675" cy="6771005"/>
            <a:chOff x="111203" y="0"/>
            <a:chExt cx="8956675" cy="6771005"/>
          </a:xfrm>
        </p:grpSpPr>
        <p:pic>
          <p:nvPicPr>
            <p:cNvPr id="3" name="object 3"/>
            <p:cNvPicPr/>
            <p:nvPr/>
          </p:nvPicPr>
          <p:blipFill>
            <a:blip r:embed="rId2" cstate="print"/>
            <a:stretch>
              <a:fillRect/>
            </a:stretch>
          </p:blipFill>
          <p:spPr>
            <a:xfrm>
              <a:off x="111203" y="0"/>
              <a:ext cx="8956548" cy="3657600"/>
            </a:xfrm>
            <a:prstGeom prst="rect">
              <a:avLst/>
            </a:prstGeom>
          </p:spPr>
        </p:pic>
        <p:pic>
          <p:nvPicPr>
            <p:cNvPr id="4" name="object 4"/>
            <p:cNvPicPr/>
            <p:nvPr/>
          </p:nvPicPr>
          <p:blipFill>
            <a:blip r:embed="rId3" cstate="print"/>
            <a:stretch>
              <a:fillRect/>
            </a:stretch>
          </p:blipFill>
          <p:spPr>
            <a:xfrm>
              <a:off x="2009775" y="3581422"/>
              <a:ext cx="3857625" cy="3189351"/>
            </a:xfrm>
            <a:prstGeom prst="rect">
              <a:avLst/>
            </a:prstGeom>
          </p:spPr>
        </p:pic>
      </p:gr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141</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446402"/>
            <a:ext cx="8027670" cy="1781810"/>
          </a:xfrm>
          <a:prstGeom prst="rect">
            <a:avLst/>
          </a:prstGeom>
        </p:spPr>
        <p:txBody>
          <a:bodyPr vert="horz" wrap="square" lIns="0" tIns="12700" rIns="0" bIns="0" rtlCol="0">
            <a:spAutoFit/>
          </a:bodyPr>
          <a:lstStyle/>
          <a:p>
            <a:pPr marL="12700" marR="5080">
              <a:lnSpc>
                <a:spcPct val="120000"/>
              </a:lnSpc>
              <a:spcBef>
                <a:spcPts val="100"/>
              </a:spcBef>
            </a:pPr>
            <a:r>
              <a:rPr sz="2400" b="0" dirty="0">
                <a:latin typeface="Arial MT"/>
                <a:cs typeface="Arial MT"/>
              </a:rPr>
              <a:t>EX:</a:t>
            </a:r>
            <a:r>
              <a:rPr sz="2400" b="0" spc="-120" dirty="0">
                <a:latin typeface="Arial MT"/>
                <a:cs typeface="Arial MT"/>
              </a:rPr>
              <a:t> </a:t>
            </a:r>
            <a:r>
              <a:rPr sz="2400" b="0" dirty="0">
                <a:latin typeface="Arial MT"/>
                <a:cs typeface="Arial MT"/>
              </a:rPr>
              <a:t>The</a:t>
            </a:r>
            <a:r>
              <a:rPr sz="2400" b="0" spc="-75" dirty="0">
                <a:latin typeface="Arial MT"/>
                <a:cs typeface="Arial MT"/>
              </a:rPr>
              <a:t> </a:t>
            </a:r>
            <a:r>
              <a:rPr sz="2400" b="0" dirty="0">
                <a:latin typeface="Arial MT"/>
                <a:cs typeface="Arial MT"/>
              </a:rPr>
              <a:t>bandwidth</a:t>
            </a:r>
            <a:r>
              <a:rPr sz="2400" b="0" spc="-35" dirty="0">
                <a:latin typeface="Arial MT"/>
                <a:cs typeface="Arial MT"/>
              </a:rPr>
              <a:t> </a:t>
            </a:r>
            <a:r>
              <a:rPr sz="2400" b="0" dirty="0">
                <a:latin typeface="Arial MT"/>
                <a:cs typeface="Arial MT"/>
              </a:rPr>
              <a:t>allocated</a:t>
            </a:r>
            <a:r>
              <a:rPr sz="2400" b="0" spc="-45" dirty="0">
                <a:latin typeface="Arial MT"/>
                <a:cs typeface="Arial MT"/>
              </a:rPr>
              <a:t> </a:t>
            </a:r>
            <a:r>
              <a:rPr sz="2400" b="0" dirty="0">
                <a:latin typeface="Arial MT"/>
                <a:cs typeface="Arial MT"/>
              </a:rPr>
              <a:t>to</a:t>
            </a:r>
            <a:r>
              <a:rPr sz="2400" b="0" spc="-90" dirty="0">
                <a:latin typeface="Arial MT"/>
                <a:cs typeface="Arial MT"/>
              </a:rPr>
              <a:t> </a:t>
            </a:r>
            <a:r>
              <a:rPr sz="2400" b="0" dirty="0">
                <a:latin typeface="Arial MT"/>
                <a:cs typeface="Arial MT"/>
              </a:rPr>
              <a:t>a</a:t>
            </a:r>
            <a:r>
              <a:rPr sz="2400" b="0" spc="-70" dirty="0">
                <a:latin typeface="Arial MT"/>
                <a:cs typeface="Arial MT"/>
              </a:rPr>
              <a:t> </a:t>
            </a:r>
            <a:r>
              <a:rPr sz="2400" b="0" dirty="0">
                <a:latin typeface="Arial MT"/>
                <a:cs typeface="Arial MT"/>
              </a:rPr>
              <a:t>particular</a:t>
            </a:r>
            <a:r>
              <a:rPr sz="2400" b="0" spc="-55" dirty="0">
                <a:latin typeface="Arial MT"/>
                <a:cs typeface="Arial MT"/>
              </a:rPr>
              <a:t> </a:t>
            </a:r>
            <a:r>
              <a:rPr sz="2400" b="0" dirty="0">
                <a:latin typeface="Arial MT"/>
                <a:cs typeface="Arial MT"/>
              </a:rPr>
              <a:t>FDD</a:t>
            </a:r>
            <a:r>
              <a:rPr sz="2400" b="0" spc="-70" dirty="0">
                <a:latin typeface="Arial MT"/>
                <a:cs typeface="Arial MT"/>
              </a:rPr>
              <a:t> </a:t>
            </a:r>
            <a:r>
              <a:rPr sz="2400" b="0" spc="-10" dirty="0">
                <a:latin typeface="Arial MT"/>
                <a:cs typeface="Arial MT"/>
              </a:rPr>
              <a:t>cellular </a:t>
            </a:r>
            <a:r>
              <a:rPr sz="2400" b="0" dirty="0">
                <a:latin typeface="Arial MT"/>
                <a:cs typeface="Arial MT"/>
              </a:rPr>
              <a:t>system</a:t>
            </a:r>
            <a:r>
              <a:rPr sz="2400" b="0" spc="-40" dirty="0">
                <a:latin typeface="Arial MT"/>
                <a:cs typeface="Arial MT"/>
              </a:rPr>
              <a:t> </a:t>
            </a:r>
            <a:r>
              <a:rPr sz="2400" b="0" dirty="0">
                <a:latin typeface="Arial MT"/>
                <a:cs typeface="Arial MT"/>
              </a:rPr>
              <a:t>is</a:t>
            </a:r>
            <a:r>
              <a:rPr sz="2400" b="0" spc="-45" dirty="0">
                <a:latin typeface="Arial MT"/>
                <a:cs typeface="Arial MT"/>
              </a:rPr>
              <a:t> </a:t>
            </a:r>
            <a:r>
              <a:rPr sz="2400" b="0" dirty="0">
                <a:latin typeface="Arial MT"/>
                <a:cs typeface="Arial MT"/>
              </a:rPr>
              <a:t>33</a:t>
            </a:r>
            <a:r>
              <a:rPr sz="2400" b="0" spc="-40" dirty="0">
                <a:latin typeface="Arial MT"/>
                <a:cs typeface="Arial MT"/>
              </a:rPr>
              <a:t> </a:t>
            </a:r>
            <a:r>
              <a:rPr sz="2400" b="0" dirty="0">
                <a:latin typeface="Arial MT"/>
                <a:cs typeface="Arial MT"/>
              </a:rPr>
              <a:t>MHz.</a:t>
            </a:r>
            <a:r>
              <a:rPr sz="2400" b="0" spc="-45" dirty="0">
                <a:latin typeface="Arial MT"/>
                <a:cs typeface="Arial MT"/>
              </a:rPr>
              <a:t> </a:t>
            </a:r>
            <a:r>
              <a:rPr sz="2400" b="0" dirty="0">
                <a:latin typeface="Arial MT"/>
                <a:cs typeface="Arial MT"/>
              </a:rPr>
              <a:t>It</a:t>
            </a:r>
            <a:r>
              <a:rPr sz="2400" b="0" spc="-70" dirty="0">
                <a:latin typeface="Arial MT"/>
                <a:cs typeface="Arial MT"/>
              </a:rPr>
              <a:t> </a:t>
            </a:r>
            <a:r>
              <a:rPr sz="2400" b="0" dirty="0">
                <a:latin typeface="Arial MT"/>
                <a:cs typeface="Arial MT"/>
              </a:rPr>
              <a:t>uses</a:t>
            </a:r>
            <a:r>
              <a:rPr sz="2400" b="0" spc="-40" dirty="0">
                <a:latin typeface="Arial MT"/>
                <a:cs typeface="Arial MT"/>
              </a:rPr>
              <a:t> </a:t>
            </a:r>
            <a:r>
              <a:rPr sz="2400" b="0" dirty="0">
                <a:latin typeface="Arial MT"/>
                <a:cs typeface="Arial MT"/>
              </a:rPr>
              <a:t>two</a:t>
            </a:r>
            <a:r>
              <a:rPr sz="2400" b="0" spc="-45" dirty="0">
                <a:latin typeface="Arial MT"/>
                <a:cs typeface="Arial MT"/>
              </a:rPr>
              <a:t> </a:t>
            </a:r>
            <a:r>
              <a:rPr sz="2400" b="0" dirty="0">
                <a:latin typeface="Arial MT"/>
                <a:cs typeface="Arial MT"/>
              </a:rPr>
              <a:t>25</a:t>
            </a:r>
            <a:r>
              <a:rPr sz="2400" b="0" spc="-45" dirty="0">
                <a:latin typeface="Arial MT"/>
                <a:cs typeface="Arial MT"/>
              </a:rPr>
              <a:t> </a:t>
            </a:r>
            <a:r>
              <a:rPr sz="2400" b="0" dirty="0">
                <a:latin typeface="Arial MT"/>
                <a:cs typeface="Arial MT"/>
              </a:rPr>
              <a:t>kHz</a:t>
            </a:r>
            <a:r>
              <a:rPr sz="2400" b="0" spc="-45" dirty="0">
                <a:latin typeface="Arial MT"/>
                <a:cs typeface="Arial MT"/>
              </a:rPr>
              <a:t> </a:t>
            </a:r>
            <a:r>
              <a:rPr sz="2400" b="0" dirty="0">
                <a:latin typeface="Arial MT"/>
                <a:cs typeface="Arial MT"/>
              </a:rPr>
              <a:t>simplex</a:t>
            </a:r>
            <a:r>
              <a:rPr sz="2400" b="0" spc="-35" dirty="0">
                <a:latin typeface="Arial MT"/>
                <a:cs typeface="Arial MT"/>
              </a:rPr>
              <a:t> </a:t>
            </a:r>
            <a:r>
              <a:rPr sz="2400" b="0" dirty="0">
                <a:latin typeface="Arial MT"/>
                <a:cs typeface="Arial MT"/>
              </a:rPr>
              <a:t>channels</a:t>
            </a:r>
            <a:r>
              <a:rPr sz="2400" b="0" spc="-15" dirty="0">
                <a:latin typeface="Arial MT"/>
                <a:cs typeface="Arial MT"/>
              </a:rPr>
              <a:t> </a:t>
            </a:r>
            <a:r>
              <a:rPr sz="2400" b="0" spc="-25" dirty="0">
                <a:latin typeface="Arial MT"/>
                <a:cs typeface="Arial MT"/>
              </a:rPr>
              <a:t>to </a:t>
            </a:r>
            <a:r>
              <a:rPr sz="2400" b="0" dirty="0">
                <a:latin typeface="Arial MT"/>
                <a:cs typeface="Arial MT"/>
              </a:rPr>
              <a:t>provide</a:t>
            </a:r>
            <a:r>
              <a:rPr sz="2400" b="0" spc="-90" dirty="0">
                <a:latin typeface="Arial MT"/>
                <a:cs typeface="Arial MT"/>
              </a:rPr>
              <a:t> </a:t>
            </a:r>
            <a:r>
              <a:rPr sz="2400" b="0" dirty="0">
                <a:latin typeface="Arial MT"/>
                <a:cs typeface="Arial MT"/>
              </a:rPr>
              <a:t>full</a:t>
            </a:r>
            <a:r>
              <a:rPr sz="2400" b="0" spc="-80" dirty="0">
                <a:latin typeface="Arial MT"/>
                <a:cs typeface="Arial MT"/>
              </a:rPr>
              <a:t> </a:t>
            </a:r>
            <a:r>
              <a:rPr sz="2400" b="0" dirty="0">
                <a:latin typeface="Arial MT"/>
                <a:cs typeface="Arial MT"/>
              </a:rPr>
              <a:t>duplex</a:t>
            </a:r>
            <a:r>
              <a:rPr sz="2400" b="0" spc="-70" dirty="0">
                <a:latin typeface="Arial MT"/>
                <a:cs typeface="Arial MT"/>
              </a:rPr>
              <a:t> </a:t>
            </a:r>
            <a:r>
              <a:rPr sz="2400" b="0" dirty="0">
                <a:latin typeface="Arial MT"/>
                <a:cs typeface="Arial MT"/>
              </a:rPr>
              <a:t>voice</a:t>
            </a:r>
            <a:r>
              <a:rPr sz="2400" b="0" spc="-75" dirty="0">
                <a:latin typeface="Arial MT"/>
                <a:cs typeface="Arial MT"/>
              </a:rPr>
              <a:t> </a:t>
            </a:r>
            <a:r>
              <a:rPr sz="2400" b="0" dirty="0">
                <a:latin typeface="Arial MT"/>
                <a:cs typeface="Arial MT"/>
              </a:rPr>
              <a:t>and</a:t>
            </a:r>
            <a:r>
              <a:rPr sz="2400" b="0" spc="-95" dirty="0">
                <a:latin typeface="Arial MT"/>
                <a:cs typeface="Arial MT"/>
              </a:rPr>
              <a:t> </a:t>
            </a:r>
            <a:r>
              <a:rPr sz="2400" b="0" dirty="0">
                <a:latin typeface="Arial MT"/>
                <a:cs typeface="Arial MT"/>
              </a:rPr>
              <a:t>control</a:t>
            </a:r>
            <a:r>
              <a:rPr sz="2400" b="0" spc="-85" dirty="0">
                <a:latin typeface="Arial MT"/>
                <a:cs typeface="Arial MT"/>
              </a:rPr>
              <a:t> </a:t>
            </a:r>
            <a:r>
              <a:rPr sz="2400" b="0" dirty="0">
                <a:latin typeface="Arial MT"/>
                <a:cs typeface="Arial MT"/>
              </a:rPr>
              <a:t>channels,</a:t>
            </a:r>
            <a:r>
              <a:rPr sz="2400" b="0" spc="-75" dirty="0">
                <a:latin typeface="Arial MT"/>
                <a:cs typeface="Arial MT"/>
              </a:rPr>
              <a:t> </a:t>
            </a:r>
            <a:r>
              <a:rPr sz="2400" b="0" dirty="0">
                <a:latin typeface="Arial MT"/>
                <a:cs typeface="Arial MT"/>
              </a:rPr>
              <a:t>compute</a:t>
            </a:r>
            <a:r>
              <a:rPr sz="2400" b="0" spc="-85" dirty="0">
                <a:latin typeface="Arial MT"/>
                <a:cs typeface="Arial MT"/>
              </a:rPr>
              <a:t> </a:t>
            </a:r>
            <a:r>
              <a:rPr sz="2400" b="0" spc="-25" dirty="0">
                <a:latin typeface="Arial MT"/>
                <a:cs typeface="Arial MT"/>
              </a:rPr>
              <a:t>the </a:t>
            </a:r>
            <a:r>
              <a:rPr sz="2400" b="0" dirty="0">
                <a:latin typeface="Arial MT"/>
                <a:cs typeface="Arial MT"/>
              </a:rPr>
              <a:t>number</a:t>
            </a:r>
            <a:r>
              <a:rPr sz="2400" b="0" spc="-50" dirty="0">
                <a:latin typeface="Arial MT"/>
                <a:cs typeface="Arial MT"/>
              </a:rPr>
              <a:t> </a:t>
            </a:r>
            <a:r>
              <a:rPr sz="2400" b="0" dirty="0">
                <a:latin typeface="Arial MT"/>
                <a:cs typeface="Arial MT"/>
              </a:rPr>
              <a:t>of</a:t>
            </a:r>
            <a:r>
              <a:rPr sz="2400" b="0" spc="-45" dirty="0">
                <a:latin typeface="Arial MT"/>
                <a:cs typeface="Arial MT"/>
              </a:rPr>
              <a:t> </a:t>
            </a:r>
            <a:r>
              <a:rPr sz="2400" b="0" dirty="0">
                <a:latin typeface="Arial MT"/>
                <a:cs typeface="Arial MT"/>
              </a:rPr>
              <a:t>channels</a:t>
            </a:r>
            <a:r>
              <a:rPr sz="2400" b="0" spc="-20" dirty="0">
                <a:latin typeface="Arial MT"/>
                <a:cs typeface="Arial MT"/>
              </a:rPr>
              <a:t> </a:t>
            </a:r>
            <a:r>
              <a:rPr sz="2400" b="0" dirty="0">
                <a:latin typeface="Arial MT"/>
                <a:cs typeface="Arial MT"/>
              </a:rPr>
              <a:t>available</a:t>
            </a:r>
            <a:r>
              <a:rPr sz="2400" b="0" spc="-25" dirty="0">
                <a:latin typeface="Arial MT"/>
                <a:cs typeface="Arial MT"/>
              </a:rPr>
              <a:t> </a:t>
            </a:r>
            <a:r>
              <a:rPr sz="2400" b="0" dirty="0">
                <a:latin typeface="Arial MT"/>
                <a:cs typeface="Arial MT"/>
              </a:rPr>
              <a:t>per</a:t>
            </a:r>
            <a:r>
              <a:rPr sz="2400" b="0" spc="-50" dirty="0">
                <a:latin typeface="Arial MT"/>
                <a:cs typeface="Arial MT"/>
              </a:rPr>
              <a:t> </a:t>
            </a:r>
            <a:r>
              <a:rPr sz="2400" b="0" dirty="0">
                <a:latin typeface="Arial MT"/>
                <a:cs typeface="Arial MT"/>
              </a:rPr>
              <a:t>cell</a:t>
            </a:r>
            <a:r>
              <a:rPr sz="2400" b="0" spc="-45" dirty="0">
                <a:latin typeface="Arial MT"/>
                <a:cs typeface="Arial MT"/>
              </a:rPr>
              <a:t> </a:t>
            </a:r>
            <a:r>
              <a:rPr sz="2400" b="0" dirty="0">
                <a:latin typeface="Arial MT"/>
                <a:cs typeface="Arial MT"/>
              </a:rPr>
              <a:t>if</a:t>
            </a:r>
            <a:r>
              <a:rPr sz="2400" b="0" spc="-45" dirty="0">
                <a:latin typeface="Arial MT"/>
                <a:cs typeface="Arial MT"/>
              </a:rPr>
              <a:t> </a:t>
            </a:r>
            <a:r>
              <a:rPr sz="2400" b="0" dirty="0">
                <a:latin typeface="Arial MT"/>
                <a:cs typeface="Arial MT"/>
              </a:rPr>
              <a:t>a</a:t>
            </a:r>
            <a:r>
              <a:rPr sz="2400" b="0" spc="-50" dirty="0">
                <a:latin typeface="Arial MT"/>
                <a:cs typeface="Arial MT"/>
              </a:rPr>
              <a:t> </a:t>
            </a:r>
            <a:r>
              <a:rPr sz="2400" b="0" dirty="0">
                <a:latin typeface="Arial MT"/>
                <a:cs typeface="Arial MT"/>
              </a:rPr>
              <a:t>system</a:t>
            </a:r>
            <a:r>
              <a:rPr sz="2400" b="0" spc="-50" dirty="0">
                <a:latin typeface="Arial MT"/>
                <a:cs typeface="Arial MT"/>
              </a:rPr>
              <a:t> </a:t>
            </a:r>
            <a:r>
              <a:rPr sz="2400" b="0" spc="-20" dirty="0">
                <a:latin typeface="Arial MT"/>
                <a:cs typeface="Arial MT"/>
              </a:rPr>
              <a:t>uses</a:t>
            </a:r>
            <a:endParaRPr sz="2400">
              <a:latin typeface="Arial MT"/>
              <a:cs typeface="Arial MT"/>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142</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p:nvPr/>
        </p:nvSpPr>
        <p:spPr>
          <a:xfrm>
            <a:off x="383540" y="3275457"/>
            <a:ext cx="473646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(a)</a:t>
            </a:r>
            <a:r>
              <a:rPr kumimoji="0" sz="2400" b="0" i="0" u="none" strike="noStrike" kern="0" cap="none" spc="-3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4</a:t>
            </a:r>
            <a:r>
              <a:rPr kumimoji="0" sz="2400" b="0" i="0" u="none" strike="noStrike" kern="0" cap="none" spc="-5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cell</a:t>
            </a:r>
            <a:r>
              <a:rPr kumimoji="0" sz="2400" b="0" i="0" u="none" strike="noStrike" kern="0" cap="none" spc="-3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reuse</a:t>
            </a:r>
            <a:r>
              <a:rPr kumimoji="0" sz="2400" b="0" i="0" u="none" strike="noStrike" kern="0" cap="none" spc="-4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and</a:t>
            </a:r>
            <a:r>
              <a:rPr kumimoji="0" sz="2400" b="0" i="0" u="none" strike="noStrike" kern="0" cap="none" spc="-3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(b)</a:t>
            </a:r>
            <a:r>
              <a:rPr kumimoji="0" sz="2400" b="0" i="0" u="none" strike="noStrike" kern="0" cap="none" spc="-3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7</a:t>
            </a:r>
            <a:r>
              <a:rPr kumimoji="0" sz="2400" b="0" i="0" u="none" strike="noStrike" kern="0" cap="none" spc="-5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cell</a:t>
            </a:r>
            <a:r>
              <a:rPr kumimoji="0" sz="2400" b="0" i="0" u="none" strike="noStrike" kern="0" cap="none" spc="-30" normalizeH="0" baseline="0" noProof="0" dirty="0">
                <a:ln>
                  <a:noFill/>
                </a:ln>
                <a:solidFill>
                  <a:sysClr val="windowText" lastClr="000000"/>
                </a:solidFill>
                <a:effectLst/>
                <a:uLnTx/>
                <a:uFillTx/>
                <a:latin typeface="Arial MT"/>
                <a:cs typeface="Arial MT"/>
              </a:rPr>
              <a:t> </a:t>
            </a:r>
            <a:r>
              <a:rPr kumimoji="0" sz="2400" b="0" i="0" u="none" strike="noStrike" kern="0" cap="none" spc="-10" normalizeH="0" baseline="0" noProof="0" dirty="0">
                <a:ln>
                  <a:noFill/>
                </a:ln>
                <a:solidFill>
                  <a:sysClr val="windowText" lastClr="000000"/>
                </a:solidFill>
                <a:effectLst/>
                <a:uLnTx/>
                <a:uFillTx/>
                <a:latin typeface="Arial MT"/>
                <a:cs typeface="Arial MT"/>
              </a:rPr>
              <a:t>reuse</a:t>
            </a:r>
            <a:endParaRPr kumimoji="0" sz="24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21955" cy="37572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Solution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362585"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bandwidth</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33</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MHz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bandwidth</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required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duplex channel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(uplink</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downlink)</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25</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kHz</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2</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50</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kHz</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69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available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33,000,000/50,000</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660</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666750" marR="0" lvl="0" indent="-311150" defTabSz="914400" eaLnBrk="1" fontAlgn="auto" latinLnBrk="0" hangingPunct="1">
              <a:lnSpc>
                <a:spcPct val="100000"/>
              </a:lnSpc>
              <a:spcBef>
                <a:spcPts val="5"/>
              </a:spcBef>
              <a:spcAft>
                <a:spcPts val="0"/>
              </a:spcAft>
              <a:buClrTx/>
              <a:buSzTx/>
              <a:buFontTx/>
              <a:buAutoNum type="alphaLcParenR"/>
              <a:tabLst>
                <a:tab pos="66675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4,</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available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cell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660/4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165</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685165" marR="0" lvl="0" indent="-329565" defTabSz="914400" eaLnBrk="1" fontAlgn="auto" latinLnBrk="0" hangingPunct="1">
              <a:lnSpc>
                <a:spcPct val="100000"/>
              </a:lnSpc>
              <a:spcBef>
                <a:spcPts val="0"/>
              </a:spcBef>
              <a:spcAft>
                <a:spcPts val="0"/>
              </a:spcAft>
              <a:buClrTx/>
              <a:buSzTx/>
              <a:buFontTx/>
              <a:buAutoNum type="alphaLcParenR" startAt="2"/>
              <a:tabLst>
                <a:tab pos="6851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7,</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 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available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cell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660/7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95</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143</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443355"/>
            <a:ext cx="7985759" cy="1342390"/>
          </a:xfrm>
          <a:prstGeom prst="rect">
            <a:avLst/>
          </a:prstGeom>
        </p:spPr>
        <p:txBody>
          <a:bodyPr vert="horz" wrap="square" lIns="0" tIns="85725" rIns="0" bIns="0" rtlCol="0">
            <a:spAutoFit/>
          </a:bodyPr>
          <a:lstStyle/>
          <a:p>
            <a:pPr marL="12700">
              <a:lnSpc>
                <a:spcPct val="100000"/>
              </a:lnSpc>
              <a:spcBef>
                <a:spcPts val="675"/>
              </a:spcBef>
            </a:pPr>
            <a:r>
              <a:rPr sz="2400" b="0" spc="-30" dirty="0">
                <a:latin typeface="Times New Roman"/>
                <a:cs typeface="Times New Roman"/>
              </a:rPr>
              <a:t>To </a:t>
            </a:r>
            <a:r>
              <a:rPr sz="2400" b="0" dirty="0">
                <a:latin typeface="Times New Roman"/>
                <a:cs typeface="Times New Roman"/>
              </a:rPr>
              <a:t>understand</a:t>
            </a:r>
            <a:r>
              <a:rPr sz="2400" b="0" spc="-55" dirty="0">
                <a:latin typeface="Times New Roman"/>
                <a:cs typeface="Times New Roman"/>
              </a:rPr>
              <a:t> </a:t>
            </a:r>
            <a:r>
              <a:rPr sz="2400" b="0" dirty="0">
                <a:latin typeface="Times New Roman"/>
                <a:cs typeface="Times New Roman"/>
              </a:rPr>
              <a:t>the</a:t>
            </a:r>
            <a:r>
              <a:rPr sz="2400" b="0" spc="-35" dirty="0">
                <a:latin typeface="Times New Roman"/>
                <a:cs typeface="Times New Roman"/>
              </a:rPr>
              <a:t> </a:t>
            </a:r>
            <a:r>
              <a:rPr sz="2400" b="0" dirty="0">
                <a:latin typeface="Times New Roman"/>
                <a:cs typeface="Times New Roman"/>
              </a:rPr>
              <a:t>frequency</a:t>
            </a:r>
            <a:r>
              <a:rPr sz="2400" b="0" spc="-40" dirty="0">
                <a:latin typeface="Times New Roman"/>
                <a:cs typeface="Times New Roman"/>
              </a:rPr>
              <a:t> </a:t>
            </a:r>
            <a:r>
              <a:rPr sz="2400" b="0" dirty="0">
                <a:latin typeface="Times New Roman"/>
                <a:cs typeface="Times New Roman"/>
              </a:rPr>
              <a:t>reuse</a:t>
            </a:r>
            <a:r>
              <a:rPr sz="2400" b="0" spc="-30" dirty="0">
                <a:latin typeface="Times New Roman"/>
                <a:cs typeface="Times New Roman"/>
              </a:rPr>
              <a:t> </a:t>
            </a:r>
            <a:r>
              <a:rPr sz="2400" b="0" spc="-10" dirty="0">
                <a:latin typeface="Times New Roman"/>
                <a:cs typeface="Times New Roman"/>
              </a:rPr>
              <a:t>concept,</a:t>
            </a:r>
            <a:endParaRPr sz="2400">
              <a:latin typeface="Times New Roman"/>
              <a:cs typeface="Times New Roman"/>
            </a:endParaRPr>
          </a:p>
          <a:p>
            <a:pPr marL="12700" marR="5080">
              <a:lnSpc>
                <a:spcPts val="3460"/>
              </a:lnSpc>
              <a:spcBef>
                <a:spcPts val="95"/>
              </a:spcBef>
            </a:pPr>
            <a:r>
              <a:rPr sz="2400" b="0" dirty="0">
                <a:latin typeface="Times New Roman"/>
                <a:cs typeface="Times New Roman"/>
              </a:rPr>
              <a:t>Consider</a:t>
            </a:r>
            <a:r>
              <a:rPr sz="2400" b="0" spc="-15" dirty="0">
                <a:latin typeface="Times New Roman"/>
                <a:cs typeface="Times New Roman"/>
              </a:rPr>
              <a:t> </a:t>
            </a:r>
            <a:r>
              <a:rPr sz="2400" b="0" dirty="0">
                <a:latin typeface="Times New Roman"/>
                <a:cs typeface="Times New Roman"/>
              </a:rPr>
              <a:t>a</a:t>
            </a:r>
            <a:r>
              <a:rPr sz="2400" b="0" spc="-15" dirty="0">
                <a:latin typeface="Times New Roman"/>
                <a:cs typeface="Times New Roman"/>
              </a:rPr>
              <a:t> </a:t>
            </a:r>
            <a:r>
              <a:rPr sz="2400" b="0" dirty="0">
                <a:latin typeface="Times New Roman"/>
                <a:cs typeface="Times New Roman"/>
              </a:rPr>
              <a:t>cellular</a:t>
            </a:r>
            <a:r>
              <a:rPr sz="2400" b="0" spc="-50" dirty="0">
                <a:latin typeface="Times New Roman"/>
                <a:cs typeface="Times New Roman"/>
              </a:rPr>
              <a:t> </a:t>
            </a:r>
            <a:r>
              <a:rPr sz="2400" b="0" dirty="0">
                <a:latin typeface="Times New Roman"/>
                <a:cs typeface="Times New Roman"/>
              </a:rPr>
              <a:t>system</a:t>
            </a:r>
            <a:r>
              <a:rPr sz="2400" b="0" spc="-15" dirty="0">
                <a:latin typeface="Times New Roman"/>
                <a:cs typeface="Times New Roman"/>
              </a:rPr>
              <a:t> </a:t>
            </a:r>
            <a:r>
              <a:rPr sz="2400" b="0" dirty="0">
                <a:latin typeface="Times New Roman"/>
                <a:cs typeface="Times New Roman"/>
              </a:rPr>
              <a:t>which</a:t>
            </a:r>
            <a:r>
              <a:rPr sz="2400" b="0" spc="-20" dirty="0">
                <a:latin typeface="Times New Roman"/>
                <a:cs typeface="Times New Roman"/>
              </a:rPr>
              <a:t> </a:t>
            </a:r>
            <a:r>
              <a:rPr sz="2400" b="0" dirty="0">
                <a:latin typeface="Times New Roman"/>
                <a:cs typeface="Times New Roman"/>
              </a:rPr>
              <a:t>has</a:t>
            </a:r>
            <a:r>
              <a:rPr sz="2400" b="0" spc="-5" dirty="0">
                <a:latin typeface="Times New Roman"/>
                <a:cs typeface="Times New Roman"/>
              </a:rPr>
              <a:t> </a:t>
            </a:r>
            <a:r>
              <a:rPr sz="2400" b="0" dirty="0">
                <a:latin typeface="Times New Roman"/>
                <a:cs typeface="Times New Roman"/>
              </a:rPr>
              <a:t>a</a:t>
            </a:r>
            <a:r>
              <a:rPr sz="2400" b="0" spc="-15" dirty="0">
                <a:latin typeface="Times New Roman"/>
                <a:cs typeface="Times New Roman"/>
              </a:rPr>
              <a:t> </a:t>
            </a:r>
            <a:r>
              <a:rPr sz="2400" b="0" dirty="0">
                <a:latin typeface="Times New Roman"/>
                <a:cs typeface="Times New Roman"/>
              </a:rPr>
              <a:t>total</a:t>
            </a:r>
            <a:r>
              <a:rPr sz="2400" b="0" spc="-40" dirty="0">
                <a:latin typeface="Times New Roman"/>
                <a:cs typeface="Times New Roman"/>
              </a:rPr>
              <a:t> </a:t>
            </a:r>
            <a:r>
              <a:rPr sz="2400" b="0" dirty="0">
                <a:latin typeface="Times New Roman"/>
                <a:cs typeface="Times New Roman"/>
              </a:rPr>
              <a:t>of</a:t>
            </a:r>
            <a:r>
              <a:rPr sz="2400" b="0" spc="25" dirty="0">
                <a:latin typeface="Times New Roman"/>
                <a:cs typeface="Times New Roman"/>
              </a:rPr>
              <a:t> </a:t>
            </a:r>
            <a:r>
              <a:rPr sz="2400" b="0" i="1" dirty="0">
                <a:latin typeface="Times New Roman"/>
                <a:cs typeface="Times New Roman"/>
              </a:rPr>
              <a:t>S</a:t>
            </a:r>
            <a:r>
              <a:rPr sz="2400" b="0" i="1" spc="-5" dirty="0">
                <a:latin typeface="Times New Roman"/>
                <a:cs typeface="Times New Roman"/>
              </a:rPr>
              <a:t> </a:t>
            </a:r>
            <a:r>
              <a:rPr sz="2400" b="0" dirty="0">
                <a:latin typeface="Times New Roman"/>
                <a:cs typeface="Times New Roman"/>
              </a:rPr>
              <a:t>duplex</a:t>
            </a:r>
            <a:r>
              <a:rPr sz="2400" b="0" spc="-5" dirty="0">
                <a:latin typeface="Times New Roman"/>
                <a:cs typeface="Times New Roman"/>
              </a:rPr>
              <a:t> </a:t>
            </a:r>
            <a:r>
              <a:rPr sz="2400" b="0" spc="-10" dirty="0">
                <a:latin typeface="Times New Roman"/>
                <a:cs typeface="Times New Roman"/>
              </a:rPr>
              <a:t>channels </a:t>
            </a:r>
            <a:r>
              <a:rPr sz="2400" b="0" dirty="0">
                <a:latin typeface="Times New Roman"/>
                <a:cs typeface="Times New Roman"/>
              </a:rPr>
              <a:t>available</a:t>
            </a:r>
            <a:r>
              <a:rPr sz="2400" b="0" spc="-50" dirty="0">
                <a:latin typeface="Times New Roman"/>
                <a:cs typeface="Times New Roman"/>
              </a:rPr>
              <a:t> </a:t>
            </a:r>
            <a:r>
              <a:rPr sz="2400" b="0" dirty="0">
                <a:latin typeface="Times New Roman"/>
                <a:cs typeface="Times New Roman"/>
              </a:rPr>
              <a:t>for</a:t>
            </a:r>
            <a:r>
              <a:rPr sz="2400" b="0" spc="-15" dirty="0">
                <a:latin typeface="Times New Roman"/>
                <a:cs typeface="Times New Roman"/>
              </a:rPr>
              <a:t> </a:t>
            </a:r>
            <a:r>
              <a:rPr sz="2400" b="0" dirty="0">
                <a:latin typeface="Times New Roman"/>
                <a:cs typeface="Times New Roman"/>
              </a:rPr>
              <a:t>use</a:t>
            </a:r>
            <a:r>
              <a:rPr sz="2400" b="0" spc="-10" dirty="0">
                <a:latin typeface="Times New Roman"/>
                <a:cs typeface="Times New Roman"/>
              </a:rPr>
              <a:t> </a:t>
            </a:r>
            <a:r>
              <a:rPr sz="2400" b="0" dirty="0">
                <a:latin typeface="Times New Roman"/>
                <a:cs typeface="Times New Roman"/>
              </a:rPr>
              <a:t>in</a:t>
            </a:r>
            <a:r>
              <a:rPr sz="2400" b="0" spc="-30" dirty="0">
                <a:latin typeface="Times New Roman"/>
                <a:cs typeface="Times New Roman"/>
              </a:rPr>
              <a:t> </a:t>
            </a:r>
            <a:r>
              <a:rPr sz="2400" b="0" dirty="0">
                <a:latin typeface="Times New Roman"/>
                <a:cs typeface="Times New Roman"/>
              </a:rPr>
              <a:t>a</a:t>
            </a:r>
            <a:r>
              <a:rPr sz="2400" b="0" spc="-10" dirty="0">
                <a:latin typeface="Times New Roman"/>
                <a:cs typeface="Times New Roman"/>
              </a:rPr>
              <a:t> cluster</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144</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p:nvPr/>
        </p:nvSpPr>
        <p:spPr>
          <a:xfrm>
            <a:off x="383540" y="2760344"/>
            <a:ext cx="7934959" cy="2147570"/>
          </a:xfrm>
          <a:prstGeom prst="rect">
            <a:avLst/>
          </a:prstGeom>
        </p:spPr>
        <p:txBody>
          <a:bodyPr vert="horz" wrap="square" lIns="0" tIns="12700" rIns="0" bIns="0" rtlCol="0">
            <a:spAutoFit/>
          </a:bodyPr>
          <a:lstStyle/>
          <a:p>
            <a:pPr marL="12700" marR="946785" lvl="0" indent="0" defTabSz="914400" eaLnBrk="1" fontAlgn="auto" latinLnBrk="0" hangingPunct="1">
              <a:lnSpc>
                <a:spcPct val="12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 allocated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k</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k</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8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 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available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expressed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69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1598930" lvl="0" indent="0" algn="ctr" defTabSz="914400" eaLnBrk="1" fontAlgn="auto" latinLnBrk="0" hangingPunct="1">
              <a:lnSpc>
                <a:spcPct val="100000"/>
              </a:lnSpc>
              <a:spcBef>
                <a:spcPts val="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kN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p:nvPr/>
        </p:nvSpPr>
        <p:spPr>
          <a:xfrm>
            <a:off x="383540" y="-38252"/>
            <a:ext cx="5781040" cy="940435"/>
          </a:xfrm>
          <a:prstGeom prst="rect">
            <a:avLst/>
          </a:prstGeom>
        </p:spPr>
        <p:txBody>
          <a:bodyPr vert="horz" wrap="square" lIns="0" tIns="12065" rIns="0" bIns="0" rtlCol="0">
            <a:spAutoFit/>
          </a:bodyPr>
          <a:lstStyle/>
          <a:p>
            <a:pPr marL="12700" marR="5080" lvl="0" indent="0" defTabSz="914400" eaLnBrk="1" fontAlgn="auto" latinLnBrk="0" hangingPunct="1">
              <a:lnSpc>
                <a:spcPct val="150100"/>
              </a:lnSpc>
              <a:spcBef>
                <a:spcPts val="95"/>
              </a:spcBef>
              <a:spcAft>
                <a:spcPts val="0"/>
              </a:spcAft>
              <a:buClrTx/>
              <a:buSzTx/>
              <a:buFontTx/>
              <a:buNone/>
              <a:tabLst/>
              <a:defRPr/>
            </a:pPr>
            <a:r>
              <a:rPr kumimoji="0" sz="2000" b="1" i="0" u="none" strike="noStrike" kern="0" cap="none" spc="-145" normalizeH="0" baseline="0" noProof="0" dirty="0">
                <a:ln>
                  <a:noFill/>
                </a:ln>
                <a:solidFill>
                  <a:sysClr val="windowText" lastClr="000000"/>
                </a:solidFill>
                <a:effectLst/>
                <a:uLnTx/>
                <a:uFillTx/>
                <a:latin typeface="Times New Roman"/>
                <a:cs typeface="Times New Roman"/>
              </a:rPr>
              <a:t>Cellular</a:t>
            </a:r>
            <a:r>
              <a:rPr kumimoji="0" sz="2000" b="1" i="0" u="none" strike="noStrike" kern="0" cap="none" spc="-29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40" normalizeH="0" baseline="0" noProof="0" dirty="0">
                <a:ln>
                  <a:noFill/>
                </a:ln>
                <a:solidFill>
                  <a:sysClr val="windowText" lastClr="000000"/>
                </a:solidFill>
                <a:effectLst/>
                <a:uLnTx/>
                <a:uFillTx/>
                <a:latin typeface="Times New Roman"/>
                <a:cs typeface="Times New Roman"/>
              </a:rPr>
              <a:t>system</a:t>
            </a:r>
            <a:r>
              <a:rPr kumimoji="0" sz="2000" b="1" i="0" u="none" strike="noStrike" kern="0" cap="none" spc="-26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45" normalizeH="0" baseline="0" noProof="0" dirty="0">
                <a:ln>
                  <a:noFill/>
                </a:ln>
                <a:solidFill>
                  <a:sysClr val="windowText" lastClr="000000"/>
                </a:solidFill>
                <a:effectLst/>
                <a:uLnTx/>
                <a:uFillTx/>
                <a:latin typeface="Times New Roman"/>
                <a:cs typeface="Times New Roman"/>
              </a:rPr>
              <a:t>capacity</a:t>
            </a:r>
            <a:r>
              <a:rPr kumimoji="0" sz="2000" b="1" i="0" u="none" strike="noStrike" kern="0" cap="none" spc="-25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10" normalizeH="0" baseline="0" noProof="0" dirty="0">
                <a:ln>
                  <a:noFill/>
                </a:ln>
                <a:solidFill>
                  <a:sysClr val="windowText" lastClr="000000"/>
                </a:solidFill>
                <a:effectLst/>
                <a:uLnTx/>
                <a:uFillTx/>
                <a:latin typeface="Times New Roman"/>
                <a:cs typeface="Times New Roman"/>
              </a:rPr>
              <a:t>and</a:t>
            </a:r>
            <a:r>
              <a:rPr kumimoji="0" sz="2000" b="1" i="0" u="none" strike="noStrike" kern="0" cap="none" spc="-27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50" normalizeH="0" baseline="0" noProof="0" dirty="0">
                <a:ln>
                  <a:noFill/>
                </a:ln>
                <a:solidFill>
                  <a:sysClr val="windowText" lastClr="000000"/>
                </a:solidFill>
                <a:effectLst/>
                <a:uLnTx/>
                <a:uFillTx/>
                <a:latin typeface="Times New Roman"/>
                <a:cs typeface="Times New Roman"/>
              </a:rPr>
              <a:t>frequency</a:t>
            </a:r>
            <a:r>
              <a:rPr kumimoji="0" sz="2000" b="1" i="0" u="none" strike="noStrike" kern="0" cap="none" spc="-24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40" normalizeH="0" baseline="0" noProof="0" dirty="0">
                <a:ln>
                  <a:noFill/>
                </a:ln>
                <a:solidFill>
                  <a:sysClr val="windowText" lastClr="000000"/>
                </a:solidFill>
                <a:effectLst/>
                <a:uLnTx/>
                <a:uFillTx/>
                <a:latin typeface="Times New Roman"/>
                <a:cs typeface="Times New Roman"/>
              </a:rPr>
              <a:t>reuse</a:t>
            </a:r>
            <a:r>
              <a:rPr kumimoji="0" sz="2000" b="1" i="0" u="none" strike="noStrike" kern="0" cap="none" spc="-25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10" normalizeH="0" baseline="0" noProof="0" dirty="0">
                <a:ln>
                  <a:noFill/>
                </a:ln>
                <a:solidFill>
                  <a:sysClr val="windowText" lastClr="000000"/>
                </a:solidFill>
                <a:effectLst/>
                <a:uLnTx/>
                <a:uFillTx/>
                <a:latin typeface="Times New Roman"/>
                <a:cs typeface="Times New Roman"/>
              </a:rPr>
              <a:t>for</a:t>
            </a:r>
            <a:r>
              <a:rPr kumimoji="0" sz="2000" b="1" i="0" u="none" strike="noStrike" kern="0" cap="none" spc="-32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0" normalizeH="0" baseline="0" noProof="0" dirty="0">
                <a:ln>
                  <a:noFill/>
                </a:ln>
                <a:solidFill>
                  <a:sysClr val="windowText" lastClr="000000"/>
                </a:solidFill>
                <a:effectLst/>
                <a:uLnTx/>
                <a:uFillTx/>
                <a:latin typeface="Times New Roman"/>
                <a:cs typeface="Times New Roman"/>
              </a:rPr>
              <a:t>a</a:t>
            </a:r>
            <a:r>
              <a:rPr kumimoji="0" sz="2000" b="1" i="0" u="none" strike="noStrike" kern="0" cap="none" spc="-27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45" normalizeH="0" baseline="0" noProof="0" dirty="0">
                <a:ln>
                  <a:noFill/>
                </a:ln>
                <a:solidFill>
                  <a:sysClr val="windowText" lastClr="000000"/>
                </a:solidFill>
                <a:effectLst/>
                <a:uLnTx/>
                <a:uFillTx/>
                <a:latin typeface="Times New Roman"/>
                <a:cs typeface="Times New Roman"/>
              </a:rPr>
              <a:t>cluster</a:t>
            </a:r>
            <a:r>
              <a:rPr kumimoji="0" sz="2000" b="1" i="0" u="none" strike="noStrike" kern="0" cap="none" spc="-29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30" normalizeH="0" baseline="0" noProof="0" dirty="0">
                <a:ln>
                  <a:noFill/>
                </a:ln>
                <a:solidFill>
                  <a:sysClr val="windowText" lastClr="000000"/>
                </a:solidFill>
                <a:effectLst/>
                <a:uLnTx/>
                <a:uFillTx/>
                <a:latin typeface="Times New Roman"/>
                <a:cs typeface="Times New Roman"/>
              </a:rPr>
              <a:t>size</a:t>
            </a:r>
            <a:r>
              <a:rPr kumimoji="0" sz="2000" b="1" i="0" u="none" strike="noStrike" kern="0" cap="none" spc="-23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25" normalizeH="0" baseline="0" noProof="0" dirty="0">
                <a:ln>
                  <a:noFill/>
                </a:ln>
                <a:solidFill>
                  <a:sysClr val="windowText" lastClr="000000"/>
                </a:solidFill>
                <a:effectLst/>
                <a:uLnTx/>
                <a:uFillTx/>
                <a:latin typeface="Times New Roman"/>
                <a:cs typeface="Times New Roman"/>
              </a:rPr>
              <a:t>of </a:t>
            </a:r>
            <a:r>
              <a:rPr kumimoji="0" sz="2000" b="1" i="0" u="none" strike="noStrike" kern="0" cap="none" spc="-114" normalizeH="0" baseline="0" noProof="0" dirty="0">
                <a:ln>
                  <a:noFill/>
                </a:ln>
                <a:solidFill>
                  <a:sysClr val="windowText" lastClr="000000"/>
                </a:solidFill>
                <a:effectLst/>
                <a:uLnTx/>
                <a:uFillTx/>
                <a:latin typeface="Times New Roman"/>
                <a:cs typeface="Times New Roman"/>
              </a:rPr>
              <a:t>“N”</a:t>
            </a:r>
            <a:r>
              <a:rPr kumimoji="0" sz="2000" b="1" i="0" u="none" strike="noStrike" kern="0" cap="none" spc="-28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30" normalizeH="0" baseline="0" noProof="0" dirty="0">
                <a:ln>
                  <a:noFill/>
                </a:ln>
                <a:solidFill>
                  <a:sysClr val="windowText" lastClr="000000"/>
                </a:solidFill>
                <a:effectLst/>
                <a:uLnTx/>
                <a:uFillTx/>
                <a:latin typeface="Times New Roman"/>
                <a:cs typeface="Times New Roman"/>
              </a:rPr>
              <a:t>with</a:t>
            </a:r>
            <a:r>
              <a:rPr kumimoji="0" sz="2000" b="1" i="0" u="none" strike="noStrike" kern="0" cap="none" spc="-26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25" normalizeH="0" baseline="0" noProof="0" dirty="0">
                <a:ln>
                  <a:noFill/>
                </a:ln>
                <a:solidFill>
                  <a:sysClr val="windowText" lastClr="000000"/>
                </a:solidFill>
                <a:effectLst/>
                <a:uLnTx/>
                <a:uFillTx/>
                <a:latin typeface="Times New Roman"/>
                <a:cs typeface="Times New Roman"/>
              </a:rPr>
              <a:t>each</a:t>
            </a:r>
            <a:r>
              <a:rPr kumimoji="0" sz="2000" b="1" i="0" u="none" strike="noStrike" kern="0" cap="none" spc="-26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25" normalizeH="0" baseline="0" noProof="0" dirty="0">
                <a:ln>
                  <a:noFill/>
                </a:ln>
                <a:solidFill>
                  <a:sysClr val="windowText" lastClr="000000"/>
                </a:solidFill>
                <a:effectLst/>
                <a:uLnTx/>
                <a:uFillTx/>
                <a:latin typeface="Times New Roman"/>
                <a:cs typeface="Times New Roman"/>
              </a:rPr>
              <a:t>cell</a:t>
            </a:r>
            <a:r>
              <a:rPr kumimoji="0" sz="2000" b="1" i="0" u="none" strike="noStrike" kern="0" cap="none" spc="-26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45" normalizeH="0" baseline="0" noProof="0" dirty="0">
                <a:ln>
                  <a:noFill/>
                </a:ln>
                <a:solidFill>
                  <a:sysClr val="windowText" lastClr="000000"/>
                </a:solidFill>
                <a:effectLst/>
                <a:uLnTx/>
                <a:uFillTx/>
                <a:latin typeface="Times New Roman"/>
                <a:cs typeface="Times New Roman"/>
              </a:rPr>
              <a:t>allocated</a:t>
            </a:r>
            <a:r>
              <a:rPr kumimoji="0" sz="2000" b="1" i="0" u="none" strike="noStrike" kern="0" cap="none" spc="-26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0" normalizeH="0" baseline="0" noProof="0" dirty="0">
                <a:ln>
                  <a:noFill/>
                </a:ln>
                <a:solidFill>
                  <a:sysClr val="windowText" lastClr="000000"/>
                </a:solidFill>
                <a:effectLst/>
                <a:uLnTx/>
                <a:uFillTx/>
                <a:latin typeface="Times New Roman"/>
                <a:cs typeface="Times New Roman"/>
              </a:rPr>
              <a:t>a</a:t>
            </a:r>
            <a:r>
              <a:rPr kumimoji="0" sz="2000" b="1" i="0" u="none" strike="noStrike" kern="0" cap="none" spc="-28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40" normalizeH="0" baseline="0" noProof="0" dirty="0">
                <a:ln>
                  <a:noFill/>
                </a:ln>
                <a:solidFill>
                  <a:sysClr val="windowText" lastClr="000000"/>
                </a:solidFill>
                <a:effectLst/>
                <a:uLnTx/>
                <a:uFillTx/>
                <a:latin typeface="Times New Roman"/>
                <a:cs typeface="Times New Roman"/>
              </a:rPr>
              <a:t>group</a:t>
            </a:r>
            <a:r>
              <a:rPr kumimoji="0" sz="2000" b="1" i="0" u="none" strike="noStrike" kern="0" cap="none" spc="-27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85" normalizeH="0" baseline="0" noProof="0" dirty="0">
                <a:ln>
                  <a:noFill/>
                </a:ln>
                <a:solidFill>
                  <a:sysClr val="windowText" lastClr="000000"/>
                </a:solidFill>
                <a:effectLst/>
                <a:uLnTx/>
                <a:uFillTx/>
                <a:latin typeface="Times New Roman"/>
                <a:cs typeface="Times New Roman"/>
              </a:rPr>
              <a:t>of</a:t>
            </a:r>
            <a:r>
              <a:rPr kumimoji="0" sz="2000" b="1" i="0" u="none" strike="noStrike" kern="0" cap="none" spc="-295"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10" normalizeH="0" baseline="0" noProof="0" dirty="0">
                <a:ln>
                  <a:noFill/>
                </a:ln>
                <a:solidFill>
                  <a:sysClr val="windowText" lastClr="000000"/>
                </a:solidFill>
                <a:effectLst/>
                <a:uLnTx/>
                <a:uFillTx/>
                <a:latin typeface="Times New Roman"/>
                <a:cs typeface="Times New Roman"/>
              </a:rPr>
              <a:t>“K”</a:t>
            </a:r>
            <a:r>
              <a:rPr kumimoji="0" sz="2000" b="1" i="0" u="none" strike="noStrike" kern="0" cap="none" spc="-280" normalizeH="0" baseline="0" noProof="0" dirty="0">
                <a:ln>
                  <a:noFill/>
                </a:ln>
                <a:solidFill>
                  <a:sysClr val="windowText" lastClr="000000"/>
                </a:solidFill>
                <a:effectLst/>
                <a:uLnTx/>
                <a:uFillTx/>
                <a:latin typeface="Times New Roman"/>
                <a:cs typeface="Times New Roman"/>
              </a:rPr>
              <a:t> </a:t>
            </a:r>
            <a:r>
              <a:rPr kumimoji="0" sz="2000" b="1"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57515" cy="3976370"/>
          </a:xfrm>
          <a:prstGeom prst="rect">
            <a:avLst/>
          </a:prstGeom>
        </p:spPr>
        <p:txBody>
          <a:bodyPr vert="horz" wrap="square" lIns="0" tIns="12700" rIns="0" bIns="0" rtlCol="0">
            <a:spAutoFit/>
          </a:bodyPr>
          <a:lstStyle/>
          <a:p>
            <a:pPr marL="12700" marR="296545" lvl="0" indent="0" defTabSz="914400" eaLnBrk="1" fontAlgn="auto" latinLnBrk="0" hangingPunct="1">
              <a:lnSpc>
                <a:spcPct val="11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collectively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complete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available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frequencies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 called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cluster.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290"/>
              </a:spcBef>
              <a:spcAft>
                <a:spcPts val="0"/>
              </a:spcAft>
              <a:buClrTx/>
              <a:buSzTx/>
              <a:buFontTx/>
              <a:buNone/>
              <a:tabLst>
                <a:tab pos="408686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replicated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times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with</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5080" lvl="0" indent="0" defTabSz="914400" eaLnBrk="1" fontAlgn="auto" latinLnBrk="0" hangingPunct="1">
              <a:lnSpc>
                <a:spcPct val="11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duplex</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measure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120"/>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685800" lvl="0" indent="0" algn="ctr" defTabSz="914400" eaLnBrk="1" fontAlgn="auto" latinLnBrk="0" hangingPunct="1">
              <a:lnSpc>
                <a:spcPct val="100000"/>
              </a:lnSpc>
              <a:spcBef>
                <a:spcPts val="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C</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MkN</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MS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69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directly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proportional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to</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28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replicated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fixed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service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area.</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145</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4139" y="1364107"/>
            <a:ext cx="8512810" cy="4854575"/>
          </a:xfrm>
          <a:prstGeom prst="rect">
            <a:avLst/>
          </a:prstGeom>
        </p:spPr>
        <p:txBody>
          <a:bodyPr vert="horz" wrap="square" lIns="0" tIns="12700" rIns="0" bIns="0" rtlCol="0">
            <a:spAutoFit/>
          </a:bodyPr>
          <a:lstStyle/>
          <a:p>
            <a:pPr marL="406400" marR="269240" lvl="0" indent="-342900" defTabSz="914400" eaLnBrk="1" fontAlgn="auto" latinLnBrk="0" hangingPunct="1">
              <a:lnSpc>
                <a:spcPct val="100000"/>
              </a:lnSpc>
              <a:spcBef>
                <a:spcPts val="100"/>
              </a:spcBef>
              <a:spcAft>
                <a:spcPts val="0"/>
              </a:spcAft>
              <a:buClr>
                <a:srgbClr val="0F1141"/>
              </a:buClr>
              <a:buSzTx/>
              <a:buFont typeface="Arial MT"/>
              <a:buChar char="•"/>
              <a:tabLst>
                <a:tab pos="4064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factor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 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called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 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typically</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equal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to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4,</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7,</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12.</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05765" marR="0" lvl="0" indent="-342265" defTabSz="914400" eaLnBrk="1" fontAlgn="auto" latinLnBrk="0" hangingPunct="1">
              <a:lnSpc>
                <a:spcPct val="100000"/>
              </a:lnSpc>
              <a:spcBef>
                <a:spcPts val="575"/>
              </a:spcBef>
              <a:spcAft>
                <a:spcPts val="0"/>
              </a:spcAft>
              <a:buClr>
                <a:srgbClr val="0F1141"/>
              </a:buClr>
              <a:buSzTx/>
              <a:buFont typeface="Arial MT"/>
              <a:buChar char="•"/>
              <a:tabLst>
                <a:tab pos="405765"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given</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decreases</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50" normalizeH="0" baseline="0" noProof="0" dirty="0">
                <a:ln>
                  <a:noFill/>
                </a:ln>
                <a:solidFill>
                  <a:sysClr val="windowText" lastClr="000000"/>
                </a:solidFill>
                <a:effectLst/>
                <a:uLnTx/>
                <a:uFillTx/>
                <a:latin typeface="Cambria Math"/>
                <a:cs typeface="Cambria Math"/>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increases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064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65" normalizeH="0" baseline="0" noProof="0" dirty="0">
                <a:ln>
                  <a:noFill/>
                </a:ln>
                <a:solidFill>
                  <a:sysClr val="windowText" lastClr="000000"/>
                </a:solidFill>
                <a:effectLst/>
                <a:uLnTx/>
                <a:uFillTx/>
                <a:latin typeface="Cambria Math"/>
                <a:cs typeface="Cambria Math"/>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increases.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69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05765" marR="0" lvl="0" indent="-342265" defTabSz="914400" eaLnBrk="1" fontAlgn="auto" latinLnBrk="0" hangingPunct="1">
              <a:lnSpc>
                <a:spcPct val="100000"/>
              </a:lnSpc>
              <a:spcBef>
                <a:spcPts val="5"/>
              </a:spcBef>
              <a:spcAft>
                <a:spcPts val="0"/>
              </a:spcAft>
              <a:buClr>
                <a:srgbClr val="0F1141"/>
              </a:buClr>
              <a:buSzTx/>
              <a:buFont typeface="Arial MT"/>
              <a:buChar char="•"/>
              <a:tabLst>
                <a:tab pos="4057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factor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1/N.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05765" marR="0" lvl="0" indent="-342265" defTabSz="914400" eaLnBrk="1" fontAlgn="auto" latinLnBrk="0" hangingPunct="1">
              <a:lnSpc>
                <a:spcPct val="100000"/>
              </a:lnSpc>
              <a:spcBef>
                <a:spcPts val="575"/>
              </a:spcBef>
              <a:spcAft>
                <a:spcPts val="0"/>
              </a:spcAft>
              <a:buClr>
                <a:srgbClr val="0F1141"/>
              </a:buClr>
              <a:buSzTx/>
              <a:buFont typeface="Arial MT"/>
              <a:buChar char="•"/>
              <a:tabLst>
                <a:tab pos="4057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only</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have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values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satisfy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Equation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575" marR="0" lvl="0" indent="0" algn="ctr"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𝑁</a:t>
            </a:r>
            <a:r>
              <a:rPr kumimoji="0" sz="2400" b="0" i="0" u="none" strike="noStrike" kern="0" cap="none" spc="20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20" normalizeH="0" baseline="0" noProof="0" dirty="0">
                <a:ln>
                  <a:noFill/>
                </a:ln>
                <a:solidFill>
                  <a:sysClr val="windowText" lastClr="000000"/>
                </a:solidFill>
                <a:effectLst/>
                <a:uLnTx/>
                <a:uFillTx/>
                <a:latin typeface="Cambria Math"/>
                <a:cs typeface="Cambria Math"/>
              </a:rPr>
              <a:t> </a:t>
            </a:r>
            <a:r>
              <a:rPr kumimoji="0" sz="2400" b="0" i="0" u="none" strike="noStrike" kern="0" cap="none" spc="65" normalizeH="0" baseline="0" noProof="0" dirty="0">
                <a:ln>
                  <a:noFill/>
                </a:ln>
                <a:solidFill>
                  <a:sysClr val="windowText" lastClr="000000"/>
                </a:solidFill>
                <a:effectLst/>
                <a:uLnTx/>
                <a:uFillTx/>
                <a:latin typeface="Cambria Math"/>
                <a:cs typeface="Cambria Math"/>
              </a:rPr>
              <a:t>𝑖</a:t>
            </a:r>
            <a:r>
              <a:rPr kumimoji="0" sz="2625" b="0" i="0" u="none" strike="noStrike" kern="0" cap="none" spc="97" normalizeH="0" baseline="28571" noProof="0" dirty="0">
                <a:ln>
                  <a:noFill/>
                </a:ln>
                <a:solidFill>
                  <a:sysClr val="windowText" lastClr="000000"/>
                </a:solidFill>
                <a:effectLst/>
                <a:uLnTx/>
                <a:uFillTx/>
                <a:latin typeface="Cambria Math"/>
                <a:cs typeface="Cambria Math"/>
              </a:rPr>
              <a:t>2</a:t>
            </a:r>
            <a:r>
              <a:rPr kumimoji="0" sz="2625" b="0" i="0" u="none" strike="noStrike" kern="0" cap="none" spc="375" normalizeH="0" baseline="28571"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𝑖𝑗</a:t>
            </a:r>
            <a:r>
              <a:rPr kumimoji="0" sz="2400" b="0" i="0" u="none" strike="noStrike" kern="0" cap="none" spc="6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0" normalizeH="0" baseline="0" noProof="0" dirty="0">
                <a:ln>
                  <a:noFill/>
                </a:ln>
                <a:solidFill>
                  <a:sysClr val="windowText" lastClr="000000"/>
                </a:solidFill>
                <a:effectLst/>
                <a:uLnTx/>
                <a:uFillTx/>
                <a:latin typeface="Cambria Math"/>
                <a:cs typeface="Cambria Math"/>
              </a:rPr>
              <a:t> </a:t>
            </a:r>
            <a:r>
              <a:rPr kumimoji="0" sz="2400" b="0" i="0" u="none" strike="noStrike" kern="0" cap="none" spc="40" normalizeH="0" baseline="0" noProof="0" dirty="0">
                <a:ln>
                  <a:noFill/>
                </a:ln>
                <a:solidFill>
                  <a:sysClr val="windowText" lastClr="000000"/>
                </a:solidFill>
                <a:effectLst/>
                <a:uLnTx/>
                <a:uFillTx/>
                <a:latin typeface="Cambria Math"/>
                <a:cs typeface="Cambria Math"/>
              </a:rPr>
              <a:t>𝑗</a:t>
            </a:r>
            <a:r>
              <a:rPr kumimoji="0" sz="2625" b="0" i="0" u="none" strike="noStrike" kern="0" cap="none" spc="60" normalizeH="0" baseline="28571" noProof="0" dirty="0">
                <a:ln>
                  <a:noFill/>
                </a:ln>
                <a:solidFill>
                  <a:sysClr val="windowText" lastClr="000000"/>
                </a:solidFill>
                <a:effectLst/>
                <a:uLnTx/>
                <a:uFillTx/>
                <a:latin typeface="Cambria Math"/>
                <a:cs typeface="Cambria Math"/>
              </a:rPr>
              <a:t>2</a:t>
            </a:r>
            <a:endParaRPr kumimoji="0" sz="2625" b="0" i="0" u="none" strike="noStrike" kern="0" cap="none" spc="0" normalizeH="0" baseline="28571" noProof="0">
              <a:ln>
                <a:noFill/>
              </a:ln>
              <a:solidFill>
                <a:sysClr val="windowText" lastClr="000000"/>
              </a:solidFill>
              <a:effectLst/>
              <a:uLnTx/>
              <a:uFillTx/>
              <a:latin typeface="Cambria Math"/>
              <a:cs typeface="Cambria Math"/>
            </a:endParaRPr>
          </a:p>
          <a:p>
            <a:pPr marL="63500" marR="487680" lvl="0" indent="0" defTabSz="914400" eaLnBrk="1" fontAlgn="auto" latinLnBrk="0" hangingPunct="1">
              <a:lnSpc>
                <a:spcPct val="100000"/>
              </a:lnSpc>
              <a:spcBef>
                <a:spcPts val="58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j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non-</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negative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integers.</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find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nearest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co-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neighbors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particular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must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following: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520065" marR="0" lvl="0" indent="-456565" defTabSz="914400" eaLnBrk="1" fontAlgn="auto" latinLnBrk="0" hangingPunct="1">
              <a:lnSpc>
                <a:spcPct val="100000"/>
              </a:lnSpc>
              <a:spcBef>
                <a:spcPts val="575"/>
              </a:spcBef>
              <a:spcAft>
                <a:spcPts val="0"/>
              </a:spcAft>
              <a:buClr>
                <a:srgbClr val="0F1141"/>
              </a:buClr>
              <a:buSzTx/>
              <a:buFontTx/>
              <a:buAutoNum type="arabicParenBoth"/>
              <a:tabLst>
                <a:tab pos="5200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move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along</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chain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hexagons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520065" marR="0" lvl="0" indent="-456565" defTabSz="914400" eaLnBrk="1" fontAlgn="auto" latinLnBrk="0" hangingPunct="1">
              <a:lnSpc>
                <a:spcPct val="100000"/>
              </a:lnSpc>
              <a:spcBef>
                <a:spcPts val="575"/>
              </a:spcBef>
              <a:spcAft>
                <a:spcPts val="0"/>
              </a:spcAft>
              <a:buClr>
                <a:srgbClr val="0F1141"/>
              </a:buClr>
              <a:buSzTx/>
              <a:buFontTx/>
              <a:buAutoNum type="arabicParenBoth"/>
              <a:tabLst>
                <a:tab pos="5200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Turn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60</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degrees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counter-</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clockwise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move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j</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146</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6915" y="1604082"/>
            <a:ext cx="2194259" cy="2338417"/>
          </a:xfrm>
          <a:prstGeom prst="rect">
            <a:avLst/>
          </a:prstGeom>
        </p:spPr>
      </p:pic>
      <p:pic>
        <p:nvPicPr>
          <p:cNvPr id="3" name="object 3"/>
          <p:cNvPicPr/>
          <p:nvPr/>
        </p:nvPicPr>
        <p:blipFill>
          <a:blip r:embed="rId3" cstate="print"/>
          <a:stretch>
            <a:fillRect/>
          </a:stretch>
        </p:blipFill>
        <p:spPr>
          <a:xfrm>
            <a:off x="3902765" y="1523667"/>
            <a:ext cx="3632752" cy="3767887"/>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147</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51076" y="3959605"/>
            <a:ext cx="165100" cy="20320"/>
          </a:xfrm>
          <a:custGeom>
            <a:avLst/>
            <a:gdLst/>
            <a:ahLst/>
            <a:cxnLst/>
            <a:rect l="l" t="t" r="r" b="b"/>
            <a:pathLst>
              <a:path w="165100" h="20320">
                <a:moveTo>
                  <a:pt x="164592" y="0"/>
                </a:moveTo>
                <a:lnTo>
                  <a:pt x="0" y="0"/>
                </a:lnTo>
                <a:lnTo>
                  <a:pt x="0" y="19812"/>
                </a:lnTo>
                <a:lnTo>
                  <a:pt x="164592" y="19812"/>
                </a:lnTo>
                <a:lnTo>
                  <a:pt x="16459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p:nvPr/>
        </p:nvSpPr>
        <p:spPr>
          <a:xfrm>
            <a:off x="2317114" y="3788664"/>
            <a:ext cx="362585" cy="293370"/>
          </a:xfrm>
          <a:custGeom>
            <a:avLst/>
            <a:gdLst/>
            <a:ahLst/>
            <a:cxnLst/>
            <a:rect l="l" t="t" r="r" b="b"/>
            <a:pathLst>
              <a:path w="362585" h="293370">
                <a:moveTo>
                  <a:pt x="212852" y="0"/>
                </a:moveTo>
                <a:lnTo>
                  <a:pt x="174879" y="0"/>
                </a:lnTo>
                <a:lnTo>
                  <a:pt x="101346" y="254127"/>
                </a:lnTo>
                <a:lnTo>
                  <a:pt x="48768" y="138556"/>
                </a:lnTo>
                <a:lnTo>
                  <a:pt x="0" y="160909"/>
                </a:lnTo>
                <a:lnTo>
                  <a:pt x="4572" y="172085"/>
                </a:lnTo>
                <a:lnTo>
                  <a:pt x="29718" y="160909"/>
                </a:lnTo>
                <a:lnTo>
                  <a:pt x="91440" y="293369"/>
                </a:lnTo>
                <a:lnTo>
                  <a:pt x="105791" y="293369"/>
                </a:lnTo>
                <a:lnTo>
                  <a:pt x="185928" y="19812"/>
                </a:lnTo>
                <a:lnTo>
                  <a:pt x="194437" y="19812"/>
                </a:lnTo>
                <a:lnTo>
                  <a:pt x="194437" y="20066"/>
                </a:lnTo>
                <a:lnTo>
                  <a:pt x="362077" y="20066"/>
                </a:lnTo>
                <a:lnTo>
                  <a:pt x="362077" y="254"/>
                </a:lnTo>
                <a:lnTo>
                  <a:pt x="212852" y="254"/>
                </a:lnTo>
                <a:lnTo>
                  <a:pt x="21285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txBox="1"/>
          <p:nvPr/>
        </p:nvSpPr>
        <p:spPr>
          <a:xfrm>
            <a:off x="345440" y="1443355"/>
            <a:ext cx="8144509" cy="4086860"/>
          </a:xfrm>
          <a:prstGeom prst="rect">
            <a:avLst/>
          </a:prstGeom>
        </p:spPr>
        <p:txBody>
          <a:bodyPr vert="horz" wrap="square" lIns="0" tIns="85725" rIns="0" bIns="0" rtlCol="0">
            <a:spAutoFit/>
          </a:bodyPr>
          <a:lstStyle/>
          <a:p>
            <a:pPr marL="393065" marR="0" lvl="0" indent="-342265" defTabSz="914400" eaLnBrk="1" fontAlgn="auto" latinLnBrk="0" hangingPunct="1">
              <a:lnSpc>
                <a:spcPct val="100000"/>
              </a:lnSpc>
              <a:spcBef>
                <a:spcPts val="675"/>
              </a:spcBef>
              <a:spcAft>
                <a:spcPts val="0"/>
              </a:spcAft>
              <a:buClr>
                <a:srgbClr val="0F1141"/>
              </a:buClr>
              <a:buSzTx/>
              <a:buFont typeface="Arial MT"/>
              <a:buChar char="•"/>
              <a:tabLst>
                <a:tab pos="3930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93700" marR="43180" lvl="0" indent="-342900" defTabSz="914400" eaLnBrk="1" fontAlgn="auto" latinLnBrk="0" hangingPunct="1">
              <a:lnSpc>
                <a:spcPct val="100000"/>
              </a:lnSpc>
              <a:spcBef>
                <a:spcPts val="575"/>
              </a:spcBef>
              <a:spcAft>
                <a:spcPts val="0"/>
              </a:spcAft>
              <a:buClr>
                <a:srgbClr val="0F1141"/>
              </a:buClr>
              <a:buSzTx/>
              <a:buFont typeface="Arial MT"/>
              <a:buChar char="•"/>
              <a:tabLst>
                <a:tab pos="3937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Increasing</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noise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(SNR) 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overcome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thermal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noise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does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work</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93065" marR="0" lvl="0" indent="-342265" defTabSz="914400" eaLnBrk="1" fontAlgn="auto" latinLnBrk="0" hangingPunct="1">
              <a:lnSpc>
                <a:spcPct val="100000"/>
              </a:lnSpc>
              <a:spcBef>
                <a:spcPts val="580"/>
              </a:spcBef>
              <a:spcAft>
                <a:spcPts val="0"/>
              </a:spcAft>
              <a:buClr>
                <a:srgbClr val="0F1141"/>
              </a:buClr>
              <a:buSzTx/>
              <a:buFont typeface="Arial MT"/>
              <a:buChar char="•"/>
              <a:tabLst>
                <a:tab pos="3930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Physically</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separate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93065" marR="0" lvl="0" indent="-342265" defTabSz="914400" eaLnBrk="1" fontAlgn="auto" latinLnBrk="0" hangingPunct="1">
              <a:lnSpc>
                <a:spcPct val="100000"/>
              </a:lnSpc>
              <a:spcBef>
                <a:spcPts val="575"/>
              </a:spcBef>
              <a:spcAft>
                <a:spcPts val="0"/>
              </a:spcAft>
              <a:buClr>
                <a:srgbClr val="0F1141"/>
              </a:buClr>
              <a:buSzTx/>
              <a:buFont typeface="Arial MT"/>
              <a:buChar char="•"/>
              <a:tabLst>
                <a:tab pos="393065"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ratio</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794385" marR="0" lvl="1" indent="-286385" defTabSz="914400" eaLnBrk="1" fontAlgn="auto" latinLnBrk="0" hangingPunct="1">
              <a:lnSpc>
                <a:spcPts val="2370"/>
              </a:lnSpc>
              <a:spcBef>
                <a:spcPts val="1370"/>
              </a:spcBef>
              <a:spcAft>
                <a:spcPts val="0"/>
              </a:spcAft>
              <a:buClrTx/>
              <a:buSzTx/>
              <a:buFont typeface="Arial MT"/>
              <a:buChar char="•"/>
              <a:tabLst>
                <a:tab pos="794385" algn="l"/>
                <a:tab pos="2165985" algn="l"/>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𝑄</a:t>
            </a:r>
            <a:r>
              <a:rPr kumimoji="0" sz="2400" b="0" i="0" u="none" strike="noStrike" kern="0" cap="none" spc="20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40" normalizeH="0" baseline="0" noProof="0" dirty="0">
                <a:ln>
                  <a:noFill/>
                </a:ln>
                <a:solidFill>
                  <a:sysClr val="windowText" lastClr="000000"/>
                </a:solidFill>
                <a:effectLst/>
                <a:uLnTx/>
                <a:uFillTx/>
                <a:latin typeface="Cambria Math"/>
                <a:cs typeface="Cambria Math"/>
              </a:rPr>
              <a:t> </a:t>
            </a:r>
            <a:r>
              <a:rPr kumimoji="0" sz="2625" b="0" i="0" u="none" strike="noStrike" kern="0" cap="none" spc="0" normalizeH="0" baseline="44444" noProof="0" dirty="0">
                <a:ln>
                  <a:noFill/>
                </a:ln>
                <a:solidFill>
                  <a:sysClr val="windowText" lastClr="000000"/>
                </a:solidFill>
                <a:effectLst/>
                <a:uLnTx/>
                <a:uFillTx/>
                <a:latin typeface="Cambria Math"/>
                <a:cs typeface="Cambria Math"/>
              </a:rPr>
              <a:t>𝐷</a:t>
            </a:r>
            <a:r>
              <a:rPr kumimoji="0" sz="2625" b="0" i="0" u="none" strike="noStrike" kern="0" cap="none" spc="480" normalizeH="0" baseline="44444"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3𝑁</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1411605" marR="0" lvl="0" indent="0" defTabSz="914400" eaLnBrk="1" fontAlgn="auto" latinLnBrk="0" hangingPunct="1">
              <a:lnSpc>
                <a:spcPts val="1590"/>
              </a:lnSpc>
              <a:spcBef>
                <a:spcPts val="0"/>
              </a:spcBef>
              <a:spcAft>
                <a:spcPts val="0"/>
              </a:spcAft>
              <a:buClrTx/>
              <a:buSzTx/>
              <a:buFontTx/>
              <a:buNone/>
              <a:tabLst/>
              <a:defRPr/>
            </a:pPr>
            <a:r>
              <a:rPr kumimoji="0" sz="1750" b="0" i="0" u="none" strike="noStrike" kern="0" cap="none" spc="-50" normalizeH="0" baseline="0" noProof="0" dirty="0">
                <a:ln>
                  <a:noFill/>
                </a:ln>
                <a:solidFill>
                  <a:sysClr val="windowText" lastClr="000000"/>
                </a:solidFill>
                <a:effectLst/>
                <a:uLnTx/>
                <a:uFillTx/>
                <a:latin typeface="Cambria Math"/>
                <a:cs typeface="Cambria Math"/>
              </a:rPr>
              <a:t>𝑅</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a:p>
            <a:pPr marL="794385" marR="0" lvl="1" indent="-286385" defTabSz="914400" eaLnBrk="1" fontAlgn="auto" latinLnBrk="0" hangingPunct="1">
              <a:lnSpc>
                <a:spcPct val="100000"/>
              </a:lnSpc>
              <a:spcBef>
                <a:spcPts val="145"/>
              </a:spcBef>
              <a:spcAft>
                <a:spcPts val="0"/>
              </a:spcAft>
              <a:buClrTx/>
              <a:buSzTx/>
              <a:buFont typeface="Arial MT"/>
              <a:buChar char="•"/>
              <a:tabLst>
                <a:tab pos="79438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Condition:</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transmitter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power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870585" marR="0" lvl="1" indent="-362585" defTabSz="914400" eaLnBrk="1" fontAlgn="auto" latinLnBrk="0" hangingPunct="1">
              <a:lnSpc>
                <a:spcPct val="100000"/>
              </a:lnSpc>
              <a:spcBef>
                <a:spcPts val="575"/>
              </a:spcBef>
              <a:spcAft>
                <a:spcPts val="0"/>
              </a:spcAft>
              <a:buClrTx/>
              <a:buSzTx/>
              <a:buFont typeface="Arial MT"/>
              <a:buChar char="•"/>
              <a:tabLst>
                <a:tab pos="87058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radius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cell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794385" marR="0" lvl="1" indent="-286385" defTabSz="914400" eaLnBrk="1" fontAlgn="auto" latinLnBrk="0" hangingPunct="1">
              <a:lnSpc>
                <a:spcPct val="100000"/>
              </a:lnSpc>
              <a:spcBef>
                <a:spcPts val="575"/>
              </a:spcBef>
              <a:spcAft>
                <a:spcPts val="0"/>
              </a:spcAft>
              <a:buClrTx/>
              <a:buSzTx/>
              <a:buFont typeface="Arial MT"/>
              <a:buChar char="•"/>
              <a:tabLst>
                <a:tab pos="79438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D: distance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centers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nearest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148</a:t>
            </a:fld>
            <a:endParaRPr kumimoji="0" sz="1200" b="0" i="0" u="none" strike="noStrike" kern="0" cap="none" spc="-25" normalizeH="0" baseline="0" noProof="0" dirty="0">
              <a:ln>
                <a:noFill/>
              </a:ln>
              <a:solidFill>
                <a:srgbClr val="888888"/>
              </a:solidFill>
              <a:effectLst/>
              <a:uLnTx/>
              <a:uFillTx/>
              <a:latin typeface="Arial MT"/>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5" name="object 5"/>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spc="-170" dirty="0"/>
              <a:t>Co-</a:t>
            </a:r>
            <a:r>
              <a:rPr spc="-145" dirty="0"/>
              <a:t>channel</a:t>
            </a:r>
            <a:r>
              <a:rPr spc="-180" dirty="0"/>
              <a:t> </a:t>
            </a:r>
            <a:r>
              <a:rPr spc="-140" dirty="0"/>
              <a:t>Interference</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83942" y="6550673"/>
            <a:ext cx="7060565" cy="53340"/>
            <a:chOff x="2083942" y="6550673"/>
            <a:chExt cx="7060565" cy="53340"/>
          </a:xfrm>
        </p:grpSpPr>
        <p:sp>
          <p:nvSpPr>
            <p:cNvPr id="3" name="object 3"/>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9" name="object 9"/>
          <p:cNvPicPr/>
          <p:nvPr/>
        </p:nvPicPr>
        <p:blipFill>
          <a:blip r:embed="rId2" cstate="print"/>
          <a:stretch>
            <a:fillRect/>
          </a:stretch>
        </p:blipFill>
        <p:spPr>
          <a:xfrm>
            <a:off x="6629400" y="0"/>
            <a:ext cx="2193163" cy="692658"/>
          </a:xfrm>
          <a:prstGeom prst="rect">
            <a:avLst/>
          </a:prstGeom>
        </p:spPr>
      </p:pic>
      <p:grpSp>
        <p:nvGrpSpPr>
          <p:cNvPr id="10" name="object 10"/>
          <p:cNvGrpSpPr/>
          <p:nvPr/>
        </p:nvGrpSpPr>
        <p:grpSpPr>
          <a:xfrm>
            <a:off x="0" y="1219200"/>
            <a:ext cx="7010400" cy="4924425"/>
            <a:chOff x="0" y="1219200"/>
            <a:chExt cx="7010400" cy="4924425"/>
          </a:xfrm>
        </p:grpSpPr>
        <p:sp>
          <p:nvSpPr>
            <p:cNvPr id="11" name="object 11"/>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4" name="object 14"/>
            <p:cNvPicPr/>
            <p:nvPr/>
          </p:nvPicPr>
          <p:blipFill>
            <a:blip r:embed="rId3" cstate="print"/>
            <a:stretch>
              <a:fillRect/>
            </a:stretch>
          </p:blipFill>
          <p:spPr>
            <a:xfrm>
              <a:off x="1828800" y="1219200"/>
              <a:ext cx="5153025" cy="4924425"/>
            </a:xfrm>
            <a:prstGeom prst="rect">
              <a:avLst/>
            </a:prstGeom>
          </p:spPr>
        </p:pic>
      </p:grpSp>
      <p:sp>
        <p:nvSpPr>
          <p:cNvPr id="15" name="object 15"/>
          <p:cNvSpPr txBox="1">
            <a:spLocks noGrp="1"/>
          </p:cNvSpPr>
          <p:nvPr>
            <p:ph type="title"/>
          </p:nvPr>
        </p:nvSpPr>
        <p:spPr>
          <a:xfrm>
            <a:off x="383540" y="-27797"/>
            <a:ext cx="5765800" cy="940435"/>
          </a:xfrm>
          <a:prstGeom prst="rect">
            <a:avLst/>
          </a:prstGeom>
        </p:spPr>
        <p:txBody>
          <a:bodyPr vert="horz" wrap="square" lIns="0" tIns="12065" rIns="0" bIns="0" rtlCol="0">
            <a:spAutoFit/>
          </a:bodyPr>
          <a:lstStyle/>
          <a:p>
            <a:pPr marL="12700" marR="5080">
              <a:lnSpc>
                <a:spcPct val="125099"/>
              </a:lnSpc>
              <a:spcBef>
                <a:spcPts val="95"/>
              </a:spcBef>
            </a:pPr>
            <a:r>
              <a:rPr sz="2400" b="0" spc="-150" dirty="0">
                <a:latin typeface="Times New Roman"/>
                <a:cs typeface="Times New Roman"/>
              </a:rPr>
              <a:t>Relationship</a:t>
            </a:r>
            <a:r>
              <a:rPr sz="2400" b="0" spc="-235" dirty="0">
                <a:latin typeface="Times New Roman"/>
                <a:cs typeface="Times New Roman"/>
              </a:rPr>
              <a:t> </a:t>
            </a:r>
            <a:r>
              <a:rPr sz="2400" b="0" spc="-145" dirty="0">
                <a:latin typeface="Times New Roman"/>
                <a:cs typeface="Times New Roman"/>
              </a:rPr>
              <a:t>between</a:t>
            </a:r>
            <a:r>
              <a:rPr sz="2400" b="0" spc="-229" dirty="0">
                <a:latin typeface="Times New Roman"/>
                <a:cs typeface="Times New Roman"/>
              </a:rPr>
              <a:t> </a:t>
            </a:r>
            <a:r>
              <a:rPr sz="2400" b="0" spc="-150" dirty="0">
                <a:latin typeface="Times New Roman"/>
                <a:cs typeface="Times New Roman"/>
              </a:rPr>
              <a:t>frequency</a:t>
            </a:r>
            <a:r>
              <a:rPr sz="2400" b="0" spc="-229" dirty="0">
                <a:latin typeface="Times New Roman"/>
                <a:cs typeface="Times New Roman"/>
              </a:rPr>
              <a:t> </a:t>
            </a:r>
            <a:r>
              <a:rPr sz="2400" b="0" spc="-135" dirty="0">
                <a:latin typeface="Times New Roman"/>
                <a:cs typeface="Times New Roman"/>
              </a:rPr>
              <a:t>reuse</a:t>
            </a:r>
            <a:r>
              <a:rPr sz="2400" b="0" spc="-245" dirty="0">
                <a:latin typeface="Times New Roman"/>
                <a:cs typeface="Times New Roman"/>
              </a:rPr>
              <a:t> </a:t>
            </a:r>
            <a:r>
              <a:rPr sz="2400" b="0" spc="-140" dirty="0">
                <a:latin typeface="Times New Roman"/>
                <a:cs typeface="Times New Roman"/>
              </a:rPr>
              <a:t>factor</a:t>
            </a:r>
            <a:r>
              <a:rPr sz="2400" b="0" spc="-235" dirty="0">
                <a:latin typeface="Times New Roman"/>
                <a:cs typeface="Times New Roman"/>
              </a:rPr>
              <a:t> </a:t>
            </a:r>
            <a:r>
              <a:rPr sz="2400" b="0" spc="-140" dirty="0">
                <a:latin typeface="Times New Roman"/>
                <a:cs typeface="Times New Roman"/>
              </a:rPr>
              <a:t>(</a:t>
            </a:r>
            <a:r>
              <a:rPr sz="2400" i="1" spc="-140" dirty="0">
                <a:latin typeface="Times New Roman"/>
                <a:cs typeface="Times New Roman"/>
              </a:rPr>
              <a:t>D</a:t>
            </a:r>
            <a:r>
              <a:rPr sz="2400" b="0" spc="-140" dirty="0">
                <a:latin typeface="Times New Roman"/>
                <a:cs typeface="Times New Roman"/>
              </a:rPr>
              <a:t>/</a:t>
            </a:r>
            <a:r>
              <a:rPr sz="2400" i="1" spc="-140" dirty="0">
                <a:latin typeface="Times New Roman"/>
                <a:cs typeface="Times New Roman"/>
              </a:rPr>
              <a:t>R</a:t>
            </a:r>
            <a:r>
              <a:rPr sz="2400" b="0" spc="-140" dirty="0">
                <a:latin typeface="Times New Roman"/>
                <a:cs typeface="Times New Roman"/>
              </a:rPr>
              <a:t>)</a:t>
            </a:r>
            <a:r>
              <a:rPr sz="2400" b="0" spc="-225" dirty="0">
                <a:latin typeface="Times New Roman"/>
                <a:cs typeface="Times New Roman"/>
              </a:rPr>
              <a:t> </a:t>
            </a:r>
            <a:r>
              <a:rPr sz="2400" b="0" spc="-30" dirty="0">
                <a:latin typeface="Times New Roman"/>
                <a:cs typeface="Times New Roman"/>
              </a:rPr>
              <a:t>and </a:t>
            </a:r>
            <a:r>
              <a:rPr sz="2400" b="0" spc="-140" dirty="0">
                <a:latin typeface="Times New Roman"/>
                <a:cs typeface="Times New Roman"/>
              </a:rPr>
              <a:t>cluster</a:t>
            </a:r>
            <a:r>
              <a:rPr sz="2400" b="0" spc="-265" dirty="0">
                <a:latin typeface="Times New Roman"/>
                <a:cs typeface="Times New Roman"/>
              </a:rPr>
              <a:t> </a:t>
            </a:r>
            <a:r>
              <a:rPr sz="2400" b="0" spc="-125" dirty="0">
                <a:latin typeface="Times New Roman"/>
                <a:cs typeface="Times New Roman"/>
              </a:rPr>
              <a:t>size</a:t>
            </a:r>
            <a:r>
              <a:rPr sz="2400" b="0" spc="-270" dirty="0">
                <a:latin typeface="Times New Roman"/>
                <a:cs typeface="Times New Roman"/>
              </a:rPr>
              <a:t> </a:t>
            </a:r>
            <a:r>
              <a:rPr sz="2400" b="0" spc="-25" dirty="0">
                <a:latin typeface="Times New Roman"/>
                <a:cs typeface="Times New Roman"/>
              </a:rPr>
              <a:t>(</a:t>
            </a:r>
            <a:r>
              <a:rPr sz="2400" i="1" spc="-25" dirty="0">
                <a:latin typeface="Times New Roman"/>
                <a:cs typeface="Times New Roman"/>
              </a:rPr>
              <a:t>N</a:t>
            </a:r>
            <a:r>
              <a:rPr sz="2400" b="0" spc="-25" dirty="0">
                <a:latin typeface="Times New Roman"/>
                <a:cs typeface="Times New Roman"/>
              </a:rPr>
              <a:t>)</a:t>
            </a:r>
            <a:endParaRPr sz="24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149</a:t>
            </a:fld>
            <a:endParaRPr kumimoji="0" sz="1200" b="0" i="0" u="none" strike="noStrike" kern="0" cap="none" spc="-25" normalizeH="0" baseline="0" noProof="0" dirty="0">
              <a:ln>
                <a:noFill/>
              </a:ln>
              <a:solidFill>
                <a:srgbClr val="888888"/>
              </a:solidFill>
              <a:effectLst/>
              <a:uLnTx/>
              <a:uFillTx/>
              <a:latin typeface="Arial MT"/>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255005" y="4910582"/>
            <a:ext cx="332105" cy="269240"/>
          </a:xfrm>
          <a:custGeom>
            <a:avLst/>
            <a:gdLst/>
            <a:ahLst/>
            <a:cxnLst/>
            <a:rect l="l" t="t" r="r" b="b"/>
            <a:pathLst>
              <a:path w="332104" h="269239">
                <a:moveTo>
                  <a:pt x="331978" y="0"/>
                </a:moveTo>
                <a:lnTo>
                  <a:pt x="178054" y="0"/>
                </a:lnTo>
                <a:lnTo>
                  <a:pt x="178054" y="762"/>
                </a:lnTo>
                <a:lnTo>
                  <a:pt x="159893" y="762"/>
                </a:lnTo>
                <a:lnTo>
                  <a:pt x="92710" y="233299"/>
                </a:lnTo>
                <a:lnTo>
                  <a:pt x="44577" y="127508"/>
                </a:lnTo>
                <a:lnTo>
                  <a:pt x="0" y="147955"/>
                </a:lnTo>
                <a:lnTo>
                  <a:pt x="4191" y="158242"/>
                </a:lnTo>
                <a:lnTo>
                  <a:pt x="27178" y="147955"/>
                </a:lnTo>
                <a:lnTo>
                  <a:pt x="83566" y="269240"/>
                </a:lnTo>
                <a:lnTo>
                  <a:pt x="96774" y="269240"/>
                </a:lnTo>
                <a:lnTo>
                  <a:pt x="170053" y="18923"/>
                </a:lnTo>
                <a:lnTo>
                  <a:pt x="194691" y="18923"/>
                </a:lnTo>
                <a:lnTo>
                  <a:pt x="194691" y="18288"/>
                </a:lnTo>
                <a:lnTo>
                  <a:pt x="331978" y="18288"/>
                </a:lnTo>
                <a:lnTo>
                  <a:pt x="33197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txBox="1"/>
          <p:nvPr/>
        </p:nvSpPr>
        <p:spPr>
          <a:xfrm>
            <a:off x="383540" y="1450365"/>
            <a:ext cx="7844790" cy="4145915"/>
          </a:xfrm>
          <a:prstGeom prst="rect">
            <a:avLst/>
          </a:prstGeom>
        </p:spPr>
        <p:txBody>
          <a:bodyPr vert="horz" wrap="square" lIns="0" tIns="12700" rIns="0" bIns="0" rtlCol="0">
            <a:spAutoFit/>
          </a:bodyPr>
          <a:lstStyle/>
          <a:p>
            <a:pPr marL="12700" marR="800735" lvl="0" indent="0" defTabSz="914400" eaLnBrk="1" fontAlgn="auto" latinLnBrk="0" hangingPunct="1">
              <a:lnSpc>
                <a:spcPct val="110000"/>
              </a:lnSpc>
              <a:spcBef>
                <a:spcPts val="10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Determination</a:t>
            </a:r>
            <a:r>
              <a:rPr kumimoji="0" sz="22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2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relation</a:t>
            </a:r>
            <a:r>
              <a:rPr kumimoji="0" sz="22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2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2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2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factor</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20" normalizeH="0" baseline="0" noProof="0" dirty="0">
                <a:ln>
                  <a:noFill/>
                </a:ln>
                <a:solidFill>
                  <a:sysClr val="windowText" lastClr="000000"/>
                </a:solidFill>
                <a:effectLst/>
                <a:uLnTx/>
                <a:uFillTx/>
                <a:latin typeface="Times New Roman"/>
                <a:cs typeface="Times New Roman"/>
              </a:rPr>
              <a:t>(</a:t>
            </a:r>
            <a:r>
              <a:rPr kumimoji="0" sz="2200" b="0" i="1" u="none" strike="noStrike" kern="0" cap="none" spc="-20" normalizeH="0" baseline="0" noProof="0" dirty="0">
                <a:ln>
                  <a:noFill/>
                </a:ln>
                <a:solidFill>
                  <a:sysClr val="windowText" lastClr="000000"/>
                </a:solidFill>
                <a:effectLst/>
                <a:uLnTx/>
                <a:uFillTx/>
                <a:latin typeface="Times New Roman"/>
                <a:cs typeface="Times New Roman"/>
              </a:rPr>
              <a:t>D</a:t>
            </a:r>
            <a:r>
              <a:rPr kumimoji="0" sz="2200" b="0" i="0" u="none" strike="noStrike" kern="0" cap="none" spc="-20" normalizeH="0" baseline="0" noProof="0" dirty="0">
                <a:ln>
                  <a:noFill/>
                </a:ln>
                <a:solidFill>
                  <a:sysClr val="windowText" lastClr="000000"/>
                </a:solidFill>
                <a:effectLst/>
                <a:uLnTx/>
                <a:uFillTx/>
                <a:latin typeface="Times New Roman"/>
                <a:cs typeface="Times New Roman"/>
              </a:rPr>
              <a:t>/</a:t>
            </a:r>
            <a:r>
              <a:rPr kumimoji="0" sz="2200" b="0" i="1" u="none" strike="noStrike" kern="0" cap="none" spc="-20" normalizeH="0" baseline="0" noProof="0" dirty="0">
                <a:ln>
                  <a:noFill/>
                </a:ln>
                <a:solidFill>
                  <a:sysClr val="windowText" lastClr="000000"/>
                </a:solidFill>
                <a:effectLst/>
                <a:uLnTx/>
                <a:uFillTx/>
                <a:latin typeface="Times New Roman"/>
                <a:cs typeface="Times New Roman"/>
              </a:rPr>
              <a:t>R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2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involves</a:t>
            </a:r>
            <a:r>
              <a:rPr kumimoji="0" sz="2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mainly</a:t>
            </a:r>
            <a:r>
              <a:rPr kumimoji="0" sz="22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steps:</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469265" marR="0" lvl="0" indent="-456565" defTabSz="914400" eaLnBrk="1" fontAlgn="auto" latinLnBrk="0" hangingPunct="1">
              <a:lnSpc>
                <a:spcPts val="2510"/>
              </a:lnSpc>
              <a:spcBef>
                <a:spcPts val="265"/>
              </a:spcBef>
              <a:spcAft>
                <a:spcPts val="0"/>
              </a:spcAft>
              <a:buClr>
                <a:srgbClr val="0F1141"/>
              </a:buClr>
              <a:buSzTx/>
              <a:buFontTx/>
              <a:buAutoNum type="arabicPeriod"/>
              <a:tabLst>
                <a:tab pos="469265" algn="l"/>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finding</a:t>
            </a:r>
            <a:r>
              <a:rPr kumimoji="0" sz="22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relation</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2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2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2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469900" marR="0" lvl="0" indent="0" defTabSz="914400" eaLnBrk="1" fontAlgn="auto" latinLnBrk="0" hangingPunct="1">
              <a:lnSpc>
                <a:spcPts val="2510"/>
              </a:lnSpc>
              <a:spcBef>
                <a:spcPts val="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1" u="none" strike="noStrike" kern="0" cap="none" spc="-50" normalizeH="0" baseline="0" noProof="0" dirty="0">
                <a:ln>
                  <a:noFill/>
                </a:ln>
                <a:solidFill>
                  <a:sysClr val="windowText" lastClr="000000"/>
                </a:solidFill>
                <a:effectLst/>
                <a:uLnTx/>
                <a:uFillTx/>
                <a:latin typeface="Times New Roman"/>
                <a:cs typeface="Times New Roman"/>
              </a:rPr>
              <a:t>R</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469265" marR="0" lvl="0" indent="-456565" defTabSz="914400" eaLnBrk="1" fontAlgn="auto" latinLnBrk="0" hangingPunct="1">
              <a:lnSpc>
                <a:spcPct val="100000"/>
              </a:lnSpc>
              <a:spcBef>
                <a:spcPts val="265"/>
              </a:spcBef>
              <a:spcAft>
                <a:spcPts val="0"/>
              </a:spcAft>
              <a:buClr>
                <a:srgbClr val="0F1141"/>
              </a:buClr>
              <a:buSzTx/>
              <a:buFontTx/>
              <a:buAutoNum type="arabicPeriod" startAt="2"/>
              <a:tabLst>
                <a:tab pos="469265" algn="l"/>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locating</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640"/>
              </a:spcBef>
              <a:spcAft>
                <a:spcPts val="0"/>
              </a:spcAft>
              <a:buClrTx/>
              <a:buSzTx/>
              <a:buFontTx/>
              <a:buNone/>
              <a:tabLst/>
              <a:defRPr/>
            </a:pP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ts val="2510"/>
              </a:lnSpc>
              <a:spcBef>
                <a:spcPts val="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First</a:t>
            </a:r>
            <a:r>
              <a:rPr kumimoji="0" sz="2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let</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us</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derive</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relation</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2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2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2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2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co-channel</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ts val="2375"/>
              </a:lnSpc>
              <a:spcBef>
                <a:spcPts val="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2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hexagonal</a:t>
            </a:r>
            <a:r>
              <a:rPr kumimoji="0" sz="22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geometry</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12700" marR="122555" lvl="0" indent="0" defTabSz="914400" eaLnBrk="1" fontAlgn="auto" latinLnBrk="0" hangingPunct="1">
              <a:lnSpc>
                <a:spcPts val="2380"/>
              </a:lnSpc>
              <a:spcBef>
                <a:spcPts val="165"/>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actual</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centre-to-</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centre</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adjacent</a:t>
            </a:r>
            <a:r>
              <a:rPr kumimoji="0" sz="22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hexagonal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2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25" normalizeH="0" baseline="0" noProof="0" dirty="0">
                <a:ln>
                  <a:noFill/>
                </a:ln>
                <a:solidFill>
                  <a:sysClr val="windowText" lastClr="000000"/>
                </a:solidFill>
                <a:effectLst/>
                <a:uLnTx/>
                <a:uFillTx/>
                <a:latin typeface="Times New Roman"/>
                <a:cs typeface="Times New Roman"/>
              </a:rPr>
              <a:t>is</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a:p>
            <a:pPr marL="293370" marR="0" lvl="0" indent="0" algn="ctr" defTabSz="914400" eaLnBrk="1" fontAlgn="auto" latinLnBrk="0" hangingPunct="1">
              <a:lnSpc>
                <a:spcPts val="2565"/>
              </a:lnSpc>
              <a:spcBef>
                <a:spcPts val="0"/>
              </a:spcBef>
              <a:spcAft>
                <a:spcPts val="0"/>
              </a:spcAft>
              <a:buClrTx/>
              <a:buSzTx/>
              <a:buFontTx/>
              <a:buNone/>
              <a:tabLst>
                <a:tab pos="2101215" algn="l"/>
                <a:tab pos="2587625" algn="l"/>
              </a:tabLst>
              <a:defRPr/>
            </a:pPr>
            <a:r>
              <a:rPr kumimoji="0" sz="2200" b="0" i="0" u="none" strike="noStrike" kern="0" cap="none" spc="0" normalizeH="0" baseline="0" noProof="0" dirty="0">
                <a:ln>
                  <a:noFill/>
                </a:ln>
                <a:solidFill>
                  <a:sysClr val="windowText" lastClr="000000"/>
                </a:solidFill>
                <a:effectLst/>
                <a:uLnTx/>
                <a:uFillTx/>
                <a:latin typeface="Cambria Math"/>
                <a:cs typeface="Cambria Math"/>
              </a:rPr>
              <a:t>𝑑</a:t>
            </a:r>
            <a:r>
              <a:rPr kumimoji="0" sz="2200" b="0" i="0" u="none" strike="noStrike" kern="0" cap="none" spc="180" normalizeH="0" baseline="0"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a:t>
            </a:r>
            <a:r>
              <a:rPr kumimoji="0" sz="2200" b="0" i="0" u="none" strike="noStrike" kern="0" cap="none" spc="105" normalizeH="0" baseline="0"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2𝑅</a:t>
            </a:r>
            <a:r>
              <a:rPr kumimoji="0" sz="2200" b="0" i="0" u="none" strike="noStrike" kern="0" cap="none" spc="-55" normalizeH="0" baseline="0" noProof="0" dirty="0">
                <a:ln>
                  <a:noFill/>
                </a:ln>
                <a:solidFill>
                  <a:sysClr val="windowText" lastClr="000000"/>
                </a:solidFill>
                <a:effectLst/>
                <a:uLnTx/>
                <a:uFillTx/>
                <a:latin typeface="Cambria Math"/>
                <a:cs typeface="Cambria Math"/>
              </a:rPr>
              <a:t> </a:t>
            </a:r>
            <a:r>
              <a:rPr kumimoji="0" sz="2200" b="0" i="0" u="none" strike="noStrike" kern="0" cap="none" spc="-10" normalizeH="0" baseline="0" noProof="0" dirty="0">
                <a:ln>
                  <a:noFill/>
                </a:ln>
                <a:solidFill>
                  <a:sysClr val="windowText" lastClr="000000"/>
                </a:solidFill>
                <a:effectLst/>
                <a:uLnTx/>
                <a:uFillTx/>
                <a:latin typeface="Cambria Math"/>
                <a:cs typeface="Cambria Math"/>
              </a:rPr>
              <a:t>cos</a:t>
            </a:r>
            <a:r>
              <a:rPr kumimoji="0" sz="2200" b="0" i="0" u="none" strike="noStrike" kern="0" cap="none" spc="-110" normalizeH="0" baseline="0" noProof="0" dirty="0">
                <a:ln>
                  <a:noFill/>
                </a:ln>
                <a:solidFill>
                  <a:sysClr val="windowText" lastClr="000000"/>
                </a:solidFill>
                <a:effectLst/>
                <a:uLnTx/>
                <a:uFillTx/>
                <a:latin typeface="Cambria Math"/>
                <a:cs typeface="Cambria Math"/>
              </a:rPr>
              <a:t> </a:t>
            </a:r>
            <a:r>
              <a:rPr kumimoji="0" sz="2200" b="0" i="0" u="none" strike="noStrike" kern="0" cap="none" spc="-25" normalizeH="0" baseline="0" noProof="0" dirty="0">
                <a:ln>
                  <a:noFill/>
                </a:ln>
                <a:solidFill>
                  <a:sysClr val="windowText" lastClr="000000"/>
                </a:solidFill>
                <a:effectLst/>
                <a:uLnTx/>
                <a:uFillTx/>
                <a:latin typeface="Cambria Math"/>
                <a:cs typeface="Cambria Math"/>
              </a:rPr>
              <a:t>30</a:t>
            </a:r>
            <a:r>
              <a:rPr kumimoji="0" sz="2200" b="0" i="0" u="none" strike="noStrike" kern="0" cap="none" spc="0" normalizeH="0" baseline="0" noProof="0" dirty="0">
                <a:ln>
                  <a:noFill/>
                </a:ln>
                <a:solidFill>
                  <a:sysClr val="windowText" lastClr="000000"/>
                </a:solidFill>
                <a:effectLst/>
                <a:uLnTx/>
                <a:uFillTx/>
                <a:latin typeface="Cambria Math"/>
                <a:cs typeface="Cambria Math"/>
              </a:rPr>
              <a:t>	</a:t>
            </a:r>
            <a:r>
              <a:rPr kumimoji="0" sz="2200" b="0" i="0" u="none" strike="noStrike" kern="0" cap="none" spc="-25" normalizeH="0" baseline="0" noProof="0" dirty="0">
                <a:ln>
                  <a:noFill/>
                </a:ln>
                <a:solidFill>
                  <a:sysClr val="windowText" lastClr="000000"/>
                </a:solidFill>
                <a:effectLst/>
                <a:uLnTx/>
                <a:uFillTx/>
                <a:latin typeface="Times New Roman"/>
                <a:cs typeface="Times New Roman"/>
              </a:rPr>
              <a:t>or</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25" normalizeH="0" baseline="0" noProof="0" dirty="0">
                <a:ln>
                  <a:noFill/>
                </a:ln>
                <a:solidFill>
                  <a:sysClr val="windowText" lastClr="000000"/>
                </a:solidFill>
                <a:effectLst/>
                <a:uLnTx/>
                <a:uFillTx/>
                <a:latin typeface="Cambria Math"/>
                <a:cs typeface="Cambria Math"/>
              </a:rPr>
              <a:t>3𝑅</a:t>
            </a:r>
            <a:endParaRPr kumimoji="0" sz="2200" b="0" i="0" u="none" strike="noStrike" kern="0" cap="none" spc="0" normalizeH="0" baseline="0" noProof="0">
              <a:ln>
                <a:noFill/>
              </a:ln>
              <a:solidFill>
                <a:sysClr val="windowText" lastClr="000000"/>
              </a:solidFill>
              <a:effectLst/>
              <a:uLnTx/>
              <a:uFillTx/>
              <a:latin typeface="Cambria Math"/>
              <a:cs typeface="Cambria Math"/>
            </a:endParaRPr>
          </a:p>
          <a:p>
            <a:pPr marL="12700" marR="0" lvl="0" indent="0" defTabSz="914400" eaLnBrk="1" fontAlgn="auto" latinLnBrk="0" hangingPunct="1">
              <a:lnSpc>
                <a:spcPct val="100000"/>
              </a:lnSpc>
              <a:spcBef>
                <a:spcPts val="265"/>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2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R</a:t>
            </a:r>
            <a:r>
              <a:rPr kumimoji="0" sz="22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2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centre</a:t>
            </a:r>
            <a:r>
              <a:rPr kumimoji="0" sz="22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2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0" normalizeH="0" baseline="0" noProof="0" dirty="0">
                <a:ln>
                  <a:noFill/>
                </a:ln>
                <a:solidFill>
                  <a:sysClr val="windowText" lastClr="000000"/>
                </a:solidFill>
                <a:effectLst/>
                <a:uLnTx/>
                <a:uFillTx/>
                <a:latin typeface="Times New Roman"/>
                <a:cs typeface="Times New Roman"/>
              </a:rPr>
              <a:t>vertex</a:t>
            </a:r>
            <a:r>
              <a:rPr kumimoji="0" sz="22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200" b="0" i="0" u="none" strike="noStrike" kern="0" cap="none" spc="-10" normalizeH="0" baseline="0" noProof="0" dirty="0">
                <a:ln>
                  <a:noFill/>
                </a:ln>
                <a:solidFill>
                  <a:sysClr val="windowText" lastClr="000000"/>
                </a:solidFill>
                <a:effectLst/>
                <a:uLnTx/>
                <a:uFillTx/>
                <a:latin typeface="Times New Roman"/>
                <a:cs typeface="Times New Roman"/>
              </a:rPr>
              <a:t>distance</a:t>
            </a:r>
            <a:endParaRPr kumimoji="0" sz="2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150</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83" y="0"/>
            <a:ext cx="8695817" cy="4267200"/>
          </a:xfrm>
          <a:prstGeom prst="rect">
            <a:avLst/>
          </a:prstGeom>
        </p:spPr>
      </p:pic>
      <p:sp>
        <p:nvSpPr>
          <p:cNvPr id="3" name="object 3"/>
          <p:cNvSpPr txBox="1"/>
          <p:nvPr/>
        </p:nvSpPr>
        <p:spPr>
          <a:xfrm>
            <a:off x="86664" y="4314901"/>
            <a:ext cx="6466205" cy="7575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OA</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AB</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/2</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OAP</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right-angled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triangle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OAP</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triangle,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OP</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OA</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60°</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(√3/2)</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p:nvPr/>
        </p:nvSpPr>
        <p:spPr>
          <a:xfrm>
            <a:off x="86664" y="5180838"/>
            <a:ext cx="3335020"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2824480" algn="l"/>
              </a:tabLst>
              <a:defRPr/>
            </a:pPr>
            <a:r>
              <a:rPr kumimoji="0" sz="2400" b="0" i="1" u="none" strike="noStrike" kern="0" cap="none" spc="0" normalizeH="0" baseline="0" noProof="0" dirty="0">
                <a:ln>
                  <a:noFill/>
                </a:ln>
                <a:solidFill>
                  <a:sysClr val="windowText" lastClr="000000"/>
                </a:solidFill>
                <a:effectLst/>
                <a:uLnTx/>
                <a:uFillTx/>
                <a:latin typeface="Calibri"/>
                <a:cs typeface="Calibri"/>
              </a:rPr>
              <a:t>OQ</a:t>
            </a:r>
            <a:r>
              <a:rPr kumimoji="0" sz="2400" b="0" i="1" u="none" strike="noStrike" kern="0" cap="none" spc="-3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a:t>
            </a:r>
            <a:r>
              <a:rPr kumimoji="0" sz="2400" b="0" i="0" u="none" strike="noStrike" kern="0" cap="none" spc="-20" normalizeH="0" baseline="0" noProof="0" dirty="0">
                <a:ln>
                  <a:noFill/>
                </a:ln>
                <a:solidFill>
                  <a:sysClr val="windowText" lastClr="000000"/>
                </a:solidFill>
                <a:effectLst/>
                <a:uLnTx/>
                <a:uFillTx/>
                <a:latin typeface="Calibri"/>
                <a:cs typeface="Calibri"/>
              </a:rPr>
              <a:t> </a:t>
            </a:r>
            <a:r>
              <a:rPr kumimoji="0" sz="2400" b="0" i="1" u="none" strike="noStrike" kern="0" cap="none" spc="0" normalizeH="0" baseline="0" noProof="0" dirty="0">
                <a:ln>
                  <a:noFill/>
                </a:ln>
                <a:solidFill>
                  <a:sysClr val="windowText" lastClr="000000"/>
                </a:solidFill>
                <a:effectLst/>
                <a:uLnTx/>
                <a:uFillTx/>
                <a:latin typeface="Calibri"/>
                <a:cs typeface="Calibri"/>
              </a:rPr>
              <a:t>OP</a:t>
            </a:r>
            <a:r>
              <a:rPr kumimoji="0" sz="2400" b="0" i="1" u="none" strike="noStrike" kern="0" cap="none" spc="-3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a:t>
            </a:r>
            <a:r>
              <a:rPr kumimoji="0" sz="2400" b="0" i="0" u="none" strike="noStrike" kern="0" cap="none" spc="-20" normalizeH="0" baseline="0" noProof="0" dirty="0">
                <a:ln>
                  <a:noFill/>
                </a:ln>
                <a:solidFill>
                  <a:sysClr val="windowText" lastClr="000000"/>
                </a:solidFill>
                <a:effectLst/>
                <a:uLnTx/>
                <a:uFillTx/>
                <a:latin typeface="Calibri"/>
                <a:cs typeface="Calibri"/>
              </a:rPr>
              <a:t> </a:t>
            </a:r>
            <a:r>
              <a:rPr kumimoji="0" sz="2400" b="0" i="1" u="none" strike="noStrike" kern="0" cap="none" spc="-25" normalizeH="0" baseline="0" noProof="0" dirty="0">
                <a:ln>
                  <a:noFill/>
                </a:ln>
                <a:solidFill>
                  <a:sysClr val="windowText" lastClr="000000"/>
                </a:solidFill>
                <a:effectLst/>
                <a:uLnTx/>
                <a:uFillTx/>
                <a:latin typeface="Calibri"/>
                <a:cs typeface="Calibri"/>
              </a:rPr>
              <a:t>PQ</a:t>
            </a:r>
            <a:r>
              <a:rPr kumimoji="0" sz="2400" b="0" i="1" u="none" strike="noStrike" kern="0" cap="none" spc="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𝑑</a:t>
            </a:r>
            <a:r>
              <a:rPr kumimoji="0" sz="2400" b="0" i="0" u="none" strike="noStrike" kern="0" cap="none" spc="19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5" name="object 5"/>
          <p:cNvSpPr/>
          <p:nvPr/>
        </p:nvSpPr>
        <p:spPr>
          <a:xfrm>
            <a:off x="3519297" y="5129276"/>
            <a:ext cx="520700" cy="532130"/>
          </a:xfrm>
          <a:custGeom>
            <a:avLst/>
            <a:gdLst/>
            <a:ahLst/>
            <a:cxnLst/>
            <a:rect l="l" t="t" r="r" b="b"/>
            <a:pathLst>
              <a:path w="520700" h="532129">
                <a:moveTo>
                  <a:pt x="113411" y="41275"/>
                </a:moveTo>
                <a:lnTo>
                  <a:pt x="63919" y="65239"/>
                </a:lnTo>
                <a:lnTo>
                  <a:pt x="29464" y="122174"/>
                </a:lnTo>
                <a:lnTo>
                  <a:pt x="7340" y="195605"/>
                </a:lnTo>
                <a:lnTo>
                  <a:pt x="1828" y="236639"/>
                </a:lnTo>
                <a:lnTo>
                  <a:pt x="0" y="280543"/>
                </a:lnTo>
                <a:lnTo>
                  <a:pt x="1778" y="322973"/>
                </a:lnTo>
                <a:lnTo>
                  <a:pt x="1828" y="324294"/>
                </a:lnTo>
                <a:lnTo>
                  <a:pt x="7340" y="365252"/>
                </a:lnTo>
                <a:lnTo>
                  <a:pt x="16548" y="403453"/>
                </a:lnTo>
                <a:lnTo>
                  <a:pt x="45415" y="470319"/>
                </a:lnTo>
                <a:lnTo>
                  <a:pt x="84988" y="516902"/>
                </a:lnTo>
                <a:lnTo>
                  <a:pt x="108585" y="532104"/>
                </a:lnTo>
                <a:lnTo>
                  <a:pt x="113411" y="520192"/>
                </a:lnTo>
                <a:lnTo>
                  <a:pt x="94500" y="504926"/>
                </a:lnTo>
                <a:lnTo>
                  <a:pt x="77787" y="485000"/>
                </a:lnTo>
                <a:lnTo>
                  <a:pt x="50927" y="431165"/>
                </a:lnTo>
                <a:lnTo>
                  <a:pt x="34061" y="362051"/>
                </a:lnTo>
                <a:lnTo>
                  <a:pt x="29845" y="322973"/>
                </a:lnTo>
                <a:lnTo>
                  <a:pt x="28448" y="280924"/>
                </a:lnTo>
                <a:lnTo>
                  <a:pt x="29870" y="238112"/>
                </a:lnTo>
                <a:lnTo>
                  <a:pt x="34137" y="198615"/>
                </a:lnTo>
                <a:lnTo>
                  <a:pt x="51181" y="129540"/>
                </a:lnTo>
                <a:lnTo>
                  <a:pt x="78054" y="76314"/>
                </a:lnTo>
                <a:lnTo>
                  <a:pt x="94665" y="56515"/>
                </a:lnTo>
                <a:lnTo>
                  <a:pt x="113411" y="41275"/>
                </a:lnTo>
                <a:close/>
              </a:path>
              <a:path w="520700" h="532129">
                <a:moveTo>
                  <a:pt x="397510" y="271907"/>
                </a:moveTo>
                <a:lnTo>
                  <a:pt x="123190" y="271907"/>
                </a:lnTo>
                <a:lnTo>
                  <a:pt x="123190" y="291719"/>
                </a:lnTo>
                <a:lnTo>
                  <a:pt x="397510" y="291719"/>
                </a:lnTo>
                <a:lnTo>
                  <a:pt x="397510" y="271907"/>
                </a:lnTo>
                <a:close/>
              </a:path>
              <a:path w="520700" h="532129">
                <a:moveTo>
                  <a:pt x="397510" y="635"/>
                </a:moveTo>
                <a:lnTo>
                  <a:pt x="282321" y="635"/>
                </a:lnTo>
                <a:lnTo>
                  <a:pt x="282321" y="0"/>
                </a:lnTo>
                <a:lnTo>
                  <a:pt x="254635" y="0"/>
                </a:lnTo>
                <a:lnTo>
                  <a:pt x="201041" y="185420"/>
                </a:lnTo>
                <a:lnTo>
                  <a:pt x="162687" y="101092"/>
                </a:lnTo>
                <a:lnTo>
                  <a:pt x="127000" y="117475"/>
                </a:lnTo>
                <a:lnTo>
                  <a:pt x="130302" y="125603"/>
                </a:lnTo>
                <a:lnTo>
                  <a:pt x="148717" y="117475"/>
                </a:lnTo>
                <a:lnTo>
                  <a:pt x="193675" y="214122"/>
                </a:lnTo>
                <a:lnTo>
                  <a:pt x="204216" y="214122"/>
                </a:lnTo>
                <a:lnTo>
                  <a:pt x="262636" y="14478"/>
                </a:lnTo>
                <a:lnTo>
                  <a:pt x="397510" y="14351"/>
                </a:lnTo>
                <a:lnTo>
                  <a:pt x="397510" y="635"/>
                </a:lnTo>
                <a:close/>
              </a:path>
              <a:path w="520700" h="532129">
                <a:moveTo>
                  <a:pt x="520700" y="280543"/>
                </a:moveTo>
                <a:lnTo>
                  <a:pt x="518922" y="238112"/>
                </a:lnTo>
                <a:lnTo>
                  <a:pt x="513359" y="195605"/>
                </a:lnTo>
                <a:lnTo>
                  <a:pt x="504190" y="157441"/>
                </a:lnTo>
                <a:lnTo>
                  <a:pt x="475399" y="91084"/>
                </a:lnTo>
                <a:lnTo>
                  <a:pt x="435775" y="44653"/>
                </a:lnTo>
                <a:lnTo>
                  <a:pt x="412115" y="29337"/>
                </a:lnTo>
                <a:lnTo>
                  <a:pt x="407289" y="41275"/>
                </a:lnTo>
                <a:lnTo>
                  <a:pt x="426046" y="56515"/>
                </a:lnTo>
                <a:lnTo>
                  <a:pt x="442696" y="76314"/>
                </a:lnTo>
                <a:lnTo>
                  <a:pt x="469646" y="129540"/>
                </a:lnTo>
                <a:lnTo>
                  <a:pt x="486676" y="198615"/>
                </a:lnTo>
                <a:lnTo>
                  <a:pt x="490943" y="238112"/>
                </a:lnTo>
                <a:lnTo>
                  <a:pt x="492366" y="280543"/>
                </a:lnTo>
                <a:lnTo>
                  <a:pt x="492379" y="280924"/>
                </a:lnTo>
                <a:lnTo>
                  <a:pt x="490943" y="322973"/>
                </a:lnTo>
                <a:lnTo>
                  <a:pt x="486689" y="362051"/>
                </a:lnTo>
                <a:lnTo>
                  <a:pt x="469773" y="431165"/>
                </a:lnTo>
                <a:lnTo>
                  <a:pt x="442912" y="485000"/>
                </a:lnTo>
                <a:lnTo>
                  <a:pt x="407289" y="520192"/>
                </a:lnTo>
                <a:lnTo>
                  <a:pt x="412115" y="532104"/>
                </a:lnTo>
                <a:lnTo>
                  <a:pt x="456882" y="496316"/>
                </a:lnTo>
                <a:lnTo>
                  <a:pt x="491363" y="438912"/>
                </a:lnTo>
                <a:lnTo>
                  <a:pt x="513359" y="365252"/>
                </a:lnTo>
                <a:lnTo>
                  <a:pt x="518858" y="324294"/>
                </a:lnTo>
                <a:lnTo>
                  <a:pt x="520674" y="280924"/>
                </a:lnTo>
                <a:lnTo>
                  <a:pt x="520700" y="28054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4708017" y="5129276"/>
            <a:ext cx="522605" cy="532130"/>
          </a:xfrm>
          <a:custGeom>
            <a:avLst/>
            <a:gdLst/>
            <a:ahLst/>
            <a:cxnLst/>
            <a:rect l="l" t="t" r="r" b="b"/>
            <a:pathLst>
              <a:path w="522604" h="532129">
                <a:moveTo>
                  <a:pt x="113411" y="41275"/>
                </a:moveTo>
                <a:lnTo>
                  <a:pt x="63919" y="65239"/>
                </a:lnTo>
                <a:lnTo>
                  <a:pt x="29464" y="122174"/>
                </a:lnTo>
                <a:lnTo>
                  <a:pt x="7340" y="195605"/>
                </a:lnTo>
                <a:lnTo>
                  <a:pt x="1828" y="236639"/>
                </a:lnTo>
                <a:lnTo>
                  <a:pt x="0" y="280543"/>
                </a:lnTo>
                <a:lnTo>
                  <a:pt x="1778" y="322973"/>
                </a:lnTo>
                <a:lnTo>
                  <a:pt x="1828" y="324294"/>
                </a:lnTo>
                <a:lnTo>
                  <a:pt x="7340" y="365252"/>
                </a:lnTo>
                <a:lnTo>
                  <a:pt x="16548" y="403453"/>
                </a:lnTo>
                <a:lnTo>
                  <a:pt x="45415" y="470319"/>
                </a:lnTo>
                <a:lnTo>
                  <a:pt x="84988" y="516902"/>
                </a:lnTo>
                <a:lnTo>
                  <a:pt x="108585" y="532104"/>
                </a:lnTo>
                <a:lnTo>
                  <a:pt x="113411" y="520192"/>
                </a:lnTo>
                <a:lnTo>
                  <a:pt x="94500" y="504926"/>
                </a:lnTo>
                <a:lnTo>
                  <a:pt x="77787" y="485000"/>
                </a:lnTo>
                <a:lnTo>
                  <a:pt x="50927" y="431165"/>
                </a:lnTo>
                <a:lnTo>
                  <a:pt x="34061" y="362051"/>
                </a:lnTo>
                <a:lnTo>
                  <a:pt x="29845" y="322973"/>
                </a:lnTo>
                <a:lnTo>
                  <a:pt x="28448" y="280924"/>
                </a:lnTo>
                <a:lnTo>
                  <a:pt x="29870" y="238112"/>
                </a:lnTo>
                <a:lnTo>
                  <a:pt x="34137" y="198615"/>
                </a:lnTo>
                <a:lnTo>
                  <a:pt x="51181" y="129540"/>
                </a:lnTo>
                <a:lnTo>
                  <a:pt x="78054" y="76314"/>
                </a:lnTo>
                <a:lnTo>
                  <a:pt x="94665" y="56515"/>
                </a:lnTo>
                <a:lnTo>
                  <a:pt x="113411" y="41275"/>
                </a:lnTo>
                <a:close/>
              </a:path>
              <a:path w="522604" h="532129">
                <a:moveTo>
                  <a:pt x="397510" y="635"/>
                </a:moveTo>
                <a:lnTo>
                  <a:pt x="282321" y="635"/>
                </a:lnTo>
                <a:lnTo>
                  <a:pt x="282321" y="0"/>
                </a:lnTo>
                <a:lnTo>
                  <a:pt x="254635" y="0"/>
                </a:lnTo>
                <a:lnTo>
                  <a:pt x="201041" y="185420"/>
                </a:lnTo>
                <a:lnTo>
                  <a:pt x="162687" y="101092"/>
                </a:lnTo>
                <a:lnTo>
                  <a:pt x="127000" y="117475"/>
                </a:lnTo>
                <a:lnTo>
                  <a:pt x="130302" y="125603"/>
                </a:lnTo>
                <a:lnTo>
                  <a:pt x="148717" y="117475"/>
                </a:lnTo>
                <a:lnTo>
                  <a:pt x="193675" y="214122"/>
                </a:lnTo>
                <a:lnTo>
                  <a:pt x="204216" y="214122"/>
                </a:lnTo>
                <a:lnTo>
                  <a:pt x="262636" y="14478"/>
                </a:lnTo>
                <a:lnTo>
                  <a:pt x="397510" y="14351"/>
                </a:lnTo>
                <a:lnTo>
                  <a:pt x="397510" y="635"/>
                </a:lnTo>
                <a:close/>
              </a:path>
              <a:path w="522604" h="532129">
                <a:moveTo>
                  <a:pt x="522224" y="280543"/>
                </a:moveTo>
                <a:lnTo>
                  <a:pt x="520446" y="238112"/>
                </a:lnTo>
                <a:lnTo>
                  <a:pt x="514883" y="195605"/>
                </a:lnTo>
                <a:lnTo>
                  <a:pt x="505714" y="157441"/>
                </a:lnTo>
                <a:lnTo>
                  <a:pt x="476923" y="91084"/>
                </a:lnTo>
                <a:lnTo>
                  <a:pt x="437299" y="44653"/>
                </a:lnTo>
                <a:lnTo>
                  <a:pt x="413639" y="29337"/>
                </a:lnTo>
                <a:lnTo>
                  <a:pt x="408813" y="41275"/>
                </a:lnTo>
                <a:lnTo>
                  <a:pt x="427570" y="56515"/>
                </a:lnTo>
                <a:lnTo>
                  <a:pt x="444220" y="76314"/>
                </a:lnTo>
                <a:lnTo>
                  <a:pt x="471170" y="129540"/>
                </a:lnTo>
                <a:lnTo>
                  <a:pt x="488200" y="198615"/>
                </a:lnTo>
                <a:lnTo>
                  <a:pt x="492467" y="238112"/>
                </a:lnTo>
                <a:lnTo>
                  <a:pt x="493890" y="280543"/>
                </a:lnTo>
                <a:lnTo>
                  <a:pt x="493903" y="280924"/>
                </a:lnTo>
                <a:lnTo>
                  <a:pt x="492467" y="322973"/>
                </a:lnTo>
                <a:lnTo>
                  <a:pt x="488213" y="362051"/>
                </a:lnTo>
                <a:lnTo>
                  <a:pt x="471297" y="431165"/>
                </a:lnTo>
                <a:lnTo>
                  <a:pt x="444436" y="485000"/>
                </a:lnTo>
                <a:lnTo>
                  <a:pt x="408813" y="520192"/>
                </a:lnTo>
                <a:lnTo>
                  <a:pt x="413639" y="532104"/>
                </a:lnTo>
                <a:lnTo>
                  <a:pt x="458406" y="496316"/>
                </a:lnTo>
                <a:lnTo>
                  <a:pt x="492887" y="438912"/>
                </a:lnTo>
                <a:lnTo>
                  <a:pt x="514883" y="365252"/>
                </a:lnTo>
                <a:lnTo>
                  <a:pt x="520382" y="324294"/>
                </a:lnTo>
                <a:lnTo>
                  <a:pt x="522198" y="280924"/>
                </a:lnTo>
                <a:lnTo>
                  <a:pt x="522224" y="28054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3776598" y="5084826"/>
            <a:ext cx="1343660"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1201420" algn="l"/>
              </a:tabLst>
              <a:defRPr/>
            </a:pPr>
            <a:r>
              <a:rPr kumimoji="0" sz="1750" b="0" i="0" u="none" strike="noStrike" kern="0" cap="none" spc="-50" normalizeH="0" baseline="0" noProof="0" dirty="0">
                <a:ln>
                  <a:noFill/>
                </a:ln>
                <a:solidFill>
                  <a:sysClr val="windowText" lastClr="000000"/>
                </a:solidFill>
                <a:effectLst/>
                <a:uLnTx/>
                <a:uFillTx/>
                <a:latin typeface="Cambria Math"/>
                <a:cs typeface="Cambria Math"/>
              </a:rPr>
              <a:t>3</a:t>
            </a:r>
            <a:r>
              <a:rPr kumimoji="0" sz="1750" b="0" i="0" u="none" strike="noStrike" kern="0" cap="none" spc="0" normalizeH="0" baseline="0" noProof="0" dirty="0">
                <a:ln>
                  <a:noFill/>
                </a:ln>
                <a:solidFill>
                  <a:sysClr val="windowText" lastClr="000000"/>
                </a:solidFill>
                <a:effectLst/>
                <a:uLnTx/>
                <a:uFillTx/>
                <a:latin typeface="Cambria Math"/>
                <a:cs typeface="Cambria Math"/>
              </a:rPr>
              <a:t>	</a:t>
            </a:r>
            <a:r>
              <a:rPr kumimoji="0" sz="1750" b="0" i="0" u="none" strike="noStrike" kern="0" cap="none" spc="-50" normalizeH="0" baseline="0" noProof="0" dirty="0">
                <a:ln>
                  <a:noFill/>
                </a:ln>
                <a:solidFill>
                  <a:sysClr val="windowText" lastClr="000000"/>
                </a:solidFill>
                <a:effectLst/>
                <a:uLnTx/>
                <a:uFillTx/>
                <a:latin typeface="Cambria Math"/>
                <a:cs typeface="Cambria Math"/>
              </a:rPr>
              <a:t>3</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8" name="object 8"/>
          <p:cNvSpPr txBox="1"/>
          <p:nvPr/>
        </p:nvSpPr>
        <p:spPr>
          <a:xfrm>
            <a:off x="3703446" y="5417007"/>
            <a:ext cx="1343660"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1201420" algn="l"/>
              </a:tabLst>
              <a:defRPr/>
            </a:pPr>
            <a:r>
              <a:rPr kumimoji="0" sz="1750" b="0" i="0" u="none" strike="noStrike" kern="0" cap="none" spc="-50" normalizeH="0" baseline="0" noProof="0" dirty="0">
                <a:ln>
                  <a:noFill/>
                </a:ln>
                <a:solidFill>
                  <a:sysClr val="windowText" lastClr="000000"/>
                </a:solidFill>
                <a:effectLst/>
                <a:uLnTx/>
                <a:uFillTx/>
                <a:latin typeface="Cambria Math"/>
                <a:cs typeface="Cambria Math"/>
              </a:rPr>
              <a:t>2</a:t>
            </a:r>
            <a:r>
              <a:rPr kumimoji="0" sz="1750" b="0" i="0" u="none" strike="noStrike" kern="0" cap="none" spc="0" normalizeH="0" baseline="0" noProof="0" dirty="0">
                <a:ln>
                  <a:noFill/>
                </a:ln>
                <a:solidFill>
                  <a:sysClr val="windowText" lastClr="000000"/>
                </a:solidFill>
                <a:effectLst/>
                <a:uLnTx/>
                <a:uFillTx/>
                <a:latin typeface="Cambria Math"/>
                <a:cs typeface="Cambria Math"/>
              </a:rPr>
              <a:t>	</a:t>
            </a:r>
            <a:r>
              <a:rPr kumimoji="0" sz="1750" b="0" i="0" u="none" strike="noStrike" kern="0" cap="none" spc="-50" normalizeH="0" baseline="0" noProof="0" dirty="0">
                <a:ln>
                  <a:noFill/>
                </a:ln>
                <a:solidFill>
                  <a:sysClr val="windowText" lastClr="000000"/>
                </a:solidFill>
                <a:effectLst/>
                <a:uLnTx/>
                <a:uFillTx/>
                <a:latin typeface="Cambria Math"/>
                <a:cs typeface="Cambria Math"/>
              </a:rPr>
              <a:t>2</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9" name="object 9"/>
          <p:cNvSpPr/>
          <p:nvPr/>
        </p:nvSpPr>
        <p:spPr>
          <a:xfrm>
            <a:off x="4831207" y="5401183"/>
            <a:ext cx="274320" cy="20320"/>
          </a:xfrm>
          <a:custGeom>
            <a:avLst/>
            <a:gdLst/>
            <a:ahLst/>
            <a:cxnLst/>
            <a:rect l="l" t="t" r="r" b="b"/>
            <a:pathLst>
              <a:path w="274320" h="20320">
                <a:moveTo>
                  <a:pt x="274320" y="0"/>
                </a:moveTo>
                <a:lnTo>
                  <a:pt x="0" y="0"/>
                </a:lnTo>
                <a:lnTo>
                  <a:pt x="0" y="19812"/>
                </a:lnTo>
                <a:lnTo>
                  <a:pt x="274320" y="19812"/>
                </a:lnTo>
                <a:lnTo>
                  <a:pt x="27432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5910834" y="5230240"/>
            <a:ext cx="362585" cy="293370"/>
          </a:xfrm>
          <a:custGeom>
            <a:avLst/>
            <a:gdLst/>
            <a:ahLst/>
            <a:cxnLst/>
            <a:rect l="l" t="t" r="r" b="b"/>
            <a:pathLst>
              <a:path w="362585" h="293370">
                <a:moveTo>
                  <a:pt x="212851" y="0"/>
                </a:moveTo>
                <a:lnTo>
                  <a:pt x="174878" y="0"/>
                </a:lnTo>
                <a:lnTo>
                  <a:pt x="101345" y="253999"/>
                </a:lnTo>
                <a:lnTo>
                  <a:pt x="48767" y="138556"/>
                </a:lnTo>
                <a:lnTo>
                  <a:pt x="0" y="160908"/>
                </a:lnTo>
                <a:lnTo>
                  <a:pt x="4571" y="172084"/>
                </a:lnTo>
                <a:lnTo>
                  <a:pt x="29717" y="160908"/>
                </a:lnTo>
                <a:lnTo>
                  <a:pt x="91439" y="293369"/>
                </a:lnTo>
                <a:lnTo>
                  <a:pt x="105790" y="293369"/>
                </a:lnTo>
                <a:lnTo>
                  <a:pt x="185927" y="19811"/>
                </a:lnTo>
                <a:lnTo>
                  <a:pt x="194437" y="19811"/>
                </a:lnTo>
                <a:lnTo>
                  <a:pt x="194437" y="20065"/>
                </a:lnTo>
                <a:lnTo>
                  <a:pt x="362076" y="20065"/>
                </a:lnTo>
                <a:lnTo>
                  <a:pt x="362076" y="253"/>
                </a:lnTo>
                <a:lnTo>
                  <a:pt x="212851" y="253"/>
                </a:lnTo>
                <a:lnTo>
                  <a:pt x="21285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p:nvPr/>
        </p:nvSpPr>
        <p:spPr>
          <a:xfrm>
            <a:off x="4104259" y="5180838"/>
            <a:ext cx="2378710"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1202690" algn="l"/>
                <a:tab pos="2001520" algn="l"/>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𝑅</a:t>
            </a:r>
            <a:r>
              <a:rPr kumimoji="0" sz="2400" b="0" i="0" u="none" strike="noStrike" kern="0" cap="none" spc="8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r>
              <a:rPr kumimoji="0" sz="2400" b="0" i="0" u="none" strike="noStrike" kern="0" cap="none" spc="0" normalizeH="0" baseline="0" noProof="0" dirty="0">
                <a:ln>
                  <a:noFill/>
                </a:ln>
                <a:solidFill>
                  <a:sysClr val="windowText" lastClr="000000"/>
                </a:solidFill>
                <a:effectLst/>
                <a:uLnTx/>
                <a:uFillTx/>
                <a:latin typeface="Cambria Math"/>
                <a:cs typeface="Cambria Math"/>
              </a:rPr>
              <a:t>	𝑅</a:t>
            </a:r>
            <a:r>
              <a:rPr kumimoji="0" sz="2400" b="0" i="0" u="none" strike="noStrike" kern="0" cap="none" spc="185"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3𝑅</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151</a:t>
            </a:fld>
            <a:endParaRPr kumimoji="0" sz="1200" b="0" i="0" u="none" strike="noStrike" kern="0" cap="none" spc="-25" normalizeH="0" baseline="0" noProof="0" dirty="0">
              <a:ln>
                <a:noFill/>
              </a:ln>
              <a:solidFill>
                <a:srgbClr val="888888"/>
              </a:solidFill>
              <a:effectLst/>
              <a:uLnTx/>
              <a:uFillTx/>
              <a:latin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12" name="object 12"/>
          <p:cNvSpPr txBox="1"/>
          <p:nvPr/>
        </p:nvSpPr>
        <p:spPr>
          <a:xfrm>
            <a:off x="61264" y="5660847"/>
            <a:ext cx="845312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Calibri"/>
                <a:cs typeface="Calibri"/>
              </a:rPr>
              <a:t>Area</a:t>
            </a:r>
            <a:r>
              <a:rPr kumimoji="0" sz="2400" b="0" i="0" u="none" strike="noStrike" kern="0" cap="none" spc="-6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of</a:t>
            </a:r>
            <a:r>
              <a:rPr kumimoji="0" sz="2400" b="0" i="0" u="none" strike="noStrike" kern="0" cap="none" spc="-5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a</a:t>
            </a:r>
            <a:r>
              <a:rPr kumimoji="0" sz="2400" b="0" i="0" u="none" strike="noStrike" kern="0" cap="none" spc="-5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small</a:t>
            </a:r>
            <a:r>
              <a:rPr kumimoji="0" sz="2400" b="0" i="0" u="none" strike="noStrike" kern="0" cap="none" spc="-6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hexagon</a:t>
            </a:r>
            <a:r>
              <a:rPr kumimoji="0" sz="2400" b="0" i="0" u="none" strike="noStrike" kern="0" cap="none" spc="-5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with</a:t>
            </a:r>
            <a:r>
              <a:rPr kumimoji="0" sz="2400" b="0" i="0" u="none" strike="noStrike" kern="0" cap="none" spc="-7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radius</a:t>
            </a:r>
            <a:r>
              <a:rPr kumimoji="0" sz="2400" b="0" i="0" u="none" strike="noStrike" kern="0" cap="none" spc="-5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R=6xrR/2=((3√3)/2)</a:t>
            </a:r>
            <a:r>
              <a:rPr kumimoji="0" sz="2400" b="0" i="0" u="none" strike="noStrike" kern="0" cap="none" spc="0" normalizeH="0" baseline="0" noProof="0" dirty="0">
                <a:ln>
                  <a:noFill/>
                </a:ln>
                <a:solidFill>
                  <a:sysClr val="windowText" lastClr="000000"/>
                </a:solidFill>
                <a:effectLst/>
                <a:uLnTx/>
                <a:uFillTx/>
                <a:latin typeface="Cambria Math"/>
                <a:cs typeface="Cambria Math"/>
              </a:rPr>
              <a:t>R</a:t>
            </a:r>
            <a:r>
              <a:rPr kumimoji="0" sz="2400" b="0" i="0" u="none" strike="noStrike" kern="0" cap="none" spc="0" normalizeH="0" baseline="24305" noProof="0" dirty="0">
                <a:ln>
                  <a:noFill/>
                </a:ln>
                <a:solidFill>
                  <a:sysClr val="windowText" lastClr="000000"/>
                </a:solidFill>
                <a:effectLst/>
                <a:uLnTx/>
                <a:uFillTx/>
                <a:latin typeface="Cambria Math"/>
                <a:cs typeface="Cambria Math"/>
              </a:rPr>
              <a:t>2</a:t>
            </a:r>
            <a:r>
              <a:rPr kumimoji="0" sz="2400" b="0" i="0" u="none" strike="noStrike" kern="0" cap="none" spc="367" normalizeH="0" baseline="24305"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75" normalizeH="0" baseline="0" noProof="0" dirty="0">
                <a:ln>
                  <a:noFill/>
                </a:ln>
                <a:solidFill>
                  <a:sysClr val="windowText" lastClr="000000"/>
                </a:solidFill>
                <a:effectLst/>
                <a:uLnTx/>
                <a:uFillTx/>
                <a:latin typeface="Cambria Math"/>
                <a:cs typeface="Cambria Math"/>
              </a:rPr>
              <a:t> </a:t>
            </a:r>
            <a:r>
              <a:rPr kumimoji="0" sz="2400" b="0" i="0" u="none" strike="noStrike" kern="0" cap="none" spc="-10" normalizeH="0" baseline="0" noProof="0" dirty="0">
                <a:ln>
                  <a:noFill/>
                </a:ln>
                <a:solidFill>
                  <a:sysClr val="windowText" lastClr="000000"/>
                </a:solidFill>
                <a:effectLst/>
                <a:uLnTx/>
                <a:uFillTx/>
                <a:latin typeface="Cambria Math"/>
                <a:cs typeface="Cambria Math"/>
              </a:rPr>
              <a:t>2√3𝑟</a:t>
            </a:r>
            <a:r>
              <a:rPr kumimoji="0" sz="2625" b="0" i="0" u="none" strike="noStrike" kern="0" cap="none" spc="-15" normalizeH="0" baseline="28571" noProof="0" dirty="0">
                <a:ln>
                  <a:noFill/>
                </a:ln>
                <a:solidFill>
                  <a:sysClr val="windowText" lastClr="000000"/>
                </a:solidFill>
                <a:effectLst/>
                <a:uLnTx/>
                <a:uFillTx/>
                <a:latin typeface="Cambria Math"/>
                <a:cs typeface="Cambria Math"/>
              </a:rPr>
              <a:t>2</a:t>
            </a:r>
            <a:endParaRPr kumimoji="0" sz="2625" b="0" i="0" u="none" strike="noStrike" kern="0" cap="none" spc="0" normalizeH="0" baseline="28571" noProof="0">
              <a:ln>
                <a:noFill/>
              </a:ln>
              <a:solidFill>
                <a:sysClr val="windowText" lastClr="000000"/>
              </a:solidFill>
              <a:effectLst/>
              <a:uLnTx/>
              <a:uFillTx/>
              <a:latin typeface="Cambria Math"/>
              <a:cs typeface="Cambria Math"/>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41005" cy="3171825"/>
          </a:xfrm>
          <a:prstGeom prst="rect">
            <a:avLst/>
          </a:prstGeom>
        </p:spPr>
        <p:txBody>
          <a:bodyPr vert="horz" wrap="square" lIns="0" tIns="12700" rIns="0" bIns="0" rtlCol="0">
            <a:spAutoFit/>
          </a:bodyPr>
          <a:lstStyle/>
          <a:p>
            <a:pPr marL="355600" marR="38735" lvl="0" indent="-342900" defTabSz="914400" eaLnBrk="1" fontAlgn="auto" latinLnBrk="0" hangingPunct="1">
              <a:lnSpc>
                <a:spcPct val="100000"/>
              </a:lnSpc>
              <a:spcBef>
                <a:spcPts val="10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objectives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assignment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strategies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increase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minimize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interference.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5080"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assignment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strategies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classified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either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fixed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dynamic.</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137795"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fixed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assignment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strategy,</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predetermined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voice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92710" lvl="0" indent="-342900" defTabSz="914400" eaLnBrk="1" fontAlgn="auto" latinLnBrk="0" hangingPunct="1">
              <a:lnSpc>
                <a:spcPct val="100000"/>
              </a:lnSpc>
              <a:spcBef>
                <a:spcPts val="58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occupied,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blocked.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variation</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borrowing</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strategy.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152</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282305" rIns="0" bIns="0" rtlCol="0">
            <a:spAutoFit/>
          </a:bodyPr>
          <a:lstStyle/>
          <a:p>
            <a:pPr marL="12700" marR="5080">
              <a:lnSpc>
                <a:spcPts val="3600"/>
              </a:lnSpc>
              <a:spcBef>
                <a:spcPts val="819"/>
              </a:spcBef>
            </a:pPr>
            <a:r>
              <a:rPr spc="-155" dirty="0"/>
              <a:t>Channel</a:t>
            </a:r>
            <a:r>
              <a:rPr spc="-355" dirty="0"/>
              <a:t> </a:t>
            </a:r>
            <a:r>
              <a:rPr spc="-140" dirty="0"/>
              <a:t>Assignment </a:t>
            </a:r>
            <a:r>
              <a:rPr spc="-55" dirty="0"/>
              <a:t>Strategies</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04809" cy="2660015"/>
          </a:xfrm>
          <a:prstGeom prst="rect">
            <a:avLst/>
          </a:prstGeom>
        </p:spPr>
        <p:txBody>
          <a:bodyPr vert="horz" wrap="square" lIns="0" tIns="12700" rIns="0" bIns="0" rtlCol="0">
            <a:spAutoFit/>
          </a:bodyPr>
          <a:lstStyle/>
          <a:p>
            <a:pPr marL="12700" marR="5080" lvl="0" indent="0" defTabSz="914400" eaLnBrk="1" fontAlgn="auto" latinLnBrk="0" hangingPunct="1">
              <a:lnSpc>
                <a:spcPct val="12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dynamic</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strategy,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voice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to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different</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permanently.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7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strategy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reduces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likelihood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blocking.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156210" lvl="0" indent="0" defTabSz="914400" eaLnBrk="1" fontAlgn="auto" latinLnBrk="0" hangingPunct="1">
              <a:lnSpc>
                <a:spcPct val="12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switching</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center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(MSC)must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collect</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real-time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data</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occupancy,</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distribution,</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strength</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8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indications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(RSSI)of all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153</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8048625" cy="3537585"/>
          </a:xfrm>
          <a:prstGeom prst="rect">
            <a:avLst/>
          </a:prstGeom>
        </p:spPr>
        <p:txBody>
          <a:bodyPr vert="horz" wrap="square" lIns="0" tIns="12700" rIns="0" bIns="0" rtlCol="0">
            <a:spAutoFit/>
          </a:bodyPr>
          <a:lstStyle/>
          <a:p>
            <a:pPr marL="12700" marR="5080" lvl="0" indent="0" defTabSz="914400" eaLnBrk="1" fontAlgn="auto" latinLnBrk="0" hangingPunct="1">
              <a:lnSpc>
                <a:spcPct val="120000"/>
              </a:lnSpc>
              <a:spcBef>
                <a:spcPts val="10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crucial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component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concept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6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notion</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process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transferring</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active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another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unit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moves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from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 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other.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4683125" lvl="0" indent="0" defTabSz="914400" eaLnBrk="1" fontAlgn="auto" latinLnBrk="0" hangingPunct="1">
              <a:lnSpc>
                <a:spcPts val="3460"/>
              </a:lnSpc>
              <a:spcBef>
                <a:spcPts val="204"/>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operation</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involves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identifying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new</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36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allocation</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voice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7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associated.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pic>
        <p:nvPicPr>
          <p:cNvPr id="3" name="object 3"/>
          <p:cNvPicPr/>
          <p:nvPr/>
        </p:nvPicPr>
        <p:blipFill>
          <a:blip r:embed="rId2" cstate="print"/>
          <a:stretch>
            <a:fillRect/>
          </a:stretch>
        </p:blipFill>
        <p:spPr>
          <a:xfrm>
            <a:off x="4152900" y="3018612"/>
            <a:ext cx="3933825" cy="341947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154</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5440" y="1446402"/>
            <a:ext cx="7853045" cy="3060700"/>
          </a:xfrm>
          <a:prstGeom prst="rect">
            <a:avLst/>
          </a:prstGeom>
        </p:spPr>
        <p:txBody>
          <a:bodyPr vert="horz" wrap="square" lIns="0" tIns="85725" rIns="0" bIns="0" rtlCol="0">
            <a:spAutoFit/>
          </a:bodyPr>
          <a:lstStyle/>
          <a:p>
            <a:pPr marL="50800" marR="0" lvl="0" indent="0" defTabSz="914400" eaLnBrk="1" fontAlgn="auto" latinLnBrk="0" hangingPunct="1">
              <a:lnSpc>
                <a:spcPct val="100000"/>
              </a:lnSpc>
              <a:spcBef>
                <a:spcPts val="67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Handoff</a:t>
            </a:r>
            <a:r>
              <a:rPr kumimoji="0" sz="2400" b="0" i="0" u="none" strike="noStrike" kern="0" cap="none" spc="-135" normalizeH="0" baseline="0" noProof="0" dirty="0">
                <a:ln>
                  <a:noFill/>
                </a:ln>
                <a:solidFill>
                  <a:sysClr val="windowText" lastClr="000000"/>
                </a:solidFill>
                <a:effectLst/>
                <a:uLnTx/>
                <a:uFillTx/>
                <a:latin typeface="Arial MT"/>
                <a:cs typeface="Arial MT"/>
              </a:rPr>
              <a:t> </a:t>
            </a:r>
            <a:r>
              <a:rPr kumimoji="0" sz="2400" b="0" i="0" u="none" strike="noStrike" kern="0" cap="none" spc="-50" normalizeH="0" baseline="0" noProof="0" dirty="0">
                <a:ln>
                  <a:noFill/>
                </a:ln>
                <a:solidFill>
                  <a:sysClr val="windowText" lastClr="000000"/>
                </a:solidFill>
                <a:effectLst/>
                <a:uLnTx/>
                <a:uFillTx/>
                <a:latin typeface="Arial MT"/>
                <a:cs typeface="Arial MT"/>
              </a:rPr>
              <a:t>–</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393065" marR="0" lvl="0" indent="-342265" defTabSz="914400" eaLnBrk="1" fontAlgn="auto" latinLnBrk="0" hangingPunct="1">
              <a:lnSpc>
                <a:spcPct val="100000"/>
              </a:lnSpc>
              <a:spcBef>
                <a:spcPts val="575"/>
              </a:spcBef>
              <a:spcAft>
                <a:spcPts val="0"/>
              </a:spcAft>
              <a:buClr>
                <a:srgbClr val="0F1141"/>
              </a:buClr>
              <a:buSzTx/>
              <a:buFontTx/>
              <a:buChar char="•"/>
              <a:tabLst>
                <a:tab pos="393065" algn="l"/>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high</a:t>
            </a:r>
            <a:r>
              <a:rPr kumimoji="0" sz="2400" b="0" i="0" u="none" strike="noStrike" kern="0" cap="none" spc="-7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priority</a:t>
            </a:r>
            <a:r>
              <a:rPr kumimoji="0" sz="2400" b="0" i="0" u="none" strike="noStrike" kern="0" cap="none" spc="-6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over</a:t>
            </a:r>
            <a:r>
              <a:rPr kumimoji="0" sz="2400" b="0" i="0" u="none" strike="noStrike" kern="0" cap="none" spc="-8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call</a:t>
            </a:r>
            <a:r>
              <a:rPr kumimoji="0" sz="2400" b="0" i="0" u="none" strike="noStrike" kern="0" cap="none" spc="-6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initiation</a:t>
            </a:r>
            <a:r>
              <a:rPr kumimoji="0" sz="2400" b="0" i="0" u="none" strike="noStrike" kern="0" cap="none" spc="-55" normalizeH="0" baseline="0" noProof="0" dirty="0">
                <a:ln>
                  <a:noFill/>
                </a:ln>
                <a:solidFill>
                  <a:sysClr val="windowText" lastClr="000000"/>
                </a:solidFill>
                <a:effectLst/>
                <a:uLnTx/>
                <a:uFillTx/>
                <a:latin typeface="Arial MT"/>
                <a:cs typeface="Arial MT"/>
              </a:rPr>
              <a:t> </a:t>
            </a:r>
            <a:r>
              <a:rPr kumimoji="0" sz="2400" b="0" i="0" u="none" strike="noStrike" kern="0" cap="none" spc="-10" normalizeH="0" baseline="0" noProof="0" dirty="0">
                <a:ln>
                  <a:noFill/>
                </a:ln>
                <a:solidFill>
                  <a:sysClr val="windowText" lastClr="000000"/>
                </a:solidFill>
                <a:effectLst/>
                <a:uLnTx/>
                <a:uFillTx/>
                <a:latin typeface="Arial MT"/>
                <a:cs typeface="Arial MT"/>
              </a:rPr>
              <a:t>requests</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393065" marR="0" lvl="0" indent="-342265" defTabSz="914400" eaLnBrk="1" fontAlgn="auto" latinLnBrk="0" hangingPunct="1">
              <a:lnSpc>
                <a:spcPct val="100000"/>
              </a:lnSpc>
              <a:spcBef>
                <a:spcPts val="580"/>
              </a:spcBef>
              <a:spcAft>
                <a:spcPts val="0"/>
              </a:spcAft>
              <a:buClr>
                <a:srgbClr val="0F1141"/>
              </a:buClr>
              <a:buSzTx/>
              <a:buFontTx/>
              <a:buChar char="•"/>
              <a:tabLst>
                <a:tab pos="393065" algn="l"/>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must</a:t>
            </a:r>
            <a:r>
              <a:rPr kumimoji="0" sz="2400" b="0" i="0" u="none" strike="noStrike" kern="0" cap="none" spc="-5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be</a:t>
            </a:r>
            <a:r>
              <a:rPr kumimoji="0" sz="2400" b="0" i="0" u="none" strike="noStrike" kern="0" cap="none" spc="-5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performed</a:t>
            </a:r>
            <a:r>
              <a:rPr kumimoji="0" sz="2400" b="0" i="0" u="none" strike="noStrike" kern="0" cap="none" spc="-60" normalizeH="0" baseline="0" noProof="0" dirty="0">
                <a:ln>
                  <a:noFill/>
                </a:ln>
                <a:solidFill>
                  <a:sysClr val="windowText" lastClr="000000"/>
                </a:solidFill>
                <a:effectLst/>
                <a:uLnTx/>
                <a:uFillTx/>
                <a:latin typeface="Arial MT"/>
                <a:cs typeface="Arial MT"/>
              </a:rPr>
              <a:t> </a:t>
            </a:r>
            <a:r>
              <a:rPr kumimoji="0" sz="2400" b="0" i="0" u="none" strike="noStrike" kern="0" cap="none" spc="-10" normalizeH="0" baseline="0" noProof="0" dirty="0">
                <a:ln>
                  <a:noFill/>
                </a:ln>
                <a:solidFill>
                  <a:sysClr val="windowText" lastClr="000000"/>
                </a:solidFill>
                <a:effectLst/>
                <a:uLnTx/>
                <a:uFillTx/>
                <a:latin typeface="Arial MT"/>
                <a:cs typeface="Arial MT"/>
              </a:rPr>
              <a:t>successfully</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393065" marR="0" lvl="0" indent="-342265" defTabSz="914400" eaLnBrk="1" fontAlgn="auto" latinLnBrk="0" hangingPunct="1">
              <a:lnSpc>
                <a:spcPct val="100000"/>
              </a:lnSpc>
              <a:spcBef>
                <a:spcPts val="575"/>
              </a:spcBef>
              <a:spcAft>
                <a:spcPts val="0"/>
              </a:spcAft>
              <a:buClr>
                <a:srgbClr val="0F1141"/>
              </a:buClr>
              <a:buSzTx/>
              <a:buFontTx/>
              <a:buChar char="•"/>
              <a:tabLst>
                <a:tab pos="393065" algn="l"/>
              </a:tabLst>
              <a:defRPr/>
            </a:pPr>
            <a:r>
              <a:rPr kumimoji="0" sz="2400" b="0" i="0" u="none" strike="noStrike" kern="0" cap="none" spc="-10" normalizeH="0" baseline="0" noProof="0" dirty="0">
                <a:ln>
                  <a:noFill/>
                </a:ln>
                <a:solidFill>
                  <a:sysClr val="windowText" lastClr="000000"/>
                </a:solidFill>
                <a:effectLst/>
                <a:uLnTx/>
                <a:uFillTx/>
                <a:latin typeface="Arial MT"/>
                <a:cs typeface="Arial MT"/>
              </a:rPr>
              <a:t>Infrequently</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393065" marR="0" lvl="0" indent="-342265" defTabSz="914400" eaLnBrk="1" fontAlgn="auto" latinLnBrk="0" hangingPunct="1">
              <a:lnSpc>
                <a:spcPct val="100000"/>
              </a:lnSpc>
              <a:spcBef>
                <a:spcPts val="575"/>
              </a:spcBef>
              <a:spcAft>
                <a:spcPts val="0"/>
              </a:spcAft>
              <a:buClr>
                <a:srgbClr val="0F1141"/>
              </a:buClr>
              <a:buSzTx/>
              <a:buFontTx/>
              <a:buChar char="•"/>
              <a:tabLst>
                <a:tab pos="393065" algn="l"/>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be</a:t>
            </a:r>
            <a:r>
              <a:rPr kumimoji="0" sz="2400" b="0" i="0" u="none" strike="noStrike" kern="0" cap="none" spc="-35" normalizeH="0" baseline="0" noProof="0" dirty="0">
                <a:ln>
                  <a:noFill/>
                </a:ln>
                <a:solidFill>
                  <a:sysClr val="windowText" lastClr="000000"/>
                </a:solidFill>
                <a:effectLst/>
                <a:uLnTx/>
                <a:uFillTx/>
                <a:latin typeface="Arial MT"/>
                <a:cs typeface="Arial MT"/>
              </a:rPr>
              <a:t> </a:t>
            </a:r>
            <a:r>
              <a:rPr kumimoji="0" sz="2400" b="0" i="0" u="none" strike="noStrike" kern="0" cap="none" spc="-10" normalizeH="0" baseline="0" noProof="0" dirty="0">
                <a:ln>
                  <a:noFill/>
                </a:ln>
                <a:solidFill>
                  <a:sysClr val="windowText" lastClr="000000"/>
                </a:solidFill>
                <a:effectLst/>
                <a:uLnTx/>
                <a:uFillTx/>
                <a:latin typeface="Arial MT"/>
                <a:cs typeface="Arial MT"/>
              </a:rPr>
              <a:t>imperceptible.</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393065" marR="0" lvl="0" indent="-342265" defTabSz="914400" eaLnBrk="1" fontAlgn="auto" latinLnBrk="0" hangingPunct="1">
              <a:lnSpc>
                <a:spcPct val="100000"/>
              </a:lnSpc>
              <a:spcBef>
                <a:spcPts val="580"/>
              </a:spcBef>
              <a:spcAft>
                <a:spcPts val="0"/>
              </a:spcAft>
              <a:buClr>
                <a:srgbClr val="0F1141"/>
              </a:buClr>
              <a:buSzTx/>
              <a:buFontTx/>
              <a:buChar char="•"/>
              <a:tabLst>
                <a:tab pos="393065" algn="l"/>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The</a:t>
            </a:r>
            <a:r>
              <a:rPr kumimoji="0" sz="2400" b="0" i="0" u="none" strike="noStrike" kern="0" cap="none" spc="-4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margin</a:t>
            </a:r>
            <a:r>
              <a:rPr kumimoji="0" sz="2400" b="0" i="0" u="none" strike="noStrike" kern="0" cap="none" spc="-3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80" normalizeH="0" baseline="0" noProof="0" dirty="0">
                <a:ln>
                  <a:noFill/>
                </a:ln>
                <a:solidFill>
                  <a:sysClr val="windowText" lastClr="000000"/>
                </a:solidFill>
                <a:effectLst/>
                <a:uLnTx/>
                <a:uFillTx/>
                <a:latin typeface="Cambria Math"/>
                <a:cs typeface="Cambria Math"/>
              </a:rPr>
              <a:t> </a:t>
            </a:r>
            <a:r>
              <a:rPr kumimoji="0" sz="2400" b="0" i="0" u="none" strike="noStrike" kern="0" cap="none" spc="-30" normalizeH="0" baseline="0" noProof="0" dirty="0">
                <a:ln>
                  <a:noFill/>
                </a:ln>
                <a:solidFill>
                  <a:sysClr val="windowText" lastClr="000000"/>
                </a:solidFill>
                <a:effectLst/>
                <a:uLnTx/>
                <a:uFillTx/>
                <a:latin typeface="Cambria Math"/>
                <a:cs typeface="Cambria Math"/>
              </a:rPr>
              <a:t>𝑃</a:t>
            </a:r>
            <a:r>
              <a:rPr kumimoji="0" sz="2625" b="0" i="0" u="none" strike="noStrike" kern="0" cap="none" spc="-44"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22" normalizeH="0" baseline="-15873" noProof="0" dirty="0">
                <a:ln>
                  <a:noFill/>
                </a:ln>
                <a:solidFill>
                  <a:sysClr val="windowText" lastClr="000000"/>
                </a:solidFill>
                <a:effectLst/>
                <a:uLnTx/>
                <a:uFillTx/>
                <a:latin typeface="Cambria Math"/>
                <a:cs typeface="Cambria Math"/>
              </a:rPr>
              <a:t> </a:t>
            </a:r>
            <a:r>
              <a:rPr kumimoji="0" sz="2625" b="0" i="0" u="none" strike="noStrike" kern="0" cap="none" spc="150" normalizeH="0" baseline="-15873" noProof="0" dirty="0">
                <a:ln>
                  <a:noFill/>
                </a:ln>
                <a:solidFill>
                  <a:sysClr val="windowText" lastClr="000000"/>
                </a:solidFill>
                <a:effectLst/>
                <a:uLnTx/>
                <a:uFillTx/>
                <a:latin typeface="Cambria Math"/>
                <a:cs typeface="Cambria Math"/>
              </a:rPr>
              <a:t>ℎ𝑎𝑛𝑑𝑜𝑓𝑓</a:t>
            </a:r>
            <a:r>
              <a:rPr kumimoji="0" sz="2625" b="0" i="0" u="none" strike="noStrike" kern="0" cap="none" spc="382"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35" normalizeH="0" baseline="0" noProof="0" dirty="0">
                <a:ln>
                  <a:noFill/>
                </a:ln>
                <a:solidFill>
                  <a:sysClr val="windowText" lastClr="000000"/>
                </a:solidFill>
                <a:effectLst/>
                <a:uLnTx/>
                <a:uFillTx/>
                <a:latin typeface="Cambria Math"/>
                <a:cs typeface="Cambria Math"/>
              </a:rPr>
              <a:t> 𝑃</a:t>
            </a:r>
            <a:r>
              <a:rPr kumimoji="0" sz="2625" b="0" i="0" u="none" strike="noStrike" kern="0" cap="none" spc="-52"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15" normalizeH="0" baseline="-15873" noProof="0" dirty="0">
                <a:ln>
                  <a:noFill/>
                </a:ln>
                <a:solidFill>
                  <a:sysClr val="windowText" lastClr="000000"/>
                </a:solidFill>
                <a:effectLst/>
                <a:uLnTx/>
                <a:uFillTx/>
                <a:latin typeface="Cambria Math"/>
                <a:cs typeface="Cambria Math"/>
              </a:rPr>
              <a:t> </a:t>
            </a:r>
            <a:r>
              <a:rPr kumimoji="0" sz="2625" b="0" i="0" u="none" strike="noStrike" kern="0" cap="none" spc="179" normalizeH="0" baseline="-15873" noProof="0" dirty="0">
                <a:ln>
                  <a:noFill/>
                </a:ln>
                <a:solidFill>
                  <a:sysClr val="windowText" lastClr="000000"/>
                </a:solidFill>
                <a:effectLst/>
                <a:uLnTx/>
                <a:uFillTx/>
                <a:latin typeface="Cambria Math"/>
                <a:cs typeface="Cambria Math"/>
              </a:rPr>
              <a:t>𝑚𝑖𝑛𝑖𝑚𝑢𝑚</a:t>
            </a:r>
            <a:r>
              <a:rPr kumimoji="0" sz="2625" b="0" i="0" u="none" strike="noStrike" kern="0" cap="none" spc="-15" normalizeH="0" baseline="-15873" noProof="0" dirty="0">
                <a:ln>
                  <a:noFill/>
                </a:ln>
                <a:solidFill>
                  <a:sysClr val="windowText" lastClr="000000"/>
                </a:solidFill>
                <a:effectLst/>
                <a:uLnTx/>
                <a:uFillTx/>
                <a:latin typeface="Cambria Math"/>
                <a:cs typeface="Cambria Math"/>
              </a:rPr>
              <a:t> </a:t>
            </a:r>
            <a:r>
              <a:rPr kumimoji="0" sz="2625" b="0" i="0" u="none" strike="noStrike" kern="0" cap="none" spc="120" normalizeH="0" baseline="-15873" noProof="0" dirty="0">
                <a:ln>
                  <a:noFill/>
                </a:ln>
                <a:solidFill>
                  <a:sysClr val="windowText" lastClr="000000"/>
                </a:solidFill>
                <a:effectLst/>
                <a:uLnTx/>
                <a:uFillTx/>
                <a:latin typeface="Cambria Math"/>
                <a:cs typeface="Cambria Math"/>
              </a:rPr>
              <a:t>𝑢𝑠𝑎𝑏𝑙𝑒</a:t>
            </a:r>
            <a:r>
              <a:rPr kumimoji="0" sz="2625" b="0" i="0" u="none" strike="noStrike" kern="0" cap="none" spc="382"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Arial MT"/>
                <a:cs typeface="Arial MT"/>
              </a:rPr>
              <a:t>cannot</a:t>
            </a:r>
            <a:r>
              <a:rPr kumimoji="0" sz="2400" b="0" i="0" u="none" strike="noStrike" kern="0" cap="none" spc="-35" normalizeH="0" baseline="0" noProof="0" dirty="0">
                <a:ln>
                  <a:noFill/>
                </a:ln>
                <a:solidFill>
                  <a:sysClr val="windowText" lastClr="000000"/>
                </a:solidFill>
                <a:effectLst/>
                <a:uLnTx/>
                <a:uFillTx/>
                <a:latin typeface="Arial MT"/>
                <a:cs typeface="Arial MT"/>
              </a:rPr>
              <a:t> </a:t>
            </a:r>
            <a:r>
              <a:rPr kumimoji="0" sz="2400" b="0" i="0" u="none" strike="noStrike" kern="0" cap="none" spc="-25" normalizeH="0" baseline="0" noProof="0" dirty="0">
                <a:ln>
                  <a:noFill/>
                </a:ln>
                <a:solidFill>
                  <a:sysClr val="windowText" lastClr="000000"/>
                </a:solidFill>
                <a:effectLst/>
                <a:uLnTx/>
                <a:uFillTx/>
                <a:latin typeface="Arial MT"/>
                <a:cs typeface="Arial MT"/>
              </a:rPr>
              <a:t>be</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393700" marR="0" lvl="0" indent="0" defTabSz="914400" eaLnBrk="1" fontAlgn="auto" latinLnBrk="0" hangingPunct="1">
              <a:lnSpc>
                <a:spcPct val="100000"/>
              </a:lnSpc>
              <a:spcBef>
                <a:spcPts val="27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Arial MT"/>
                <a:cs typeface="Arial MT"/>
              </a:rPr>
              <a:t>too</a:t>
            </a:r>
            <a:r>
              <a:rPr kumimoji="0" sz="2400" b="0" i="0" u="none" strike="noStrike" kern="0" cap="none" spc="-55"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large</a:t>
            </a:r>
            <a:r>
              <a:rPr kumimoji="0" sz="2400" b="0" i="0" u="none" strike="noStrike" kern="0" cap="none" spc="-3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or</a:t>
            </a:r>
            <a:r>
              <a:rPr kumimoji="0" sz="2400" b="0" i="0" u="none" strike="noStrike" kern="0" cap="none" spc="-40" normalizeH="0" baseline="0" noProof="0" dirty="0">
                <a:ln>
                  <a:noFill/>
                </a:ln>
                <a:solidFill>
                  <a:sysClr val="windowText" lastClr="000000"/>
                </a:solidFill>
                <a:effectLst/>
                <a:uLnTx/>
                <a:uFillTx/>
                <a:latin typeface="Arial MT"/>
                <a:cs typeface="Arial MT"/>
              </a:rPr>
              <a:t> </a:t>
            </a:r>
            <a:r>
              <a:rPr kumimoji="0" sz="2400" b="0" i="0" u="none" strike="noStrike" kern="0" cap="none" spc="0" normalizeH="0" baseline="0" noProof="0" dirty="0">
                <a:ln>
                  <a:noFill/>
                </a:ln>
                <a:solidFill>
                  <a:sysClr val="windowText" lastClr="000000"/>
                </a:solidFill>
                <a:effectLst/>
                <a:uLnTx/>
                <a:uFillTx/>
                <a:latin typeface="Arial MT"/>
                <a:cs typeface="Arial MT"/>
              </a:rPr>
              <a:t>too</a:t>
            </a:r>
            <a:r>
              <a:rPr kumimoji="0" sz="2400" b="0" i="0" u="none" strike="noStrike" kern="0" cap="none" spc="-55" normalizeH="0" baseline="0" noProof="0" dirty="0">
                <a:ln>
                  <a:noFill/>
                </a:ln>
                <a:solidFill>
                  <a:sysClr val="windowText" lastClr="000000"/>
                </a:solidFill>
                <a:effectLst/>
                <a:uLnTx/>
                <a:uFillTx/>
                <a:latin typeface="Arial MT"/>
                <a:cs typeface="Arial MT"/>
              </a:rPr>
              <a:t> </a:t>
            </a:r>
            <a:r>
              <a:rPr kumimoji="0" sz="2400" b="0" i="0" u="none" strike="noStrike" kern="0" cap="none" spc="-10" normalizeH="0" baseline="0" noProof="0" dirty="0">
                <a:ln>
                  <a:noFill/>
                </a:ln>
                <a:solidFill>
                  <a:sysClr val="windowText" lastClr="000000"/>
                </a:solidFill>
                <a:effectLst/>
                <a:uLnTx/>
                <a:uFillTx/>
                <a:latin typeface="Arial MT"/>
                <a:cs typeface="Arial MT"/>
              </a:rPr>
              <a:t>small.</a:t>
            </a:r>
            <a:endParaRPr kumimoji="0" sz="2400" b="0" i="0" u="none" strike="noStrike" kern="0" cap="none" spc="0" normalizeH="0" baseline="0" noProof="0">
              <a:ln>
                <a:noFill/>
              </a:ln>
              <a:solidFill>
                <a:sysClr val="windowText" lastClr="000000"/>
              </a:solidFill>
              <a:effectLst/>
              <a:uLnTx/>
              <a:uFillTx/>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155</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705600"/>
            <a:chOff x="0" y="0"/>
            <a:chExt cx="9144000" cy="6705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 name="object 6"/>
            <p:cNvPicPr/>
            <p:nvPr/>
          </p:nvPicPr>
          <p:blipFill>
            <a:blip r:embed="rId2" cstate="print"/>
            <a:stretch>
              <a:fillRect/>
            </a:stretch>
          </p:blipFill>
          <p:spPr>
            <a:xfrm>
              <a:off x="6629400" y="0"/>
              <a:ext cx="2193163" cy="692658"/>
            </a:xfrm>
            <a:prstGeom prst="rect">
              <a:avLst/>
            </a:prstGeom>
          </p:spPr>
        </p:pic>
        <p:sp>
          <p:nvSpPr>
            <p:cNvPr id="7" name="object 7"/>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3" name="object 13"/>
            <p:cNvPicPr/>
            <p:nvPr/>
          </p:nvPicPr>
          <p:blipFill>
            <a:blip r:embed="rId3" cstate="print"/>
            <a:stretch>
              <a:fillRect/>
            </a:stretch>
          </p:blipFill>
          <p:spPr>
            <a:xfrm>
              <a:off x="228600" y="0"/>
              <a:ext cx="6814566" cy="6705600"/>
            </a:xfrm>
            <a:prstGeom prst="rect">
              <a:avLst/>
            </a:prstGeom>
          </p:spPr>
        </p:pic>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156</a:t>
            </a:fld>
            <a:endParaRPr kumimoji="0" sz="1200" b="0" i="0" u="none" strike="noStrike" kern="0" cap="none" spc="-25" normalizeH="0" baseline="0" noProof="0" dirty="0">
              <a:ln>
                <a:noFill/>
              </a:ln>
              <a:solidFill>
                <a:srgbClr val="888888"/>
              </a:solidFill>
              <a:effectLst/>
              <a:uLnTx/>
              <a:uFillTx/>
              <a:latin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34630" cy="3537585"/>
          </a:xfrm>
          <a:prstGeom prst="rect">
            <a:avLst/>
          </a:prstGeom>
        </p:spPr>
        <p:txBody>
          <a:bodyPr vert="horz" wrap="square" lIns="0" tIns="12700" rIns="0" bIns="0" rtlCol="0">
            <a:spAutoFit/>
          </a:bodyPr>
          <a:lstStyle/>
          <a:p>
            <a:pPr marL="355600" marR="5080" lvl="0" indent="-342900" defTabSz="914400" eaLnBrk="1" fontAlgn="auto" latinLnBrk="0" hangingPunct="1">
              <a:lnSpc>
                <a:spcPct val="100000"/>
              </a:lnSpc>
              <a:spcBef>
                <a:spcPts val="10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deciding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when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important</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ensure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drop</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measured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level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momentary fading.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664845"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Information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about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vehicle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useful</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handoff decisions.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238125"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Dwell</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over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may be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maintained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within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without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handoff.</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585470" lvl="0" indent="-342900" defTabSz="914400" eaLnBrk="1" fontAlgn="auto" latinLnBrk="0" hangingPunct="1">
              <a:lnSpc>
                <a:spcPct val="100000"/>
              </a:lnSpc>
              <a:spcBef>
                <a:spcPts val="58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statistics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dwell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 are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important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practical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design</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algorithm.</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157</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847330" cy="2000885"/>
          </a:xfrm>
          <a:prstGeom prst="rect">
            <a:avLst/>
          </a:prstGeom>
        </p:spPr>
        <p:txBody>
          <a:bodyPr vert="horz" wrap="square" lIns="0" tIns="12700" rIns="0" bIns="0" rtlCol="0">
            <a:spAutoFit/>
          </a:bodyPr>
          <a:lstStyle/>
          <a:p>
            <a:pPr marL="355600" marR="5080" lvl="0" indent="-342900" defTabSz="914400" eaLnBrk="1" fontAlgn="auto" latinLnBrk="0" hangingPunct="1">
              <a:lnSpc>
                <a:spcPct val="100000"/>
              </a:lnSpc>
              <a:spcBef>
                <a:spcPts val="10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first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generation</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analog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locator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receiver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handoff.</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5600" marR="353060" lvl="0" indent="-342900"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second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generation</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decisions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mobile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assisted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assisted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(MAHO).</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4965" marR="0" lvl="0" indent="-342265" defTabSz="914400" eaLnBrk="1" fontAlgn="auto" latinLnBrk="0" hangingPunct="1">
              <a:lnSpc>
                <a:spcPct val="100000"/>
              </a:lnSpc>
              <a:spcBef>
                <a:spcPts val="575"/>
              </a:spcBef>
              <a:spcAft>
                <a:spcPts val="0"/>
              </a:spcAft>
              <a:buClr>
                <a:srgbClr val="0F1141"/>
              </a:buClr>
              <a:buSzTx/>
              <a:buFont typeface="Arial MT"/>
              <a:buChar char="•"/>
              <a:tabLst>
                <a:tab pos="3549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Intersystem</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–different</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–roamer.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158</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73390" cy="1927860"/>
          </a:xfrm>
          <a:prstGeom prst="rect">
            <a:avLst/>
          </a:prstGeom>
        </p:spPr>
        <p:txBody>
          <a:bodyPr vert="horz" wrap="square" lIns="0" tIns="12700" rIns="0" bIns="0" rtlCol="0">
            <a:spAutoFit/>
          </a:bodyPr>
          <a:lstStyle/>
          <a:p>
            <a:pPr marL="353060" marR="5715" lvl="0" indent="-340360" algn="just" defTabSz="914400" eaLnBrk="1" fontAlgn="auto" latinLnBrk="0" hangingPunct="1">
              <a:lnSpc>
                <a:spcPct val="100000"/>
              </a:lnSpc>
              <a:spcBef>
                <a:spcPts val="10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Guard</a:t>
            </a:r>
            <a:r>
              <a:rPr kumimoji="0" sz="2400" b="0" i="0" u="none" strike="noStrike" kern="0" cap="none" spc="4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concept</a:t>
            </a:r>
            <a:r>
              <a:rPr kumimoji="0" sz="2400" b="0" i="0" u="none" strike="noStrike" kern="0" cap="none" spc="4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4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4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459"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a:t>
            </a:r>
            <a:r>
              <a:rPr kumimoji="0" sz="2400" b="0" i="0" u="none" strike="noStrike" kern="0" cap="none" spc="4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dynamic</a:t>
            </a:r>
            <a:r>
              <a:rPr kumimoji="0" sz="2400" b="0" i="0" u="none" strike="noStrike" kern="0" cap="none" spc="4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assignment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strategies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spectrum</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utilization.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53060" marR="5080" lvl="0" indent="-340360" algn="just" defTabSz="914400" eaLnBrk="1" fontAlgn="auto" latinLnBrk="0" hangingPunct="1">
              <a:lnSpc>
                <a:spcPct val="100000"/>
              </a:lnSpc>
              <a:spcBef>
                <a:spcPts val="575"/>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Queuing</a:t>
            </a:r>
            <a:r>
              <a:rPr kumimoji="0" sz="2400" b="0" i="0" u="none" strike="noStrike" kern="0" cap="none" spc="3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3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–possible</a:t>
            </a:r>
            <a:r>
              <a:rPr kumimoji="0" sz="2400" b="0" i="0" u="none" strike="noStrike" kern="0" cap="none" spc="4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due</a:t>
            </a:r>
            <a:r>
              <a:rPr kumimoji="0" sz="2400" b="0" i="0" u="none" strike="noStrike" kern="0" cap="none" spc="3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3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fact</a:t>
            </a:r>
            <a:r>
              <a:rPr kumimoji="0" sz="2400" b="0" i="0" u="none" strike="noStrike" kern="0" cap="none" spc="3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there</a:t>
            </a:r>
            <a:r>
              <a:rPr kumimoji="0" sz="2400" b="0" i="0" u="none" strike="noStrike" kern="0" cap="none" spc="3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3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a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finite</a:t>
            </a:r>
            <a:r>
              <a:rPr kumimoji="0" sz="2400" b="0" i="0" u="none" strike="noStrike" kern="0" cap="none" spc="3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3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interval</a:t>
            </a:r>
            <a:r>
              <a:rPr kumimoji="0" sz="2400" b="0" i="0" u="none" strike="noStrike" kern="0" cap="none" spc="3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400" b="0" i="0" u="none" strike="noStrike" kern="0" cap="none" spc="3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3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threshold</a:t>
            </a:r>
            <a:r>
              <a:rPr kumimoji="0" sz="2400" b="0" i="0" u="none" strike="noStrike" kern="0" cap="none" spc="3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3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3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call-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terminated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time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159</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419414" rIns="0" bIns="0" rtlCol="0">
            <a:spAutoFit/>
          </a:bodyPr>
          <a:lstStyle/>
          <a:p>
            <a:pPr marL="12700">
              <a:lnSpc>
                <a:spcPct val="100000"/>
              </a:lnSpc>
              <a:spcBef>
                <a:spcPts val="100"/>
              </a:spcBef>
            </a:pPr>
            <a:r>
              <a:rPr spc="-155" dirty="0"/>
              <a:t>Prioritizing</a:t>
            </a:r>
            <a:r>
              <a:rPr spc="-140" dirty="0"/>
              <a:t> </a:t>
            </a:r>
            <a:r>
              <a:rPr spc="-130" dirty="0"/>
              <a:t>Handoffs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73390" cy="1123315"/>
          </a:xfrm>
          <a:prstGeom prst="rect">
            <a:avLst/>
          </a:prstGeom>
        </p:spPr>
        <p:txBody>
          <a:bodyPr vert="horz" wrap="square" lIns="0" tIns="12700" rIns="0" bIns="0" rtlCol="0">
            <a:spAutoFit/>
          </a:bodyPr>
          <a:lstStyle/>
          <a:p>
            <a:pPr marL="353060" marR="5080" lvl="0" indent="-340360" algn="just" defTabSz="914400" eaLnBrk="1" fontAlgn="auto" latinLnBrk="0" hangingPunct="1">
              <a:lnSpc>
                <a:spcPct val="100000"/>
              </a:lnSpc>
              <a:spcBef>
                <a:spcPts val="100"/>
              </a:spcBef>
              <a:spcAft>
                <a:spcPts val="0"/>
              </a:spcAft>
              <a:buClr>
                <a:srgbClr val="0F1141"/>
              </a:buClr>
              <a:buSzTx/>
              <a:buFont typeface="Arial MT"/>
              <a:buChar char="•"/>
              <a:tabLst>
                <a:tab pos="35560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Several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schemes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have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been</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devised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handle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simultaneous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high</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low</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users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minimizing</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intervention</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MSC</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160</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xfrm>
            <a:off x="383540" y="150367"/>
            <a:ext cx="3474085" cy="1031875"/>
          </a:xfrm>
          <a:prstGeom prst="rect">
            <a:avLst/>
          </a:prstGeom>
        </p:spPr>
        <p:txBody>
          <a:bodyPr vert="horz" wrap="square" lIns="0" tIns="104139" rIns="0" bIns="0" rtlCol="0">
            <a:spAutoFit/>
          </a:bodyPr>
          <a:lstStyle/>
          <a:p>
            <a:pPr marL="12700" marR="5080">
              <a:lnSpc>
                <a:spcPts val="3600"/>
              </a:lnSpc>
              <a:spcBef>
                <a:spcPts val="819"/>
              </a:spcBef>
            </a:pPr>
            <a:r>
              <a:rPr spc="-150" dirty="0"/>
              <a:t>Practical</a:t>
            </a:r>
            <a:r>
              <a:rPr spc="-195" dirty="0"/>
              <a:t> </a:t>
            </a:r>
            <a:r>
              <a:rPr spc="-140" dirty="0"/>
              <a:t>Handoff </a:t>
            </a:r>
            <a:r>
              <a:rPr spc="-85" dirty="0"/>
              <a:t>Considerations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08861" y="1894585"/>
            <a:ext cx="497205" cy="245745"/>
          </a:xfrm>
          <a:custGeom>
            <a:avLst/>
            <a:gdLst/>
            <a:ahLst/>
            <a:cxnLst/>
            <a:rect l="l" t="t" r="r" b="b"/>
            <a:pathLst>
              <a:path w="497205" h="245744">
                <a:moveTo>
                  <a:pt x="497077" y="0"/>
                </a:moveTo>
                <a:lnTo>
                  <a:pt x="163322" y="0"/>
                </a:lnTo>
                <a:lnTo>
                  <a:pt x="163322" y="380"/>
                </a:lnTo>
                <a:lnTo>
                  <a:pt x="146050" y="380"/>
                </a:lnTo>
                <a:lnTo>
                  <a:pt x="84709" y="212471"/>
                </a:lnTo>
                <a:lnTo>
                  <a:pt x="40766" y="116077"/>
                </a:lnTo>
                <a:lnTo>
                  <a:pt x="0" y="134747"/>
                </a:lnTo>
                <a:lnTo>
                  <a:pt x="3937" y="144017"/>
                </a:lnTo>
                <a:lnTo>
                  <a:pt x="24891" y="134747"/>
                </a:lnTo>
                <a:lnTo>
                  <a:pt x="76326" y="245363"/>
                </a:lnTo>
                <a:lnTo>
                  <a:pt x="88391" y="245363"/>
                </a:lnTo>
                <a:lnTo>
                  <a:pt x="155194" y="16890"/>
                </a:lnTo>
                <a:lnTo>
                  <a:pt x="497077" y="16763"/>
                </a:lnTo>
                <a:lnTo>
                  <a:pt x="497077"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txBox="1"/>
          <p:nvPr/>
        </p:nvSpPr>
        <p:spPr>
          <a:xfrm>
            <a:off x="345440" y="1489684"/>
            <a:ext cx="8460105" cy="3254375"/>
          </a:xfrm>
          <a:prstGeom prst="rect">
            <a:avLst/>
          </a:prstGeom>
        </p:spPr>
        <p:txBody>
          <a:bodyPr vert="horz" wrap="square" lIns="0" tIns="41275" rIns="0" bIns="0" rtlCol="0">
            <a:spAutoFit/>
          </a:bodyPr>
          <a:lstStyle/>
          <a:p>
            <a:pPr marL="431165" marR="0" lvl="1" indent="-380365" defTabSz="914400" eaLnBrk="1" fontAlgn="auto" latinLnBrk="0" hangingPunct="1">
              <a:lnSpc>
                <a:spcPct val="100000"/>
              </a:lnSpc>
              <a:spcBef>
                <a:spcPts val="325"/>
              </a:spcBef>
              <a:spcAft>
                <a:spcPts val="0"/>
              </a:spcAft>
              <a:buClrTx/>
              <a:buSzTx/>
              <a:buFontTx/>
              <a:buAutoNum type="arabicPeriod"/>
              <a:tabLst>
                <a:tab pos="431165"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Prove</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hexagonal</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geometry,</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by</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93700" marR="0" lvl="0" indent="0" defTabSz="914400" eaLnBrk="1" fontAlgn="auto" latinLnBrk="0" hangingPunct="1">
              <a:lnSpc>
                <a:spcPct val="100000"/>
              </a:lnSpc>
              <a:spcBef>
                <a:spcPts val="229"/>
              </a:spcBef>
              <a:spcAft>
                <a:spcPts val="0"/>
              </a:spcAft>
              <a:buClrTx/>
              <a:buSzTx/>
              <a:buFontTx/>
              <a:buNone/>
              <a:tabLst>
                <a:tab pos="1126490" algn="l"/>
              </a:tabLst>
              <a:defRPr/>
            </a:pPr>
            <a:r>
              <a:rPr kumimoji="0" sz="2000" b="0" i="0" u="none" strike="noStrike" kern="0" cap="none" spc="0" normalizeH="0" baseline="0" noProof="0" dirty="0">
                <a:ln>
                  <a:noFill/>
                </a:ln>
                <a:solidFill>
                  <a:sysClr val="windowText" lastClr="000000"/>
                </a:solidFill>
                <a:effectLst/>
                <a:uLnTx/>
                <a:uFillTx/>
                <a:latin typeface="Cambria Math"/>
                <a:cs typeface="Cambria Math"/>
              </a:rPr>
              <a:t>𝑄</a:t>
            </a:r>
            <a:r>
              <a:rPr kumimoji="0" sz="2000" b="0" i="0" u="none" strike="noStrike" kern="0" cap="none" spc="170" normalizeH="0" baseline="0" noProof="0" dirty="0">
                <a:ln>
                  <a:noFill/>
                </a:ln>
                <a:solidFill>
                  <a:sysClr val="windowText" lastClr="000000"/>
                </a:solidFill>
                <a:effectLst/>
                <a:uLnTx/>
                <a:uFillTx/>
                <a:latin typeface="Cambria Math"/>
                <a:cs typeface="Cambria Math"/>
              </a:rPr>
              <a:t> </a:t>
            </a:r>
            <a:r>
              <a:rPr kumimoji="0" sz="2000" b="0" i="0" u="none" strike="noStrike" kern="0" cap="none" spc="-50" normalizeH="0" baseline="0" noProof="0" dirty="0">
                <a:ln>
                  <a:noFill/>
                </a:ln>
                <a:solidFill>
                  <a:sysClr val="windowText" lastClr="000000"/>
                </a:solidFill>
                <a:effectLst/>
                <a:uLnTx/>
                <a:uFillTx/>
                <a:latin typeface="Cambria Math"/>
                <a:cs typeface="Cambria Math"/>
              </a:rPr>
              <a:t>=</a:t>
            </a:r>
            <a:r>
              <a:rPr kumimoji="0" sz="2000" b="0" i="0" u="none" strike="noStrike" kern="0" cap="none" spc="0" normalizeH="0" baseline="0" noProof="0" dirty="0">
                <a:ln>
                  <a:noFill/>
                </a:ln>
                <a:solidFill>
                  <a:sysClr val="windowText" lastClr="000000"/>
                </a:solidFill>
                <a:effectLst/>
                <a:uLnTx/>
                <a:uFillTx/>
                <a:latin typeface="Cambria Math"/>
                <a:cs typeface="Cambria Math"/>
              </a:rPr>
              <a:t>	3𝑁</a:t>
            </a:r>
            <a:r>
              <a:rPr kumimoji="0" sz="2000" b="0" i="0" u="none" strike="noStrike" kern="0" cap="none" spc="110" normalizeH="0" baseline="0" noProof="0" dirty="0">
                <a:ln>
                  <a:noFill/>
                </a:ln>
                <a:solidFill>
                  <a:sysClr val="windowText" lastClr="000000"/>
                </a:solidFill>
                <a:effectLst/>
                <a:uLnTx/>
                <a:uFillTx/>
                <a:latin typeface="Cambria Math"/>
                <a:cs typeface="Cambria Math"/>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Cambria Math"/>
                <a:cs typeface="Cambria Math"/>
              </a:rPr>
              <a:t>𝑁</a:t>
            </a:r>
            <a:r>
              <a:rPr kumimoji="0" sz="2000" b="0" i="0" u="none" strike="noStrike" kern="0" cap="none" spc="150" normalizeH="0" baseline="0" noProof="0" dirty="0">
                <a:ln>
                  <a:noFill/>
                </a:ln>
                <a:solidFill>
                  <a:sysClr val="windowText" lastClr="000000"/>
                </a:solidFill>
                <a:effectLst/>
                <a:uLnTx/>
                <a:uFillTx/>
                <a:latin typeface="Cambria Math"/>
                <a:cs typeface="Cambria Math"/>
              </a:rPr>
              <a:t> </a:t>
            </a:r>
            <a:r>
              <a:rPr kumimoji="0" sz="2000" b="0" i="0" u="none" strike="noStrike" kern="0" cap="none" spc="0" normalizeH="0" baseline="0" noProof="0" dirty="0">
                <a:ln>
                  <a:noFill/>
                </a:ln>
                <a:solidFill>
                  <a:sysClr val="windowText" lastClr="000000"/>
                </a:solidFill>
                <a:effectLst/>
                <a:uLnTx/>
                <a:uFillTx/>
                <a:latin typeface="Cambria Math"/>
                <a:cs typeface="Cambria Math"/>
              </a:rPr>
              <a:t>=</a:t>
            </a:r>
            <a:r>
              <a:rPr kumimoji="0" sz="2000" b="0" i="0" u="none" strike="noStrike" kern="0" cap="none" spc="105" normalizeH="0" baseline="0" noProof="0" dirty="0">
                <a:ln>
                  <a:noFill/>
                </a:ln>
                <a:solidFill>
                  <a:sysClr val="windowText" lastClr="000000"/>
                </a:solidFill>
                <a:effectLst/>
                <a:uLnTx/>
                <a:uFillTx/>
                <a:latin typeface="Cambria Math"/>
                <a:cs typeface="Cambria Math"/>
              </a:rPr>
              <a:t> </a:t>
            </a:r>
            <a:r>
              <a:rPr kumimoji="0" sz="2000" b="0" i="0" u="none" strike="noStrike" kern="0" cap="none" spc="60" normalizeH="0" baseline="0" noProof="0" dirty="0">
                <a:ln>
                  <a:noFill/>
                </a:ln>
                <a:solidFill>
                  <a:sysClr val="windowText" lastClr="000000"/>
                </a:solidFill>
                <a:effectLst/>
                <a:uLnTx/>
                <a:uFillTx/>
                <a:latin typeface="Cambria Math"/>
                <a:cs typeface="Cambria Math"/>
              </a:rPr>
              <a:t>𝑖</a:t>
            </a:r>
            <a:r>
              <a:rPr kumimoji="0" sz="2175" b="0" i="0" u="none" strike="noStrike" kern="0" cap="none" spc="89" normalizeH="0" baseline="28735" noProof="0" dirty="0">
                <a:ln>
                  <a:noFill/>
                </a:ln>
                <a:solidFill>
                  <a:sysClr val="windowText" lastClr="000000"/>
                </a:solidFill>
                <a:effectLst/>
                <a:uLnTx/>
                <a:uFillTx/>
                <a:latin typeface="Cambria Math"/>
                <a:cs typeface="Cambria Math"/>
              </a:rPr>
              <a:t>2</a:t>
            </a:r>
            <a:r>
              <a:rPr kumimoji="0" sz="2175" b="0" i="0" u="none" strike="noStrike" kern="0" cap="none" spc="337" normalizeH="0" baseline="28735" noProof="0" dirty="0">
                <a:ln>
                  <a:noFill/>
                </a:ln>
                <a:solidFill>
                  <a:sysClr val="windowText" lastClr="000000"/>
                </a:solidFill>
                <a:effectLst/>
                <a:uLnTx/>
                <a:uFillTx/>
                <a:latin typeface="Cambria Math"/>
                <a:cs typeface="Cambria Math"/>
              </a:rPr>
              <a:t> </a:t>
            </a:r>
            <a:r>
              <a:rPr kumimoji="0" sz="2000" b="0" i="0" u="none" strike="noStrike" kern="0" cap="none" spc="0" normalizeH="0" baseline="0" noProof="0" dirty="0">
                <a:ln>
                  <a:noFill/>
                </a:ln>
                <a:solidFill>
                  <a:sysClr val="windowText" lastClr="000000"/>
                </a:solidFill>
                <a:effectLst/>
                <a:uLnTx/>
                <a:uFillTx/>
                <a:latin typeface="Cambria Math"/>
                <a:cs typeface="Cambria Math"/>
              </a:rPr>
              <a:t>+ 𝑖𝑗</a:t>
            </a:r>
            <a:r>
              <a:rPr kumimoji="0" sz="2000" b="0" i="0" u="none" strike="noStrike" kern="0" cap="none" spc="35" normalizeH="0" baseline="0" noProof="0" dirty="0">
                <a:ln>
                  <a:noFill/>
                </a:ln>
                <a:solidFill>
                  <a:sysClr val="windowText" lastClr="000000"/>
                </a:solidFill>
                <a:effectLst/>
                <a:uLnTx/>
                <a:uFillTx/>
                <a:latin typeface="Cambria Math"/>
                <a:cs typeface="Cambria Math"/>
              </a:rPr>
              <a:t> </a:t>
            </a:r>
            <a:r>
              <a:rPr kumimoji="0" sz="2000" b="0" i="0" u="none" strike="noStrike" kern="0" cap="none" spc="0" normalizeH="0" baseline="0" noProof="0" dirty="0">
                <a:ln>
                  <a:noFill/>
                </a:ln>
                <a:solidFill>
                  <a:sysClr val="windowText" lastClr="000000"/>
                </a:solidFill>
                <a:effectLst/>
                <a:uLnTx/>
                <a:uFillTx/>
                <a:latin typeface="Cambria Math"/>
                <a:cs typeface="Cambria Math"/>
              </a:rPr>
              <a:t>+ </a:t>
            </a:r>
            <a:r>
              <a:rPr kumimoji="0" sz="2000" b="0" i="0" u="none" strike="noStrike" kern="0" cap="none" spc="70" normalizeH="0" baseline="0" noProof="0" dirty="0">
                <a:ln>
                  <a:noFill/>
                </a:ln>
                <a:solidFill>
                  <a:sysClr val="windowText" lastClr="000000"/>
                </a:solidFill>
                <a:effectLst/>
                <a:uLnTx/>
                <a:uFillTx/>
                <a:latin typeface="Cambria Math"/>
                <a:cs typeface="Cambria Math"/>
              </a:rPr>
              <a:t>𝑗</a:t>
            </a:r>
            <a:r>
              <a:rPr kumimoji="0" sz="2175" b="0" i="0" u="none" strike="noStrike" kern="0" cap="none" spc="104" normalizeH="0" baseline="28735" noProof="0" dirty="0">
                <a:ln>
                  <a:noFill/>
                </a:ln>
                <a:solidFill>
                  <a:sysClr val="windowText" lastClr="000000"/>
                </a:solidFill>
                <a:effectLst/>
                <a:uLnTx/>
                <a:uFillTx/>
                <a:latin typeface="Cambria Math"/>
                <a:cs typeface="Cambria Math"/>
              </a:rPr>
              <a:t>2</a:t>
            </a:r>
            <a:r>
              <a:rPr kumimoji="0" sz="2000" b="0" i="1" u="none" strike="noStrike" kern="0" cap="none" spc="70" normalizeH="0" baseline="0" noProof="0" dirty="0">
                <a:ln>
                  <a:noFill/>
                </a:ln>
                <a:solidFill>
                  <a:sysClr val="windowText" lastClr="000000"/>
                </a:solidFill>
                <a:effectLst/>
                <a:uLnTx/>
                <a:uFillTx/>
                <a:latin typeface="Times New Roman"/>
                <a:cs typeface="Times New Roman"/>
              </a:rPr>
              <a:t>.</a:t>
            </a:r>
            <a:r>
              <a:rPr kumimoji="0" sz="20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Hint:</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cosine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law</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the</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93700" marR="0" lvl="0" indent="0" defTabSz="914400" eaLnBrk="1" fontAlgn="auto" latinLnBrk="0" hangingPunct="1">
              <a:lnSpc>
                <a:spcPct val="100000"/>
              </a:lnSpc>
              <a:spcBef>
                <a:spcPts val="0"/>
              </a:spcBef>
              <a:spcAft>
                <a:spcPts val="0"/>
              </a:spcAft>
              <a:buClrTx/>
              <a:buSzTx/>
              <a:buFontTx/>
              <a:buNone/>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hexagonal</a:t>
            </a:r>
            <a:r>
              <a:rPr kumimoji="0" sz="20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geometry.</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1060"/>
              </a:spcBef>
              <a:spcAft>
                <a:spcPts val="0"/>
              </a:spcAft>
              <a:buClrTx/>
              <a:buSzTx/>
              <a:buFontTx/>
              <a:buNone/>
              <a:tabLst/>
              <a:defRPr/>
            </a:pP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93700" marR="17780" lvl="1" indent="-342900" defTabSz="914400" eaLnBrk="1" fontAlgn="auto" latinLnBrk="0" hangingPunct="1">
              <a:lnSpc>
                <a:spcPct val="100000"/>
              </a:lnSpc>
              <a:spcBef>
                <a:spcPts val="0"/>
              </a:spcBef>
              <a:spcAft>
                <a:spcPts val="0"/>
              </a:spcAft>
              <a:buClrTx/>
              <a:buSzTx/>
              <a:buFontTx/>
              <a:buAutoNum type="arabicPeriod" startAt="2"/>
              <a:tabLst>
                <a:tab pos="393700" algn="l"/>
                <a:tab pos="431165"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	If</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two independent</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voltage</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v1(t)</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v2(t),</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added</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together</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to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provide</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 new</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resulting</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signal,</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prove</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under</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certain</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conditions</a:t>
            </a:r>
            <a:r>
              <a:rPr kumimoji="0" sz="20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resulting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signal</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has</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power</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93700" marR="217804" lvl="0" indent="0" defTabSz="914400" eaLnBrk="1" fontAlgn="auto" latinLnBrk="0" hangingPunct="1">
              <a:lnSpc>
                <a:spcPct val="100000"/>
              </a:lnSpc>
              <a:spcBef>
                <a:spcPts val="5"/>
              </a:spcBef>
              <a:spcAft>
                <a:spcPts val="0"/>
              </a:spcAft>
              <a:buClrTx/>
              <a:buSzTx/>
              <a:buFontTx/>
              <a:buNone/>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sum</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individual</a:t>
            </a:r>
            <a:r>
              <a:rPr kumimoji="0" sz="20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powers.</a:t>
            </a:r>
            <a:r>
              <a:rPr kumimoji="0" sz="20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What</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these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conditions?</a:t>
            </a:r>
            <a:r>
              <a:rPr kumimoji="0" sz="20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What</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special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conditions</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must apply</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result</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be valid</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when</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are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uncorrelated?</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161</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4" name="object 4"/>
          <p:cNvSpPr txBox="1">
            <a:spLocks noGrp="1"/>
          </p:cNvSpPr>
          <p:nvPr>
            <p:ph type="title"/>
          </p:nvPr>
        </p:nvSpPr>
        <p:spPr>
          <a:xfrm>
            <a:off x="2068448" y="378917"/>
            <a:ext cx="2817495" cy="574675"/>
          </a:xfrm>
          <a:prstGeom prst="rect">
            <a:avLst/>
          </a:prstGeom>
        </p:spPr>
        <p:txBody>
          <a:bodyPr vert="horz" wrap="square" lIns="0" tIns="12700" rIns="0" bIns="0" rtlCol="0">
            <a:spAutoFit/>
          </a:bodyPr>
          <a:lstStyle/>
          <a:p>
            <a:pPr marL="12700">
              <a:lnSpc>
                <a:spcPct val="100000"/>
              </a:lnSpc>
              <a:spcBef>
                <a:spcPts val="100"/>
              </a:spcBef>
            </a:pPr>
            <a:r>
              <a:rPr spc="-120" dirty="0"/>
              <a:t>HOME</a:t>
            </a:r>
            <a:r>
              <a:rPr spc="-285" dirty="0"/>
              <a:t> </a:t>
            </a:r>
            <a:r>
              <a:rPr spc="-110" dirty="0"/>
              <a:t>WORK</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9554"/>
            <a:ext cx="8074025" cy="2879090"/>
          </a:xfrm>
          <a:prstGeom prst="rect">
            <a:avLst/>
          </a:prstGeom>
        </p:spPr>
        <p:txBody>
          <a:bodyPr vert="horz" wrap="square" lIns="0" tIns="12700" rIns="0" bIns="0" rtlCol="0">
            <a:spAutoFit/>
          </a:bodyPr>
          <a:lstStyle/>
          <a:p>
            <a:pPr marL="355600" marR="5715" lvl="0" indent="-342900" algn="just" defTabSz="914400" eaLnBrk="1" fontAlgn="auto" latinLnBrk="0" hangingPunct="1">
              <a:lnSpc>
                <a:spcPct val="100000"/>
              </a:lnSpc>
              <a:spcBef>
                <a:spcPts val="100"/>
              </a:spcBef>
              <a:spcAft>
                <a:spcPts val="0"/>
              </a:spcAft>
              <a:buClrTx/>
              <a:buSzTx/>
              <a:buFontTx/>
              <a:buNone/>
              <a:tabLst>
                <a:tab pos="4391660" algn="l"/>
                <a:tab pos="7780020"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3.3</a:t>
            </a:r>
            <a:r>
              <a:rPr kumimoji="0" sz="18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Show</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18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18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18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18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factor</a:t>
            </a:r>
            <a:r>
              <a:rPr kumimoji="0" sz="18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18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18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18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18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18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1800" b="0" i="1" u="none" strike="noStrike" kern="0" cap="none" spc="0" normalizeH="0" baseline="0" noProof="0" dirty="0">
                <a:ln>
                  <a:noFill/>
                </a:ln>
                <a:solidFill>
                  <a:sysClr val="windowText" lastClr="000000"/>
                </a:solidFill>
                <a:effectLst/>
                <a:uLnTx/>
                <a:uFillTx/>
                <a:latin typeface="Times New Roman"/>
                <a:cs typeface="Times New Roman"/>
              </a:rPr>
              <a:t>k/S,</a:t>
            </a:r>
            <a:r>
              <a:rPr kumimoji="0" sz="1800" b="0" i="1" u="none" strike="noStrike" kern="0" cap="none" spc="8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18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1800" b="0" i="1" u="none" strike="noStrike" kern="0" cap="none" spc="-50" normalizeH="0" baseline="0" noProof="0" dirty="0">
                <a:ln>
                  <a:noFill/>
                </a:ln>
                <a:solidFill>
                  <a:sysClr val="windowText" lastClr="000000"/>
                </a:solidFill>
                <a:effectLst/>
                <a:uLnTx/>
                <a:uFillTx/>
                <a:latin typeface="Times New Roman"/>
                <a:cs typeface="Times New Roman"/>
              </a:rPr>
              <a:t>k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18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1800" b="0" i="0" u="none" strike="noStrike" kern="0" cap="none" spc="204"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average</a:t>
            </a:r>
            <a:r>
              <a:rPr kumimoji="0" sz="18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18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18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18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per</a:t>
            </a:r>
            <a:r>
              <a:rPr kumimoji="0" sz="18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18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18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180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1800" b="0" i="1" u="none" strike="noStrike" kern="0" cap="none" spc="19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18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18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total</a:t>
            </a:r>
            <a:r>
              <a:rPr kumimoji="0" sz="18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1800" b="0" i="0" u="none" strike="noStrike" kern="0" cap="none" spc="204"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18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channels available</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to</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service</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provider.</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955"/>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55600" marR="5080" lvl="0" indent="-342900" algn="just"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3.5</a:t>
            </a:r>
            <a:r>
              <a:rPr kumimoji="0" sz="1800" b="0" i="0" u="none" strike="noStrike" kern="0" cap="none" spc="3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2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cellular</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service</a:t>
            </a:r>
            <a:r>
              <a:rPr kumimoji="0" sz="1800" b="0" i="0" u="none" strike="noStrike" kern="0" cap="none" spc="3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provider</a:t>
            </a:r>
            <a:r>
              <a:rPr kumimoji="0" sz="1800" b="0" i="0" u="none" strike="noStrike" kern="0" cap="none" spc="3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decides</a:t>
            </a:r>
            <a:r>
              <a:rPr kumimoji="0" sz="1800" b="0" i="0" u="none" strike="noStrike" kern="0" cap="none" spc="3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to</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use</a:t>
            </a:r>
            <a:r>
              <a:rPr kumimoji="0" sz="1800" b="0" i="0" u="none" strike="noStrike" kern="0" cap="none" spc="3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digital</a:t>
            </a:r>
            <a:r>
              <a:rPr kumimoji="0" sz="1800" b="0" i="0" u="none" strike="noStrike" kern="0" cap="none" spc="3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TDMA</a:t>
            </a:r>
            <a:r>
              <a:rPr kumimoji="0" sz="1800" b="0" i="0" u="none" strike="noStrike" kern="0" cap="none" spc="2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scheme</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which</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can </a:t>
            </a:r>
            <a:r>
              <a:rPr kumimoji="0" sz="1800" b="0" i="0" u="none" strike="noStrike" kern="0" cap="none" spc="0" normalizeH="0" baseline="0" noProof="0" dirty="0">
                <a:ln>
                  <a:noFill/>
                </a:ln>
                <a:solidFill>
                  <a:srgbClr val="221F1F"/>
                </a:solidFill>
                <a:effectLst/>
                <a:uLnTx/>
                <a:uFillTx/>
                <a:latin typeface="Times New Roman"/>
                <a:cs typeface="Times New Roman"/>
              </a:rPr>
              <a:t>tolerate</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21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signalto-</a:t>
            </a:r>
            <a:r>
              <a:rPr kumimoji="0" sz="1800" b="0" i="0" u="none" strike="noStrike" kern="0" cap="none" spc="0" normalizeH="0" baseline="0" noProof="0" dirty="0">
                <a:ln>
                  <a:noFill/>
                </a:ln>
                <a:solidFill>
                  <a:srgbClr val="221F1F"/>
                </a:solidFill>
                <a:effectLst/>
                <a:uLnTx/>
                <a:uFillTx/>
                <a:latin typeface="Times New Roman"/>
                <a:cs typeface="Times New Roman"/>
              </a:rPr>
              <a:t>interference</a:t>
            </a:r>
            <a:r>
              <a:rPr kumimoji="0" sz="1800" b="0" i="0" u="none" strike="noStrike" kern="0" cap="none" spc="2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ratio</a:t>
            </a:r>
            <a:r>
              <a:rPr kumimoji="0" sz="1800" b="0" i="0" u="none" strike="noStrike" kern="0" cap="none" spc="2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15</a:t>
            </a:r>
            <a:r>
              <a:rPr kumimoji="0" sz="1800" b="0" i="0" u="none" strike="noStrike" kern="0" cap="none" spc="20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dB</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worst</a:t>
            </a:r>
            <a:r>
              <a:rPr kumimoji="0" sz="1800" b="0" i="0" u="none" strike="noStrike" kern="0" cap="none" spc="20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case.</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Find</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15"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optimal </a:t>
            </a:r>
            <a:r>
              <a:rPr kumimoji="0" sz="1800" b="0" i="0" u="none" strike="noStrike" kern="0" cap="none" spc="0" normalizeH="0" baseline="0" noProof="0" dirty="0">
                <a:ln>
                  <a:noFill/>
                </a:ln>
                <a:solidFill>
                  <a:srgbClr val="221F1F"/>
                </a:solidFill>
                <a:effectLst/>
                <a:uLnTx/>
                <a:uFillTx/>
                <a:latin typeface="Times New Roman"/>
                <a:cs typeface="Times New Roman"/>
              </a:rPr>
              <a:t>value</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for</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omnidirectional</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antennas,</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(b)</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120°</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sectoring,</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60° </a:t>
            </a:r>
            <a:r>
              <a:rPr kumimoji="0" sz="1800" b="0" i="0" u="none" strike="noStrike" kern="0" cap="none" spc="0" normalizeH="0" baseline="0" noProof="0" dirty="0">
                <a:ln>
                  <a:noFill/>
                </a:ln>
                <a:solidFill>
                  <a:srgbClr val="221F1F"/>
                </a:solidFill>
                <a:effectLst/>
                <a:uLnTx/>
                <a:uFillTx/>
                <a:latin typeface="Times New Roman"/>
                <a:cs typeface="Times New Roman"/>
              </a:rPr>
              <a:t>sectoring.</a:t>
            </a:r>
            <a:r>
              <a:rPr kumimoji="0" sz="1800" b="0" i="0" u="none" strike="noStrike" kern="0" cap="none" spc="3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Should</a:t>
            </a:r>
            <a:r>
              <a:rPr kumimoji="0" sz="1800" b="0" i="0" u="none" strike="noStrike" kern="0" cap="none" spc="3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sectoring</a:t>
            </a:r>
            <a:r>
              <a:rPr kumimoji="0" sz="1800" b="0" i="0" u="none" strike="noStrike" kern="0" cap="none" spc="3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be</a:t>
            </a:r>
            <a:r>
              <a:rPr kumimoji="0" sz="1800" b="0" i="0" u="none" strike="noStrike" kern="0" cap="none" spc="3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used?</a:t>
            </a:r>
            <a:r>
              <a:rPr kumimoji="0" sz="1800" b="0" i="0" u="none" strike="noStrike" kern="0" cap="none" spc="3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If</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so,</a:t>
            </a:r>
            <a:r>
              <a:rPr kumimoji="0" sz="1800" b="0" i="0" u="none" strike="noStrike" kern="0" cap="none" spc="3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which</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case</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(60°</a:t>
            </a:r>
            <a:r>
              <a:rPr kumimoji="0" sz="1800" b="0" i="0" u="none" strike="noStrike" kern="0" cap="none" spc="3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or</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120°)</a:t>
            </a:r>
            <a:r>
              <a:rPr kumimoji="0" sz="1800" b="0" i="0" u="none" strike="noStrike" kern="0" cap="none" spc="3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should</a:t>
            </a:r>
            <a:r>
              <a:rPr kumimoji="0" sz="1800" b="0" i="0" u="none" strike="noStrike" kern="0" cap="none" spc="315"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be </a:t>
            </a:r>
            <a:r>
              <a:rPr kumimoji="0" sz="1800" b="0" i="0" u="none" strike="noStrike" kern="0" cap="none" spc="0" normalizeH="0" baseline="0" noProof="0" dirty="0">
                <a:ln>
                  <a:noFill/>
                </a:ln>
                <a:solidFill>
                  <a:srgbClr val="221F1F"/>
                </a:solidFill>
                <a:effectLst/>
                <a:uLnTx/>
                <a:uFillTx/>
                <a:latin typeface="Times New Roman"/>
                <a:cs typeface="Times New Roman"/>
              </a:rPr>
              <a:t>used?</a:t>
            </a:r>
            <a:r>
              <a:rPr kumimoji="0" sz="1800" b="0" i="0" u="none" strike="noStrike" kern="0" cap="none" spc="4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(Assume</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path</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loss</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exponent</a:t>
            </a:r>
            <a:r>
              <a:rPr kumimoji="0" sz="1800" b="0" i="0" u="none" strike="noStrike" kern="0" cap="none" spc="409"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=4</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consider</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trunking</a:t>
            </a:r>
            <a:r>
              <a:rPr kumimoji="0" sz="1800" b="0" i="0" u="none" strike="noStrike" kern="0" cap="none" spc="405"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efficiency.)</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162</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986154"/>
            <a:ext cx="8073390" cy="5293360"/>
          </a:xfrm>
          <a:prstGeom prst="rect">
            <a:avLst/>
          </a:prstGeom>
        </p:spPr>
        <p:txBody>
          <a:bodyPr vert="horz" wrap="square" lIns="0" tIns="12700" rIns="0" bIns="0" rtlCol="0">
            <a:spAutoFit/>
          </a:bodyPr>
          <a:lstStyle/>
          <a:p>
            <a:pPr marL="355600" marR="5080" lvl="0" indent="-342900" algn="just" defTabSz="914400" eaLnBrk="1" fontAlgn="auto" latinLnBrk="0" hangingPunct="1">
              <a:lnSpc>
                <a:spcPct val="100000"/>
              </a:lnSpc>
              <a:spcBef>
                <a:spcPts val="100"/>
              </a:spcBef>
              <a:spcAft>
                <a:spcPts val="0"/>
              </a:spcAft>
              <a:buClrTx/>
              <a:buSzTx/>
              <a:buFontTx/>
              <a:buNone/>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3.6</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You</a:t>
            </a:r>
            <a:r>
              <a:rPr kumimoji="0" sz="1800" b="0" i="0" u="none" strike="noStrike" kern="0" cap="none" spc="2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are</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asked</a:t>
            </a:r>
            <a:r>
              <a:rPr kumimoji="0" sz="1800" b="0" i="0" u="none" strike="noStrike" kern="0" cap="none" spc="3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to</a:t>
            </a:r>
            <a:r>
              <a:rPr kumimoji="0" sz="1800" b="0" i="0" u="none" strike="noStrike" kern="0" cap="none" spc="2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determine</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30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signal-to-</a:t>
            </a:r>
            <a:r>
              <a:rPr kumimoji="0" sz="1800" b="0" i="0" u="none" strike="noStrike" kern="0" cap="none" spc="0" normalizeH="0" baseline="0" noProof="0" dirty="0">
                <a:ln>
                  <a:noFill/>
                </a:ln>
                <a:solidFill>
                  <a:srgbClr val="221F1F"/>
                </a:solidFill>
                <a:effectLst/>
                <a:uLnTx/>
                <a:uFillTx/>
                <a:latin typeface="Times New Roman"/>
                <a:cs typeface="Times New Roman"/>
              </a:rPr>
              <a:t>interference</a:t>
            </a:r>
            <a:r>
              <a:rPr kumimoji="0" sz="1800" b="0" i="0" u="none" strike="noStrike" kern="0" cap="none" spc="3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ratio</a:t>
            </a:r>
            <a:r>
              <a:rPr kumimoji="0" sz="1800" b="0" i="0" u="none" strike="noStrike" kern="0" cap="none" spc="2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(SIR</a:t>
            </a:r>
            <a:r>
              <a:rPr kumimoji="0" sz="1800" b="0" i="0" u="none" strike="noStrike" kern="0" cap="none" spc="3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or</a:t>
            </a:r>
            <a:r>
              <a:rPr kumimoji="0" sz="1800" b="0" i="0" u="none" strike="noStrike" kern="0" cap="none" spc="3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C/1)</a:t>
            </a:r>
            <a:r>
              <a:rPr kumimoji="0" sz="1800" b="0" i="0" u="none" strike="noStrike" kern="0" cap="none" spc="3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on</a:t>
            </a:r>
            <a:r>
              <a:rPr kumimoji="0" sz="1800" b="0" i="0" u="none" strike="noStrike" kern="0" cap="none" spc="295"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the </a:t>
            </a:r>
            <a:r>
              <a:rPr kumimoji="0" sz="1800" b="0" i="0" u="none" strike="noStrike" kern="0" cap="none" spc="0" normalizeH="0" baseline="0" noProof="0" dirty="0">
                <a:ln>
                  <a:noFill/>
                </a:ln>
                <a:solidFill>
                  <a:srgbClr val="221F1F"/>
                </a:solidFill>
                <a:effectLst/>
                <a:uLnTx/>
                <a:uFillTx/>
                <a:latin typeface="Times New Roman"/>
                <a:cs typeface="Times New Roman"/>
              </a:rPr>
              <a:t>forward</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link</a:t>
            </a:r>
            <a:r>
              <a:rPr kumimoji="0" sz="1800" b="0" i="0" u="none" strike="noStrike" kern="0" cap="none" spc="1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cellular</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system,</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when</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mobile</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is</a:t>
            </a:r>
            <a:r>
              <a:rPr kumimoji="0" sz="1800" b="0" i="0" u="none" strike="noStrike" kern="0" cap="none" spc="1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located</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on</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fringe</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90"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its </a:t>
            </a:r>
            <a:r>
              <a:rPr kumimoji="0" sz="1800" b="0" i="0" u="none" strike="noStrike" kern="0" cap="none" spc="0" normalizeH="0" baseline="0" noProof="0" dirty="0">
                <a:ln>
                  <a:noFill/>
                </a:ln>
                <a:solidFill>
                  <a:srgbClr val="221F1F"/>
                </a:solidFill>
                <a:effectLst/>
                <a:uLnTx/>
                <a:uFillTx/>
                <a:latin typeface="Times New Roman"/>
                <a:cs typeface="Times New Roman"/>
              </a:rPr>
              <a:t>serving</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Assume</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all</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have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equal</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radii,</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base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stations</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have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equal </a:t>
            </a:r>
            <a:r>
              <a:rPr kumimoji="0" sz="1800" b="0" i="0" u="none" strike="noStrike" kern="0" cap="none" spc="0" normalizeH="0" baseline="0" noProof="0" dirty="0">
                <a:ln>
                  <a:noFill/>
                </a:ln>
                <a:solidFill>
                  <a:srgbClr val="221F1F"/>
                </a:solidFill>
                <a:effectLst/>
                <a:uLnTx/>
                <a:uFillTx/>
                <a:latin typeface="Times New Roman"/>
                <a:cs typeface="Times New Roman"/>
              </a:rPr>
              <a:t>power</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4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are</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located</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409"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centers</a:t>
            </a:r>
            <a:r>
              <a:rPr kumimoji="0" sz="1800" b="0" i="0" u="none" strike="noStrike" kern="0" cap="none" spc="409"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each</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Also</a:t>
            </a:r>
            <a:r>
              <a:rPr kumimoji="0" sz="1800" b="0" i="0" u="none" strike="noStrike" kern="0" cap="none" spc="4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assume</a:t>
            </a:r>
            <a:r>
              <a:rPr kumimoji="0" sz="1800" b="0" i="0" u="none" strike="noStrike" kern="0" cap="none" spc="409"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each</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cell </a:t>
            </a:r>
            <a:r>
              <a:rPr kumimoji="0" sz="1800" b="0" i="0" u="none" strike="noStrike" kern="0" cap="none" spc="0" normalizeH="0" baseline="0" noProof="0" dirty="0">
                <a:ln>
                  <a:noFill/>
                </a:ln>
                <a:solidFill>
                  <a:srgbClr val="221F1F"/>
                </a:solidFill>
                <a:effectLst/>
                <a:uLnTx/>
                <a:uFillTx/>
                <a:latin typeface="Times New Roman"/>
                <a:cs typeface="Times New Roman"/>
              </a:rPr>
              <a:t>transmits</a:t>
            </a:r>
            <a:r>
              <a:rPr kumimoji="0" sz="1800" b="0" i="0" u="none" strike="noStrike" kern="0" cap="none" spc="1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a:t>
            </a:r>
            <a:r>
              <a:rPr kumimoji="0" sz="1800" b="0" i="0" u="none" strike="noStrike" kern="0" cap="none" spc="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independent</a:t>
            </a:r>
            <a:r>
              <a:rPr kumimoji="0" sz="1800" b="0" i="0" u="none" strike="noStrike" kern="0" cap="none" spc="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signal,</a:t>
            </a:r>
            <a:r>
              <a:rPr kumimoji="0" sz="1800" b="0" i="0" u="none" strike="noStrike" kern="0" cap="none" spc="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such</a:t>
            </a:r>
            <a:r>
              <a:rPr kumimoji="0" sz="1800" b="0" i="0" u="none" strike="noStrike" kern="0" cap="none" spc="1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interfering</a:t>
            </a:r>
            <a:r>
              <a:rPr kumimoji="0" sz="1800" b="0" i="0" u="none" strike="noStrike" kern="0" cap="none" spc="1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signal</a:t>
            </a:r>
            <a:r>
              <a:rPr kumimoji="0" sz="1800" b="0" i="0" u="none" strike="noStrike" kern="0" cap="none" spc="1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powers</a:t>
            </a:r>
            <a:r>
              <a:rPr kumimoji="0" sz="1800" b="0" i="0" u="none" strike="noStrike" kern="0" cap="none" spc="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may</a:t>
            </a:r>
            <a:r>
              <a:rPr kumimoji="0" sz="1800" b="0" i="0" u="none" strike="noStrike" kern="0" cap="none" spc="1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be</a:t>
            </a:r>
            <a:r>
              <a:rPr kumimoji="0" sz="1800" b="0" i="0" u="none" strike="noStrike" kern="0" cap="none" spc="9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added. </a:t>
            </a:r>
            <a:r>
              <a:rPr kumimoji="0" sz="1800" b="0" i="0" u="none" strike="noStrike" kern="0" cap="none" spc="0" normalizeH="0" baseline="0" noProof="0" dirty="0">
                <a:ln>
                  <a:noFill/>
                </a:ln>
                <a:solidFill>
                  <a:srgbClr val="221F1F"/>
                </a:solidFill>
                <a:effectLst/>
                <a:uLnTx/>
                <a:uFillTx/>
                <a:latin typeface="Times New Roman"/>
                <a:cs typeface="Times New Roman"/>
              </a:rPr>
              <a:t>Let</a:t>
            </a:r>
            <a:r>
              <a:rPr kumimoji="0" sz="1800" b="0" i="0" u="none" strike="noStrike" kern="0" cap="none" spc="2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us</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define</a:t>
            </a:r>
            <a:r>
              <a:rPr kumimoji="0" sz="1800" b="0" i="0" u="none" strike="noStrike" kern="0" cap="none" spc="229"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a:t>
            </a:r>
            <a:r>
              <a:rPr kumimoji="0" sz="1800" b="0" i="0" u="none" strike="noStrike" kern="0" cap="none" spc="2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2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2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as</a:t>
            </a:r>
            <a:r>
              <a:rPr kumimoji="0" sz="1800" b="0" i="0" u="none" strike="noStrike" kern="0" cap="none" spc="20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being</a:t>
            </a:r>
            <a:r>
              <a:rPr kumimoji="0" sz="1800" b="0" i="0" u="none" strike="noStrike" kern="0" cap="none" spc="2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collection</a:t>
            </a:r>
            <a:r>
              <a:rPr kumimoji="0" sz="1800" b="0" i="0" u="none" strike="noStrike" kern="0" cap="none" spc="229"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204"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co-</a:t>
            </a:r>
            <a:r>
              <a:rPr kumimoji="0" sz="1800" b="0" i="0" u="none" strike="noStrike" kern="0" cap="none" spc="0" normalizeH="0" baseline="0" noProof="0" dirty="0">
                <a:ln>
                  <a:noFill/>
                </a:ln>
                <a:solidFill>
                  <a:srgbClr val="221F1F"/>
                </a:solidFill>
                <a:effectLst/>
                <a:uLnTx/>
                <a:uFillTx/>
                <a:latin typeface="Times New Roman"/>
                <a:cs typeface="Times New Roman"/>
              </a:rPr>
              <a:t>channel</a:t>
            </a:r>
            <a:r>
              <a:rPr kumimoji="0" sz="1800" b="0" i="0" u="none" strike="noStrike" kern="0" cap="none" spc="2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2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220"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are </a:t>
            </a:r>
            <a:r>
              <a:rPr kumimoji="0" sz="1800" b="0" i="0" u="none" strike="noStrike" kern="0" cap="none" spc="-10" normalizeH="0" baseline="0" noProof="0" dirty="0">
                <a:ln>
                  <a:noFill/>
                </a:ln>
                <a:solidFill>
                  <a:srgbClr val="221F1F"/>
                </a:solidFill>
                <a:effectLst/>
                <a:uLnTx/>
                <a:uFillTx/>
                <a:latin typeface="Times New Roman"/>
                <a:cs typeface="Times New Roman"/>
              </a:rPr>
              <a:t>more-</a:t>
            </a:r>
            <a:r>
              <a:rPr kumimoji="0" sz="1800" b="0" i="0" u="none" strike="noStrike" kern="0" cap="none" spc="-30" normalizeH="0" baseline="0" noProof="0" dirty="0">
                <a:ln>
                  <a:noFill/>
                </a:ln>
                <a:solidFill>
                  <a:srgbClr val="221F1F"/>
                </a:solidFill>
                <a:effectLst/>
                <a:uLnTx/>
                <a:uFillTx/>
                <a:latin typeface="Times New Roman"/>
                <a:cs typeface="Times New Roman"/>
              </a:rPr>
              <a:t>or-</a:t>
            </a:r>
            <a:r>
              <a:rPr kumimoji="0" sz="1800" b="0" i="0" u="none" strike="noStrike" kern="0" cap="none" spc="0" normalizeH="0" baseline="0" noProof="0" dirty="0">
                <a:ln>
                  <a:noFill/>
                </a:ln>
                <a:solidFill>
                  <a:srgbClr val="221F1F"/>
                </a:solidFill>
                <a:effectLst/>
                <a:uLnTx/>
                <a:uFillTx/>
                <a:latin typeface="Times New Roman"/>
                <a:cs typeface="Times New Roman"/>
              </a:rPr>
              <a:t>less</a:t>
            </a:r>
            <a:r>
              <a:rPr kumimoji="0" sz="1800" b="0" i="0" u="none" strike="noStrike" kern="0" cap="none" spc="3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3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same</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distance</a:t>
            </a:r>
            <a:r>
              <a:rPr kumimoji="0" sz="1800" b="0" i="0" u="none" strike="noStrike" kern="0" cap="none" spc="3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away</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from</a:t>
            </a:r>
            <a:r>
              <a:rPr kumimoji="0" sz="1800" b="0" i="0" u="none" strike="noStrike" kern="0" cap="none" spc="3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3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mobile</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3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3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serving</a:t>
            </a:r>
            <a:r>
              <a:rPr kumimoji="0" sz="1800" b="0" i="0" u="none" strike="noStrike" kern="0" cap="none" spc="3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a:t>
            </a:r>
            <a:r>
              <a:rPr kumimoji="0" sz="1800" b="0" i="0" u="none" strike="noStrike" kern="0" cap="none" spc="375"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This </a:t>
            </a:r>
            <a:r>
              <a:rPr kumimoji="0" sz="1800" b="0" i="0" u="none" strike="noStrike" kern="0" cap="none" spc="0" normalizeH="0" baseline="0" noProof="0" dirty="0">
                <a:ln>
                  <a:noFill/>
                </a:ln>
                <a:solidFill>
                  <a:srgbClr val="221F1F"/>
                </a:solidFill>
                <a:effectLst/>
                <a:uLnTx/>
                <a:uFillTx/>
                <a:latin typeface="Times New Roman"/>
                <a:cs typeface="Times New Roman"/>
              </a:rPr>
              <a:t>problem</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explores</a:t>
            </a:r>
            <a:r>
              <a:rPr kumimoji="0" sz="1800" b="0" i="0" u="none" strike="noStrike" kern="0" cap="none" spc="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impact</a:t>
            </a:r>
            <a:r>
              <a:rPr kumimoji="0" sz="1800" b="0" i="0" u="none" strike="noStrike" kern="0" cap="none" spc="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cluster</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size</a:t>
            </a:r>
            <a:r>
              <a:rPr kumimoji="0" sz="1800" b="0" i="0" u="none" strike="noStrike" kern="0" cap="none" spc="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(i.e.,</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frequency</a:t>
            </a:r>
            <a:r>
              <a:rPr kumimoji="0" sz="1800" b="0" i="0" u="none" strike="noStrike" kern="0" cap="none" spc="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reuse</a:t>
            </a:r>
            <a:r>
              <a:rPr kumimoji="0" sz="1800" b="0" i="0" u="none" strike="noStrike" kern="0" cap="none" spc="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distance),</a:t>
            </a:r>
            <a:r>
              <a:rPr kumimoji="0" sz="1800" b="0" i="0" u="none" strike="noStrike" kern="0" cap="none" spc="85"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the </a:t>
            </a:r>
            <a:r>
              <a:rPr kumimoji="0" sz="1800" b="0" i="0" u="none" strike="noStrike" kern="0" cap="none" spc="0" normalizeH="0" baseline="0" noProof="0" dirty="0">
                <a:ln>
                  <a:noFill/>
                </a:ln>
                <a:solidFill>
                  <a:srgbClr val="221F1F"/>
                </a:solidFill>
                <a:effectLst/>
                <a:uLnTx/>
                <a:uFillTx/>
                <a:latin typeface="Times New Roman"/>
                <a:cs typeface="Times New Roman"/>
              </a:rPr>
              <a:t>number</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tiers</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used</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calculation</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Cll</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effect</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propagation</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path </a:t>
            </a:r>
            <a:r>
              <a:rPr kumimoji="0" sz="1800" b="0" i="0" u="none" strike="noStrike" kern="0" cap="none" spc="0" normalizeH="0" baseline="0" noProof="0" dirty="0">
                <a:ln>
                  <a:noFill/>
                </a:ln>
                <a:solidFill>
                  <a:srgbClr val="221F1F"/>
                </a:solidFill>
                <a:effectLst/>
                <a:uLnTx/>
                <a:uFillTx/>
                <a:latin typeface="Times New Roman"/>
                <a:cs typeface="Times New Roman"/>
              </a:rPr>
              <a:t>loss</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exponent</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on</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C/I.</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12700" marR="5715" lvl="0" indent="306070" defTabSz="914400" eaLnBrk="1" fontAlgn="auto" latinLnBrk="0" hangingPunct="1">
              <a:lnSpc>
                <a:spcPct val="120000"/>
              </a:lnSpc>
              <a:spcBef>
                <a:spcPts val="5"/>
              </a:spcBef>
              <a:spcAft>
                <a:spcPts val="0"/>
              </a:spcAft>
              <a:buClrTx/>
              <a:buSzTx/>
              <a:buFontTx/>
              <a:buAutoNum type="alphaLcParenBoth"/>
              <a:tabLst>
                <a:tab pos="318770" algn="l"/>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What</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is</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average</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distance</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terms</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R)</a:t>
            </a:r>
            <a:r>
              <a:rPr kumimoji="0" sz="1800" b="0" i="1"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between</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 mobile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on</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fringe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the </a:t>
            </a:r>
            <a:r>
              <a:rPr kumimoji="0" sz="1800" b="0" i="0" u="none" strike="noStrike" kern="0" cap="none" spc="0" normalizeH="0" baseline="0" noProof="0" dirty="0">
                <a:ln>
                  <a:noFill/>
                </a:ln>
                <a:solidFill>
                  <a:srgbClr val="221F1F"/>
                </a:solidFill>
                <a:effectLst/>
                <a:uLnTx/>
                <a:uFillTx/>
                <a:latin typeface="Times New Roman"/>
                <a:cs typeface="Times New Roman"/>
              </a:rPr>
              <a:t>serving</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first</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co-</a:t>
            </a:r>
            <a:r>
              <a:rPr kumimoji="0" sz="1800" b="0" i="0" u="none" strike="noStrike" kern="0" cap="none" spc="0" normalizeH="0" baseline="0" noProof="0" dirty="0">
                <a:ln>
                  <a:noFill/>
                </a:ln>
                <a:solidFill>
                  <a:srgbClr val="221F1F"/>
                </a:solidFill>
                <a:effectLst/>
                <a:uLnTx/>
                <a:uFillTx/>
                <a:latin typeface="Times New Roman"/>
                <a:cs typeface="Times New Roman"/>
              </a:rPr>
              <a:t>channel</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(These</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are</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called</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"nearest </a:t>
            </a:r>
            <a:r>
              <a:rPr kumimoji="0" sz="1800" b="0" i="0" u="none" strike="noStrike" kern="0" cap="none" spc="0" normalizeH="0" baseline="0" noProof="0" dirty="0">
                <a:ln>
                  <a:noFill/>
                </a:ln>
                <a:solidFill>
                  <a:srgbClr val="221F1F"/>
                </a:solidFill>
                <a:effectLst/>
                <a:uLnTx/>
                <a:uFillTx/>
                <a:latin typeface="Times New Roman"/>
                <a:cs typeface="Times New Roman"/>
              </a:rPr>
              <a:t>neighbors.")</a:t>
            </a:r>
            <a:r>
              <a:rPr kumimoji="0" sz="1800" b="0" i="0" u="none" strike="noStrike" kern="0" cap="none" spc="1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How</a:t>
            </a:r>
            <a:r>
              <a:rPr kumimoji="0" sz="1800" b="0" i="0" u="none" strike="noStrike" kern="0" cap="none" spc="1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many</a:t>
            </a:r>
            <a:r>
              <a:rPr kumimoji="0" sz="1800" b="0" i="0" u="none" strike="noStrike" kern="0" cap="none" spc="1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11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are</a:t>
            </a:r>
            <a:r>
              <a:rPr kumimoji="0" sz="1800" b="0" i="0" u="none" strike="noStrike" kern="0" cap="none" spc="11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located</a:t>
            </a:r>
            <a:r>
              <a:rPr kumimoji="0" sz="1800" b="0" i="0" u="none" strike="noStrike" kern="0" cap="none" spc="11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1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first</a:t>
            </a:r>
            <a:r>
              <a:rPr kumimoji="0" sz="1800" b="0" i="0" u="none" strike="noStrike" kern="0" cap="none" spc="11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a:t>
            </a:r>
            <a:r>
              <a:rPr kumimoji="0" sz="1800" b="0" i="0" u="none" strike="noStrike" kern="0" cap="none" spc="1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Solve</a:t>
            </a:r>
            <a:r>
              <a:rPr kumimoji="0" sz="1800" b="0" i="0" u="none" strike="noStrike" kern="0" cap="none" spc="1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for</a:t>
            </a:r>
            <a:r>
              <a:rPr kumimoji="0" sz="1800" b="0" i="0" u="none" strike="noStrike" kern="0" cap="none" spc="1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case</a:t>
            </a:r>
            <a:r>
              <a:rPr kumimoji="0" sz="1800" b="0" i="0" u="none" strike="noStrike" kern="0" cap="none" spc="11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0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1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114"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1,</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55600" marR="6985" lvl="0" indent="0" defTabSz="914400" eaLnBrk="1" fontAlgn="auto" latinLnBrk="0" hangingPunct="1">
              <a:lnSpc>
                <a:spcPct val="100000"/>
              </a:lnSpc>
              <a:spcBef>
                <a:spcPts val="0"/>
              </a:spcBef>
              <a:spcAft>
                <a:spcPts val="0"/>
              </a:spcAft>
              <a:buClrTx/>
              <a:buSzTx/>
              <a:buFontTx/>
              <a:buNone/>
              <a:tabLst/>
              <a:defRPr/>
            </a:pP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0" u="none" strike="noStrike" kern="0" cap="none" spc="0" normalizeH="0" baseline="0" noProof="0" dirty="0">
                <a:ln>
                  <a:noFill/>
                </a:ln>
                <a:solidFill>
                  <a:srgbClr val="221F1F"/>
                </a:solidFill>
                <a:effectLst/>
                <a:uLnTx/>
                <a:uFillTx/>
                <a:latin typeface="Times New Roman"/>
                <a:cs typeface="Times New Roman"/>
              </a:rPr>
              <a:t>=3,</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=4,</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=7,</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=12</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cluster</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sizes.</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How</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does</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average</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distance</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compare </a:t>
            </a:r>
            <a:r>
              <a:rPr kumimoji="0" sz="1800" b="0" i="0" u="none" strike="noStrike" kern="0" cap="none" spc="0" normalizeH="0" baseline="0" noProof="0" dirty="0">
                <a:ln>
                  <a:noFill/>
                </a:ln>
                <a:solidFill>
                  <a:srgbClr val="221F1F"/>
                </a:solidFill>
                <a:effectLst/>
                <a:uLnTx/>
                <a:uFillTx/>
                <a:latin typeface="Times New Roman"/>
                <a:cs typeface="Times New Roman"/>
              </a:rPr>
              <a:t>to</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value</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D</a:t>
            </a:r>
            <a:r>
              <a:rPr kumimoji="0" sz="1800" b="0" i="1"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QR,</a:t>
            </a:r>
            <a:r>
              <a:rPr kumimoji="0" sz="1800" b="0" i="1"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where</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Q</a:t>
            </a:r>
            <a:r>
              <a:rPr kumimoji="0" sz="1800" b="0" i="1"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1" u="none" strike="noStrike" kern="0" cap="none" spc="-20" normalizeH="0" baseline="0" noProof="0" dirty="0">
                <a:ln>
                  <a:noFill/>
                </a:ln>
                <a:solidFill>
                  <a:srgbClr val="221F1F"/>
                </a:solidFill>
                <a:effectLst/>
                <a:uLnTx/>
                <a:uFillTx/>
                <a:latin typeface="Times New Roman"/>
                <a:cs typeface="Times New Roman"/>
              </a:rPr>
              <a:t>J3N?</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12700" marR="6985" lvl="0" indent="319405" algn="just" defTabSz="914400" eaLnBrk="1" fontAlgn="auto" latinLnBrk="0" hangingPunct="1">
              <a:lnSpc>
                <a:spcPct val="120000"/>
              </a:lnSpc>
              <a:spcBef>
                <a:spcPts val="0"/>
              </a:spcBef>
              <a:spcAft>
                <a:spcPts val="0"/>
              </a:spcAft>
              <a:buClrTx/>
              <a:buSzTx/>
              <a:buFontTx/>
              <a:buAutoNum type="alphaLcParenBoth" startAt="2"/>
              <a:tabLst>
                <a:tab pos="332105" algn="l"/>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What</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is</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average</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distance</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terms</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R) between</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mobile</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on</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 fringe</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the </a:t>
            </a:r>
            <a:r>
              <a:rPr kumimoji="0" sz="1800" b="0" i="0" u="none" strike="noStrike" kern="0" cap="none" spc="0" normalizeH="0" baseline="0" noProof="0" dirty="0">
                <a:ln>
                  <a:noFill/>
                </a:ln>
                <a:solidFill>
                  <a:srgbClr val="221F1F"/>
                </a:solidFill>
                <a:effectLst/>
                <a:uLnTx/>
                <a:uFillTx/>
                <a:latin typeface="Times New Roman"/>
                <a:cs typeface="Times New Roman"/>
              </a:rPr>
              <a:t>serving</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second</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third</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co-</a:t>
            </a:r>
            <a:r>
              <a:rPr kumimoji="0" sz="1800" b="0" i="0" u="none" strike="noStrike" kern="0" cap="none" spc="0" normalizeH="0" baseline="0" noProof="0" dirty="0">
                <a:ln>
                  <a:noFill/>
                </a:ln>
                <a:solidFill>
                  <a:srgbClr val="221F1F"/>
                </a:solidFill>
                <a:effectLst/>
                <a:uLnTx/>
                <a:uFillTx/>
                <a:latin typeface="Times New Roman"/>
                <a:cs typeface="Times New Roman"/>
              </a:rPr>
              <a:t>channel</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how</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many</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are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in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second</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third</a:t>
            </a:r>
            <a:r>
              <a:rPr kumimoji="0" sz="1800" b="0" i="0" u="none" strike="noStrike" kern="0" cap="none" spc="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co-</a:t>
            </a:r>
            <a:r>
              <a:rPr kumimoji="0" sz="1800" b="0" i="0" u="none" strike="noStrike" kern="0" cap="none" spc="0" normalizeH="0" baseline="0" noProof="0" dirty="0">
                <a:ln>
                  <a:noFill/>
                </a:ln>
                <a:solidFill>
                  <a:srgbClr val="221F1F"/>
                </a:solidFill>
                <a:effectLst/>
                <a:uLnTx/>
                <a:uFillTx/>
                <a:latin typeface="Times New Roman"/>
                <a:cs typeface="Times New Roman"/>
              </a:rPr>
              <a:t>channel</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for</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cases</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3,</a:t>
            </a:r>
            <a:r>
              <a:rPr kumimoji="0" sz="1800" b="0" i="0" u="none" strike="noStrike" kern="0" cap="none" spc="8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=4,</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70"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=7,</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163</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p:nvPr/>
        </p:nvSpPr>
        <p:spPr>
          <a:xfrm>
            <a:off x="726440" y="6278879"/>
            <a:ext cx="2308860" cy="278765"/>
          </a:xfrm>
          <a:prstGeom prst="rect">
            <a:avLst/>
          </a:prstGeom>
        </p:spPr>
        <p:txBody>
          <a:bodyPr vert="horz" wrap="square" lIns="0" tIns="0" rIns="0" bIns="0" rtlCol="0">
            <a:spAutoFit/>
          </a:bodyPr>
          <a:lstStyle/>
          <a:p>
            <a:pPr marL="12700" marR="0" lvl="0" indent="0" defTabSz="914400" eaLnBrk="1" fontAlgn="auto" latinLnBrk="0" hangingPunct="1">
              <a:lnSpc>
                <a:spcPts val="2065"/>
              </a:lnSpc>
              <a:spcBef>
                <a:spcPts val="0"/>
              </a:spcBef>
              <a:spcAft>
                <a:spcPts val="0"/>
              </a:spcAft>
              <a:buClrTx/>
              <a:buSzTx/>
              <a:buFontTx/>
              <a:buNone/>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12</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cluster</a:t>
            </a:r>
            <a:r>
              <a:rPr kumimoji="0" sz="1800" b="0" i="0" u="none" strike="noStrike" kern="0" cap="none" spc="-10" normalizeH="0" baseline="0" noProof="0" dirty="0">
                <a:ln>
                  <a:noFill/>
                </a:ln>
                <a:solidFill>
                  <a:srgbClr val="221F1F"/>
                </a:solidFill>
                <a:effectLst/>
                <a:uLnTx/>
                <a:uFillTx/>
                <a:latin typeface="Times New Roman"/>
                <a:cs typeface="Times New Roman"/>
              </a:rPr>
              <a:t> sizes?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9554"/>
            <a:ext cx="8073390" cy="2550160"/>
          </a:xfrm>
          <a:prstGeom prst="rect">
            <a:avLst/>
          </a:prstGeom>
        </p:spPr>
        <p:txBody>
          <a:bodyPr vert="horz" wrap="square" lIns="0" tIns="12700" rIns="0" bIns="0" rtlCol="0">
            <a:spAutoFit/>
          </a:bodyPr>
          <a:lstStyle/>
          <a:p>
            <a:pPr marL="325755" marR="5080" lvl="0" indent="-313055" algn="just" defTabSz="914400" eaLnBrk="1" fontAlgn="auto" latinLnBrk="0" hangingPunct="1">
              <a:lnSpc>
                <a:spcPct val="100000"/>
              </a:lnSpc>
              <a:spcBef>
                <a:spcPts val="100"/>
              </a:spcBef>
              <a:spcAft>
                <a:spcPts val="0"/>
              </a:spcAft>
              <a:buClrTx/>
              <a:buSzTx/>
              <a:buFontTx/>
              <a:buAutoNum type="alphaLcParenBoth" startAt="3"/>
              <a:tabLst>
                <a:tab pos="355600" algn="l"/>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Determine</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forward</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link</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Cll</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for</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following</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frequency</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reuse</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designs:</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3,</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=4,</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7,</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12.</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Assume</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propagation</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path</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loss</a:t>
            </a:r>
            <a:r>
              <a:rPr kumimoji="0" sz="1800" b="0" i="0" u="none" strike="noStrike" kern="0" cap="none" spc="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exponent</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is</a:t>
            </a:r>
            <a:r>
              <a:rPr kumimoji="0" sz="1800" b="0" i="0" u="none" strike="noStrike" kern="0" cap="none" spc="1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four,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evaluate</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S/1</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contribution</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due</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to</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just</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first</a:t>
            </a:r>
            <a:r>
              <a:rPr kumimoji="0" sz="1800" b="0" i="0" u="none" strike="noStrike" kern="0" cap="none" spc="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then</a:t>
            </a:r>
            <a:r>
              <a:rPr kumimoji="0" sz="1800" b="0" i="0" u="none" strike="noStrike" kern="0" cap="none" spc="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due</a:t>
            </a:r>
            <a:r>
              <a:rPr kumimoji="0" sz="1800" b="0" i="0" u="none" strike="noStrike" kern="0" cap="none" spc="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to</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additional 	</a:t>
            </a:r>
            <a:r>
              <a:rPr kumimoji="0" sz="1800" b="0" i="0" u="none" strike="noStrike" kern="0" cap="none" spc="0" normalizeH="0" baseline="0" noProof="0" dirty="0">
                <a:ln>
                  <a:noFill/>
                </a:ln>
                <a:solidFill>
                  <a:srgbClr val="221F1F"/>
                </a:solidFill>
                <a:effectLst/>
                <a:uLnTx/>
                <a:uFillTx/>
                <a:latin typeface="Times New Roman"/>
                <a:cs typeface="Times New Roman"/>
              </a:rPr>
              <a:t>outer</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tiers</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co-</a:t>
            </a:r>
            <a:r>
              <a:rPr kumimoji="0" sz="1800" b="0" i="0" u="none" strike="noStrike" kern="0" cap="none" spc="0" normalizeH="0" baseline="0" noProof="0" dirty="0">
                <a:ln>
                  <a:noFill/>
                </a:ln>
                <a:solidFill>
                  <a:srgbClr val="221F1F"/>
                </a:solidFill>
                <a:effectLst/>
                <a:uLnTx/>
                <a:uFillTx/>
                <a:latin typeface="Times New Roman"/>
                <a:cs typeface="Times New Roman"/>
              </a:rPr>
              <a:t>channel</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cells.</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Indicate</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4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number</a:t>
            </a:r>
            <a:r>
              <a:rPr kumimoji="0" sz="1800" b="0" i="0" u="none" strike="noStrike" kern="0" cap="none" spc="40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oftiers</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a:t>
            </a:r>
            <a:r>
              <a:rPr kumimoji="0" sz="1800" b="0" i="0" u="none" strike="noStrike" kern="0" cap="none" spc="3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which</a:t>
            </a:r>
            <a:r>
              <a:rPr kumimoji="0" sz="1800" b="0" i="0" u="none" strike="noStrike" kern="0" cap="none" spc="39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there</a:t>
            </a:r>
            <a:r>
              <a:rPr kumimoji="0" sz="1800" b="0" i="0" u="none" strike="noStrike" kern="0" cap="none" spc="3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is</a:t>
            </a:r>
            <a:r>
              <a:rPr kumimoji="0" sz="1800" b="0" i="0" u="none" strike="noStrike" kern="0" cap="none" spc="365" normalizeH="0" baseline="0" noProof="0" dirty="0">
                <a:ln>
                  <a:noFill/>
                </a:ln>
                <a:solidFill>
                  <a:srgbClr val="221F1F"/>
                </a:solidFill>
                <a:effectLst/>
                <a:uLnTx/>
                <a:uFillTx/>
                <a:latin typeface="Times New Roman"/>
                <a:cs typeface="Times New Roman"/>
              </a:rPr>
              <a:t> </a:t>
            </a:r>
            <a:r>
              <a:rPr kumimoji="0" sz="1800" b="0" i="0" u="none" strike="noStrike" kern="0" cap="none" spc="-50" normalizeH="0" baseline="0" noProof="0" dirty="0">
                <a:ln>
                  <a:noFill/>
                </a:ln>
                <a:solidFill>
                  <a:srgbClr val="221F1F"/>
                </a:solidFill>
                <a:effectLst/>
                <a:uLnTx/>
                <a:uFillTx/>
                <a:latin typeface="Times New Roman"/>
                <a:cs typeface="Times New Roman"/>
              </a:rPr>
              <a:t>a 	</a:t>
            </a:r>
            <a:r>
              <a:rPr kumimoji="0" sz="1800" b="0" i="0" u="none" strike="noStrike" kern="0" cap="none" spc="0" normalizeH="0" baseline="0" noProof="0" dirty="0">
                <a:ln>
                  <a:noFill/>
                </a:ln>
                <a:solidFill>
                  <a:srgbClr val="221F1F"/>
                </a:solidFill>
                <a:effectLst/>
                <a:uLnTx/>
                <a:uFillTx/>
                <a:latin typeface="Times New Roman"/>
                <a:cs typeface="Times New Roman"/>
              </a:rPr>
              <a:t>diminishing</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contribution</a:t>
            </a:r>
            <a:r>
              <a:rPr kumimoji="0" sz="1800" b="0" i="0" u="none" strike="noStrike" kern="0" cap="none" spc="-3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to</a:t>
            </a:r>
            <a:r>
              <a:rPr kumimoji="0" sz="1800" b="0" i="0" u="none" strike="noStrike" kern="0" cap="none" spc="-3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interference</a:t>
            </a:r>
            <a:r>
              <a:rPr kumimoji="0" sz="1800" b="0" i="0" u="none" strike="noStrike" kern="0" cap="none" spc="-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at</a:t>
            </a:r>
            <a:r>
              <a:rPr kumimoji="0" sz="1800" b="0" i="0" u="none" strike="noStrike" kern="0" cap="none" spc="-2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mobile.</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55600" marR="5080" lvl="0" indent="-342900" algn="just" defTabSz="914400" eaLnBrk="1" fontAlgn="auto" latinLnBrk="0" hangingPunct="1">
              <a:lnSpc>
                <a:spcPct val="100000"/>
              </a:lnSpc>
              <a:spcBef>
                <a:spcPts val="430"/>
              </a:spcBef>
              <a:spcAft>
                <a:spcPts val="0"/>
              </a:spcAft>
              <a:buClrTx/>
              <a:buSzTx/>
              <a:buFontTx/>
              <a:buAutoNum type="alphaLcParenBoth" startAt="3"/>
              <a:tabLst>
                <a:tab pos="355600" algn="l"/>
                <a:tab pos="371475" algn="l"/>
              </a:tabLst>
              <a:defRPr/>
            </a:pPr>
            <a:r>
              <a:rPr kumimoji="0" sz="1800" b="0" i="0" u="none" strike="noStrike" kern="0" cap="none" spc="0" normalizeH="0" baseline="0" noProof="0" dirty="0">
                <a:ln>
                  <a:noFill/>
                </a:ln>
                <a:solidFill>
                  <a:srgbClr val="221F1F"/>
                </a:solidFill>
                <a:effectLst/>
                <a:uLnTx/>
                <a:uFillTx/>
                <a:latin typeface="Times New Roman"/>
                <a:cs typeface="Times New Roman"/>
              </a:rPr>
              <a:t>	Repeat</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part</a:t>
            </a:r>
            <a:r>
              <a:rPr kumimoji="0" sz="1800" b="0" i="0" u="none" strike="noStrike" kern="0" cap="none" spc="24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except</a:t>
            </a:r>
            <a:r>
              <a:rPr kumimoji="0" sz="1800" b="0" i="0" u="none" strike="noStrike" kern="0" cap="none" spc="25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now</a:t>
            </a:r>
            <a:r>
              <a:rPr kumimoji="0" sz="1800" b="0" i="0" u="none" strike="noStrike" kern="0" cap="none" spc="25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consider</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line-of-</a:t>
            </a:r>
            <a:r>
              <a:rPr kumimoji="0" sz="1800" b="0" i="0" u="none" strike="noStrike" kern="0" cap="none" spc="0" normalizeH="0" baseline="0" noProof="0" dirty="0">
                <a:ln>
                  <a:noFill/>
                </a:ln>
                <a:solidFill>
                  <a:srgbClr val="221F1F"/>
                </a:solidFill>
                <a:effectLst/>
                <a:uLnTx/>
                <a:uFillTx/>
                <a:latin typeface="Times New Roman"/>
                <a:cs typeface="Times New Roman"/>
              </a:rPr>
              <a:t>sight</a:t>
            </a:r>
            <a:r>
              <a:rPr kumimoji="0" sz="1800" b="0" i="0" u="none" strike="noStrike" kern="0" cap="none" spc="2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path</a:t>
            </a:r>
            <a:r>
              <a:rPr kumimoji="0" sz="1800" b="0" i="0" u="none" strike="noStrike" kern="0" cap="none" spc="24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loss</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exponent</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of</a:t>
            </a:r>
            <a:r>
              <a:rPr kumimoji="0" sz="1800" b="0" i="0" u="none" strike="noStrike" kern="0" cap="none" spc="25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n</a:t>
            </a:r>
            <a:r>
              <a:rPr kumimoji="0" sz="1800" b="0" i="1" u="none" strike="noStrike" kern="0" cap="none" spc="254" normalizeH="0" baseline="0" noProof="0" dirty="0">
                <a:ln>
                  <a:noFill/>
                </a:ln>
                <a:solidFill>
                  <a:srgbClr val="221F1F"/>
                </a:solidFill>
                <a:effectLst/>
                <a:uLnTx/>
                <a:uFillTx/>
                <a:latin typeface="Times New Roman"/>
                <a:cs typeface="Times New Roman"/>
              </a:rPr>
              <a:t> </a:t>
            </a:r>
            <a:r>
              <a:rPr kumimoji="0" sz="1800" b="0" i="0" u="none" strike="noStrike" kern="0" cap="none" spc="-25" normalizeH="0" baseline="0" noProof="0" dirty="0">
                <a:ln>
                  <a:noFill/>
                </a:ln>
                <a:solidFill>
                  <a:srgbClr val="221F1F"/>
                </a:solidFill>
                <a:effectLst/>
                <a:uLnTx/>
                <a:uFillTx/>
                <a:latin typeface="Times New Roman"/>
                <a:cs typeface="Times New Roman"/>
              </a:rPr>
              <a:t>=2. </a:t>
            </a:r>
            <a:r>
              <a:rPr kumimoji="0" sz="1800" b="0" i="0" u="none" strike="noStrike" kern="0" cap="none" spc="0" normalizeH="0" baseline="0" noProof="0" dirty="0">
                <a:ln>
                  <a:noFill/>
                </a:ln>
                <a:solidFill>
                  <a:srgbClr val="221F1F"/>
                </a:solidFill>
                <a:effectLst/>
                <a:uLnTx/>
                <a:uFillTx/>
                <a:latin typeface="Times New Roman"/>
                <a:cs typeface="Times New Roman"/>
              </a:rPr>
              <a:t>Notice</a:t>
            </a:r>
            <a:r>
              <a:rPr kumimoji="0" sz="1800" b="0" i="0" u="none" strike="noStrike" kern="0" cap="none" spc="1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7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huge</a:t>
            </a:r>
            <a:r>
              <a:rPr kumimoji="0" sz="1800" b="0" i="0" u="none" strike="noStrike" kern="0" cap="none" spc="1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impact</a:t>
            </a:r>
            <a:r>
              <a:rPr kumimoji="0" sz="1800" b="0" i="0" u="none" strike="noStrike" kern="0" cap="none" spc="1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that</a:t>
            </a:r>
            <a:r>
              <a:rPr kumimoji="0" sz="1800" b="0" i="0" u="none" strike="noStrike" kern="0" cap="none" spc="1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1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propagation</a:t>
            </a:r>
            <a:r>
              <a:rPr kumimoji="0" sz="1800" b="0" i="0" u="none" strike="noStrike" kern="0" cap="none" spc="16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path</a:t>
            </a:r>
            <a:r>
              <a:rPr kumimoji="0" sz="1800" b="0" i="0" u="none" strike="noStrike" kern="0" cap="none" spc="1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loss</a:t>
            </a:r>
            <a:r>
              <a:rPr kumimoji="0" sz="1800" b="0" i="0" u="none" strike="noStrike" kern="0" cap="none" spc="15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exponent</a:t>
            </a:r>
            <a:r>
              <a:rPr kumimoji="0" sz="1800" b="0" i="0" u="none" strike="noStrike" kern="0" cap="none" spc="15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has</a:t>
            </a:r>
            <a:r>
              <a:rPr kumimoji="0" sz="1800" b="0" i="0" u="none" strike="noStrike" kern="0" cap="none" spc="16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on</a:t>
            </a:r>
            <a:r>
              <a:rPr kumimoji="0" sz="1800" b="0" i="0" u="none" strike="noStrike" kern="0" cap="none" spc="160" normalizeH="0" baseline="0" noProof="0" dirty="0">
                <a:ln>
                  <a:noFill/>
                </a:ln>
                <a:solidFill>
                  <a:srgbClr val="221F1F"/>
                </a:solidFill>
                <a:effectLst/>
                <a:uLnTx/>
                <a:uFillTx/>
                <a:latin typeface="Times New Roman"/>
                <a:cs typeface="Times New Roman"/>
              </a:rPr>
              <a:t> </a:t>
            </a:r>
            <a:r>
              <a:rPr kumimoji="0" sz="1800" b="0" i="1" u="none" strike="noStrike" kern="0" cap="none" spc="0" normalizeH="0" baseline="0" noProof="0" dirty="0">
                <a:ln>
                  <a:noFill/>
                </a:ln>
                <a:solidFill>
                  <a:srgbClr val="221F1F"/>
                </a:solidFill>
                <a:effectLst/>
                <a:uLnTx/>
                <a:uFillTx/>
                <a:latin typeface="Times New Roman"/>
                <a:cs typeface="Times New Roman"/>
              </a:rPr>
              <a:t>CII.</a:t>
            </a:r>
            <a:r>
              <a:rPr kumimoji="0" sz="1800" b="0" i="1" u="none" strike="noStrike" kern="0" cap="none" spc="160" normalizeH="0" baseline="0" noProof="0" dirty="0">
                <a:ln>
                  <a:noFill/>
                </a:ln>
                <a:solidFill>
                  <a:srgbClr val="221F1F"/>
                </a:solidFill>
                <a:effectLst/>
                <a:uLnTx/>
                <a:uFillTx/>
                <a:latin typeface="Times New Roman"/>
                <a:cs typeface="Times New Roman"/>
              </a:rPr>
              <a:t> </a:t>
            </a:r>
            <a:r>
              <a:rPr kumimoji="0" sz="1800" b="0" i="0" u="none" strike="noStrike" kern="0" cap="none" spc="-20" normalizeH="0" baseline="0" noProof="0" dirty="0">
                <a:ln>
                  <a:noFill/>
                </a:ln>
                <a:solidFill>
                  <a:srgbClr val="221F1F"/>
                </a:solidFill>
                <a:effectLst/>
                <a:uLnTx/>
                <a:uFillTx/>
                <a:latin typeface="Times New Roman"/>
                <a:cs typeface="Times New Roman"/>
              </a:rPr>
              <a:t>What </a:t>
            </a:r>
            <a:r>
              <a:rPr kumimoji="0" sz="1800" b="0" i="0" u="none" strike="noStrike" kern="0" cap="none" spc="0" normalizeH="0" baseline="0" noProof="0" dirty="0">
                <a:ln>
                  <a:noFill/>
                </a:ln>
                <a:solidFill>
                  <a:srgbClr val="221F1F"/>
                </a:solidFill>
                <a:effectLst/>
                <a:uLnTx/>
                <a:uFillTx/>
                <a:latin typeface="Times New Roman"/>
                <a:cs typeface="Times New Roman"/>
              </a:rPr>
              <a:t>can</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you</a:t>
            </a:r>
            <a:r>
              <a:rPr kumimoji="0" sz="1800" b="0" i="0" u="none" strike="noStrike" kern="0" cap="none" spc="19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say</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about</a:t>
            </a:r>
            <a:r>
              <a:rPr kumimoji="0" sz="1800" b="0" i="0" u="none" strike="noStrike" kern="0" cap="none" spc="2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cluster</a:t>
            </a:r>
            <a:r>
              <a:rPr kumimoji="0" sz="1800" b="0" i="0" u="none" strike="noStrike" kern="0" cap="none" spc="21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size,</a:t>
            </a:r>
            <a:r>
              <a:rPr kumimoji="0" sz="1800" b="0" i="0" u="none" strike="noStrike" kern="0" cap="none" spc="20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path</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loss</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exponent,</a:t>
            </a:r>
            <a:r>
              <a:rPr kumimoji="0" sz="1800" b="0" i="0" u="none" strike="noStrike" kern="0" cap="none" spc="204"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and</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the</a:t>
            </a:r>
            <a:r>
              <a:rPr kumimoji="0" sz="1800" b="0" i="0" u="none" strike="noStrike" kern="0" cap="none" spc="20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C/1</a:t>
            </a:r>
            <a:r>
              <a:rPr kumimoji="0" sz="1800" b="0" i="0" u="none" strike="noStrike" kern="0" cap="none" spc="21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values</a:t>
            </a:r>
            <a:r>
              <a:rPr kumimoji="0" sz="1800" b="0" i="0" u="none" strike="noStrike" kern="0" cap="none" spc="19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which </a:t>
            </a:r>
            <a:r>
              <a:rPr kumimoji="0" sz="1800" b="0" i="0" u="none" strike="noStrike" kern="0" cap="none" spc="0" normalizeH="0" baseline="0" noProof="0" dirty="0">
                <a:ln>
                  <a:noFill/>
                </a:ln>
                <a:solidFill>
                  <a:srgbClr val="221F1F"/>
                </a:solidFill>
                <a:effectLst/>
                <a:uLnTx/>
                <a:uFillTx/>
                <a:latin typeface="Times New Roman"/>
                <a:cs typeface="Times New Roman"/>
              </a:rPr>
              <a:t>result?</a:t>
            </a:r>
            <a:r>
              <a:rPr kumimoji="0" sz="1800" b="0" i="0" u="none" strike="noStrike" kern="0" cap="none" spc="2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How</a:t>
            </a:r>
            <a:r>
              <a:rPr kumimoji="0" sz="1800" b="0" i="0" u="none" strike="noStrike" kern="0" cap="none" spc="2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would</a:t>
            </a:r>
            <a:r>
              <a:rPr kumimoji="0" sz="1800" b="0" i="0" u="none" strike="noStrike" kern="0" cap="none" spc="2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this</a:t>
            </a:r>
            <a:r>
              <a:rPr kumimoji="0" sz="1800" b="0" i="0" u="none" strike="noStrike" kern="0" cap="none" spc="2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impact</a:t>
            </a:r>
            <a:r>
              <a:rPr kumimoji="0" sz="1800" b="0" i="0" u="none" strike="noStrike" kern="0" cap="none" spc="280"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practical</a:t>
            </a:r>
            <a:r>
              <a:rPr kumimoji="0" sz="1800" b="0" i="0" u="none" strike="noStrike" kern="0" cap="none" spc="28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wireless</a:t>
            </a:r>
            <a:r>
              <a:rPr kumimoji="0" sz="1800" b="0" i="0" u="none" strike="noStrike" kern="0" cap="none" spc="275" normalizeH="0" baseline="0" noProof="0" dirty="0">
                <a:ln>
                  <a:noFill/>
                </a:ln>
                <a:solidFill>
                  <a:srgbClr val="221F1F"/>
                </a:solidFill>
                <a:effectLst/>
                <a:uLnTx/>
                <a:uFillTx/>
                <a:latin typeface="Times New Roman"/>
                <a:cs typeface="Times New Roman"/>
              </a:rPr>
              <a:t>   </a:t>
            </a:r>
            <a:r>
              <a:rPr kumimoji="0" sz="1800" b="0" i="0" u="none" strike="noStrike" kern="0" cap="none" spc="0" normalizeH="0" baseline="0" noProof="0" dirty="0">
                <a:ln>
                  <a:noFill/>
                </a:ln>
                <a:solidFill>
                  <a:srgbClr val="221F1F"/>
                </a:solidFill>
                <a:effectLst/>
                <a:uLnTx/>
                <a:uFillTx/>
                <a:latin typeface="Times New Roman"/>
                <a:cs typeface="Times New Roman"/>
              </a:rPr>
              <a:t>system</a:t>
            </a:r>
            <a:r>
              <a:rPr kumimoji="0" sz="1800" b="0" i="0" u="none" strike="noStrike" kern="0" cap="none" spc="280" normalizeH="0" baseline="0" noProof="0" dirty="0">
                <a:ln>
                  <a:noFill/>
                </a:ln>
                <a:solidFill>
                  <a:srgbClr val="221F1F"/>
                </a:solidFill>
                <a:effectLst/>
                <a:uLnTx/>
                <a:uFillTx/>
                <a:latin typeface="Times New Roman"/>
                <a:cs typeface="Times New Roman"/>
              </a:rPr>
              <a:t>   </a:t>
            </a:r>
            <a:r>
              <a:rPr kumimoji="0" sz="1800" b="0" i="0" u="none" strike="noStrike" kern="0" cap="none" spc="-10" normalizeH="0" baseline="0" noProof="0" dirty="0">
                <a:ln>
                  <a:noFill/>
                </a:ln>
                <a:solidFill>
                  <a:srgbClr val="221F1F"/>
                </a:solidFill>
                <a:effectLst/>
                <a:uLnTx/>
                <a:uFillTx/>
                <a:latin typeface="Times New Roman"/>
                <a:cs typeface="Times New Roman"/>
              </a:rPr>
              <a:t>design?</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164</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Cellular Concept</a:t>
            </a:r>
          </a:p>
          <a:p>
            <a:endParaRPr lang="en-IN" dirty="0"/>
          </a:p>
        </p:txBody>
      </p:sp>
      <p:sp>
        <p:nvSpPr>
          <p:cNvPr id="5" name="Content Placeholder 1"/>
          <p:cNvSpPr>
            <a:spLocks noGrp="1"/>
          </p:cNvSpPr>
          <p:nvPr>
            <p:ph idx="1"/>
          </p:nvPr>
        </p:nvSpPr>
        <p:spPr/>
        <p:txBody>
          <a:bodyPr>
            <a:normAutofit/>
          </a:bodyPr>
          <a:lstStyle/>
          <a:p>
            <a:pPr>
              <a:buFont typeface="Arial" pitchFamily="34" charset="0"/>
              <a:buChar char="•"/>
            </a:pPr>
            <a:r>
              <a:rPr lang="en-US" dirty="0"/>
              <a:t>Why not a large Radio tower and Large Service area?</a:t>
            </a:r>
          </a:p>
          <a:p>
            <a:pPr>
              <a:buFont typeface="Arial" pitchFamily="34" charset="0"/>
              <a:buChar char="•"/>
            </a:pPr>
            <a:endParaRPr lang="en-US" dirty="0"/>
          </a:p>
          <a:p>
            <a:pPr marL="974725" lvl="2" indent="-855663">
              <a:buNone/>
            </a:pPr>
            <a:endParaRPr lang="en-US" dirty="0"/>
          </a:p>
        </p:txBody>
      </p:sp>
      <p:pic>
        <p:nvPicPr>
          <p:cNvPr id="6" name="Picture 4"/>
          <p:cNvPicPr>
            <a:picLocks noChangeAspect="1" noChangeArrowheads="1"/>
          </p:cNvPicPr>
          <p:nvPr/>
        </p:nvPicPr>
        <p:blipFill>
          <a:blip r:embed="rId2"/>
          <a:srcRect t="18750" r="66398" b="7292"/>
          <a:stretch>
            <a:fillRect/>
          </a:stretch>
        </p:blipFill>
        <p:spPr bwMode="auto">
          <a:xfrm>
            <a:off x="421241" y="2224038"/>
            <a:ext cx="2874517" cy="3557136"/>
          </a:xfrm>
          <a:prstGeom prst="rect">
            <a:avLst/>
          </a:prstGeom>
          <a:noFill/>
          <a:ln w="9525">
            <a:noFill/>
            <a:miter lim="800000"/>
            <a:headEnd/>
            <a:tailEnd/>
          </a:ln>
          <a:effectLst/>
        </p:spPr>
      </p:pic>
      <p:sp>
        <p:nvSpPr>
          <p:cNvPr id="7" name="Rectangle 6"/>
          <p:cNvSpPr/>
          <p:nvPr/>
        </p:nvSpPr>
        <p:spPr>
          <a:xfrm>
            <a:off x="3808973" y="2009753"/>
            <a:ext cx="4876800" cy="3985706"/>
          </a:xfrm>
          <a:prstGeom prst="rect">
            <a:avLst/>
          </a:prstGeom>
        </p:spPr>
        <p:txBody>
          <a:bodyPr wrap="square">
            <a:spAutoFit/>
          </a:bodyPr>
          <a:lstStyle/>
          <a:p>
            <a:pPr marL="285750" indent="-285750" algn="l" rtl="0">
              <a:lnSpc>
                <a:spcPct val="115000"/>
              </a:lnSpc>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The design objective of early mobile radio systems was to achieve a large coverage area by using a single, high powered </a:t>
            </a:r>
            <a:r>
              <a:rPr lang="en-US" sz="2000"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transmitter with an antenna mounted on a tall tower. </a:t>
            </a: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 </a:t>
            </a:r>
          </a:p>
          <a:p>
            <a:pPr marL="285750" indent="-285750" algn="l" rtl="0">
              <a:lnSpc>
                <a:spcPct val="115000"/>
              </a:lnSpc>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Good coverage, but it was not possible  to reuse those same frequencies throughout the system </a:t>
            </a:r>
          </a:p>
          <a:p>
            <a:pPr marL="285750" indent="-285750" algn="l" rtl="0">
              <a:lnSpc>
                <a:spcPct val="115000"/>
              </a:lnSpc>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Limitation in the Number of simultaneous users. </a:t>
            </a:r>
          </a:p>
          <a:p>
            <a:pPr marL="285750" indent="-285750" algn="l" rtl="0">
              <a:lnSpc>
                <a:spcPct val="115000"/>
              </a:lnSpc>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Mobile Handsets would have greater power requirements.</a:t>
            </a:r>
            <a:endParaRPr lang="en-IN" sz="1400" kern="120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84518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Cellular Concept </a:t>
            </a:r>
          </a:p>
          <a:p>
            <a:endParaRPr lang="en-IN" dirty="0"/>
          </a:p>
        </p:txBody>
      </p:sp>
      <p:sp>
        <p:nvSpPr>
          <p:cNvPr id="4" name="Content Placeholder 3"/>
          <p:cNvSpPr txBox="1">
            <a:spLocks noGrp="1"/>
          </p:cNvSpPr>
          <p:nvPr>
            <p:ph idx="1"/>
          </p:nvPr>
        </p:nvSpPr>
        <p:spPr>
          <a:xfrm>
            <a:off x="274320" y="1611631"/>
            <a:ext cx="8503920" cy="1079783"/>
          </a:xfrm>
          <a:prstGeom prst="rect">
            <a:avLst/>
          </a:prstGeom>
          <a:noFill/>
        </p:spPr>
        <p:txBody>
          <a:bodyPr wrap="square" rtlCol="0">
            <a:spAutoFit/>
          </a:bodyPr>
          <a:lstStyle/>
          <a:p>
            <a:r>
              <a:rPr lang="en-IN" sz="2000" dirty="0"/>
              <a:t>Major break through in solving the problem of spectral congestion and limited capacity</a:t>
            </a:r>
          </a:p>
          <a:p>
            <a:endParaRPr lang="en-IN" sz="2000" dirty="0"/>
          </a:p>
        </p:txBody>
      </p:sp>
      <p:sp>
        <p:nvSpPr>
          <p:cNvPr id="5" name="Rectangle 4"/>
          <p:cNvSpPr/>
          <p:nvPr/>
        </p:nvSpPr>
        <p:spPr>
          <a:xfrm>
            <a:off x="165243" y="2215098"/>
            <a:ext cx="4572000" cy="3785652"/>
          </a:xfrm>
          <a:prstGeom prst="rect">
            <a:avLst/>
          </a:prstGeom>
        </p:spPr>
        <p:txBody>
          <a:bodyPr wrap="square">
            <a:spAutoFit/>
          </a:bodyPr>
          <a:lstStyle/>
          <a:p>
            <a:pPr algn="l" rtl="0">
              <a:buFont typeface="Arial" pitchFamily="34" charset="0"/>
              <a:buChar char="•"/>
            </a:pPr>
            <a:r>
              <a:rPr lang="en-US" sz="2400" b="1" kern="1200" dirty="0">
                <a:solidFill>
                  <a:srgbClr val="1F497D">
                    <a:lumMod val="60000"/>
                    <a:lumOff val="40000"/>
                  </a:srgbClr>
                </a:solidFill>
                <a:latin typeface="Calibri"/>
                <a:ea typeface="+mn-ea"/>
                <a:cs typeface="+mn-cs"/>
              </a:rPr>
              <a:t>Cellular concept- </a:t>
            </a:r>
            <a:r>
              <a:rPr lang="en-US" sz="2400" kern="1200" dirty="0">
                <a:solidFill>
                  <a:prstClr val="black"/>
                </a:solidFill>
                <a:latin typeface="Calibri"/>
                <a:ea typeface="+mn-ea"/>
                <a:cs typeface="+mn-cs"/>
              </a:rPr>
              <a:t>small cells with frequency reuse</a:t>
            </a:r>
          </a:p>
          <a:p>
            <a:pPr algn="l" rtl="0"/>
            <a:r>
              <a:rPr lang="en-US" sz="2400" kern="1200" dirty="0">
                <a:solidFill>
                  <a:prstClr val="black"/>
                </a:solidFill>
                <a:latin typeface="Calibri"/>
                <a:ea typeface="+mn-ea"/>
                <a:cs typeface="+mn-cs"/>
              </a:rPr>
              <a:t>	</a:t>
            </a:r>
            <a:r>
              <a:rPr lang="en-US" sz="2400" b="1" kern="1200" dirty="0">
                <a:solidFill>
                  <a:srgbClr val="FF0000"/>
                </a:solidFill>
                <a:latin typeface="Calibri"/>
                <a:ea typeface="+mn-ea"/>
                <a:cs typeface="+mn-cs"/>
              </a:rPr>
              <a:t>Advantages:</a:t>
            </a:r>
          </a:p>
          <a:p>
            <a:pPr marL="914400" lvl="2" algn="l" rtl="0">
              <a:buFont typeface="Wingdings" pitchFamily="2" charset="2"/>
              <a:buChar char="§"/>
            </a:pPr>
            <a:r>
              <a:rPr lang="en-US" sz="2400" kern="1200" dirty="0">
                <a:solidFill>
                  <a:prstClr val="black"/>
                </a:solidFill>
                <a:latin typeface="Calibri"/>
                <a:ea typeface="+mn-ea"/>
                <a:cs typeface="+mn-cs"/>
              </a:rPr>
              <a:t>Low power handsets</a:t>
            </a:r>
          </a:p>
          <a:p>
            <a:pPr marL="914400" lvl="2" algn="l" rtl="0">
              <a:buFont typeface="Wingdings" pitchFamily="2" charset="2"/>
              <a:buChar char="§"/>
            </a:pPr>
            <a:r>
              <a:rPr lang="en-US" sz="2400" kern="1200" dirty="0">
                <a:solidFill>
                  <a:prstClr val="black"/>
                </a:solidFill>
                <a:latin typeface="Calibri"/>
                <a:ea typeface="+mn-ea"/>
                <a:cs typeface="+mn-cs"/>
              </a:rPr>
              <a:t>Increases system capacity with frequency reuse.</a:t>
            </a:r>
          </a:p>
          <a:p>
            <a:pPr marL="347663" lvl="2" algn="l" rtl="0"/>
            <a:r>
              <a:rPr lang="en-US" sz="2400" kern="1200" dirty="0">
                <a:solidFill>
                  <a:prstClr val="black"/>
                </a:solidFill>
                <a:latin typeface="Calibri"/>
                <a:ea typeface="+mn-ea"/>
                <a:cs typeface="+mn-cs"/>
              </a:rPr>
              <a:t>    </a:t>
            </a:r>
            <a:r>
              <a:rPr lang="en-US" sz="2400" b="1" kern="1200" dirty="0">
                <a:solidFill>
                  <a:srgbClr val="FF0000"/>
                </a:solidFill>
                <a:latin typeface="Calibri"/>
                <a:ea typeface="+mn-ea"/>
                <a:cs typeface="+mn-cs"/>
              </a:rPr>
              <a:t>Drawbacks</a:t>
            </a:r>
          </a:p>
          <a:p>
            <a:pPr marL="347663" lvl="2" algn="l" rtl="0">
              <a:buFont typeface="Arial" pitchFamily="34" charset="0"/>
              <a:buChar char="•"/>
            </a:pPr>
            <a:r>
              <a:rPr lang="en-US" sz="2400" kern="1200" dirty="0">
                <a:solidFill>
                  <a:prstClr val="black"/>
                </a:solidFill>
                <a:latin typeface="Calibri"/>
                <a:ea typeface="+mn-ea"/>
                <a:cs typeface="+mn-cs"/>
              </a:rPr>
              <a:t>  Cost of the cells</a:t>
            </a:r>
          </a:p>
          <a:p>
            <a:pPr marL="347663" lvl="2" algn="l" rtl="0">
              <a:buFont typeface="Arial" pitchFamily="34" charset="0"/>
              <a:buChar char="•"/>
            </a:pPr>
            <a:r>
              <a:rPr lang="en-US" sz="2400" kern="1200" dirty="0">
                <a:solidFill>
                  <a:prstClr val="black"/>
                </a:solidFill>
                <a:latin typeface="Calibri"/>
                <a:ea typeface="+mn-ea"/>
                <a:cs typeface="+mn-cs"/>
              </a:rPr>
              <a:t>Handoffs between the cells must be provided.</a:t>
            </a:r>
          </a:p>
        </p:txBody>
      </p:sp>
      <p:sp>
        <p:nvSpPr>
          <p:cNvPr id="9" name="TextBox 8"/>
          <p:cNvSpPr txBox="1"/>
          <p:nvPr/>
        </p:nvSpPr>
        <p:spPr>
          <a:xfrm>
            <a:off x="6884915" y="2738003"/>
            <a:ext cx="2306472" cy="400110"/>
          </a:xfrm>
          <a:prstGeom prst="rect">
            <a:avLst/>
          </a:prstGeom>
          <a:noFill/>
        </p:spPr>
        <p:txBody>
          <a:bodyPr wrap="square" rtlCol="0">
            <a:spAutoFit/>
          </a:bodyPr>
          <a:lstStyle/>
          <a:p>
            <a:pPr algn="l" rtl="0"/>
            <a:r>
              <a:rPr lang="en-US" sz="2000" kern="1200" dirty="0">
                <a:solidFill>
                  <a:prstClr val="black"/>
                </a:solidFill>
                <a:latin typeface="Calibri"/>
                <a:ea typeface="+mn-ea"/>
                <a:cs typeface="+mn-cs"/>
              </a:rPr>
              <a:t>Adjacent Channels</a:t>
            </a:r>
          </a:p>
        </p:txBody>
      </p:sp>
      <p:sp>
        <p:nvSpPr>
          <p:cNvPr id="12" name="TextBox 11"/>
          <p:cNvSpPr txBox="1"/>
          <p:nvPr/>
        </p:nvSpPr>
        <p:spPr>
          <a:xfrm>
            <a:off x="5195580" y="5532630"/>
            <a:ext cx="2667000"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Co- Channels</a:t>
            </a:r>
          </a:p>
        </p:txBody>
      </p:sp>
      <p:sp>
        <p:nvSpPr>
          <p:cNvPr id="13" name="TextBox 12"/>
          <p:cNvSpPr txBox="1"/>
          <p:nvPr/>
        </p:nvSpPr>
        <p:spPr>
          <a:xfrm>
            <a:off x="5717607" y="3953218"/>
            <a:ext cx="304800" cy="369332"/>
          </a:xfrm>
          <a:prstGeom prst="rect">
            <a:avLst/>
          </a:prstGeom>
          <a:noFill/>
        </p:spPr>
        <p:txBody>
          <a:bodyPr wrap="square" rtlCol="0">
            <a:spAutoFit/>
          </a:bodyPr>
          <a:lstStyle/>
          <a:p>
            <a:pPr algn="l" rtl="0"/>
            <a:r>
              <a:rPr lang="en-IN" kern="1200" dirty="0">
                <a:solidFill>
                  <a:prstClr val="black"/>
                </a:solidFill>
                <a:latin typeface="Calibri"/>
                <a:ea typeface="+mn-ea"/>
                <a:cs typeface="+mn-cs"/>
              </a:rPr>
              <a:t>1</a:t>
            </a:r>
          </a:p>
        </p:txBody>
      </p:sp>
      <p:sp>
        <p:nvSpPr>
          <p:cNvPr id="14" name="TextBox 13"/>
          <p:cNvSpPr txBox="1"/>
          <p:nvPr/>
        </p:nvSpPr>
        <p:spPr>
          <a:xfrm>
            <a:off x="6118542" y="4161415"/>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2</a:t>
            </a:r>
          </a:p>
        </p:txBody>
      </p:sp>
      <p:sp>
        <p:nvSpPr>
          <p:cNvPr id="15" name="TextBox 14"/>
          <p:cNvSpPr txBox="1"/>
          <p:nvPr/>
        </p:nvSpPr>
        <p:spPr>
          <a:xfrm>
            <a:off x="6108306" y="3857457"/>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3</a:t>
            </a:r>
          </a:p>
        </p:txBody>
      </p:sp>
      <p:sp>
        <p:nvSpPr>
          <p:cNvPr id="16" name="TextBox 15"/>
          <p:cNvSpPr txBox="1"/>
          <p:nvPr/>
        </p:nvSpPr>
        <p:spPr>
          <a:xfrm>
            <a:off x="5644869" y="3628677"/>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4</a:t>
            </a:r>
          </a:p>
        </p:txBody>
      </p:sp>
      <p:sp>
        <p:nvSpPr>
          <p:cNvPr id="17" name="TextBox 16"/>
          <p:cNvSpPr txBox="1"/>
          <p:nvPr/>
        </p:nvSpPr>
        <p:spPr>
          <a:xfrm>
            <a:off x="5180795" y="3782130"/>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5</a:t>
            </a:r>
          </a:p>
        </p:txBody>
      </p:sp>
      <p:sp>
        <p:nvSpPr>
          <p:cNvPr id="18" name="TextBox 17"/>
          <p:cNvSpPr txBox="1"/>
          <p:nvPr/>
        </p:nvSpPr>
        <p:spPr>
          <a:xfrm>
            <a:off x="5224038" y="4202059"/>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6</a:t>
            </a:r>
          </a:p>
        </p:txBody>
      </p:sp>
      <p:sp>
        <p:nvSpPr>
          <p:cNvPr id="19" name="TextBox 18"/>
          <p:cNvSpPr txBox="1"/>
          <p:nvPr/>
        </p:nvSpPr>
        <p:spPr>
          <a:xfrm>
            <a:off x="5727843" y="4333552"/>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7</a:t>
            </a:r>
          </a:p>
        </p:txBody>
      </p:sp>
      <p:pic>
        <p:nvPicPr>
          <p:cNvPr id="20" name="Picture 19"/>
          <p:cNvPicPr>
            <a:picLocks noChangeAspect="1"/>
          </p:cNvPicPr>
          <p:nvPr/>
        </p:nvPicPr>
        <p:blipFill rotWithShape="1">
          <a:blip r:embed="rId2"/>
          <a:srcRect l="36353" t="24873" r="37007" b="30941"/>
          <a:stretch/>
        </p:blipFill>
        <p:spPr>
          <a:xfrm>
            <a:off x="4824788" y="3123696"/>
            <a:ext cx="2110910" cy="1968456"/>
          </a:xfrm>
          <a:prstGeom prst="rect">
            <a:avLst/>
          </a:prstGeom>
        </p:spPr>
      </p:pic>
      <p:cxnSp>
        <p:nvCxnSpPr>
          <p:cNvPr id="7" name="Straight Arrow Connector 6"/>
          <p:cNvCxnSpPr>
            <a:endCxn id="9" idx="1"/>
          </p:cNvCxnSpPr>
          <p:nvPr/>
        </p:nvCxnSpPr>
        <p:spPr>
          <a:xfrm flipV="1">
            <a:off x="6270943" y="2938059"/>
            <a:ext cx="613973" cy="498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9" idx="1"/>
          </p:cNvCxnSpPr>
          <p:nvPr/>
        </p:nvCxnSpPr>
        <p:spPr>
          <a:xfrm flipV="1">
            <a:off x="6423343" y="2938058"/>
            <a:ext cx="461573" cy="822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5485595" y="4702884"/>
            <a:ext cx="311674" cy="829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5727843" y="4827531"/>
            <a:ext cx="600490" cy="696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979105" y="5083227"/>
            <a:ext cx="1916130"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971413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Cellular Systems – Basic Concepts</a:t>
            </a:r>
          </a:p>
          <a:p>
            <a:endParaRPr lang="en-IN" dirty="0"/>
          </a:p>
        </p:txBody>
      </p:sp>
      <p:sp>
        <p:nvSpPr>
          <p:cNvPr id="4" name="Content Placeholder 3"/>
          <p:cNvSpPr>
            <a:spLocks noGrp="1"/>
          </p:cNvSpPr>
          <p:nvPr>
            <p:ph idx="1"/>
          </p:nvPr>
        </p:nvSpPr>
        <p:spPr>
          <a:xfrm>
            <a:off x="274320" y="1611630"/>
            <a:ext cx="8503920" cy="3410164"/>
          </a:xfrm>
          <a:prstGeom prst="rect">
            <a:avLst/>
          </a:prstGeom>
        </p:spPr>
        <p:txBody>
          <a:bodyPr wrap="square">
            <a:spAutoFit/>
          </a:bodyPr>
          <a:lstStyle/>
          <a:p>
            <a:pPr marL="342900" indent="-342900">
              <a:lnSpc>
                <a:spcPct val="115000"/>
              </a:lnSpc>
              <a:spcAft>
                <a:spcPts val="1000"/>
              </a:spcAft>
              <a:tabLst>
                <a:tab pos="457200" algn="l"/>
              </a:tabLst>
            </a:pPr>
            <a:r>
              <a:rPr lang="en-US" dirty="0">
                <a:latin typeface="Arial" panose="020B0604020202020204" pitchFamily="34" charset="0"/>
                <a:ea typeface="Times New Roman" panose="02020603050405020304" pitchFamily="18" charset="0"/>
                <a:cs typeface="Arial" panose="020B0604020202020204" pitchFamily="34" charset="0"/>
              </a:rPr>
              <a:t>Each base station is allocated a portion of the total number of channels .</a:t>
            </a:r>
          </a:p>
          <a:p>
            <a:pPr marL="342900" indent="-342900">
              <a:lnSpc>
                <a:spcPct val="115000"/>
              </a:lnSpc>
              <a:spcAft>
                <a:spcPts val="1000"/>
              </a:spcAft>
              <a:tabLst>
                <a:tab pos="457200" algn="l"/>
              </a:tabLst>
            </a:pPr>
            <a:r>
              <a:rPr lang="en-US" dirty="0">
                <a:latin typeface="Arial" panose="020B0604020202020204" pitchFamily="34" charset="0"/>
                <a:ea typeface="Times New Roman" panose="02020603050405020304" pitchFamily="18" charset="0"/>
                <a:cs typeface="Arial" panose="020B0604020202020204" pitchFamily="34" charset="0"/>
              </a:rPr>
              <a:t> Neighboring base stations are assigned different groups of channels so that the interference between base stations is minimized. </a:t>
            </a:r>
          </a:p>
          <a:p>
            <a:pPr marL="342900" indent="-342900">
              <a:lnSpc>
                <a:spcPct val="115000"/>
              </a:lnSpc>
              <a:spcAft>
                <a:spcPts val="1000"/>
              </a:spcAft>
              <a:tabLst>
                <a:tab pos="457200" algn="l"/>
              </a:tabLst>
            </a:pPr>
            <a:r>
              <a:rPr lang="en-US" dirty="0">
                <a:latin typeface="Arial" panose="020B0604020202020204" pitchFamily="34" charset="0"/>
                <a:ea typeface="Times New Roman" panose="02020603050405020304" pitchFamily="18" charset="0"/>
                <a:cs typeface="Arial" panose="020B0604020202020204" pitchFamily="34" charset="0"/>
              </a:rPr>
              <a:t>A switching technique called Handoff  enables a call to proceed uninterrupted when user moves from one cell to another.</a:t>
            </a:r>
          </a:p>
          <a:p>
            <a:pPr marL="342900" indent="-342900">
              <a:lnSpc>
                <a:spcPct val="115000"/>
              </a:lnSpc>
              <a:spcAft>
                <a:spcPts val="1000"/>
              </a:spcAft>
              <a:tabLst>
                <a:tab pos="457200" algn="l"/>
              </a:tabLst>
            </a:pPr>
            <a:r>
              <a:rPr lang="en-US" dirty="0">
                <a:latin typeface="Arial" panose="020B0604020202020204" pitchFamily="34" charset="0"/>
                <a:cs typeface="Arial" panose="020B0604020202020204" pitchFamily="34" charset="0"/>
              </a:rPr>
              <a:t>Cell size can be reduced if the transmitted power is reduced. (Transmitted power is a factor which will decide how big the cell size should be)</a:t>
            </a:r>
          </a:p>
          <a:p>
            <a:pPr marL="342900" indent="-342900">
              <a:lnSpc>
                <a:spcPct val="115000"/>
              </a:lnSpc>
              <a:spcAft>
                <a:spcPts val="1000"/>
              </a:spcAft>
              <a:tabLst>
                <a:tab pos="457200" algn="l"/>
              </a:tabLst>
            </a:pPr>
            <a:endParaRPr lang="en-IN"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87078927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Choosing Shape for a Cell</a:t>
            </a:r>
          </a:p>
          <a:p>
            <a:endParaRPr lang="en-IN" dirty="0"/>
          </a:p>
        </p:txBody>
      </p:sp>
      <p:pic>
        <p:nvPicPr>
          <p:cNvPr id="4" name="Picture 4" descr="CirclePacking"/>
          <p:cNvPicPr>
            <a:picLocks noChangeAspect="1" noChangeArrowheads="1"/>
          </p:cNvPicPr>
          <p:nvPr/>
        </p:nvPicPr>
        <p:blipFill>
          <a:blip r:embed="rId2"/>
          <a:srcRect r="51363" b="14400"/>
          <a:stretch>
            <a:fillRect/>
          </a:stretch>
        </p:blipFill>
        <p:spPr bwMode="auto">
          <a:xfrm>
            <a:off x="533401" y="2609851"/>
            <a:ext cx="2623002" cy="2431075"/>
          </a:xfrm>
          <a:prstGeom prst="rect">
            <a:avLst/>
          </a:prstGeom>
          <a:noFill/>
        </p:spPr>
      </p:pic>
      <p:sp>
        <p:nvSpPr>
          <p:cNvPr id="5" name="TextBox 4"/>
          <p:cNvSpPr txBox="1"/>
          <p:nvPr/>
        </p:nvSpPr>
        <p:spPr>
          <a:xfrm>
            <a:off x="648985" y="2093055"/>
            <a:ext cx="2032571" cy="369332"/>
          </a:xfrm>
          <a:prstGeom prst="rect">
            <a:avLst/>
          </a:prstGeom>
          <a:noFill/>
        </p:spPr>
        <p:txBody>
          <a:bodyPr wrap="square" rtlCol="0">
            <a:spAutoFit/>
          </a:bodyPr>
          <a:lstStyle/>
          <a:p>
            <a:pPr algn="l" rtl="0"/>
            <a:r>
              <a:rPr lang="en-US" kern="1200" dirty="0">
                <a:solidFill>
                  <a:srgbClr val="0070C0"/>
                </a:solidFill>
                <a:latin typeface="Arial" panose="020B0604020202020204" pitchFamily="34" charset="0"/>
                <a:ea typeface="+mn-ea"/>
                <a:cs typeface="Arial" panose="020B0604020202020204" pitchFamily="34" charset="0"/>
              </a:rPr>
              <a:t>Circle Shape</a:t>
            </a:r>
          </a:p>
        </p:txBody>
      </p:sp>
      <p:cxnSp>
        <p:nvCxnSpPr>
          <p:cNvPr id="6" name="Straight Connector 5"/>
          <p:cNvCxnSpPr/>
          <p:nvPr/>
        </p:nvCxnSpPr>
        <p:spPr>
          <a:xfrm>
            <a:off x="2261078" y="4422383"/>
            <a:ext cx="92542" cy="95963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1540342" y="4424595"/>
            <a:ext cx="10497" cy="1023611"/>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550839" y="5151185"/>
            <a:ext cx="1714375" cy="461665"/>
          </a:xfrm>
          <a:prstGeom prst="rect">
            <a:avLst/>
          </a:prstGeom>
          <a:noFill/>
        </p:spPr>
        <p:txBody>
          <a:bodyPr wrap="square" rtlCol="0">
            <a:spAutoFit/>
          </a:bodyPr>
          <a:lstStyle/>
          <a:p>
            <a:pPr algn="l" rtl="0"/>
            <a:r>
              <a:rPr lang="en-US" sz="2400" kern="1200" dirty="0">
                <a:solidFill>
                  <a:srgbClr val="FF0000"/>
                </a:solidFill>
                <a:latin typeface="Calibri"/>
                <a:ea typeface="+mn-ea"/>
                <a:cs typeface="+mn-cs"/>
              </a:rPr>
              <a:t>Gaps</a:t>
            </a:r>
          </a:p>
        </p:txBody>
      </p:sp>
      <p:pic>
        <p:nvPicPr>
          <p:cNvPr id="9" name="Picture 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7959"/>
          <a:stretch/>
        </p:blipFill>
        <p:spPr bwMode="auto">
          <a:xfrm>
            <a:off x="3514425" y="2763276"/>
            <a:ext cx="3405173" cy="854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55048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Choosing Shape for a Cell</a:t>
            </a:r>
          </a:p>
          <a:p>
            <a:endParaRPr lang="en-IN" dirty="0"/>
          </a:p>
        </p:txBody>
      </p:sp>
      <p:pic>
        <p:nvPicPr>
          <p:cNvPr id="4" name="Picture 2" descr="https://upload.wikimedia.org/wikipedia/commons/thumb/e/ee/Frequency_reuse.svg/279px-Frequency_reuse.svg.png"/>
          <p:cNvPicPr>
            <a:picLocks noChangeAspect="1" noChangeArrowheads="1"/>
          </p:cNvPicPr>
          <p:nvPr/>
        </p:nvPicPr>
        <p:blipFill>
          <a:blip r:embed="rId2"/>
          <a:srcRect/>
          <a:stretch>
            <a:fillRect/>
          </a:stretch>
        </p:blipFill>
        <p:spPr bwMode="auto">
          <a:xfrm>
            <a:off x="339451" y="2220033"/>
            <a:ext cx="2667347" cy="21510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4"/>
          <p:cNvSpPr/>
          <p:nvPr/>
        </p:nvSpPr>
        <p:spPr>
          <a:xfrm>
            <a:off x="3255195" y="2062795"/>
            <a:ext cx="5323726" cy="1631216"/>
          </a:xfrm>
          <a:prstGeom prst="rect">
            <a:avLst/>
          </a:prstGeom>
        </p:spPr>
        <p:txBody>
          <a:bodyPr wrap="square">
            <a:spAutoFit/>
          </a:bodyPr>
          <a:lstStyle/>
          <a:p>
            <a:pPr marL="285750" indent="-285750" algn="l" rtl="0">
              <a:buFont typeface="Arial" panose="020B0604020202020204" pitchFamily="34" charset="0"/>
              <a:buChar char="•"/>
            </a:pPr>
            <a:r>
              <a:rPr lang="en-US" sz="2000"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Hexagon has the largest area .</a:t>
            </a:r>
          </a:p>
          <a:p>
            <a:pPr marL="285750" indent="-285750" algn="l" rtl="0">
              <a:buFont typeface="Arial" panose="020B0604020202020204" pitchFamily="34" charset="0"/>
              <a:buChar char="•"/>
            </a:pPr>
            <a:r>
              <a:rPr lang="en-US" sz="2000"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Approximates  the shape of circle</a:t>
            </a:r>
          </a:p>
          <a:p>
            <a:pPr marL="285750" indent="-285750" algn="l" rtl="0">
              <a:buFont typeface="Arial" panose="020B0604020202020204" pitchFamily="34" charset="0"/>
              <a:buChar char="•"/>
            </a:pPr>
            <a:r>
              <a:rPr lang="en-US" sz="2000"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 It has been universally adopted . </a:t>
            </a:r>
          </a:p>
          <a:p>
            <a:pPr marL="285750" indent="-285750" algn="l" rtl="0">
              <a:buFont typeface="Arial" panose="020B0604020202020204" pitchFamily="34" charset="0"/>
              <a:buChar char="•"/>
            </a:pPr>
            <a:r>
              <a:rPr lang="en-US" sz="2000"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It also permits easy and manageable analysis of a cellular system. </a:t>
            </a:r>
            <a:endParaRPr lang="en-IN" sz="2000" kern="1200" dirty="0">
              <a:solidFill>
                <a:prstClr val="black"/>
              </a:solidFill>
              <a:latin typeface="Arial" panose="020B0604020202020204" pitchFamily="34" charset="0"/>
              <a:ea typeface="+mn-ea"/>
              <a:cs typeface="Arial" panose="020B0604020202020204" pitchFamily="34" charset="0"/>
            </a:endParaRPr>
          </a:p>
        </p:txBody>
      </p:sp>
      <p:sp>
        <p:nvSpPr>
          <p:cNvPr id="6" name="TextBox 5"/>
          <p:cNvSpPr txBox="1"/>
          <p:nvPr/>
        </p:nvSpPr>
        <p:spPr>
          <a:xfrm>
            <a:off x="923818" y="4803433"/>
            <a:ext cx="2667000" cy="400110"/>
          </a:xfrm>
          <a:prstGeom prst="rect">
            <a:avLst/>
          </a:prstGeom>
          <a:noFill/>
        </p:spPr>
        <p:txBody>
          <a:bodyPr wrap="square" rtlCol="0">
            <a:spAutoFit/>
          </a:bodyPr>
          <a:lstStyle/>
          <a:p>
            <a:pPr algn="l" rtl="0"/>
            <a:r>
              <a:rPr lang="en-US" sz="2000" kern="1200" dirty="0">
                <a:solidFill>
                  <a:srgbClr val="0070C0"/>
                </a:solidFill>
                <a:latin typeface="Calibri"/>
                <a:ea typeface="+mn-ea"/>
                <a:cs typeface="+mn-cs"/>
              </a:rPr>
              <a:t>Hexagon Shape</a:t>
            </a:r>
          </a:p>
        </p:txBody>
      </p:sp>
      <p:sp>
        <p:nvSpPr>
          <p:cNvPr id="7" name="Rectangle 6"/>
          <p:cNvSpPr/>
          <p:nvPr/>
        </p:nvSpPr>
        <p:spPr>
          <a:xfrm>
            <a:off x="6979105" y="5083227"/>
            <a:ext cx="1916130"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8913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Frequency Reuse</a:t>
            </a:r>
          </a:p>
          <a:p>
            <a:endParaRPr lang="en-IN" dirty="0"/>
          </a:p>
        </p:txBody>
      </p:sp>
      <p:sp>
        <p:nvSpPr>
          <p:cNvPr id="5" name="Rectangle 4"/>
          <p:cNvSpPr/>
          <p:nvPr/>
        </p:nvSpPr>
        <p:spPr>
          <a:xfrm>
            <a:off x="3514424" y="1396873"/>
            <a:ext cx="5257800" cy="4400820"/>
          </a:xfrm>
          <a:prstGeom prst="rect">
            <a:avLst/>
          </a:prstGeom>
        </p:spPr>
        <p:txBody>
          <a:bodyPr wrap="square">
            <a:spAutoFit/>
          </a:bodyPr>
          <a:lstStyle/>
          <a:p>
            <a:pPr marL="514350" indent="-285750" algn="l" rtl="0">
              <a:lnSpc>
                <a:spcPct val="115000"/>
              </a:lnSpc>
              <a:spcAft>
                <a:spcPts val="1000"/>
              </a:spcAft>
              <a:buFont typeface="Arial" panose="020B0604020202020204" pitchFamily="34" charset="0"/>
              <a:buChar char="•"/>
            </a:pPr>
            <a:endParaRPr lang="en-US"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a:p>
            <a:pPr marL="514350" indent="-285750" algn="l" rtl="0">
              <a:lnSpc>
                <a:spcPct val="115000"/>
              </a:lnSpc>
              <a:spcAft>
                <a:spcPts val="1000"/>
              </a:spcAft>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Cellular radio systems rely on reuse of the channels through out the coverage area.</a:t>
            </a:r>
            <a:endParaRPr lang="en-IN" sz="1400" kern="120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a:p>
            <a:pPr marL="514350" indent="-285750" algn="l" rtl="0">
              <a:lnSpc>
                <a:spcPct val="115000"/>
              </a:lnSpc>
              <a:spcAft>
                <a:spcPts val="1000"/>
              </a:spcAft>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Each base station is allocated a group of radio channels to be used with in the small geographic area of its cell.</a:t>
            </a:r>
            <a:endParaRPr lang="en-IN" sz="1400" kern="120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a:p>
            <a:pPr marL="514350" indent="-285750" algn="l" rtl="0">
              <a:lnSpc>
                <a:spcPct val="115000"/>
              </a:lnSpc>
              <a:spcAft>
                <a:spcPts val="1000"/>
              </a:spcAft>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Neighboring base stations are given different channel allocation.</a:t>
            </a:r>
            <a:endParaRPr lang="en-IN" sz="1400" kern="120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a:p>
            <a:pPr marL="514350" indent="-285750" algn="l" rtl="0">
              <a:lnSpc>
                <a:spcPct val="115000"/>
              </a:lnSpc>
              <a:spcAft>
                <a:spcPts val="1000"/>
              </a:spcAft>
              <a:buFont typeface="Arial" panose="020B0604020202020204" pitchFamily="34" charset="0"/>
              <a:buChar char="•"/>
            </a:pPr>
            <a:r>
              <a:rPr lang="en-US" kern="1200" dirty="0">
                <a:solidFill>
                  <a:prstClr val="black"/>
                </a:solidFill>
                <a:latin typeface="Arial" panose="020B0604020202020204" pitchFamily="34" charset="0"/>
                <a:ea typeface="Times New Roman" panose="02020603050405020304" pitchFamily="18" charset="0"/>
                <a:cs typeface="Arial" panose="020B0604020202020204" pitchFamily="34" charset="0"/>
              </a:rPr>
              <a:t>The same group of frequencies is re used to cover another cell separated by a large distance to minimize co-channel interference . </a:t>
            </a:r>
            <a:endParaRPr lang="en-IN" sz="1400" kern="1200"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p:cNvSpPr txBox="1"/>
          <p:nvPr/>
        </p:nvSpPr>
        <p:spPr>
          <a:xfrm>
            <a:off x="152977" y="4521911"/>
            <a:ext cx="3197061" cy="584775"/>
          </a:xfrm>
          <a:prstGeom prst="rect">
            <a:avLst/>
          </a:prstGeom>
          <a:noFill/>
        </p:spPr>
        <p:txBody>
          <a:bodyPr wrap="square" rtlCol="0">
            <a:spAutoFit/>
          </a:bodyPr>
          <a:lstStyle/>
          <a:p>
            <a:pPr algn="l" rtl="0"/>
            <a:r>
              <a:rPr lang="en-US" sz="1600" kern="1200" dirty="0">
                <a:solidFill>
                  <a:prstClr val="black"/>
                </a:solidFill>
                <a:latin typeface="Calibri"/>
                <a:ea typeface="+mn-ea"/>
                <a:cs typeface="+mn-cs"/>
              </a:rPr>
              <a:t>Illustration of Cellular Frequency </a:t>
            </a:r>
          </a:p>
          <a:p>
            <a:pPr algn="l" rtl="0"/>
            <a:r>
              <a:rPr lang="en-US" sz="1600" kern="1200" dirty="0">
                <a:solidFill>
                  <a:prstClr val="black"/>
                </a:solidFill>
                <a:latin typeface="Calibri"/>
                <a:ea typeface="+mn-ea"/>
                <a:cs typeface="+mn-cs"/>
              </a:rPr>
              <a:t>Reuse concept.</a:t>
            </a:r>
          </a:p>
        </p:txBody>
      </p:sp>
      <p:pic>
        <p:nvPicPr>
          <p:cNvPr id="7" name="Picture 6"/>
          <p:cNvPicPr>
            <a:picLocks noChangeAspect="1"/>
          </p:cNvPicPr>
          <p:nvPr/>
        </p:nvPicPr>
        <p:blipFill rotWithShape="1">
          <a:blip r:embed="rId2"/>
          <a:srcRect l="36353" t="24873" r="37007" b="30941"/>
          <a:stretch/>
        </p:blipFill>
        <p:spPr>
          <a:xfrm>
            <a:off x="696051" y="2103083"/>
            <a:ext cx="2110910" cy="1968456"/>
          </a:xfrm>
          <a:prstGeom prst="rect">
            <a:avLst/>
          </a:prstGeom>
        </p:spPr>
      </p:pic>
      <p:sp>
        <p:nvSpPr>
          <p:cNvPr id="8" name="Rectangle 7"/>
          <p:cNvSpPr/>
          <p:nvPr/>
        </p:nvSpPr>
        <p:spPr>
          <a:xfrm>
            <a:off x="6856094" y="5407216"/>
            <a:ext cx="1916130"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774015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1107520"/>
            <a:ext cx="6537960" cy="582930"/>
          </a:xfrm>
        </p:spPr>
        <p:txBody>
          <a:bodyPr/>
          <a:lstStyle/>
          <a:p>
            <a:r>
              <a:rPr lang="en-US" dirty="0"/>
              <a:t>Cellular Capacity</a:t>
            </a:r>
          </a:p>
          <a:p>
            <a:endParaRPr lang="en-IN" dirty="0"/>
          </a:p>
        </p:txBody>
      </p:sp>
      <p:sp>
        <p:nvSpPr>
          <p:cNvPr id="4" name="Content Placeholder 1"/>
          <p:cNvSpPr>
            <a:spLocks noGrp="1"/>
          </p:cNvSpPr>
          <p:nvPr>
            <p:ph idx="1"/>
          </p:nvPr>
        </p:nvSpPr>
        <p:spPr/>
        <p:txBody>
          <a:bodyPr>
            <a:normAutofit/>
          </a:bodyPr>
          <a:lstStyle/>
          <a:p>
            <a:pPr marL="0" indent="0">
              <a:buNone/>
            </a:pPr>
            <a:r>
              <a:rPr lang="en-US" dirty="0"/>
              <a:t>Let T = Total number of Duplex channels.</a:t>
            </a:r>
          </a:p>
          <a:p>
            <a:pPr marL="0" indent="0">
              <a:buNone/>
            </a:pPr>
            <a:r>
              <a:rPr lang="en-US" dirty="0"/>
              <a:t>  K cells = Size of each cluster</a:t>
            </a:r>
          </a:p>
          <a:p>
            <a:pPr marL="0" indent="0">
              <a:buNone/>
            </a:pPr>
            <a:r>
              <a:rPr lang="en-US" dirty="0"/>
              <a:t> N= T/k = number of channels per cell.</a:t>
            </a:r>
          </a:p>
          <a:p>
            <a:endParaRPr lang="en-US" dirty="0"/>
          </a:p>
          <a:p>
            <a:pPr marL="0" indent="0">
              <a:buNone/>
            </a:pPr>
            <a:r>
              <a:rPr lang="en-US" dirty="0"/>
              <a:t>For a specific geographic area, if clusters are replicated M times , then the total number of channels</a:t>
            </a:r>
          </a:p>
          <a:p>
            <a:pPr marL="0" indent="0">
              <a:buNone/>
            </a:pPr>
            <a:r>
              <a:rPr lang="en-US" dirty="0"/>
              <a:t>        - System capacity = M x T (Proportional to M)</a:t>
            </a:r>
          </a:p>
          <a:p>
            <a:pPr marL="0" indent="0">
              <a:buNone/>
            </a:pPr>
            <a:r>
              <a:rPr lang="en-US" dirty="0"/>
              <a:t>         - K depends on how much interference can be 	tolerated by base stations while maintaining a 	sufficient quality of communication</a:t>
            </a:r>
          </a:p>
          <a:p>
            <a:pPr marL="0" indent="0">
              <a:buNone/>
            </a:pPr>
            <a:r>
              <a:rPr lang="en-US" dirty="0"/>
              <a:t>	     - If the cluster size is reduced, more clusters are required to cover a given area and hence more capacity.</a:t>
            </a:r>
            <a:endParaRPr lang="en-IN" dirty="0"/>
          </a:p>
          <a:p>
            <a:endParaRPr lang="en-US" dirty="0"/>
          </a:p>
          <a:p>
            <a:endParaRPr lang="en-US" dirty="0"/>
          </a:p>
          <a:p>
            <a:endParaRPr lang="en-US" dirty="0"/>
          </a:p>
        </p:txBody>
      </p:sp>
    </p:spTree>
    <p:extLst>
      <p:ext uri="{BB962C8B-B14F-4D97-AF65-F5344CB8AC3E}">
        <p14:creationId xmlns:p14="http://schemas.microsoft.com/office/powerpoint/2010/main" val="427674320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Co-channel cells in a cellular system</a:t>
            </a:r>
          </a:p>
          <a:p>
            <a:endParaRPr lang="en-IN" dirty="0"/>
          </a:p>
        </p:txBody>
      </p:sp>
      <p:pic>
        <p:nvPicPr>
          <p:cNvPr id="4" name="Picture 8" descr="3"/>
          <p:cNvPicPr>
            <a:picLocks noGrp="1" noChangeAspect="1" noChangeArrowheads="1"/>
          </p:cNvPicPr>
          <p:nvPr>
            <p:ph idx="1"/>
          </p:nvPr>
        </p:nvPicPr>
        <p:blipFill>
          <a:blip r:embed="rId2" cstate="print">
            <a:lum bright="-20000" contrast="40000"/>
          </a:blip>
          <a:srcRect/>
          <a:stretch>
            <a:fillRect/>
          </a:stretch>
        </p:blipFill>
        <p:spPr>
          <a:xfrm>
            <a:off x="3256215" y="2299683"/>
            <a:ext cx="2770942" cy="2667231"/>
          </a:xfrm>
          <a:noFill/>
        </p:spPr>
      </p:pic>
      <p:sp>
        <p:nvSpPr>
          <p:cNvPr id="5" name="Rectangle 4"/>
          <p:cNvSpPr/>
          <p:nvPr/>
        </p:nvSpPr>
        <p:spPr>
          <a:xfrm>
            <a:off x="3011593" y="5093683"/>
            <a:ext cx="4559197" cy="369332"/>
          </a:xfrm>
          <a:prstGeom prst="rect">
            <a:avLst/>
          </a:prstGeom>
        </p:spPr>
        <p:txBody>
          <a:bodyPr wrap="none">
            <a:spAutoFit/>
          </a:bodyPr>
          <a:lstStyle/>
          <a:p>
            <a:pPr algn="l" rtl="0"/>
            <a:r>
              <a:rPr lang="en-US" kern="1200" dirty="0">
                <a:solidFill>
                  <a:prstClr val="black"/>
                </a:solidFill>
                <a:latin typeface="Calibri"/>
                <a:ea typeface="+mn-ea"/>
                <a:cs typeface="+mn-cs"/>
              </a:rPr>
              <a:t>Method of co-channel cells in a cellular system</a:t>
            </a:r>
          </a:p>
        </p:txBody>
      </p:sp>
      <p:sp>
        <p:nvSpPr>
          <p:cNvPr id="6" name="TextBox 5"/>
          <p:cNvSpPr txBox="1"/>
          <p:nvPr/>
        </p:nvSpPr>
        <p:spPr>
          <a:xfrm>
            <a:off x="1777429" y="2232171"/>
            <a:ext cx="2108771" cy="400110"/>
          </a:xfrm>
          <a:prstGeom prst="rect">
            <a:avLst/>
          </a:prstGeom>
          <a:noFill/>
        </p:spPr>
        <p:txBody>
          <a:bodyPr wrap="square" rtlCol="0">
            <a:spAutoFit/>
          </a:bodyPr>
          <a:lstStyle/>
          <a:p>
            <a:pPr algn="l" rtl="0"/>
            <a:r>
              <a:rPr lang="en-US" sz="2000" kern="1200" dirty="0">
                <a:solidFill>
                  <a:prstClr val="black"/>
                </a:solidFill>
                <a:latin typeface="Arial" panose="020B0604020202020204" pitchFamily="34" charset="0"/>
                <a:ea typeface="+mn-ea"/>
                <a:cs typeface="Arial" panose="020B0604020202020204" pitchFamily="34" charset="0"/>
              </a:rPr>
              <a:t>K= i</a:t>
            </a:r>
            <a:r>
              <a:rPr lang="en-US" sz="2000" kern="1200" baseline="30000" dirty="0">
                <a:solidFill>
                  <a:prstClr val="black"/>
                </a:solidFill>
                <a:latin typeface="Arial" panose="020B0604020202020204" pitchFamily="34" charset="0"/>
                <a:ea typeface="+mn-ea"/>
                <a:cs typeface="Arial" panose="020B0604020202020204" pitchFamily="34" charset="0"/>
              </a:rPr>
              <a:t>2</a:t>
            </a:r>
            <a:r>
              <a:rPr lang="en-US" sz="2000" kern="1200" dirty="0">
                <a:solidFill>
                  <a:prstClr val="black"/>
                </a:solidFill>
                <a:latin typeface="Arial" panose="020B0604020202020204" pitchFamily="34" charset="0"/>
                <a:ea typeface="+mn-ea"/>
                <a:cs typeface="Arial" panose="020B0604020202020204" pitchFamily="34" charset="0"/>
              </a:rPr>
              <a:t>+ij+j</a:t>
            </a:r>
            <a:r>
              <a:rPr lang="en-US" sz="2000" kern="1200" baseline="30000" dirty="0">
                <a:solidFill>
                  <a:prstClr val="black"/>
                </a:solidFill>
                <a:latin typeface="Arial" panose="020B0604020202020204" pitchFamily="34" charset="0"/>
                <a:ea typeface="+mn-ea"/>
                <a:cs typeface="Arial" panose="020B0604020202020204" pitchFamily="34" charset="0"/>
              </a:rPr>
              <a:t>2</a:t>
            </a:r>
          </a:p>
        </p:txBody>
      </p:sp>
      <p:pic>
        <p:nvPicPr>
          <p:cNvPr id="7" name="Picture 6" descr="Cellular Concepts                             (Co-Channel Cells)•   To find co-channel neighbors of a cell, move i cells p..."/>
          <p:cNvPicPr/>
          <p:nvPr/>
        </p:nvPicPr>
        <p:blipFill>
          <a:blip r:embed="rId3"/>
          <a:srcRect l="43730" t="60021" r="36207" b="29958"/>
          <a:stretch>
            <a:fillRect/>
          </a:stretch>
        </p:blipFill>
        <p:spPr bwMode="auto">
          <a:xfrm>
            <a:off x="1781302" y="2759051"/>
            <a:ext cx="1328791" cy="468758"/>
          </a:xfrm>
          <a:prstGeom prst="rect">
            <a:avLst/>
          </a:prstGeom>
          <a:noFill/>
          <a:ln w="9525">
            <a:noFill/>
            <a:miter lim="800000"/>
            <a:headEnd/>
            <a:tailEnd/>
          </a:ln>
        </p:spPr>
      </p:pic>
      <p:sp>
        <p:nvSpPr>
          <p:cNvPr id="8" name="TextBox 7"/>
          <p:cNvSpPr txBox="1"/>
          <p:nvPr/>
        </p:nvSpPr>
        <p:spPr>
          <a:xfrm>
            <a:off x="5741989" y="2196120"/>
            <a:ext cx="1828800" cy="369332"/>
          </a:xfrm>
          <a:prstGeom prst="rect">
            <a:avLst/>
          </a:prstGeom>
          <a:noFill/>
        </p:spPr>
        <p:txBody>
          <a:bodyPr wrap="square" rtlCol="0">
            <a:spAutoFit/>
          </a:bodyPr>
          <a:lstStyle/>
          <a:p>
            <a:pPr algn="l" rtl="0"/>
            <a:r>
              <a:rPr lang="en-US" kern="1200" dirty="0" err="1">
                <a:solidFill>
                  <a:prstClr val="black"/>
                </a:solidFill>
                <a:latin typeface="Calibri"/>
                <a:ea typeface="+mn-ea"/>
                <a:cs typeface="+mn-cs"/>
              </a:rPr>
              <a:t>i</a:t>
            </a:r>
            <a:r>
              <a:rPr lang="en-US" kern="1200" dirty="0">
                <a:solidFill>
                  <a:prstClr val="black"/>
                </a:solidFill>
                <a:latin typeface="Calibri"/>
                <a:ea typeface="+mn-ea"/>
                <a:cs typeface="+mn-cs"/>
              </a:rPr>
              <a:t>=3 and j=2</a:t>
            </a:r>
          </a:p>
        </p:txBody>
      </p:sp>
      <p:sp>
        <p:nvSpPr>
          <p:cNvPr id="9" name="Rectangle 8"/>
          <p:cNvSpPr/>
          <p:nvPr/>
        </p:nvSpPr>
        <p:spPr>
          <a:xfrm>
            <a:off x="6783404" y="5463016"/>
            <a:ext cx="1916130"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3554409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Problems</a:t>
            </a:r>
          </a:p>
          <a:p>
            <a:endParaRPr lang="en-IN" dirty="0"/>
          </a:p>
        </p:txBody>
      </p:sp>
      <p:sp>
        <p:nvSpPr>
          <p:cNvPr id="4" name="Content Placeholder 1"/>
          <p:cNvSpPr>
            <a:spLocks noGrp="1"/>
          </p:cNvSpPr>
          <p:nvPr>
            <p:ph idx="1"/>
          </p:nvPr>
        </p:nvSpPr>
        <p:spPr/>
        <p:txBody>
          <a:bodyPr>
            <a:normAutofit lnSpcReduction="10000"/>
          </a:bodyPr>
          <a:lstStyle/>
          <a:p>
            <a:pPr marL="0" indent="0">
              <a:buNone/>
            </a:pPr>
            <a:r>
              <a:rPr lang="en-US" sz="2000" dirty="0"/>
              <a:t>Spectrum allocated to wireless system- 40Mhz</a:t>
            </a:r>
          </a:p>
          <a:p>
            <a:pPr marL="0" indent="0">
              <a:buNone/>
            </a:pPr>
            <a:r>
              <a:rPr lang="en-US" sz="2000" dirty="0"/>
              <a:t>Simplex channel bandwidth for voice and control channel -25Khz</a:t>
            </a:r>
          </a:p>
          <a:p>
            <a:pPr marL="0" indent="0">
              <a:buNone/>
            </a:pPr>
            <a:r>
              <a:rPr lang="en-US" sz="2000" dirty="0"/>
              <a:t>Cluster size =4</a:t>
            </a:r>
          </a:p>
          <a:p>
            <a:pPr marL="0" indent="0">
              <a:buNone/>
            </a:pPr>
            <a:r>
              <a:rPr lang="en-US" sz="2000" dirty="0"/>
              <a:t>Bandwidth allocated for control channel = 1Mhz</a:t>
            </a:r>
          </a:p>
          <a:p>
            <a:pPr marL="0" indent="0">
              <a:buNone/>
            </a:pPr>
            <a:r>
              <a:rPr lang="en-US" sz="2000" dirty="0"/>
              <a:t>Number of channels per cell ?</a:t>
            </a:r>
          </a:p>
          <a:p>
            <a:pPr marL="0" indent="0">
              <a:buNone/>
            </a:pPr>
            <a:r>
              <a:rPr lang="en-US" sz="2000" dirty="0"/>
              <a:t>Number of control and voice channels in each cell?</a:t>
            </a:r>
          </a:p>
          <a:p>
            <a:pPr marL="0" indent="0">
              <a:buNone/>
            </a:pPr>
            <a:endParaRPr lang="en-US" sz="2000" dirty="0"/>
          </a:p>
          <a:p>
            <a:pPr marL="0" indent="0">
              <a:buNone/>
            </a:pPr>
            <a:r>
              <a:rPr lang="en-US" sz="2000" dirty="0"/>
              <a:t>Solution.</a:t>
            </a:r>
          </a:p>
          <a:p>
            <a:pPr marL="0" indent="0">
              <a:buNone/>
            </a:pPr>
            <a:r>
              <a:rPr lang="en-US" sz="2000" dirty="0"/>
              <a:t>Channel bandwidth = 25KHz * 2 simplex channels = 50KHz duplex channels.</a:t>
            </a:r>
          </a:p>
          <a:p>
            <a:pPr marL="0" indent="0">
              <a:buNone/>
            </a:pPr>
            <a:r>
              <a:rPr lang="en-US" sz="2000" dirty="0"/>
              <a:t>No. of available channels = 40000/50 = 800</a:t>
            </a:r>
          </a:p>
          <a:p>
            <a:pPr marL="0" indent="0">
              <a:buNone/>
            </a:pPr>
            <a:r>
              <a:rPr lang="en-US" sz="2000" dirty="0"/>
              <a:t>For N = 4, total number of channels available per cell = 800/4= 200.</a:t>
            </a:r>
          </a:p>
          <a:p>
            <a:pPr marL="0" indent="0">
              <a:buNone/>
            </a:pPr>
            <a:r>
              <a:rPr lang="en-US" sz="2000" dirty="0"/>
              <a:t> 1MHz – control channels.</a:t>
            </a:r>
          </a:p>
          <a:p>
            <a:pPr marL="0" indent="0">
              <a:buNone/>
            </a:pPr>
            <a:r>
              <a:rPr lang="en-US" sz="2000" dirty="0"/>
              <a:t>There fore 1000/50 = 20 control channels out of 800 channels are available.</a:t>
            </a:r>
          </a:p>
          <a:p>
            <a:pPr marL="0" indent="0">
              <a:buNone/>
            </a:pPr>
            <a:r>
              <a:rPr lang="en-US" sz="2000" dirty="0"/>
              <a:t>For N=4, we can have 5 control channels and 195 voice channels.</a:t>
            </a:r>
          </a:p>
          <a:p>
            <a:endParaRPr lang="en-US" dirty="0"/>
          </a:p>
        </p:txBody>
      </p:sp>
    </p:spTree>
    <p:extLst>
      <p:ext uri="{BB962C8B-B14F-4D97-AF65-F5344CB8AC3E}">
        <p14:creationId xmlns:p14="http://schemas.microsoft.com/office/powerpoint/2010/main" val="243039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20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4">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20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2000" fill="hold"/>
                                        <p:tgtEl>
                                          <p:spTgt spid="4">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anim calcmode="lin" valueType="num">
                                      <p:cBhvr additive="base">
                                        <p:cTn id="15" dur="20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6" dur="2000" fill="hold"/>
                                        <p:tgtEl>
                                          <p:spTgt spid="4">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anim calcmode="lin" valueType="num">
                                      <p:cBhvr additive="base">
                                        <p:cTn id="19" dur="20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4">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anim calcmode="lin" valueType="num">
                                      <p:cBhvr additive="base">
                                        <p:cTn id="23" dur="20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4" dur="2000" fill="hold"/>
                                        <p:tgtEl>
                                          <p:spTgt spid="4">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3" end="13"/>
                                            </p:txEl>
                                          </p:spTgt>
                                        </p:tgtEl>
                                        <p:attrNameLst>
                                          <p:attrName>style.visibility</p:attrName>
                                        </p:attrNameLst>
                                      </p:cBhvr>
                                      <p:to>
                                        <p:strVal val="visible"/>
                                      </p:to>
                                    </p:set>
                                    <p:anim calcmode="lin" valueType="num">
                                      <p:cBhvr additive="base">
                                        <p:cTn id="27" dur="20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28" dur="20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IN" dirty="0"/>
          </a:p>
          <a:p>
            <a:r>
              <a:rPr lang="en-IN" dirty="0"/>
              <a:t>Cellular concept increases the system capacity with frequency re-use.</a:t>
            </a:r>
          </a:p>
          <a:p>
            <a:r>
              <a:rPr lang="en-IN" dirty="0"/>
              <a:t>Hexagonal cell is the shape considered for the cell as it is close to circle and has large area compared to other shapes.</a:t>
            </a:r>
          </a:p>
          <a:p>
            <a:r>
              <a:rPr lang="en-IN" dirty="0"/>
              <a:t>Method of placing the co-channel cells in a geographical area to reduce the co-channel interference.</a:t>
            </a:r>
          </a:p>
          <a:p>
            <a:endParaRPr lang="en-IN" dirty="0"/>
          </a:p>
          <a:p>
            <a:endParaRPr lang="en-US" dirty="0"/>
          </a:p>
          <a:p>
            <a:endParaRPr lang="en-US" dirty="0"/>
          </a:p>
          <a:p>
            <a:endParaRPr lang="en-IN" dirty="0"/>
          </a:p>
          <a:p>
            <a:endParaRPr lang="en-US"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Channel Assignment Strategies</a:t>
            </a:r>
          </a:p>
        </p:txBody>
      </p:sp>
      <p:sp>
        <p:nvSpPr>
          <p:cNvPr id="3" name="Content Placeholder 2"/>
          <p:cNvSpPr>
            <a:spLocks noGrp="1"/>
          </p:cNvSpPr>
          <p:nvPr>
            <p:ph idx="1"/>
          </p:nvPr>
        </p:nvSpPr>
        <p:spPr/>
        <p:txBody>
          <a:bodyPr/>
          <a:lstStyle/>
          <a:p>
            <a:r>
              <a:rPr lang="en-US" dirty="0"/>
              <a:t>For efficient utilization of the radio spectrum, a frequency reuse was adopted with the objectives of increasing capacity of the cellular system and minimizing interference . </a:t>
            </a:r>
          </a:p>
          <a:p>
            <a:endParaRPr lang="en-US" dirty="0">
              <a:solidFill>
                <a:srgbClr val="FF0000"/>
              </a:solidFill>
            </a:endParaRPr>
          </a:p>
          <a:p>
            <a:pPr marL="0" indent="0">
              <a:buNone/>
            </a:pPr>
            <a:r>
              <a:rPr lang="en-US" dirty="0">
                <a:solidFill>
                  <a:srgbClr val="FF0000"/>
                </a:solidFill>
              </a:rPr>
              <a:t>Two approaches :</a:t>
            </a:r>
          </a:p>
          <a:p>
            <a:endParaRPr lang="en-US" dirty="0">
              <a:solidFill>
                <a:srgbClr val="FF0000"/>
              </a:solidFill>
            </a:endParaRPr>
          </a:p>
          <a:p>
            <a:r>
              <a:rPr lang="en-US" dirty="0">
                <a:solidFill>
                  <a:srgbClr val="FF0000"/>
                </a:solidFill>
              </a:rPr>
              <a:t>Fixed</a:t>
            </a:r>
            <a:r>
              <a:rPr lang="en-US" dirty="0"/>
              <a:t>  Channel assignment</a:t>
            </a:r>
          </a:p>
          <a:p>
            <a:endParaRPr lang="en-US" dirty="0">
              <a:solidFill>
                <a:srgbClr val="FF0000"/>
              </a:solidFill>
            </a:endParaRPr>
          </a:p>
          <a:p>
            <a:r>
              <a:rPr lang="en-US" dirty="0">
                <a:solidFill>
                  <a:srgbClr val="FF0000"/>
                </a:solidFill>
              </a:rPr>
              <a:t>Dynamic</a:t>
            </a:r>
            <a:r>
              <a:rPr lang="en-US" dirty="0"/>
              <a:t> channel assignment</a:t>
            </a:r>
          </a:p>
          <a:p>
            <a:endParaRPr lang="en-IN" dirty="0"/>
          </a:p>
        </p:txBody>
      </p:sp>
    </p:spTree>
    <p:extLst>
      <p:ext uri="{BB962C8B-B14F-4D97-AF65-F5344CB8AC3E}">
        <p14:creationId xmlns:p14="http://schemas.microsoft.com/office/powerpoint/2010/main" val="353232668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Fixed Channel Assignment</a:t>
            </a:r>
            <a:endParaRPr lang="en-IN" dirty="0"/>
          </a:p>
        </p:txBody>
      </p:sp>
      <p:sp>
        <p:nvSpPr>
          <p:cNvPr id="3" name="Content Placeholder 2"/>
          <p:cNvSpPr>
            <a:spLocks noGrp="1"/>
          </p:cNvSpPr>
          <p:nvPr>
            <p:ph idx="1"/>
          </p:nvPr>
        </p:nvSpPr>
        <p:spPr/>
        <p:txBody>
          <a:bodyPr/>
          <a:lstStyle/>
          <a:p>
            <a:r>
              <a:rPr lang="en-US" dirty="0"/>
              <a:t>Each cell is allocated a predetermined set of voice channels. </a:t>
            </a:r>
          </a:p>
          <a:p>
            <a:r>
              <a:rPr lang="en-US" dirty="0"/>
              <a:t>Any call attempt within the cell can only be served by the unused channels in that particular cell. </a:t>
            </a:r>
          </a:p>
          <a:p>
            <a:r>
              <a:rPr lang="en-US" dirty="0"/>
              <a:t>If all the channels in that cell are occupied, the call is blocked and the subscriber does not receive service.</a:t>
            </a:r>
          </a:p>
          <a:p>
            <a:r>
              <a:rPr lang="en-US" dirty="0"/>
              <a:t>Many Variations in the fixed channel assignment. </a:t>
            </a:r>
          </a:p>
          <a:p>
            <a:pPr marL="0" indent="0">
              <a:buNone/>
            </a:pPr>
            <a:r>
              <a:rPr lang="en-US" dirty="0"/>
              <a:t>	- </a:t>
            </a:r>
            <a:r>
              <a:rPr lang="en-US" dirty="0">
                <a:solidFill>
                  <a:srgbClr val="FF0000"/>
                </a:solidFill>
              </a:rPr>
              <a:t>Borrowing strategy</a:t>
            </a:r>
          </a:p>
          <a:p>
            <a:pPr marL="0" indent="0">
              <a:buNone/>
            </a:pPr>
            <a:r>
              <a:rPr lang="en-US" dirty="0"/>
              <a:t>	- Cells borrow channels from neighboring cells </a:t>
            </a:r>
          </a:p>
          <a:p>
            <a:pPr marL="0" indent="0">
              <a:buNone/>
            </a:pPr>
            <a:r>
              <a:rPr lang="en-US" dirty="0"/>
              <a:t>	- MSC supervise the borrowing activity</a:t>
            </a:r>
          </a:p>
          <a:p>
            <a:pPr marL="0" indent="0" algn="l">
              <a:buNone/>
            </a:pPr>
            <a:r>
              <a:rPr lang="en-US" dirty="0"/>
              <a:t>	- Borrowing of a channel does not interfere with any of the calls in the donor  </a:t>
            </a:r>
          </a:p>
          <a:p>
            <a:pPr marL="0" indent="0" algn="l">
              <a:buNone/>
            </a:pPr>
            <a:r>
              <a:rPr lang="en-US" dirty="0"/>
              <a:t>             cell </a:t>
            </a:r>
            <a:endParaRPr lang="en-IN" dirty="0"/>
          </a:p>
          <a:p>
            <a:endParaRPr lang="en-IN" dirty="0"/>
          </a:p>
        </p:txBody>
      </p:sp>
    </p:spTree>
    <p:extLst>
      <p:ext uri="{BB962C8B-B14F-4D97-AF65-F5344CB8AC3E}">
        <p14:creationId xmlns:p14="http://schemas.microsoft.com/office/powerpoint/2010/main" val="188856732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Dynamic Channel Assignment</a:t>
            </a:r>
            <a:endParaRPr lang="en-IN" dirty="0"/>
          </a:p>
        </p:txBody>
      </p:sp>
      <p:sp>
        <p:nvSpPr>
          <p:cNvPr id="3" name="Content Placeholder 2"/>
          <p:cNvSpPr>
            <a:spLocks noGrp="1"/>
          </p:cNvSpPr>
          <p:nvPr>
            <p:ph idx="1"/>
          </p:nvPr>
        </p:nvSpPr>
        <p:spPr/>
        <p:txBody>
          <a:bodyPr/>
          <a:lstStyle/>
          <a:p>
            <a:r>
              <a:rPr lang="en-US" dirty="0"/>
              <a:t>Voice channels are not allocated to different cells permanently. </a:t>
            </a:r>
          </a:p>
          <a:p>
            <a:r>
              <a:rPr lang="en-US" dirty="0"/>
              <a:t>Each time a call request is made, the serving base station requests a channel from the MSC. </a:t>
            </a:r>
          </a:p>
          <a:p>
            <a:r>
              <a:rPr lang="en-US" dirty="0"/>
              <a:t>The switch then allocates a channel to the requested cell following an algorithm that takes into account the likelihood of fixture blocking within the cell, the frequency of use of the candidate channel, the reuse distance of the channel.</a:t>
            </a:r>
          </a:p>
          <a:p>
            <a:r>
              <a:rPr lang="en-US" dirty="0"/>
              <a:t>Advantage of increased channel utilization and decreased probability of blocked call.</a:t>
            </a:r>
          </a:p>
          <a:p>
            <a:r>
              <a:rPr lang="en-US" dirty="0"/>
              <a:t>MSC continuously collect the data on real time occupancy, traffic distribution , radio signal strength indications(RSSI)of all channels.  </a:t>
            </a:r>
          </a:p>
          <a:p>
            <a:r>
              <a:rPr lang="en-US" dirty="0"/>
              <a:t>Disadvantage: Increases the computational load , storage on the MSC.</a:t>
            </a:r>
          </a:p>
          <a:p>
            <a:pPr marL="0" indent="0"/>
            <a:endParaRPr lang="en-US" dirty="0"/>
          </a:p>
          <a:p>
            <a:pPr marL="0" indent="0"/>
            <a:endParaRPr lang="en-IN" dirty="0"/>
          </a:p>
          <a:p>
            <a:pPr marL="0" indent="0"/>
            <a:endParaRPr lang="en-IN" dirty="0"/>
          </a:p>
          <a:p>
            <a:endParaRPr lang="en-IN" dirty="0"/>
          </a:p>
        </p:txBody>
      </p:sp>
      <p:sp>
        <p:nvSpPr>
          <p:cNvPr id="4" name="Rectangle 3"/>
          <p:cNvSpPr/>
          <p:nvPr/>
        </p:nvSpPr>
        <p:spPr>
          <a:xfrm>
            <a:off x="7320338" y="5541764"/>
            <a:ext cx="1823663" cy="369332"/>
          </a:xfrm>
          <a:prstGeom prst="rect">
            <a:avLst/>
          </a:prstGeom>
        </p:spPr>
        <p:txBody>
          <a:bodyPr wrap="square">
            <a:spAutoFit/>
          </a:bodyPr>
          <a:lstStyle/>
          <a:p>
            <a:pPr algn="l" rtl="0"/>
            <a:r>
              <a:rPr lang="en-IN" sz="900" kern="1200" dirty="0">
                <a:solidFill>
                  <a:prstClr val="black"/>
                </a:solidFill>
                <a:latin typeface="Calibri"/>
                <a:ea typeface="+mn-ea"/>
                <a:cs typeface="+mn-cs"/>
              </a:rPr>
              <a:t>Courtesy to Theodore S. Rappaport       </a:t>
            </a:r>
          </a:p>
          <a:p>
            <a:pPr algn="l" rtl="0"/>
            <a:r>
              <a:rPr lang="en-IN" sz="900" kern="1200" dirty="0">
                <a:solidFill>
                  <a:prstClr val="black"/>
                </a:solidFill>
                <a:latin typeface="Calibri"/>
                <a:ea typeface="+mn-ea"/>
                <a:cs typeface="+mn-cs"/>
              </a:rPr>
              <a:t>©2002, 1996 Prentice Hall PTR</a:t>
            </a:r>
          </a:p>
        </p:txBody>
      </p:sp>
    </p:spTree>
    <p:extLst>
      <p:ext uri="{BB962C8B-B14F-4D97-AF65-F5344CB8AC3E}">
        <p14:creationId xmlns:p14="http://schemas.microsoft.com/office/powerpoint/2010/main" val="230230156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In a Cellular Network</a:t>
            </a:r>
          </a:p>
        </p:txBody>
      </p:sp>
      <p:sp>
        <p:nvSpPr>
          <p:cNvPr id="3" name="Content Placeholder 2"/>
          <p:cNvSpPr>
            <a:spLocks noGrp="1"/>
          </p:cNvSpPr>
          <p:nvPr>
            <p:ph idx="1"/>
          </p:nvPr>
        </p:nvSpPr>
        <p:spPr/>
        <p:txBody>
          <a:bodyPr/>
          <a:lstStyle/>
          <a:p>
            <a:r>
              <a:rPr lang="en-US" dirty="0"/>
              <a:t>Handoff is the transition for any given user of signal transmission from one base station to a geographically adjacent base station as the user moves around.</a:t>
            </a:r>
          </a:p>
          <a:p>
            <a:endParaRPr lang="en-US" dirty="0"/>
          </a:p>
          <a:p>
            <a:r>
              <a:rPr lang="en-US" dirty="0"/>
              <a:t>Handover, in which the source and the target are different cells (even if they are on the same cell site) is called </a:t>
            </a:r>
            <a:r>
              <a:rPr lang="en-US" i="1" dirty="0">
                <a:solidFill>
                  <a:srgbClr val="FF0000"/>
                </a:solidFill>
              </a:rPr>
              <a:t>inter-cell</a:t>
            </a:r>
            <a:r>
              <a:rPr lang="en-US" dirty="0">
                <a:solidFill>
                  <a:srgbClr val="FF0000"/>
                </a:solidFill>
              </a:rPr>
              <a:t> </a:t>
            </a:r>
            <a:r>
              <a:rPr lang="en-US" dirty="0"/>
              <a:t>handover. </a:t>
            </a:r>
          </a:p>
          <a:p>
            <a:endParaRPr lang="en-US" dirty="0"/>
          </a:p>
          <a:p>
            <a:r>
              <a:rPr lang="en-US" dirty="0"/>
              <a:t>Source and target are one and the same cell- </a:t>
            </a:r>
            <a:r>
              <a:rPr lang="en-US" dirty="0">
                <a:solidFill>
                  <a:srgbClr val="FF0000"/>
                </a:solidFill>
              </a:rPr>
              <a:t>Intra-cell </a:t>
            </a:r>
            <a:r>
              <a:rPr lang="en-US" dirty="0"/>
              <a:t>Handover</a:t>
            </a:r>
          </a:p>
          <a:p>
            <a:pPr marL="0" indent="0">
              <a:buNone/>
            </a:pPr>
            <a:r>
              <a:rPr lang="en-US" dirty="0"/>
              <a:t>	- Interference in the channel causes the change of channel with in the cell.</a:t>
            </a:r>
            <a:endParaRPr lang="en-IN" dirty="0"/>
          </a:p>
          <a:p>
            <a:endParaRPr lang="en-IN" dirty="0"/>
          </a:p>
          <a:p>
            <a:endParaRPr lang="en-US" dirty="0"/>
          </a:p>
          <a:p>
            <a:endParaRPr lang="en-IN" dirty="0"/>
          </a:p>
        </p:txBody>
      </p:sp>
    </p:spTree>
    <p:extLst>
      <p:ext uri="{BB962C8B-B14F-4D97-AF65-F5344CB8AC3E}">
        <p14:creationId xmlns:p14="http://schemas.microsoft.com/office/powerpoint/2010/main" val="158498843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Purpose of Handoff </a:t>
            </a:r>
          </a:p>
        </p:txBody>
      </p:sp>
      <p:sp>
        <p:nvSpPr>
          <p:cNvPr id="3" name="Content Placeholder 2"/>
          <p:cNvSpPr>
            <a:spLocks noGrp="1"/>
          </p:cNvSpPr>
          <p:nvPr>
            <p:ph idx="1"/>
          </p:nvPr>
        </p:nvSpPr>
        <p:spPr/>
        <p:txBody>
          <a:bodyPr/>
          <a:lstStyle/>
          <a:p>
            <a:r>
              <a:rPr lang="en-US" dirty="0"/>
              <a:t>In telecommunications there may be different reasons why a handover might be conducted:</a:t>
            </a:r>
            <a:endParaRPr lang="en-IN" dirty="0"/>
          </a:p>
          <a:p>
            <a:endParaRPr lang="en-US" dirty="0"/>
          </a:p>
          <a:p>
            <a:r>
              <a:rPr lang="en-US" dirty="0"/>
              <a:t>When the user  is moving away from the area covered by one cell and entering the area covered by another cell.</a:t>
            </a:r>
          </a:p>
          <a:p>
            <a:endParaRPr lang="en-US" dirty="0"/>
          </a:p>
          <a:p>
            <a:r>
              <a:rPr lang="en-US" dirty="0"/>
              <a:t>In non-CDMA networks when the channel used by the phone becomes interfered by another phone using the same channel in a different cell, the call is transferred to a different channel in the same cell or to a different channel in another cell in order to avoid the interference</a:t>
            </a:r>
          </a:p>
          <a:p>
            <a:endParaRPr lang="en-US" dirty="0"/>
          </a:p>
          <a:p>
            <a:r>
              <a:rPr lang="en-US" dirty="0"/>
              <a:t>In CDMA networks a handover may be induced in order to reduce the interference to a smaller neighboring cell . </a:t>
            </a:r>
          </a:p>
          <a:p>
            <a:endParaRPr lang="en-IN" dirty="0"/>
          </a:p>
        </p:txBody>
      </p:sp>
    </p:spTree>
    <p:extLst>
      <p:ext uri="{BB962C8B-B14F-4D97-AF65-F5344CB8AC3E}">
        <p14:creationId xmlns:p14="http://schemas.microsoft.com/office/powerpoint/2010/main" val="66580960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r>
              <a:rPr lang="en-IN" dirty="0"/>
              <a:t>Channel assignment strategies involved two approaches namely fixed channel and dynamic channel assignment.</a:t>
            </a:r>
          </a:p>
          <a:p>
            <a:r>
              <a:rPr lang="en-US" dirty="0"/>
              <a:t>Variations in the fixed channel assignment strategy called borrowing strategy where the channel is borrowed from the neighboring cell.</a:t>
            </a:r>
            <a:endParaRPr lang="en-IN" dirty="0"/>
          </a:p>
          <a:p>
            <a:r>
              <a:rPr lang="en-US" dirty="0"/>
              <a:t>Handoff is the transition for any given user of signal transmission from one base station to a geographically adjacent base station as the user moves around.</a:t>
            </a:r>
          </a:p>
          <a:p>
            <a:r>
              <a:rPr lang="en-IN" dirty="0"/>
              <a:t>Purpose of handoff is </a:t>
            </a:r>
            <a:r>
              <a:rPr lang="en-US" dirty="0"/>
              <a:t> induced in order to reduce the interference to a smaller neighboring cell . </a:t>
            </a:r>
          </a:p>
          <a:p>
            <a:endParaRPr lang="en-IN" dirty="0"/>
          </a:p>
          <a:p>
            <a:endParaRPr lang="en-IN" dirty="0"/>
          </a:p>
          <a:p>
            <a:endParaRPr lang="en-IN" dirty="0"/>
          </a:p>
          <a:p>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a:t>
            </a:r>
          </a:p>
        </p:txBody>
      </p:sp>
      <p:pic>
        <p:nvPicPr>
          <p:cNvPr id="4" name="Picture 2"/>
          <p:cNvPicPr>
            <a:picLocks noGrp="1" noChangeAspect="1" noChangeArrowheads="1"/>
          </p:cNvPicPr>
          <p:nvPr>
            <p:ph idx="1"/>
          </p:nvPr>
        </p:nvPicPr>
        <p:blipFill>
          <a:blip r:embed="rId2"/>
          <a:srcRect l="24597" t="11250" r="23280" b="6250"/>
          <a:stretch>
            <a:fillRect/>
          </a:stretch>
        </p:blipFill>
        <p:spPr bwMode="auto">
          <a:xfrm>
            <a:off x="2214780" y="1604735"/>
            <a:ext cx="4623955" cy="4114800"/>
          </a:xfrm>
          <a:prstGeom prst="rect">
            <a:avLst/>
          </a:prstGeom>
          <a:noFill/>
          <a:ln w="9525">
            <a:noFill/>
            <a:miter lim="800000"/>
            <a:headEnd/>
            <a:tailEnd/>
          </a:ln>
          <a:effectLst/>
        </p:spPr>
      </p:pic>
      <p:pic>
        <p:nvPicPr>
          <p:cNvPr id="5" name="Picture 4" descr="Handoff Strategies•   When a mobile moves from one cell to the next during a call the MSC    automatically transfers the c..."/>
          <p:cNvPicPr/>
          <p:nvPr/>
        </p:nvPicPr>
        <p:blipFill>
          <a:blip r:embed="rId3"/>
          <a:srcRect l="25397" t="82359" r="58730" b="12892"/>
          <a:stretch>
            <a:fillRect/>
          </a:stretch>
        </p:blipFill>
        <p:spPr bwMode="auto">
          <a:xfrm>
            <a:off x="6783404" y="5199794"/>
            <a:ext cx="1848492" cy="363021"/>
          </a:xfrm>
          <a:prstGeom prst="rect">
            <a:avLst/>
          </a:prstGeom>
          <a:noFill/>
          <a:ln w="9525">
            <a:noFill/>
            <a:miter lim="800000"/>
            <a:headEnd/>
            <a:tailEnd/>
          </a:ln>
        </p:spPr>
      </p:pic>
      <p:sp>
        <p:nvSpPr>
          <p:cNvPr id="3" name="Rectangle 2"/>
          <p:cNvSpPr/>
          <p:nvPr/>
        </p:nvSpPr>
        <p:spPr>
          <a:xfrm>
            <a:off x="7073758" y="5662196"/>
            <a:ext cx="1731196" cy="338554"/>
          </a:xfrm>
          <a:prstGeom prst="rect">
            <a:avLst/>
          </a:prstGeom>
        </p:spPr>
        <p:txBody>
          <a:bodyPr wrap="square">
            <a:spAutoFit/>
          </a:bodyPr>
          <a:lstStyle/>
          <a:p>
            <a:pPr algn="l" rtl="0"/>
            <a:r>
              <a:rPr lang="en-IN" sz="800" kern="1200" dirty="0">
                <a:solidFill>
                  <a:prstClr val="black"/>
                </a:solidFill>
                <a:latin typeface="Calibri"/>
                <a:ea typeface="+mn-ea"/>
                <a:cs typeface="+mn-cs"/>
              </a:rPr>
              <a:t>Courtesy to Theodore S. Rappaport       </a:t>
            </a:r>
          </a:p>
          <a:p>
            <a:pPr algn="l" rtl="0"/>
            <a:r>
              <a:rPr lang="en-IN" sz="800" kern="1200" dirty="0">
                <a:solidFill>
                  <a:prstClr val="black"/>
                </a:solidFill>
                <a:latin typeface="Calibri"/>
                <a:ea typeface="+mn-ea"/>
                <a:cs typeface="+mn-cs"/>
              </a:rPr>
              <a:t>©2002, 1996 Prentice Hall PTR</a:t>
            </a:r>
          </a:p>
        </p:txBody>
      </p:sp>
      <p:sp>
        <p:nvSpPr>
          <p:cNvPr id="6" name="TextBox 5"/>
          <p:cNvSpPr txBox="1"/>
          <p:nvPr/>
        </p:nvSpPr>
        <p:spPr>
          <a:xfrm>
            <a:off x="1027415" y="5292864"/>
            <a:ext cx="2845942"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Fig: Handoff Strategies</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171198222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 contd..</a:t>
            </a:r>
          </a:p>
        </p:txBody>
      </p:sp>
      <p:sp>
        <p:nvSpPr>
          <p:cNvPr id="3" name="Content Placeholder 2"/>
          <p:cNvSpPr>
            <a:spLocks noGrp="1"/>
          </p:cNvSpPr>
          <p:nvPr>
            <p:ph idx="1"/>
          </p:nvPr>
        </p:nvSpPr>
        <p:spPr/>
        <p:txBody>
          <a:bodyPr/>
          <a:lstStyle/>
          <a:p>
            <a:endParaRPr lang="en-US" dirty="0"/>
          </a:p>
          <a:p>
            <a:r>
              <a:rPr lang="en-US" dirty="0"/>
              <a:t>In deciding when to handoff, it is important to ensure that the drop in the measured signal level is not due to momentary fading and that the mobile is actually moving away from the serving base station.</a:t>
            </a:r>
          </a:p>
          <a:p>
            <a:pPr marL="0" indent="0">
              <a:buNone/>
            </a:pPr>
            <a:endParaRPr lang="en-US" dirty="0"/>
          </a:p>
          <a:p>
            <a:r>
              <a:rPr lang="en-US" dirty="0"/>
              <a:t> In order to ensure this, the base station monitors the signal level for a certain period of time before a handoff is initiated. </a:t>
            </a:r>
          </a:p>
          <a:p>
            <a:pPr marL="0" indent="0">
              <a:buNone/>
            </a:pPr>
            <a:endParaRPr lang="en-US" dirty="0"/>
          </a:p>
          <a:p>
            <a:r>
              <a:rPr lang="en-US" dirty="0"/>
              <a:t>Running average measurement of signal strength should be optimized so that unnecessary handoffs are avoided, while ensuring that necessary handoffs are completed before a call is terminated due to poor signal level.</a:t>
            </a:r>
            <a:endParaRPr lang="en-IN" dirty="0"/>
          </a:p>
          <a:p>
            <a:endParaRPr lang="en-IN" dirty="0"/>
          </a:p>
          <a:p>
            <a:endParaRPr lang="en-IN" dirty="0"/>
          </a:p>
        </p:txBody>
      </p:sp>
    </p:spTree>
    <p:extLst>
      <p:ext uri="{BB962C8B-B14F-4D97-AF65-F5344CB8AC3E}">
        <p14:creationId xmlns:p14="http://schemas.microsoft.com/office/powerpoint/2010/main" val="249205138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a:t>
            </a:r>
          </a:p>
        </p:txBody>
      </p:sp>
      <p:sp>
        <p:nvSpPr>
          <p:cNvPr id="3" name="Content Placeholder 2"/>
          <p:cNvSpPr>
            <a:spLocks noGrp="1"/>
          </p:cNvSpPr>
          <p:nvPr>
            <p:ph idx="1"/>
          </p:nvPr>
        </p:nvSpPr>
        <p:spPr/>
        <p:txBody>
          <a:bodyPr/>
          <a:lstStyle/>
          <a:p>
            <a:endParaRPr lang="en-IN" dirty="0"/>
          </a:p>
          <a:p>
            <a:r>
              <a:rPr lang="en-IN" dirty="0"/>
              <a:t>Dwell Time: Time over which a call may be maintained with in a cell, with out Handoff.</a:t>
            </a:r>
          </a:p>
          <a:p>
            <a:endParaRPr lang="en-IN" dirty="0"/>
          </a:p>
          <a:p>
            <a:r>
              <a:rPr lang="en-IN" dirty="0"/>
              <a:t>First generation </a:t>
            </a:r>
            <a:r>
              <a:rPr lang="en-IN" dirty="0" err="1"/>
              <a:t>analog</a:t>
            </a:r>
            <a:r>
              <a:rPr lang="en-IN" dirty="0"/>
              <a:t> cellular systems</a:t>
            </a:r>
          </a:p>
          <a:p>
            <a:pPr>
              <a:buFontTx/>
              <a:buChar char="-"/>
            </a:pPr>
            <a:r>
              <a:rPr lang="en-IN" dirty="0"/>
              <a:t>Base stations monitors the signal strength of all mobile users</a:t>
            </a:r>
          </a:p>
          <a:p>
            <a:pPr>
              <a:buFontTx/>
              <a:buChar char="-"/>
            </a:pPr>
            <a:r>
              <a:rPr lang="en-IN" dirty="0"/>
              <a:t>MSC decides Handoff</a:t>
            </a:r>
          </a:p>
          <a:p>
            <a:endParaRPr lang="en-IN" dirty="0"/>
          </a:p>
        </p:txBody>
      </p:sp>
    </p:spTree>
    <p:extLst>
      <p:ext uri="{BB962C8B-B14F-4D97-AF65-F5344CB8AC3E}">
        <p14:creationId xmlns:p14="http://schemas.microsoft.com/office/powerpoint/2010/main" val="177508297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Strategies</a:t>
            </a:r>
          </a:p>
        </p:txBody>
      </p:sp>
      <p:sp>
        <p:nvSpPr>
          <p:cNvPr id="3" name="Content Placeholder 2"/>
          <p:cNvSpPr>
            <a:spLocks noGrp="1"/>
          </p:cNvSpPr>
          <p:nvPr>
            <p:ph idx="1"/>
          </p:nvPr>
        </p:nvSpPr>
        <p:spPr/>
        <p:txBody>
          <a:bodyPr/>
          <a:lstStyle/>
          <a:p>
            <a:endParaRPr lang="en-IN" dirty="0"/>
          </a:p>
          <a:p>
            <a:r>
              <a:rPr lang="en-IN" dirty="0"/>
              <a:t>Present cellular systems</a:t>
            </a:r>
          </a:p>
          <a:p>
            <a:pPr>
              <a:buFontTx/>
              <a:buChar char="-"/>
            </a:pPr>
            <a:r>
              <a:rPr lang="en-IN" dirty="0"/>
              <a:t>Mobile assist handoff (MAHO)</a:t>
            </a:r>
          </a:p>
          <a:p>
            <a:pPr>
              <a:buFontTx/>
              <a:buChar char="-"/>
            </a:pPr>
            <a:r>
              <a:rPr lang="en-IN" dirty="0"/>
              <a:t>Mobile measures received power from neighbouring base station and reports to the serving base station.</a:t>
            </a:r>
          </a:p>
          <a:p>
            <a:pPr>
              <a:buFontTx/>
              <a:buChar char="-"/>
            </a:pPr>
            <a:r>
              <a:rPr lang="en-IN" dirty="0"/>
              <a:t>Handover is fast </a:t>
            </a:r>
          </a:p>
          <a:p>
            <a:pPr>
              <a:buFontTx/>
              <a:buChar char="-"/>
            </a:pPr>
            <a:r>
              <a:rPr lang="en-IN" dirty="0"/>
              <a:t>Computation load on MSC is reduced.</a:t>
            </a:r>
          </a:p>
          <a:p>
            <a:pPr>
              <a:buFontTx/>
              <a:buChar char="-"/>
            </a:pPr>
            <a:endParaRPr lang="en-IN" dirty="0"/>
          </a:p>
          <a:p>
            <a:endParaRPr lang="en-IN" dirty="0"/>
          </a:p>
        </p:txBody>
      </p:sp>
    </p:spTree>
    <p:extLst>
      <p:ext uri="{BB962C8B-B14F-4D97-AF65-F5344CB8AC3E}">
        <p14:creationId xmlns:p14="http://schemas.microsoft.com/office/powerpoint/2010/main" val="312218144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Prioritizing Handoffs</a:t>
            </a:r>
          </a:p>
        </p:txBody>
      </p:sp>
      <p:sp>
        <p:nvSpPr>
          <p:cNvPr id="3" name="Content Placeholder 2"/>
          <p:cNvSpPr>
            <a:spLocks noGrp="1"/>
          </p:cNvSpPr>
          <p:nvPr>
            <p:ph idx="1"/>
          </p:nvPr>
        </p:nvSpPr>
        <p:spPr/>
        <p:txBody>
          <a:bodyPr/>
          <a:lstStyle/>
          <a:p>
            <a:pPr marL="0" indent="0">
              <a:buNone/>
            </a:pPr>
            <a:r>
              <a:rPr lang="en-IN" dirty="0"/>
              <a:t>2 methods for giving priority to Handoff</a:t>
            </a:r>
          </a:p>
          <a:p>
            <a:endParaRPr lang="en-IN" dirty="0"/>
          </a:p>
          <a:p>
            <a:r>
              <a:rPr lang="en-IN" dirty="0"/>
              <a:t>Guard channel concept</a:t>
            </a:r>
          </a:p>
          <a:p>
            <a:endParaRPr lang="en-IN" dirty="0"/>
          </a:p>
          <a:p>
            <a:r>
              <a:rPr lang="en-IN" dirty="0"/>
              <a:t>Queuing of handoff</a:t>
            </a:r>
          </a:p>
          <a:p>
            <a:pPr marL="0" indent="0">
              <a:buNone/>
            </a:pPr>
            <a:endParaRPr lang="en-IN" dirty="0"/>
          </a:p>
        </p:txBody>
      </p:sp>
    </p:spTree>
    <p:extLst>
      <p:ext uri="{BB962C8B-B14F-4D97-AF65-F5344CB8AC3E}">
        <p14:creationId xmlns:p14="http://schemas.microsoft.com/office/powerpoint/2010/main" val="152803397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Prioritizing Handoffs</a:t>
            </a:r>
          </a:p>
        </p:txBody>
      </p:sp>
      <p:sp>
        <p:nvSpPr>
          <p:cNvPr id="3" name="Content Placeholder 2"/>
          <p:cNvSpPr>
            <a:spLocks noGrp="1"/>
          </p:cNvSpPr>
          <p:nvPr>
            <p:ph idx="1"/>
          </p:nvPr>
        </p:nvSpPr>
        <p:spPr/>
        <p:txBody>
          <a:bodyPr/>
          <a:lstStyle/>
          <a:p>
            <a:pPr marL="0" indent="0">
              <a:buNone/>
            </a:pPr>
            <a:r>
              <a:rPr lang="en-US" dirty="0">
                <a:solidFill>
                  <a:srgbClr val="FF0000"/>
                </a:solidFill>
              </a:rPr>
              <a:t>Guard channel -</a:t>
            </a:r>
            <a:r>
              <a:rPr lang="en-US" dirty="0"/>
              <a:t>Fraction of the total available channels in a cell is reserved exclusively for handoff requests from ongoing calls which may be handed off into the cell.</a:t>
            </a:r>
          </a:p>
          <a:p>
            <a:pPr marL="0" indent="0"/>
            <a:endParaRPr lang="en-US" dirty="0"/>
          </a:p>
          <a:p>
            <a:pPr marL="0" indent="0">
              <a:buNone/>
            </a:pPr>
            <a:r>
              <a:rPr lang="en-US" dirty="0">
                <a:solidFill>
                  <a:srgbClr val="FF0000"/>
                </a:solidFill>
              </a:rPr>
              <a:t>Advantage: </a:t>
            </a:r>
          </a:p>
          <a:p>
            <a:pPr marL="0" indent="0">
              <a:buNone/>
            </a:pPr>
            <a:r>
              <a:rPr lang="en-US" dirty="0"/>
              <a:t>Efficient spectrum utilization when dynamic channel assignment strategies are used which minimizes the number of required guard channels by efficient demand based allocation.</a:t>
            </a:r>
          </a:p>
          <a:p>
            <a:pPr marL="0" indent="0"/>
            <a:endParaRPr lang="en-US" dirty="0"/>
          </a:p>
          <a:p>
            <a:pPr marL="0" indent="0">
              <a:buNone/>
            </a:pPr>
            <a:r>
              <a:rPr lang="en-US" dirty="0">
                <a:solidFill>
                  <a:srgbClr val="FF0000"/>
                </a:solidFill>
              </a:rPr>
              <a:t>Disadvantage: </a:t>
            </a:r>
          </a:p>
          <a:p>
            <a:pPr marL="0" indent="0">
              <a:buNone/>
            </a:pPr>
            <a:r>
              <a:rPr lang="en-US" dirty="0"/>
              <a:t>Reduction in the total traffic carried.</a:t>
            </a:r>
          </a:p>
          <a:p>
            <a:pPr marL="0" indent="0">
              <a:buNone/>
            </a:pPr>
            <a:r>
              <a:rPr lang="en-US" dirty="0"/>
              <a:t>Fewer channels are allocated to originating calls.</a:t>
            </a:r>
          </a:p>
          <a:p>
            <a:pPr marL="0" indent="0"/>
            <a:endParaRPr lang="en-US" dirty="0"/>
          </a:p>
          <a:p>
            <a:pPr marL="0" indent="0">
              <a:buNone/>
            </a:pPr>
            <a:endParaRPr lang="en-US" dirty="0"/>
          </a:p>
          <a:p>
            <a:endParaRPr lang="en-IN" dirty="0"/>
          </a:p>
        </p:txBody>
      </p:sp>
    </p:spTree>
    <p:extLst>
      <p:ext uri="{BB962C8B-B14F-4D97-AF65-F5344CB8AC3E}">
        <p14:creationId xmlns:p14="http://schemas.microsoft.com/office/powerpoint/2010/main" val="200544909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Prioritizing Handoffs</a:t>
            </a:r>
          </a:p>
        </p:txBody>
      </p:sp>
      <p:sp>
        <p:nvSpPr>
          <p:cNvPr id="3" name="Content Placeholder 2"/>
          <p:cNvSpPr>
            <a:spLocks noGrp="1"/>
          </p:cNvSpPr>
          <p:nvPr>
            <p:ph idx="1"/>
          </p:nvPr>
        </p:nvSpPr>
        <p:spPr/>
        <p:txBody>
          <a:bodyPr/>
          <a:lstStyle/>
          <a:p>
            <a:pPr marL="0" indent="0">
              <a:buNone/>
            </a:pPr>
            <a:r>
              <a:rPr lang="en-US" dirty="0">
                <a:solidFill>
                  <a:srgbClr val="FF0000"/>
                </a:solidFill>
              </a:rPr>
              <a:t>Queuing of handoff </a:t>
            </a:r>
          </a:p>
          <a:p>
            <a:r>
              <a:rPr lang="en-US" dirty="0"/>
              <a:t>Decrease the probability of forced termination of a call due to lack of available channels.</a:t>
            </a:r>
          </a:p>
          <a:p>
            <a:r>
              <a:rPr lang="en-US" dirty="0"/>
              <a:t>Queuing of handoffs is possible due to a finite time interval between the time the received signal level drops below the handoff threshold and the time the call is terminated due to insufficient signal level.</a:t>
            </a:r>
          </a:p>
          <a:p>
            <a:r>
              <a:rPr lang="en-US" dirty="0"/>
              <a:t>Time delay and the size of the queue depends on the traffic  of the particular service area. </a:t>
            </a:r>
          </a:p>
          <a:p>
            <a:r>
              <a:rPr lang="en-US" dirty="0"/>
              <a:t>Queuing does not guarantee a zero probability of forced termination.</a:t>
            </a:r>
            <a:endParaRPr lang="en-IN" dirty="0"/>
          </a:p>
          <a:p>
            <a:endParaRPr lang="en-US" dirty="0">
              <a:solidFill>
                <a:srgbClr val="FF0000"/>
              </a:solidFill>
            </a:endParaRPr>
          </a:p>
          <a:p>
            <a:endParaRPr lang="en-IN" dirty="0"/>
          </a:p>
        </p:txBody>
      </p:sp>
    </p:spTree>
    <p:extLst>
      <p:ext uri="{BB962C8B-B14F-4D97-AF65-F5344CB8AC3E}">
        <p14:creationId xmlns:p14="http://schemas.microsoft.com/office/powerpoint/2010/main" val="185848046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Types of Handoff</a:t>
            </a:r>
          </a:p>
        </p:txBody>
      </p:sp>
      <p:sp>
        <p:nvSpPr>
          <p:cNvPr id="3" name="Content Placeholder 2"/>
          <p:cNvSpPr>
            <a:spLocks noGrp="1"/>
          </p:cNvSpPr>
          <p:nvPr>
            <p:ph idx="1"/>
          </p:nvPr>
        </p:nvSpPr>
        <p:spPr/>
        <p:txBody>
          <a:bodyPr/>
          <a:lstStyle/>
          <a:p>
            <a:pPr marL="0" indent="0">
              <a:buNone/>
            </a:pPr>
            <a:r>
              <a:rPr lang="en-US" u="sng" dirty="0">
                <a:solidFill>
                  <a:schemeClr val="tx2">
                    <a:lumMod val="60000"/>
                    <a:lumOff val="40000"/>
                  </a:schemeClr>
                </a:solidFill>
              </a:rPr>
              <a:t>Hard Handoff </a:t>
            </a:r>
            <a:r>
              <a:rPr lang="en-US" dirty="0"/>
              <a:t>- Channel in the source cell is released and only then the channel in the target cell is engaged</a:t>
            </a:r>
          </a:p>
          <a:p>
            <a:pPr marL="0" indent="0">
              <a:buNone/>
            </a:pPr>
            <a:r>
              <a:rPr lang="en-US" dirty="0"/>
              <a:t>	-  It is a </a:t>
            </a:r>
            <a:r>
              <a:rPr lang="en-US" i="1" dirty="0"/>
              <a:t>break-before-make</a:t>
            </a:r>
            <a:r>
              <a:rPr lang="en-US" dirty="0"/>
              <a:t>.</a:t>
            </a:r>
          </a:p>
          <a:p>
            <a:pPr marL="0" indent="0">
              <a:buNone/>
            </a:pPr>
            <a:r>
              <a:rPr lang="en-US" dirty="0"/>
              <a:t>	</a:t>
            </a:r>
          </a:p>
          <a:p>
            <a:pPr marL="0" indent="0">
              <a:buNone/>
            </a:pPr>
            <a:r>
              <a:rPr lang="en-US" u="sng" dirty="0">
                <a:solidFill>
                  <a:schemeClr val="tx2">
                    <a:lumMod val="60000"/>
                    <a:lumOff val="40000"/>
                  </a:schemeClr>
                </a:solidFill>
              </a:rPr>
              <a:t>Soft Handoff</a:t>
            </a:r>
            <a:r>
              <a:rPr lang="en-US" dirty="0"/>
              <a:t>	- one in which the channel in the source cell is retained and used for a while in parallel with the channel in the target cell</a:t>
            </a:r>
          </a:p>
          <a:p>
            <a:pPr marL="0" indent="0">
              <a:buNone/>
            </a:pPr>
            <a:r>
              <a:rPr lang="en-US" dirty="0"/>
              <a:t>   -It is a </a:t>
            </a:r>
            <a:r>
              <a:rPr lang="en-US" i="1" dirty="0"/>
              <a:t>make-before-break</a:t>
            </a:r>
            <a:r>
              <a:rPr lang="en-US" dirty="0"/>
              <a:t>.</a:t>
            </a:r>
          </a:p>
          <a:p>
            <a:endParaRPr lang="en-IN" dirty="0"/>
          </a:p>
        </p:txBody>
      </p:sp>
    </p:spTree>
    <p:extLst>
      <p:ext uri="{BB962C8B-B14F-4D97-AF65-F5344CB8AC3E}">
        <p14:creationId xmlns:p14="http://schemas.microsoft.com/office/powerpoint/2010/main" val="217744092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IN" dirty="0"/>
          </a:p>
          <a:p>
            <a:r>
              <a:rPr lang="en-US" dirty="0"/>
              <a:t>Handoff is necessary to keep call in progress as the mobile is moving from one cell to another cell. </a:t>
            </a:r>
          </a:p>
          <a:p>
            <a:r>
              <a:rPr lang="en-US" dirty="0"/>
              <a:t>Prioritizing the handoff is required so that fraction of the total available channels in a cell is reserved exclusively for handoff requests from ongoing calls which may be handed off into the cell.</a:t>
            </a:r>
          </a:p>
          <a:p>
            <a:r>
              <a:rPr lang="en-US" dirty="0"/>
              <a:t>Various ways of handoff like soft and hard handoff are implemented to provide handoff service.</a:t>
            </a:r>
          </a:p>
          <a:p>
            <a:endParaRPr lang="en-US" dirty="0"/>
          </a:p>
          <a:p>
            <a:endParaRPr lang="en-IN" dirty="0"/>
          </a:p>
          <a:p>
            <a:endParaRPr lang="en-US"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Co-Channel Interference and System Capacity</a:t>
            </a:r>
          </a:p>
        </p:txBody>
      </p:sp>
      <p:sp>
        <p:nvSpPr>
          <p:cNvPr id="5" name="Content Placeholder 1"/>
          <p:cNvSpPr>
            <a:spLocks noGrp="1"/>
          </p:cNvSpPr>
          <p:nvPr>
            <p:ph idx="1"/>
          </p:nvPr>
        </p:nvSpPr>
        <p:spPr/>
        <p:txBody>
          <a:bodyPr>
            <a:normAutofit/>
          </a:bodyPr>
          <a:lstStyle/>
          <a:p>
            <a:pPr>
              <a:buFont typeface="Arial" pitchFamily="34" charset="0"/>
              <a:buChar char="•"/>
            </a:pPr>
            <a:r>
              <a:rPr lang="en-US" dirty="0"/>
              <a:t>The interference between signals from Co channel cells is called Co-channel Interference.</a:t>
            </a:r>
          </a:p>
          <a:p>
            <a:pPr>
              <a:buFont typeface="Arial" pitchFamily="34" charset="0"/>
              <a:buChar char="•"/>
            </a:pPr>
            <a:r>
              <a:rPr lang="en-US" dirty="0"/>
              <a:t>To reduce co-channel interference, co-channel cells must be physically separated by a minimum distance to provide sufficient isolation.</a:t>
            </a:r>
          </a:p>
          <a:p>
            <a:endParaRPr lang="en-US" dirty="0"/>
          </a:p>
        </p:txBody>
      </p:sp>
      <p:sp>
        <p:nvSpPr>
          <p:cNvPr id="13" name="TextBox 12"/>
          <p:cNvSpPr txBox="1"/>
          <p:nvPr/>
        </p:nvSpPr>
        <p:spPr>
          <a:xfrm>
            <a:off x="3186218" y="2727728"/>
            <a:ext cx="2306472" cy="400110"/>
          </a:xfrm>
          <a:prstGeom prst="rect">
            <a:avLst/>
          </a:prstGeom>
          <a:noFill/>
        </p:spPr>
        <p:txBody>
          <a:bodyPr wrap="square" rtlCol="0">
            <a:spAutoFit/>
          </a:bodyPr>
          <a:lstStyle/>
          <a:p>
            <a:pPr algn="l" rtl="0"/>
            <a:r>
              <a:rPr lang="en-US" sz="2000" kern="1200" dirty="0">
                <a:solidFill>
                  <a:prstClr val="black"/>
                </a:solidFill>
                <a:latin typeface="Calibri"/>
                <a:ea typeface="+mn-ea"/>
                <a:cs typeface="+mn-cs"/>
              </a:rPr>
              <a:t>Adjacent Channels</a:t>
            </a:r>
          </a:p>
        </p:txBody>
      </p:sp>
      <p:sp>
        <p:nvSpPr>
          <p:cNvPr id="14" name="TextBox 13"/>
          <p:cNvSpPr txBox="1"/>
          <p:nvPr/>
        </p:nvSpPr>
        <p:spPr>
          <a:xfrm>
            <a:off x="1496883" y="5522355"/>
            <a:ext cx="2667000"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Co- Channels</a:t>
            </a:r>
          </a:p>
        </p:txBody>
      </p:sp>
      <p:sp>
        <p:nvSpPr>
          <p:cNvPr id="15" name="TextBox 14"/>
          <p:cNvSpPr txBox="1"/>
          <p:nvPr/>
        </p:nvSpPr>
        <p:spPr>
          <a:xfrm>
            <a:off x="2018910" y="3942943"/>
            <a:ext cx="304800" cy="369332"/>
          </a:xfrm>
          <a:prstGeom prst="rect">
            <a:avLst/>
          </a:prstGeom>
          <a:noFill/>
        </p:spPr>
        <p:txBody>
          <a:bodyPr wrap="square" rtlCol="0">
            <a:spAutoFit/>
          </a:bodyPr>
          <a:lstStyle/>
          <a:p>
            <a:pPr algn="l" rtl="0"/>
            <a:r>
              <a:rPr lang="en-IN" kern="1200" dirty="0">
                <a:solidFill>
                  <a:prstClr val="black"/>
                </a:solidFill>
                <a:latin typeface="Calibri"/>
                <a:ea typeface="+mn-ea"/>
                <a:cs typeface="+mn-cs"/>
              </a:rPr>
              <a:t>1</a:t>
            </a:r>
          </a:p>
        </p:txBody>
      </p:sp>
      <p:sp>
        <p:nvSpPr>
          <p:cNvPr id="16" name="TextBox 15"/>
          <p:cNvSpPr txBox="1"/>
          <p:nvPr/>
        </p:nvSpPr>
        <p:spPr>
          <a:xfrm>
            <a:off x="2419845" y="4151140"/>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2</a:t>
            </a:r>
          </a:p>
        </p:txBody>
      </p:sp>
      <p:sp>
        <p:nvSpPr>
          <p:cNvPr id="17" name="TextBox 16"/>
          <p:cNvSpPr txBox="1"/>
          <p:nvPr/>
        </p:nvSpPr>
        <p:spPr>
          <a:xfrm>
            <a:off x="2409609" y="3847182"/>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3</a:t>
            </a:r>
          </a:p>
        </p:txBody>
      </p:sp>
      <p:sp>
        <p:nvSpPr>
          <p:cNvPr id="18" name="TextBox 17"/>
          <p:cNvSpPr txBox="1"/>
          <p:nvPr/>
        </p:nvSpPr>
        <p:spPr>
          <a:xfrm>
            <a:off x="1946172" y="3618402"/>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4</a:t>
            </a:r>
          </a:p>
        </p:txBody>
      </p:sp>
      <p:sp>
        <p:nvSpPr>
          <p:cNvPr id="19" name="TextBox 18"/>
          <p:cNvSpPr txBox="1"/>
          <p:nvPr/>
        </p:nvSpPr>
        <p:spPr>
          <a:xfrm>
            <a:off x="1482098" y="3771855"/>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5</a:t>
            </a:r>
          </a:p>
        </p:txBody>
      </p:sp>
      <p:sp>
        <p:nvSpPr>
          <p:cNvPr id="20" name="TextBox 19"/>
          <p:cNvSpPr txBox="1"/>
          <p:nvPr/>
        </p:nvSpPr>
        <p:spPr>
          <a:xfrm>
            <a:off x="1525341" y="4191784"/>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6</a:t>
            </a:r>
          </a:p>
        </p:txBody>
      </p:sp>
      <p:sp>
        <p:nvSpPr>
          <p:cNvPr id="21" name="TextBox 20"/>
          <p:cNvSpPr txBox="1"/>
          <p:nvPr/>
        </p:nvSpPr>
        <p:spPr>
          <a:xfrm>
            <a:off x="2029146" y="4323277"/>
            <a:ext cx="304800" cy="369332"/>
          </a:xfrm>
          <a:prstGeom prst="rect">
            <a:avLst/>
          </a:prstGeom>
          <a:noFill/>
        </p:spPr>
        <p:txBody>
          <a:bodyPr wrap="square" rtlCol="0">
            <a:spAutoFit/>
          </a:bodyPr>
          <a:lstStyle/>
          <a:p>
            <a:pPr algn="l" rtl="0"/>
            <a:r>
              <a:rPr lang="en-IN" kern="1200" dirty="0">
                <a:solidFill>
                  <a:prstClr val="white"/>
                </a:solidFill>
                <a:latin typeface="Calibri"/>
                <a:ea typeface="+mn-ea"/>
                <a:cs typeface="+mn-cs"/>
              </a:rPr>
              <a:t>7</a:t>
            </a:r>
          </a:p>
        </p:txBody>
      </p:sp>
      <p:pic>
        <p:nvPicPr>
          <p:cNvPr id="22" name="Picture 21"/>
          <p:cNvPicPr>
            <a:picLocks noChangeAspect="1"/>
          </p:cNvPicPr>
          <p:nvPr/>
        </p:nvPicPr>
        <p:blipFill rotWithShape="1">
          <a:blip r:embed="rId2"/>
          <a:srcRect l="36353" t="24873" r="37007" b="30941"/>
          <a:stretch/>
        </p:blipFill>
        <p:spPr>
          <a:xfrm>
            <a:off x="1126091" y="3113421"/>
            <a:ext cx="2110910" cy="1968456"/>
          </a:xfrm>
          <a:prstGeom prst="rect">
            <a:avLst/>
          </a:prstGeom>
        </p:spPr>
      </p:pic>
      <p:cxnSp>
        <p:nvCxnSpPr>
          <p:cNvPr id="23" name="Straight Arrow Connector 22"/>
          <p:cNvCxnSpPr>
            <a:endCxn id="13" idx="1"/>
          </p:cNvCxnSpPr>
          <p:nvPr/>
        </p:nvCxnSpPr>
        <p:spPr>
          <a:xfrm flipV="1">
            <a:off x="2572246" y="2927784"/>
            <a:ext cx="613973" cy="498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3" idx="1"/>
          </p:cNvCxnSpPr>
          <p:nvPr/>
        </p:nvCxnSpPr>
        <p:spPr>
          <a:xfrm flipV="1">
            <a:off x="2724646" y="2927783"/>
            <a:ext cx="461573" cy="822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786898" y="4692609"/>
            <a:ext cx="311674" cy="829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2029146" y="4817256"/>
            <a:ext cx="600490" cy="696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323505" y="5433357"/>
            <a:ext cx="1916130"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120579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Co-Channel Interference and System Capacity</a:t>
            </a:r>
          </a:p>
        </p:txBody>
      </p:sp>
      <mc:AlternateContent xmlns:mc="http://schemas.openxmlformats.org/markup-compatibility/2006" xmlns:a14="http://schemas.microsoft.com/office/drawing/2010/main">
        <mc:Choice Requires="a14">
          <p:sp>
            <p:nvSpPr>
              <p:cNvPr id="5" name="Content Placeholder 1"/>
              <p:cNvSpPr>
                <a:spLocks noGrp="1"/>
              </p:cNvSpPr>
              <p:nvPr>
                <p:ph idx="1"/>
              </p:nvPr>
            </p:nvSpPr>
            <p:spPr/>
            <p:txBody>
              <a:bodyPr>
                <a:noAutofit/>
              </a:bodyPr>
              <a:lstStyle/>
              <a:p>
                <a:pPr marL="0" indent="0">
                  <a:buNone/>
                </a:pPr>
                <a:r>
                  <a:rPr lang="en-US" dirty="0"/>
                  <a:t>The co-channel interference ratio -  It is the function of the radius of the cell (R ) and the distance between centers of the nearest co-channel cells(D). </a:t>
                </a:r>
              </a:p>
              <a:p>
                <a:pPr marL="0" indent="0">
                  <a:buNone/>
                </a:pPr>
                <a:r>
                  <a:rPr lang="en-US" dirty="0"/>
                  <a:t>The parameter </a:t>
                </a:r>
                <a:r>
                  <a:rPr lang="en-US" i="1" dirty="0">
                    <a:solidFill>
                      <a:schemeClr val="accent1"/>
                    </a:solidFill>
                  </a:rPr>
                  <a:t>Q</a:t>
                </a:r>
                <a:r>
                  <a:rPr lang="en-US" dirty="0"/>
                  <a:t> is called the </a:t>
                </a:r>
                <a:r>
                  <a:rPr lang="en-US" i="1" dirty="0">
                    <a:solidFill>
                      <a:schemeClr val="accent1"/>
                    </a:solidFill>
                  </a:rPr>
                  <a:t>co-channel reuse ratio </a:t>
                </a:r>
                <a:r>
                  <a:rPr lang="en-US" dirty="0"/>
                  <a:t>is related to the cluster size.</a:t>
                </a:r>
              </a:p>
              <a:p>
                <a:pPr marL="0" indent="0">
                  <a:buNone/>
                </a:pPr>
                <a:r>
                  <a:rPr lang="en-US" dirty="0"/>
                  <a:t>For a hexagonal geometry </a:t>
                </a:r>
              </a:p>
              <a:p>
                <a:pPr marL="0" indent="0">
                  <a:buNone/>
                </a:pPr>
                <a:r>
                  <a:rPr lang="en-US" dirty="0"/>
                  <a:t>         </a:t>
                </a:r>
                <a14:m>
                  <m:oMath xmlns:m="http://schemas.openxmlformats.org/officeDocument/2006/math">
                    <m:r>
                      <a:rPr lang="en-US" i="1" dirty="0">
                        <a:latin typeface="Cambria Math"/>
                      </a:rPr>
                      <m:t>𝑄</m:t>
                    </m:r>
                    <m:r>
                      <a:rPr lang="en-US" i="1" dirty="0">
                        <a:latin typeface="Cambria Math"/>
                      </a:rPr>
                      <m:t>=</m:t>
                    </m:r>
                    <m:f>
                      <m:fPr>
                        <m:ctrlPr>
                          <a:rPr lang="en-US" i="1" dirty="0">
                            <a:latin typeface="Cambria Math" panose="02040503050406030204" pitchFamily="18" charset="0"/>
                          </a:rPr>
                        </m:ctrlPr>
                      </m:fPr>
                      <m:num>
                        <m:r>
                          <a:rPr lang="en-US" i="1" dirty="0">
                            <a:latin typeface="Cambria Math"/>
                          </a:rPr>
                          <m:t>𝐷</m:t>
                        </m:r>
                      </m:num>
                      <m:den>
                        <m:r>
                          <a:rPr lang="en-US" i="1" dirty="0">
                            <a:latin typeface="Cambria Math"/>
                          </a:rPr>
                          <m:t>𝑅</m:t>
                        </m:r>
                      </m:den>
                    </m:f>
                    <m:r>
                      <a:rPr lang="en-US" i="1" dirty="0">
                        <a:latin typeface="Cambria Math"/>
                      </a:rPr>
                      <m:t>=</m:t>
                    </m:r>
                    <m:rad>
                      <m:radPr>
                        <m:degHide m:val="on"/>
                        <m:ctrlPr>
                          <a:rPr lang="en-US" i="1" dirty="0">
                            <a:latin typeface="Cambria Math" panose="02040503050406030204" pitchFamily="18" charset="0"/>
                          </a:rPr>
                        </m:ctrlPr>
                      </m:radPr>
                      <m:deg/>
                      <m:e>
                        <m:r>
                          <a:rPr lang="en-US" i="1" dirty="0">
                            <a:latin typeface="Cambria Math"/>
                          </a:rPr>
                          <m:t>3</m:t>
                        </m:r>
                        <m:r>
                          <a:rPr lang="en-US" i="1" dirty="0">
                            <a:latin typeface="Cambria Math"/>
                          </a:rPr>
                          <m:t>𝑁</m:t>
                        </m:r>
                      </m:e>
                    </m:rad>
                    <m:r>
                      <a:rPr lang="en-US" i="1" dirty="0">
                        <a:latin typeface="Cambria Math"/>
                      </a:rPr>
                      <m:t> </m:t>
                    </m:r>
                  </m:oMath>
                </a14:m>
                <a:endParaRPr lang="en-US" dirty="0"/>
              </a:p>
              <a:p>
                <a:pPr marL="0" indent="0">
                  <a:buNone/>
                </a:pPr>
                <a:r>
                  <a:rPr lang="en-US" dirty="0"/>
                  <a:t>Smaller Q – Larger capacity</a:t>
                </a:r>
              </a:p>
              <a:p>
                <a:pPr marL="0" indent="0">
                  <a:buNone/>
                </a:pPr>
                <a:r>
                  <a:rPr lang="en-US" dirty="0"/>
                  <a:t>Larger Q – less co-channel interference </a:t>
                </a:r>
              </a:p>
              <a:p>
                <a:pPr marL="0" indent="0">
                  <a:buNone/>
                </a:pPr>
                <a:r>
                  <a:rPr lang="en-US" dirty="0"/>
                  <a:t>                  Improves transmission quality</a:t>
                </a:r>
              </a:p>
              <a:p>
                <a:pPr marL="0" indent="0">
                  <a:buNone/>
                </a:pPr>
                <a:endParaRPr lang="en-US" dirty="0"/>
              </a:p>
            </p:txBody>
          </p:sp>
        </mc:Choice>
        <mc:Fallback xmlns="">
          <p:sp>
            <p:nvSpPr>
              <p:cNvPr id="5"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649" t="-889" r="-1649"/>
                </a:stretch>
              </a:blipFill>
            </p:spPr>
            <p:txBody>
              <a:bodyPr/>
              <a:lstStyle/>
              <a:p>
                <a:r>
                  <a:rPr lang="en-IN">
                    <a:noFill/>
                  </a:rPr>
                  <a:t> </a:t>
                </a:r>
              </a:p>
            </p:txBody>
          </p:sp>
        </mc:Fallback>
      </mc:AlternateContent>
    </p:spTree>
    <p:extLst>
      <p:ext uri="{BB962C8B-B14F-4D97-AF65-F5344CB8AC3E}">
        <p14:creationId xmlns:p14="http://schemas.microsoft.com/office/powerpoint/2010/main" val="256145346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Co-Channel Interference and System Capacity</a:t>
            </a:r>
          </a:p>
        </p:txBody>
      </p:sp>
      <p:sp>
        <p:nvSpPr>
          <p:cNvPr id="5" name="Content Placeholder 1"/>
          <p:cNvSpPr>
            <a:spLocks noGrp="1"/>
          </p:cNvSpPr>
          <p:nvPr>
            <p:ph idx="1"/>
          </p:nvPr>
        </p:nvSpPr>
        <p:spPr/>
        <p:txBody>
          <a:bodyPr/>
          <a:lstStyle/>
          <a:p>
            <a:r>
              <a:rPr lang="en-US" dirty="0"/>
              <a:t>i0 - number of co-channel interfering cells</a:t>
            </a:r>
          </a:p>
          <a:p>
            <a:endParaRPr lang="en-US" dirty="0"/>
          </a:p>
          <a:p>
            <a:endParaRPr lang="en-US" dirty="0"/>
          </a:p>
          <a:p>
            <a:endParaRPr lang="en-US" dirty="0"/>
          </a:p>
          <a:p>
            <a:endParaRPr lang="en-US" dirty="0"/>
          </a:p>
          <a:p>
            <a:r>
              <a:rPr lang="en-US" dirty="0"/>
              <a:t>The average power received at a distance d from the transmitting antenna is </a:t>
            </a:r>
          </a:p>
          <a:p>
            <a:endParaRPr lang="en-US" dirty="0"/>
          </a:p>
          <a:p>
            <a:endParaRPr lang="en-US" dirty="0"/>
          </a:p>
          <a:p>
            <a:pPr marL="0" indent="0">
              <a:buNone/>
            </a:pPr>
            <a:r>
              <a:rPr lang="en-US" dirty="0"/>
              <a:t> 	</a:t>
            </a:r>
          </a:p>
        </p:txBody>
      </p:sp>
      <p:pic>
        <p:nvPicPr>
          <p:cNvPr id="6" name="Picture 5"/>
          <p:cNvPicPr/>
          <p:nvPr/>
        </p:nvPicPr>
        <p:blipFill rotWithShape="1">
          <a:blip r:embed="rId2"/>
          <a:srcRect l="41381" t="42266" r="44992" b="51822"/>
          <a:stretch/>
        </p:blipFill>
        <p:spPr bwMode="auto">
          <a:xfrm>
            <a:off x="1643866" y="2187755"/>
            <a:ext cx="2511933" cy="477748"/>
          </a:xfrm>
          <a:prstGeom prst="rect">
            <a:avLst/>
          </a:prstGeom>
          <a:ln>
            <a:noFill/>
          </a:ln>
          <a:extLst>
            <a:ext uri="{53640926-AAD7-44D8-BBD7-CCE9431645EC}">
              <a14:shadowObscured xmlns:a14="http://schemas.microsoft.com/office/drawing/2010/main"/>
            </a:ext>
          </a:extLst>
        </p:spPr>
      </p:pic>
      <p:pic>
        <p:nvPicPr>
          <p:cNvPr id="7" name="Picture 9"/>
          <p:cNvPicPr>
            <a:picLocks noChangeAspect="1" noChangeArrowheads="1"/>
          </p:cNvPicPr>
          <p:nvPr/>
        </p:nvPicPr>
        <p:blipFill>
          <a:blip r:embed="rId3"/>
          <a:srcRect l="35139" t="62500" r="38507" b="31250"/>
          <a:stretch>
            <a:fillRect/>
          </a:stretch>
        </p:blipFill>
        <p:spPr bwMode="auto">
          <a:xfrm>
            <a:off x="1376737" y="3843298"/>
            <a:ext cx="3184034" cy="526153"/>
          </a:xfrm>
          <a:prstGeom prst="rect">
            <a:avLst/>
          </a:prstGeom>
          <a:noFill/>
          <a:ln w="9525">
            <a:noFill/>
            <a:miter lim="800000"/>
            <a:headEnd/>
            <a:tailEnd/>
          </a:ln>
          <a:effectLst/>
        </p:spPr>
      </p:pic>
      <p:cxnSp>
        <p:nvCxnSpPr>
          <p:cNvPr id="8" name="Straight Arrow Connector 7"/>
          <p:cNvCxnSpPr/>
          <p:nvPr/>
        </p:nvCxnSpPr>
        <p:spPr>
          <a:xfrm>
            <a:off x="2810360" y="4192720"/>
            <a:ext cx="76200" cy="659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60469" y="4966266"/>
            <a:ext cx="4731623" cy="646331"/>
          </a:xfrm>
          <a:prstGeom prst="rect">
            <a:avLst/>
          </a:prstGeom>
          <a:solidFill>
            <a:srgbClr val="FFC000"/>
          </a:solidFill>
        </p:spPr>
        <p:txBody>
          <a:bodyPr wrap="square" rtlCol="0">
            <a:spAutoFit/>
          </a:bodyPr>
          <a:lstStyle/>
          <a:p>
            <a:pPr algn="l" rtl="0"/>
            <a:r>
              <a:rPr lang="en-US" kern="1200" dirty="0">
                <a:solidFill>
                  <a:prstClr val="black"/>
                </a:solidFill>
                <a:latin typeface="Calibri"/>
                <a:ea typeface="+mn-ea"/>
                <a:cs typeface="+mn-cs"/>
              </a:rPr>
              <a:t>Power received at a reference point in the far field region of an antenna at a distance d0</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3973912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Calculation of SIR</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For a hexagonal cluster of cells</a:t>
                </a:r>
              </a:p>
              <a:p>
                <a:endParaRPr lang="en-US" i="1" dirty="0"/>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a:rPr>
                            <m:t>𝑆</m:t>
                          </m:r>
                        </m:num>
                        <m:den>
                          <m:r>
                            <a:rPr lang="en-US" i="1">
                              <a:latin typeface="Cambria Math"/>
                            </a:rPr>
                            <m:t>𝐼</m:t>
                          </m:r>
                        </m:den>
                      </m:f>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6</m:t>
                          </m:r>
                        </m:den>
                      </m:f>
                      <m:r>
                        <a:rPr lang="en-US" i="1">
                          <a:latin typeface="Cambria Math"/>
                        </a:rPr>
                        <m:t> </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𝐷</m:t>
                              </m:r>
                            </m:e>
                            <m:e>
                              <m:r>
                                <a:rPr lang="en-US" i="1">
                                  <a:latin typeface="Cambria Math"/>
                                </a:rPr>
                                <m:t>𝑅</m:t>
                              </m:r>
                            </m:e>
                          </m:d>
                        </m:e>
                        <m:sup>
                          <m:r>
                            <a:rPr lang="en-US" i="1">
                              <a:latin typeface="Cambria Math"/>
                            </a:rPr>
                            <m:t>𝑛</m:t>
                          </m:r>
                        </m:sup>
                      </m:sSup>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6</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rad>
                                <m:radPr>
                                  <m:degHide m:val="on"/>
                                  <m:ctrlPr>
                                    <a:rPr lang="en-US" i="1">
                                      <a:latin typeface="Cambria Math" panose="02040503050406030204" pitchFamily="18" charset="0"/>
                                    </a:rPr>
                                  </m:ctrlPr>
                                </m:radPr>
                                <m:deg/>
                                <m:e>
                                  <m:r>
                                    <a:rPr lang="en-US" i="1">
                                      <a:latin typeface="Cambria Math"/>
                                    </a:rPr>
                                    <m:t>3</m:t>
                                  </m:r>
                                  <m:r>
                                    <a:rPr lang="en-US" i="1">
                                      <a:latin typeface="Cambria Math"/>
                                    </a:rPr>
                                    <m:t>𝑁</m:t>
                                  </m:r>
                                </m:e>
                              </m:rad>
                            </m:e>
                          </m:d>
                        </m:e>
                        <m:sup>
                          <m:r>
                            <a:rPr lang="en-US" i="1">
                              <a:latin typeface="Cambria Math"/>
                            </a:rPr>
                            <m:t>𝑛</m:t>
                          </m:r>
                        </m:sup>
                      </m:sSup>
                    </m:oMath>
                  </m:oMathPara>
                </a14:m>
                <a:endParaRPr lang="en-US" dirty="0"/>
              </a:p>
              <a:p>
                <a:endParaRPr lang="en-US" dirty="0"/>
              </a:p>
              <a:p>
                <a:pPr marL="0" indent="0">
                  <a:buNone/>
                </a:pPr>
                <a:r>
                  <a:rPr lang="en-US" sz="2000" dirty="0">
                    <a:solidFill>
                      <a:schemeClr val="accent1"/>
                    </a:solidFill>
                  </a:rPr>
                  <a:t>Example designs:</a:t>
                </a:r>
              </a:p>
              <a:p>
                <a:pPr marL="0" indent="0">
                  <a:buNone/>
                </a:pPr>
                <a:r>
                  <a:rPr lang="en-US" dirty="0"/>
                  <a:t>Design parameters (1):</a:t>
                </a:r>
              </a:p>
              <a:p>
                <a:pPr lvl="1">
                  <a:buFont typeface="Wingdings" pitchFamily="2" charset="2"/>
                  <a:buChar char="ü"/>
                </a:pPr>
                <a:r>
                  <a:rPr lang="en-US" sz="1600" b="0" dirty="0"/>
                  <a:t>Desired signal to interference ratio is 15dB </a:t>
                </a:r>
              </a:p>
              <a:p>
                <a:pPr lvl="1">
                  <a:buFont typeface="Wingdings" pitchFamily="2" charset="2"/>
                  <a:buChar char="ü"/>
                </a:pPr>
                <a:r>
                  <a:rPr lang="en-US" sz="1600" b="0" dirty="0"/>
                  <a:t>Path loss exponent n = 4</a:t>
                </a:r>
              </a:p>
              <a:p>
                <a:pPr lvl="1">
                  <a:buFont typeface="Wingdings" pitchFamily="2" charset="2"/>
                  <a:buChar char="ü"/>
                </a:pPr>
                <a:r>
                  <a:rPr lang="en-US" sz="1600" b="0" dirty="0"/>
                  <a:t>What is frequency reuse factor?</a:t>
                </a:r>
              </a:p>
              <a:p>
                <a:endParaRPr lang="en-IN" sz="1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792" t="-889"/>
                </a:stretch>
              </a:blipFill>
            </p:spPr>
            <p:txBody>
              <a:bodyPr/>
              <a:lstStyle/>
              <a:p>
                <a:r>
                  <a:rPr lang="en-IN">
                    <a:noFill/>
                  </a:rPr>
                  <a:t> </a:t>
                </a:r>
              </a:p>
            </p:txBody>
          </p:sp>
        </mc:Fallback>
      </mc:AlternateContent>
      <p:pic>
        <p:nvPicPr>
          <p:cNvPr id="4" name="Picture 4" descr="http://jan.ucc.nau.edu/~ee53x-c/samples/mod1cagraphic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7345" y="2807046"/>
            <a:ext cx="1672119" cy="1723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220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Calculation of SIR</a:t>
            </a:r>
            <a:endParaRPr lang="en-IN" dirty="0"/>
          </a:p>
          <a:p>
            <a:endParaRPr lang="en-IN" dirty="0"/>
          </a:p>
        </p:txBody>
      </p:sp>
      <mc:AlternateContent xmlns:mc="http://schemas.openxmlformats.org/markup-compatibility/2006" xmlns:a14="http://schemas.microsoft.com/office/drawing/2010/main">
        <mc:Choice Requires="a14">
          <p:sp>
            <p:nvSpPr>
              <p:cNvPr id="4" name="Content Placeholder 1"/>
              <p:cNvSpPr>
                <a:spLocks noGrp="1"/>
              </p:cNvSpPr>
              <p:nvPr>
                <p:ph idx="1"/>
              </p:nvPr>
            </p:nvSpPr>
            <p:spPr/>
            <p:txBody>
              <a:bodyPr/>
              <a:lstStyle/>
              <a:p>
                <a:r>
                  <a:rPr lang="en-US" dirty="0"/>
                  <a:t>First try N=4, </a:t>
                </a:r>
                <a14:m>
                  <m:oMath xmlns:m="http://schemas.openxmlformats.org/officeDocument/2006/math">
                    <m:f>
                      <m:fPr>
                        <m:ctrlPr>
                          <a:rPr lang="en-US" i="1" dirty="0">
                            <a:latin typeface="Cambria Math" panose="02040503050406030204" pitchFamily="18" charset="0"/>
                          </a:rPr>
                        </m:ctrlPr>
                      </m:fPr>
                      <m:num>
                        <m:r>
                          <a:rPr lang="en-US" i="1" dirty="0">
                            <a:latin typeface="Cambria Math"/>
                          </a:rPr>
                          <m:t>𝐷</m:t>
                        </m:r>
                      </m:num>
                      <m:den>
                        <m:r>
                          <a:rPr lang="en-US" i="1" dirty="0">
                            <a:latin typeface="Cambria Math"/>
                          </a:rPr>
                          <m:t>𝑅</m:t>
                        </m:r>
                      </m:den>
                    </m:f>
                    <m:r>
                      <a:rPr lang="en-US" i="1" dirty="0">
                        <a:latin typeface="Cambria Math"/>
                      </a:rPr>
                      <m:t>=</m:t>
                    </m:r>
                    <m:rad>
                      <m:radPr>
                        <m:degHide m:val="on"/>
                        <m:ctrlPr>
                          <a:rPr lang="en-US" i="1" dirty="0">
                            <a:latin typeface="Cambria Math" panose="02040503050406030204" pitchFamily="18" charset="0"/>
                          </a:rPr>
                        </m:ctrlPr>
                      </m:radPr>
                      <m:deg/>
                      <m:e>
                        <m:r>
                          <a:rPr lang="en-US" i="1" dirty="0">
                            <a:latin typeface="Cambria Math"/>
                          </a:rPr>
                          <m:t>3</m:t>
                        </m:r>
                        <m:r>
                          <a:rPr lang="en-US" i="1" dirty="0">
                            <a:latin typeface="Cambria Math"/>
                          </a:rPr>
                          <m:t>𝑁</m:t>
                        </m:r>
                      </m:e>
                    </m:rad>
                    <m:r>
                      <a:rPr lang="en-US" i="1" dirty="0">
                        <a:latin typeface="Cambria Math"/>
                      </a:rPr>
                      <m:t> </m:t>
                    </m:r>
                  </m:oMath>
                </a14:m>
                <a:endParaRPr lang="en-US" dirty="0"/>
              </a:p>
              <a:p>
                <a:pPr lvl="1"/>
                <a:r>
                  <a:rPr lang="en-US" sz="1800" b="0" dirty="0"/>
                  <a:t>D/R = 3.46 =&gt; S/I = 1/6 (3.46)^4 = 24.0 = 13.8 dB</a:t>
                </a:r>
              </a:p>
              <a:p>
                <a:pPr lvl="1"/>
                <a:r>
                  <a:rPr lang="en-US" sz="1800" b="0" dirty="0"/>
                  <a:t>Since this is </a:t>
                </a:r>
                <a:r>
                  <a:rPr lang="en-US" sz="1800" b="0" i="1" dirty="0">
                    <a:solidFill>
                      <a:schemeClr val="accent1"/>
                    </a:solidFill>
                  </a:rPr>
                  <a:t>lesser</a:t>
                </a:r>
                <a:r>
                  <a:rPr lang="en-US" sz="1800" b="0" dirty="0"/>
                  <a:t> than the minimum required S/I (15dB)</a:t>
                </a:r>
              </a:p>
              <a:p>
                <a:pPr lvl="1"/>
                <a:r>
                  <a:rPr lang="en-US" sz="1800" b="0" dirty="0"/>
                  <a:t>Move to the next higher reuse distance. </a:t>
                </a:r>
              </a:p>
              <a:p>
                <a:pPr lvl="1"/>
                <a:endParaRPr lang="en-US" sz="1800" b="0" dirty="0"/>
              </a:p>
              <a:p>
                <a:pPr>
                  <a:buFont typeface="Arial" pitchFamily="34" charset="0"/>
                  <a:buChar char="•"/>
                </a:pPr>
                <a:r>
                  <a:rPr lang="en-US" dirty="0"/>
                  <a:t>Next try N=7,</a:t>
                </a:r>
              </a:p>
              <a:p>
                <a:pPr lvl="1"/>
                <a:r>
                  <a:rPr lang="en-US" sz="1800" b="0" dirty="0"/>
                  <a:t>D/R = 4.58 =&gt; S/I = 1/6 (4.58)^4 = 73.5 = 18.66 dB</a:t>
                </a:r>
              </a:p>
              <a:p>
                <a:pPr lvl="1"/>
                <a:r>
                  <a:rPr lang="en-US" sz="1800" b="0" dirty="0"/>
                  <a:t>This is </a:t>
                </a:r>
                <a:r>
                  <a:rPr lang="en-US" sz="1800" b="0" i="1" dirty="0">
                    <a:solidFill>
                      <a:schemeClr val="accent1"/>
                    </a:solidFill>
                  </a:rPr>
                  <a:t>greater</a:t>
                </a:r>
                <a:r>
                  <a:rPr lang="en-US" sz="1800" b="0" dirty="0"/>
                  <a:t> than the minimum required S/I (15dB)</a:t>
                </a:r>
              </a:p>
              <a:p>
                <a:pPr lvl="1"/>
                <a:r>
                  <a:rPr lang="en-US" sz="1800" b="0" dirty="0"/>
                  <a:t>Hence, </a:t>
                </a:r>
                <a:r>
                  <a:rPr lang="en-US" sz="1800" b="0" dirty="0">
                    <a:solidFill>
                      <a:schemeClr val="accent1"/>
                    </a:solidFill>
                  </a:rPr>
                  <a:t>frequency reuse factor = 1/N = 1/7 </a:t>
                </a:r>
              </a:p>
              <a:p>
                <a:pPr lvl="1"/>
                <a:endParaRPr lang="en-US" sz="2400" dirty="0">
                  <a:latin typeface="+mj-lt"/>
                </a:endParaRPr>
              </a:p>
            </p:txBody>
          </p:sp>
        </mc:Choice>
        <mc:Fallback xmlns="">
          <p:sp>
            <p:nvSpPr>
              <p:cNvPr id="4"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505"/>
                </a:stretch>
              </a:blipFill>
            </p:spPr>
            <p:txBody>
              <a:bodyPr/>
              <a:lstStyle/>
              <a:p>
                <a:r>
                  <a:rPr lang="en-IN">
                    <a:noFill/>
                  </a:rPr>
                  <a:t> </a:t>
                </a:r>
              </a:p>
            </p:txBody>
          </p:sp>
        </mc:Fallback>
      </mc:AlternateContent>
    </p:spTree>
    <p:extLst>
      <p:ext uri="{BB962C8B-B14F-4D97-AF65-F5344CB8AC3E}">
        <p14:creationId xmlns:p14="http://schemas.microsoft.com/office/powerpoint/2010/main" val="255957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Adjacent Channel interference (ACI)</a:t>
            </a:r>
            <a:endParaRPr lang="en-IN" dirty="0"/>
          </a:p>
        </p:txBody>
      </p:sp>
      <p:sp>
        <p:nvSpPr>
          <p:cNvPr id="3" name="Content Placeholder 2"/>
          <p:cNvSpPr>
            <a:spLocks noGrp="1"/>
          </p:cNvSpPr>
          <p:nvPr>
            <p:ph idx="1"/>
          </p:nvPr>
        </p:nvSpPr>
        <p:spPr/>
        <p:txBody>
          <a:bodyPr/>
          <a:lstStyle/>
          <a:p>
            <a:endParaRPr lang="en-US" dirty="0"/>
          </a:p>
          <a:p>
            <a:r>
              <a:rPr lang="en-US" dirty="0"/>
              <a:t>ACI results from signals that are </a:t>
            </a:r>
            <a:r>
              <a:rPr lang="en-US" dirty="0">
                <a:solidFill>
                  <a:schemeClr val="accent1"/>
                </a:solidFill>
              </a:rPr>
              <a:t>adjacent</a:t>
            </a:r>
            <a:r>
              <a:rPr lang="en-US" dirty="0"/>
              <a:t> in the frequency to the desired signal.</a:t>
            </a:r>
          </a:p>
          <a:p>
            <a:endParaRPr lang="en-US" dirty="0"/>
          </a:p>
          <a:p>
            <a:r>
              <a:rPr lang="en-US" dirty="0"/>
              <a:t>This results from </a:t>
            </a:r>
            <a:r>
              <a:rPr lang="en-US" dirty="0">
                <a:solidFill>
                  <a:schemeClr val="accent1"/>
                </a:solidFill>
              </a:rPr>
              <a:t>imperfect receiver filters </a:t>
            </a:r>
            <a:r>
              <a:rPr lang="en-US" dirty="0"/>
              <a:t>that allow nearby frequencies to leak in. </a:t>
            </a:r>
          </a:p>
          <a:p>
            <a:pPr marL="0" indent="0">
              <a:buNone/>
            </a:pPr>
            <a:endParaRPr lang="en-IN" dirty="0"/>
          </a:p>
        </p:txBody>
      </p:sp>
    </p:spTree>
    <p:extLst>
      <p:ext uri="{BB962C8B-B14F-4D97-AF65-F5344CB8AC3E}">
        <p14:creationId xmlns:p14="http://schemas.microsoft.com/office/powerpoint/2010/main" val="384075255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sz="2400" dirty="0"/>
              <a:t>Adjacent Channel interference (ACI)</a:t>
            </a:r>
            <a:endParaRPr lang="en-IN" sz="2400" dirty="0"/>
          </a:p>
        </p:txBody>
      </p:sp>
      <p:sp>
        <p:nvSpPr>
          <p:cNvPr id="4" name="Content Placeholder 1"/>
          <p:cNvSpPr>
            <a:spLocks noGrp="1"/>
          </p:cNvSpPr>
          <p:nvPr>
            <p:ph idx="1"/>
          </p:nvPr>
        </p:nvSpPr>
        <p:spPr>
          <a:xfrm>
            <a:off x="-192641" y="3777148"/>
            <a:ext cx="7459037" cy="1464702"/>
          </a:xfrm>
        </p:spPr>
        <p:txBody>
          <a:bodyPr/>
          <a:lstStyle/>
          <a:p>
            <a:pPr>
              <a:buFont typeface="Arial" pitchFamily="34" charset="0"/>
              <a:buChar char="•"/>
            </a:pPr>
            <a:endParaRPr lang="en-US" dirty="0">
              <a:latin typeface="+mj-lt"/>
            </a:endParaRPr>
          </a:p>
          <a:p>
            <a:pPr marL="0" indent="0">
              <a:buNone/>
            </a:pPr>
            <a:endParaRPr lang="en-US" dirty="0">
              <a:latin typeface="+mj-lt"/>
            </a:endParaRPr>
          </a:p>
          <a:p>
            <a:pPr>
              <a:buFont typeface="Arial" pitchFamily="34" charset="0"/>
              <a:buChar char="•"/>
            </a:pPr>
            <a:endParaRPr lang="en-US" dirty="0">
              <a:latin typeface="+mj-lt"/>
            </a:endParaRPr>
          </a:p>
          <a:p>
            <a:pPr>
              <a:buFont typeface="Arial" pitchFamily="34" charset="0"/>
              <a:buChar char="•"/>
            </a:pPr>
            <a:endParaRPr lang="en-US" dirty="0">
              <a:latin typeface="+mj-lt"/>
            </a:endParaRPr>
          </a:p>
          <a:p>
            <a:pPr>
              <a:buFont typeface="Arial" pitchFamily="34" charset="0"/>
              <a:buChar char="•"/>
            </a:pPr>
            <a:endParaRPr lang="en-US" dirty="0">
              <a:latin typeface="+mj-lt"/>
            </a:endParaRPr>
          </a:p>
          <a:p>
            <a:pPr>
              <a:buFont typeface="Arial" pitchFamily="34" charset="0"/>
              <a:buChar char="•"/>
            </a:pPr>
            <a:endParaRPr lang="en-US" dirty="0">
              <a:latin typeface="+mj-lt"/>
            </a:endParaRPr>
          </a:p>
          <a:p>
            <a:pPr>
              <a:buFont typeface="Arial" pitchFamily="34" charset="0"/>
              <a:buChar char="•"/>
            </a:pPr>
            <a:endParaRPr lang="en-US" dirty="0">
              <a:latin typeface="+mj-lt"/>
            </a:endParaRPr>
          </a:p>
          <a:p>
            <a:pPr>
              <a:buFont typeface="Arial" pitchFamily="34" charset="0"/>
              <a:buChar char="•"/>
            </a:pPr>
            <a:r>
              <a:rPr lang="en-US" dirty="0">
                <a:latin typeface="+mj-lt"/>
              </a:rPr>
              <a:t>To overcome ACI, the </a:t>
            </a:r>
            <a:r>
              <a:rPr lang="en-US" dirty="0">
                <a:solidFill>
                  <a:schemeClr val="accent1"/>
                </a:solidFill>
                <a:latin typeface="+mj-lt"/>
              </a:rPr>
              <a:t>frequency separation </a:t>
            </a:r>
            <a:r>
              <a:rPr lang="en-US" dirty="0">
                <a:latin typeface="+mj-lt"/>
              </a:rPr>
              <a:t>between each channel in cell should be made as large as possible.</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0618" r="60036"/>
          <a:stretch/>
        </p:blipFill>
        <p:spPr bwMode="auto">
          <a:xfrm>
            <a:off x="3000055" y="2373546"/>
            <a:ext cx="482885"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5"/>
          <p:cNvGrpSpPr/>
          <p:nvPr/>
        </p:nvGrpSpPr>
        <p:grpSpPr>
          <a:xfrm>
            <a:off x="1631878" y="3700948"/>
            <a:ext cx="4953000" cy="521732"/>
            <a:chOff x="1981200" y="3962400"/>
            <a:chExt cx="4953000" cy="521732"/>
          </a:xfrm>
        </p:grpSpPr>
        <p:sp>
          <p:nvSpPr>
            <p:cNvPr id="7" name="TextBox 6"/>
            <p:cNvSpPr txBox="1"/>
            <p:nvPr/>
          </p:nvSpPr>
          <p:spPr>
            <a:xfrm>
              <a:off x="3276600" y="4114800"/>
              <a:ext cx="609600" cy="369332"/>
            </a:xfrm>
            <a:prstGeom prst="rect">
              <a:avLst/>
            </a:prstGeom>
            <a:noFill/>
          </p:spPr>
          <p:txBody>
            <a:bodyPr wrap="square" rtlCol="0">
              <a:spAutoFit/>
            </a:bodyPr>
            <a:lstStyle/>
            <a:p>
              <a:pPr algn="l" rtl="0" fontAlgn="base">
                <a:spcBef>
                  <a:spcPct val="0"/>
                </a:spcBef>
                <a:spcAft>
                  <a:spcPct val="0"/>
                </a:spcAft>
              </a:pPr>
              <a:r>
                <a:rPr lang="en-US" kern="1200" dirty="0">
                  <a:solidFill>
                    <a:srgbClr val="FF0000"/>
                  </a:solidFill>
                  <a:latin typeface="Calibri"/>
                  <a:ea typeface="+mn-ea"/>
                  <a:cs typeface="Arial" charset="0"/>
                </a:rPr>
                <a:t>BS</a:t>
              </a:r>
            </a:p>
          </p:txBody>
        </p:sp>
        <p:sp>
          <p:nvSpPr>
            <p:cNvPr id="8" name="TextBox 7"/>
            <p:cNvSpPr txBox="1"/>
            <p:nvPr/>
          </p:nvSpPr>
          <p:spPr>
            <a:xfrm>
              <a:off x="5715000" y="4038600"/>
              <a:ext cx="1219200" cy="369332"/>
            </a:xfrm>
            <a:prstGeom prst="rect">
              <a:avLst/>
            </a:prstGeom>
            <a:noFill/>
          </p:spPr>
          <p:txBody>
            <a:bodyPr wrap="square" rtlCol="0">
              <a:spAutoFit/>
            </a:bodyPr>
            <a:lstStyle/>
            <a:p>
              <a:pPr algn="l" rtl="0" fontAlgn="base">
                <a:spcBef>
                  <a:spcPct val="0"/>
                </a:spcBef>
                <a:spcAft>
                  <a:spcPct val="0"/>
                </a:spcAft>
              </a:pPr>
              <a:r>
                <a:rPr lang="en-US" kern="1200" dirty="0">
                  <a:solidFill>
                    <a:srgbClr val="FF0000"/>
                  </a:solidFill>
                  <a:latin typeface="Calibri"/>
                  <a:ea typeface="+mn-ea"/>
                  <a:cs typeface="Arial" charset="0"/>
                </a:rPr>
                <a:t>Subscriber</a:t>
              </a:r>
            </a:p>
          </p:txBody>
        </p:sp>
        <p:sp>
          <p:nvSpPr>
            <p:cNvPr id="9" name="TextBox 8"/>
            <p:cNvSpPr txBox="1"/>
            <p:nvPr/>
          </p:nvSpPr>
          <p:spPr>
            <a:xfrm>
              <a:off x="1981200" y="3962400"/>
              <a:ext cx="1219200" cy="369332"/>
            </a:xfrm>
            <a:prstGeom prst="rect">
              <a:avLst/>
            </a:prstGeom>
            <a:noFill/>
          </p:spPr>
          <p:txBody>
            <a:bodyPr wrap="square" rtlCol="0">
              <a:spAutoFit/>
            </a:bodyPr>
            <a:lstStyle/>
            <a:p>
              <a:pPr algn="l" rtl="0" fontAlgn="base">
                <a:spcBef>
                  <a:spcPct val="0"/>
                </a:spcBef>
                <a:spcAft>
                  <a:spcPct val="0"/>
                </a:spcAft>
              </a:pPr>
              <a:r>
                <a:rPr lang="en-US" kern="1200" dirty="0">
                  <a:solidFill>
                    <a:srgbClr val="FF0000"/>
                  </a:solidFill>
                  <a:latin typeface="Calibri"/>
                  <a:ea typeface="+mn-ea"/>
                  <a:cs typeface="Arial" charset="0"/>
                </a:rPr>
                <a:t>Interferer</a:t>
              </a:r>
            </a:p>
          </p:txBody>
        </p:sp>
      </p:grpSp>
      <p:pic>
        <p:nvPicPr>
          <p:cNvPr id="1026" name="Picture 2" descr="Image result for mobile imag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3342" y="3140308"/>
            <a:ext cx="512897" cy="5462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51791" y="3056246"/>
            <a:ext cx="427346" cy="644703"/>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p:cNvCxnSpPr/>
          <p:nvPr/>
        </p:nvCxnSpPr>
        <p:spPr>
          <a:xfrm flipV="1">
            <a:off x="2157574" y="2778517"/>
            <a:ext cx="769705" cy="277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631916" y="2822184"/>
            <a:ext cx="1597631" cy="732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ontent Placeholder 1"/>
          <p:cNvSpPr txBox="1">
            <a:spLocks/>
          </p:cNvSpPr>
          <p:nvPr/>
        </p:nvSpPr>
        <p:spPr bwMode="auto">
          <a:xfrm>
            <a:off x="277402" y="1586716"/>
            <a:ext cx="8500838" cy="41397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solidFill>
                  <a:srgbClr val="4F81BD"/>
                </a:solidFill>
                <a:latin typeface="Calibri"/>
              </a:rPr>
              <a:t>Near far effect:  </a:t>
            </a:r>
            <a:r>
              <a:rPr lang="en-US" dirty="0">
                <a:solidFill>
                  <a:prstClr val="black"/>
                </a:solidFill>
                <a:latin typeface="Calibri"/>
              </a:rPr>
              <a:t>An interferer close to the BS radiates in the adjacent channel while the subscriber is far away from the BS.</a:t>
            </a:r>
          </a:p>
          <a:p>
            <a:endParaRPr lang="en-US" dirty="0">
              <a:solidFill>
                <a:prstClr val="black"/>
              </a:solidFill>
              <a:latin typeface="Calibri"/>
            </a:endParaRPr>
          </a:p>
          <a:p>
            <a:pPr marL="0" indent="0">
              <a:buNone/>
            </a:pPr>
            <a:endParaRPr lang="en-US" dirty="0">
              <a:solidFill>
                <a:prstClr val="black"/>
              </a:solidFill>
              <a:latin typeface="Calibri"/>
            </a:endParaRPr>
          </a:p>
          <a:p>
            <a:endParaRPr lang="en-US" dirty="0">
              <a:solidFill>
                <a:prstClr val="black"/>
              </a:solidFill>
              <a:latin typeface="Calibri"/>
            </a:endParaRPr>
          </a:p>
          <a:p>
            <a:endParaRPr lang="en-US" dirty="0">
              <a:solidFill>
                <a:prstClr val="black"/>
              </a:solidFill>
              <a:latin typeface="Calibri"/>
            </a:endParaRPr>
          </a:p>
          <a:p>
            <a:endParaRPr lang="en-US" dirty="0">
              <a:solidFill>
                <a:prstClr val="black"/>
              </a:solidFill>
              <a:latin typeface="Calibri"/>
            </a:endParaRPr>
          </a:p>
          <a:p>
            <a:endParaRPr lang="en-US" dirty="0">
              <a:solidFill>
                <a:prstClr val="black"/>
              </a:solidFill>
              <a:latin typeface="Calibri"/>
            </a:endParaRPr>
          </a:p>
          <a:p>
            <a:endParaRPr lang="en-US" dirty="0">
              <a:solidFill>
                <a:prstClr val="black"/>
              </a:solidFill>
              <a:latin typeface="Calibri"/>
            </a:endParaRPr>
          </a:p>
          <a:p>
            <a:r>
              <a:rPr lang="en-US" dirty="0">
                <a:solidFill>
                  <a:prstClr val="black"/>
                </a:solidFill>
                <a:latin typeface="Calibri"/>
              </a:rPr>
              <a:t>To overcome ACI, the </a:t>
            </a:r>
            <a:r>
              <a:rPr lang="en-US" dirty="0">
                <a:solidFill>
                  <a:srgbClr val="4F81BD"/>
                </a:solidFill>
                <a:latin typeface="Calibri"/>
              </a:rPr>
              <a:t>frequency separation </a:t>
            </a:r>
            <a:r>
              <a:rPr lang="en-US" dirty="0">
                <a:solidFill>
                  <a:prstClr val="black"/>
                </a:solidFill>
                <a:latin typeface="Calibri"/>
              </a:rPr>
              <a:t>between each channel in cell should be made as large as possible.</a:t>
            </a:r>
          </a:p>
        </p:txBody>
      </p:sp>
      <p:sp>
        <p:nvSpPr>
          <p:cNvPr id="14" name="TextBox 13"/>
          <p:cNvSpPr txBox="1"/>
          <p:nvPr/>
        </p:nvSpPr>
        <p:spPr>
          <a:xfrm>
            <a:off x="3816849" y="2529733"/>
            <a:ext cx="2690119" cy="307777"/>
          </a:xfrm>
          <a:prstGeom prst="rect">
            <a:avLst/>
          </a:prstGeom>
          <a:noFill/>
        </p:spPr>
        <p:txBody>
          <a:bodyPr wrap="square" rtlCol="0">
            <a:spAutoFit/>
          </a:bodyPr>
          <a:lstStyle/>
          <a:p>
            <a:pPr algn="l" rtl="0"/>
            <a:r>
              <a:rPr lang="en-US" sz="1400" kern="1200" dirty="0">
                <a:solidFill>
                  <a:prstClr val="black"/>
                </a:solidFill>
                <a:latin typeface="Arial" panose="020B0604020202020204" pitchFamily="34" charset="0"/>
                <a:ea typeface="+mn-ea"/>
                <a:cs typeface="Arial" panose="020B0604020202020204" pitchFamily="34" charset="0"/>
              </a:rPr>
              <a:t>Overpowered by strong signals</a:t>
            </a:r>
            <a:endParaRPr lang="en-IN" sz="1400" kern="1200" dirty="0">
              <a:solidFill>
                <a:prstClr val="black"/>
              </a:solidFill>
              <a:latin typeface="Arial" panose="020B0604020202020204" pitchFamily="34" charset="0"/>
              <a:ea typeface="+mn-ea"/>
              <a:cs typeface="Arial" panose="020B0604020202020204" pitchFamily="34" charset="0"/>
            </a:endParaRPr>
          </a:p>
        </p:txBody>
      </p:sp>
      <p:sp>
        <p:nvSpPr>
          <p:cNvPr id="18" name="TextBox 17"/>
          <p:cNvSpPr txBox="1"/>
          <p:nvPr/>
        </p:nvSpPr>
        <p:spPr>
          <a:xfrm>
            <a:off x="1395574" y="2602146"/>
            <a:ext cx="2388742" cy="307777"/>
          </a:xfrm>
          <a:prstGeom prst="rect">
            <a:avLst/>
          </a:prstGeom>
          <a:noFill/>
        </p:spPr>
        <p:txBody>
          <a:bodyPr wrap="square" rtlCol="0">
            <a:spAutoFit/>
          </a:bodyPr>
          <a:lstStyle/>
          <a:p>
            <a:pPr algn="l" rtl="0"/>
            <a:r>
              <a:rPr lang="en-US" sz="1400" kern="1200" dirty="0">
                <a:solidFill>
                  <a:prstClr val="black"/>
                </a:solidFill>
                <a:latin typeface="Arial" panose="020B0604020202020204" pitchFamily="34" charset="0"/>
                <a:ea typeface="+mn-ea"/>
                <a:cs typeface="Arial" panose="020B0604020202020204" pitchFamily="34" charset="0"/>
              </a:rPr>
              <a:t>Block entire cell</a:t>
            </a:r>
            <a:endParaRPr lang="en-IN" sz="1400" kern="12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997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sz="2400" dirty="0"/>
              <a:t>Adjacent Channel interference (ACI)</a:t>
            </a:r>
            <a:endParaRPr lang="en-IN"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If a subscriber is at a distance d1 and the interferer is at a distance d2, then the signal to interference ratio is given by </a:t>
                </a:r>
              </a:p>
              <a:p>
                <a:pPr marL="0" indent="0"/>
                <a:endParaRPr lang="en-US" i="1" dirty="0">
                  <a:latin typeface="Cambria Math" panose="02040503050406030204" pitchFamily="18" charset="0"/>
                </a:endParaRPr>
              </a:p>
              <a:p>
                <a:pPr marL="0" indent="0">
                  <a:buNone/>
                </a:pPr>
                <a:r>
                  <a:rPr lang="en-US" dirty="0">
                    <a:solidFill>
                      <a:schemeClr val="accent1"/>
                    </a:solidFill>
                  </a:rPr>
                  <a:t>	</a:t>
                </a:r>
                <a14:m>
                  <m:oMath xmlns:m="http://schemas.openxmlformats.org/officeDocument/2006/math">
                    <m:f>
                      <m:fPr>
                        <m:ctrlPr>
                          <a:rPr lang="en-US" sz="2000" i="1">
                            <a:latin typeface="Cambria Math" panose="02040503050406030204" pitchFamily="18" charset="0"/>
                          </a:rPr>
                        </m:ctrlPr>
                      </m:fPr>
                      <m:num>
                        <m:r>
                          <a:rPr lang="en-US" sz="2000" i="1">
                            <a:latin typeface="Cambria Math"/>
                          </a:rPr>
                          <m:t>𝑆</m:t>
                        </m:r>
                      </m:num>
                      <m:den>
                        <m:r>
                          <a:rPr lang="en-US" sz="2000" i="1">
                            <a:latin typeface="Cambria Math"/>
                          </a:rPr>
                          <m:t>𝐼</m:t>
                        </m:r>
                      </m:den>
                    </m:f>
                    <m:r>
                      <a:rPr lang="en-US" sz="2000" i="1">
                        <a:latin typeface="Cambria Math"/>
                      </a:rPr>
                      <m:t>= </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a:rPr>
                                  <m:t>𝑑</m:t>
                                </m:r>
                                <m:r>
                                  <a:rPr lang="en-US" sz="2000" i="1">
                                    <a:latin typeface="Cambria Math"/>
                                  </a:rPr>
                                  <m:t>1</m:t>
                                </m:r>
                              </m:num>
                              <m:den>
                                <m:r>
                                  <a:rPr lang="en-US" sz="2000" i="1">
                                    <a:latin typeface="Cambria Math"/>
                                  </a:rPr>
                                  <m:t>𝑑</m:t>
                                </m:r>
                                <m:r>
                                  <a:rPr lang="en-US" sz="2000" i="1">
                                    <a:latin typeface="Cambria Math"/>
                                  </a:rPr>
                                  <m:t>2</m:t>
                                </m:r>
                              </m:den>
                            </m:f>
                          </m:e>
                        </m:d>
                      </m:e>
                      <m:sup>
                        <m:r>
                          <a:rPr lang="en-US" sz="2000" i="1">
                            <a:latin typeface="Cambria Math"/>
                          </a:rPr>
                          <m:t>−</m:t>
                        </m:r>
                        <m:r>
                          <a:rPr lang="en-US" sz="2000" i="1">
                            <a:latin typeface="Cambria Math"/>
                          </a:rPr>
                          <m:t>𝑛</m:t>
                        </m:r>
                      </m:sup>
                    </m:sSup>
                  </m:oMath>
                </a14:m>
                <a:endParaRPr lang="en-US" dirty="0">
                  <a:solidFill>
                    <a:schemeClr val="accent1"/>
                  </a:solidFill>
                </a:endParaRPr>
              </a:p>
              <a:p>
                <a:pPr marL="0" indent="0">
                  <a:buNone/>
                </a:pPr>
                <a:endParaRPr lang="en-US" dirty="0">
                  <a:solidFill>
                    <a:schemeClr val="accent1"/>
                  </a:solidFill>
                </a:endParaRPr>
              </a:p>
              <a:p>
                <a:pPr marL="0" indent="0">
                  <a:buNone/>
                </a:pPr>
                <a:r>
                  <a:rPr lang="en-US" dirty="0">
                    <a:solidFill>
                      <a:schemeClr val="accent1"/>
                    </a:solidFill>
                  </a:rPr>
                  <a:t>Example:</a:t>
                </a:r>
              </a:p>
              <a:p>
                <a:pPr>
                  <a:buFont typeface="Wingdings" pitchFamily="2" charset="2"/>
                  <a:buChar char="ü"/>
                </a:pPr>
                <a:r>
                  <a:rPr lang="en-US" dirty="0"/>
                  <a:t>Suppose the subscriber is at a distance of 1000 m from the base station </a:t>
                </a:r>
              </a:p>
              <a:p>
                <a:pPr>
                  <a:buFont typeface="Wingdings" pitchFamily="2" charset="2"/>
                  <a:buChar char="ü"/>
                </a:pPr>
                <a:r>
                  <a:rPr lang="en-US" dirty="0"/>
                  <a:t>Another mobile which is using an adjacent channel is at a distance of only 100 m from the base station. </a:t>
                </a:r>
              </a:p>
              <a:p>
                <a:pPr>
                  <a:buFont typeface="Wingdings" pitchFamily="2" charset="2"/>
                  <a:buChar char="ü"/>
                </a:pPr>
                <a:r>
                  <a:rPr lang="en-US" dirty="0"/>
                  <a:t>Path loss exponent n = 3.</a:t>
                </a:r>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649" t="-889" r="-1649"/>
                </a:stretch>
              </a:blipFill>
            </p:spPr>
            <p:txBody>
              <a:bodyPr/>
              <a:lstStyle/>
              <a:p>
                <a:r>
                  <a:rPr lang="en-IN">
                    <a:noFill/>
                  </a:rPr>
                  <a:t> </a:t>
                </a:r>
              </a:p>
            </p:txBody>
          </p:sp>
        </mc:Fallback>
      </mc:AlternateContent>
    </p:spTree>
    <p:extLst>
      <p:ext uri="{BB962C8B-B14F-4D97-AF65-F5344CB8AC3E}">
        <p14:creationId xmlns:p14="http://schemas.microsoft.com/office/powerpoint/2010/main" val="424853980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Power control</a:t>
            </a:r>
          </a:p>
          <a:p>
            <a:endParaRPr lang="en-IN" dirty="0"/>
          </a:p>
        </p:txBody>
      </p:sp>
      <p:sp>
        <p:nvSpPr>
          <p:cNvPr id="3" name="Content Placeholder 2"/>
          <p:cNvSpPr>
            <a:spLocks noGrp="1"/>
          </p:cNvSpPr>
          <p:nvPr>
            <p:ph idx="1"/>
          </p:nvPr>
        </p:nvSpPr>
        <p:spPr/>
        <p:txBody>
          <a:bodyPr/>
          <a:lstStyle/>
          <a:p>
            <a:r>
              <a:rPr lang="en-IN" dirty="0"/>
              <a:t>Reduction of interference is possible by having the power level transmitted by user are under constant control by the serving base station.</a:t>
            </a:r>
          </a:p>
          <a:p>
            <a:endParaRPr lang="en-IN" dirty="0"/>
          </a:p>
          <a:p>
            <a:r>
              <a:rPr lang="en-IN" dirty="0"/>
              <a:t>Power control improves long life of battery for the user</a:t>
            </a:r>
          </a:p>
          <a:p>
            <a:endParaRPr lang="en-IN" dirty="0"/>
          </a:p>
          <a:p>
            <a:r>
              <a:rPr lang="en-IN" dirty="0"/>
              <a:t>Reduces the reverse channel S/I in the system.</a:t>
            </a:r>
          </a:p>
          <a:p>
            <a:endParaRPr lang="en-IN" dirty="0"/>
          </a:p>
        </p:txBody>
      </p:sp>
    </p:spTree>
    <p:extLst>
      <p:ext uri="{BB962C8B-B14F-4D97-AF65-F5344CB8AC3E}">
        <p14:creationId xmlns:p14="http://schemas.microsoft.com/office/powerpoint/2010/main" val="313207545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IN" dirty="0"/>
          </a:p>
          <a:p>
            <a:r>
              <a:rPr lang="en-US" dirty="0"/>
              <a:t>co-channel cells must be physically separated by a minimum distance to provide sufficient isolation and avoid co-channel interference. </a:t>
            </a:r>
          </a:p>
          <a:p>
            <a:r>
              <a:rPr lang="en-US" dirty="0"/>
              <a:t>Imperfect receiver filters and also the near far effect are the cause for the adjacent channel interference.</a:t>
            </a:r>
          </a:p>
          <a:p>
            <a:r>
              <a:rPr lang="en-US" dirty="0"/>
              <a:t>Power control improves battery life and also  help in reducing the reverse channel S/I ratio.</a:t>
            </a:r>
          </a:p>
          <a:p>
            <a:endParaRPr lang="en-US" dirty="0"/>
          </a:p>
          <a:p>
            <a:endParaRPr lang="en-US" dirty="0"/>
          </a:p>
          <a:p>
            <a:endParaRPr lang="en-IN" dirty="0"/>
          </a:p>
          <a:p>
            <a:endParaRPr lang="en-US"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err="1"/>
              <a:t>Trunking</a:t>
            </a:r>
            <a:r>
              <a:rPr lang="en-US" dirty="0"/>
              <a:t> &amp; Grade of Service</a:t>
            </a:r>
            <a:endParaRPr lang="en-IN" dirty="0"/>
          </a:p>
        </p:txBody>
      </p:sp>
      <p:sp>
        <p:nvSpPr>
          <p:cNvPr id="3" name="Content Placeholder 2"/>
          <p:cNvSpPr>
            <a:spLocks noGrp="1"/>
          </p:cNvSpPr>
          <p:nvPr>
            <p:ph idx="1"/>
          </p:nvPr>
        </p:nvSpPr>
        <p:spPr/>
        <p:txBody>
          <a:bodyPr/>
          <a:lstStyle/>
          <a:p>
            <a:pPr marL="0" indent="0">
              <a:buNone/>
            </a:pPr>
            <a:r>
              <a:rPr lang="en-US" sz="1600" dirty="0"/>
              <a:t>Cellular radio systems rely on </a:t>
            </a:r>
            <a:r>
              <a:rPr lang="en-US" sz="1600" dirty="0" err="1"/>
              <a:t>trunking</a:t>
            </a:r>
            <a:r>
              <a:rPr lang="en-US" sz="1600" dirty="0"/>
              <a:t> to accommodate a large number of users in a limited radio spectrum.</a:t>
            </a:r>
          </a:p>
          <a:p>
            <a:endParaRPr lang="en-US" sz="1600" dirty="0"/>
          </a:p>
          <a:p>
            <a:pPr marL="0" indent="0">
              <a:buNone/>
            </a:pPr>
            <a:r>
              <a:rPr lang="en-US" sz="1600" b="1" dirty="0">
                <a:solidFill>
                  <a:srgbClr val="FF0000"/>
                </a:solidFill>
              </a:rPr>
              <a:t>What is </a:t>
            </a:r>
            <a:r>
              <a:rPr lang="en-US" sz="1600" b="1" dirty="0" err="1">
                <a:solidFill>
                  <a:srgbClr val="FF0000"/>
                </a:solidFill>
              </a:rPr>
              <a:t>Trunking</a:t>
            </a:r>
            <a:r>
              <a:rPr lang="en-US" sz="1600" b="1" dirty="0">
                <a:solidFill>
                  <a:srgbClr val="FF0000"/>
                </a:solidFill>
              </a:rPr>
              <a:t>?</a:t>
            </a:r>
          </a:p>
          <a:p>
            <a:pPr marL="0" indent="0">
              <a:buNone/>
            </a:pPr>
            <a:r>
              <a:rPr lang="en-US" sz="1600" dirty="0"/>
              <a:t>	It is a technique that allows a large number of users to share a relatively small number of channels in a cell by providing access to each user, on demand from a pool of available channels.</a:t>
            </a:r>
          </a:p>
          <a:p>
            <a:endParaRPr lang="en-US" sz="1600" dirty="0"/>
          </a:p>
          <a:p>
            <a:pPr marL="0" indent="0">
              <a:buNone/>
            </a:pPr>
            <a:r>
              <a:rPr lang="en-US" sz="1600" dirty="0"/>
              <a:t>In a trunked radio system(TRS) each user is allocated a channel on a per call basis, upon termination of the call, the previously occupied channel is immediately returned to the pool of available channels.</a:t>
            </a:r>
          </a:p>
          <a:p>
            <a:endParaRPr lang="en-US" sz="1600" dirty="0"/>
          </a:p>
          <a:p>
            <a:pPr marL="0" indent="0">
              <a:buNone/>
            </a:pPr>
            <a:r>
              <a:rPr lang="en-US" sz="1600" b="1" dirty="0">
                <a:solidFill>
                  <a:srgbClr val="FF0000"/>
                </a:solidFill>
              </a:rPr>
              <a:t>Grade Of Service(GOS) </a:t>
            </a:r>
          </a:p>
          <a:p>
            <a:pPr marL="0" indent="0">
              <a:buNone/>
            </a:pPr>
            <a:r>
              <a:rPr lang="en-US" sz="1600" dirty="0"/>
              <a:t>	It is a measure of ability of the user  to access a trunked system during the busiest hour.</a:t>
            </a:r>
          </a:p>
          <a:p>
            <a:endParaRPr lang="en-IN" dirty="0"/>
          </a:p>
        </p:txBody>
      </p:sp>
    </p:spTree>
    <p:extLst>
      <p:ext uri="{BB962C8B-B14F-4D97-AF65-F5344CB8AC3E}">
        <p14:creationId xmlns:p14="http://schemas.microsoft.com/office/powerpoint/2010/main" val="18672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Key Definitions</a:t>
            </a:r>
          </a:p>
          <a:p>
            <a:endParaRPr lang="en-IN" dirty="0"/>
          </a:p>
        </p:txBody>
      </p:sp>
      <p:sp>
        <p:nvSpPr>
          <p:cNvPr id="5" name="Content Placeholder 1"/>
          <p:cNvSpPr>
            <a:spLocks noGrp="1"/>
          </p:cNvSpPr>
          <p:nvPr>
            <p:ph idx="1"/>
          </p:nvPr>
        </p:nvSpPr>
        <p:spPr/>
        <p:txBody>
          <a:bodyPr>
            <a:normAutofit/>
          </a:bodyPr>
          <a:lstStyle/>
          <a:p>
            <a:r>
              <a:rPr lang="en-US" b="1" u="sng" dirty="0">
                <a:solidFill>
                  <a:schemeClr val="tx2">
                    <a:lumMod val="60000"/>
                    <a:lumOff val="40000"/>
                  </a:schemeClr>
                </a:solidFill>
              </a:rPr>
              <a:t>Set up time</a:t>
            </a:r>
            <a:r>
              <a:rPr lang="en-US" dirty="0"/>
              <a:t>: Time required to allocate a radio channel to a requesting user.</a:t>
            </a:r>
          </a:p>
          <a:p>
            <a:pPr marL="0" indent="0">
              <a:buNone/>
            </a:pPr>
            <a:endParaRPr lang="en-US" dirty="0"/>
          </a:p>
          <a:p>
            <a:r>
              <a:rPr lang="en-US" b="1" u="sng" dirty="0">
                <a:solidFill>
                  <a:schemeClr val="tx2">
                    <a:lumMod val="60000"/>
                    <a:lumOff val="40000"/>
                  </a:schemeClr>
                </a:solidFill>
              </a:rPr>
              <a:t>Blocked call: </a:t>
            </a:r>
            <a:r>
              <a:rPr lang="en-US" dirty="0"/>
              <a:t>A call which cannot be completed at the time of request, due to congestion(lost call).</a:t>
            </a:r>
          </a:p>
          <a:p>
            <a:pPr marL="0" indent="0">
              <a:buNone/>
            </a:pPr>
            <a:endParaRPr lang="en-US" dirty="0"/>
          </a:p>
          <a:p>
            <a:r>
              <a:rPr lang="en-US" b="1" u="sng" dirty="0">
                <a:solidFill>
                  <a:schemeClr val="tx2">
                    <a:lumMod val="60000"/>
                    <a:lumOff val="40000"/>
                  </a:schemeClr>
                </a:solidFill>
              </a:rPr>
              <a:t>Holding Time</a:t>
            </a:r>
            <a:r>
              <a:rPr lang="en-US" b="1" dirty="0">
                <a:solidFill>
                  <a:schemeClr val="tx2">
                    <a:lumMod val="60000"/>
                    <a:lumOff val="40000"/>
                  </a:schemeClr>
                </a:solidFill>
              </a:rPr>
              <a:t>: </a:t>
            </a:r>
            <a:r>
              <a:rPr lang="en-US" dirty="0"/>
              <a:t>Average duration of a call. Denoted by H (in Seconds)</a:t>
            </a:r>
          </a:p>
          <a:p>
            <a:pPr marL="0" indent="0">
              <a:buNone/>
            </a:pPr>
            <a:endParaRPr lang="en-US" dirty="0"/>
          </a:p>
          <a:p>
            <a:r>
              <a:rPr lang="en-US" b="1" u="sng" dirty="0">
                <a:solidFill>
                  <a:schemeClr val="tx2">
                    <a:lumMod val="60000"/>
                    <a:lumOff val="40000"/>
                  </a:schemeClr>
                </a:solidFill>
              </a:rPr>
              <a:t>Request Rate</a:t>
            </a:r>
            <a:r>
              <a:rPr lang="en-US" b="1" dirty="0">
                <a:solidFill>
                  <a:schemeClr val="tx2">
                    <a:lumMod val="60000"/>
                    <a:lumOff val="40000"/>
                  </a:schemeClr>
                </a:solidFill>
              </a:rPr>
              <a:t>: </a:t>
            </a:r>
            <a:r>
              <a:rPr lang="en-US" dirty="0"/>
              <a:t>The average number of calls request per unit time (</a:t>
            </a:r>
            <a:r>
              <a:rPr lang="el-GR" dirty="0"/>
              <a:t>λ</a:t>
            </a:r>
            <a:r>
              <a:rPr lang="en-US" dirty="0"/>
              <a:t>).</a:t>
            </a:r>
          </a:p>
          <a:p>
            <a:pPr marL="0" indent="0">
              <a:buNone/>
            </a:pPr>
            <a:endParaRPr lang="en-US" dirty="0"/>
          </a:p>
          <a:p>
            <a:r>
              <a:rPr lang="en-US" b="1" u="sng" dirty="0">
                <a:solidFill>
                  <a:schemeClr val="tx2">
                    <a:lumMod val="60000"/>
                    <a:lumOff val="40000"/>
                  </a:schemeClr>
                </a:solidFill>
              </a:rPr>
              <a:t>Traffic Intensity</a:t>
            </a:r>
            <a:r>
              <a:rPr lang="en-US" dirty="0"/>
              <a:t>: Measure of channel  time utilization or the average channel occupancy measured in </a:t>
            </a:r>
            <a:r>
              <a:rPr lang="en-US" dirty="0" err="1"/>
              <a:t>Erlangs</a:t>
            </a:r>
            <a:r>
              <a:rPr lang="en-US" dirty="0"/>
              <a:t>. Denoted by A.</a:t>
            </a:r>
          </a:p>
          <a:p>
            <a:pPr marL="0" indent="0">
              <a:buNone/>
            </a:pPr>
            <a:endParaRPr lang="en-US" dirty="0"/>
          </a:p>
          <a:p>
            <a:r>
              <a:rPr lang="en-US" b="1" u="sng" dirty="0">
                <a:solidFill>
                  <a:schemeClr val="tx2">
                    <a:lumMod val="60000"/>
                    <a:lumOff val="40000"/>
                  </a:schemeClr>
                </a:solidFill>
              </a:rPr>
              <a:t>Load:</a:t>
            </a:r>
            <a:r>
              <a:rPr lang="en-US" dirty="0"/>
              <a:t> Traffic intensity across the entire Trunked Radio System.</a:t>
            </a:r>
          </a:p>
          <a:p>
            <a:endParaRPr lang="en-US" dirty="0"/>
          </a:p>
        </p:txBody>
      </p:sp>
    </p:spTree>
    <p:extLst>
      <p:ext uri="{BB962C8B-B14F-4D97-AF65-F5344CB8AC3E}">
        <p14:creationId xmlns:p14="http://schemas.microsoft.com/office/powerpoint/2010/main" val="259205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2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30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30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20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20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20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20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 calcmode="lin" valueType="num">
                                      <p:cBhvr additive="base">
                                        <p:cTn id="3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err="1"/>
              <a:t>Trunking</a:t>
            </a:r>
            <a:r>
              <a:rPr lang="en-US" dirty="0"/>
              <a:t> and Grade Of Service</a:t>
            </a:r>
          </a:p>
          <a:p>
            <a:endParaRPr lang="en-IN" dirty="0"/>
          </a:p>
        </p:txBody>
      </p:sp>
      <p:sp>
        <p:nvSpPr>
          <p:cNvPr id="4" name="Content Placeholder 3"/>
          <p:cNvSpPr txBox="1">
            <a:spLocks noGrp="1"/>
          </p:cNvSpPr>
          <p:nvPr>
            <p:ph idx="1"/>
          </p:nvPr>
        </p:nvSpPr>
        <p:spPr>
          <a:xfrm>
            <a:off x="274320" y="1611631"/>
            <a:ext cx="8503920" cy="4298613"/>
          </a:xfrm>
          <a:prstGeom prst="rect">
            <a:avLst/>
          </a:prstGeom>
          <a:noFill/>
        </p:spPr>
        <p:txBody>
          <a:bodyPr wrap="square" rtlCol="0">
            <a:spAutoFit/>
          </a:bodyPr>
          <a:lstStyle/>
          <a:p>
            <a:pPr marL="0" indent="0">
              <a:buNone/>
            </a:pPr>
            <a:r>
              <a:rPr lang="en-IN" sz="2000" dirty="0">
                <a:solidFill>
                  <a:srgbClr val="FF0000"/>
                </a:solidFill>
              </a:rPr>
              <a:t>Traffic Intensity offered by each user (Au</a:t>
            </a:r>
            <a:r>
              <a:rPr lang="en-IN" sz="2000" dirty="0"/>
              <a:t>): Average call arrival rate multiplied by the holding time</a:t>
            </a:r>
          </a:p>
          <a:p>
            <a:pPr marL="0" indent="0">
              <a:buNone/>
            </a:pPr>
            <a:r>
              <a:rPr lang="en-IN" sz="2000" dirty="0"/>
              <a:t>   Au= </a:t>
            </a:r>
            <a:r>
              <a:rPr lang="el-GR" sz="2000" dirty="0"/>
              <a:t>λ</a:t>
            </a:r>
            <a:r>
              <a:rPr lang="en-IN" sz="2000" dirty="0"/>
              <a:t>H (</a:t>
            </a:r>
            <a:r>
              <a:rPr lang="en-IN" sz="2000" dirty="0" err="1"/>
              <a:t>Erlangs</a:t>
            </a:r>
            <a:r>
              <a:rPr lang="en-IN" sz="2000" dirty="0"/>
              <a:t>)</a:t>
            </a:r>
          </a:p>
          <a:p>
            <a:endParaRPr lang="en-IN" sz="2000" dirty="0"/>
          </a:p>
          <a:p>
            <a:pPr marL="0" indent="0">
              <a:buNone/>
            </a:pPr>
            <a:r>
              <a:rPr lang="en-IN" sz="2000" dirty="0">
                <a:solidFill>
                  <a:srgbClr val="FF0000"/>
                </a:solidFill>
              </a:rPr>
              <a:t>Total Offered traffic intensity for a system of U users(A): </a:t>
            </a:r>
            <a:r>
              <a:rPr lang="en-IN" sz="2000" dirty="0"/>
              <a:t>Traffic intensity offered by each user multiplied by the total number of user expressed in </a:t>
            </a:r>
            <a:r>
              <a:rPr lang="en-IN" sz="2000" dirty="0" err="1"/>
              <a:t>Erlangs</a:t>
            </a:r>
            <a:endParaRPr lang="en-IN" sz="2000" dirty="0"/>
          </a:p>
          <a:p>
            <a:pPr marL="0" indent="0">
              <a:buNone/>
            </a:pPr>
            <a:r>
              <a:rPr lang="en-IN" sz="2000" dirty="0"/>
              <a:t> </a:t>
            </a:r>
          </a:p>
          <a:p>
            <a:pPr marL="0" indent="0">
              <a:buNone/>
            </a:pPr>
            <a:r>
              <a:rPr lang="en-IN" sz="2000" dirty="0"/>
              <a:t>A= U* Au (</a:t>
            </a:r>
            <a:r>
              <a:rPr lang="en-IN" sz="2000" dirty="0" err="1"/>
              <a:t>Erlangs</a:t>
            </a:r>
            <a:r>
              <a:rPr lang="en-IN" sz="2000" dirty="0"/>
              <a:t>)</a:t>
            </a:r>
          </a:p>
          <a:p>
            <a:endParaRPr lang="en-IN" sz="2000" dirty="0"/>
          </a:p>
          <a:p>
            <a:pPr marL="0" indent="0">
              <a:buNone/>
            </a:pPr>
            <a:r>
              <a:rPr lang="en-IN" sz="2000" dirty="0">
                <a:solidFill>
                  <a:srgbClr val="FF0000"/>
                </a:solidFill>
              </a:rPr>
              <a:t>Traffic Intensity per channel</a:t>
            </a:r>
            <a:r>
              <a:rPr lang="en-IN" sz="2000" dirty="0"/>
              <a:t>, in  a C channel trunked system is given by </a:t>
            </a:r>
          </a:p>
          <a:p>
            <a:pPr marL="0" indent="0">
              <a:buNone/>
            </a:pPr>
            <a:r>
              <a:rPr lang="en-IN" sz="2000" dirty="0"/>
              <a:t> Ac= U*Au/C (</a:t>
            </a:r>
            <a:r>
              <a:rPr lang="en-IN" sz="2000" dirty="0" err="1"/>
              <a:t>Erlangs</a:t>
            </a:r>
            <a:r>
              <a:rPr lang="en-IN" sz="2000" dirty="0"/>
              <a:t>)</a:t>
            </a:r>
          </a:p>
        </p:txBody>
      </p:sp>
    </p:spTree>
    <p:extLst>
      <p:ext uri="{BB962C8B-B14F-4D97-AF65-F5344CB8AC3E}">
        <p14:creationId xmlns:p14="http://schemas.microsoft.com/office/powerpoint/2010/main" val="124988064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Types of Trunked Systems</a:t>
            </a:r>
          </a:p>
          <a:p>
            <a:endParaRPr lang="en-IN" dirty="0"/>
          </a:p>
        </p:txBody>
      </p:sp>
      <p:sp>
        <p:nvSpPr>
          <p:cNvPr id="3" name="Content Placeholder 2"/>
          <p:cNvSpPr>
            <a:spLocks noGrp="1"/>
          </p:cNvSpPr>
          <p:nvPr>
            <p:ph idx="1"/>
          </p:nvPr>
        </p:nvSpPr>
        <p:spPr/>
        <p:txBody>
          <a:bodyPr/>
          <a:lstStyle/>
          <a:p>
            <a:r>
              <a:rPr lang="en-IN" dirty="0">
                <a:solidFill>
                  <a:srgbClr val="FF0000"/>
                </a:solidFill>
              </a:rPr>
              <a:t>Blocked call cleared System</a:t>
            </a:r>
          </a:p>
          <a:p>
            <a:endParaRPr lang="en-IN" dirty="0">
              <a:solidFill>
                <a:srgbClr val="FF0000"/>
              </a:solidFill>
            </a:endParaRPr>
          </a:p>
          <a:p>
            <a:r>
              <a:rPr lang="en-IN" dirty="0">
                <a:solidFill>
                  <a:srgbClr val="FF0000"/>
                </a:solidFill>
              </a:rPr>
              <a:t>Blocked call delayed System</a:t>
            </a:r>
          </a:p>
          <a:p>
            <a:pPr marL="0" indent="0"/>
            <a:endParaRPr lang="en-IN" dirty="0">
              <a:solidFill>
                <a:srgbClr val="FF0000"/>
              </a:solidFill>
            </a:endParaRPr>
          </a:p>
          <a:p>
            <a:pPr marL="0" indent="0">
              <a:buNone/>
            </a:pPr>
            <a:endParaRPr lang="en-IN" dirty="0"/>
          </a:p>
        </p:txBody>
      </p:sp>
    </p:spTree>
    <p:extLst>
      <p:ext uri="{BB962C8B-B14F-4D97-AF65-F5344CB8AC3E}">
        <p14:creationId xmlns:p14="http://schemas.microsoft.com/office/powerpoint/2010/main" val="144885339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Blocked Call Cleared System</a:t>
            </a:r>
          </a:p>
        </p:txBody>
      </p:sp>
      <p:sp>
        <p:nvSpPr>
          <p:cNvPr id="5" name="Content Placeholder 1"/>
          <p:cNvSpPr>
            <a:spLocks noGrp="1"/>
          </p:cNvSpPr>
          <p:nvPr>
            <p:ph idx="1"/>
          </p:nvPr>
        </p:nvSpPr>
        <p:spPr/>
        <p:txBody>
          <a:bodyPr/>
          <a:lstStyle/>
          <a:p>
            <a:pPr marL="0" indent="0">
              <a:buNone/>
            </a:pPr>
            <a:r>
              <a:rPr lang="en-US" dirty="0"/>
              <a:t>When a user request service, there is a minimal call set up time and the user is given immediate access to a channel if one is available.</a:t>
            </a:r>
          </a:p>
          <a:p>
            <a:pPr marL="0" indent="0">
              <a:buNone/>
            </a:pPr>
            <a:r>
              <a:rPr lang="en-US" dirty="0"/>
              <a:t>If the channels are already in use and no new channels are available, call is blocked with out access to the system.</a:t>
            </a:r>
          </a:p>
          <a:p>
            <a:pPr marL="0" indent="0">
              <a:buNone/>
            </a:pPr>
            <a:r>
              <a:rPr lang="en-US" dirty="0"/>
              <a:t>The user does not receive Service, but is free to try again.</a:t>
            </a:r>
          </a:p>
          <a:p>
            <a:pPr marL="0" indent="0">
              <a:buNone/>
            </a:pPr>
            <a:r>
              <a:rPr lang="en-US" dirty="0" err="1"/>
              <a:t>Erlang</a:t>
            </a:r>
            <a:r>
              <a:rPr lang="en-US" dirty="0"/>
              <a:t> B Formula determines the probability that a call is blocked is given by</a:t>
            </a:r>
          </a:p>
          <a:p>
            <a:endParaRPr lang="en-US" dirty="0"/>
          </a:p>
          <a:p>
            <a:endParaRPr lang="en-US" dirty="0"/>
          </a:p>
          <a:p>
            <a:endParaRPr lang="en-US" dirty="0"/>
          </a:p>
          <a:p>
            <a:endParaRPr lang="en-US" dirty="0"/>
          </a:p>
        </p:txBody>
      </p:sp>
      <p:pic>
        <p:nvPicPr>
          <p:cNvPr id="6" name="Picture 5"/>
          <p:cNvPicPr/>
          <p:nvPr/>
        </p:nvPicPr>
        <p:blipFill>
          <a:blip r:embed="rId2"/>
          <a:srcRect l="31730" t="42182" r="50962" b="44727"/>
          <a:stretch>
            <a:fillRect/>
          </a:stretch>
        </p:blipFill>
        <p:spPr bwMode="auto">
          <a:xfrm>
            <a:off x="657546" y="4195424"/>
            <a:ext cx="3300060" cy="997521"/>
          </a:xfrm>
          <a:prstGeom prst="rect">
            <a:avLst/>
          </a:prstGeom>
          <a:noFill/>
          <a:ln w="9525">
            <a:noFill/>
            <a:miter lim="800000"/>
            <a:headEnd/>
            <a:tailEnd/>
          </a:ln>
        </p:spPr>
      </p:pic>
      <p:sp>
        <p:nvSpPr>
          <p:cNvPr id="7" name="TextBox 6"/>
          <p:cNvSpPr txBox="1"/>
          <p:nvPr/>
        </p:nvSpPr>
        <p:spPr>
          <a:xfrm>
            <a:off x="4081923" y="3984054"/>
            <a:ext cx="4572000" cy="646331"/>
          </a:xfrm>
          <a:prstGeom prst="rect">
            <a:avLst/>
          </a:prstGeom>
          <a:noFill/>
        </p:spPr>
        <p:txBody>
          <a:bodyPr wrap="square" rtlCol="0">
            <a:spAutoFit/>
          </a:bodyPr>
          <a:lstStyle/>
          <a:p>
            <a:pPr algn="l" rtl="0"/>
            <a:r>
              <a:rPr lang="en-US" b="1" kern="1200" dirty="0">
                <a:solidFill>
                  <a:srgbClr val="FF0000"/>
                </a:solidFill>
                <a:latin typeface="Calibri"/>
                <a:ea typeface="+mn-ea"/>
                <a:cs typeface="+mn-cs"/>
              </a:rPr>
              <a:t>C is the number of trunked Channels .</a:t>
            </a:r>
          </a:p>
          <a:p>
            <a:pPr algn="l" rtl="0"/>
            <a:r>
              <a:rPr lang="en-US" b="1" kern="1200" dirty="0">
                <a:solidFill>
                  <a:srgbClr val="FF0000"/>
                </a:solidFill>
                <a:latin typeface="Calibri"/>
                <a:ea typeface="+mn-ea"/>
                <a:cs typeface="+mn-cs"/>
              </a:rPr>
              <a:t>A is the total traffic offered.</a:t>
            </a:r>
          </a:p>
        </p:txBody>
      </p:sp>
    </p:spTree>
    <p:extLst>
      <p:ext uri="{BB962C8B-B14F-4D97-AF65-F5344CB8AC3E}">
        <p14:creationId xmlns:p14="http://schemas.microsoft.com/office/powerpoint/2010/main" val="404076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Blocked Call Delayed System</a:t>
            </a:r>
          </a:p>
          <a:p>
            <a:endParaRPr lang="en-IN" dirty="0"/>
          </a:p>
        </p:txBody>
      </p:sp>
      <p:sp>
        <p:nvSpPr>
          <p:cNvPr id="3" name="Content Placeholder 2"/>
          <p:cNvSpPr>
            <a:spLocks noGrp="1"/>
          </p:cNvSpPr>
          <p:nvPr>
            <p:ph idx="1"/>
          </p:nvPr>
        </p:nvSpPr>
        <p:spPr/>
        <p:txBody>
          <a:bodyPr/>
          <a:lstStyle/>
          <a:p>
            <a:r>
              <a:rPr lang="en-US" dirty="0"/>
              <a:t>Queues are used to hold call request that are initially blocked.</a:t>
            </a:r>
          </a:p>
          <a:p>
            <a:r>
              <a:rPr lang="en-US" dirty="0"/>
              <a:t>When a user attempts a call and a channel is not immediately available, the call request may be delayed until a channel becomes available.</a:t>
            </a:r>
          </a:p>
          <a:p>
            <a:r>
              <a:rPr lang="en-US" dirty="0"/>
              <a:t>If call cannot be assigned a channel, it is placed in a queue.</a:t>
            </a:r>
          </a:p>
          <a:p>
            <a:r>
              <a:rPr lang="en-US" dirty="0"/>
              <a:t>Each call is then serviced in the order of its arrival.</a:t>
            </a:r>
          </a:p>
          <a:p>
            <a:pPr marL="0" indent="0">
              <a:buNone/>
            </a:pPr>
            <a:endParaRPr lang="en-IN" dirty="0"/>
          </a:p>
        </p:txBody>
      </p:sp>
    </p:spTree>
    <p:extLst>
      <p:ext uri="{BB962C8B-B14F-4D97-AF65-F5344CB8AC3E}">
        <p14:creationId xmlns:p14="http://schemas.microsoft.com/office/powerpoint/2010/main" val="153337005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Blocked Call Delayed System</a:t>
            </a:r>
          </a:p>
          <a:p>
            <a:endParaRPr lang="en-IN" dirty="0"/>
          </a:p>
        </p:txBody>
      </p:sp>
      <p:sp>
        <p:nvSpPr>
          <p:cNvPr id="3" name="Content Placeholder 2"/>
          <p:cNvSpPr>
            <a:spLocks noGrp="1"/>
          </p:cNvSpPr>
          <p:nvPr>
            <p:ph idx="1"/>
          </p:nvPr>
        </p:nvSpPr>
        <p:spPr/>
        <p:txBody>
          <a:bodyPr/>
          <a:lstStyle/>
          <a:p>
            <a:r>
              <a:rPr lang="en-US" dirty="0"/>
              <a:t>The probability that the call not having the immediate access to a channel is determined by </a:t>
            </a:r>
            <a:r>
              <a:rPr lang="en-US" dirty="0" err="1"/>
              <a:t>Erlang</a:t>
            </a:r>
            <a:r>
              <a:rPr lang="en-US" dirty="0"/>
              <a:t> C formula </a:t>
            </a:r>
          </a:p>
          <a:p>
            <a:endParaRPr lang="en-US" dirty="0"/>
          </a:p>
          <a:p>
            <a:endParaRPr lang="en-US" dirty="0"/>
          </a:p>
          <a:p>
            <a:endParaRPr lang="en-US" dirty="0"/>
          </a:p>
          <a:p>
            <a:endParaRPr lang="en-US" dirty="0"/>
          </a:p>
          <a:p>
            <a:r>
              <a:rPr lang="en-US" dirty="0"/>
              <a:t>The probability that the call is forced to wait for more than t seconds is given by </a:t>
            </a:r>
          </a:p>
          <a:p>
            <a:pPr marL="0" indent="0">
              <a:buNone/>
            </a:pPr>
            <a:endParaRPr lang="en-IN" dirty="0"/>
          </a:p>
        </p:txBody>
      </p:sp>
      <p:pic>
        <p:nvPicPr>
          <p:cNvPr id="4" name="Picture 3"/>
          <p:cNvPicPr>
            <a:picLocks noChangeAspect="1"/>
          </p:cNvPicPr>
          <p:nvPr/>
        </p:nvPicPr>
        <p:blipFill rotWithShape="1">
          <a:blip r:embed="rId2"/>
          <a:srcRect l="35608" t="23803" r="38943" b="64739"/>
          <a:stretch/>
        </p:blipFill>
        <p:spPr>
          <a:xfrm>
            <a:off x="1529138" y="2400928"/>
            <a:ext cx="3804863" cy="1007170"/>
          </a:xfrm>
          <a:prstGeom prst="rect">
            <a:avLst/>
          </a:prstGeom>
        </p:spPr>
      </p:pic>
      <p:pic>
        <p:nvPicPr>
          <p:cNvPr id="5" name="Picture 4"/>
          <p:cNvPicPr>
            <a:picLocks noChangeAspect="1"/>
          </p:cNvPicPr>
          <p:nvPr/>
        </p:nvPicPr>
        <p:blipFill rotWithShape="1">
          <a:blip r:embed="rId2"/>
          <a:srcRect l="29502" t="71875" r="40629" b="22917"/>
          <a:stretch/>
        </p:blipFill>
        <p:spPr>
          <a:xfrm>
            <a:off x="1529137" y="4330118"/>
            <a:ext cx="4402476" cy="571750"/>
          </a:xfrm>
          <a:prstGeom prst="rect">
            <a:avLst/>
          </a:prstGeom>
        </p:spPr>
      </p:pic>
      <p:sp>
        <p:nvSpPr>
          <p:cNvPr id="6" name="TextBox 5"/>
          <p:cNvSpPr txBox="1"/>
          <p:nvPr/>
        </p:nvSpPr>
        <p:spPr>
          <a:xfrm>
            <a:off x="4065141" y="5021762"/>
            <a:ext cx="4572000" cy="584775"/>
          </a:xfrm>
          <a:prstGeom prst="rect">
            <a:avLst/>
          </a:prstGeom>
          <a:noFill/>
        </p:spPr>
        <p:txBody>
          <a:bodyPr wrap="square" rtlCol="0">
            <a:spAutoFit/>
          </a:bodyPr>
          <a:lstStyle/>
          <a:p>
            <a:pPr algn="l" rtl="0"/>
            <a:r>
              <a:rPr lang="en-US" sz="1600" b="1" kern="1200" dirty="0">
                <a:solidFill>
                  <a:srgbClr val="FF0000"/>
                </a:solidFill>
                <a:latin typeface="Calibri"/>
                <a:ea typeface="+mn-ea"/>
                <a:cs typeface="+mn-cs"/>
              </a:rPr>
              <a:t>C is the number of trunked Channels .</a:t>
            </a:r>
          </a:p>
          <a:p>
            <a:pPr algn="l" rtl="0"/>
            <a:r>
              <a:rPr lang="en-US" sz="1600" b="1" kern="1200" dirty="0">
                <a:solidFill>
                  <a:srgbClr val="FF0000"/>
                </a:solidFill>
                <a:latin typeface="Calibri"/>
                <a:ea typeface="+mn-ea"/>
                <a:cs typeface="+mn-cs"/>
              </a:rPr>
              <a:t>A is the total traffic offered,  H – Holding time.</a:t>
            </a:r>
          </a:p>
        </p:txBody>
      </p:sp>
    </p:spTree>
    <p:extLst>
      <p:ext uri="{BB962C8B-B14F-4D97-AF65-F5344CB8AC3E}">
        <p14:creationId xmlns:p14="http://schemas.microsoft.com/office/powerpoint/2010/main" val="324998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Blocked Call Delayed System</a:t>
            </a:r>
          </a:p>
          <a:p>
            <a:endParaRPr lang="en-IN" dirty="0"/>
          </a:p>
        </p:txBody>
      </p:sp>
      <p:sp>
        <p:nvSpPr>
          <p:cNvPr id="3" name="Content Placeholder 2"/>
          <p:cNvSpPr>
            <a:spLocks noGrp="1"/>
          </p:cNvSpPr>
          <p:nvPr>
            <p:ph idx="1"/>
          </p:nvPr>
        </p:nvSpPr>
        <p:spPr/>
        <p:txBody>
          <a:bodyPr/>
          <a:lstStyle/>
          <a:p>
            <a:r>
              <a:rPr lang="en-US" dirty="0"/>
              <a:t>The average delay for all the calls in a queued system is </a:t>
            </a:r>
          </a:p>
          <a:p>
            <a:endParaRPr lang="en-IN" dirty="0"/>
          </a:p>
          <a:p>
            <a:pPr marL="0" indent="0">
              <a:buNone/>
            </a:pPr>
            <a:endParaRPr lang="en-IN" dirty="0"/>
          </a:p>
        </p:txBody>
      </p:sp>
      <p:pic>
        <p:nvPicPr>
          <p:cNvPr id="4" name="Picture 3"/>
          <p:cNvPicPr>
            <a:picLocks noChangeAspect="1"/>
          </p:cNvPicPr>
          <p:nvPr/>
        </p:nvPicPr>
        <p:blipFill rotWithShape="1">
          <a:blip r:embed="rId2"/>
          <a:srcRect l="41215" t="80208" r="44143" b="14584"/>
          <a:stretch/>
        </p:blipFill>
        <p:spPr>
          <a:xfrm>
            <a:off x="1119885" y="2514814"/>
            <a:ext cx="2706383" cy="451064"/>
          </a:xfrm>
          <a:prstGeom prst="rect">
            <a:avLst/>
          </a:prstGeom>
        </p:spPr>
      </p:pic>
    </p:spTree>
    <p:extLst>
      <p:ext uri="{BB962C8B-B14F-4D97-AF65-F5344CB8AC3E}">
        <p14:creationId xmlns:p14="http://schemas.microsoft.com/office/powerpoint/2010/main" val="275440683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Problems</a:t>
            </a:r>
          </a:p>
          <a:p>
            <a:endParaRPr lang="en-IN" dirty="0"/>
          </a:p>
        </p:txBody>
      </p:sp>
      <p:sp>
        <p:nvSpPr>
          <p:cNvPr id="3" name="Content Placeholder 2"/>
          <p:cNvSpPr>
            <a:spLocks noGrp="1"/>
          </p:cNvSpPr>
          <p:nvPr>
            <p:ph idx="1"/>
          </p:nvPr>
        </p:nvSpPr>
        <p:spPr/>
        <p:txBody>
          <a:bodyPr/>
          <a:lstStyle/>
          <a:p>
            <a:pPr marL="0" indent="0">
              <a:buNone/>
            </a:pPr>
            <a:r>
              <a:rPr lang="en-US" dirty="0"/>
              <a:t>394 cells in trunked radio system with 19 channels each</a:t>
            </a:r>
          </a:p>
          <a:p>
            <a:pPr marL="0" indent="0">
              <a:buNone/>
            </a:pPr>
            <a:r>
              <a:rPr lang="en-US" dirty="0"/>
              <a:t>Each user averages 2 calls per hour</a:t>
            </a:r>
          </a:p>
          <a:p>
            <a:pPr marL="0" indent="0">
              <a:buNone/>
            </a:pPr>
            <a:r>
              <a:rPr lang="en-US" dirty="0"/>
              <a:t>Average call duration 3 minutes</a:t>
            </a:r>
          </a:p>
          <a:p>
            <a:pPr marL="0" indent="0">
              <a:buNone/>
            </a:pPr>
            <a:r>
              <a:rPr lang="en-US" dirty="0"/>
              <a:t>Number of users supported at 2% blocking?</a:t>
            </a:r>
          </a:p>
          <a:p>
            <a:pPr marL="0" indent="0">
              <a:buNone/>
            </a:pPr>
            <a:r>
              <a:rPr lang="en-US" dirty="0"/>
              <a:t>Total number of users supported by system</a:t>
            </a:r>
          </a:p>
          <a:p>
            <a:pPr marL="0" indent="0">
              <a:buNone/>
            </a:pPr>
            <a:r>
              <a:rPr lang="en-US" dirty="0"/>
              <a:t>Solution:</a:t>
            </a:r>
          </a:p>
          <a:p>
            <a:pPr marL="0" indent="0">
              <a:buNone/>
            </a:pPr>
            <a:r>
              <a:rPr lang="en-US" dirty="0"/>
              <a:t>From </a:t>
            </a:r>
            <a:r>
              <a:rPr lang="en-US" dirty="0" err="1"/>
              <a:t>Erlang</a:t>
            </a:r>
            <a:r>
              <a:rPr lang="en-US" dirty="0"/>
              <a:t> B chart,  Total traffic </a:t>
            </a:r>
            <a:r>
              <a:rPr lang="en-US" dirty="0" err="1"/>
              <a:t>carried,A</a:t>
            </a:r>
            <a:r>
              <a:rPr lang="en-US" dirty="0"/>
              <a:t>= 12.33</a:t>
            </a:r>
          </a:p>
          <a:p>
            <a:pPr marL="0" indent="0">
              <a:buNone/>
            </a:pPr>
            <a:r>
              <a:rPr lang="en-US" dirty="0"/>
              <a:t>Traffic intensity offered by each user : Au= </a:t>
            </a:r>
            <a:r>
              <a:rPr lang="el-GR" dirty="0"/>
              <a:t>λ</a:t>
            </a:r>
            <a:r>
              <a:rPr lang="en-US" dirty="0"/>
              <a:t>H = 2*(3/60) = 0.1 </a:t>
            </a:r>
            <a:r>
              <a:rPr lang="en-US" dirty="0" err="1"/>
              <a:t>erlang</a:t>
            </a:r>
            <a:endParaRPr lang="en-US" dirty="0"/>
          </a:p>
          <a:p>
            <a:pPr marL="0" indent="0">
              <a:buNone/>
            </a:pPr>
            <a:r>
              <a:rPr lang="en-US" dirty="0"/>
              <a:t>U= A/Au= 12.33/0.1= 123.3</a:t>
            </a:r>
          </a:p>
          <a:p>
            <a:pPr marL="0" indent="0">
              <a:buNone/>
            </a:pPr>
            <a:r>
              <a:rPr lang="en-US" dirty="0"/>
              <a:t>There are 394 cells , the total number of subscribers that can be supported is 123.3*394 = 48580</a:t>
            </a:r>
          </a:p>
          <a:p>
            <a:endParaRPr lang="en-IN" dirty="0"/>
          </a:p>
        </p:txBody>
      </p:sp>
    </p:spTree>
    <p:extLst>
      <p:ext uri="{BB962C8B-B14F-4D97-AF65-F5344CB8AC3E}">
        <p14:creationId xmlns:p14="http://schemas.microsoft.com/office/powerpoint/2010/main" val="348357618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IN" dirty="0"/>
          </a:p>
          <a:p>
            <a:r>
              <a:rPr lang="en-US" dirty="0" err="1"/>
              <a:t>Trunking</a:t>
            </a:r>
            <a:r>
              <a:rPr lang="en-US" dirty="0"/>
              <a:t> </a:t>
            </a:r>
            <a:r>
              <a:rPr lang="en-US"/>
              <a:t>is used to </a:t>
            </a:r>
            <a:r>
              <a:rPr lang="en-US" dirty="0"/>
              <a:t>accommodate a large number of users in a limited radio spectrum.</a:t>
            </a:r>
          </a:p>
          <a:p>
            <a:r>
              <a:rPr lang="en-US" dirty="0"/>
              <a:t>In a blocked call clear system, the probability that a call is blocked depend on the number of trunked channels and the total traffic offered.</a:t>
            </a:r>
          </a:p>
          <a:p>
            <a:r>
              <a:rPr lang="en-US" dirty="0"/>
              <a:t>In a block called delay system queues are used to hold call request that are initially blocked.</a:t>
            </a:r>
          </a:p>
          <a:p>
            <a:endParaRPr lang="en-US" dirty="0"/>
          </a:p>
          <a:p>
            <a:pPr marL="0" indent="0">
              <a:buNone/>
            </a:pPr>
            <a:endParaRPr lang="en-US" dirty="0"/>
          </a:p>
          <a:p>
            <a:endParaRPr lang="en-US" dirty="0"/>
          </a:p>
          <a:p>
            <a:endParaRPr lang="en-US" dirty="0"/>
          </a:p>
          <a:p>
            <a:endParaRPr lang="en-IN" dirty="0"/>
          </a:p>
          <a:p>
            <a:endParaRPr lang="en-US"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a:t>Constantly there is a rise in demand for wireless service</a:t>
            </a:r>
          </a:p>
          <a:p>
            <a:pPr marL="0" indent="0">
              <a:buNone/>
            </a:pPr>
            <a:r>
              <a:rPr lang="en-IN" dirty="0"/>
              <a:t>Need to have more channels per coverage area</a:t>
            </a:r>
          </a:p>
          <a:p>
            <a:endParaRPr lang="en-IN" dirty="0"/>
          </a:p>
          <a:p>
            <a:pPr marL="0" indent="0">
              <a:buNone/>
            </a:pPr>
            <a:r>
              <a:rPr lang="en-IN" dirty="0"/>
              <a:t>How do we do?</a:t>
            </a:r>
          </a:p>
          <a:p>
            <a:pPr marL="0" indent="0">
              <a:buNone/>
            </a:pPr>
            <a:r>
              <a:rPr lang="en-IN" dirty="0"/>
              <a:t>Use of techniques to expand the capacity of cellular systems</a:t>
            </a:r>
          </a:p>
          <a:p>
            <a:r>
              <a:rPr lang="en-IN" dirty="0"/>
              <a:t> Cell Splitting</a:t>
            </a:r>
          </a:p>
          <a:p>
            <a:r>
              <a:rPr lang="en-IN" dirty="0"/>
              <a:t>Cell Sectoring</a:t>
            </a:r>
          </a:p>
          <a:p>
            <a:r>
              <a:rPr lang="en-IN" dirty="0"/>
              <a:t>Microcell zone concept</a:t>
            </a:r>
          </a:p>
          <a:p>
            <a:pPr marL="0" indent="0"/>
            <a:endParaRPr lang="en-IN" dirty="0"/>
          </a:p>
          <a:p>
            <a:endParaRPr lang="en-IN" dirty="0"/>
          </a:p>
          <a:p>
            <a:endParaRPr lang="en-IN" dirty="0"/>
          </a:p>
        </p:txBody>
      </p:sp>
      <p:sp>
        <p:nvSpPr>
          <p:cNvPr id="4" name="Content Placeholder 2"/>
          <p:cNvSpPr>
            <a:spLocks noGrp="1"/>
          </p:cNvSpPr>
          <p:nvPr>
            <p:ph sz="quarter" idx="10"/>
          </p:nvPr>
        </p:nvSpPr>
        <p:spPr/>
        <p:txBody>
          <a:bodyPr/>
          <a:lstStyle/>
          <a:p>
            <a:r>
              <a:rPr lang="en-IN" dirty="0"/>
              <a:t>Improving coverage and capacity in cellular System</a:t>
            </a:r>
          </a:p>
        </p:txBody>
      </p:sp>
    </p:spTree>
    <p:extLst>
      <p:ext uri="{BB962C8B-B14F-4D97-AF65-F5344CB8AC3E}">
        <p14:creationId xmlns:p14="http://schemas.microsoft.com/office/powerpoint/2010/main" val="412171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59882" y="990600"/>
            <a:ext cx="8532796" cy="582930"/>
          </a:xfrm>
        </p:spPr>
        <p:txBody>
          <a:bodyPr/>
          <a:lstStyle/>
          <a:p>
            <a:r>
              <a:rPr lang="en-IN" sz="1800" dirty="0"/>
              <a:t>Improving coverage and capacity in cellular System</a:t>
            </a:r>
          </a:p>
        </p:txBody>
      </p:sp>
      <p:sp>
        <p:nvSpPr>
          <p:cNvPr id="3" name="Content Placeholder 2"/>
          <p:cNvSpPr>
            <a:spLocks noGrp="1"/>
          </p:cNvSpPr>
          <p:nvPr>
            <p:ph idx="1"/>
          </p:nvPr>
        </p:nvSpPr>
        <p:spPr/>
        <p:txBody>
          <a:bodyPr/>
          <a:lstStyle/>
          <a:p>
            <a:pPr marL="0" indent="0">
              <a:buNone/>
            </a:pPr>
            <a:r>
              <a:rPr lang="en-US" b="1" u="sng" dirty="0"/>
              <a:t>Cell Splitting (re-scaling of the system)</a:t>
            </a:r>
          </a:p>
          <a:p>
            <a:r>
              <a:rPr lang="en-US" dirty="0"/>
              <a:t>Cell splitting is the process of subdividing a congested cell into smaller cells.</a:t>
            </a:r>
          </a:p>
          <a:p>
            <a:r>
              <a:rPr lang="en-US" dirty="0"/>
              <a:t>Cell splitting increases the capacity of a cellular system since it increases the number of times that channels are reused.</a:t>
            </a:r>
          </a:p>
          <a:p>
            <a:endParaRPr lang="en-IN" dirty="0"/>
          </a:p>
        </p:txBody>
      </p:sp>
      <p:pic>
        <p:nvPicPr>
          <p:cNvPr id="4" name="Picture 3"/>
          <p:cNvPicPr/>
          <p:nvPr/>
        </p:nvPicPr>
        <p:blipFill>
          <a:blip r:embed="rId2"/>
          <a:srcRect l="50641" t="22507" r="31090" b="48718"/>
          <a:stretch>
            <a:fillRect/>
          </a:stretch>
        </p:blipFill>
        <p:spPr bwMode="auto">
          <a:xfrm>
            <a:off x="1684962" y="2902664"/>
            <a:ext cx="4625939" cy="2937553"/>
          </a:xfrm>
          <a:prstGeom prst="rect">
            <a:avLst/>
          </a:prstGeom>
          <a:noFill/>
          <a:ln w="9525">
            <a:noFill/>
            <a:miter lim="800000"/>
            <a:headEnd/>
            <a:tailEnd/>
          </a:ln>
        </p:spPr>
      </p:pic>
      <p:cxnSp>
        <p:nvCxnSpPr>
          <p:cNvPr id="6" name="Straight Arrow Connector 5"/>
          <p:cNvCxnSpPr/>
          <p:nvPr/>
        </p:nvCxnSpPr>
        <p:spPr>
          <a:xfrm flipV="1">
            <a:off x="3958120" y="2978863"/>
            <a:ext cx="1143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329720" y="2902663"/>
            <a:ext cx="1219200" cy="369332"/>
          </a:xfrm>
          <a:prstGeom prst="rect">
            <a:avLst/>
          </a:prstGeom>
          <a:solidFill>
            <a:srgbClr val="FFC000"/>
          </a:solidFill>
        </p:spPr>
        <p:txBody>
          <a:bodyPr wrap="square" rtlCol="0">
            <a:spAutoFit/>
          </a:bodyPr>
          <a:lstStyle/>
          <a:p>
            <a:pPr algn="l" rtl="0"/>
            <a:r>
              <a:rPr lang="en-IN" kern="1200" dirty="0">
                <a:solidFill>
                  <a:prstClr val="black"/>
                </a:solidFill>
                <a:latin typeface="Calibri"/>
                <a:ea typeface="+mn-ea"/>
                <a:cs typeface="+mn-cs"/>
              </a:rPr>
              <a:t>Microcell</a:t>
            </a:r>
          </a:p>
        </p:txBody>
      </p:sp>
      <p:sp>
        <p:nvSpPr>
          <p:cNvPr id="5" name="Rectangle 4"/>
          <p:cNvSpPr/>
          <p:nvPr/>
        </p:nvSpPr>
        <p:spPr>
          <a:xfrm>
            <a:off x="5435541" y="5470666"/>
            <a:ext cx="4572000" cy="491288"/>
          </a:xfrm>
          <a:prstGeom prst="rect">
            <a:avLst/>
          </a:prstGeom>
        </p:spPr>
        <p:txBody>
          <a:bodyPr wrap="square">
            <a:spAutoFit/>
          </a:bodyPr>
          <a:lstStyle/>
          <a:p>
            <a:pPr algn="l" rtl="0">
              <a:lnSpc>
                <a:spcPct val="107000"/>
              </a:lnSpc>
              <a:spcAft>
                <a:spcPts val="800"/>
              </a:spcAft>
            </a:pPr>
            <a:r>
              <a:rPr lang="en-IN" sz="9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 G </a:t>
            </a:r>
            <a:r>
              <a:rPr lang="en-IN" sz="900" kern="1200" dirty="0" err="1">
                <a:solidFill>
                  <a:prstClr val="black"/>
                </a:solidFill>
                <a:latin typeface="Arial" panose="020B0604020202020204" pitchFamily="34" charset="0"/>
                <a:ea typeface="Calibri" panose="020F0502020204030204" pitchFamily="34" charset="0"/>
                <a:cs typeface="Times New Roman" panose="02020603050405020304" pitchFamily="18" charset="0"/>
              </a:rPr>
              <a:t>palanivelu</a:t>
            </a:r>
            <a:r>
              <a:rPr lang="en-IN" sz="9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R </a:t>
            </a:r>
            <a:r>
              <a:rPr lang="en-IN" sz="900" kern="1200" dirty="0" err="1">
                <a:solidFill>
                  <a:prstClr val="black"/>
                </a:solidFill>
                <a:latin typeface="Arial" panose="020B0604020202020204" pitchFamily="34" charset="0"/>
                <a:ea typeface="Calibri" panose="020F0502020204030204" pitchFamily="34" charset="0"/>
                <a:cs typeface="Times New Roman" panose="02020603050405020304" pitchFamily="18" charset="0"/>
              </a:rPr>
              <a:t>Nakkeeran</a:t>
            </a:r>
            <a:r>
              <a:rPr lang="en-IN" sz="9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endParaRPr lang="en-IN" sz="9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9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©2009 PHI Learning </a:t>
            </a:r>
            <a:r>
              <a:rPr lang="en-IN" sz="900" kern="1200" dirty="0" err="1">
                <a:solidFill>
                  <a:prstClr val="black"/>
                </a:solidFill>
                <a:latin typeface="Arial" panose="020B0604020202020204" pitchFamily="34" charset="0"/>
                <a:ea typeface="Calibri" panose="020F0502020204030204" pitchFamily="34" charset="0"/>
                <a:cs typeface="Times New Roman" panose="02020603050405020304" pitchFamily="18" charset="0"/>
              </a:rPr>
              <a:t>Limited,Delhi</a:t>
            </a:r>
            <a:endParaRPr lang="en-IN" sz="9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p:cNvSpPr txBox="1"/>
          <p:nvPr/>
        </p:nvSpPr>
        <p:spPr>
          <a:xfrm>
            <a:off x="259882" y="5470666"/>
            <a:ext cx="3181961"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Fig: Illustration of cell splitting</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64316009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1028700"/>
            <a:ext cx="6537960" cy="582930"/>
          </a:xfrm>
        </p:spPr>
        <p:txBody>
          <a:bodyPr/>
          <a:lstStyle/>
          <a:p>
            <a:endParaRPr lang="en-US" dirty="0"/>
          </a:p>
          <a:p>
            <a:r>
              <a:rPr lang="en-US" dirty="0"/>
              <a:t>Cell Sectoring</a:t>
            </a:r>
          </a:p>
          <a:p>
            <a:endParaRPr lang="en-IN" dirty="0"/>
          </a:p>
        </p:txBody>
      </p:sp>
      <p:sp>
        <p:nvSpPr>
          <p:cNvPr id="3" name="Content Placeholder 2"/>
          <p:cNvSpPr>
            <a:spLocks noGrp="1"/>
          </p:cNvSpPr>
          <p:nvPr>
            <p:ph idx="1"/>
          </p:nvPr>
        </p:nvSpPr>
        <p:spPr/>
        <p:txBody>
          <a:bodyPr/>
          <a:lstStyle/>
          <a:p>
            <a:r>
              <a:rPr lang="en-US" dirty="0"/>
              <a:t>The co-channel interference may be decreased by replacing the single </a:t>
            </a:r>
            <a:r>
              <a:rPr lang="en-US" dirty="0" err="1"/>
              <a:t>omni</a:t>
            </a:r>
            <a:r>
              <a:rPr lang="en-US" dirty="0"/>
              <a:t> directional antenna by several directional antennas, each radiating with in a specified sector. A Cell has same coverage area space.</a:t>
            </a:r>
          </a:p>
          <a:p>
            <a:endParaRPr lang="en-US" dirty="0"/>
          </a:p>
          <a:p>
            <a:r>
              <a:rPr lang="en-US" dirty="0"/>
              <a:t>A cell is normally partitioned into three 120</a:t>
            </a:r>
            <a:r>
              <a:rPr lang="en-US" baseline="30000" dirty="0"/>
              <a:t>0</a:t>
            </a:r>
            <a:r>
              <a:rPr lang="en-US" dirty="0"/>
              <a:t> sectors or six 60</a:t>
            </a:r>
            <a:r>
              <a:rPr lang="en-US" baseline="30000" dirty="0"/>
              <a:t>0</a:t>
            </a:r>
            <a:r>
              <a:rPr lang="en-US" dirty="0"/>
              <a:t> sectors.</a:t>
            </a:r>
          </a:p>
          <a:p>
            <a:pPr marL="0" indent="0">
              <a:buNone/>
            </a:pPr>
            <a:endParaRPr lang="en-IN" dirty="0"/>
          </a:p>
        </p:txBody>
      </p:sp>
      <p:pic>
        <p:nvPicPr>
          <p:cNvPr id="4" name="Picture 3"/>
          <p:cNvPicPr/>
          <p:nvPr/>
        </p:nvPicPr>
        <p:blipFill>
          <a:blip r:embed="rId2"/>
          <a:srcRect l="24038" t="54986" r="48718" b="29629"/>
          <a:stretch>
            <a:fillRect/>
          </a:stretch>
        </p:blipFill>
        <p:spPr bwMode="auto">
          <a:xfrm>
            <a:off x="1325366" y="3872715"/>
            <a:ext cx="5046324" cy="1337310"/>
          </a:xfrm>
          <a:prstGeom prst="rect">
            <a:avLst/>
          </a:prstGeom>
          <a:noFill/>
          <a:ln w="9525">
            <a:noFill/>
            <a:miter lim="800000"/>
            <a:headEnd/>
            <a:tailEnd/>
          </a:ln>
        </p:spPr>
      </p:pic>
      <p:sp>
        <p:nvSpPr>
          <p:cNvPr id="5" name="Rectangle 4"/>
          <p:cNvSpPr/>
          <p:nvPr/>
        </p:nvSpPr>
        <p:spPr>
          <a:xfrm>
            <a:off x="6221002" y="5387957"/>
            <a:ext cx="4572000" cy="451727"/>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p:cNvSpPr txBox="1"/>
          <p:nvPr/>
        </p:nvSpPr>
        <p:spPr>
          <a:xfrm>
            <a:off x="2173841" y="5356901"/>
            <a:ext cx="3349375"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Fig: Illustration of cell sectoring</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415827165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Cell Sectoring</a:t>
            </a:r>
          </a:p>
          <a:p>
            <a:endParaRPr lang="en-IN" dirty="0"/>
          </a:p>
        </p:txBody>
      </p:sp>
      <p:sp>
        <p:nvSpPr>
          <p:cNvPr id="4" name="Content Placeholder 1"/>
          <p:cNvSpPr>
            <a:spLocks noGrp="1"/>
          </p:cNvSpPr>
          <p:nvPr>
            <p:ph idx="1"/>
          </p:nvPr>
        </p:nvSpPr>
        <p:spPr/>
        <p:txBody>
          <a:bodyPr>
            <a:normAutofit/>
          </a:bodyPr>
          <a:lstStyle/>
          <a:p>
            <a:pPr marL="0" indent="0">
              <a:buNone/>
            </a:pPr>
            <a:r>
              <a:rPr lang="en-US" b="1" dirty="0">
                <a:solidFill>
                  <a:schemeClr val="tx2">
                    <a:lumMod val="60000"/>
                    <a:lumOff val="40000"/>
                  </a:schemeClr>
                </a:solidFill>
              </a:rPr>
              <a:t>Advantages:</a:t>
            </a:r>
          </a:p>
          <a:p>
            <a:pPr>
              <a:buFont typeface="Arial" pitchFamily="34" charset="0"/>
              <a:buChar char="•"/>
            </a:pPr>
            <a:r>
              <a:rPr lang="en-US" dirty="0"/>
              <a:t>Cells are divided into a number of wedge shaped sectors, each with their own set of channels.</a:t>
            </a:r>
          </a:p>
          <a:p>
            <a:pPr>
              <a:buFont typeface="Arial" pitchFamily="34" charset="0"/>
              <a:buChar char="•"/>
            </a:pPr>
            <a:r>
              <a:rPr lang="en-US" dirty="0"/>
              <a:t>Decrease in CCI.</a:t>
            </a:r>
          </a:p>
          <a:p>
            <a:endParaRPr lang="en-US" b="1" dirty="0">
              <a:solidFill>
                <a:schemeClr val="tx2">
                  <a:lumMod val="60000"/>
                  <a:lumOff val="40000"/>
                </a:schemeClr>
              </a:solidFill>
            </a:endParaRPr>
          </a:p>
          <a:p>
            <a:pPr marL="0" indent="0">
              <a:buNone/>
            </a:pPr>
            <a:r>
              <a:rPr lang="en-US" b="1" dirty="0">
                <a:solidFill>
                  <a:schemeClr val="tx2">
                    <a:lumMod val="60000"/>
                    <a:lumOff val="40000"/>
                  </a:schemeClr>
                </a:solidFill>
              </a:rPr>
              <a:t>Disadvantages:</a:t>
            </a:r>
          </a:p>
          <a:p>
            <a:pPr>
              <a:buFont typeface="Arial" pitchFamily="34" charset="0"/>
              <a:buChar char="•"/>
            </a:pPr>
            <a:r>
              <a:rPr lang="en-US" dirty="0"/>
              <a:t>Each sector is limited to only using 1/3 or 1/6 of the available channels. Therefore decrease in </a:t>
            </a:r>
            <a:r>
              <a:rPr lang="en-US" dirty="0" err="1"/>
              <a:t>trunking</a:t>
            </a:r>
            <a:r>
              <a:rPr lang="en-US" dirty="0"/>
              <a:t> efficiency.</a:t>
            </a:r>
          </a:p>
          <a:p>
            <a:pPr>
              <a:buFont typeface="Arial" pitchFamily="34" charset="0"/>
              <a:buChar char="•"/>
            </a:pPr>
            <a:r>
              <a:rPr lang="en-US" dirty="0"/>
              <a:t>Increase in the number of required antenna. </a:t>
            </a:r>
          </a:p>
          <a:p>
            <a:pPr>
              <a:buFont typeface="Arial" pitchFamily="34" charset="0"/>
              <a:buChar char="•"/>
            </a:pPr>
            <a:r>
              <a:rPr lang="en-US" dirty="0"/>
              <a:t>Antennas are expensive , have to be maintained. </a:t>
            </a:r>
          </a:p>
          <a:p>
            <a:pPr>
              <a:buFont typeface="Arial" pitchFamily="34" charset="0"/>
              <a:buChar char="•"/>
            </a:pPr>
            <a:r>
              <a:rPr lang="en-US" dirty="0"/>
              <a:t>Increased number of Handoffs (sector to sector)</a:t>
            </a:r>
          </a:p>
        </p:txBody>
      </p:sp>
    </p:spTree>
    <p:extLst>
      <p:ext uri="{BB962C8B-B14F-4D97-AF65-F5344CB8AC3E}">
        <p14:creationId xmlns:p14="http://schemas.microsoft.com/office/powerpoint/2010/main" val="138853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 calcmode="lin" valueType="num">
                                      <p:cBhvr additive="base">
                                        <p:cTn id="4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1148616"/>
            <a:ext cx="6537960" cy="582930"/>
          </a:xfrm>
        </p:spPr>
        <p:txBody>
          <a:bodyPr/>
          <a:lstStyle/>
          <a:p>
            <a:r>
              <a:rPr lang="en-US" dirty="0"/>
              <a:t>Microcell Zone concept</a:t>
            </a:r>
          </a:p>
          <a:p>
            <a:endParaRPr lang="en-IN" dirty="0"/>
          </a:p>
        </p:txBody>
      </p:sp>
      <p:sp>
        <p:nvSpPr>
          <p:cNvPr id="4" name="Content Placeholder 1"/>
          <p:cNvSpPr>
            <a:spLocks noGrp="1"/>
          </p:cNvSpPr>
          <p:nvPr>
            <p:ph idx="1"/>
          </p:nvPr>
        </p:nvSpPr>
        <p:spPr/>
        <p:txBody>
          <a:bodyPr>
            <a:normAutofit/>
          </a:bodyPr>
          <a:lstStyle/>
          <a:p>
            <a:pPr>
              <a:buFont typeface="Arial" pitchFamily="34" charset="0"/>
              <a:buChar char="•"/>
            </a:pPr>
            <a:r>
              <a:rPr lang="en-US" dirty="0"/>
              <a:t>A cell is divided into microcells or zones.</a:t>
            </a:r>
          </a:p>
          <a:p>
            <a:pPr>
              <a:buFont typeface="Arial" pitchFamily="34" charset="0"/>
              <a:buChar char="•"/>
            </a:pPr>
            <a:endParaRPr lang="en-US" dirty="0"/>
          </a:p>
          <a:p>
            <a:pPr>
              <a:buFont typeface="Arial" pitchFamily="34" charset="0"/>
              <a:buChar char="•"/>
            </a:pPr>
            <a:r>
              <a:rPr lang="en-US" dirty="0"/>
              <a:t>Each microcell is connected to the same base station.</a:t>
            </a:r>
          </a:p>
          <a:p>
            <a:pPr>
              <a:buFont typeface="Arial" pitchFamily="34" charset="0"/>
              <a:buChar char="•"/>
            </a:pPr>
            <a:endParaRPr lang="en-US" dirty="0"/>
          </a:p>
          <a:p>
            <a:pPr>
              <a:buFont typeface="Arial" pitchFamily="34" charset="0"/>
              <a:buChar char="•"/>
            </a:pPr>
            <a:r>
              <a:rPr lang="en-US" dirty="0"/>
              <a:t>Each zone uses a directional antenna.</a:t>
            </a:r>
          </a:p>
          <a:p>
            <a:pPr>
              <a:buFont typeface="Arial" pitchFamily="34" charset="0"/>
              <a:buChar char="•"/>
            </a:pPr>
            <a:endParaRPr lang="en-US" dirty="0"/>
          </a:p>
          <a:p>
            <a:pPr>
              <a:buFont typeface="Arial" pitchFamily="34" charset="0"/>
              <a:buChar char="•"/>
            </a:pPr>
            <a:r>
              <a:rPr lang="en-US" dirty="0"/>
              <a:t>As a mobile travels from one zone to another, it retains the same channel. </a:t>
            </a:r>
            <a:r>
              <a:rPr lang="en-US" dirty="0" err="1"/>
              <a:t>i.e</a:t>
            </a:r>
            <a:r>
              <a:rPr lang="en-US" dirty="0"/>
              <a:t> no hand off.</a:t>
            </a:r>
          </a:p>
          <a:p>
            <a:endParaRPr lang="en-US" dirty="0"/>
          </a:p>
          <a:p>
            <a:pPr>
              <a:buFont typeface="Arial" pitchFamily="34" charset="0"/>
              <a:buChar char="•"/>
            </a:pPr>
            <a:r>
              <a:rPr lang="en-US" dirty="0"/>
              <a:t>MS is served by the strongest zone.</a:t>
            </a:r>
          </a:p>
          <a:p>
            <a:pPr>
              <a:buFont typeface="Arial" pitchFamily="34" charset="0"/>
              <a:buChar char="•"/>
            </a:pPr>
            <a:endParaRPr lang="en-US" dirty="0"/>
          </a:p>
          <a:p>
            <a:pPr marL="0" indent="0"/>
            <a:endParaRPr lang="en-US" dirty="0"/>
          </a:p>
        </p:txBody>
      </p:sp>
    </p:spTree>
    <p:extLst>
      <p:ext uri="{BB962C8B-B14F-4D97-AF65-F5344CB8AC3E}">
        <p14:creationId xmlns:p14="http://schemas.microsoft.com/office/powerpoint/2010/main" val="79196595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Microcell Zone Concept</a:t>
            </a:r>
          </a:p>
          <a:p>
            <a:endParaRPr lang="en-IN" dirty="0"/>
          </a:p>
        </p:txBody>
      </p:sp>
      <p:pic>
        <p:nvPicPr>
          <p:cNvPr id="4" name="Content Placeholder 3"/>
          <p:cNvPicPr>
            <a:picLocks noGrp="1"/>
          </p:cNvPicPr>
          <p:nvPr>
            <p:ph idx="1"/>
          </p:nvPr>
        </p:nvPicPr>
        <p:blipFill>
          <a:blip r:embed="rId2"/>
          <a:srcRect l="21795" t="38746" r="43910" b="21937"/>
          <a:stretch>
            <a:fillRect/>
          </a:stretch>
        </p:blipFill>
        <p:spPr bwMode="auto">
          <a:xfrm>
            <a:off x="811659" y="2230654"/>
            <a:ext cx="5946185" cy="3085580"/>
          </a:xfrm>
          <a:prstGeom prst="rect">
            <a:avLst/>
          </a:prstGeom>
          <a:noFill/>
          <a:ln w="9525">
            <a:noFill/>
            <a:miter lim="800000"/>
            <a:headEnd/>
            <a:tailEnd/>
          </a:ln>
        </p:spPr>
      </p:pic>
      <p:sp>
        <p:nvSpPr>
          <p:cNvPr id="3" name="TextBox 2"/>
          <p:cNvSpPr txBox="1"/>
          <p:nvPr/>
        </p:nvSpPr>
        <p:spPr>
          <a:xfrm>
            <a:off x="2095929" y="5460072"/>
            <a:ext cx="3226085"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Fig: The Microcell Concept</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148153744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Repeaters for Range Expansion</a:t>
            </a:r>
          </a:p>
          <a:p>
            <a:endParaRPr lang="en-IN" dirty="0"/>
          </a:p>
        </p:txBody>
      </p:sp>
      <p:sp>
        <p:nvSpPr>
          <p:cNvPr id="4" name="Content Placeholder 1"/>
          <p:cNvSpPr>
            <a:spLocks noGrp="1"/>
          </p:cNvSpPr>
          <p:nvPr>
            <p:ph idx="1"/>
          </p:nvPr>
        </p:nvSpPr>
        <p:spPr/>
        <p:txBody>
          <a:bodyPr>
            <a:noAutofit/>
          </a:bodyPr>
          <a:lstStyle/>
          <a:p>
            <a:r>
              <a:rPr lang="en-US" dirty="0"/>
              <a:t>Radio Re-transmitters are called Repeaters.</a:t>
            </a:r>
          </a:p>
          <a:p>
            <a:pPr marL="0" indent="0">
              <a:buNone/>
            </a:pPr>
            <a:endParaRPr lang="en-US" dirty="0"/>
          </a:p>
          <a:p>
            <a:pPr>
              <a:buFont typeface="Arial" pitchFamily="34" charset="0"/>
              <a:buChar char="•"/>
            </a:pPr>
            <a:r>
              <a:rPr lang="en-US" dirty="0"/>
              <a:t>Used in hard to reach areas such as valleys, tunnels etc.</a:t>
            </a:r>
          </a:p>
          <a:p>
            <a:pPr marL="0" indent="0">
              <a:buNone/>
            </a:pPr>
            <a:endParaRPr lang="en-US" dirty="0"/>
          </a:p>
          <a:p>
            <a:pPr>
              <a:buFont typeface="Arial" pitchFamily="34" charset="0"/>
              <a:buChar char="•"/>
            </a:pPr>
            <a:r>
              <a:rPr lang="en-US" dirty="0"/>
              <a:t>A repeater consists of a radio receiver, an amplifier ,a transmitter. </a:t>
            </a:r>
          </a:p>
          <a:p>
            <a:pPr>
              <a:buFont typeface="Arial" pitchFamily="34" charset="0"/>
              <a:buChar char="•"/>
            </a:pPr>
            <a:endParaRPr lang="en-US" dirty="0"/>
          </a:p>
          <a:p>
            <a:pPr>
              <a:buFont typeface="Arial" pitchFamily="34" charset="0"/>
              <a:buChar char="•"/>
            </a:pPr>
            <a:r>
              <a:rPr lang="en-US" dirty="0"/>
              <a:t>Repeaters are bidirectional</a:t>
            </a:r>
          </a:p>
          <a:p>
            <a:pPr lvl="1">
              <a:buFont typeface="Wingdings" pitchFamily="2" charset="2"/>
              <a:buChar char="ü"/>
            </a:pPr>
            <a:r>
              <a:rPr lang="en-US" sz="1800" b="0" dirty="0"/>
              <a:t>Receive signals from the base station,</a:t>
            </a:r>
          </a:p>
          <a:p>
            <a:pPr lvl="1">
              <a:buFont typeface="Wingdings" pitchFamily="2" charset="2"/>
              <a:buChar char="ü"/>
            </a:pPr>
            <a:r>
              <a:rPr lang="en-US" sz="1800" b="0" dirty="0"/>
              <a:t>Amplify the signals and</a:t>
            </a:r>
          </a:p>
          <a:p>
            <a:pPr lvl="1">
              <a:buFont typeface="Wingdings" pitchFamily="2" charset="2"/>
              <a:buChar char="ü"/>
            </a:pPr>
            <a:r>
              <a:rPr lang="en-US" sz="1800" b="0" dirty="0"/>
              <a:t>Re-radiate the signals. </a:t>
            </a:r>
          </a:p>
        </p:txBody>
      </p:sp>
    </p:spTree>
    <p:extLst>
      <p:ext uri="{BB962C8B-B14F-4D97-AF65-F5344CB8AC3E}">
        <p14:creationId xmlns:p14="http://schemas.microsoft.com/office/powerpoint/2010/main" val="229409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2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2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2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20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4">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 calcmode="lin" valueType="num">
                                      <p:cBhvr additive="base">
                                        <p:cTn id="29" dur="20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0" dur="2000" fill="hold"/>
                                        <p:tgtEl>
                                          <p:spTgt spid="4">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 calcmode="lin" valueType="num">
                                      <p:cBhvr additive="base">
                                        <p:cTn id="33" dur="20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4" dur="2000" fill="hold"/>
                                        <p:tgtEl>
                                          <p:spTgt spid="4">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 calcmode="lin" valueType="num">
                                      <p:cBhvr additive="base">
                                        <p:cTn id="37" dur="20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8" dur="20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IN" dirty="0"/>
          </a:p>
          <a:p>
            <a:r>
              <a:rPr lang="en-IN" dirty="0"/>
              <a:t>In order to improve the coverage and capacity of the cellular systems many techniques sectoring, cell splitting and microcell zone concept .</a:t>
            </a:r>
          </a:p>
          <a:p>
            <a:r>
              <a:rPr lang="en-IN" dirty="0"/>
              <a:t>Repeaters are used in hard to reach areas and also for range extension .</a:t>
            </a:r>
          </a:p>
          <a:p>
            <a:pPr marL="0" indent="0">
              <a:buNone/>
            </a:pPr>
            <a:endParaRPr lang="en-IN" dirty="0"/>
          </a:p>
          <a:p>
            <a:pPr marL="0" indent="0">
              <a:buNone/>
            </a:pPr>
            <a:endParaRPr lang="en-US" dirty="0"/>
          </a:p>
          <a:p>
            <a:endParaRPr lang="en-US" dirty="0"/>
          </a:p>
          <a:p>
            <a:endParaRPr lang="en-US" dirty="0"/>
          </a:p>
          <a:p>
            <a:endParaRPr lang="en-IN" dirty="0"/>
          </a:p>
          <a:p>
            <a:endParaRPr lang="en-US"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8056880" cy="2296795"/>
          </a:xfrm>
          <a:prstGeom prst="rect">
            <a:avLst/>
          </a:prstGeom>
        </p:spPr>
        <p:txBody>
          <a:bodyPr vert="horz" wrap="square" lIns="0" tIns="12700" rIns="0" bIns="0" rtlCol="0">
            <a:spAutoFit/>
          </a:bodyPr>
          <a:lstStyle/>
          <a:p>
            <a:pPr marL="279400" marR="5080" lvl="0" indent="-267335" algn="just"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Source  of</a:t>
            </a:r>
            <a:r>
              <a:rPr kumimoji="0" sz="2400" b="0" i="0" u="none" strike="noStrike" kern="0" cap="none" spc="5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  include: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another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  in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same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progress</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neighboring</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other</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station,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318770" lvl="0" indent="-268605"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major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types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system-</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generated</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cellular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adjacent</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 interference.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218</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65" dirty="0"/>
              <a:t>Interference</a:t>
            </a:r>
            <a:r>
              <a:rPr spc="-229" dirty="0"/>
              <a:t> </a:t>
            </a:r>
            <a:r>
              <a:rPr spc="-105" dirty="0"/>
              <a:t>and</a:t>
            </a:r>
            <a:r>
              <a:rPr spc="-260" dirty="0"/>
              <a:t> </a:t>
            </a:r>
            <a:r>
              <a:rPr spc="-140" dirty="0"/>
              <a:t>System</a:t>
            </a:r>
            <a:r>
              <a:rPr spc="-180" dirty="0"/>
              <a:t> </a:t>
            </a:r>
            <a:r>
              <a:rPr spc="-110" dirty="0"/>
              <a:t>Capacity</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8056880" cy="2738755"/>
          </a:xfrm>
          <a:prstGeom prst="rect">
            <a:avLst/>
          </a:prstGeom>
        </p:spPr>
        <p:txBody>
          <a:bodyPr vert="horz" wrap="square" lIns="0" tIns="12700" rIns="0" bIns="0" rtlCol="0">
            <a:spAutoFit/>
          </a:bodyPr>
          <a:lstStyle/>
          <a:p>
            <a:pPr marL="279400" marR="104775" lvl="0" indent="-267335" algn="just"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3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3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implies</a:t>
            </a:r>
            <a:r>
              <a:rPr kumimoji="0" sz="2400" b="0" i="0" u="none" strike="noStrike" kern="0" cap="none" spc="3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3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3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2400" b="0" i="0" u="none" strike="noStrike" kern="0" cap="none" spc="3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coverage</a:t>
            </a:r>
            <a:r>
              <a:rPr kumimoji="0" sz="2400" b="0" i="0" u="none" strike="noStrike" kern="0" cap="none" spc="3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3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there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3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several</a:t>
            </a:r>
            <a:r>
              <a:rPr kumimoji="0" sz="2400" b="0" i="0" u="none" strike="noStrike" kern="0" cap="none" spc="3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3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3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3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3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frequencies.</a:t>
            </a:r>
            <a:r>
              <a:rPr kumimoji="0" sz="2400" b="0" i="0" u="none" strike="noStrike" kern="0" cap="none" spc="3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These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called</a:t>
            </a:r>
            <a:r>
              <a:rPr kumimoji="0" sz="2400" b="1"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1"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1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035" marR="0" lvl="0" indent="-267335" algn="just" defTabSz="914400" eaLnBrk="1" fontAlgn="auto" latinLnBrk="0" hangingPunct="1">
              <a:lnSpc>
                <a:spcPct val="100000"/>
              </a:lnSpc>
              <a:spcBef>
                <a:spcPts val="600"/>
              </a:spcBef>
              <a:spcAft>
                <a:spcPts val="0"/>
              </a:spcAft>
              <a:buClr>
                <a:srgbClr val="5F5F5F"/>
              </a:buClr>
              <a:buSzTx/>
              <a:buFont typeface="Wingdings"/>
              <a:buChar char=""/>
              <a:tabLst>
                <a:tab pos="2800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4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4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400" b="0" i="0" u="none" strike="noStrike" kern="0" cap="none" spc="40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400" b="0" i="0" u="none" strike="noStrike" kern="0" cap="none" spc="409"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3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these</a:t>
            </a:r>
            <a:r>
              <a:rPr kumimoji="0" sz="2400" b="0" i="0" u="none" strike="noStrike" kern="0" cap="none" spc="40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4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40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called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0" lvl="0" indent="0" algn="just" defTabSz="914400" eaLnBrk="1" fontAlgn="auto" latinLnBrk="0" hangingPunct="1">
              <a:lnSpc>
                <a:spcPct val="100000"/>
              </a:lnSpc>
              <a:spcBef>
                <a:spcPts val="0"/>
              </a:spcBef>
              <a:spcAft>
                <a:spcPts val="0"/>
              </a:spcAft>
              <a:buClrTx/>
              <a:buSzTx/>
              <a:buFontTx/>
              <a:buNone/>
              <a:tabLst/>
              <a:defRPr/>
            </a:pPr>
            <a:r>
              <a:rPr kumimoji="0" sz="2400" b="1"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1"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1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79400" marR="5080" lvl="0" indent="-267335" algn="just"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48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reduce</a:t>
            </a:r>
            <a:r>
              <a:rPr kumimoji="0" sz="2400" b="0" i="0" u="none" strike="noStrike" kern="0" cap="none" spc="48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8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48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4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must</a:t>
            </a:r>
            <a:r>
              <a:rPr kumimoji="0" sz="2400" b="0" i="0" u="none" strike="noStrike" kern="0" cap="none" spc="4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physically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separated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minimum</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distance.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219</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104139" rIns="0" bIns="0" rtlCol="0">
            <a:spAutoFit/>
          </a:bodyPr>
          <a:lstStyle/>
          <a:p>
            <a:pPr marL="12700" marR="5080">
              <a:lnSpc>
                <a:spcPts val="3600"/>
              </a:lnSpc>
              <a:spcBef>
                <a:spcPts val="819"/>
              </a:spcBef>
            </a:pPr>
            <a:r>
              <a:rPr spc="-30" dirty="0"/>
              <a:t>Co-</a:t>
            </a:r>
            <a:r>
              <a:rPr dirty="0"/>
              <a:t>channel</a:t>
            </a:r>
            <a:r>
              <a:rPr spc="-110" dirty="0"/>
              <a:t> </a:t>
            </a:r>
            <a:r>
              <a:rPr spc="-10" dirty="0"/>
              <a:t>Interference</a:t>
            </a:r>
            <a:r>
              <a:rPr spc="-80" dirty="0"/>
              <a:t> </a:t>
            </a:r>
            <a:r>
              <a:rPr spc="-25" dirty="0"/>
              <a:t>and </a:t>
            </a:r>
            <a:r>
              <a:rPr dirty="0"/>
              <a:t>System</a:t>
            </a:r>
            <a:r>
              <a:rPr spc="70" dirty="0"/>
              <a:t> </a:t>
            </a:r>
            <a:r>
              <a:rPr spc="-10" dirty="0"/>
              <a:t>Capacity</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4567"/>
            <a:ext cx="7860030" cy="3307079"/>
          </a:xfrm>
          <a:prstGeom prst="rect">
            <a:avLst/>
          </a:prstGeom>
        </p:spPr>
        <p:txBody>
          <a:bodyPr vert="horz" wrap="square" lIns="0" tIns="12065" rIns="0" bIns="0" rtlCol="0">
            <a:spAutoFit/>
          </a:bodyPr>
          <a:lstStyle/>
          <a:p>
            <a:pPr marL="306705" marR="5080" lvl="0" indent="-294640" defTabSz="914400" eaLnBrk="1" fontAlgn="auto" latinLnBrk="0" hangingPunct="1">
              <a:lnSpc>
                <a:spcPct val="120000"/>
              </a:lnSpc>
              <a:spcBef>
                <a:spcPts val="95"/>
              </a:spcBef>
              <a:spcAft>
                <a:spcPts val="0"/>
              </a:spcAft>
              <a:buClr>
                <a:srgbClr val="5F5F5F"/>
              </a:buClr>
              <a:buSzTx/>
              <a:buFont typeface="Wingdings"/>
              <a:buChar char=""/>
              <a:tabLst>
                <a:tab pos="306705" algn="l"/>
                <a:tab pos="1627505" algn="l"/>
              </a:tabLst>
              <a:defRPr/>
            </a:pPr>
            <a:r>
              <a:rPr kumimoji="0" sz="26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6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6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6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6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6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6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function</a:t>
            </a:r>
            <a:r>
              <a:rPr kumimoji="0" sz="26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6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radius</a:t>
            </a:r>
            <a:r>
              <a:rPr kumimoji="0" sz="26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of</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	the</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6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6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6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6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6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centers</a:t>
            </a:r>
            <a:r>
              <a:rPr kumimoji="0" sz="26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of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6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nearest</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24765" marR="0" lvl="0" indent="0" defTabSz="914400" eaLnBrk="1" fontAlgn="auto" latinLnBrk="0" hangingPunct="1">
              <a:lnSpc>
                <a:spcPct val="100000"/>
              </a:lnSpc>
              <a:spcBef>
                <a:spcPts val="925"/>
              </a:spcBef>
              <a:spcAft>
                <a:spcPts val="0"/>
              </a:spcAft>
              <a:buClrTx/>
              <a:buSzTx/>
              <a:buFontTx/>
              <a:buNone/>
              <a:tabLst/>
              <a:defRPr/>
            </a:pPr>
            <a:r>
              <a:rPr kumimoji="0" sz="26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6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50" normalizeH="0" baseline="0" noProof="0" dirty="0">
                <a:ln>
                  <a:noFill/>
                </a:ln>
                <a:solidFill>
                  <a:sysClr val="windowText" lastClr="000000"/>
                </a:solidFill>
                <a:effectLst/>
                <a:uLnTx/>
                <a:uFillTx/>
                <a:latin typeface="Times New Roman"/>
                <a:cs typeface="Times New Roman"/>
              </a:rPr>
              <a:t>.</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782320" marR="0" lvl="1" indent="-288290" defTabSz="914400" eaLnBrk="1" fontAlgn="auto" latinLnBrk="0" hangingPunct="1">
              <a:lnSpc>
                <a:spcPct val="100000"/>
              </a:lnSpc>
              <a:spcBef>
                <a:spcPts val="605"/>
              </a:spcBef>
              <a:spcAft>
                <a:spcPts val="0"/>
              </a:spcAft>
              <a:buClr>
                <a:srgbClr val="5F5F5F"/>
              </a:buClr>
              <a:buSzTx/>
              <a:buFont typeface="Wingdings"/>
              <a:buChar char=""/>
              <a:tabLst>
                <a:tab pos="782320" algn="l"/>
              </a:tabLst>
              <a:defRPr/>
            </a:pPr>
            <a:r>
              <a:rPr kumimoji="0" sz="2600" b="0" i="1" u="none" strike="noStrike" kern="0" cap="none" spc="0" normalizeH="0" baseline="0" noProof="0" dirty="0">
                <a:ln>
                  <a:noFill/>
                </a:ln>
                <a:solidFill>
                  <a:sysClr val="windowText" lastClr="000000"/>
                </a:solidFill>
                <a:effectLst/>
                <a:uLnTx/>
                <a:uFillTx/>
                <a:latin typeface="Times New Roman"/>
                <a:cs typeface="Times New Roman"/>
              </a:rPr>
              <a:t>D/R</a:t>
            </a:r>
            <a:r>
              <a:rPr kumimoji="0" sz="26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increased,</a:t>
            </a:r>
            <a:r>
              <a:rPr kumimoji="0" sz="26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6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interference</a:t>
            </a:r>
            <a:r>
              <a:rPr kumimoji="0" sz="26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decreased.</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782320" marR="498475" lvl="1" indent="-288925" defTabSz="914400" eaLnBrk="1" fontAlgn="auto" latinLnBrk="0" hangingPunct="1">
              <a:lnSpc>
                <a:spcPct val="100000"/>
              </a:lnSpc>
              <a:spcBef>
                <a:spcPts val="600"/>
              </a:spcBef>
              <a:spcAft>
                <a:spcPts val="0"/>
              </a:spcAft>
              <a:buClr>
                <a:srgbClr val="5F5F5F"/>
              </a:buClr>
              <a:buSzTx/>
              <a:buFont typeface="Wingdings"/>
              <a:buChar char=""/>
              <a:tabLst>
                <a:tab pos="782320" algn="l"/>
                <a:tab pos="1537970" algn="l"/>
              </a:tabLst>
              <a:defRPr/>
            </a:pPr>
            <a:r>
              <a:rPr kumimoji="0" sz="26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6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6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6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related</a:t>
            </a:r>
            <a:r>
              <a:rPr kumimoji="0" sz="26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to the</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 cluster size.</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	For</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6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hexagonal</a:t>
            </a:r>
            <a:r>
              <a:rPr kumimoji="0" sz="26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geometry</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p:nvPr/>
        </p:nvSpPr>
        <p:spPr>
          <a:xfrm>
            <a:off x="3493134" y="5352999"/>
            <a:ext cx="553720" cy="3917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𝑄</a:t>
            </a:r>
            <a:r>
              <a:rPr kumimoji="0" sz="2400" b="0" i="0" u="none" strike="noStrike" kern="0" cap="none" spc="19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4" name="object 4"/>
          <p:cNvSpPr txBox="1"/>
          <p:nvPr/>
        </p:nvSpPr>
        <p:spPr>
          <a:xfrm>
            <a:off x="4104259" y="5054660"/>
            <a:ext cx="236854" cy="894080"/>
          </a:xfrm>
          <a:prstGeom prst="rect">
            <a:avLst/>
          </a:prstGeom>
        </p:spPr>
        <p:txBody>
          <a:bodyPr vert="horz" wrap="square" lIns="0" tIns="81280" rIns="0" bIns="0" rtlCol="0">
            <a:spAutoFit/>
          </a:bodyPr>
          <a:lstStyle/>
          <a:p>
            <a:pPr marL="12700" marR="0" lvl="0" indent="0" defTabSz="914400" eaLnBrk="1" fontAlgn="auto" latinLnBrk="0" hangingPunct="1">
              <a:lnSpc>
                <a:spcPct val="100000"/>
              </a:lnSpc>
              <a:spcBef>
                <a:spcPts val="64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𝐷</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19685" marR="0" lvl="0" indent="0" defTabSz="914400" eaLnBrk="1" fontAlgn="auto" latinLnBrk="0" hangingPunct="1">
              <a:lnSpc>
                <a:spcPct val="100000"/>
              </a:lnSpc>
              <a:spcBef>
                <a:spcPts val="54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𝑅</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5" name="object 5"/>
          <p:cNvSpPr/>
          <p:nvPr/>
        </p:nvSpPr>
        <p:spPr>
          <a:xfrm>
            <a:off x="4116323" y="5573585"/>
            <a:ext cx="219710" cy="20320"/>
          </a:xfrm>
          <a:custGeom>
            <a:avLst/>
            <a:gdLst/>
            <a:ahLst/>
            <a:cxnLst/>
            <a:rect l="l" t="t" r="r" b="b"/>
            <a:pathLst>
              <a:path w="219710" h="20320">
                <a:moveTo>
                  <a:pt x="219455" y="0"/>
                </a:moveTo>
                <a:lnTo>
                  <a:pt x="0" y="0"/>
                </a:lnTo>
                <a:lnTo>
                  <a:pt x="0" y="19811"/>
                </a:lnTo>
                <a:lnTo>
                  <a:pt x="219455" y="19811"/>
                </a:lnTo>
                <a:lnTo>
                  <a:pt x="21945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4738751" y="5391911"/>
            <a:ext cx="593725" cy="294005"/>
          </a:xfrm>
          <a:custGeom>
            <a:avLst/>
            <a:gdLst/>
            <a:ahLst/>
            <a:cxnLst/>
            <a:rect l="l" t="t" r="r" b="b"/>
            <a:pathLst>
              <a:path w="593725" h="294004">
                <a:moveTo>
                  <a:pt x="212851" y="0"/>
                </a:moveTo>
                <a:lnTo>
                  <a:pt x="174878" y="0"/>
                </a:lnTo>
                <a:lnTo>
                  <a:pt x="101346" y="254088"/>
                </a:lnTo>
                <a:lnTo>
                  <a:pt x="48768" y="138556"/>
                </a:lnTo>
                <a:lnTo>
                  <a:pt x="0" y="160909"/>
                </a:lnTo>
                <a:lnTo>
                  <a:pt x="4572" y="172084"/>
                </a:lnTo>
                <a:lnTo>
                  <a:pt x="29718" y="160909"/>
                </a:lnTo>
                <a:lnTo>
                  <a:pt x="91439" y="293382"/>
                </a:lnTo>
                <a:lnTo>
                  <a:pt x="105790" y="293382"/>
                </a:lnTo>
                <a:lnTo>
                  <a:pt x="185927" y="19812"/>
                </a:lnTo>
                <a:lnTo>
                  <a:pt x="194437" y="19812"/>
                </a:lnTo>
                <a:lnTo>
                  <a:pt x="194437" y="20065"/>
                </a:lnTo>
                <a:lnTo>
                  <a:pt x="593725" y="20065"/>
                </a:lnTo>
                <a:lnTo>
                  <a:pt x="593725" y="253"/>
                </a:lnTo>
                <a:lnTo>
                  <a:pt x="212851" y="253"/>
                </a:lnTo>
                <a:lnTo>
                  <a:pt x="21285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4409059" y="5352999"/>
            <a:ext cx="930275" cy="3917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524510"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3𝑁</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220</a:t>
            </a:fld>
            <a:endParaRPr kumimoji="0" sz="1200" b="0" i="0" u="none" strike="noStrike" kern="0" cap="none" spc="-25" normalizeH="0" baseline="0" noProof="0" dirty="0">
              <a:ln>
                <a:noFill/>
              </a:ln>
              <a:solidFill>
                <a:srgbClr val="888888"/>
              </a:solidFill>
              <a:effectLst/>
              <a:uLnTx/>
              <a:uFillTx/>
              <a:latin typeface="Arial MT"/>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3831" y="1430248"/>
            <a:ext cx="7675880" cy="2000885"/>
          </a:xfrm>
          <a:prstGeom prst="rect">
            <a:avLst/>
          </a:prstGeom>
        </p:spPr>
        <p:txBody>
          <a:bodyPr vert="horz" wrap="square" lIns="0" tIns="70485" rIns="0" bIns="0" rtlCol="0">
            <a:spAutoFit/>
          </a:bodyPr>
          <a:lstStyle/>
          <a:p>
            <a:pPr marL="354965" marR="0" lvl="0" indent="-342265" defTabSz="914400" eaLnBrk="1" fontAlgn="auto" latinLnBrk="0" hangingPunct="1">
              <a:lnSpc>
                <a:spcPct val="100000"/>
              </a:lnSpc>
              <a:spcBef>
                <a:spcPts val="555"/>
              </a:spcBef>
              <a:spcAft>
                <a:spcPts val="0"/>
              </a:spcAft>
              <a:buClr>
                <a:srgbClr val="5F5F5F"/>
              </a:buClr>
              <a:buSzTx/>
              <a:buFont typeface="Wingdings"/>
              <a:buChar char=""/>
              <a:tabLst>
                <a:tab pos="354965" algn="l"/>
              </a:tabLst>
              <a:defRPr/>
            </a:pPr>
            <a:r>
              <a:rPr kumimoji="0" sz="2000" b="0" i="1" u="none" strike="noStrike" kern="0" cap="none" spc="0" normalizeH="0" baseline="0" noProof="0" dirty="0">
                <a:ln>
                  <a:noFill/>
                </a:ln>
                <a:solidFill>
                  <a:sysClr val="windowText" lastClr="000000"/>
                </a:solidFill>
                <a:effectLst/>
                <a:uLnTx/>
                <a:uFillTx/>
                <a:latin typeface="Times New Roman"/>
                <a:cs typeface="Times New Roman"/>
              </a:rPr>
              <a:t>Q</a:t>
            </a:r>
            <a:r>
              <a:rPr kumimoji="0" sz="20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0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54965" marR="0" lvl="0" indent="-342265" defTabSz="914400" eaLnBrk="1" fontAlgn="auto" latinLnBrk="0" hangingPunct="1">
              <a:lnSpc>
                <a:spcPct val="100000"/>
              </a:lnSpc>
              <a:spcBef>
                <a:spcPts val="455"/>
              </a:spcBef>
              <a:spcAft>
                <a:spcPts val="0"/>
              </a:spcAft>
              <a:buClr>
                <a:srgbClr val="5F5F5F"/>
              </a:buClr>
              <a:buSzTx/>
              <a:buFont typeface="Wingdings"/>
              <a:buChar char=""/>
              <a:tabLst>
                <a:tab pos="354965" algn="l"/>
              </a:tabLst>
              <a:defRPr/>
            </a:pPr>
            <a:r>
              <a:rPr kumimoji="0" sz="2000" b="0" i="1" u="none" strike="noStrike" kern="0" cap="none" spc="0" normalizeH="0" baseline="0" noProof="0" dirty="0">
                <a:ln>
                  <a:noFill/>
                </a:ln>
                <a:solidFill>
                  <a:sysClr val="windowText" lastClr="000000"/>
                </a:solidFill>
                <a:effectLst/>
                <a:uLnTx/>
                <a:uFillTx/>
                <a:latin typeface="Times New Roman"/>
                <a:cs typeface="Times New Roman"/>
              </a:rPr>
              <a:t>Q</a:t>
            </a:r>
            <a:r>
              <a:rPr kumimoji="0" sz="20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1" u="none" strike="noStrike" kern="0" cap="none" spc="-2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co-</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0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0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59079" marR="0" lvl="0" indent="0" defTabSz="914400" eaLnBrk="1" fontAlgn="auto" latinLnBrk="0" hangingPunct="1">
              <a:lnSpc>
                <a:spcPts val="2280"/>
              </a:lnSpc>
              <a:spcBef>
                <a:spcPts val="360"/>
              </a:spcBef>
              <a:spcAft>
                <a:spcPts val="0"/>
              </a:spcAft>
              <a:buClrTx/>
              <a:buSzTx/>
              <a:buFontTx/>
              <a:buNone/>
              <a:tabLst/>
              <a:defRPr/>
            </a:pPr>
            <a:r>
              <a:rPr kumimoji="0" sz="2000" b="0" i="0" u="none" strike="noStrike" kern="0" cap="none" spc="-20" normalizeH="0" baseline="0" noProof="0" dirty="0">
                <a:ln>
                  <a:noFill/>
                </a:ln>
                <a:solidFill>
                  <a:sysClr val="windowText" lastClr="000000"/>
                </a:solidFill>
                <a:effectLst/>
                <a:uLnTx/>
                <a:uFillTx/>
                <a:latin typeface="Times New Roman"/>
                <a:cs typeface="Times New Roman"/>
              </a:rPr>
              <a:t>A</a:t>
            </a:r>
            <a:r>
              <a:rPr kumimoji="0" sz="20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trade-</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off</a:t>
            </a:r>
            <a:r>
              <a:rPr kumimoji="0" sz="20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must</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made</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0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these</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objectives</a:t>
            </a:r>
            <a:r>
              <a:rPr kumimoji="0" sz="20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000" b="0" i="0" u="none" strike="noStrike" kern="0" cap="none" spc="48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actual</a:t>
            </a:r>
            <a:r>
              <a:rPr kumimoji="0" sz="20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cellular</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80670" marR="0" lvl="0" indent="0" defTabSz="914400" eaLnBrk="1" fontAlgn="auto" latinLnBrk="0" hangingPunct="1">
              <a:lnSpc>
                <a:spcPts val="2280"/>
              </a:lnSpc>
              <a:spcBef>
                <a:spcPts val="0"/>
              </a:spcBef>
              <a:spcAft>
                <a:spcPts val="0"/>
              </a:spcAft>
              <a:buClrTx/>
              <a:buSzTx/>
              <a:buFontTx/>
              <a:buNone/>
              <a:tabLst/>
              <a:defRPr/>
            </a:pPr>
            <a:r>
              <a:rPr kumimoji="0" sz="2000" b="0" i="0" u="none" strike="noStrike" kern="0" cap="none" spc="-10" normalizeH="0" baseline="0" noProof="0" dirty="0">
                <a:ln>
                  <a:noFill/>
                </a:ln>
                <a:solidFill>
                  <a:sysClr val="windowText" lastClr="000000"/>
                </a:solidFill>
                <a:effectLst/>
                <a:uLnTx/>
                <a:uFillTx/>
                <a:latin typeface="Times New Roman"/>
                <a:cs typeface="Times New Roman"/>
              </a:rPr>
              <a:t>design.</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80670" marR="69215" lvl="0" indent="-268605" defTabSz="914400" eaLnBrk="1" fontAlgn="auto" latinLnBrk="0" hangingPunct="1">
              <a:lnSpc>
                <a:spcPts val="2160"/>
              </a:lnSpc>
              <a:spcBef>
                <a:spcPts val="635"/>
              </a:spcBef>
              <a:spcAft>
                <a:spcPts val="0"/>
              </a:spcAft>
              <a:buClr>
                <a:srgbClr val="5F5F5F"/>
              </a:buClr>
              <a:buSzTx/>
              <a:buFont typeface="Wingdings"/>
              <a:buChar char=""/>
              <a:tabLst>
                <a:tab pos="280670"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signal-</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to-</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interference</a:t>
            </a:r>
            <a:r>
              <a:rPr kumimoji="0" sz="20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S/I</a:t>
            </a:r>
            <a:r>
              <a:rPr kumimoji="0" sz="20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SIR)</a:t>
            </a:r>
            <a:r>
              <a:rPr kumimoji="0" sz="20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000" b="0" i="0" u="none" strike="noStrike" kern="0" cap="none" spc="459"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receiver</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be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expressed</a:t>
            </a:r>
            <a:r>
              <a:rPr kumimoji="0" sz="20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as</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p:nvPr/>
        </p:nvSpPr>
        <p:spPr>
          <a:xfrm>
            <a:off x="3662171" y="4075429"/>
            <a:ext cx="140335" cy="17145"/>
          </a:xfrm>
          <a:custGeom>
            <a:avLst/>
            <a:gdLst/>
            <a:ahLst/>
            <a:cxnLst/>
            <a:rect l="l" t="t" r="r" b="b"/>
            <a:pathLst>
              <a:path w="140335" h="17145">
                <a:moveTo>
                  <a:pt x="140208" y="0"/>
                </a:moveTo>
                <a:lnTo>
                  <a:pt x="0" y="0"/>
                </a:lnTo>
                <a:lnTo>
                  <a:pt x="0" y="16764"/>
                </a:lnTo>
                <a:lnTo>
                  <a:pt x="140208" y="16764"/>
                </a:lnTo>
                <a:lnTo>
                  <a:pt x="14020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txBox="1"/>
          <p:nvPr/>
        </p:nvSpPr>
        <p:spPr>
          <a:xfrm>
            <a:off x="3650107" y="3697681"/>
            <a:ext cx="911860" cy="331470"/>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tab pos="763905" algn="l"/>
              </a:tabLst>
              <a:defRPr/>
            </a:pPr>
            <a:r>
              <a:rPr kumimoji="0" sz="2000" b="0" i="0" u="none" strike="noStrike" kern="0" cap="none" spc="-50" normalizeH="0" baseline="0" noProof="0" dirty="0">
                <a:ln>
                  <a:noFill/>
                </a:ln>
                <a:solidFill>
                  <a:sysClr val="windowText" lastClr="000000"/>
                </a:solidFill>
                <a:effectLst/>
                <a:uLnTx/>
                <a:uFillTx/>
                <a:latin typeface="Cambria Math"/>
                <a:cs typeface="Cambria Math"/>
              </a:rPr>
              <a:t>𝑆</a:t>
            </a:r>
            <a:r>
              <a:rPr kumimoji="0" sz="2000" b="0" i="0" u="none" strike="noStrike" kern="0" cap="none" spc="0" normalizeH="0" baseline="0" noProof="0" dirty="0">
                <a:ln>
                  <a:noFill/>
                </a:ln>
                <a:solidFill>
                  <a:sysClr val="windowText" lastClr="000000"/>
                </a:solidFill>
                <a:effectLst/>
                <a:uLnTx/>
                <a:uFillTx/>
                <a:latin typeface="Cambria Math"/>
                <a:cs typeface="Cambria Math"/>
              </a:rPr>
              <a:t>	</a:t>
            </a:r>
            <a:r>
              <a:rPr kumimoji="0" sz="2000" b="0" i="0" u="none" strike="noStrike" kern="0" cap="none" spc="-50" normalizeH="0" baseline="0" noProof="0" dirty="0">
                <a:ln>
                  <a:noFill/>
                </a:ln>
                <a:solidFill>
                  <a:sysClr val="windowText" lastClr="000000"/>
                </a:solidFill>
                <a:effectLst/>
                <a:uLnTx/>
                <a:uFillTx/>
                <a:latin typeface="Cambria Math"/>
                <a:cs typeface="Cambria Math"/>
              </a:rPr>
              <a:t>𝑆</a:t>
            </a:r>
            <a:endParaRPr kumimoji="0" sz="20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5" name="object 5"/>
          <p:cNvSpPr txBox="1"/>
          <p:nvPr/>
        </p:nvSpPr>
        <p:spPr>
          <a:xfrm>
            <a:off x="4657471" y="4119829"/>
            <a:ext cx="122555" cy="331470"/>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000" b="0" i="0" u="none" strike="noStrike" kern="0" cap="none" spc="-50" normalizeH="0" baseline="0" noProof="0" dirty="0">
                <a:ln>
                  <a:noFill/>
                </a:ln>
                <a:solidFill>
                  <a:sysClr val="windowText" lastClr="000000"/>
                </a:solidFill>
                <a:effectLst/>
                <a:uLnTx/>
                <a:uFillTx/>
                <a:latin typeface="Cambria Math"/>
                <a:cs typeface="Cambria Math"/>
              </a:rPr>
              <a:t>𝐼</a:t>
            </a:r>
            <a:endParaRPr kumimoji="0" sz="20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6" name="object 6"/>
          <p:cNvSpPr txBox="1"/>
          <p:nvPr/>
        </p:nvSpPr>
        <p:spPr>
          <a:xfrm>
            <a:off x="4738242" y="4240225"/>
            <a:ext cx="90805" cy="248920"/>
          </a:xfrm>
          <a:prstGeom prst="rect">
            <a:avLst/>
          </a:prstGeom>
        </p:spPr>
        <p:txBody>
          <a:bodyPr vert="horz" wrap="square" lIns="0" tIns="14604" rIns="0" bIns="0" rtlCol="0">
            <a:spAutoFit/>
          </a:bodyPr>
          <a:lstStyle/>
          <a:p>
            <a:pPr marL="12700" marR="0" lvl="0" indent="0" defTabSz="914400" eaLnBrk="1" fontAlgn="auto" latinLnBrk="0" hangingPunct="1">
              <a:lnSpc>
                <a:spcPct val="100000"/>
              </a:lnSpc>
              <a:spcBef>
                <a:spcPts val="114"/>
              </a:spcBef>
              <a:spcAft>
                <a:spcPts val="0"/>
              </a:spcAft>
              <a:buClrTx/>
              <a:buSzTx/>
              <a:buFontTx/>
              <a:buNone/>
              <a:tabLst/>
              <a:defRPr/>
            </a:pPr>
            <a:r>
              <a:rPr kumimoji="0" sz="1450" b="0" i="0" u="none" strike="noStrike" kern="0" cap="none" spc="0" normalizeH="0" baseline="0" noProof="0" dirty="0">
                <a:ln>
                  <a:noFill/>
                </a:ln>
                <a:solidFill>
                  <a:sysClr val="windowText" lastClr="000000"/>
                </a:solidFill>
                <a:effectLst/>
                <a:uLnTx/>
                <a:uFillTx/>
                <a:latin typeface="Cambria Math"/>
                <a:cs typeface="Cambria Math"/>
              </a:rPr>
              <a:t>𝑖</a:t>
            </a:r>
            <a:endParaRPr kumimoji="0" sz="14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7" name="object 7"/>
          <p:cNvSpPr txBox="1"/>
          <p:nvPr/>
        </p:nvSpPr>
        <p:spPr>
          <a:xfrm>
            <a:off x="3641471" y="3889705"/>
            <a:ext cx="866775" cy="427355"/>
          </a:xfrm>
          <a:prstGeom prst="rect">
            <a:avLst/>
          </a:prstGeom>
        </p:spPr>
        <p:txBody>
          <a:bodyPr vert="horz" wrap="square" lIns="0" tIns="13335" rIns="0" bIns="0" rtlCol="0">
            <a:spAutoFit/>
          </a:bodyPr>
          <a:lstStyle/>
          <a:p>
            <a:pPr marL="231140" marR="0" lvl="0" indent="0" defTabSz="914400" eaLnBrk="1" fontAlgn="auto" latinLnBrk="0" hangingPunct="1">
              <a:lnSpc>
                <a:spcPts val="1580"/>
              </a:lnSpc>
              <a:spcBef>
                <a:spcPts val="105"/>
              </a:spcBef>
              <a:spcAft>
                <a:spcPts val="0"/>
              </a:spcAft>
              <a:buClrTx/>
              <a:buSzTx/>
              <a:buFontTx/>
              <a:buNone/>
              <a:tabLst/>
              <a:defRPr/>
            </a:pPr>
            <a:r>
              <a:rPr kumimoji="0" sz="20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000" b="0" i="0" u="none" strike="noStrike" kern="0" cap="none" spc="0" normalizeH="0" baseline="0" noProof="0">
              <a:ln>
                <a:noFill/>
              </a:ln>
              <a:solidFill>
                <a:sysClr val="windowText" lastClr="000000"/>
              </a:solidFill>
              <a:effectLst/>
              <a:uLnTx/>
              <a:uFillTx/>
              <a:latin typeface="Cambria Math"/>
              <a:cs typeface="Cambria Math"/>
            </a:endParaRPr>
          </a:p>
          <a:p>
            <a:pPr marL="38100" marR="0" lvl="0" indent="0" defTabSz="914400" eaLnBrk="1" fontAlgn="auto" latinLnBrk="0" hangingPunct="1">
              <a:lnSpc>
                <a:spcPts val="1580"/>
              </a:lnSpc>
              <a:spcBef>
                <a:spcPts val="0"/>
              </a:spcBef>
              <a:spcAft>
                <a:spcPts val="0"/>
              </a:spcAft>
              <a:buClrTx/>
              <a:buSzTx/>
              <a:buFontTx/>
              <a:buNone/>
              <a:tabLst>
                <a:tab pos="492125" algn="l"/>
              </a:tabLst>
              <a:defRPr/>
            </a:pPr>
            <a:r>
              <a:rPr kumimoji="0" sz="3000" b="0" i="0" u="none" strike="noStrike" kern="0" cap="none" spc="-75" normalizeH="0" baseline="-16666" noProof="0" dirty="0">
                <a:ln>
                  <a:noFill/>
                </a:ln>
                <a:solidFill>
                  <a:sysClr val="windowText" lastClr="000000"/>
                </a:solidFill>
                <a:effectLst/>
                <a:uLnTx/>
                <a:uFillTx/>
                <a:latin typeface="Cambria Math"/>
                <a:cs typeface="Cambria Math"/>
              </a:rPr>
              <a:t>𝐼</a:t>
            </a:r>
            <a:r>
              <a:rPr kumimoji="0" sz="3000" b="0" i="0" u="none" strike="noStrike" kern="0" cap="none" spc="0" normalizeH="0" baseline="-16666" noProof="0" dirty="0">
                <a:ln>
                  <a:noFill/>
                </a:ln>
                <a:solidFill>
                  <a:sysClr val="windowText" lastClr="000000"/>
                </a:solidFill>
                <a:effectLst/>
                <a:uLnTx/>
                <a:uFillTx/>
                <a:latin typeface="Cambria Math"/>
                <a:cs typeface="Cambria Math"/>
              </a:rPr>
              <a:t>	</a:t>
            </a:r>
            <a:r>
              <a:rPr kumimoji="0" sz="3000" b="0" i="0" u="none" strike="noStrike" kern="0" cap="none" spc="-37" normalizeH="0" baseline="-26388" noProof="0" dirty="0">
                <a:ln>
                  <a:noFill/>
                </a:ln>
                <a:solidFill>
                  <a:sysClr val="windowText" lastClr="000000"/>
                </a:solidFill>
                <a:effectLst/>
                <a:uLnTx/>
                <a:uFillTx/>
                <a:latin typeface="Cambria Math"/>
                <a:cs typeface="Cambria Math"/>
              </a:rPr>
              <a:t>∑</a:t>
            </a:r>
            <a:r>
              <a:rPr kumimoji="0" sz="1450" b="0" i="0" u="none" strike="noStrike" kern="0" cap="none" spc="-25" normalizeH="0" baseline="0" noProof="0" dirty="0">
                <a:ln>
                  <a:noFill/>
                </a:ln>
                <a:solidFill>
                  <a:sysClr val="windowText" lastClr="000000"/>
                </a:solidFill>
                <a:effectLst/>
                <a:uLnTx/>
                <a:uFillTx/>
                <a:latin typeface="Cambria Math"/>
                <a:cs typeface="Cambria Math"/>
              </a:rPr>
              <a:t>𝑖</a:t>
            </a:r>
            <a:r>
              <a:rPr kumimoji="0" sz="1800" b="0" i="0" u="none" strike="noStrike" kern="0" cap="none" spc="-37" normalizeH="0" baseline="-13888" noProof="0" dirty="0">
                <a:ln>
                  <a:noFill/>
                </a:ln>
                <a:solidFill>
                  <a:sysClr val="windowText" lastClr="000000"/>
                </a:solidFill>
                <a:effectLst/>
                <a:uLnTx/>
                <a:uFillTx/>
                <a:latin typeface="Cambria Math"/>
                <a:cs typeface="Cambria Math"/>
              </a:rPr>
              <a:t>0</a:t>
            </a:r>
            <a:endParaRPr kumimoji="0" sz="1800" b="0" i="0" u="none" strike="noStrike" kern="0" cap="none" spc="0" normalizeH="0" baseline="-13888" noProof="0">
              <a:ln>
                <a:noFill/>
              </a:ln>
              <a:solidFill>
                <a:sysClr val="windowText" lastClr="000000"/>
              </a:solidFill>
              <a:effectLst/>
              <a:uLnTx/>
              <a:uFillTx/>
              <a:latin typeface="Cambria Math"/>
              <a:cs typeface="Cambria Math"/>
            </a:endParaRPr>
          </a:p>
        </p:txBody>
      </p:sp>
      <p:sp>
        <p:nvSpPr>
          <p:cNvPr id="8" name="object 8"/>
          <p:cNvSpPr txBox="1"/>
          <p:nvPr/>
        </p:nvSpPr>
        <p:spPr>
          <a:xfrm>
            <a:off x="4300854" y="4278325"/>
            <a:ext cx="340995" cy="248920"/>
          </a:xfrm>
          <a:prstGeom prst="rect">
            <a:avLst/>
          </a:prstGeom>
        </p:spPr>
        <p:txBody>
          <a:bodyPr vert="horz" wrap="square" lIns="0" tIns="14604" rIns="0" bIns="0" rtlCol="0">
            <a:spAutoFit/>
          </a:bodyPr>
          <a:lstStyle/>
          <a:p>
            <a:pPr marL="12700" marR="0" lvl="0" indent="0" defTabSz="914400" eaLnBrk="1" fontAlgn="auto" latinLnBrk="0" hangingPunct="1">
              <a:lnSpc>
                <a:spcPct val="100000"/>
              </a:lnSpc>
              <a:spcBef>
                <a:spcPts val="114"/>
              </a:spcBef>
              <a:spcAft>
                <a:spcPts val="0"/>
              </a:spcAft>
              <a:buClrTx/>
              <a:buSzTx/>
              <a:buFontTx/>
              <a:buNone/>
              <a:tabLst/>
              <a:defRPr/>
            </a:pPr>
            <a:r>
              <a:rPr kumimoji="0" sz="1450" b="0" i="0" u="none" strike="noStrike" kern="0" cap="none" spc="-25" normalizeH="0" baseline="0" noProof="0" dirty="0">
                <a:ln>
                  <a:noFill/>
                </a:ln>
                <a:solidFill>
                  <a:sysClr val="windowText" lastClr="000000"/>
                </a:solidFill>
                <a:effectLst/>
                <a:uLnTx/>
                <a:uFillTx/>
                <a:latin typeface="Cambria Math"/>
                <a:cs typeface="Cambria Math"/>
              </a:rPr>
              <a:t>𝑖=1</a:t>
            </a:r>
            <a:endParaRPr kumimoji="0" sz="14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9" name="object 9"/>
          <p:cNvSpPr/>
          <p:nvPr/>
        </p:nvSpPr>
        <p:spPr>
          <a:xfrm>
            <a:off x="4133088" y="4075429"/>
            <a:ext cx="701040" cy="17145"/>
          </a:xfrm>
          <a:custGeom>
            <a:avLst/>
            <a:gdLst/>
            <a:ahLst/>
            <a:cxnLst/>
            <a:rect l="l" t="t" r="r" b="b"/>
            <a:pathLst>
              <a:path w="701039" h="17145">
                <a:moveTo>
                  <a:pt x="701039" y="0"/>
                </a:moveTo>
                <a:lnTo>
                  <a:pt x="0" y="0"/>
                </a:lnTo>
                <a:lnTo>
                  <a:pt x="0" y="16764"/>
                </a:lnTo>
                <a:lnTo>
                  <a:pt x="701039" y="16764"/>
                </a:lnTo>
                <a:lnTo>
                  <a:pt x="70103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txBox="1"/>
          <p:nvPr/>
        </p:nvSpPr>
        <p:spPr>
          <a:xfrm>
            <a:off x="358140" y="4459071"/>
            <a:ext cx="7642859" cy="1031875"/>
          </a:xfrm>
          <a:prstGeom prst="rect">
            <a:avLst/>
          </a:prstGeom>
        </p:spPr>
        <p:txBody>
          <a:bodyPr vert="horz" wrap="square" lIns="0" tIns="43180" rIns="0" bIns="0" rtlCol="0">
            <a:spAutoFit/>
          </a:bodyPr>
          <a:lstStyle/>
          <a:p>
            <a:pPr marL="380365" marR="0" lvl="0" indent="-342265" defTabSz="914400" eaLnBrk="1" fontAlgn="auto" latinLnBrk="0" hangingPunct="1">
              <a:lnSpc>
                <a:spcPct val="100000"/>
              </a:lnSpc>
              <a:spcBef>
                <a:spcPts val="340"/>
              </a:spcBef>
              <a:spcAft>
                <a:spcPts val="0"/>
              </a:spcAft>
              <a:buClr>
                <a:srgbClr val="0F1141"/>
              </a:buClr>
              <a:buSzTx/>
              <a:buFont typeface="Arial MT"/>
              <a:buChar char="•"/>
              <a:tabLst>
                <a:tab pos="380365"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20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desired</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signal</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power</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desired</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station</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80365" marR="0" lvl="0" indent="-342265" defTabSz="914400" eaLnBrk="1" fontAlgn="auto" latinLnBrk="0" hangingPunct="1">
              <a:lnSpc>
                <a:spcPct val="100000"/>
              </a:lnSpc>
              <a:spcBef>
                <a:spcPts val="240"/>
              </a:spcBef>
              <a:spcAft>
                <a:spcPts val="0"/>
              </a:spcAft>
              <a:buClr>
                <a:srgbClr val="0F1141"/>
              </a:buClr>
              <a:buSzTx/>
              <a:buFont typeface="Arial MT"/>
              <a:buChar char="•"/>
              <a:tabLst>
                <a:tab pos="380365" algn="l"/>
              </a:tabLst>
              <a:defRPr/>
            </a:pPr>
            <a:r>
              <a:rPr kumimoji="0" sz="2000" b="0" i="0" u="none" strike="noStrike" kern="0" cap="none" spc="0" normalizeH="0" baseline="0" noProof="0" dirty="0">
                <a:ln>
                  <a:noFill/>
                </a:ln>
                <a:solidFill>
                  <a:sysClr val="windowText" lastClr="000000"/>
                </a:solidFill>
                <a:effectLst/>
                <a:uLnTx/>
                <a:uFillTx/>
                <a:latin typeface="Cambria Math"/>
                <a:cs typeface="Cambria Math"/>
              </a:rPr>
              <a:t>𝐼</a:t>
            </a:r>
            <a:r>
              <a:rPr kumimoji="0" sz="2175" b="0" i="0" u="none" strike="noStrike" kern="0" cap="none" spc="0" normalizeH="0" baseline="-15325" noProof="0" dirty="0">
                <a:ln>
                  <a:noFill/>
                </a:ln>
                <a:solidFill>
                  <a:sysClr val="windowText" lastClr="000000"/>
                </a:solidFill>
                <a:effectLst/>
                <a:uLnTx/>
                <a:uFillTx/>
                <a:latin typeface="Cambria Math"/>
                <a:cs typeface="Cambria Math"/>
              </a:rPr>
              <a:t>𝑖</a:t>
            </a:r>
            <a:r>
              <a:rPr kumimoji="0" sz="2175" b="0" i="0" u="none" strike="noStrike" kern="0" cap="none" spc="487" normalizeH="0" baseline="-15325" noProof="0" dirty="0">
                <a:ln>
                  <a:noFill/>
                </a:ln>
                <a:solidFill>
                  <a:sysClr val="windowText" lastClr="000000"/>
                </a:solidFill>
                <a:effectLst/>
                <a:uLnTx/>
                <a:uFillTx/>
                <a:latin typeface="Cambria Math"/>
                <a:cs typeface="Cambria Math"/>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0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power</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caused</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1950" b="0" i="1" u="none" strike="noStrike" kern="0" cap="none" spc="0" normalizeH="0" baseline="25641" noProof="0" dirty="0">
                <a:ln>
                  <a:noFill/>
                </a:ln>
                <a:solidFill>
                  <a:sysClr val="windowText" lastClr="000000"/>
                </a:solidFill>
                <a:effectLst/>
                <a:uLnTx/>
                <a:uFillTx/>
                <a:latin typeface="Times New Roman"/>
                <a:cs typeface="Times New Roman"/>
              </a:rPr>
              <a:t>th</a:t>
            </a:r>
            <a:r>
              <a:rPr kumimoji="0" sz="1950" b="0" i="1" u="none" strike="noStrike" kern="0" cap="none" spc="517" normalizeH="0" baseline="25641"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interfering</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0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cell</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381000" marR="0" lvl="0" indent="0" defTabSz="914400" eaLnBrk="1" fontAlgn="auto" latinLnBrk="0" hangingPunct="1">
              <a:lnSpc>
                <a:spcPct val="100000"/>
              </a:lnSpc>
              <a:spcBef>
                <a:spcPts val="240"/>
              </a:spcBef>
              <a:spcAft>
                <a:spcPts val="0"/>
              </a:spcAft>
              <a:buClrTx/>
              <a:buSzTx/>
              <a:buFontTx/>
              <a:buNone/>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station.</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221</a:t>
            </a:fld>
            <a:endParaRPr kumimoji="0" sz="1200" b="0" i="0" u="none" strike="noStrike" kern="0" cap="none" spc="-25" normalizeH="0" baseline="0" noProof="0" dirty="0">
              <a:ln>
                <a:noFill/>
              </a:ln>
              <a:solidFill>
                <a:srgbClr val="888888"/>
              </a:solidFill>
              <a:effectLst/>
              <a:uLnTx/>
              <a:uFillTx/>
              <a:latin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140" y="1443355"/>
            <a:ext cx="7095490" cy="830580"/>
          </a:xfrm>
          <a:prstGeom prst="rect">
            <a:avLst/>
          </a:prstGeom>
        </p:spPr>
        <p:txBody>
          <a:bodyPr vert="horz" wrap="square" lIns="0" tIns="12700" rIns="0" bIns="0" rtlCol="0">
            <a:spAutoFit/>
          </a:bodyPr>
          <a:lstStyle/>
          <a:p>
            <a:pPr marL="38100" marR="30480">
              <a:lnSpc>
                <a:spcPct val="110000"/>
              </a:lnSpc>
              <a:spcBef>
                <a:spcPts val="100"/>
              </a:spcBef>
              <a:tabLst>
                <a:tab pos="3937000" algn="l"/>
              </a:tabLst>
            </a:pPr>
            <a:r>
              <a:rPr sz="2400" b="0" dirty="0">
                <a:latin typeface="Times New Roman"/>
                <a:cs typeface="Times New Roman"/>
              </a:rPr>
              <a:t>The</a:t>
            </a:r>
            <a:r>
              <a:rPr sz="2400" b="0" spc="-40" dirty="0">
                <a:latin typeface="Times New Roman"/>
                <a:cs typeface="Times New Roman"/>
              </a:rPr>
              <a:t> </a:t>
            </a:r>
            <a:r>
              <a:rPr sz="2400" b="0" dirty="0">
                <a:latin typeface="Times New Roman"/>
                <a:cs typeface="Times New Roman"/>
              </a:rPr>
              <a:t>average</a:t>
            </a:r>
            <a:r>
              <a:rPr sz="2400" b="0" spc="-60" dirty="0">
                <a:latin typeface="Times New Roman"/>
                <a:cs typeface="Times New Roman"/>
              </a:rPr>
              <a:t> </a:t>
            </a:r>
            <a:r>
              <a:rPr sz="2400" b="0" dirty="0">
                <a:latin typeface="Times New Roman"/>
                <a:cs typeface="Times New Roman"/>
              </a:rPr>
              <a:t>received</a:t>
            </a:r>
            <a:r>
              <a:rPr sz="2400" b="0" spc="-60" dirty="0">
                <a:latin typeface="Times New Roman"/>
                <a:cs typeface="Times New Roman"/>
              </a:rPr>
              <a:t> </a:t>
            </a:r>
            <a:r>
              <a:rPr sz="2400" b="0" dirty="0">
                <a:latin typeface="Times New Roman"/>
                <a:cs typeface="Times New Roman"/>
              </a:rPr>
              <a:t>power</a:t>
            </a:r>
            <a:r>
              <a:rPr sz="2400" b="0" spc="-15" dirty="0">
                <a:latin typeface="Times New Roman"/>
                <a:cs typeface="Times New Roman"/>
              </a:rPr>
              <a:t> </a:t>
            </a:r>
            <a:r>
              <a:rPr sz="2400" b="0" spc="-25" dirty="0">
                <a:latin typeface="Cambria Math"/>
                <a:cs typeface="Cambria Math"/>
              </a:rPr>
              <a:t>𝑃</a:t>
            </a:r>
            <a:r>
              <a:rPr sz="2625" b="0" spc="-37" baseline="-15873" dirty="0">
                <a:latin typeface="Cambria Math"/>
                <a:cs typeface="Cambria Math"/>
              </a:rPr>
              <a:t>𝑟</a:t>
            </a:r>
            <a:r>
              <a:rPr sz="2625" b="0" baseline="-15873" dirty="0">
                <a:latin typeface="Cambria Math"/>
                <a:cs typeface="Cambria Math"/>
              </a:rPr>
              <a:t>	</a:t>
            </a:r>
            <a:r>
              <a:rPr sz="2400" b="0" dirty="0">
                <a:latin typeface="Times New Roman"/>
                <a:cs typeface="Times New Roman"/>
              </a:rPr>
              <a:t>at</a:t>
            </a:r>
            <a:r>
              <a:rPr sz="2400" b="0" spc="-25" dirty="0">
                <a:latin typeface="Times New Roman"/>
                <a:cs typeface="Times New Roman"/>
              </a:rPr>
              <a:t> </a:t>
            </a:r>
            <a:r>
              <a:rPr sz="2400" b="0" dirty="0">
                <a:latin typeface="Times New Roman"/>
                <a:cs typeface="Times New Roman"/>
              </a:rPr>
              <a:t>a</a:t>
            </a:r>
            <a:r>
              <a:rPr sz="2400" b="0" spc="-10" dirty="0">
                <a:latin typeface="Times New Roman"/>
                <a:cs typeface="Times New Roman"/>
              </a:rPr>
              <a:t> </a:t>
            </a:r>
            <a:r>
              <a:rPr sz="2400" b="0" dirty="0">
                <a:latin typeface="Times New Roman"/>
                <a:cs typeface="Times New Roman"/>
              </a:rPr>
              <a:t>distance</a:t>
            </a:r>
            <a:r>
              <a:rPr sz="2400" b="0" spc="-45" dirty="0">
                <a:latin typeface="Times New Roman"/>
                <a:cs typeface="Times New Roman"/>
              </a:rPr>
              <a:t> </a:t>
            </a:r>
            <a:r>
              <a:rPr sz="2400" b="0" i="1" dirty="0">
                <a:latin typeface="Times New Roman"/>
                <a:cs typeface="Times New Roman"/>
              </a:rPr>
              <a:t>d</a:t>
            </a:r>
            <a:r>
              <a:rPr sz="2400" b="0" i="1" spc="-15" dirty="0">
                <a:latin typeface="Times New Roman"/>
                <a:cs typeface="Times New Roman"/>
              </a:rPr>
              <a:t> </a:t>
            </a:r>
            <a:r>
              <a:rPr sz="2400" b="0" dirty="0">
                <a:latin typeface="Times New Roman"/>
                <a:cs typeface="Times New Roman"/>
              </a:rPr>
              <a:t>is</a:t>
            </a:r>
            <a:r>
              <a:rPr sz="2400" b="0" spc="-25" dirty="0">
                <a:latin typeface="Times New Roman"/>
                <a:cs typeface="Times New Roman"/>
              </a:rPr>
              <a:t> </a:t>
            </a:r>
            <a:r>
              <a:rPr sz="2400" b="0" dirty="0">
                <a:latin typeface="Times New Roman"/>
                <a:cs typeface="Times New Roman"/>
              </a:rPr>
              <a:t>from </a:t>
            </a:r>
            <a:r>
              <a:rPr sz="2400" b="0" spc="-25" dirty="0">
                <a:latin typeface="Times New Roman"/>
                <a:cs typeface="Times New Roman"/>
              </a:rPr>
              <a:t>the </a:t>
            </a:r>
            <a:r>
              <a:rPr sz="2400" b="0" dirty="0">
                <a:latin typeface="Times New Roman"/>
                <a:cs typeface="Times New Roman"/>
              </a:rPr>
              <a:t>transmitting</a:t>
            </a:r>
            <a:r>
              <a:rPr sz="2400" b="0" spc="-40" dirty="0">
                <a:latin typeface="Times New Roman"/>
                <a:cs typeface="Times New Roman"/>
              </a:rPr>
              <a:t> </a:t>
            </a:r>
            <a:r>
              <a:rPr sz="2400" b="0" dirty="0">
                <a:latin typeface="Times New Roman"/>
                <a:cs typeface="Times New Roman"/>
              </a:rPr>
              <a:t>antenna</a:t>
            </a:r>
            <a:r>
              <a:rPr sz="2400" b="0" spc="-35" dirty="0">
                <a:latin typeface="Times New Roman"/>
                <a:cs typeface="Times New Roman"/>
              </a:rPr>
              <a:t> </a:t>
            </a:r>
            <a:r>
              <a:rPr sz="2400" b="0" spc="-25" dirty="0">
                <a:latin typeface="Times New Roman"/>
                <a:cs typeface="Times New Roman"/>
              </a:rPr>
              <a:t>is</a:t>
            </a:r>
            <a:endParaRPr sz="2400">
              <a:latin typeface="Times New Roman"/>
              <a:cs typeface="Times New Roman"/>
            </a:endParaRPr>
          </a:p>
        </p:txBody>
      </p:sp>
      <p:sp>
        <p:nvSpPr>
          <p:cNvPr id="3" name="object 3"/>
          <p:cNvSpPr txBox="1"/>
          <p:nvPr/>
        </p:nvSpPr>
        <p:spPr>
          <a:xfrm>
            <a:off x="3380866" y="2452496"/>
            <a:ext cx="102489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82"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419"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0</a:t>
            </a:r>
            <a:endParaRPr kumimoji="0" sz="2625" b="0" i="0" u="none" strike="noStrike" kern="0" cap="none" spc="0" normalizeH="0" baseline="-15873" noProof="0">
              <a:ln>
                <a:noFill/>
              </a:ln>
              <a:solidFill>
                <a:sysClr val="windowText" lastClr="000000"/>
              </a:solidFill>
              <a:effectLst/>
              <a:uLnTx/>
              <a:uFillTx/>
              <a:latin typeface="Cambria Math"/>
              <a:cs typeface="Cambria Math"/>
            </a:endParaRPr>
          </a:p>
        </p:txBody>
      </p:sp>
      <p:sp>
        <p:nvSpPr>
          <p:cNvPr id="4" name="object 4"/>
          <p:cNvSpPr/>
          <p:nvPr/>
        </p:nvSpPr>
        <p:spPr>
          <a:xfrm>
            <a:off x="4453766" y="2293620"/>
            <a:ext cx="619125" cy="777240"/>
          </a:xfrm>
          <a:custGeom>
            <a:avLst/>
            <a:gdLst/>
            <a:ahLst/>
            <a:cxnLst/>
            <a:rect l="l" t="t" r="r" b="b"/>
            <a:pathLst>
              <a:path w="619125" h="777239">
                <a:moveTo>
                  <a:pt x="485517" y="0"/>
                </a:moveTo>
                <a:lnTo>
                  <a:pt x="478532" y="11175"/>
                </a:lnTo>
                <a:lnTo>
                  <a:pt x="503323" y="40919"/>
                </a:lnTo>
                <a:lnTo>
                  <a:pt x="525125" y="76438"/>
                </a:lnTo>
                <a:lnTo>
                  <a:pt x="543951" y="117742"/>
                </a:lnTo>
                <a:lnTo>
                  <a:pt x="559812" y="164845"/>
                </a:lnTo>
                <a:lnTo>
                  <a:pt x="572387" y="216324"/>
                </a:lnTo>
                <a:lnTo>
                  <a:pt x="581354" y="270732"/>
                </a:lnTo>
                <a:lnTo>
                  <a:pt x="586726" y="328044"/>
                </a:lnTo>
                <a:lnTo>
                  <a:pt x="588514" y="388238"/>
                </a:lnTo>
                <a:lnTo>
                  <a:pt x="586728" y="447363"/>
                </a:lnTo>
                <a:lnTo>
                  <a:pt x="581370" y="504142"/>
                </a:lnTo>
                <a:lnTo>
                  <a:pt x="572440" y="558563"/>
                </a:lnTo>
                <a:lnTo>
                  <a:pt x="559939" y="610615"/>
                </a:lnTo>
                <a:lnTo>
                  <a:pt x="544147" y="658552"/>
                </a:lnTo>
                <a:lnTo>
                  <a:pt x="525331" y="700452"/>
                </a:lnTo>
                <a:lnTo>
                  <a:pt x="503467" y="736328"/>
                </a:lnTo>
                <a:lnTo>
                  <a:pt x="478532" y="766190"/>
                </a:lnTo>
                <a:lnTo>
                  <a:pt x="485517" y="777239"/>
                </a:lnTo>
                <a:lnTo>
                  <a:pt x="514574" y="747827"/>
                </a:lnTo>
                <a:lnTo>
                  <a:pt x="540428" y="711771"/>
                </a:lnTo>
                <a:lnTo>
                  <a:pt x="563116" y="669047"/>
                </a:lnTo>
                <a:lnTo>
                  <a:pt x="582672" y="619632"/>
                </a:lnTo>
                <a:lnTo>
                  <a:pt x="595627" y="576657"/>
                </a:lnTo>
                <a:lnTo>
                  <a:pt x="605692" y="532011"/>
                </a:lnTo>
                <a:lnTo>
                  <a:pt x="612874" y="485700"/>
                </a:lnTo>
                <a:lnTo>
                  <a:pt x="617179" y="437732"/>
                </a:lnTo>
                <a:lnTo>
                  <a:pt x="618609" y="388238"/>
                </a:lnTo>
                <a:lnTo>
                  <a:pt x="617179" y="337878"/>
                </a:lnTo>
                <a:lnTo>
                  <a:pt x="612874" y="289584"/>
                </a:lnTo>
                <a:lnTo>
                  <a:pt x="605692" y="243216"/>
                </a:lnTo>
                <a:lnTo>
                  <a:pt x="595627" y="198762"/>
                </a:lnTo>
                <a:lnTo>
                  <a:pt x="582672" y="156209"/>
                </a:lnTo>
                <a:lnTo>
                  <a:pt x="563116" y="107513"/>
                </a:lnTo>
                <a:lnTo>
                  <a:pt x="540428" y="65246"/>
                </a:lnTo>
                <a:lnTo>
                  <a:pt x="514574" y="29408"/>
                </a:lnTo>
                <a:lnTo>
                  <a:pt x="485517" y="0"/>
                </a:lnTo>
                <a:close/>
              </a:path>
              <a:path w="619125" h="777239">
                <a:moveTo>
                  <a:pt x="133092" y="0"/>
                </a:moveTo>
                <a:lnTo>
                  <a:pt x="104035" y="29408"/>
                </a:lnTo>
                <a:lnTo>
                  <a:pt x="78180" y="65246"/>
                </a:lnTo>
                <a:lnTo>
                  <a:pt x="55493" y="107513"/>
                </a:lnTo>
                <a:lnTo>
                  <a:pt x="35937" y="156209"/>
                </a:lnTo>
                <a:lnTo>
                  <a:pt x="22982" y="198762"/>
                </a:lnTo>
                <a:lnTo>
                  <a:pt x="12916" y="243216"/>
                </a:lnTo>
                <a:lnTo>
                  <a:pt x="5734" y="289584"/>
                </a:lnTo>
                <a:lnTo>
                  <a:pt x="1429" y="337878"/>
                </a:lnTo>
                <a:lnTo>
                  <a:pt x="0" y="388238"/>
                </a:lnTo>
                <a:lnTo>
                  <a:pt x="1429" y="437732"/>
                </a:lnTo>
                <a:lnTo>
                  <a:pt x="5734" y="485700"/>
                </a:lnTo>
                <a:lnTo>
                  <a:pt x="12916" y="532011"/>
                </a:lnTo>
                <a:lnTo>
                  <a:pt x="22982" y="576657"/>
                </a:lnTo>
                <a:lnTo>
                  <a:pt x="35937" y="619632"/>
                </a:lnTo>
                <a:lnTo>
                  <a:pt x="55493" y="669047"/>
                </a:lnTo>
                <a:lnTo>
                  <a:pt x="78180" y="711771"/>
                </a:lnTo>
                <a:lnTo>
                  <a:pt x="104035" y="747827"/>
                </a:lnTo>
                <a:lnTo>
                  <a:pt x="133092" y="777239"/>
                </a:lnTo>
                <a:lnTo>
                  <a:pt x="140077" y="766190"/>
                </a:lnTo>
                <a:lnTo>
                  <a:pt x="115141" y="736328"/>
                </a:lnTo>
                <a:lnTo>
                  <a:pt x="93277" y="700452"/>
                </a:lnTo>
                <a:lnTo>
                  <a:pt x="74461" y="658552"/>
                </a:lnTo>
                <a:lnTo>
                  <a:pt x="58670" y="610615"/>
                </a:lnTo>
                <a:lnTo>
                  <a:pt x="46168" y="558563"/>
                </a:lnTo>
                <a:lnTo>
                  <a:pt x="37239" y="504142"/>
                </a:lnTo>
                <a:lnTo>
                  <a:pt x="31881" y="447363"/>
                </a:lnTo>
                <a:lnTo>
                  <a:pt x="30095" y="388238"/>
                </a:lnTo>
                <a:lnTo>
                  <a:pt x="31881" y="328044"/>
                </a:lnTo>
                <a:lnTo>
                  <a:pt x="37239" y="270732"/>
                </a:lnTo>
                <a:lnTo>
                  <a:pt x="46168" y="216324"/>
                </a:lnTo>
                <a:lnTo>
                  <a:pt x="58670" y="164845"/>
                </a:lnTo>
                <a:lnTo>
                  <a:pt x="74533" y="117742"/>
                </a:lnTo>
                <a:lnTo>
                  <a:pt x="93373" y="76438"/>
                </a:lnTo>
                <a:lnTo>
                  <a:pt x="115213" y="40919"/>
                </a:lnTo>
                <a:lnTo>
                  <a:pt x="140077" y="11175"/>
                </a:lnTo>
                <a:lnTo>
                  <a:pt x="13309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4657471" y="2222372"/>
            <a:ext cx="20256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𝑑</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6" name="object 6"/>
          <p:cNvSpPr txBox="1"/>
          <p:nvPr/>
        </p:nvSpPr>
        <p:spPr>
          <a:xfrm>
            <a:off x="4591939" y="2656713"/>
            <a:ext cx="20256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𝑑</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7" name="object 7"/>
          <p:cNvSpPr txBox="1"/>
          <p:nvPr/>
        </p:nvSpPr>
        <p:spPr>
          <a:xfrm>
            <a:off x="4768722" y="2801492"/>
            <a:ext cx="154305"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50" normalizeH="0" baseline="0" noProof="0" dirty="0">
                <a:ln>
                  <a:noFill/>
                </a:ln>
                <a:solidFill>
                  <a:sysClr val="windowText" lastClr="000000"/>
                </a:solidFill>
                <a:effectLst/>
                <a:uLnTx/>
                <a:uFillTx/>
                <a:latin typeface="Cambria Math"/>
                <a:cs typeface="Cambria Math"/>
              </a:rPr>
              <a:t>0</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8" name="object 8"/>
          <p:cNvSpPr/>
          <p:nvPr/>
        </p:nvSpPr>
        <p:spPr>
          <a:xfrm>
            <a:off x="4604003" y="2673350"/>
            <a:ext cx="317500" cy="20320"/>
          </a:xfrm>
          <a:custGeom>
            <a:avLst/>
            <a:gdLst/>
            <a:ahLst/>
            <a:cxnLst/>
            <a:rect l="l" t="t" r="r" b="b"/>
            <a:pathLst>
              <a:path w="317500" h="20319">
                <a:moveTo>
                  <a:pt x="316991" y="0"/>
                </a:moveTo>
                <a:lnTo>
                  <a:pt x="0" y="0"/>
                </a:lnTo>
                <a:lnTo>
                  <a:pt x="0" y="19812"/>
                </a:lnTo>
                <a:lnTo>
                  <a:pt x="316991" y="19812"/>
                </a:lnTo>
                <a:lnTo>
                  <a:pt x="31699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5085715" y="2127885"/>
            <a:ext cx="332105"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25" normalizeH="0" baseline="0" noProof="0" dirty="0">
                <a:ln>
                  <a:noFill/>
                </a:ln>
                <a:solidFill>
                  <a:sysClr val="windowText" lastClr="000000"/>
                </a:solidFill>
                <a:effectLst/>
                <a:uLnTx/>
                <a:uFillTx/>
                <a:latin typeface="Cambria Math"/>
                <a:cs typeface="Cambria Math"/>
              </a:rPr>
              <a:t>−𝑛</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0" name="object 10"/>
          <p:cNvSpPr txBox="1"/>
          <p:nvPr/>
        </p:nvSpPr>
        <p:spPr>
          <a:xfrm>
            <a:off x="383540" y="3063621"/>
            <a:ext cx="34607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1" name="object 11"/>
          <p:cNvSpPr/>
          <p:nvPr/>
        </p:nvSpPr>
        <p:spPr>
          <a:xfrm>
            <a:off x="2321941" y="3744595"/>
            <a:ext cx="836930" cy="282575"/>
          </a:xfrm>
          <a:custGeom>
            <a:avLst/>
            <a:gdLst/>
            <a:ahLst/>
            <a:cxnLst/>
            <a:rect l="l" t="t" r="r" b="b"/>
            <a:pathLst>
              <a:path w="836930" h="282575">
                <a:moveTo>
                  <a:pt x="746378" y="0"/>
                </a:moveTo>
                <a:lnTo>
                  <a:pt x="742441" y="11429"/>
                </a:lnTo>
                <a:lnTo>
                  <a:pt x="758749" y="18577"/>
                </a:lnTo>
                <a:lnTo>
                  <a:pt x="772794" y="28416"/>
                </a:lnTo>
                <a:lnTo>
                  <a:pt x="801318" y="73908"/>
                </a:lnTo>
                <a:lnTo>
                  <a:pt x="809565" y="115341"/>
                </a:lnTo>
                <a:lnTo>
                  <a:pt x="809613" y="115679"/>
                </a:lnTo>
                <a:lnTo>
                  <a:pt x="809595" y="164689"/>
                </a:lnTo>
                <a:lnTo>
                  <a:pt x="801264" y="207603"/>
                </a:lnTo>
                <a:lnTo>
                  <a:pt x="772842" y="253857"/>
                </a:lnTo>
                <a:lnTo>
                  <a:pt x="742822" y="270890"/>
                </a:lnTo>
                <a:lnTo>
                  <a:pt x="746378" y="282320"/>
                </a:lnTo>
                <a:lnTo>
                  <a:pt x="784875" y="264302"/>
                </a:lnTo>
                <a:lnTo>
                  <a:pt x="813181" y="233044"/>
                </a:lnTo>
                <a:lnTo>
                  <a:pt x="830611" y="191134"/>
                </a:lnTo>
                <a:lnTo>
                  <a:pt x="836421" y="141223"/>
                </a:lnTo>
                <a:lnTo>
                  <a:pt x="834988" y="115679"/>
                </a:lnTo>
                <a:lnTo>
                  <a:pt x="834969" y="115341"/>
                </a:lnTo>
                <a:lnTo>
                  <a:pt x="823348" y="69482"/>
                </a:lnTo>
                <a:lnTo>
                  <a:pt x="800225" y="32146"/>
                </a:lnTo>
                <a:lnTo>
                  <a:pt x="766835" y="7381"/>
                </a:lnTo>
                <a:lnTo>
                  <a:pt x="746378" y="0"/>
                </a:lnTo>
                <a:close/>
              </a:path>
              <a:path w="836930" h="282575">
                <a:moveTo>
                  <a:pt x="90042" y="0"/>
                </a:moveTo>
                <a:lnTo>
                  <a:pt x="51641" y="18097"/>
                </a:lnTo>
                <a:lnTo>
                  <a:pt x="23240" y="49529"/>
                </a:lnTo>
                <a:lnTo>
                  <a:pt x="5810" y="91424"/>
                </a:lnTo>
                <a:lnTo>
                  <a:pt x="78" y="139826"/>
                </a:lnTo>
                <a:lnTo>
                  <a:pt x="0" y="141223"/>
                </a:lnTo>
                <a:lnTo>
                  <a:pt x="5810" y="191134"/>
                </a:lnTo>
                <a:lnTo>
                  <a:pt x="23240" y="233044"/>
                </a:lnTo>
                <a:lnTo>
                  <a:pt x="51546" y="264302"/>
                </a:lnTo>
                <a:lnTo>
                  <a:pt x="90042" y="282320"/>
                </a:lnTo>
                <a:lnTo>
                  <a:pt x="93598" y="270890"/>
                </a:lnTo>
                <a:lnTo>
                  <a:pt x="77531" y="263773"/>
                </a:lnTo>
                <a:lnTo>
                  <a:pt x="63642" y="253857"/>
                </a:lnTo>
                <a:lnTo>
                  <a:pt x="35210" y="207603"/>
                </a:lnTo>
                <a:lnTo>
                  <a:pt x="26828" y="164689"/>
                </a:lnTo>
                <a:lnTo>
                  <a:pt x="25839" y="141223"/>
                </a:lnTo>
                <a:lnTo>
                  <a:pt x="25781" y="139826"/>
                </a:lnTo>
                <a:lnTo>
                  <a:pt x="29972" y="93710"/>
                </a:lnTo>
                <a:lnTo>
                  <a:pt x="42544" y="56260"/>
                </a:lnTo>
                <a:lnTo>
                  <a:pt x="77799" y="18577"/>
                </a:lnTo>
                <a:lnTo>
                  <a:pt x="94106" y="11429"/>
                </a:lnTo>
                <a:lnTo>
                  <a:pt x="9004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3905377" y="3744595"/>
            <a:ext cx="836930" cy="282575"/>
          </a:xfrm>
          <a:custGeom>
            <a:avLst/>
            <a:gdLst/>
            <a:ahLst/>
            <a:cxnLst/>
            <a:rect l="l" t="t" r="r" b="b"/>
            <a:pathLst>
              <a:path w="836929" h="282575">
                <a:moveTo>
                  <a:pt x="746378" y="0"/>
                </a:moveTo>
                <a:lnTo>
                  <a:pt x="742442" y="11429"/>
                </a:lnTo>
                <a:lnTo>
                  <a:pt x="758749" y="18577"/>
                </a:lnTo>
                <a:lnTo>
                  <a:pt x="772795" y="28416"/>
                </a:lnTo>
                <a:lnTo>
                  <a:pt x="801318" y="73908"/>
                </a:lnTo>
                <a:lnTo>
                  <a:pt x="809565" y="115341"/>
                </a:lnTo>
                <a:lnTo>
                  <a:pt x="809613" y="115679"/>
                </a:lnTo>
                <a:lnTo>
                  <a:pt x="809595" y="164689"/>
                </a:lnTo>
                <a:lnTo>
                  <a:pt x="801264" y="207603"/>
                </a:lnTo>
                <a:lnTo>
                  <a:pt x="772842" y="253857"/>
                </a:lnTo>
                <a:lnTo>
                  <a:pt x="742823" y="270890"/>
                </a:lnTo>
                <a:lnTo>
                  <a:pt x="746378" y="282320"/>
                </a:lnTo>
                <a:lnTo>
                  <a:pt x="784875" y="264302"/>
                </a:lnTo>
                <a:lnTo>
                  <a:pt x="813181" y="233044"/>
                </a:lnTo>
                <a:lnTo>
                  <a:pt x="830611" y="191134"/>
                </a:lnTo>
                <a:lnTo>
                  <a:pt x="836422" y="141223"/>
                </a:lnTo>
                <a:lnTo>
                  <a:pt x="834988" y="115679"/>
                </a:lnTo>
                <a:lnTo>
                  <a:pt x="823348" y="69482"/>
                </a:lnTo>
                <a:lnTo>
                  <a:pt x="800225" y="32146"/>
                </a:lnTo>
                <a:lnTo>
                  <a:pt x="766835" y="7381"/>
                </a:lnTo>
                <a:lnTo>
                  <a:pt x="746378" y="0"/>
                </a:lnTo>
                <a:close/>
              </a:path>
              <a:path w="836929" h="282575">
                <a:moveTo>
                  <a:pt x="90043" y="0"/>
                </a:moveTo>
                <a:lnTo>
                  <a:pt x="51641" y="18097"/>
                </a:lnTo>
                <a:lnTo>
                  <a:pt x="23240" y="49529"/>
                </a:lnTo>
                <a:lnTo>
                  <a:pt x="5810" y="91424"/>
                </a:lnTo>
                <a:lnTo>
                  <a:pt x="78" y="139826"/>
                </a:lnTo>
                <a:lnTo>
                  <a:pt x="0" y="141223"/>
                </a:lnTo>
                <a:lnTo>
                  <a:pt x="1452" y="167179"/>
                </a:lnTo>
                <a:lnTo>
                  <a:pt x="13073" y="213090"/>
                </a:lnTo>
                <a:lnTo>
                  <a:pt x="36125" y="250334"/>
                </a:lnTo>
                <a:lnTo>
                  <a:pt x="69514" y="274960"/>
                </a:lnTo>
                <a:lnTo>
                  <a:pt x="90043" y="282320"/>
                </a:lnTo>
                <a:lnTo>
                  <a:pt x="93599" y="270890"/>
                </a:lnTo>
                <a:lnTo>
                  <a:pt x="77531" y="263773"/>
                </a:lnTo>
                <a:lnTo>
                  <a:pt x="63642" y="253857"/>
                </a:lnTo>
                <a:lnTo>
                  <a:pt x="35210" y="207603"/>
                </a:lnTo>
                <a:lnTo>
                  <a:pt x="26828" y="164689"/>
                </a:lnTo>
                <a:lnTo>
                  <a:pt x="25781" y="139826"/>
                </a:lnTo>
                <a:lnTo>
                  <a:pt x="26828" y="115679"/>
                </a:lnTo>
                <a:lnTo>
                  <a:pt x="35210" y="73908"/>
                </a:lnTo>
                <a:lnTo>
                  <a:pt x="63754" y="28416"/>
                </a:lnTo>
                <a:lnTo>
                  <a:pt x="94107" y="11429"/>
                </a:lnTo>
                <a:lnTo>
                  <a:pt x="900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txBox="1"/>
          <p:nvPr/>
        </p:nvSpPr>
        <p:spPr>
          <a:xfrm>
            <a:off x="1965198" y="3655314"/>
            <a:ext cx="4163060" cy="391160"/>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tab pos="456565" algn="l"/>
                <a:tab pos="1304290" algn="l"/>
                <a:tab pos="2040255" algn="l"/>
                <a:tab pos="2870835" algn="l"/>
              </a:tabLst>
              <a:defRPr/>
            </a:pPr>
            <a:r>
              <a:rPr kumimoji="0" sz="24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0"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𝑑𝐵𝑚</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135"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0</a:t>
            </a:r>
            <a:r>
              <a:rPr kumimoji="0" sz="2625" b="0" i="0" u="none" strike="noStrike" kern="0" cap="none" spc="0"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𝑑𝐵𝑚</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5" normalizeH="0" baseline="0" noProof="0" dirty="0">
                <a:ln>
                  <a:noFill/>
                </a:ln>
                <a:solidFill>
                  <a:sysClr val="windowText" lastClr="000000"/>
                </a:solidFill>
                <a:effectLst/>
                <a:uLnTx/>
                <a:uFillTx/>
                <a:latin typeface="Cambria Math"/>
                <a:cs typeface="Cambria Math"/>
              </a:rPr>
              <a:t> </a:t>
            </a:r>
            <a:r>
              <a:rPr kumimoji="0" sz="2400" b="0" i="0" u="none" strike="noStrike" kern="0" cap="none" spc="-10" normalizeH="0" baseline="0" noProof="0" dirty="0">
                <a:ln>
                  <a:noFill/>
                </a:ln>
                <a:solidFill>
                  <a:sysClr val="windowText" lastClr="000000"/>
                </a:solidFill>
                <a:effectLst/>
                <a:uLnTx/>
                <a:uFillTx/>
                <a:latin typeface="Cambria Math"/>
                <a:cs typeface="Cambria Math"/>
              </a:rPr>
              <a:t>10𝑛𝑙𝑜𝑔</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4" name="object 14"/>
          <p:cNvSpPr/>
          <p:nvPr/>
        </p:nvSpPr>
        <p:spPr>
          <a:xfrm>
            <a:off x="6168266" y="3496055"/>
            <a:ext cx="617220" cy="777240"/>
          </a:xfrm>
          <a:custGeom>
            <a:avLst/>
            <a:gdLst/>
            <a:ahLst/>
            <a:cxnLst/>
            <a:rect l="l" t="t" r="r" b="b"/>
            <a:pathLst>
              <a:path w="617220" h="777239">
                <a:moveTo>
                  <a:pt x="483993" y="0"/>
                </a:moveTo>
                <a:lnTo>
                  <a:pt x="477008" y="11176"/>
                </a:lnTo>
                <a:lnTo>
                  <a:pt x="501799" y="40919"/>
                </a:lnTo>
                <a:lnTo>
                  <a:pt x="523601" y="76438"/>
                </a:lnTo>
                <a:lnTo>
                  <a:pt x="542427" y="117742"/>
                </a:lnTo>
                <a:lnTo>
                  <a:pt x="558288" y="164846"/>
                </a:lnTo>
                <a:lnTo>
                  <a:pt x="570863" y="216324"/>
                </a:lnTo>
                <a:lnTo>
                  <a:pt x="579830" y="270732"/>
                </a:lnTo>
                <a:lnTo>
                  <a:pt x="585202" y="328044"/>
                </a:lnTo>
                <a:lnTo>
                  <a:pt x="586990" y="388239"/>
                </a:lnTo>
                <a:lnTo>
                  <a:pt x="585204" y="447363"/>
                </a:lnTo>
                <a:lnTo>
                  <a:pt x="579846" y="504142"/>
                </a:lnTo>
                <a:lnTo>
                  <a:pt x="570916" y="558563"/>
                </a:lnTo>
                <a:lnTo>
                  <a:pt x="558415" y="610616"/>
                </a:lnTo>
                <a:lnTo>
                  <a:pt x="542623" y="658552"/>
                </a:lnTo>
                <a:lnTo>
                  <a:pt x="523807" y="700452"/>
                </a:lnTo>
                <a:lnTo>
                  <a:pt x="501943" y="736328"/>
                </a:lnTo>
                <a:lnTo>
                  <a:pt x="477008" y="766191"/>
                </a:lnTo>
                <a:lnTo>
                  <a:pt x="483993" y="777240"/>
                </a:lnTo>
                <a:lnTo>
                  <a:pt x="513050" y="747827"/>
                </a:lnTo>
                <a:lnTo>
                  <a:pt x="538904" y="711771"/>
                </a:lnTo>
                <a:lnTo>
                  <a:pt x="561592" y="669047"/>
                </a:lnTo>
                <a:lnTo>
                  <a:pt x="581148" y="619633"/>
                </a:lnTo>
                <a:lnTo>
                  <a:pt x="594103" y="576657"/>
                </a:lnTo>
                <a:lnTo>
                  <a:pt x="604168" y="532011"/>
                </a:lnTo>
                <a:lnTo>
                  <a:pt x="611350" y="485700"/>
                </a:lnTo>
                <a:lnTo>
                  <a:pt x="615655" y="437732"/>
                </a:lnTo>
                <a:lnTo>
                  <a:pt x="617085" y="388239"/>
                </a:lnTo>
                <a:lnTo>
                  <a:pt x="615655" y="337878"/>
                </a:lnTo>
                <a:lnTo>
                  <a:pt x="611350" y="289584"/>
                </a:lnTo>
                <a:lnTo>
                  <a:pt x="604168" y="243216"/>
                </a:lnTo>
                <a:lnTo>
                  <a:pt x="594103" y="198762"/>
                </a:lnTo>
                <a:lnTo>
                  <a:pt x="581148" y="156210"/>
                </a:lnTo>
                <a:lnTo>
                  <a:pt x="561592" y="107513"/>
                </a:lnTo>
                <a:lnTo>
                  <a:pt x="538904" y="65246"/>
                </a:lnTo>
                <a:lnTo>
                  <a:pt x="513050" y="29408"/>
                </a:lnTo>
                <a:lnTo>
                  <a:pt x="483993" y="0"/>
                </a:lnTo>
                <a:close/>
              </a:path>
              <a:path w="617220" h="777239">
                <a:moveTo>
                  <a:pt x="133092" y="0"/>
                </a:moveTo>
                <a:lnTo>
                  <a:pt x="104035" y="29408"/>
                </a:lnTo>
                <a:lnTo>
                  <a:pt x="78180" y="65246"/>
                </a:lnTo>
                <a:lnTo>
                  <a:pt x="55493" y="107513"/>
                </a:lnTo>
                <a:lnTo>
                  <a:pt x="35937" y="156210"/>
                </a:lnTo>
                <a:lnTo>
                  <a:pt x="22982" y="198762"/>
                </a:lnTo>
                <a:lnTo>
                  <a:pt x="12916" y="243216"/>
                </a:lnTo>
                <a:lnTo>
                  <a:pt x="5734" y="289584"/>
                </a:lnTo>
                <a:lnTo>
                  <a:pt x="1429" y="337878"/>
                </a:lnTo>
                <a:lnTo>
                  <a:pt x="0" y="388239"/>
                </a:lnTo>
                <a:lnTo>
                  <a:pt x="1429" y="437732"/>
                </a:lnTo>
                <a:lnTo>
                  <a:pt x="5734" y="485700"/>
                </a:lnTo>
                <a:lnTo>
                  <a:pt x="12916" y="532011"/>
                </a:lnTo>
                <a:lnTo>
                  <a:pt x="22982" y="576657"/>
                </a:lnTo>
                <a:lnTo>
                  <a:pt x="35937" y="619633"/>
                </a:lnTo>
                <a:lnTo>
                  <a:pt x="55493" y="669047"/>
                </a:lnTo>
                <a:lnTo>
                  <a:pt x="78180" y="711771"/>
                </a:lnTo>
                <a:lnTo>
                  <a:pt x="104035" y="747827"/>
                </a:lnTo>
                <a:lnTo>
                  <a:pt x="133092" y="777240"/>
                </a:lnTo>
                <a:lnTo>
                  <a:pt x="140077" y="766191"/>
                </a:lnTo>
                <a:lnTo>
                  <a:pt x="115141" y="736328"/>
                </a:lnTo>
                <a:lnTo>
                  <a:pt x="93277" y="700452"/>
                </a:lnTo>
                <a:lnTo>
                  <a:pt x="74461" y="658552"/>
                </a:lnTo>
                <a:lnTo>
                  <a:pt x="58670" y="610616"/>
                </a:lnTo>
                <a:lnTo>
                  <a:pt x="46168" y="558563"/>
                </a:lnTo>
                <a:lnTo>
                  <a:pt x="37239" y="504142"/>
                </a:lnTo>
                <a:lnTo>
                  <a:pt x="31881" y="447363"/>
                </a:lnTo>
                <a:lnTo>
                  <a:pt x="30095" y="388239"/>
                </a:lnTo>
                <a:lnTo>
                  <a:pt x="31881" y="328044"/>
                </a:lnTo>
                <a:lnTo>
                  <a:pt x="37239" y="270732"/>
                </a:lnTo>
                <a:lnTo>
                  <a:pt x="46168" y="216324"/>
                </a:lnTo>
                <a:lnTo>
                  <a:pt x="58670" y="164846"/>
                </a:lnTo>
                <a:lnTo>
                  <a:pt x="74533" y="117742"/>
                </a:lnTo>
                <a:lnTo>
                  <a:pt x="93373" y="76438"/>
                </a:lnTo>
                <a:lnTo>
                  <a:pt x="115213" y="40919"/>
                </a:lnTo>
                <a:lnTo>
                  <a:pt x="140077" y="11176"/>
                </a:lnTo>
                <a:lnTo>
                  <a:pt x="13309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p:cNvSpPr txBox="1"/>
          <p:nvPr/>
        </p:nvSpPr>
        <p:spPr>
          <a:xfrm>
            <a:off x="6372225" y="3424808"/>
            <a:ext cx="20256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𝑑</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6" name="object 16"/>
          <p:cNvSpPr txBox="1"/>
          <p:nvPr/>
        </p:nvSpPr>
        <p:spPr>
          <a:xfrm>
            <a:off x="6306692" y="3859529"/>
            <a:ext cx="20256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𝑑</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7" name="object 17"/>
          <p:cNvSpPr txBox="1"/>
          <p:nvPr/>
        </p:nvSpPr>
        <p:spPr>
          <a:xfrm>
            <a:off x="6483477" y="4004310"/>
            <a:ext cx="154305"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50" normalizeH="0" baseline="0" noProof="0" dirty="0">
                <a:ln>
                  <a:noFill/>
                </a:ln>
                <a:solidFill>
                  <a:sysClr val="windowText" lastClr="000000"/>
                </a:solidFill>
                <a:effectLst/>
                <a:uLnTx/>
                <a:uFillTx/>
                <a:latin typeface="Cambria Math"/>
                <a:cs typeface="Cambria Math"/>
              </a:rPr>
              <a:t>0</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8" name="object 18"/>
          <p:cNvSpPr/>
          <p:nvPr/>
        </p:nvSpPr>
        <p:spPr>
          <a:xfrm>
            <a:off x="6318503" y="3875785"/>
            <a:ext cx="317500" cy="20320"/>
          </a:xfrm>
          <a:custGeom>
            <a:avLst/>
            <a:gdLst/>
            <a:ahLst/>
            <a:cxnLst/>
            <a:rect l="l" t="t" r="r" b="b"/>
            <a:pathLst>
              <a:path w="317500" h="20320">
                <a:moveTo>
                  <a:pt x="316992" y="0"/>
                </a:moveTo>
                <a:lnTo>
                  <a:pt x="0" y="0"/>
                </a:lnTo>
                <a:lnTo>
                  <a:pt x="0" y="19812"/>
                </a:lnTo>
                <a:lnTo>
                  <a:pt x="316992" y="19812"/>
                </a:lnTo>
                <a:lnTo>
                  <a:pt x="31699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p:cNvSpPr txBox="1"/>
          <p:nvPr/>
        </p:nvSpPr>
        <p:spPr>
          <a:xfrm>
            <a:off x="332740" y="4251197"/>
            <a:ext cx="8013700" cy="1233170"/>
          </a:xfrm>
          <a:prstGeom prst="rect">
            <a:avLst/>
          </a:prstGeom>
        </p:spPr>
        <p:txBody>
          <a:bodyPr vert="horz" wrap="square" lIns="0" tIns="12700" rIns="0" bIns="0" rtlCol="0">
            <a:spAutoFit/>
          </a:bodyPr>
          <a:lstStyle/>
          <a:p>
            <a:pPr marL="63500" marR="43180" lvl="0" indent="0" defTabSz="914400" eaLnBrk="1" fontAlgn="auto" latinLnBrk="0" hangingPunct="1">
              <a:lnSpc>
                <a:spcPct val="110000"/>
              </a:lnSpc>
              <a:spcBef>
                <a:spcPts val="100"/>
              </a:spcBef>
              <a:spcAft>
                <a:spcPts val="0"/>
              </a:spcAft>
              <a:buClrTx/>
              <a:buSzTx/>
              <a:buFontTx/>
              <a:buNone/>
              <a:tabLst>
                <a:tab pos="140017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0</a:t>
            </a:r>
            <a:r>
              <a:rPr kumimoji="0" sz="2625" b="0" i="0" u="none" strike="noStrike" kern="0" cap="none" spc="0"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power received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close-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reference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point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far field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region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antenna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small distance </a:t>
            </a:r>
            <a:r>
              <a:rPr kumimoji="0" sz="2400" b="0" i="0" u="none" strike="noStrike" kern="0" cap="none" spc="0" normalizeH="0" baseline="0" noProof="0" dirty="0">
                <a:ln>
                  <a:noFill/>
                </a:ln>
                <a:solidFill>
                  <a:sysClr val="windowText" lastClr="000000"/>
                </a:solidFill>
                <a:effectLst/>
                <a:uLnTx/>
                <a:uFillTx/>
                <a:latin typeface="Cambria Math"/>
                <a:cs typeface="Cambria Math"/>
              </a:rPr>
              <a:t>𝑑</a:t>
            </a:r>
            <a:r>
              <a:rPr kumimoji="0" sz="2625" b="0" i="0" u="none" strike="noStrike" kern="0" cap="none" spc="0" normalizeH="0" baseline="-15873" noProof="0" dirty="0">
                <a:ln>
                  <a:noFill/>
                </a:ln>
                <a:solidFill>
                  <a:sysClr val="windowText" lastClr="000000"/>
                </a:solidFill>
                <a:effectLst/>
                <a:uLnTx/>
                <a:uFillTx/>
                <a:latin typeface="Cambria Math"/>
                <a:cs typeface="Cambria Math"/>
              </a:rPr>
              <a:t>0</a:t>
            </a:r>
            <a:r>
              <a:rPr kumimoji="0" sz="2625" b="0" i="0" u="none" strike="noStrike" kern="0" cap="none" spc="457"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transmitting</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antenna</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path</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loss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exponent.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222</a:t>
            </a:fld>
            <a:endParaRPr kumimoji="0" sz="1200" b="0" i="0" u="none" strike="noStrike" kern="0" cap="none" spc="-25" normalizeH="0" baseline="0" noProof="0" dirty="0">
              <a:ln>
                <a:noFill/>
              </a:ln>
              <a:solidFill>
                <a:srgbClr val="888888"/>
              </a:solidFill>
              <a:effectLst/>
              <a:uLnTx/>
              <a:uFillTx/>
              <a:latin typeface="Arial MT"/>
            </a:endParaRPr>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407664" y="1941829"/>
            <a:ext cx="167640" cy="20320"/>
          </a:xfrm>
          <a:custGeom>
            <a:avLst/>
            <a:gdLst/>
            <a:ahLst/>
            <a:cxnLst/>
            <a:rect l="l" t="t" r="r" b="b"/>
            <a:pathLst>
              <a:path w="167639" h="20319">
                <a:moveTo>
                  <a:pt x="167639" y="0"/>
                </a:moveTo>
                <a:lnTo>
                  <a:pt x="0" y="0"/>
                </a:lnTo>
                <a:lnTo>
                  <a:pt x="0" y="19812"/>
                </a:lnTo>
                <a:lnTo>
                  <a:pt x="167639" y="19812"/>
                </a:lnTo>
                <a:lnTo>
                  <a:pt x="16763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txBox="1">
            <a:spLocks noGrp="1"/>
          </p:cNvSpPr>
          <p:nvPr>
            <p:ph type="title"/>
          </p:nvPr>
        </p:nvSpPr>
        <p:spPr>
          <a:xfrm>
            <a:off x="4400422" y="1379346"/>
            <a:ext cx="586740" cy="391160"/>
          </a:xfrm>
          <a:prstGeom prst="rect">
            <a:avLst/>
          </a:prstGeom>
        </p:spPr>
        <p:txBody>
          <a:bodyPr vert="horz" wrap="square" lIns="0" tIns="12700" rIns="0" bIns="0" rtlCol="0">
            <a:spAutoFit/>
          </a:bodyPr>
          <a:lstStyle/>
          <a:p>
            <a:pPr marL="38100">
              <a:lnSpc>
                <a:spcPct val="100000"/>
              </a:lnSpc>
              <a:spcBef>
                <a:spcPts val="100"/>
              </a:spcBef>
            </a:pPr>
            <a:r>
              <a:rPr sz="3600" b="0" spc="37" baseline="-20833" dirty="0">
                <a:latin typeface="Cambria Math"/>
                <a:cs typeface="Cambria Math"/>
              </a:rPr>
              <a:t>𝑅</a:t>
            </a:r>
            <a:r>
              <a:rPr sz="1750" b="0" spc="25" dirty="0">
                <a:latin typeface="Cambria Math"/>
                <a:cs typeface="Cambria Math"/>
              </a:rPr>
              <a:t>−𝑛</a:t>
            </a:r>
            <a:endParaRPr sz="1750">
              <a:latin typeface="Cambria Math"/>
              <a:cs typeface="Cambria Math"/>
            </a:endParaRPr>
          </a:p>
        </p:txBody>
      </p:sp>
      <p:sp>
        <p:nvSpPr>
          <p:cNvPr id="4" name="object 4"/>
          <p:cNvSpPr txBox="1"/>
          <p:nvPr/>
        </p:nvSpPr>
        <p:spPr>
          <a:xfrm>
            <a:off x="3370198" y="1490598"/>
            <a:ext cx="1043305" cy="737235"/>
          </a:xfrm>
          <a:prstGeom prst="rect">
            <a:avLst/>
          </a:prstGeom>
        </p:spPr>
        <p:txBody>
          <a:bodyPr vert="horz" wrap="square" lIns="0" tIns="12700" rIns="0" bIns="0" rtlCol="0">
            <a:spAutoFit/>
          </a:bodyPr>
          <a:lstStyle/>
          <a:p>
            <a:pPr marL="38100" marR="0" lvl="0" indent="0" defTabSz="914400" eaLnBrk="1" fontAlgn="auto" latinLnBrk="0" hangingPunct="1">
              <a:lnSpc>
                <a:spcPts val="2345"/>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𝑆</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290830" marR="0" lvl="0" indent="0" defTabSz="914400" eaLnBrk="1" fontAlgn="auto" latinLnBrk="0" hangingPunct="1">
              <a:lnSpc>
                <a:spcPts val="1360"/>
              </a:lnSpc>
              <a:spcBef>
                <a:spcPts val="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59055" marR="0" lvl="0" indent="0" defTabSz="914400" eaLnBrk="1" fontAlgn="auto" latinLnBrk="0" hangingPunct="1">
              <a:lnSpc>
                <a:spcPts val="1895"/>
              </a:lnSpc>
              <a:spcBef>
                <a:spcPts val="0"/>
              </a:spcBef>
              <a:spcAft>
                <a:spcPts val="0"/>
              </a:spcAft>
              <a:buClrTx/>
              <a:buSzTx/>
              <a:buFontTx/>
              <a:buNone/>
              <a:tabLst>
                <a:tab pos="601345" algn="l"/>
              </a:tabLst>
              <a:defRPr/>
            </a:pPr>
            <a:r>
              <a:rPr kumimoji="0" sz="3600" b="0" i="0" u="none" strike="noStrike" kern="0" cap="none" spc="-75" normalizeH="0" baseline="-16203" noProof="0" dirty="0">
                <a:ln>
                  <a:noFill/>
                </a:ln>
                <a:solidFill>
                  <a:sysClr val="windowText" lastClr="000000"/>
                </a:solidFill>
                <a:effectLst/>
                <a:uLnTx/>
                <a:uFillTx/>
                <a:latin typeface="Cambria Math"/>
                <a:cs typeface="Cambria Math"/>
              </a:rPr>
              <a:t>𝐼</a:t>
            </a:r>
            <a:r>
              <a:rPr kumimoji="0" sz="3600" b="0" i="0" u="none" strike="noStrike" kern="0" cap="none" spc="0" normalizeH="0" baseline="-16203" noProof="0" dirty="0">
                <a:ln>
                  <a:noFill/>
                </a:ln>
                <a:solidFill>
                  <a:sysClr val="windowText" lastClr="000000"/>
                </a:solidFill>
                <a:effectLst/>
                <a:uLnTx/>
                <a:uFillTx/>
                <a:latin typeface="Cambria Math"/>
                <a:cs typeface="Cambria Math"/>
              </a:rPr>
              <a:t>	</a:t>
            </a:r>
            <a:r>
              <a:rPr kumimoji="0" sz="3600" b="0" i="0" u="none" strike="noStrike" kern="0" cap="none" spc="-37" normalizeH="0" baseline="-27777" noProof="0" dirty="0">
                <a:ln>
                  <a:noFill/>
                </a:ln>
                <a:solidFill>
                  <a:sysClr val="windowText" lastClr="000000"/>
                </a:solidFill>
                <a:effectLst/>
                <a:uLnTx/>
                <a:uFillTx/>
                <a:latin typeface="Cambria Math"/>
                <a:cs typeface="Cambria Math"/>
              </a:rPr>
              <a:t>∑</a:t>
            </a:r>
            <a:r>
              <a:rPr kumimoji="0" sz="1750" b="0" i="0" u="none" strike="noStrike" kern="0" cap="none" spc="-25" normalizeH="0" baseline="0" noProof="0" dirty="0">
                <a:ln>
                  <a:noFill/>
                </a:ln>
                <a:solidFill>
                  <a:sysClr val="windowText" lastClr="000000"/>
                </a:solidFill>
                <a:effectLst/>
                <a:uLnTx/>
                <a:uFillTx/>
                <a:latin typeface="Cambria Math"/>
                <a:cs typeface="Cambria Math"/>
              </a:rPr>
              <a:t>𝑖</a:t>
            </a:r>
            <a:r>
              <a:rPr kumimoji="0" sz="2175" b="0" i="0" u="none" strike="noStrike" kern="0" cap="none" spc="-37" normalizeH="0" baseline="-13409" noProof="0" dirty="0">
                <a:ln>
                  <a:noFill/>
                </a:ln>
                <a:solidFill>
                  <a:sysClr val="windowText" lastClr="000000"/>
                </a:solidFill>
                <a:effectLst/>
                <a:uLnTx/>
                <a:uFillTx/>
                <a:latin typeface="Cambria Math"/>
                <a:cs typeface="Cambria Math"/>
              </a:rPr>
              <a:t>0</a:t>
            </a:r>
            <a:endParaRPr kumimoji="0" sz="2175" b="0" i="0" u="none" strike="noStrike" kern="0" cap="none" spc="0" normalizeH="0" baseline="-13409" noProof="0">
              <a:ln>
                <a:noFill/>
              </a:ln>
              <a:solidFill>
                <a:sysClr val="windowText" lastClr="000000"/>
              </a:solidFill>
              <a:effectLst/>
              <a:uLnTx/>
              <a:uFillTx/>
              <a:latin typeface="Cambria Math"/>
              <a:cs typeface="Cambria Math"/>
            </a:endParaRPr>
          </a:p>
        </p:txBody>
      </p:sp>
      <p:sp>
        <p:nvSpPr>
          <p:cNvPr id="5" name="object 5"/>
          <p:cNvSpPr/>
          <p:nvPr/>
        </p:nvSpPr>
        <p:spPr>
          <a:xfrm>
            <a:off x="4589653" y="2088007"/>
            <a:ext cx="492125" cy="282575"/>
          </a:xfrm>
          <a:custGeom>
            <a:avLst/>
            <a:gdLst/>
            <a:ahLst/>
            <a:cxnLst/>
            <a:rect l="l" t="t" r="r" b="b"/>
            <a:pathLst>
              <a:path w="492125" h="282575">
                <a:moveTo>
                  <a:pt x="401955" y="0"/>
                </a:moveTo>
                <a:lnTo>
                  <a:pt x="398018" y="11429"/>
                </a:lnTo>
                <a:lnTo>
                  <a:pt x="414325" y="18577"/>
                </a:lnTo>
                <a:lnTo>
                  <a:pt x="428371" y="28416"/>
                </a:lnTo>
                <a:lnTo>
                  <a:pt x="456894" y="73908"/>
                </a:lnTo>
                <a:lnTo>
                  <a:pt x="465141" y="115341"/>
                </a:lnTo>
                <a:lnTo>
                  <a:pt x="466217" y="139826"/>
                </a:lnTo>
                <a:lnTo>
                  <a:pt x="465171" y="164689"/>
                </a:lnTo>
                <a:lnTo>
                  <a:pt x="456840" y="207603"/>
                </a:lnTo>
                <a:lnTo>
                  <a:pt x="428418" y="253857"/>
                </a:lnTo>
                <a:lnTo>
                  <a:pt x="398399" y="270890"/>
                </a:lnTo>
                <a:lnTo>
                  <a:pt x="401955" y="282320"/>
                </a:lnTo>
                <a:lnTo>
                  <a:pt x="440451" y="264302"/>
                </a:lnTo>
                <a:lnTo>
                  <a:pt x="468757" y="233044"/>
                </a:lnTo>
                <a:lnTo>
                  <a:pt x="486187" y="191135"/>
                </a:lnTo>
                <a:lnTo>
                  <a:pt x="491998" y="141223"/>
                </a:lnTo>
                <a:lnTo>
                  <a:pt x="490564" y="115679"/>
                </a:lnTo>
                <a:lnTo>
                  <a:pt x="478924" y="69482"/>
                </a:lnTo>
                <a:lnTo>
                  <a:pt x="455801" y="32146"/>
                </a:lnTo>
                <a:lnTo>
                  <a:pt x="422411" y="7381"/>
                </a:lnTo>
                <a:lnTo>
                  <a:pt x="401955" y="0"/>
                </a:lnTo>
                <a:close/>
              </a:path>
              <a:path w="492125" h="282575">
                <a:moveTo>
                  <a:pt x="90043" y="0"/>
                </a:moveTo>
                <a:lnTo>
                  <a:pt x="51641" y="18097"/>
                </a:lnTo>
                <a:lnTo>
                  <a:pt x="23241" y="49529"/>
                </a:lnTo>
                <a:lnTo>
                  <a:pt x="5810" y="91424"/>
                </a:lnTo>
                <a:lnTo>
                  <a:pt x="78" y="139826"/>
                </a:lnTo>
                <a:lnTo>
                  <a:pt x="0" y="141223"/>
                </a:lnTo>
                <a:lnTo>
                  <a:pt x="1452" y="167179"/>
                </a:lnTo>
                <a:lnTo>
                  <a:pt x="13073" y="213090"/>
                </a:lnTo>
                <a:lnTo>
                  <a:pt x="36125" y="250334"/>
                </a:lnTo>
                <a:lnTo>
                  <a:pt x="69514" y="274960"/>
                </a:lnTo>
                <a:lnTo>
                  <a:pt x="90043" y="282320"/>
                </a:lnTo>
                <a:lnTo>
                  <a:pt x="93599" y="270890"/>
                </a:lnTo>
                <a:lnTo>
                  <a:pt x="77531" y="263773"/>
                </a:lnTo>
                <a:lnTo>
                  <a:pt x="63642" y="253857"/>
                </a:lnTo>
                <a:lnTo>
                  <a:pt x="35210" y="207603"/>
                </a:lnTo>
                <a:lnTo>
                  <a:pt x="26828" y="164689"/>
                </a:lnTo>
                <a:lnTo>
                  <a:pt x="25781" y="139826"/>
                </a:lnTo>
                <a:lnTo>
                  <a:pt x="26828" y="115679"/>
                </a:lnTo>
                <a:lnTo>
                  <a:pt x="35210" y="73908"/>
                </a:lnTo>
                <a:lnTo>
                  <a:pt x="63754" y="28416"/>
                </a:lnTo>
                <a:lnTo>
                  <a:pt x="94107" y="11429"/>
                </a:lnTo>
                <a:lnTo>
                  <a:pt x="900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p:nvPr/>
        </p:nvSpPr>
        <p:spPr>
          <a:xfrm>
            <a:off x="4677283" y="1998090"/>
            <a:ext cx="236854"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𝐷</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7" name="object 7"/>
          <p:cNvSpPr txBox="1"/>
          <p:nvPr/>
        </p:nvSpPr>
        <p:spPr>
          <a:xfrm>
            <a:off x="4869307" y="2143124"/>
            <a:ext cx="103505"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10" normalizeH="0" baseline="0" noProof="0" dirty="0">
                <a:ln>
                  <a:noFill/>
                </a:ln>
                <a:solidFill>
                  <a:sysClr val="windowText" lastClr="000000"/>
                </a:solidFill>
                <a:effectLst/>
                <a:uLnTx/>
                <a:uFillTx/>
                <a:latin typeface="Cambria Math"/>
                <a:cs typeface="Cambria Math"/>
              </a:rPr>
              <a:t>𝑖</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8" name="object 8"/>
          <p:cNvSpPr txBox="1"/>
          <p:nvPr/>
        </p:nvSpPr>
        <p:spPr>
          <a:xfrm>
            <a:off x="5096383" y="1988947"/>
            <a:ext cx="332105"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25" normalizeH="0" baseline="0" noProof="0" dirty="0">
                <a:ln>
                  <a:noFill/>
                </a:ln>
                <a:solidFill>
                  <a:sysClr val="windowText" lastClr="000000"/>
                </a:solidFill>
                <a:effectLst/>
                <a:uLnTx/>
                <a:uFillTx/>
                <a:latin typeface="Cambria Math"/>
                <a:cs typeface="Cambria Math"/>
              </a:rPr>
              <a:t>−𝑛</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9" name="object 9"/>
          <p:cNvSpPr txBox="1"/>
          <p:nvPr/>
        </p:nvSpPr>
        <p:spPr>
          <a:xfrm>
            <a:off x="4175886" y="2188844"/>
            <a:ext cx="401320"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25" normalizeH="0" baseline="0" noProof="0" dirty="0">
                <a:ln>
                  <a:noFill/>
                </a:ln>
                <a:solidFill>
                  <a:sysClr val="windowText" lastClr="000000"/>
                </a:solidFill>
                <a:effectLst/>
                <a:uLnTx/>
                <a:uFillTx/>
                <a:latin typeface="Cambria Math"/>
                <a:cs typeface="Cambria Math"/>
              </a:rPr>
              <a:t>𝑖=1</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0" name="object 10"/>
          <p:cNvSpPr/>
          <p:nvPr/>
        </p:nvSpPr>
        <p:spPr>
          <a:xfrm>
            <a:off x="3971544" y="1941829"/>
            <a:ext cx="1458595" cy="20320"/>
          </a:xfrm>
          <a:custGeom>
            <a:avLst/>
            <a:gdLst/>
            <a:ahLst/>
            <a:cxnLst/>
            <a:rect l="l" t="t" r="r" b="b"/>
            <a:pathLst>
              <a:path w="1458595" h="20319">
                <a:moveTo>
                  <a:pt x="1458468" y="0"/>
                </a:moveTo>
                <a:lnTo>
                  <a:pt x="0" y="0"/>
                </a:lnTo>
                <a:lnTo>
                  <a:pt x="0" y="19812"/>
                </a:lnTo>
                <a:lnTo>
                  <a:pt x="1458468" y="19812"/>
                </a:lnTo>
                <a:lnTo>
                  <a:pt x="145846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p:nvPr/>
        </p:nvSpPr>
        <p:spPr>
          <a:xfrm>
            <a:off x="383540" y="2803017"/>
            <a:ext cx="8059420" cy="830580"/>
          </a:xfrm>
          <a:prstGeom prst="rect">
            <a:avLst/>
          </a:prstGeom>
        </p:spPr>
        <p:txBody>
          <a:bodyPr vert="horz" wrap="square" lIns="0" tIns="12700" rIns="0" bIns="0" rtlCol="0">
            <a:spAutoFit/>
          </a:bodyPr>
          <a:lstStyle/>
          <a:p>
            <a:pPr marL="12700" marR="5080" lvl="0" indent="0" defTabSz="914400" eaLnBrk="1" fontAlgn="auto" latinLnBrk="0" hangingPunct="1">
              <a:lnSpc>
                <a:spcPct val="11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interfering</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stations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equidistant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desired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station</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 if this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 equal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between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2" name="object 12"/>
          <p:cNvSpPr txBox="1"/>
          <p:nvPr/>
        </p:nvSpPr>
        <p:spPr>
          <a:xfrm>
            <a:off x="383540" y="3645865"/>
            <a:ext cx="1403985" cy="3917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centers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3" name="object 13"/>
          <p:cNvSpPr/>
          <p:nvPr/>
        </p:nvSpPr>
        <p:spPr>
          <a:xfrm>
            <a:off x="2918460" y="4479290"/>
            <a:ext cx="167640" cy="20320"/>
          </a:xfrm>
          <a:custGeom>
            <a:avLst/>
            <a:gdLst/>
            <a:ahLst/>
            <a:cxnLst/>
            <a:rect l="l" t="t" r="r" b="b"/>
            <a:pathLst>
              <a:path w="167639" h="20320">
                <a:moveTo>
                  <a:pt x="167639" y="0"/>
                </a:moveTo>
                <a:lnTo>
                  <a:pt x="0" y="0"/>
                </a:lnTo>
                <a:lnTo>
                  <a:pt x="0" y="19812"/>
                </a:lnTo>
                <a:lnTo>
                  <a:pt x="167639" y="19812"/>
                </a:lnTo>
                <a:lnTo>
                  <a:pt x="16763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p:nvPr/>
        </p:nvSpPr>
        <p:spPr>
          <a:xfrm>
            <a:off x="3509136" y="4117975"/>
            <a:ext cx="792480" cy="282575"/>
          </a:xfrm>
          <a:custGeom>
            <a:avLst/>
            <a:gdLst/>
            <a:ahLst/>
            <a:cxnLst/>
            <a:rect l="l" t="t" r="r" b="b"/>
            <a:pathLst>
              <a:path w="792479" h="282575">
                <a:moveTo>
                  <a:pt x="702183" y="0"/>
                </a:moveTo>
                <a:lnTo>
                  <a:pt x="698246" y="11430"/>
                </a:lnTo>
                <a:lnTo>
                  <a:pt x="714553" y="18577"/>
                </a:lnTo>
                <a:lnTo>
                  <a:pt x="728599" y="28416"/>
                </a:lnTo>
                <a:lnTo>
                  <a:pt x="757122" y="73908"/>
                </a:lnTo>
                <a:lnTo>
                  <a:pt x="765369" y="115341"/>
                </a:lnTo>
                <a:lnTo>
                  <a:pt x="766445" y="139826"/>
                </a:lnTo>
                <a:lnTo>
                  <a:pt x="765399" y="164689"/>
                </a:lnTo>
                <a:lnTo>
                  <a:pt x="757068" y="207603"/>
                </a:lnTo>
                <a:lnTo>
                  <a:pt x="728646" y="253857"/>
                </a:lnTo>
                <a:lnTo>
                  <a:pt x="698626" y="270891"/>
                </a:lnTo>
                <a:lnTo>
                  <a:pt x="702183" y="282320"/>
                </a:lnTo>
                <a:lnTo>
                  <a:pt x="740679" y="264302"/>
                </a:lnTo>
                <a:lnTo>
                  <a:pt x="768985" y="233044"/>
                </a:lnTo>
                <a:lnTo>
                  <a:pt x="786415" y="191134"/>
                </a:lnTo>
                <a:lnTo>
                  <a:pt x="792226" y="141224"/>
                </a:lnTo>
                <a:lnTo>
                  <a:pt x="790792" y="115679"/>
                </a:lnTo>
                <a:lnTo>
                  <a:pt x="779152" y="69482"/>
                </a:lnTo>
                <a:lnTo>
                  <a:pt x="756029" y="32146"/>
                </a:lnTo>
                <a:lnTo>
                  <a:pt x="722639" y="7381"/>
                </a:lnTo>
                <a:lnTo>
                  <a:pt x="702183" y="0"/>
                </a:lnTo>
                <a:close/>
              </a:path>
              <a:path w="792479" h="282575">
                <a:moveTo>
                  <a:pt x="90042" y="0"/>
                </a:moveTo>
                <a:lnTo>
                  <a:pt x="51641" y="18097"/>
                </a:lnTo>
                <a:lnTo>
                  <a:pt x="23240" y="49530"/>
                </a:lnTo>
                <a:lnTo>
                  <a:pt x="5810" y="91424"/>
                </a:lnTo>
                <a:lnTo>
                  <a:pt x="78" y="139826"/>
                </a:lnTo>
                <a:lnTo>
                  <a:pt x="0" y="141224"/>
                </a:lnTo>
                <a:lnTo>
                  <a:pt x="1452" y="167179"/>
                </a:lnTo>
                <a:lnTo>
                  <a:pt x="13073" y="213090"/>
                </a:lnTo>
                <a:lnTo>
                  <a:pt x="36125" y="250334"/>
                </a:lnTo>
                <a:lnTo>
                  <a:pt x="69514" y="274960"/>
                </a:lnTo>
                <a:lnTo>
                  <a:pt x="90042" y="282320"/>
                </a:lnTo>
                <a:lnTo>
                  <a:pt x="93599" y="270891"/>
                </a:lnTo>
                <a:lnTo>
                  <a:pt x="77531" y="263773"/>
                </a:lnTo>
                <a:lnTo>
                  <a:pt x="63642" y="253857"/>
                </a:lnTo>
                <a:lnTo>
                  <a:pt x="35210" y="207603"/>
                </a:lnTo>
                <a:lnTo>
                  <a:pt x="26828" y="164689"/>
                </a:lnTo>
                <a:lnTo>
                  <a:pt x="25780" y="139826"/>
                </a:lnTo>
                <a:lnTo>
                  <a:pt x="26828" y="115679"/>
                </a:lnTo>
                <a:lnTo>
                  <a:pt x="35210" y="73908"/>
                </a:lnTo>
                <a:lnTo>
                  <a:pt x="63753" y="28416"/>
                </a:lnTo>
                <a:lnTo>
                  <a:pt x="94107" y="11430"/>
                </a:lnTo>
                <a:lnTo>
                  <a:pt x="90042"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p:cNvSpPr txBox="1"/>
          <p:nvPr/>
        </p:nvSpPr>
        <p:spPr>
          <a:xfrm>
            <a:off x="4316095" y="3999738"/>
            <a:ext cx="170180"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80" normalizeH="0" baseline="0" noProof="0" dirty="0">
                <a:ln>
                  <a:noFill/>
                </a:ln>
                <a:solidFill>
                  <a:sysClr val="windowText" lastClr="000000"/>
                </a:solidFill>
                <a:effectLst/>
                <a:uLnTx/>
                <a:uFillTx/>
                <a:latin typeface="Cambria Math"/>
                <a:cs typeface="Cambria Math"/>
              </a:rPr>
              <a:t>𝑛</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6" name="object 16"/>
          <p:cNvSpPr/>
          <p:nvPr/>
        </p:nvSpPr>
        <p:spPr>
          <a:xfrm>
            <a:off x="3482340" y="4479290"/>
            <a:ext cx="1005840" cy="20320"/>
          </a:xfrm>
          <a:custGeom>
            <a:avLst/>
            <a:gdLst/>
            <a:ahLst/>
            <a:cxnLst/>
            <a:rect l="l" t="t" r="r" b="b"/>
            <a:pathLst>
              <a:path w="1005839" h="20320">
                <a:moveTo>
                  <a:pt x="1005839" y="0"/>
                </a:moveTo>
                <a:lnTo>
                  <a:pt x="0" y="0"/>
                </a:lnTo>
                <a:lnTo>
                  <a:pt x="0" y="19812"/>
                </a:lnTo>
                <a:lnTo>
                  <a:pt x="1005839" y="19812"/>
                </a:lnTo>
                <a:lnTo>
                  <a:pt x="100583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txBox="1"/>
          <p:nvPr/>
        </p:nvSpPr>
        <p:spPr>
          <a:xfrm>
            <a:off x="3159379" y="4258817"/>
            <a:ext cx="16554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1414145"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8" name="object 18"/>
          <p:cNvSpPr/>
          <p:nvPr/>
        </p:nvSpPr>
        <p:spPr>
          <a:xfrm>
            <a:off x="4911217" y="4072508"/>
            <a:ext cx="821055" cy="368300"/>
          </a:xfrm>
          <a:custGeom>
            <a:avLst/>
            <a:gdLst/>
            <a:ahLst/>
            <a:cxnLst/>
            <a:rect l="l" t="t" r="r" b="b"/>
            <a:pathLst>
              <a:path w="821054" h="368300">
                <a:moveTo>
                  <a:pt x="100457" y="12192"/>
                </a:moveTo>
                <a:lnTo>
                  <a:pt x="96774" y="0"/>
                </a:lnTo>
                <a:lnTo>
                  <a:pt x="74853" y="8534"/>
                </a:lnTo>
                <a:lnTo>
                  <a:pt x="55626" y="21907"/>
                </a:lnTo>
                <a:lnTo>
                  <a:pt x="25146" y="63246"/>
                </a:lnTo>
                <a:lnTo>
                  <a:pt x="6286" y="119037"/>
                </a:lnTo>
                <a:lnTo>
                  <a:pt x="0" y="184150"/>
                </a:lnTo>
                <a:lnTo>
                  <a:pt x="1498" y="216547"/>
                </a:lnTo>
                <a:lnTo>
                  <a:pt x="14135" y="278345"/>
                </a:lnTo>
                <a:lnTo>
                  <a:pt x="39039" y="328091"/>
                </a:lnTo>
                <a:lnTo>
                  <a:pt x="74853" y="359714"/>
                </a:lnTo>
                <a:lnTo>
                  <a:pt x="96774" y="368300"/>
                </a:lnTo>
                <a:lnTo>
                  <a:pt x="100457" y="355981"/>
                </a:lnTo>
                <a:lnTo>
                  <a:pt x="83540" y="347230"/>
                </a:lnTo>
                <a:lnTo>
                  <a:pt x="68808" y="334479"/>
                </a:lnTo>
                <a:lnTo>
                  <a:pt x="45847" y="297053"/>
                </a:lnTo>
                <a:lnTo>
                  <a:pt x="32016" y="246100"/>
                </a:lnTo>
                <a:lnTo>
                  <a:pt x="27432" y="184277"/>
                </a:lnTo>
                <a:lnTo>
                  <a:pt x="28575" y="151942"/>
                </a:lnTo>
                <a:lnTo>
                  <a:pt x="37769" y="95504"/>
                </a:lnTo>
                <a:lnTo>
                  <a:pt x="56248" y="50609"/>
                </a:lnTo>
                <a:lnTo>
                  <a:pt x="83540" y="21031"/>
                </a:lnTo>
                <a:lnTo>
                  <a:pt x="100457" y="12192"/>
                </a:lnTo>
                <a:close/>
              </a:path>
              <a:path w="821054" h="368300">
                <a:moveTo>
                  <a:pt x="709295" y="4445"/>
                </a:moveTo>
                <a:lnTo>
                  <a:pt x="328422" y="4445"/>
                </a:lnTo>
                <a:lnTo>
                  <a:pt x="328422" y="4191"/>
                </a:lnTo>
                <a:lnTo>
                  <a:pt x="290449" y="4191"/>
                </a:lnTo>
                <a:lnTo>
                  <a:pt x="216916" y="258318"/>
                </a:lnTo>
                <a:lnTo>
                  <a:pt x="164338" y="142748"/>
                </a:lnTo>
                <a:lnTo>
                  <a:pt x="115570" y="165100"/>
                </a:lnTo>
                <a:lnTo>
                  <a:pt x="120142" y="176276"/>
                </a:lnTo>
                <a:lnTo>
                  <a:pt x="145288" y="165100"/>
                </a:lnTo>
                <a:lnTo>
                  <a:pt x="207010" y="297561"/>
                </a:lnTo>
                <a:lnTo>
                  <a:pt x="221361" y="297561"/>
                </a:lnTo>
                <a:lnTo>
                  <a:pt x="301498" y="24003"/>
                </a:lnTo>
                <a:lnTo>
                  <a:pt x="310007" y="24003"/>
                </a:lnTo>
                <a:lnTo>
                  <a:pt x="310007" y="24257"/>
                </a:lnTo>
                <a:lnTo>
                  <a:pt x="709295" y="24257"/>
                </a:lnTo>
                <a:lnTo>
                  <a:pt x="709295" y="4445"/>
                </a:lnTo>
                <a:close/>
              </a:path>
              <a:path w="821054" h="368300">
                <a:moveTo>
                  <a:pt x="820915" y="184277"/>
                </a:moveTo>
                <a:lnTo>
                  <a:pt x="819416" y="151942"/>
                </a:lnTo>
                <a:lnTo>
                  <a:pt x="819353" y="150444"/>
                </a:lnTo>
                <a:lnTo>
                  <a:pt x="814641" y="119037"/>
                </a:lnTo>
                <a:lnTo>
                  <a:pt x="795782" y="63246"/>
                </a:lnTo>
                <a:lnTo>
                  <a:pt x="765302" y="21907"/>
                </a:lnTo>
                <a:lnTo>
                  <a:pt x="724154" y="0"/>
                </a:lnTo>
                <a:lnTo>
                  <a:pt x="720471" y="12192"/>
                </a:lnTo>
                <a:lnTo>
                  <a:pt x="737374" y="21031"/>
                </a:lnTo>
                <a:lnTo>
                  <a:pt x="752106" y="33832"/>
                </a:lnTo>
                <a:lnTo>
                  <a:pt x="775081" y="71374"/>
                </a:lnTo>
                <a:lnTo>
                  <a:pt x="788962" y="122351"/>
                </a:lnTo>
                <a:lnTo>
                  <a:pt x="793610" y="184150"/>
                </a:lnTo>
                <a:lnTo>
                  <a:pt x="792454" y="216547"/>
                </a:lnTo>
                <a:lnTo>
                  <a:pt x="783170" y="272935"/>
                </a:lnTo>
                <a:lnTo>
                  <a:pt x="764667" y="317754"/>
                </a:lnTo>
                <a:lnTo>
                  <a:pt x="737374" y="347230"/>
                </a:lnTo>
                <a:lnTo>
                  <a:pt x="720471" y="355981"/>
                </a:lnTo>
                <a:lnTo>
                  <a:pt x="724154" y="368300"/>
                </a:lnTo>
                <a:lnTo>
                  <a:pt x="765302" y="346303"/>
                </a:lnTo>
                <a:lnTo>
                  <a:pt x="795782" y="305054"/>
                </a:lnTo>
                <a:lnTo>
                  <a:pt x="814628" y="249275"/>
                </a:lnTo>
                <a:lnTo>
                  <a:pt x="819353" y="217868"/>
                </a:lnTo>
                <a:lnTo>
                  <a:pt x="820915" y="18427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p:cNvSpPr txBox="1"/>
          <p:nvPr/>
        </p:nvSpPr>
        <p:spPr>
          <a:xfrm>
            <a:off x="5209413" y="4027170"/>
            <a:ext cx="417830"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Cambria Math"/>
                <a:cs typeface="Cambria Math"/>
              </a:rPr>
              <a:t>3𝑁</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20" name="object 20"/>
          <p:cNvSpPr txBox="1"/>
          <p:nvPr/>
        </p:nvSpPr>
        <p:spPr>
          <a:xfrm>
            <a:off x="5747384" y="3890010"/>
            <a:ext cx="170180"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80" normalizeH="0" baseline="0" noProof="0" dirty="0">
                <a:ln>
                  <a:noFill/>
                </a:ln>
                <a:solidFill>
                  <a:sysClr val="windowText" lastClr="000000"/>
                </a:solidFill>
                <a:effectLst/>
                <a:uLnTx/>
                <a:uFillTx/>
                <a:latin typeface="Cambria Math"/>
                <a:cs typeface="Cambria Math"/>
              </a:rPr>
              <a:t>𝑛</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21" name="object 21"/>
          <p:cNvSpPr txBox="1"/>
          <p:nvPr/>
        </p:nvSpPr>
        <p:spPr>
          <a:xfrm>
            <a:off x="2880614" y="3960114"/>
            <a:ext cx="2691130" cy="894080"/>
          </a:xfrm>
          <a:prstGeom prst="rect">
            <a:avLst/>
          </a:prstGeom>
        </p:spPr>
        <p:txBody>
          <a:bodyPr vert="horz" wrap="square" lIns="0" tIns="81280" rIns="0" bIns="0" rtlCol="0">
            <a:spAutoFit/>
          </a:bodyPr>
          <a:lstStyle/>
          <a:p>
            <a:pPr marL="38100" marR="0" lvl="0" indent="0" defTabSz="914400" eaLnBrk="1" fontAlgn="auto" latinLnBrk="0" hangingPunct="1">
              <a:lnSpc>
                <a:spcPct val="100000"/>
              </a:lnSpc>
              <a:spcBef>
                <a:spcPts val="640"/>
              </a:spcBef>
              <a:spcAft>
                <a:spcPts val="0"/>
              </a:spcAft>
              <a:buClrTx/>
              <a:buSzTx/>
              <a:buFontTx/>
              <a:buNone/>
              <a:tabLst>
                <a:tab pos="728345"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𝑆</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40" normalizeH="0" baseline="0" noProof="0" dirty="0">
                <a:ln>
                  <a:noFill/>
                </a:ln>
                <a:solidFill>
                  <a:sysClr val="windowText" lastClr="000000"/>
                </a:solidFill>
                <a:effectLst/>
                <a:uLnTx/>
                <a:uFillTx/>
                <a:latin typeface="Cambria Math"/>
                <a:cs typeface="Cambria Math"/>
              </a:rPr>
              <a:t>𝐷</a:t>
            </a:r>
            <a:r>
              <a:rPr kumimoji="0" sz="3600" b="0" i="0" u="none" strike="noStrike" kern="0" cap="none" spc="60" normalizeH="0" baseline="2314" noProof="0" dirty="0">
                <a:ln>
                  <a:noFill/>
                </a:ln>
                <a:solidFill>
                  <a:sysClr val="windowText" lastClr="000000"/>
                </a:solidFill>
                <a:effectLst/>
                <a:uLnTx/>
                <a:uFillTx/>
                <a:latin typeface="Cambria Math"/>
                <a:cs typeface="Cambria Math"/>
              </a:rPr>
              <a:t>/</a:t>
            </a:r>
            <a:r>
              <a:rPr kumimoji="0" sz="2400" b="0" i="0" u="none" strike="noStrike" kern="0" cap="none" spc="40" normalizeH="0" baseline="0" noProof="0" dirty="0">
                <a:ln>
                  <a:noFill/>
                </a:ln>
                <a:solidFill>
                  <a:sysClr val="windowText" lastClr="000000"/>
                </a:solidFill>
                <a:effectLst/>
                <a:uLnTx/>
                <a:uFillTx/>
                <a:latin typeface="Cambria Math"/>
                <a:cs typeface="Cambria Math"/>
              </a:rPr>
              <a:t>𝑅</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59055" marR="0" lvl="0" indent="0" defTabSz="914400" eaLnBrk="1" fontAlgn="auto" latinLnBrk="0" hangingPunct="1">
              <a:lnSpc>
                <a:spcPct val="100000"/>
              </a:lnSpc>
              <a:spcBef>
                <a:spcPts val="540"/>
              </a:spcBef>
              <a:spcAft>
                <a:spcPts val="0"/>
              </a:spcAft>
              <a:buClrTx/>
              <a:buSzTx/>
              <a:buFontTx/>
              <a:buNone/>
              <a:tabLst>
                <a:tab pos="986155" algn="l"/>
                <a:tab pos="2402205"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𝐼</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𝑖</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0</a:t>
            </a:r>
            <a:r>
              <a:rPr kumimoji="0" sz="2625" b="0" i="0" u="none" strike="noStrike" kern="0" cap="none" spc="0"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𝑖</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0</a:t>
            </a:r>
            <a:endParaRPr kumimoji="0" sz="2625" b="0" i="0" u="none" strike="noStrike" kern="0" cap="none" spc="0" normalizeH="0" baseline="-15873" noProof="0">
              <a:ln>
                <a:noFill/>
              </a:ln>
              <a:solidFill>
                <a:sysClr val="windowText" lastClr="000000"/>
              </a:solidFill>
              <a:effectLst/>
              <a:uLnTx/>
              <a:uFillTx/>
              <a:latin typeface="Cambria Math"/>
              <a:cs typeface="Cambria Math"/>
            </a:endParaRPr>
          </a:p>
        </p:txBody>
      </p:sp>
      <p:sp>
        <p:nvSpPr>
          <p:cNvPr id="22" name="object 22"/>
          <p:cNvSpPr/>
          <p:nvPr/>
        </p:nvSpPr>
        <p:spPr>
          <a:xfrm>
            <a:off x="4884420" y="4479290"/>
            <a:ext cx="1035050" cy="20320"/>
          </a:xfrm>
          <a:custGeom>
            <a:avLst/>
            <a:gdLst/>
            <a:ahLst/>
            <a:cxnLst/>
            <a:rect l="l" t="t" r="r" b="b"/>
            <a:pathLst>
              <a:path w="1035050" h="20320">
                <a:moveTo>
                  <a:pt x="1034796" y="0"/>
                </a:moveTo>
                <a:lnTo>
                  <a:pt x="0" y="0"/>
                </a:lnTo>
                <a:lnTo>
                  <a:pt x="0" y="19812"/>
                </a:lnTo>
                <a:lnTo>
                  <a:pt x="1034796" y="19812"/>
                </a:lnTo>
                <a:lnTo>
                  <a:pt x="103479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p:cNvSpPr txBox="1"/>
          <p:nvPr/>
        </p:nvSpPr>
        <p:spPr>
          <a:xfrm>
            <a:off x="383540" y="4836414"/>
            <a:ext cx="7344409" cy="720725"/>
          </a:xfrm>
          <a:prstGeom prst="rect">
            <a:avLst/>
          </a:prstGeom>
        </p:spPr>
        <p:txBody>
          <a:bodyPr vert="horz" wrap="square" lIns="0" tIns="53975" rIns="0" bIns="0" rtlCol="0">
            <a:spAutoFit/>
          </a:bodyPr>
          <a:lstStyle/>
          <a:p>
            <a:pPr marL="355600" marR="5080" lvl="0" indent="-342900" defTabSz="914400" eaLnBrk="1" fontAlgn="auto" latinLnBrk="0" hangingPunct="1">
              <a:lnSpc>
                <a:spcPts val="2590"/>
              </a:lnSpc>
              <a:spcBef>
                <a:spcPts val="42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relates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which</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turn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determines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overall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system</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223</a:t>
            </a:fld>
            <a:endParaRPr kumimoji="0" sz="1200" b="0" i="0" u="none" strike="noStrike" kern="0" cap="none" spc="-25" normalizeH="0" baseline="0" noProof="0" dirty="0">
              <a:ln>
                <a:noFill/>
              </a:ln>
              <a:solidFill>
                <a:srgbClr val="888888"/>
              </a:solidFill>
              <a:effectLst/>
              <a:uLnTx/>
              <a:uFillTx/>
              <a:latin typeface="Arial MT"/>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 y="18392"/>
            <a:ext cx="7467600" cy="6839607"/>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224</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9930"/>
            <a:ext cx="565467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worst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case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approximated</a:t>
            </a:r>
            <a:r>
              <a:rPr kumimoji="0" sz="2400" b="0" i="0" u="none" strike="noStrike" kern="0" cap="none" spc="-1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p:nvPr/>
        </p:nvSpPr>
        <p:spPr>
          <a:xfrm>
            <a:off x="1906270" y="1847215"/>
            <a:ext cx="18732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𝑆</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4" name="object 4"/>
          <p:cNvSpPr/>
          <p:nvPr/>
        </p:nvSpPr>
        <p:spPr>
          <a:xfrm>
            <a:off x="1918716" y="2298445"/>
            <a:ext cx="167640" cy="20320"/>
          </a:xfrm>
          <a:custGeom>
            <a:avLst/>
            <a:gdLst/>
            <a:ahLst/>
            <a:cxnLst/>
            <a:rect l="l" t="t" r="r" b="b"/>
            <a:pathLst>
              <a:path w="167639" h="20319">
                <a:moveTo>
                  <a:pt x="167639" y="0"/>
                </a:moveTo>
                <a:lnTo>
                  <a:pt x="0" y="0"/>
                </a:lnTo>
                <a:lnTo>
                  <a:pt x="0" y="19812"/>
                </a:lnTo>
                <a:lnTo>
                  <a:pt x="167639" y="19812"/>
                </a:lnTo>
                <a:lnTo>
                  <a:pt x="16763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4411090" y="1735963"/>
            <a:ext cx="569595"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3600" b="0" i="0" u="none" strike="noStrike" kern="0" cap="none" spc="-37" normalizeH="0" baseline="-20833" noProof="0" dirty="0">
                <a:ln>
                  <a:noFill/>
                </a:ln>
                <a:solidFill>
                  <a:sysClr val="windowText" lastClr="000000"/>
                </a:solidFill>
                <a:effectLst/>
                <a:uLnTx/>
                <a:uFillTx/>
                <a:latin typeface="Cambria Math"/>
                <a:cs typeface="Cambria Math"/>
              </a:rPr>
              <a:t>𝑅</a:t>
            </a:r>
            <a:r>
              <a:rPr kumimoji="0" sz="1750" b="0" i="0" u="none" strike="noStrike" kern="0" cap="none" spc="-25" normalizeH="0" baseline="0" noProof="0" dirty="0">
                <a:ln>
                  <a:noFill/>
                </a:ln>
                <a:solidFill>
                  <a:sysClr val="windowText" lastClr="000000"/>
                </a:solidFill>
                <a:effectLst/>
                <a:uLnTx/>
                <a:uFillTx/>
                <a:latin typeface="Cambria Math"/>
                <a:cs typeface="Cambria Math"/>
              </a:rPr>
              <a:t>−4</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6" name="object 6"/>
          <p:cNvSpPr/>
          <p:nvPr/>
        </p:nvSpPr>
        <p:spPr>
          <a:xfrm>
            <a:off x="2678557" y="2371470"/>
            <a:ext cx="984250" cy="282575"/>
          </a:xfrm>
          <a:custGeom>
            <a:avLst/>
            <a:gdLst/>
            <a:ahLst/>
            <a:cxnLst/>
            <a:rect l="l" t="t" r="r" b="b"/>
            <a:pathLst>
              <a:path w="984250" h="282575">
                <a:moveTo>
                  <a:pt x="894207" y="0"/>
                </a:moveTo>
                <a:lnTo>
                  <a:pt x="890269" y="11429"/>
                </a:lnTo>
                <a:lnTo>
                  <a:pt x="906577" y="18577"/>
                </a:lnTo>
                <a:lnTo>
                  <a:pt x="920622" y="28416"/>
                </a:lnTo>
                <a:lnTo>
                  <a:pt x="949146" y="73908"/>
                </a:lnTo>
                <a:lnTo>
                  <a:pt x="957393" y="115341"/>
                </a:lnTo>
                <a:lnTo>
                  <a:pt x="958469" y="139826"/>
                </a:lnTo>
                <a:lnTo>
                  <a:pt x="957423" y="164689"/>
                </a:lnTo>
                <a:lnTo>
                  <a:pt x="949092" y="207603"/>
                </a:lnTo>
                <a:lnTo>
                  <a:pt x="920670" y="253857"/>
                </a:lnTo>
                <a:lnTo>
                  <a:pt x="890651" y="270890"/>
                </a:lnTo>
                <a:lnTo>
                  <a:pt x="894207" y="282320"/>
                </a:lnTo>
                <a:lnTo>
                  <a:pt x="932703" y="264302"/>
                </a:lnTo>
                <a:lnTo>
                  <a:pt x="961008" y="233044"/>
                </a:lnTo>
                <a:lnTo>
                  <a:pt x="978439" y="191134"/>
                </a:lnTo>
                <a:lnTo>
                  <a:pt x="984250" y="141224"/>
                </a:lnTo>
                <a:lnTo>
                  <a:pt x="982816" y="115679"/>
                </a:lnTo>
                <a:lnTo>
                  <a:pt x="971176" y="69482"/>
                </a:lnTo>
                <a:lnTo>
                  <a:pt x="948053" y="32146"/>
                </a:lnTo>
                <a:lnTo>
                  <a:pt x="914663" y="7381"/>
                </a:lnTo>
                <a:lnTo>
                  <a:pt x="894207" y="0"/>
                </a:lnTo>
                <a:close/>
              </a:path>
              <a:path w="984250" h="282575">
                <a:moveTo>
                  <a:pt x="90043" y="0"/>
                </a:moveTo>
                <a:lnTo>
                  <a:pt x="51641" y="18097"/>
                </a:lnTo>
                <a:lnTo>
                  <a:pt x="23241" y="49529"/>
                </a:lnTo>
                <a:lnTo>
                  <a:pt x="5810" y="91424"/>
                </a:lnTo>
                <a:lnTo>
                  <a:pt x="78" y="139826"/>
                </a:lnTo>
                <a:lnTo>
                  <a:pt x="0" y="141224"/>
                </a:lnTo>
                <a:lnTo>
                  <a:pt x="5810" y="191134"/>
                </a:lnTo>
                <a:lnTo>
                  <a:pt x="23241" y="233044"/>
                </a:lnTo>
                <a:lnTo>
                  <a:pt x="51546" y="264302"/>
                </a:lnTo>
                <a:lnTo>
                  <a:pt x="90043" y="282320"/>
                </a:lnTo>
                <a:lnTo>
                  <a:pt x="93599" y="270890"/>
                </a:lnTo>
                <a:lnTo>
                  <a:pt x="77531" y="263773"/>
                </a:lnTo>
                <a:lnTo>
                  <a:pt x="63642" y="253857"/>
                </a:lnTo>
                <a:lnTo>
                  <a:pt x="35210" y="207603"/>
                </a:lnTo>
                <a:lnTo>
                  <a:pt x="26828" y="164689"/>
                </a:lnTo>
                <a:lnTo>
                  <a:pt x="25781" y="139826"/>
                </a:lnTo>
                <a:lnTo>
                  <a:pt x="26828" y="115679"/>
                </a:lnTo>
                <a:lnTo>
                  <a:pt x="35210" y="73908"/>
                </a:lnTo>
                <a:lnTo>
                  <a:pt x="63753" y="28416"/>
                </a:lnTo>
                <a:lnTo>
                  <a:pt x="94106" y="11429"/>
                </a:lnTo>
                <a:lnTo>
                  <a:pt x="900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4551553" y="2371470"/>
            <a:ext cx="984250" cy="282575"/>
          </a:xfrm>
          <a:custGeom>
            <a:avLst/>
            <a:gdLst/>
            <a:ahLst/>
            <a:cxnLst/>
            <a:rect l="l" t="t" r="r" b="b"/>
            <a:pathLst>
              <a:path w="984250" h="282575">
                <a:moveTo>
                  <a:pt x="894207" y="0"/>
                </a:moveTo>
                <a:lnTo>
                  <a:pt x="890270" y="11429"/>
                </a:lnTo>
                <a:lnTo>
                  <a:pt x="906577" y="18577"/>
                </a:lnTo>
                <a:lnTo>
                  <a:pt x="920623" y="28416"/>
                </a:lnTo>
                <a:lnTo>
                  <a:pt x="949146" y="73908"/>
                </a:lnTo>
                <a:lnTo>
                  <a:pt x="957393" y="115341"/>
                </a:lnTo>
                <a:lnTo>
                  <a:pt x="958469" y="139826"/>
                </a:lnTo>
                <a:lnTo>
                  <a:pt x="957423" y="164689"/>
                </a:lnTo>
                <a:lnTo>
                  <a:pt x="949092" y="207603"/>
                </a:lnTo>
                <a:lnTo>
                  <a:pt x="920670" y="253857"/>
                </a:lnTo>
                <a:lnTo>
                  <a:pt x="890651" y="270890"/>
                </a:lnTo>
                <a:lnTo>
                  <a:pt x="894207" y="282320"/>
                </a:lnTo>
                <a:lnTo>
                  <a:pt x="932703" y="264302"/>
                </a:lnTo>
                <a:lnTo>
                  <a:pt x="961009" y="233044"/>
                </a:lnTo>
                <a:lnTo>
                  <a:pt x="978439" y="191134"/>
                </a:lnTo>
                <a:lnTo>
                  <a:pt x="984250" y="141224"/>
                </a:lnTo>
                <a:lnTo>
                  <a:pt x="982816" y="115679"/>
                </a:lnTo>
                <a:lnTo>
                  <a:pt x="971176" y="69482"/>
                </a:lnTo>
                <a:lnTo>
                  <a:pt x="948053" y="32146"/>
                </a:lnTo>
                <a:lnTo>
                  <a:pt x="914663" y="7381"/>
                </a:lnTo>
                <a:lnTo>
                  <a:pt x="894207" y="0"/>
                </a:lnTo>
                <a:close/>
              </a:path>
              <a:path w="984250" h="282575">
                <a:moveTo>
                  <a:pt x="90043" y="0"/>
                </a:moveTo>
                <a:lnTo>
                  <a:pt x="51641" y="18097"/>
                </a:lnTo>
                <a:lnTo>
                  <a:pt x="23241" y="49529"/>
                </a:lnTo>
                <a:lnTo>
                  <a:pt x="5810" y="91424"/>
                </a:lnTo>
                <a:lnTo>
                  <a:pt x="78" y="139826"/>
                </a:lnTo>
                <a:lnTo>
                  <a:pt x="0" y="141224"/>
                </a:lnTo>
                <a:lnTo>
                  <a:pt x="1452" y="167179"/>
                </a:lnTo>
                <a:lnTo>
                  <a:pt x="13073" y="213090"/>
                </a:lnTo>
                <a:lnTo>
                  <a:pt x="36125" y="250334"/>
                </a:lnTo>
                <a:lnTo>
                  <a:pt x="69514" y="274960"/>
                </a:lnTo>
                <a:lnTo>
                  <a:pt x="90043" y="282320"/>
                </a:lnTo>
                <a:lnTo>
                  <a:pt x="93599" y="270890"/>
                </a:lnTo>
                <a:lnTo>
                  <a:pt x="77531" y="263773"/>
                </a:lnTo>
                <a:lnTo>
                  <a:pt x="63642" y="253857"/>
                </a:lnTo>
                <a:lnTo>
                  <a:pt x="35210" y="207603"/>
                </a:lnTo>
                <a:lnTo>
                  <a:pt x="26828" y="164689"/>
                </a:lnTo>
                <a:lnTo>
                  <a:pt x="25781" y="139826"/>
                </a:lnTo>
                <a:lnTo>
                  <a:pt x="26828" y="115679"/>
                </a:lnTo>
                <a:lnTo>
                  <a:pt x="35210" y="73908"/>
                </a:lnTo>
                <a:lnTo>
                  <a:pt x="63754" y="28416"/>
                </a:lnTo>
                <a:lnTo>
                  <a:pt x="94107" y="11429"/>
                </a:lnTo>
                <a:lnTo>
                  <a:pt x="900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1902205" y="2077592"/>
            <a:ext cx="3564890" cy="595630"/>
          </a:xfrm>
          <a:prstGeom prst="rect">
            <a:avLst/>
          </a:prstGeom>
        </p:spPr>
        <p:txBody>
          <a:bodyPr vert="horz" wrap="square" lIns="0" tIns="12700" rIns="0" bIns="0" rtlCol="0">
            <a:spAutoFit/>
          </a:bodyPr>
          <a:lstStyle/>
          <a:p>
            <a:pPr marL="269240" marR="0" lvl="0" indent="0" defTabSz="914400" eaLnBrk="1" fontAlgn="auto" latinLnBrk="0" hangingPunct="1">
              <a:lnSpc>
                <a:spcPts val="2245"/>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38100" marR="0" lvl="0" indent="0" defTabSz="914400" eaLnBrk="1" fontAlgn="auto" latinLnBrk="0" hangingPunct="1">
              <a:lnSpc>
                <a:spcPts val="2245"/>
              </a:lnSpc>
              <a:spcBef>
                <a:spcPts val="0"/>
              </a:spcBef>
              <a:spcAft>
                <a:spcPts val="0"/>
              </a:spcAft>
              <a:buClrTx/>
              <a:buSzTx/>
              <a:buFontTx/>
              <a:buNone/>
              <a:tabLst>
                <a:tab pos="580390" algn="l"/>
                <a:tab pos="1787525"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𝐼</a:t>
            </a:r>
            <a:r>
              <a:rPr kumimoji="0" sz="2400" b="0" i="0" u="none" strike="noStrike" kern="0" cap="none" spc="0" normalizeH="0" baseline="0" noProof="0" dirty="0">
                <a:ln>
                  <a:noFill/>
                </a:ln>
                <a:solidFill>
                  <a:sysClr val="windowText" lastClr="000000"/>
                </a:solidFill>
                <a:effectLst/>
                <a:uLnTx/>
                <a:uFillTx/>
                <a:latin typeface="Cambria Math"/>
                <a:cs typeface="Cambria Math"/>
              </a:rPr>
              <a:t>	2</a:t>
            </a:r>
            <a:r>
              <a:rPr kumimoji="0" sz="2400" b="0" i="0" u="none" strike="noStrike" kern="0" cap="none" spc="45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𝐷</a:t>
            </a:r>
            <a:r>
              <a:rPr kumimoji="0" sz="2400" b="0" i="0" u="none" strike="noStrike" kern="0" cap="none" spc="7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𝑅</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625" b="0" i="0" u="none" strike="noStrike" kern="0" cap="none" spc="0" normalizeH="0" baseline="22222" noProof="0" dirty="0">
                <a:ln>
                  <a:noFill/>
                </a:ln>
                <a:solidFill>
                  <a:sysClr val="windowText" lastClr="000000"/>
                </a:solidFill>
                <a:effectLst/>
                <a:uLnTx/>
                <a:uFillTx/>
                <a:latin typeface="Cambria Math"/>
                <a:cs typeface="Cambria Math"/>
              </a:rPr>
              <a:t>−4</a:t>
            </a:r>
            <a:r>
              <a:rPr kumimoji="0" sz="2625" b="0" i="0" u="none" strike="noStrike" kern="0" cap="none" spc="345" normalizeH="0" baseline="22222"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+ 2</a:t>
            </a:r>
            <a:r>
              <a:rPr kumimoji="0" sz="2400" b="0" i="0" u="none" strike="noStrike" kern="0" cap="none" spc="45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𝐷</a:t>
            </a:r>
            <a:r>
              <a:rPr kumimoji="0" sz="2400" b="0" i="0" u="none" strike="noStrike" kern="0" cap="none" spc="6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𝑅</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9" name="object 9"/>
          <p:cNvSpPr txBox="1"/>
          <p:nvPr/>
        </p:nvSpPr>
        <p:spPr>
          <a:xfrm>
            <a:off x="5525389" y="2190369"/>
            <a:ext cx="141986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0" normalizeH="0" baseline="0" noProof="0" dirty="0">
                <a:ln>
                  <a:noFill/>
                </a:ln>
                <a:solidFill>
                  <a:sysClr val="windowText" lastClr="000000"/>
                </a:solidFill>
                <a:effectLst/>
                <a:uLnTx/>
                <a:uFillTx/>
                <a:latin typeface="Cambria Math"/>
                <a:cs typeface="Cambria Math"/>
              </a:rPr>
              <a:t>−4</a:t>
            </a:r>
            <a:r>
              <a:rPr kumimoji="0" sz="1750" b="0" i="0" u="none" strike="noStrike" kern="0" cap="none" spc="229" normalizeH="0" baseline="0" noProof="0" dirty="0">
                <a:ln>
                  <a:noFill/>
                </a:ln>
                <a:solidFill>
                  <a:sysClr val="windowText" lastClr="000000"/>
                </a:solidFill>
                <a:effectLst/>
                <a:uLnTx/>
                <a:uFillTx/>
                <a:latin typeface="Cambria Math"/>
                <a:cs typeface="Cambria Math"/>
              </a:rPr>
              <a:t> </a:t>
            </a:r>
            <a:r>
              <a:rPr kumimoji="0" sz="3600" b="0" i="0" u="none" strike="noStrike" kern="0" cap="none" spc="0" normalizeH="0" baseline="-16203" noProof="0" dirty="0">
                <a:ln>
                  <a:noFill/>
                </a:ln>
                <a:solidFill>
                  <a:sysClr val="windowText" lastClr="000000"/>
                </a:solidFill>
                <a:effectLst/>
                <a:uLnTx/>
                <a:uFillTx/>
                <a:latin typeface="Cambria Math"/>
                <a:cs typeface="Cambria Math"/>
              </a:rPr>
              <a:t>+</a:t>
            </a:r>
            <a:r>
              <a:rPr kumimoji="0" sz="3600" b="0" i="0" u="none" strike="noStrike" kern="0" cap="none" spc="-30" normalizeH="0" baseline="-16203" noProof="0" dirty="0">
                <a:ln>
                  <a:noFill/>
                </a:ln>
                <a:solidFill>
                  <a:sysClr val="windowText" lastClr="000000"/>
                </a:solidFill>
                <a:effectLst/>
                <a:uLnTx/>
                <a:uFillTx/>
                <a:latin typeface="Cambria Math"/>
                <a:cs typeface="Cambria Math"/>
              </a:rPr>
              <a:t> 2𝐷</a:t>
            </a:r>
            <a:r>
              <a:rPr kumimoji="0" sz="1750" b="0" i="0" u="none" strike="noStrike" kern="0" cap="none" spc="-20" normalizeH="0" baseline="0" noProof="0" dirty="0">
                <a:ln>
                  <a:noFill/>
                </a:ln>
                <a:solidFill>
                  <a:sysClr val="windowText" lastClr="000000"/>
                </a:solidFill>
                <a:effectLst/>
                <a:uLnTx/>
                <a:uFillTx/>
                <a:latin typeface="Cambria Math"/>
                <a:cs typeface="Cambria Math"/>
              </a:rPr>
              <a:t>−4</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0" name="object 10"/>
          <p:cNvSpPr/>
          <p:nvPr/>
        </p:nvSpPr>
        <p:spPr>
          <a:xfrm>
            <a:off x="2482595" y="2298445"/>
            <a:ext cx="4436745" cy="20320"/>
          </a:xfrm>
          <a:custGeom>
            <a:avLst/>
            <a:gdLst/>
            <a:ahLst/>
            <a:cxnLst/>
            <a:rect l="l" t="t" r="r" b="b"/>
            <a:pathLst>
              <a:path w="4436745" h="20319">
                <a:moveTo>
                  <a:pt x="4436363" y="0"/>
                </a:moveTo>
                <a:lnTo>
                  <a:pt x="0" y="0"/>
                </a:lnTo>
                <a:lnTo>
                  <a:pt x="0" y="19812"/>
                </a:lnTo>
                <a:lnTo>
                  <a:pt x="4436363" y="19812"/>
                </a:lnTo>
                <a:lnTo>
                  <a:pt x="443636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1959864" y="3439921"/>
            <a:ext cx="167640" cy="20320"/>
          </a:xfrm>
          <a:custGeom>
            <a:avLst/>
            <a:gdLst/>
            <a:ahLst/>
            <a:cxnLst/>
            <a:rect l="l" t="t" r="r" b="b"/>
            <a:pathLst>
              <a:path w="167639" h="20320">
                <a:moveTo>
                  <a:pt x="167639" y="0"/>
                </a:moveTo>
                <a:lnTo>
                  <a:pt x="0" y="0"/>
                </a:lnTo>
                <a:lnTo>
                  <a:pt x="0" y="19812"/>
                </a:lnTo>
                <a:lnTo>
                  <a:pt x="167639" y="19812"/>
                </a:lnTo>
                <a:lnTo>
                  <a:pt x="16763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2721229" y="3512946"/>
            <a:ext cx="944880" cy="282575"/>
          </a:xfrm>
          <a:custGeom>
            <a:avLst/>
            <a:gdLst/>
            <a:ahLst/>
            <a:cxnLst/>
            <a:rect l="l" t="t" r="r" b="b"/>
            <a:pathLst>
              <a:path w="944879" h="282575">
                <a:moveTo>
                  <a:pt x="854582" y="0"/>
                </a:moveTo>
                <a:lnTo>
                  <a:pt x="850645" y="11429"/>
                </a:lnTo>
                <a:lnTo>
                  <a:pt x="866953" y="18577"/>
                </a:lnTo>
                <a:lnTo>
                  <a:pt x="880998" y="28416"/>
                </a:lnTo>
                <a:lnTo>
                  <a:pt x="909522" y="73908"/>
                </a:lnTo>
                <a:lnTo>
                  <a:pt x="917769" y="115341"/>
                </a:lnTo>
                <a:lnTo>
                  <a:pt x="918844" y="139826"/>
                </a:lnTo>
                <a:lnTo>
                  <a:pt x="917799" y="164689"/>
                </a:lnTo>
                <a:lnTo>
                  <a:pt x="909468" y="207603"/>
                </a:lnTo>
                <a:lnTo>
                  <a:pt x="881046" y="253857"/>
                </a:lnTo>
                <a:lnTo>
                  <a:pt x="851026" y="270890"/>
                </a:lnTo>
                <a:lnTo>
                  <a:pt x="854582" y="282320"/>
                </a:lnTo>
                <a:lnTo>
                  <a:pt x="893079" y="264302"/>
                </a:lnTo>
                <a:lnTo>
                  <a:pt x="921384" y="233044"/>
                </a:lnTo>
                <a:lnTo>
                  <a:pt x="938815" y="191134"/>
                </a:lnTo>
                <a:lnTo>
                  <a:pt x="944625" y="141223"/>
                </a:lnTo>
                <a:lnTo>
                  <a:pt x="943192" y="115679"/>
                </a:lnTo>
                <a:lnTo>
                  <a:pt x="931552" y="69482"/>
                </a:lnTo>
                <a:lnTo>
                  <a:pt x="908429" y="32146"/>
                </a:lnTo>
                <a:lnTo>
                  <a:pt x="875039" y="7381"/>
                </a:lnTo>
                <a:lnTo>
                  <a:pt x="854582" y="0"/>
                </a:lnTo>
                <a:close/>
              </a:path>
              <a:path w="944879" h="282575">
                <a:moveTo>
                  <a:pt x="90043" y="0"/>
                </a:moveTo>
                <a:lnTo>
                  <a:pt x="51641" y="18097"/>
                </a:lnTo>
                <a:lnTo>
                  <a:pt x="23240" y="49529"/>
                </a:lnTo>
                <a:lnTo>
                  <a:pt x="5810" y="91424"/>
                </a:lnTo>
                <a:lnTo>
                  <a:pt x="78" y="139826"/>
                </a:lnTo>
                <a:lnTo>
                  <a:pt x="0" y="141223"/>
                </a:lnTo>
                <a:lnTo>
                  <a:pt x="5810" y="191135"/>
                </a:lnTo>
                <a:lnTo>
                  <a:pt x="23240" y="233044"/>
                </a:lnTo>
                <a:lnTo>
                  <a:pt x="51546" y="264302"/>
                </a:lnTo>
                <a:lnTo>
                  <a:pt x="90043" y="282320"/>
                </a:lnTo>
                <a:lnTo>
                  <a:pt x="93598" y="270890"/>
                </a:lnTo>
                <a:lnTo>
                  <a:pt x="77531" y="263773"/>
                </a:lnTo>
                <a:lnTo>
                  <a:pt x="63642" y="253857"/>
                </a:lnTo>
                <a:lnTo>
                  <a:pt x="35210" y="207603"/>
                </a:lnTo>
                <a:lnTo>
                  <a:pt x="26828" y="164689"/>
                </a:lnTo>
                <a:lnTo>
                  <a:pt x="25839" y="141223"/>
                </a:lnTo>
                <a:lnTo>
                  <a:pt x="25781" y="139826"/>
                </a:lnTo>
                <a:lnTo>
                  <a:pt x="29972" y="93710"/>
                </a:lnTo>
                <a:lnTo>
                  <a:pt x="42544" y="56261"/>
                </a:lnTo>
                <a:lnTo>
                  <a:pt x="77799" y="18577"/>
                </a:lnTo>
                <a:lnTo>
                  <a:pt x="94106" y="11429"/>
                </a:lnTo>
                <a:lnTo>
                  <a:pt x="900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4553077" y="3512946"/>
            <a:ext cx="946150" cy="282575"/>
          </a:xfrm>
          <a:custGeom>
            <a:avLst/>
            <a:gdLst/>
            <a:ahLst/>
            <a:cxnLst/>
            <a:rect l="l" t="t" r="r" b="b"/>
            <a:pathLst>
              <a:path w="946150" h="282575">
                <a:moveTo>
                  <a:pt x="856107" y="0"/>
                </a:moveTo>
                <a:lnTo>
                  <a:pt x="852170" y="11429"/>
                </a:lnTo>
                <a:lnTo>
                  <a:pt x="868477" y="18577"/>
                </a:lnTo>
                <a:lnTo>
                  <a:pt x="882523" y="28416"/>
                </a:lnTo>
                <a:lnTo>
                  <a:pt x="911046" y="73908"/>
                </a:lnTo>
                <a:lnTo>
                  <a:pt x="919293" y="115341"/>
                </a:lnTo>
                <a:lnTo>
                  <a:pt x="920369" y="139826"/>
                </a:lnTo>
                <a:lnTo>
                  <a:pt x="919323" y="164689"/>
                </a:lnTo>
                <a:lnTo>
                  <a:pt x="910992" y="207603"/>
                </a:lnTo>
                <a:lnTo>
                  <a:pt x="882570" y="253857"/>
                </a:lnTo>
                <a:lnTo>
                  <a:pt x="852551" y="270890"/>
                </a:lnTo>
                <a:lnTo>
                  <a:pt x="856107" y="282320"/>
                </a:lnTo>
                <a:lnTo>
                  <a:pt x="894603" y="264302"/>
                </a:lnTo>
                <a:lnTo>
                  <a:pt x="922909" y="233044"/>
                </a:lnTo>
                <a:lnTo>
                  <a:pt x="940339" y="191134"/>
                </a:lnTo>
                <a:lnTo>
                  <a:pt x="946150" y="141223"/>
                </a:lnTo>
                <a:lnTo>
                  <a:pt x="944716" y="115679"/>
                </a:lnTo>
                <a:lnTo>
                  <a:pt x="933076" y="69482"/>
                </a:lnTo>
                <a:lnTo>
                  <a:pt x="909953" y="32146"/>
                </a:lnTo>
                <a:lnTo>
                  <a:pt x="876563" y="7381"/>
                </a:lnTo>
                <a:lnTo>
                  <a:pt x="856107" y="0"/>
                </a:lnTo>
                <a:close/>
              </a:path>
              <a:path w="946150" h="282575">
                <a:moveTo>
                  <a:pt x="90043" y="0"/>
                </a:moveTo>
                <a:lnTo>
                  <a:pt x="51641" y="18097"/>
                </a:lnTo>
                <a:lnTo>
                  <a:pt x="23240" y="49529"/>
                </a:lnTo>
                <a:lnTo>
                  <a:pt x="5810" y="91424"/>
                </a:lnTo>
                <a:lnTo>
                  <a:pt x="78" y="139826"/>
                </a:lnTo>
                <a:lnTo>
                  <a:pt x="0" y="141223"/>
                </a:lnTo>
                <a:lnTo>
                  <a:pt x="1452" y="167179"/>
                </a:lnTo>
                <a:lnTo>
                  <a:pt x="13073" y="213090"/>
                </a:lnTo>
                <a:lnTo>
                  <a:pt x="36125" y="250334"/>
                </a:lnTo>
                <a:lnTo>
                  <a:pt x="69514" y="274960"/>
                </a:lnTo>
                <a:lnTo>
                  <a:pt x="90043" y="282320"/>
                </a:lnTo>
                <a:lnTo>
                  <a:pt x="93599" y="270890"/>
                </a:lnTo>
                <a:lnTo>
                  <a:pt x="77531" y="263773"/>
                </a:lnTo>
                <a:lnTo>
                  <a:pt x="63642" y="253857"/>
                </a:lnTo>
                <a:lnTo>
                  <a:pt x="35210" y="207603"/>
                </a:lnTo>
                <a:lnTo>
                  <a:pt x="26828" y="164689"/>
                </a:lnTo>
                <a:lnTo>
                  <a:pt x="25781" y="139826"/>
                </a:lnTo>
                <a:lnTo>
                  <a:pt x="26828" y="115679"/>
                </a:lnTo>
                <a:lnTo>
                  <a:pt x="35210" y="73908"/>
                </a:lnTo>
                <a:lnTo>
                  <a:pt x="63754" y="28416"/>
                </a:lnTo>
                <a:lnTo>
                  <a:pt x="94107" y="11429"/>
                </a:lnTo>
                <a:lnTo>
                  <a:pt x="900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p:nvPr/>
        </p:nvSpPr>
        <p:spPr>
          <a:xfrm>
            <a:off x="2525267" y="3439921"/>
            <a:ext cx="4352925" cy="20320"/>
          </a:xfrm>
          <a:custGeom>
            <a:avLst/>
            <a:gdLst/>
            <a:ahLst/>
            <a:cxnLst/>
            <a:rect l="l" t="t" r="r" b="b"/>
            <a:pathLst>
              <a:path w="4352925" h="20320">
                <a:moveTo>
                  <a:pt x="4352543" y="0"/>
                </a:moveTo>
                <a:lnTo>
                  <a:pt x="0" y="0"/>
                </a:lnTo>
                <a:lnTo>
                  <a:pt x="0" y="19812"/>
                </a:lnTo>
                <a:lnTo>
                  <a:pt x="4352543" y="19812"/>
                </a:lnTo>
                <a:lnTo>
                  <a:pt x="435254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p:cNvSpPr txBox="1"/>
          <p:nvPr/>
        </p:nvSpPr>
        <p:spPr>
          <a:xfrm>
            <a:off x="370840" y="2988945"/>
            <a:ext cx="8063230" cy="2749550"/>
          </a:xfrm>
          <a:prstGeom prst="rect">
            <a:avLst/>
          </a:prstGeom>
        </p:spPr>
        <p:txBody>
          <a:bodyPr vert="horz" wrap="square" lIns="0" tIns="12700" rIns="0" bIns="0" rtlCol="0">
            <a:spAutoFit/>
          </a:bodyPr>
          <a:lstStyle/>
          <a:p>
            <a:pPr marL="1588770" marR="0" lvl="0" indent="0" defTabSz="914400" eaLnBrk="1" fontAlgn="auto" latinLnBrk="0" hangingPunct="1">
              <a:lnSpc>
                <a:spcPts val="2345"/>
              </a:lnSpc>
              <a:spcBef>
                <a:spcPts val="100"/>
              </a:spcBef>
              <a:spcAft>
                <a:spcPts val="0"/>
              </a:spcAft>
              <a:buClrTx/>
              <a:buSzTx/>
              <a:buFontTx/>
              <a:buNone/>
              <a:tabLst>
                <a:tab pos="4246880"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𝑆</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1</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1842135" marR="0" lvl="0" indent="0" defTabSz="914400" eaLnBrk="1" fontAlgn="auto" latinLnBrk="0" hangingPunct="1">
              <a:lnSpc>
                <a:spcPts val="1710"/>
              </a:lnSpc>
              <a:spcBef>
                <a:spcPts val="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1610360" marR="0" lvl="0" indent="0" defTabSz="914400" eaLnBrk="1" fontAlgn="auto" latinLnBrk="0" hangingPunct="1">
              <a:lnSpc>
                <a:spcPts val="2245"/>
              </a:lnSpc>
              <a:spcBef>
                <a:spcPts val="0"/>
              </a:spcBef>
              <a:spcAft>
                <a:spcPts val="0"/>
              </a:spcAft>
              <a:buClrTx/>
              <a:buSzTx/>
              <a:buFontTx/>
              <a:buNone/>
              <a:tabLst>
                <a:tab pos="2154555"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𝐼</a:t>
            </a:r>
            <a:r>
              <a:rPr kumimoji="0" sz="2400" b="0" i="0" u="none" strike="noStrike" kern="0" cap="none" spc="0" normalizeH="0" baseline="0" noProof="0" dirty="0">
                <a:ln>
                  <a:noFill/>
                </a:ln>
                <a:solidFill>
                  <a:sysClr val="windowText" lastClr="000000"/>
                </a:solidFill>
                <a:effectLst/>
                <a:uLnTx/>
                <a:uFillTx/>
                <a:latin typeface="Cambria Math"/>
                <a:cs typeface="Cambria Math"/>
              </a:rPr>
              <a:t>	2</a:t>
            </a:r>
            <a:r>
              <a:rPr kumimoji="0" sz="2400" b="0" i="0" u="none" strike="noStrike" kern="0" cap="none" spc="45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𝑄</a:t>
            </a:r>
            <a:r>
              <a:rPr kumimoji="0" sz="2400" b="0" i="0" u="none" strike="noStrike" kern="0" cap="none" spc="6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1</a:t>
            </a:r>
            <a:r>
              <a:rPr kumimoji="0" sz="2400" b="0" i="0" u="none" strike="noStrike" kern="0" cap="none" spc="459" normalizeH="0" baseline="0" noProof="0" dirty="0">
                <a:ln>
                  <a:noFill/>
                </a:ln>
                <a:solidFill>
                  <a:sysClr val="windowText" lastClr="000000"/>
                </a:solidFill>
                <a:effectLst/>
                <a:uLnTx/>
                <a:uFillTx/>
                <a:latin typeface="Cambria Math"/>
                <a:cs typeface="Cambria Math"/>
              </a:rPr>
              <a:t> </a:t>
            </a:r>
            <a:r>
              <a:rPr kumimoji="0" sz="2625" b="0" i="0" u="none" strike="noStrike" kern="0" cap="none" spc="0" normalizeH="0" baseline="22222" noProof="0" dirty="0">
                <a:ln>
                  <a:noFill/>
                </a:ln>
                <a:solidFill>
                  <a:sysClr val="windowText" lastClr="000000"/>
                </a:solidFill>
                <a:effectLst/>
                <a:uLnTx/>
                <a:uFillTx/>
                <a:latin typeface="Cambria Math"/>
                <a:cs typeface="Cambria Math"/>
              </a:rPr>
              <a:t>−4</a:t>
            </a:r>
            <a:r>
              <a:rPr kumimoji="0" sz="2625" b="0" i="0" u="none" strike="noStrike" kern="0" cap="none" spc="352" normalizeH="0" baseline="22222"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2</a:t>
            </a:r>
            <a:r>
              <a:rPr kumimoji="0" sz="2400" b="0" i="0" u="none" strike="noStrike" kern="0" cap="none" spc="459"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𝑄</a:t>
            </a:r>
            <a:r>
              <a:rPr kumimoji="0" sz="2400" b="0" i="0" u="none" strike="noStrike" kern="0" cap="none" spc="7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1</a:t>
            </a:r>
            <a:r>
              <a:rPr kumimoji="0" sz="2400" b="0" i="0" u="none" strike="noStrike" kern="0" cap="none" spc="459" normalizeH="0" baseline="0" noProof="0" dirty="0">
                <a:ln>
                  <a:noFill/>
                </a:ln>
                <a:solidFill>
                  <a:sysClr val="windowText" lastClr="000000"/>
                </a:solidFill>
                <a:effectLst/>
                <a:uLnTx/>
                <a:uFillTx/>
                <a:latin typeface="Cambria Math"/>
                <a:cs typeface="Cambria Math"/>
              </a:rPr>
              <a:t> </a:t>
            </a:r>
            <a:r>
              <a:rPr kumimoji="0" sz="2625" b="0" i="0" u="none" strike="noStrike" kern="0" cap="none" spc="0" normalizeH="0" baseline="22222" noProof="0" dirty="0">
                <a:ln>
                  <a:noFill/>
                </a:ln>
                <a:solidFill>
                  <a:sysClr val="windowText" lastClr="000000"/>
                </a:solidFill>
                <a:effectLst/>
                <a:uLnTx/>
                <a:uFillTx/>
                <a:latin typeface="Cambria Math"/>
                <a:cs typeface="Cambria Math"/>
              </a:rPr>
              <a:t>−4</a:t>
            </a:r>
            <a:r>
              <a:rPr kumimoji="0" sz="2625" b="0" i="0" u="none" strike="noStrike" kern="0" cap="none" spc="352" normalizeH="0" baseline="22222"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5" normalizeH="0" baseline="0" noProof="0" dirty="0">
                <a:ln>
                  <a:noFill/>
                </a:ln>
                <a:solidFill>
                  <a:sysClr val="windowText" lastClr="000000"/>
                </a:solidFill>
                <a:effectLst/>
                <a:uLnTx/>
                <a:uFillTx/>
                <a:latin typeface="Cambria Math"/>
                <a:cs typeface="Cambria Math"/>
              </a:rPr>
              <a:t> </a:t>
            </a:r>
            <a:r>
              <a:rPr kumimoji="0" sz="2400" b="0" i="0" u="none" strike="noStrike" kern="0" cap="none" spc="-20" normalizeH="0" baseline="0" noProof="0" dirty="0">
                <a:ln>
                  <a:noFill/>
                </a:ln>
                <a:solidFill>
                  <a:sysClr val="windowText" lastClr="000000"/>
                </a:solidFill>
                <a:effectLst/>
                <a:uLnTx/>
                <a:uFillTx/>
                <a:latin typeface="Cambria Math"/>
                <a:cs typeface="Cambria Math"/>
              </a:rPr>
              <a:t>2𝑄</a:t>
            </a:r>
            <a:r>
              <a:rPr kumimoji="0" sz="2625" b="0" i="0" u="none" strike="noStrike" kern="0" cap="none" spc="-30" normalizeH="0" baseline="22222" noProof="0" dirty="0">
                <a:ln>
                  <a:noFill/>
                </a:ln>
                <a:solidFill>
                  <a:sysClr val="windowText" lastClr="000000"/>
                </a:solidFill>
                <a:effectLst/>
                <a:uLnTx/>
                <a:uFillTx/>
                <a:latin typeface="Cambria Math"/>
                <a:cs typeface="Cambria Math"/>
              </a:rPr>
              <a:t>−4</a:t>
            </a:r>
            <a:endParaRPr kumimoji="0" sz="2625" b="0" i="0" u="none" strike="noStrike" kern="0" cap="none" spc="0" normalizeH="0" baseline="22222" noProof="0">
              <a:ln>
                <a:noFill/>
              </a:ln>
              <a:solidFill>
                <a:sysClr val="windowText" lastClr="000000"/>
              </a:solidFill>
              <a:effectLst/>
              <a:uLnTx/>
              <a:uFillTx/>
              <a:latin typeface="Cambria Math"/>
              <a:cs typeface="Cambria Math"/>
            </a:endParaRPr>
          </a:p>
          <a:p>
            <a:pPr marL="0" marR="0" lvl="0" indent="0" defTabSz="914400" eaLnBrk="1" fontAlgn="auto" latinLnBrk="0" hangingPunct="1">
              <a:lnSpc>
                <a:spcPct val="100000"/>
              </a:lnSpc>
              <a:spcBef>
                <a:spcPts val="850"/>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368300" marR="374650" lvl="0" indent="-342900" defTabSz="914400" eaLnBrk="1" fontAlgn="auto" latinLnBrk="0" hangingPunct="1">
              <a:lnSpc>
                <a:spcPts val="2590"/>
              </a:lnSpc>
              <a:spcBef>
                <a:spcPts val="0"/>
              </a:spcBef>
              <a:spcAft>
                <a:spcPts val="0"/>
              </a:spcAft>
              <a:buClrTx/>
              <a:buSzTx/>
              <a:buFontTx/>
              <a:buNone/>
              <a:tabLst>
                <a:tab pos="1181100" algn="l"/>
                <a:tab pos="464058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N=7,</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Q</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4.6,</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worst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case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S/I</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is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49.56</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(17dB)</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less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than 18dB</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requirement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Hence,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choose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9</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5400" marR="17780" lvl="0" indent="0" defTabSz="914400" eaLnBrk="1" fontAlgn="auto" latinLnBrk="0" hangingPunct="1">
              <a:lnSpc>
                <a:spcPts val="3170"/>
              </a:lnSpc>
              <a:spcBef>
                <a:spcPts val="65"/>
              </a:spcBef>
              <a:spcAft>
                <a:spcPts val="0"/>
              </a:spcAft>
              <a:buClrTx/>
              <a:buSzTx/>
              <a:buFontTx/>
              <a:buNone/>
              <a:tabLst>
                <a:tab pos="69208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entails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significant</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decrease</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1/7</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spectrum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utilization</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1/9</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225</a:t>
            </a:fld>
            <a:endParaRPr kumimoji="0" sz="1200" b="0" i="0" u="none" strike="noStrike" kern="0" cap="none" spc="-25" normalizeH="0" baseline="0" noProof="0" dirty="0">
              <a:ln>
                <a:noFill/>
              </a:ln>
              <a:solidFill>
                <a:srgbClr val="888888"/>
              </a:solidFill>
              <a:effectLst/>
              <a:uLnTx/>
              <a:uFillTx/>
              <a:latin typeface="Arial MT"/>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83942" y="6550673"/>
            <a:ext cx="7060565" cy="53340"/>
            <a:chOff x="2083942" y="6550673"/>
            <a:chExt cx="7060565" cy="53340"/>
          </a:xfrm>
        </p:grpSpPr>
        <p:sp>
          <p:nvSpPr>
            <p:cNvPr id="3" name="object 3"/>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6" name="object 6"/>
          <p:cNvPicPr/>
          <p:nvPr/>
        </p:nvPicPr>
        <p:blipFill>
          <a:blip r:embed="rId2" cstate="print"/>
          <a:stretch>
            <a:fillRect/>
          </a:stretch>
        </p:blipFill>
        <p:spPr>
          <a:xfrm>
            <a:off x="6629400" y="0"/>
            <a:ext cx="2193163" cy="692658"/>
          </a:xfrm>
          <a:prstGeom prst="rect">
            <a:avLst/>
          </a:prstGeom>
        </p:spPr>
      </p:pic>
      <p:grpSp>
        <p:nvGrpSpPr>
          <p:cNvPr id="7" name="object 7"/>
          <p:cNvGrpSpPr/>
          <p:nvPr/>
        </p:nvGrpSpPr>
        <p:grpSpPr>
          <a:xfrm>
            <a:off x="0" y="1295401"/>
            <a:ext cx="7010400" cy="45720"/>
            <a:chOff x="0" y="1295401"/>
            <a:chExt cx="7010400" cy="45720"/>
          </a:xfrm>
        </p:grpSpPr>
        <p:sp>
          <p:nvSpPr>
            <p:cNvPr id="8" name="object 8"/>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 name="object 11"/>
          <p:cNvSpPr txBox="1">
            <a:spLocks noGrp="1"/>
          </p:cNvSpPr>
          <p:nvPr>
            <p:ph type="title"/>
          </p:nvPr>
        </p:nvSpPr>
        <p:spPr>
          <a:xfrm>
            <a:off x="383540" y="1443355"/>
            <a:ext cx="7887970" cy="903605"/>
          </a:xfrm>
          <a:prstGeom prst="rect">
            <a:avLst/>
          </a:prstGeom>
        </p:spPr>
        <p:txBody>
          <a:bodyPr vert="horz" wrap="square" lIns="0" tIns="12700" rIns="0" bIns="0" rtlCol="0">
            <a:spAutoFit/>
          </a:bodyPr>
          <a:lstStyle/>
          <a:p>
            <a:pPr marL="12700" marR="5080">
              <a:lnSpc>
                <a:spcPct val="120000"/>
              </a:lnSpc>
              <a:spcBef>
                <a:spcPts val="100"/>
              </a:spcBef>
              <a:tabLst>
                <a:tab pos="6002655" algn="l"/>
                <a:tab pos="6859270" algn="l"/>
                <a:tab pos="7637145" algn="l"/>
              </a:tabLst>
            </a:pPr>
            <a:r>
              <a:rPr sz="2400" b="0" dirty="0">
                <a:latin typeface="Times New Roman"/>
                <a:cs typeface="Times New Roman"/>
              </a:rPr>
              <a:t>In</a:t>
            </a:r>
            <a:r>
              <a:rPr sz="2400" b="0" spc="-40" dirty="0">
                <a:latin typeface="Times New Roman"/>
                <a:cs typeface="Times New Roman"/>
              </a:rPr>
              <a:t> </a:t>
            </a:r>
            <a:r>
              <a:rPr sz="2400" b="0" dirty="0">
                <a:latin typeface="Times New Roman"/>
                <a:cs typeface="Times New Roman"/>
              </a:rPr>
              <a:t>practice,</a:t>
            </a:r>
            <a:r>
              <a:rPr sz="2400" b="0" spc="-55" dirty="0">
                <a:latin typeface="Times New Roman"/>
                <a:cs typeface="Times New Roman"/>
              </a:rPr>
              <a:t> </a:t>
            </a:r>
            <a:r>
              <a:rPr sz="2400" b="0" dirty="0">
                <a:latin typeface="Times New Roman"/>
                <a:cs typeface="Times New Roman"/>
              </a:rPr>
              <a:t>a</a:t>
            </a:r>
            <a:r>
              <a:rPr sz="2400" b="0" spc="-10" dirty="0">
                <a:latin typeface="Times New Roman"/>
                <a:cs typeface="Times New Roman"/>
              </a:rPr>
              <a:t> </a:t>
            </a:r>
            <a:r>
              <a:rPr sz="2400" b="0" dirty="0">
                <a:latin typeface="Times New Roman"/>
                <a:cs typeface="Times New Roman"/>
              </a:rPr>
              <a:t>capacity</a:t>
            </a:r>
            <a:r>
              <a:rPr sz="2400" b="0" spc="-55" dirty="0">
                <a:latin typeface="Times New Roman"/>
                <a:cs typeface="Times New Roman"/>
              </a:rPr>
              <a:t> </a:t>
            </a:r>
            <a:r>
              <a:rPr sz="2400" b="0" dirty="0">
                <a:latin typeface="Times New Roman"/>
                <a:cs typeface="Times New Roman"/>
              </a:rPr>
              <a:t>reduction</a:t>
            </a:r>
            <a:r>
              <a:rPr sz="2400" b="0" spc="-35" dirty="0">
                <a:latin typeface="Times New Roman"/>
                <a:cs typeface="Times New Roman"/>
              </a:rPr>
              <a:t> </a:t>
            </a:r>
            <a:r>
              <a:rPr sz="2400" b="0" dirty="0">
                <a:latin typeface="Times New Roman"/>
                <a:cs typeface="Times New Roman"/>
              </a:rPr>
              <a:t>of</a:t>
            </a:r>
            <a:r>
              <a:rPr sz="2400" b="0" spc="-30" dirty="0">
                <a:latin typeface="Times New Roman"/>
                <a:cs typeface="Times New Roman"/>
              </a:rPr>
              <a:t> </a:t>
            </a:r>
            <a:r>
              <a:rPr sz="2400" b="0" dirty="0">
                <a:latin typeface="Times New Roman"/>
                <a:cs typeface="Times New Roman"/>
              </a:rPr>
              <a:t>7/9</a:t>
            </a:r>
            <a:r>
              <a:rPr sz="2400" b="0" spc="-5" dirty="0">
                <a:latin typeface="Times New Roman"/>
                <a:cs typeface="Times New Roman"/>
              </a:rPr>
              <a:t> </a:t>
            </a:r>
            <a:r>
              <a:rPr sz="2400" b="0" dirty="0">
                <a:latin typeface="Times New Roman"/>
                <a:cs typeface="Times New Roman"/>
              </a:rPr>
              <a:t>would</a:t>
            </a:r>
            <a:r>
              <a:rPr sz="2400" b="0" spc="-45" dirty="0">
                <a:latin typeface="Times New Roman"/>
                <a:cs typeface="Times New Roman"/>
              </a:rPr>
              <a:t> </a:t>
            </a:r>
            <a:r>
              <a:rPr sz="2400" b="0" dirty="0">
                <a:latin typeface="Times New Roman"/>
                <a:cs typeface="Times New Roman"/>
              </a:rPr>
              <a:t>not</a:t>
            </a:r>
            <a:r>
              <a:rPr sz="2400" b="0" spc="5" dirty="0">
                <a:latin typeface="Times New Roman"/>
                <a:cs typeface="Times New Roman"/>
              </a:rPr>
              <a:t> </a:t>
            </a:r>
            <a:r>
              <a:rPr sz="2400" b="0" dirty="0">
                <a:latin typeface="Times New Roman"/>
                <a:cs typeface="Times New Roman"/>
              </a:rPr>
              <a:t>be</a:t>
            </a:r>
            <a:r>
              <a:rPr sz="2400" b="0" spc="-10" dirty="0">
                <a:latin typeface="Times New Roman"/>
                <a:cs typeface="Times New Roman"/>
              </a:rPr>
              <a:t> tolerable</a:t>
            </a:r>
            <a:r>
              <a:rPr sz="2400" b="0" dirty="0">
                <a:latin typeface="Times New Roman"/>
                <a:cs typeface="Times New Roman"/>
              </a:rPr>
              <a:t>	</a:t>
            </a:r>
            <a:r>
              <a:rPr sz="2400" b="0" spc="-25" dirty="0">
                <a:latin typeface="Times New Roman"/>
                <a:cs typeface="Times New Roman"/>
              </a:rPr>
              <a:t>to </a:t>
            </a:r>
            <a:r>
              <a:rPr sz="2400" b="0" dirty="0">
                <a:latin typeface="Times New Roman"/>
                <a:cs typeface="Times New Roman"/>
              </a:rPr>
              <a:t>accommodate</a:t>
            </a:r>
            <a:r>
              <a:rPr sz="2400" b="0" spc="-75" dirty="0">
                <a:latin typeface="Times New Roman"/>
                <a:cs typeface="Times New Roman"/>
              </a:rPr>
              <a:t> </a:t>
            </a:r>
            <a:r>
              <a:rPr sz="2400" b="0" dirty="0">
                <a:latin typeface="Times New Roman"/>
                <a:cs typeface="Times New Roman"/>
              </a:rPr>
              <a:t>for</a:t>
            </a:r>
            <a:r>
              <a:rPr sz="2400" b="0" spc="-15" dirty="0">
                <a:latin typeface="Times New Roman"/>
                <a:cs typeface="Times New Roman"/>
              </a:rPr>
              <a:t> </a:t>
            </a:r>
            <a:r>
              <a:rPr sz="2400" b="0" dirty="0">
                <a:latin typeface="Times New Roman"/>
                <a:cs typeface="Times New Roman"/>
              </a:rPr>
              <a:t>the</a:t>
            </a:r>
            <a:r>
              <a:rPr sz="2400" b="0" spc="-35" dirty="0">
                <a:latin typeface="Times New Roman"/>
                <a:cs typeface="Times New Roman"/>
              </a:rPr>
              <a:t> </a:t>
            </a:r>
            <a:r>
              <a:rPr sz="2400" b="0" dirty="0">
                <a:latin typeface="Times New Roman"/>
                <a:cs typeface="Times New Roman"/>
              </a:rPr>
              <a:t>worst</a:t>
            </a:r>
            <a:r>
              <a:rPr sz="2400" b="0" spc="-40" dirty="0">
                <a:latin typeface="Times New Roman"/>
                <a:cs typeface="Times New Roman"/>
              </a:rPr>
              <a:t> </a:t>
            </a:r>
            <a:r>
              <a:rPr sz="2400" b="0" dirty="0">
                <a:latin typeface="Times New Roman"/>
                <a:cs typeface="Times New Roman"/>
              </a:rPr>
              <a:t>case</a:t>
            </a:r>
            <a:r>
              <a:rPr sz="2400" b="0" spc="-60" dirty="0">
                <a:latin typeface="Times New Roman"/>
                <a:cs typeface="Times New Roman"/>
              </a:rPr>
              <a:t> </a:t>
            </a:r>
            <a:r>
              <a:rPr sz="2400" b="0" dirty="0">
                <a:latin typeface="Times New Roman"/>
                <a:cs typeface="Times New Roman"/>
              </a:rPr>
              <a:t>situation</a:t>
            </a:r>
            <a:r>
              <a:rPr sz="2400" b="0" spc="-45" dirty="0">
                <a:latin typeface="Times New Roman"/>
                <a:cs typeface="Times New Roman"/>
              </a:rPr>
              <a:t> </a:t>
            </a:r>
            <a:r>
              <a:rPr sz="2400" b="0" spc="-10" dirty="0">
                <a:latin typeface="Times New Roman"/>
                <a:cs typeface="Times New Roman"/>
              </a:rPr>
              <a:t>which</a:t>
            </a:r>
            <a:r>
              <a:rPr sz="2400" b="0" dirty="0">
                <a:latin typeface="Times New Roman"/>
                <a:cs typeface="Times New Roman"/>
              </a:rPr>
              <a:t>	</a:t>
            </a:r>
            <a:r>
              <a:rPr sz="2400" b="0" spc="-10" dirty="0">
                <a:latin typeface="Times New Roman"/>
                <a:cs typeface="Times New Roman"/>
              </a:rPr>
              <a:t>rarely</a:t>
            </a:r>
            <a:r>
              <a:rPr sz="2400" b="0" dirty="0">
                <a:latin typeface="Times New Roman"/>
                <a:cs typeface="Times New Roman"/>
              </a:rPr>
              <a:t>	</a:t>
            </a:r>
            <a:r>
              <a:rPr sz="2400" b="0" spc="-10" dirty="0">
                <a:latin typeface="Times New Roman"/>
                <a:cs typeface="Times New Roman"/>
              </a:rPr>
              <a:t>occurs.</a:t>
            </a:r>
            <a:endParaRPr sz="24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226</a:t>
            </a:fld>
            <a:endParaRPr kumimoji="0" sz="1200" b="0" i="0" u="none" strike="noStrike" kern="0" cap="none" spc="-25" normalizeH="0" baseline="0" noProof="0" dirty="0">
              <a:ln>
                <a:noFill/>
              </a:ln>
              <a:solidFill>
                <a:srgbClr val="888888"/>
              </a:solidFill>
              <a:effectLst/>
              <a:uLnTx/>
              <a:uFillTx/>
              <a:latin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31480" cy="2586990"/>
          </a:xfrm>
          <a:prstGeom prst="rect">
            <a:avLst/>
          </a:prstGeom>
        </p:spPr>
        <p:txBody>
          <a:bodyPr vert="horz" wrap="square" lIns="0" tIns="12700" rIns="0" bIns="0" rtlCol="0">
            <a:spAutoFit/>
          </a:bodyPr>
          <a:lstStyle/>
          <a:p>
            <a:pPr marL="355600" marR="5080" lvl="0" indent="-342900" defTabSz="914400" eaLnBrk="1" fontAlgn="auto" latinLnBrk="0" hangingPunct="1">
              <a:lnSpc>
                <a:spcPct val="100000"/>
              </a:lnSpc>
              <a:spcBef>
                <a:spcPts val="100"/>
              </a:spcBef>
              <a:spcAft>
                <a:spcPts val="0"/>
              </a:spcAft>
              <a:buClrTx/>
              <a:buSzTx/>
              <a:buFontTx/>
              <a:buNone/>
              <a:tabLst>
                <a:tab pos="1824355" algn="l"/>
                <a:tab pos="1858010" algn="l"/>
                <a:tab pos="1902460" algn="l"/>
                <a:tab pos="2467610" algn="l"/>
                <a:tab pos="2994025" algn="l"/>
                <a:tab pos="318008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Ex:</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signal-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15</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dB</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required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for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satisfactory</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forward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performance</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what 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frequency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factor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should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maximum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path</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loss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exponent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4,</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3?</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Assume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there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six</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in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first</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tier,</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0"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them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distance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suitable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approximations.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227</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85842" y="6626149"/>
            <a:ext cx="4478020"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20" normalizeH="0" baseline="0" noProof="0" dirty="0">
                <a:ln>
                  <a:noFill/>
                </a:ln>
                <a:solidFill>
                  <a:srgbClr val="0F1141"/>
                </a:solidFill>
                <a:effectLst/>
                <a:uLnTx/>
                <a:uFillTx/>
                <a:latin typeface="Arial MT"/>
                <a:cs typeface="Arial MT"/>
              </a:rPr>
              <a:t>1956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grpSp>
        <p:nvGrpSpPr>
          <p:cNvPr id="3" name="object 3"/>
          <p:cNvGrpSpPr/>
          <p:nvPr/>
        </p:nvGrpSpPr>
        <p:grpSpPr>
          <a:xfrm>
            <a:off x="2083942" y="6550673"/>
            <a:ext cx="7060565" cy="53340"/>
            <a:chOff x="2083942" y="6550673"/>
            <a:chExt cx="7060565" cy="53340"/>
          </a:xfrm>
        </p:grpSpPr>
        <p:sp>
          <p:nvSpPr>
            <p:cNvPr id="4" name="object 4"/>
            <p:cNvSpPr/>
            <p:nvPr/>
          </p:nvSpPr>
          <p:spPr>
            <a:xfrm>
              <a:off x="4630419"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10" name="object 10"/>
          <p:cNvPicPr/>
          <p:nvPr/>
        </p:nvPicPr>
        <p:blipFill>
          <a:blip r:embed="rId2" cstate="print"/>
          <a:stretch>
            <a:fillRect/>
          </a:stretch>
        </p:blipFill>
        <p:spPr>
          <a:xfrm>
            <a:off x="6629400" y="0"/>
            <a:ext cx="2193163" cy="692658"/>
          </a:xfrm>
          <a:prstGeom prst="rect">
            <a:avLst/>
          </a:prstGeom>
        </p:spPr>
      </p:pic>
      <p:grpSp>
        <p:nvGrpSpPr>
          <p:cNvPr id="11" name="object 11"/>
          <p:cNvGrpSpPr/>
          <p:nvPr/>
        </p:nvGrpSpPr>
        <p:grpSpPr>
          <a:xfrm>
            <a:off x="0" y="1295401"/>
            <a:ext cx="7010400" cy="45720"/>
            <a:chOff x="0" y="1295401"/>
            <a:chExt cx="7010400" cy="45720"/>
          </a:xfrm>
        </p:grpSpPr>
        <p:sp>
          <p:nvSpPr>
            <p:cNvPr id="12" name="object 12"/>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5" name="object 15"/>
          <p:cNvSpPr txBox="1"/>
          <p:nvPr/>
        </p:nvSpPr>
        <p:spPr>
          <a:xfrm>
            <a:off x="8868918" y="6176568"/>
            <a:ext cx="19621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rgbClr val="888888"/>
                </a:solidFill>
                <a:effectLst/>
                <a:uLnTx/>
                <a:uFillTx/>
                <a:latin typeface="Arial MT"/>
                <a:cs typeface="Arial MT"/>
              </a:rPr>
              <a:t>19</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sp>
        <p:nvSpPr>
          <p:cNvPr id="16" name="object 16"/>
          <p:cNvSpPr txBox="1"/>
          <p:nvPr/>
        </p:nvSpPr>
        <p:spPr>
          <a:xfrm>
            <a:off x="316484" y="1560702"/>
            <a:ext cx="1153160" cy="4222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600" b="0" i="1" u="none" strike="noStrike" kern="0" cap="none" spc="-10" normalizeH="0" baseline="0" noProof="0" dirty="0">
                <a:ln>
                  <a:noFill/>
                </a:ln>
                <a:solidFill>
                  <a:srgbClr val="0F1141"/>
                </a:solidFill>
                <a:effectLst/>
                <a:uLnTx/>
                <a:uFillTx/>
                <a:latin typeface="Times New Roman"/>
                <a:cs typeface="Times New Roman"/>
              </a:rPr>
              <a:t>(a)</a:t>
            </a:r>
            <a:r>
              <a:rPr kumimoji="0" sz="2600" b="0" i="1" u="none" strike="noStrike" kern="0" cap="none" spc="-145" normalizeH="0" baseline="0" noProof="0" dirty="0">
                <a:ln>
                  <a:noFill/>
                </a:ln>
                <a:solidFill>
                  <a:srgbClr val="0F1141"/>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6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50" normalizeH="0" baseline="0" noProof="0" dirty="0">
                <a:ln>
                  <a:noFill/>
                </a:ln>
                <a:solidFill>
                  <a:sysClr val="windowText" lastClr="000000"/>
                </a:solidFill>
                <a:effectLst/>
                <a:uLnTx/>
                <a:uFillTx/>
                <a:latin typeface="Times New Roman"/>
                <a:cs typeface="Times New Roman"/>
              </a:rPr>
              <a:t>4</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7" name="object 17"/>
          <p:cNvSpPr txBox="1">
            <a:spLocks noGrp="1"/>
          </p:cNvSpPr>
          <p:nvPr>
            <p:ph type="title"/>
          </p:nvPr>
        </p:nvSpPr>
        <p:spPr>
          <a:xfrm>
            <a:off x="482600" y="2033092"/>
            <a:ext cx="5422265" cy="422909"/>
          </a:xfrm>
          <a:prstGeom prst="rect">
            <a:avLst/>
          </a:prstGeom>
        </p:spPr>
        <p:txBody>
          <a:bodyPr vert="horz" wrap="square" lIns="0" tIns="13335" rIns="0" bIns="0" rtlCol="0">
            <a:spAutoFit/>
          </a:bodyPr>
          <a:lstStyle/>
          <a:p>
            <a:pPr marL="12700">
              <a:lnSpc>
                <a:spcPct val="100000"/>
              </a:lnSpc>
              <a:spcBef>
                <a:spcPts val="105"/>
              </a:spcBef>
            </a:pPr>
            <a:r>
              <a:rPr sz="2600" b="0" dirty="0">
                <a:latin typeface="Times New Roman"/>
                <a:cs typeface="Times New Roman"/>
              </a:rPr>
              <a:t>let</a:t>
            </a:r>
            <a:r>
              <a:rPr sz="2600" b="0" spc="-35" dirty="0">
                <a:latin typeface="Times New Roman"/>
                <a:cs typeface="Times New Roman"/>
              </a:rPr>
              <a:t> </a:t>
            </a:r>
            <a:r>
              <a:rPr sz="2600" b="0" dirty="0">
                <a:latin typeface="Times New Roman"/>
                <a:cs typeface="Times New Roman"/>
              </a:rPr>
              <a:t>us</a:t>
            </a:r>
            <a:r>
              <a:rPr sz="2600" b="0" spc="-10" dirty="0">
                <a:latin typeface="Times New Roman"/>
                <a:cs typeface="Times New Roman"/>
              </a:rPr>
              <a:t> </a:t>
            </a:r>
            <a:r>
              <a:rPr sz="2600" b="0" dirty="0">
                <a:latin typeface="Times New Roman"/>
                <a:cs typeface="Times New Roman"/>
              </a:rPr>
              <a:t>consider</a:t>
            </a:r>
            <a:r>
              <a:rPr sz="2600" b="0" spc="-35" dirty="0">
                <a:latin typeface="Times New Roman"/>
                <a:cs typeface="Times New Roman"/>
              </a:rPr>
              <a:t> </a:t>
            </a:r>
            <a:r>
              <a:rPr sz="2600" b="0" dirty="0">
                <a:latin typeface="Times New Roman"/>
                <a:cs typeface="Times New Roman"/>
              </a:rPr>
              <a:t>a</a:t>
            </a:r>
            <a:r>
              <a:rPr sz="2600" b="0" spc="-15" dirty="0">
                <a:latin typeface="Times New Roman"/>
                <a:cs typeface="Times New Roman"/>
              </a:rPr>
              <a:t> </a:t>
            </a:r>
            <a:r>
              <a:rPr sz="2600" b="0" spc="-10" dirty="0">
                <a:latin typeface="Times New Roman"/>
                <a:cs typeface="Times New Roman"/>
              </a:rPr>
              <a:t>seven-</a:t>
            </a:r>
            <a:r>
              <a:rPr sz="2600" b="0" dirty="0">
                <a:latin typeface="Times New Roman"/>
                <a:cs typeface="Times New Roman"/>
              </a:rPr>
              <a:t>cell</a:t>
            </a:r>
            <a:r>
              <a:rPr sz="2600" b="0" spc="-55" dirty="0">
                <a:latin typeface="Times New Roman"/>
                <a:cs typeface="Times New Roman"/>
              </a:rPr>
              <a:t> </a:t>
            </a:r>
            <a:r>
              <a:rPr sz="2600" b="0" dirty="0">
                <a:latin typeface="Times New Roman"/>
                <a:cs typeface="Times New Roman"/>
              </a:rPr>
              <a:t>reuse</a:t>
            </a:r>
            <a:r>
              <a:rPr sz="2600" b="0" spc="-90" dirty="0">
                <a:latin typeface="Times New Roman"/>
                <a:cs typeface="Times New Roman"/>
              </a:rPr>
              <a:t> </a:t>
            </a:r>
            <a:r>
              <a:rPr sz="2600" b="0" spc="-10" dirty="0">
                <a:latin typeface="Times New Roman"/>
                <a:cs typeface="Times New Roman"/>
              </a:rPr>
              <a:t>pattern.</a:t>
            </a:r>
            <a:endParaRPr sz="2600">
              <a:latin typeface="Times New Roman"/>
              <a:cs typeface="Times New Roman"/>
            </a:endParaRPr>
          </a:p>
        </p:txBody>
      </p:sp>
      <p:sp>
        <p:nvSpPr>
          <p:cNvPr id="18" name="object 18"/>
          <p:cNvSpPr txBox="1"/>
          <p:nvPr/>
        </p:nvSpPr>
        <p:spPr>
          <a:xfrm>
            <a:off x="303784" y="2389098"/>
            <a:ext cx="7973059" cy="3391535"/>
          </a:xfrm>
          <a:prstGeom prst="rect">
            <a:avLst/>
          </a:prstGeom>
        </p:spPr>
        <p:txBody>
          <a:bodyPr vert="horz" wrap="square" lIns="0" tIns="12700" rIns="0" bIns="0" rtlCol="0">
            <a:spAutoFit/>
          </a:bodyPr>
          <a:lstStyle/>
          <a:p>
            <a:pPr marL="534035" marR="17780" lvl="0" indent="-342900" defTabSz="914400" eaLnBrk="1" fontAlgn="auto" latinLnBrk="0" hangingPunct="1">
              <a:lnSpc>
                <a:spcPct val="120000"/>
              </a:lnSpc>
              <a:spcBef>
                <a:spcPts val="100"/>
              </a:spcBef>
              <a:spcAft>
                <a:spcPts val="0"/>
              </a:spcAft>
              <a:buClrTx/>
              <a:buSzTx/>
              <a:buFontTx/>
              <a:buNone/>
              <a:tabLst>
                <a:tab pos="7158355" algn="l"/>
              </a:tabLst>
              <a:defRPr/>
            </a:pPr>
            <a:r>
              <a:rPr kumimoji="0" sz="2600" b="0" i="0" u="none" strike="noStrike" kern="0" cap="none" spc="0" normalizeH="0" baseline="0" noProof="0" dirty="0">
                <a:ln>
                  <a:noFill/>
                </a:ln>
                <a:solidFill>
                  <a:sysClr val="windowText" lastClr="000000"/>
                </a:solidFill>
                <a:effectLst/>
                <a:uLnTx/>
                <a:uFillTx/>
                <a:latin typeface="Times New Roman"/>
                <a:cs typeface="Times New Roman"/>
              </a:rPr>
              <a:t>Using</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Eq.</a:t>
            </a:r>
            <a:r>
              <a:rPr kumimoji="0" sz="26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(3.4),</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co-channel</a:t>
            </a:r>
            <a:r>
              <a:rPr kumimoji="0" sz="26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D/R</a:t>
            </a:r>
            <a:r>
              <a:rPr kumimoji="0" sz="26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4.583</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Using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Eq. (3.9),</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signal-to-</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noise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interference</a:t>
            </a:r>
            <a:r>
              <a:rPr kumimoji="0" sz="26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ratio</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764540" marR="0" lvl="0" indent="0" defTabSz="914400" eaLnBrk="1" fontAlgn="auto" latinLnBrk="0" hangingPunct="1">
              <a:lnSpc>
                <a:spcPct val="100000"/>
              </a:lnSpc>
              <a:spcBef>
                <a:spcPts val="1025"/>
              </a:spcBef>
              <a:spcAft>
                <a:spcPts val="0"/>
              </a:spcAft>
              <a:buClrTx/>
              <a:buSzTx/>
              <a:buFontTx/>
              <a:buNone/>
              <a:tabLst/>
              <a:defRPr/>
            </a:pPr>
            <a:r>
              <a:rPr kumimoji="0" sz="275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275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75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75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2750" b="0" i="1" u="none" strike="noStrike" kern="0" cap="none" spc="300"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0" normalizeH="0" baseline="0" noProof="0" dirty="0">
                <a:ln>
                  <a:noFill/>
                </a:ln>
                <a:solidFill>
                  <a:sysClr val="windowText" lastClr="000000"/>
                </a:solidFill>
                <a:effectLst/>
                <a:uLnTx/>
                <a:uFillTx/>
                <a:latin typeface="Symbol"/>
                <a:cs typeface="Symbol"/>
              </a:rPr>
              <a:t></a:t>
            </a:r>
            <a:r>
              <a:rPr kumimoji="0" sz="275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0" normalizeH="0" baseline="0" noProof="0" dirty="0">
                <a:ln>
                  <a:noFill/>
                </a:ln>
                <a:solidFill>
                  <a:sysClr val="windowText" lastClr="000000"/>
                </a:solidFill>
                <a:effectLst/>
                <a:uLnTx/>
                <a:uFillTx/>
                <a:latin typeface="Times New Roman"/>
                <a:cs typeface="Times New Roman"/>
              </a:rPr>
              <a:t>(1/6)</a:t>
            </a:r>
            <a:r>
              <a:rPr kumimoji="0" sz="2750" b="0" i="0" u="none" strike="noStrike" kern="0" cap="none" spc="0" normalizeH="0" baseline="0" noProof="0" dirty="0">
                <a:ln>
                  <a:noFill/>
                </a:ln>
                <a:solidFill>
                  <a:sysClr val="windowText" lastClr="000000"/>
                </a:solidFill>
                <a:effectLst/>
                <a:uLnTx/>
                <a:uFillTx/>
                <a:latin typeface="Symbol"/>
                <a:cs typeface="Symbol"/>
              </a:rPr>
              <a:t></a:t>
            </a:r>
            <a:r>
              <a:rPr kumimoji="0" sz="2750" b="0" i="0" u="none" strike="noStrike" kern="0" cap="none" spc="0" normalizeH="0" baseline="0" noProof="0" dirty="0">
                <a:ln>
                  <a:noFill/>
                </a:ln>
                <a:solidFill>
                  <a:sysClr val="windowText" lastClr="000000"/>
                </a:solidFill>
                <a:effectLst/>
                <a:uLnTx/>
                <a:uFillTx/>
                <a:latin typeface="Times New Roman"/>
                <a:cs typeface="Times New Roman"/>
              </a:rPr>
              <a:t>(4.583)</a:t>
            </a:r>
            <a:r>
              <a:rPr kumimoji="0" sz="2400" b="0" i="0" u="none" strike="noStrike" kern="0" cap="none" spc="0" normalizeH="0" baseline="36458" noProof="0" dirty="0">
                <a:ln>
                  <a:noFill/>
                </a:ln>
                <a:solidFill>
                  <a:sysClr val="windowText" lastClr="000000"/>
                </a:solidFill>
                <a:effectLst/>
                <a:uLnTx/>
                <a:uFillTx/>
                <a:latin typeface="Times New Roman"/>
                <a:cs typeface="Times New Roman"/>
              </a:rPr>
              <a:t>4</a:t>
            </a:r>
            <a:r>
              <a:rPr kumimoji="0" sz="2400" b="0" i="0" u="none" strike="noStrike" kern="0" cap="none" spc="165" normalizeH="0" baseline="36458" noProof="0" dirty="0">
                <a:ln>
                  <a:noFill/>
                </a:ln>
                <a:solidFill>
                  <a:sysClr val="windowText" lastClr="000000"/>
                </a:solidFill>
                <a:effectLst/>
                <a:uLnTx/>
                <a:uFillTx/>
                <a:latin typeface="Times New Roman"/>
                <a:cs typeface="Times New Roman"/>
              </a:rPr>
              <a:t>  </a:t>
            </a:r>
            <a:r>
              <a:rPr kumimoji="0" sz="2750" b="0" i="0" u="none" strike="noStrike" kern="0" cap="none" spc="0" normalizeH="0" baseline="0" noProof="0" dirty="0">
                <a:ln>
                  <a:noFill/>
                </a:ln>
                <a:solidFill>
                  <a:sysClr val="windowText" lastClr="000000"/>
                </a:solidFill>
                <a:effectLst/>
                <a:uLnTx/>
                <a:uFillTx/>
                <a:latin typeface="Symbol"/>
                <a:cs typeface="Symbol"/>
              </a:rPr>
              <a:t></a:t>
            </a:r>
            <a:r>
              <a:rPr kumimoji="0" sz="275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0" normalizeH="0" baseline="0" noProof="0" dirty="0">
                <a:ln>
                  <a:noFill/>
                </a:ln>
                <a:solidFill>
                  <a:sysClr val="windowText" lastClr="000000"/>
                </a:solidFill>
                <a:effectLst/>
                <a:uLnTx/>
                <a:uFillTx/>
                <a:latin typeface="Times New Roman"/>
                <a:cs typeface="Times New Roman"/>
              </a:rPr>
              <a:t>75.3</a:t>
            </a:r>
            <a:r>
              <a:rPr kumimoji="0" sz="275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25" normalizeH="0" baseline="0" noProof="0" dirty="0">
                <a:ln>
                  <a:noFill/>
                </a:ln>
                <a:solidFill>
                  <a:sysClr val="windowText" lastClr="000000"/>
                </a:solidFill>
                <a:effectLst/>
                <a:uLnTx/>
                <a:uFillTx/>
                <a:latin typeface="Symbol"/>
                <a:cs typeface="Symbol"/>
              </a:rPr>
              <a:t></a:t>
            </a:r>
            <a:r>
              <a:rPr kumimoji="0" sz="2750" b="0" i="0" u="none" strike="noStrike" kern="0" cap="none" spc="-325"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10" normalizeH="0" baseline="0" noProof="0" dirty="0">
                <a:ln>
                  <a:noFill/>
                </a:ln>
                <a:solidFill>
                  <a:sysClr val="windowText" lastClr="000000"/>
                </a:solidFill>
                <a:effectLst/>
                <a:uLnTx/>
                <a:uFillTx/>
                <a:latin typeface="Times New Roman"/>
                <a:cs typeface="Times New Roman"/>
              </a:rPr>
              <a:t>18.66</a:t>
            </a:r>
            <a:r>
              <a:rPr kumimoji="0" sz="2750" b="0" i="0" u="none" strike="noStrike" kern="0" cap="none" spc="-220" normalizeH="0" baseline="0" noProof="0" dirty="0">
                <a:ln>
                  <a:noFill/>
                </a:ln>
                <a:solidFill>
                  <a:sysClr val="windowText" lastClr="000000"/>
                </a:solidFill>
                <a:effectLst/>
                <a:uLnTx/>
                <a:uFillTx/>
                <a:latin typeface="Times New Roman"/>
                <a:cs typeface="Times New Roman"/>
              </a:rPr>
              <a:t> </a:t>
            </a:r>
            <a:r>
              <a:rPr kumimoji="0" sz="2750" b="0" i="0" u="none" strike="noStrike" kern="0" cap="none" spc="-25" normalizeH="0" baseline="0" noProof="0" dirty="0">
                <a:ln>
                  <a:noFill/>
                </a:ln>
                <a:solidFill>
                  <a:sysClr val="windowText" lastClr="000000"/>
                </a:solidFill>
                <a:effectLst/>
                <a:uLnTx/>
                <a:uFillTx/>
                <a:latin typeface="Times New Roman"/>
                <a:cs typeface="Times New Roman"/>
              </a:rPr>
              <a:t>dB</a:t>
            </a:r>
            <a:endParaRPr kumimoji="0" sz="2750" b="0" i="0" u="none" strike="noStrike" kern="0" cap="none" spc="0" normalizeH="0" baseline="0" noProof="0">
              <a:ln>
                <a:noFill/>
              </a:ln>
              <a:solidFill>
                <a:sysClr val="windowText" lastClr="000000"/>
              </a:solidFill>
              <a:effectLst/>
              <a:uLnTx/>
              <a:uFillTx/>
              <a:latin typeface="Times New Roman"/>
              <a:cs typeface="Times New Roman"/>
            </a:endParaRPr>
          </a:p>
          <a:p>
            <a:pPr marL="271780" marR="0" lvl="0" indent="0" defTabSz="914400" eaLnBrk="1" fontAlgn="auto" latinLnBrk="0" hangingPunct="1">
              <a:lnSpc>
                <a:spcPct val="100000"/>
              </a:lnSpc>
              <a:spcBef>
                <a:spcPts val="405"/>
              </a:spcBef>
              <a:spcAft>
                <a:spcPts val="0"/>
              </a:spcAft>
              <a:buClrTx/>
              <a:buSzTx/>
              <a:buFontTx/>
              <a:buNone/>
              <a:tabLst/>
              <a:defRPr/>
            </a:pPr>
            <a:r>
              <a:rPr kumimoji="0" sz="26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6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7</a:t>
            </a:r>
            <a:r>
              <a:rPr kumimoji="0" sz="26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6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used.</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25400" marR="0" lvl="0" indent="0" defTabSz="914400" eaLnBrk="1" fontAlgn="auto" latinLnBrk="0" hangingPunct="1">
              <a:lnSpc>
                <a:spcPct val="100000"/>
              </a:lnSpc>
              <a:spcBef>
                <a:spcPts val="600"/>
              </a:spcBef>
              <a:spcAft>
                <a:spcPts val="0"/>
              </a:spcAft>
              <a:buClrTx/>
              <a:buSzTx/>
              <a:buFontTx/>
              <a:buNone/>
              <a:tabLst/>
              <a:defRPr/>
            </a:pPr>
            <a:r>
              <a:rPr kumimoji="0" sz="2600" b="0" i="1" u="none" strike="noStrike" kern="0" cap="none" spc="0" normalizeH="0" baseline="0" noProof="0" dirty="0">
                <a:ln>
                  <a:noFill/>
                </a:ln>
                <a:solidFill>
                  <a:srgbClr val="0F1141"/>
                </a:solidFill>
                <a:effectLst/>
                <a:uLnTx/>
                <a:uFillTx/>
                <a:latin typeface="Times New Roman"/>
                <a:cs typeface="Times New Roman"/>
              </a:rPr>
              <a:t>(b)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6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50" normalizeH="0" baseline="0" noProof="0" dirty="0">
                <a:ln>
                  <a:noFill/>
                </a:ln>
                <a:solidFill>
                  <a:sysClr val="windowText" lastClr="000000"/>
                </a:solidFill>
                <a:effectLst/>
                <a:uLnTx/>
                <a:uFillTx/>
                <a:latin typeface="Times New Roman"/>
                <a:cs typeface="Times New Roman"/>
              </a:rPr>
              <a:t>3</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810260" marR="0" lvl="0" indent="0" defTabSz="914400" eaLnBrk="1" fontAlgn="auto" latinLnBrk="0" hangingPunct="1">
              <a:lnSpc>
                <a:spcPct val="100000"/>
              </a:lnSpc>
              <a:spcBef>
                <a:spcPts val="405"/>
              </a:spcBef>
              <a:spcAft>
                <a:spcPts val="0"/>
              </a:spcAft>
              <a:buClrTx/>
              <a:buSzTx/>
              <a:buFontTx/>
              <a:buNone/>
              <a:tabLst/>
              <a:defRPr/>
            </a:pPr>
            <a:r>
              <a:rPr kumimoji="0" sz="260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26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2600" b="0" i="1" u="none" strike="noStrike" kern="0" cap="none" spc="35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30" normalizeH="0" baseline="0" noProof="0" dirty="0">
                <a:ln>
                  <a:noFill/>
                </a:ln>
                <a:solidFill>
                  <a:sysClr val="windowText" lastClr="000000"/>
                </a:solidFill>
                <a:effectLst/>
                <a:uLnTx/>
                <a:uFillTx/>
                <a:latin typeface="Times New Roman"/>
                <a:cs typeface="Times New Roman"/>
              </a:rPr>
              <a:t>(1/6)</a:t>
            </a:r>
            <a:r>
              <a:rPr kumimoji="0" sz="2600" b="0" i="0" u="none" strike="noStrike" kern="0" cap="none" spc="-38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(4.583)</a:t>
            </a:r>
            <a:r>
              <a:rPr kumimoji="0" sz="2325" b="0" i="0" u="none" strike="noStrike" kern="0" cap="none" spc="0" normalizeH="0" baseline="34050" noProof="0" dirty="0">
                <a:ln>
                  <a:noFill/>
                </a:ln>
                <a:solidFill>
                  <a:sysClr val="windowText" lastClr="000000"/>
                </a:solidFill>
                <a:effectLst/>
                <a:uLnTx/>
                <a:uFillTx/>
                <a:latin typeface="Times New Roman"/>
                <a:cs typeface="Times New Roman"/>
              </a:rPr>
              <a:t>3</a:t>
            </a:r>
            <a:r>
              <a:rPr kumimoji="0" sz="2325" b="0" i="0" u="none" strike="noStrike" kern="0" cap="none" spc="142" normalizeH="0" baseline="3405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26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16.04</a:t>
            </a:r>
            <a:r>
              <a:rPr kumimoji="0" sz="26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254"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12.05dB</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a:p>
            <a:pPr marL="271780" marR="0" lvl="0" indent="0" defTabSz="914400" eaLnBrk="1" fontAlgn="auto" latinLnBrk="0" hangingPunct="1">
              <a:lnSpc>
                <a:spcPct val="100000"/>
              </a:lnSpc>
              <a:spcBef>
                <a:spcPts val="795"/>
              </a:spcBef>
              <a:spcAft>
                <a:spcPts val="0"/>
              </a:spcAft>
              <a:buClrTx/>
              <a:buSzTx/>
              <a:buFontTx/>
              <a:buNone/>
              <a:tabLst/>
              <a:defRPr/>
            </a:pPr>
            <a:r>
              <a:rPr kumimoji="0" sz="2600" b="0" i="0" u="none" strike="noStrike" kern="0" cap="none" spc="0" normalizeH="0" baseline="0" noProof="0" dirty="0">
                <a:ln>
                  <a:noFill/>
                </a:ln>
                <a:solidFill>
                  <a:sysClr val="windowText" lastClr="000000"/>
                </a:solidFill>
                <a:effectLst/>
                <a:uLnTx/>
                <a:uFillTx/>
                <a:latin typeface="Times New Roman"/>
                <a:cs typeface="Times New Roman"/>
              </a:rPr>
              <a:t>when</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6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12,</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6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25" normalizeH="0" baseline="0" noProof="0" dirty="0">
                <a:ln>
                  <a:noFill/>
                </a:ln>
                <a:solidFill>
                  <a:sysClr val="windowText" lastClr="000000"/>
                </a:solidFill>
                <a:effectLst/>
                <a:uLnTx/>
                <a:uFillTx/>
                <a:latin typeface="Times New Roman"/>
                <a:cs typeface="Times New Roman"/>
              </a:rPr>
              <a:t>6.0</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9" name="object 19"/>
          <p:cNvSpPr txBox="1"/>
          <p:nvPr/>
        </p:nvSpPr>
        <p:spPr>
          <a:xfrm>
            <a:off x="1088440" y="5917184"/>
            <a:ext cx="4482465" cy="422275"/>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2600" b="0" i="1" u="none" strike="noStrike" kern="0" cap="none" spc="0" normalizeH="0" baseline="0" noProof="0" dirty="0">
                <a:ln>
                  <a:noFill/>
                </a:ln>
                <a:solidFill>
                  <a:sysClr val="windowText" lastClr="000000"/>
                </a:solidFill>
                <a:effectLst/>
                <a:uLnTx/>
                <a:uFillTx/>
                <a:latin typeface="Times New Roman"/>
                <a:cs typeface="Times New Roman"/>
              </a:rPr>
              <a:t>S</a:t>
            </a:r>
            <a:r>
              <a:rPr kumimoji="0" sz="26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I</a:t>
            </a:r>
            <a:r>
              <a:rPr kumimoji="0" sz="2600" b="0" i="1" u="none" strike="noStrike" kern="0" cap="none" spc="28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30" normalizeH="0" baseline="0" noProof="0" dirty="0">
                <a:ln>
                  <a:noFill/>
                </a:ln>
                <a:solidFill>
                  <a:sysClr val="windowText" lastClr="000000"/>
                </a:solidFill>
                <a:effectLst/>
                <a:uLnTx/>
                <a:uFillTx/>
                <a:latin typeface="Times New Roman"/>
                <a:cs typeface="Times New Roman"/>
              </a:rPr>
              <a:t> (1/6)</a:t>
            </a:r>
            <a:r>
              <a:rPr kumimoji="0" sz="2600" b="0" i="0" u="none" strike="noStrike" kern="0" cap="none" spc="-42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80" normalizeH="0" baseline="0" noProof="0" dirty="0">
                <a:ln>
                  <a:noFill/>
                </a:ln>
                <a:solidFill>
                  <a:sysClr val="windowText" lastClr="000000"/>
                </a:solidFill>
                <a:effectLst/>
                <a:uLnTx/>
                <a:uFillTx/>
                <a:latin typeface="Symbol"/>
                <a:cs typeface="Symbol"/>
              </a:rPr>
              <a:t></a:t>
            </a:r>
            <a:r>
              <a:rPr kumimoji="0" sz="2600" b="0" i="0" u="none" strike="noStrike" kern="0" cap="none" spc="80" normalizeH="0" baseline="0" noProof="0" dirty="0">
                <a:ln>
                  <a:noFill/>
                </a:ln>
                <a:solidFill>
                  <a:sysClr val="windowText" lastClr="000000"/>
                </a:solidFill>
                <a:effectLst/>
                <a:uLnTx/>
                <a:uFillTx/>
                <a:latin typeface="Times New Roman"/>
                <a:cs typeface="Times New Roman"/>
              </a:rPr>
              <a:t>(6)</a:t>
            </a:r>
            <a:r>
              <a:rPr kumimoji="0" sz="2325" b="0" i="0" u="none" strike="noStrike" kern="0" cap="none" spc="120" normalizeH="0" baseline="34050" noProof="0" dirty="0">
                <a:ln>
                  <a:noFill/>
                </a:ln>
                <a:solidFill>
                  <a:sysClr val="windowText" lastClr="000000"/>
                </a:solidFill>
                <a:effectLst/>
                <a:uLnTx/>
                <a:uFillTx/>
                <a:latin typeface="Times New Roman"/>
                <a:cs typeface="Times New Roman"/>
              </a:rPr>
              <a:t>3</a:t>
            </a:r>
            <a:r>
              <a:rPr kumimoji="0" sz="2325" b="0" i="0" u="none" strike="noStrike" kern="0" cap="none" spc="135" normalizeH="0" baseline="3405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36</a:t>
            </a:r>
            <a:r>
              <a:rPr kumimoji="0" sz="26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Symbol"/>
                <a:cs typeface="Symbol"/>
              </a:rPr>
              <a:t></a:t>
            </a:r>
            <a:r>
              <a:rPr kumimoji="0" sz="2600" b="0" i="0" u="none" strike="noStrike" kern="0" cap="none" spc="-29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15.56dB</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20" name="object 20"/>
          <p:cNvSpPr txBox="1"/>
          <p:nvPr/>
        </p:nvSpPr>
        <p:spPr>
          <a:xfrm>
            <a:off x="647191" y="6377432"/>
            <a:ext cx="2456815" cy="4222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600" b="0" i="0" u="none" strike="noStrike" kern="0" cap="none" spc="0" normalizeH="0" baseline="0" noProof="0" dirty="0">
                <a:ln>
                  <a:noFill/>
                </a:ln>
                <a:solidFill>
                  <a:sysClr val="windowText" lastClr="000000"/>
                </a:solidFill>
                <a:effectLst/>
                <a:uLnTx/>
                <a:uFillTx/>
                <a:latin typeface="Times New Roman"/>
                <a:cs typeface="Times New Roman"/>
              </a:rPr>
              <a:t>so,</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6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12</a:t>
            </a:r>
            <a:r>
              <a:rPr kumimoji="0" sz="26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6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600" b="0" i="0" u="none" strike="noStrike" kern="0" cap="none" spc="-10" normalizeH="0" baseline="0" noProof="0" dirty="0">
                <a:ln>
                  <a:noFill/>
                </a:ln>
                <a:solidFill>
                  <a:sysClr val="windowText" lastClr="000000"/>
                </a:solidFill>
                <a:effectLst/>
                <a:uLnTx/>
                <a:uFillTx/>
                <a:latin typeface="Times New Roman"/>
                <a:cs typeface="Times New Roman"/>
              </a:rPr>
              <a:t>used.</a:t>
            </a:r>
            <a:endParaRPr kumimoji="0" sz="26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7893050" cy="3470275"/>
          </a:xfrm>
          <a:prstGeom prst="rect">
            <a:avLst/>
          </a:prstGeom>
        </p:spPr>
        <p:txBody>
          <a:bodyPr vert="horz" wrap="square" lIns="0" tIns="12700" rIns="0" bIns="0" rtlCol="0">
            <a:spAutoFit/>
          </a:bodyPr>
          <a:lstStyle/>
          <a:p>
            <a:pPr marL="280670" marR="118110" lvl="0" indent="-268605"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30" normalizeH="0" baseline="0" noProof="0" dirty="0">
                <a:ln>
                  <a:noFill/>
                </a:ln>
                <a:solidFill>
                  <a:sysClr val="windowText" lastClr="000000"/>
                </a:solidFill>
                <a:effectLst/>
                <a:uLnTx/>
                <a:uFillTx/>
                <a:latin typeface="Times New Roman"/>
                <a:cs typeface="Times New Roman"/>
              </a:rPr>
              <a:t>Typically,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about</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5%</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entire</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spectrum</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devoted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400" b="1"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1"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(vital</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initiating,</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requesting,</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paging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while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95% 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spectrum</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dedicated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10" normalizeH="0" baseline="0" noProof="0" dirty="0">
                <a:ln>
                  <a:noFill/>
                </a:ln>
                <a:solidFill>
                  <a:sysClr val="windowText" lastClr="000000"/>
                </a:solidFill>
                <a:effectLst/>
                <a:uLnTx/>
                <a:uFillTx/>
                <a:latin typeface="Times New Roman"/>
                <a:cs typeface="Times New Roman"/>
              </a:rPr>
              <a:t>voice </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1"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(carrying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revenue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generating</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calls).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229235" lvl="0" indent="-268605"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Since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vital,</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strategy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them</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generally</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more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conservative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than</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voice 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5080" lvl="0" indent="-268605" defTabSz="914400" eaLnBrk="1" fontAlgn="auto" latinLnBrk="0" hangingPunct="1">
              <a:lnSpc>
                <a:spcPct val="100000"/>
              </a:lnSpc>
              <a:spcBef>
                <a:spcPts val="605"/>
              </a:spcBef>
              <a:spcAft>
                <a:spcPts val="0"/>
              </a:spcAft>
              <a:buClr>
                <a:srgbClr val="5F5F5F"/>
              </a:buClr>
              <a:buSzTx/>
              <a:buFont typeface="Wingdings"/>
              <a:buChar char=""/>
              <a:tabLst>
                <a:tab pos="280670" algn="l"/>
                <a:tab pos="654685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example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3.3,</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21-</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whereas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7-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voice</a:t>
            </a:r>
            <a:r>
              <a:rPr kumimoji="0" sz="24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229</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104139" rIns="0" bIns="0" rtlCol="0">
            <a:spAutoFit/>
          </a:bodyPr>
          <a:lstStyle/>
          <a:p>
            <a:pPr marL="12700" marR="5080">
              <a:lnSpc>
                <a:spcPts val="3600"/>
              </a:lnSpc>
              <a:spcBef>
                <a:spcPts val="819"/>
              </a:spcBef>
            </a:pPr>
            <a:r>
              <a:rPr spc="-145" dirty="0"/>
              <a:t>Channel</a:t>
            </a:r>
            <a:r>
              <a:rPr spc="-275" dirty="0"/>
              <a:t> </a:t>
            </a:r>
            <a:r>
              <a:rPr dirty="0"/>
              <a:t>Planning</a:t>
            </a:r>
            <a:r>
              <a:rPr spc="-10" dirty="0"/>
              <a:t> </a:t>
            </a:r>
            <a:r>
              <a:rPr spc="-120" dirty="0"/>
              <a:t>for</a:t>
            </a:r>
            <a:r>
              <a:rPr spc="-409" dirty="0"/>
              <a:t> </a:t>
            </a:r>
            <a:r>
              <a:rPr spc="-155" dirty="0"/>
              <a:t>Wireless </a:t>
            </a:r>
            <a:r>
              <a:rPr spc="-10" dirty="0"/>
              <a:t>System</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7783195" cy="3546475"/>
          </a:xfrm>
          <a:prstGeom prst="rect">
            <a:avLst/>
          </a:prstGeom>
        </p:spPr>
        <p:txBody>
          <a:bodyPr vert="horz" wrap="square" lIns="0" tIns="12700" rIns="0" bIns="0" rtlCol="0">
            <a:spAutoFit/>
          </a:bodyPr>
          <a:lstStyle/>
          <a:p>
            <a:pPr marL="280670" marR="34290" lvl="0" indent="-268605"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Resulting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signals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 are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adjacent</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desired</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signal.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64135" lvl="0" indent="-268605"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near-</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far</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effect:</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nearby</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transmitter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captures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receiver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subscriber</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station.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601980" lvl="0" indent="-268605"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Adjacent</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minimized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through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careful</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filtering</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assignments.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5080" lvl="0" indent="-268605" defTabSz="914400" eaLnBrk="1" fontAlgn="auto" latinLnBrk="0" hangingPunct="1">
              <a:lnSpc>
                <a:spcPct val="100000"/>
              </a:lnSpc>
              <a:spcBef>
                <a:spcPts val="605"/>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need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 are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adjacent</a:t>
            </a:r>
            <a:r>
              <a:rPr kumimoji="0" sz="24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in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frequency.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Neighboring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avoid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adjacent 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230</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0" dirty="0"/>
              <a:t>Adjacent</a:t>
            </a:r>
            <a:r>
              <a:rPr spc="-215" dirty="0"/>
              <a:t> </a:t>
            </a:r>
            <a:r>
              <a:rPr spc="-145" dirty="0"/>
              <a:t>Channel</a:t>
            </a:r>
            <a:r>
              <a:rPr spc="-190" dirty="0"/>
              <a:t> </a:t>
            </a:r>
            <a:r>
              <a:rPr spc="-140" dirty="0"/>
              <a:t>Interference</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7960995" cy="4184015"/>
          </a:xfrm>
          <a:prstGeom prst="rect">
            <a:avLst/>
          </a:prstGeom>
        </p:spPr>
        <p:txBody>
          <a:bodyPr vert="horz" wrap="square" lIns="0" tIns="12700" rIns="0" bIns="0" rtlCol="0">
            <a:spAutoFit/>
          </a:bodyPr>
          <a:lstStyle/>
          <a:p>
            <a:pPr marL="274955" marR="5080" lvl="0" indent="-262890" defTabSz="914400" eaLnBrk="1" fontAlgn="auto" latinLnBrk="0" hangingPunct="1">
              <a:lnSpc>
                <a:spcPct val="100000"/>
              </a:lnSpc>
              <a:spcBef>
                <a:spcPts val="100"/>
              </a:spcBef>
              <a:spcAft>
                <a:spcPts val="0"/>
              </a:spcAft>
              <a:buClr>
                <a:srgbClr val="5F5F5F"/>
              </a:buClr>
              <a:buSzTx/>
              <a:buFont typeface="Wingdings"/>
              <a:buChar char=""/>
              <a:tabLst>
                <a:tab pos="276225" algn="l"/>
                <a:tab pos="1807845" algn="l"/>
                <a:tab pos="21583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Ex:</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example</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illustrates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how</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divided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into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subsets</a:t>
            </a:r>
            <a:r>
              <a:rPr kumimoji="0" sz="24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allocated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different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adjacent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minimized.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74955" marR="160020" lvl="0" indent="-262890" defTabSz="914400" eaLnBrk="1" fontAlgn="auto" latinLnBrk="0" hangingPunct="1">
              <a:lnSpc>
                <a:spcPct val="100000"/>
              </a:lnSpc>
              <a:spcBef>
                <a:spcPts val="2495"/>
              </a:spcBef>
              <a:spcAft>
                <a:spcPts val="0"/>
              </a:spcAft>
              <a:buClr>
                <a:srgbClr val="5F5F5F"/>
              </a:buClr>
              <a:buSzTx/>
              <a:buFont typeface="Wingdings"/>
              <a:buChar char=""/>
              <a:tabLst>
                <a:tab pos="276225" algn="l"/>
                <a:tab pos="1257935" algn="l"/>
                <a:tab pos="168783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United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States</a:t>
            </a:r>
            <a:r>
              <a:rPr kumimoji="0" sz="2400" b="0" i="0" u="none" strike="noStrike" kern="0" cap="none" spc="-1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AMPS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initially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operated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666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duplex</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channels.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1989,</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FCC</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additional</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10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MHz</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(166</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channels)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spectrum</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services.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75590" marR="0" lvl="0" indent="-262890" defTabSz="914400" eaLnBrk="1" fontAlgn="auto" latinLnBrk="0" hangingPunct="1">
              <a:lnSpc>
                <a:spcPct val="100000"/>
              </a:lnSpc>
              <a:spcBef>
                <a:spcPts val="2165"/>
              </a:spcBef>
              <a:spcAft>
                <a:spcPts val="0"/>
              </a:spcAft>
              <a:buClr>
                <a:srgbClr val="5F5F5F"/>
              </a:buClr>
              <a:buSzTx/>
              <a:buFont typeface="Wingdings"/>
              <a:buChar char=""/>
              <a:tabLst>
                <a:tab pos="27559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There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now</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832</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3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AMPS.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74955" marR="253365" lvl="0" indent="-262890" defTabSz="914400" eaLnBrk="1" fontAlgn="auto" latinLnBrk="0" hangingPunct="1">
              <a:lnSpc>
                <a:spcPct val="100000"/>
              </a:lnSpc>
              <a:spcBef>
                <a:spcPts val="2160"/>
              </a:spcBef>
              <a:spcAft>
                <a:spcPts val="0"/>
              </a:spcAft>
              <a:buClr>
                <a:srgbClr val="5F5F5F"/>
              </a:buClr>
              <a:buSzTx/>
              <a:buFont typeface="Wingdings"/>
              <a:buChar char=""/>
              <a:tabLst>
                <a:tab pos="276225" algn="l"/>
              </a:tabLst>
              <a:defRPr/>
            </a:pPr>
            <a:r>
              <a:rPr kumimoji="0" sz="2400" b="0" i="0" u="none" strike="noStrike" kern="0" cap="none" spc="0" normalizeH="0" baseline="0" noProof="0" dirty="0">
                <a:ln>
                  <a:noFill/>
                </a:ln>
                <a:solidFill>
                  <a:srgbClr val="3366FF"/>
                </a:solidFill>
                <a:effectLst/>
                <a:uLnTx/>
                <a:uFillTx/>
                <a:latin typeface="Times New Roman"/>
                <a:cs typeface="Times New Roman"/>
              </a:rPr>
              <a:t>The</a:t>
            </a:r>
            <a:r>
              <a:rPr kumimoji="0" sz="2400" b="0" i="0" u="none" strike="noStrike" kern="0" cap="none" spc="-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extended</a:t>
            </a:r>
            <a:r>
              <a:rPr kumimoji="0" sz="2400" b="0" i="0" u="none" strike="noStrike" kern="0" cap="none" spc="-30"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band</a:t>
            </a:r>
            <a:r>
              <a:rPr kumimoji="0" sz="2400" b="0" i="0" u="none" strike="noStrike" kern="0" cap="none" spc="-1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has</a:t>
            </a:r>
            <a:r>
              <a:rPr kumimoji="0" sz="2400" b="0" i="0" u="none" strike="noStrike" kern="0" cap="none" spc="-10"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channels</a:t>
            </a:r>
            <a:r>
              <a:rPr kumimoji="0" sz="2400" b="0" i="0" u="none" strike="noStrike" kern="0" cap="none" spc="-3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number as</a:t>
            </a:r>
            <a:r>
              <a:rPr kumimoji="0" sz="2400" b="0" i="0" u="none" strike="noStrike" kern="0" cap="none" spc="-10"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667</a:t>
            </a:r>
            <a:r>
              <a:rPr kumimoji="0" sz="2400" b="0" i="0" u="none" strike="noStrike" kern="0" cap="none" spc="-10"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through</a:t>
            </a:r>
            <a:r>
              <a:rPr kumimoji="0" sz="2400" b="0" i="0" u="none" strike="noStrike" kern="0" cap="none" spc="-180" normalizeH="0" baseline="0" noProof="0" dirty="0">
                <a:ln>
                  <a:noFill/>
                </a:ln>
                <a:solidFill>
                  <a:srgbClr val="3366FF"/>
                </a:solidFill>
                <a:effectLst/>
                <a:uLnTx/>
                <a:uFillTx/>
                <a:latin typeface="Times New Roman"/>
                <a:cs typeface="Times New Roman"/>
              </a:rPr>
              <a:t> </a:t>
            </a:r>
            <a:r>
              <a:rPr kumimoji="0" sz="2400" b="0" i="0" u="none" strike="noStrike" kern="0" cap="none" spc="-20" normalizeH="0" baseline="0" noProof="0" dirty="0">
                <a:ln>
                  <a:noFill/>
                </a:ln>
                <a:solidFill>
                  <a:srgbClr val="3366FF"/>
                </a:solidFill>
                <a:effectLst/>
                <a:uLnTx/>
                <a:uFillTx/>
                <a:latin typeface="Times New Roman"/>
                <a:cs typeface="Times New Roman"/>
              </a:rPr>
              <a:t>799, 	</a:t>
            </a:r>
            <a:r>
              <a:rPr kumimoji="0" sz="2400" b="0" i="0" u="none" strike="noStrike" kern="0" cap="none" spc="0" normalizeH="0" baseline="0" noProof="0" dirty="0">
                <a:ln>
                  <a:noFill/>
                </a:ln>
                <a:solidFill>
                  <a:srgbClr val="3366FF"/>
                </a:solidFill>
                <a:effectLst/>
                <a:uLnTx/>
                <a:uFillTx/>
                <a:latin typeface="Times New Roman"/>
                <a:cs typeface="Times New Roman"/>
              </a:rPr>
              <a:t>and</a:t>
            </a:r>
            <a:r>
              <a:rPr kumimoji="0" sz="2400" b="0" i="0" u="none" strike="noStrike" kern="0" cap="none" spc="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990</a:t>
            </a:r>
            <a:r>
              <a:rPr kumimoji="0" sz="2400" b="0" i="0" u="none" strike="noStrike" kern="0" cap="none" spc="10"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rgbClr val="3366FF"/>
                </a:solidFill>
                <a:effectLst/>
                <a:uLnTx/>
                <a:uFillTx/>
                <a:latin typeface="Times New Roman"/>
                <a:cs typeface="Times New Roman"/>
              </a:rPr>
              <a:t>through</a:t>
            </a:r>
            <a:r>
              <a:rPr kumimoji="0" sz="2400" b="0" i="0" u="none" strike="noStrike" kern="0" cap="none" spc="-80" normalizeH="0" baseline="0" noProof="0" dirty="0">
                <a:ln>
                  <a:noFill/>
                </a:ln>
                <a:solidFill>
                  <a:srgbClr val="3366FF"/>
                </a:solidFill>
                <a:effectLst/>
                <a:uLnTx/>
                <a:uFillTx/>
                <a:latin typeface="Times New Roman"/>
                <a:cs typeface="Times New Roman"/>
              </a:rPr>
              <a:t> </a:t>
            </a:r>
            <a:r>
              <a:rPr kumimoji="0" sz="2400" b="0" i="0" u="none" strike="noStrike" kern="0" cap="none" spc="-10" normalizeH="0" baseline="0" noProof="0" dirty="0">
                <a:ln>
                  <a:noFill/>
                </a:ln>
                <a:solidFill>
                  <a:srgbClr val="3366FF"/>
                </a:solidFill>
                <a:effectLst/>
                <a:uLnTx/>
                <a:uFillTx/>
                <a:latin typeface="Times New Roman"/>
                <a:cs typeface="Times New Roman"/>
              </a:rPr>
              <a:t>1023.</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231</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61949"/>
            <a:ext cx="9072118" cy="5709793"/>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232</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95800" y="6550673"/>
            <a:ext cx="4648200" cy="53340"/>
            <a:chOff x="4495800" y="6550673"/>
            <a:chExt cx="4648200" cy="5334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7" name="object 7"/>
          <p:cNvPicPr/>
          <p:nvPr/>
        </p:nvPicPr>
        <p:blipFill>
          <a:blip r:embed="rId2" cstate="print"/>
          <a:stretch>
            <a:fillRect/>
          </a:stretch>
        </p:blipFill>
        <p:spPr>
          <a:xfrm>
            <a:off x="6629400" y="0"/>
            <a:ext cx="2193163" cy="692658"/>
          </a:xfrm>
          <a:prstGeom prst="rect">
            <a:avLst/>
          </a:prstGeom>
        </p:spPr>
      </p:pic>
      <p:grpSp>
        <p:nvGrpSpPr>
          <p:cNvPr id="8" name="object 8"/>
          <p:cNvGrpSpPr/>
          <p:nvPr/>
        </p:nvGrpSpPr>
        <p:grpSpPr>
          <a:xfrm>
            <a:off x="0" y="1295401"/>
            <a:ext cx="7010400" cy="45720"/>
            <a:chOff x="0" y="1295401"/>
            <a:chExt cx="7010400" cy="45720"/>
          </a:xfrm>
        </p:grpSpPr>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2" name="object 12"/>
          <p:cNvSpPr txBox="1"/>
          <p:nvPr/>
        </p:nvSpPr>
        <p:spPr>
          <a:xfrm>
            <a:off x="395731" y="1518031"/>
            <a:ext cx="7698740" cy="3562350"/>
          </a:xfrm>
          <a:prstGeom prst="rect">
            <a:avLst/>
          </a:prstGeom>
        </p:spPr>
        <p:txBody>
          <a:bodyPr vert="horz" wrap="square" lIns="0" tIns="13335" rIns="0" bIns="0" rtlCol="0">
            <a:spAutoFit/>
          </a:bodyPr>
          <a:lstStyle/>
          <a:p>
            <a:pPr marL="280670" marR="78740" lvl="0" indent="-268605" defTabSz="914400" eaLnBrk="1" fontAlgn="auto" latinLnBrk="0" hangingPunct="1">
              <a:lnSpc>
                <a:spcPct val="100000"/>
              </a:lnSpc>
              <a:spcBef>
                <a:spcPts val="105"/>
              </a:spcBef>
              <a:spcAft>
                <a:spcPts val="0"/>
              </a:spcAft>
              <a:buClr>
                <a:srgbClr val="5F5F5F"/>
              </a:buClr>
              <a:buSzTx/>
              <a:buFont typeface="Wingdings"/>
              <a:buChar char=""/>
              <a:tabLst>
                <a:tab pos="280670"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order</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encourage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competition,</a:t>
            </a:r>
            <a:r>
              <a:rPr kumimoji="0" sz="20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FCC</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licensed</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two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competing</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operators</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every</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service</a:t>
            </a:r>
            <a:r>
              <a:rPr kumimoji="0" sz="20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area.</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80670" marR="0" lvl="0" indent="-267970" defTabSz="914400" eaLnBrk="1" fontAlgn="auto" latinLnBrk="0" hangingPunct="1">
              <a:lnSpc>
                <a:spcPct val="100000"/>
              </a:lnSpc>
              <a:spcBef>
                <a:spcPts val="480"/>
              </a:spcBef>
              <a:spcAft>
                <a:spcPts val="0"/>
              </a:spcAft>
              <a:buClr>
                <a:srgbClr val="5F5F5F"/>
              </a:buClr>
              <a:buSzTx/>
              <a:buFont typeface="Wingdings"/>
              <a:buChar char=""/>
              <a:tabLst>
                <a:tab pos="280670"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0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operators</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distinguished</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as</a:t>
            </a:r>
            <a:r>
              <a:rPr kumimoji="0" sz="2000" b="0" i="0" u="none" strike="noStrike" kern="0" cap="none" spc="-155"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block</a:t>
            </a:r>
            <a:r>
              <a:rPr kumimoji="0" sz="2000" b="0" i="1" u="none" strike="noStrike" kern="0" cap="none" spc="440"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0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and</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80670" marR="0" lvl="0" indent="0" defTabSz="914400" eaLnBrk="1" fontAlgn="auto" latinLnBrk="0" hangingPunct="1">
              <a:lnSpc>
                <a:spcPct val="100000"/>
              </a:lnSpc>
              <a:spcBef>
                <a:spcPts val="0"/>
              </a:spcBef>
              <a:spcAft>
                <a:spcPts val="0"/>
              </a:spcAft>
              <a:buClrTx/>
              <a:buSzTx/>
              <a:buFontTx/>
              <a:buNone/>
              <a:tabLst/>
              <a:defRPr/>
            </a:pPr>
            <a:r>
              <a:rPr kumimoji="0" sz="2000" b="0" i="1" u="none" strike="noStrike" kern="0" cap="none" spc="0" normalizeH="0" baseline="0" noProof="0" dirty="0">
                <a:ln>
                  <a:noFill/>
                </a:ln>
                <a:solidFill>
                  <a:sysClr val="windowText" lastClr="000000"/>
                </a:solidFill>
                <a:effectLst/>
                <a:uLnTx/>
                <a:uFillTx/>
                <a:latin typeface="Times New Roman"/>
                <a:cs typeface="Times New Roman"/>
              </a:rPr>
              <a:t>block</a:t>
            </a:r>
            <a:r>
              <a:rPr kumimoji="0" sz="20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0" normalizeH="0" baseline="0" noProof="0" dirty="0">
                <a:ln>
                  <a:noFill/>
                </a:ln>
                <a:solidFill>
                  <a:sysClr val="windowText" lastClr="000000"/>
                </a:solidFill>
                <a:effectLst/>
                <a:uLnTx/>
                <a:uFillTx/>
                <a:latin typeface="Times New Roman"/>
                <a:cs typeface="Times New Roman"/>
              </a:rPr>
              <a:t>B</a:t>
            </a:r>
            <a:r>
              <a:rPr kumimoji="0" sz="20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737870" marR="5080" lvl="1" indent="-268605" defTabSz="914400" eaLnBrk="1" fontAlgn="auto" latinLnBrk="0" hangingPunct="1">
              <a:lnSpc>
                <a:spcPct val="100000"/>
              </a:lnSpc>
              <a:spcBef>
                <a:spcPts val="0"/>
              </a:spcBef>
              <a:spcAft>
                <a:spcPts val="0"/>
              </a:spcAft>
              <a:buClr>
                <a:srgbClr val="5F5F5F"/>
              </a:buClr>
              <a:buSzPct val="77500"/>
              <a:buFont typeface="Wingdings"/>
              <a:buChar char=""/>
              <a:tabLst>
                <a:tab pos="737870"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Block</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operated</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companies</a:t>
            </a:r>
            <a:r>
              <a:rPr kumimoji="0" sz="20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0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have</a:t>
            </a:r>
            <a:r>
              <a:rPr kumimoji="0" sz="20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traditionally</a:t>
            </a:r>
            <a:r>
              <a:rPr kumimoji="0" sz="20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provided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telephone</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services</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called</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30" normalizeH="0" baseline="0" noProof="0" dirty="0">
                <a:ln>
                  <a:noFill/>
                </a:ln>
                <a:solidFill>
                  <a:sysClr val="windowText" lastClr="000000"/>
                </a:solidFill>
                <a:effectLst/>
                <a:uLnTx/>
                <a:uFillTx/>
                <a:latin typeface="Times New Roman"/>
                <a:cs typeface="Times New Roman"/>
              </a:rPr>
              <a:t>wireline</a:t>
            </a:r>
            <a:r>
              <a:rPr kumimoji="0" sz="2000" b="0" i="1" u="none" strike="noStrike" kern="0" cap="none" spc="-1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operators).</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737870" marR="868680" lvl="1" indent="-268605" defTabSz="914400" eaLnBrk="1" fontAlgn="auto" latinLnBrk="0" hangingPunct="1">
              <a:lnSpc>
                <a:spcPct val="100000"/>
              </a:lnSpc>
              <a:spcBef>
                <a:spcPts val="480"/>
              </a:spcBef>
              <a:spcAft>
                <a:spcPts val="0"/>
              </a:spcAft>
              <a:buClr>
                <a:srgbClr val="5F5F5F"/>
              </a:buClr>
              <a:buSzPct val="77500"/>
              <a:buFont typeface="Wingdings"/>
              <a:buChar char=""/>
              <a:tabLst>
                <a:tab pos="737870" algn="l"/>
              </a:tabLst>
              <a:defRPr/>
            </a:pPr>
            <a:r>
              <a:rPr kumimoji="0" sz="2000" b="0" i="0" u="none" strike="noStrike" kern="0" cap="none" spc="-10" normalizeH="0" baseline="0" noProof="0" dirty="0">
                <a:ln>
                  <a:noFill/>
                </a:ln>
                <a:solidFill>
                  <a:sysClr val="windowText" lastClr="000000"/>
                </a:solidFill>
                <a:effectLst/>
                <a:uLnTx/>
                <a:uFillTx/>
                <a:latin typeface="Times New Roman"/>
                <a:cs typeface="Times New Roman"/>
              </a:rPr>
              <a:t>Block</a:t>
            </a:r>
            <a:r>
              <a:rPr kumimoji="0" sz="20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0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operated</a:t>
            </a:r>
            <a:r>
              <a:rPr kumimoji="0" sz="20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companies</a:t>
            </a:r>
            <a:r>
              <a:rPr kumimoji="0" sz="20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have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nottraditionally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provided</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telephone</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services</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called</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25" normalizeH="0" baseline="0" noProof="0" dirty="0">
                <a:ln>
                  <a:noFill/>
                </a:ln>
                <a:solidFill>
                  <a:sysClr val="windowText" lastClr="000000"/>
                </a:solidFill>
                <a:effectLst/>
                <a:uLnTx/>
                <a:uFillTx/>
                <a:latin typeface="Times New Roman"/>
                <a:cs typeface="Times New Roman"/>
              </a:rPr>
              <a:t>nonwireline</a:t>
            </a:r>
            <a:r>
              <a:rPr kumimoji="0" sz="2000" b="0" i="1" u="none" strike="noStrike" kern="0" cap="none" spc="-170" normalizeH="0" baseline="0" noProof="0" dirty="0">
                <a:ln>
                  <a:noFill/>
                </a:ln>
                <a:solidFill>
                  <a:sysClr val="windowText" lastClr="000000"/>
                </a:solidFill>
                <a:effectLst/>
                <a:uLnTx/>
                <a:uFillTx/>
                <a:latin typeface="Times New Roman"/>
                <a:cs typeface="Times New Roman"/>
              </a:rPr>
              <a:t> </a:t>
            </a:r>
            <a:r>
              <a:rPr kumimoji="0" sz="2000" b="0" i="1" u="none" strike="noStrike" kern="0" cap="none" spc="-10" normalizeH="0" baseline="0" noProof="0" dirty="0">
                <a:ln>
                  <a:noFill/>
                </a:ln>
                <a:solidFill>
                  <a:sysClr val="windowText" lastClr="000000"/>
                </a:solidFill>
                <a:effectLst/>
                <a:uLnTx/>
                <a:uFillTx/>
                <a:latin typeface="Times New Roman"/>
                <a:cs typeface="Times New Roman"/>
              </a:rPr>
              <a:t>operators</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0" marR="0" lvl="1" indent="0" defTabSz="914400" eaLnBrk="1" fontAlgn="auto" latinLnBrk="0" hangingPunct="1">
              <a:lnSpc>
                <a:spcPct val="100000"/>
              </a:lnSpc>
              <a:spcBef>
                <a:spcPts val="580"/>
              </a:spcBef>
              <a:spcAft>
                <a:spcPts val="0"/>
              </a:spcAft>
              <a:buClr>
                <a:srgbClr val="5F5F5F"/>
              </a:buClr>
              <a:buSzTx/>
              <a:buFont typeface="Wingdings"/>
              <a:buChar char=""/>
              <a:tabLst/>
              <a:defRPr/>
            </a:pP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80670" marR="297815" lvl="0" indent="-268605" defTabSz="914400" eaLnBrk="1" fontAlgn="auto" latinLnBrk="0" hangingPunct="1">
              <a:lnSpc>
                <a:spcPct val="100000"/>
              </a:lnSpc>
              <a:spcBef>
                <a:spcPts val="5"/>
              </a:spcBef>
              <a:spcAft>
                <a:spcPts val="0"/>
              </a:spcAft>
              <a:buClr>
                <a:srgbClr val="5F5F5F"/>
              </a:buClr>
              <a:buSzTx/>
              <a:buFont typeface="Wingdings"/>
              <a:buChar char=""/>
              <a:tabLst>
                <a:tab pos="280670" algn="l"/>
              </a:tabLst>
              <a:defRPr/>
            </a:pPr>
            <a:r>
              <a:rPr kumimoji="0" sz="2000" b="0" i="0" u="none" strike="noStrike" kern="0" cap="none" spc="0" normalizeH="0" baseline="0" noProof="0" dirty="0">
                <a:ln>
                  <a:noFill/>
                </a:ln>
                <a:solidFill>
                  <a:sysClr val="windowText" lastClr="000000"/>
                </a:solidFill>
                <a:effectLst/>
                <a:uLnTx/>
                <a:uFillTx/>
                <a:latin typeface="Times New Roman"/>
                <a:cs typeface="Times New Roman"/>
              </a:rPr>
              <a:t>Out</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416</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0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used</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0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25" normalizeH="0" baseline="0" noProof="0" dirty="0">
                <a:ln>
                  <a:noFill/>
                </a:ln>
                <a:solidFill>
                  <a:sysClr val="windowText" lastClr="000000"/>
                </a:solidFill>
                <a:effectLst/>
                <a:uLnTx/>
                <a:uFillTx/>
                <a:latin typeface="Times New Roman"/>
                <a:cs typeface="Times New Roman"/>
              </a:rPr>
              <a:t>operator,</a:t>
            </a:r>
            <a:r>
              <a:rPr kumimoji="0" sz="20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395</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0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voice</a:t>
            </a:r>
            <a:r>
              <a:rPr kumimoji="0" sz="20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channels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0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remaining</a:t>
            </a:r>
            <a:r>
              <a:rPr kumimoji="0" sz="20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21</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0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0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10" normalizeH="0" baseline="0" noProof="0" dirty="0">
                <a:ln>
                  <a:noFill/>
                </a:ln>
                <a:solidFill>
                  <a:sysClr val="windowText" lastClr="000000"/>
                </a:solidFill>
                <a:effectLst/>
                <a:uLnTx/>
                <a:uFillTx/>
                <a:latin typeface="Times New Roman"/>
                <a:cs typeface="Times New Roman"/>
              </a:rPr>
              <a:t>channels</a:t>
            </a:r>
            <a:r>
              <a:rPr kumimoji="0" sz="2000" b="0" i="0" u="none" strike="noStrike" kern="0" cap="none" spc="-10" normalizeH="0" baseline="0" noProof="0" dirty="0">
                <a:ln>
                  <a:noFill/>
                </a:ln>
                <a:solidFill>
                  <a:srgbClr val="0D0D0D"/>
                </a:solidFill>
                <a:effectLst/>
                <a:uLnTx/>
                <a:uFillTx/>
                <a:latin typeface="Times New Roman"/>
                <a:cs typeface="Times New Roman"/>
              </a:rPr>
              <a:t>.</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13" name="object 13"/>
          <p:cNvSpPr txBox="1"/>
          <p:nvPr/>
        </p:nvSpPr>
        <p:spPr>
          <a:xfrm>
            <a:off x="383540" y="5926328"/>
            <a:ext cx="117475" cy="26733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sz="1550" b="0" i="0" u="none" strike="noStrike" kern="0" cap="none" spc="-50" normalizeH="0" baseline="0" noProof="0" dirty="0">
                <a:ln>
                  <a:noFill/>
                </a:ln>
                <a:solidFill>
                  <a:srgbClr val="5F5F5F"/>
                </a:solidFill>
                <a:effectLst/>
                <a:uLnTx/>
                <a:uFillTx/>
                <a:latin typeface="Wingdings"/>
                <a:cs typeface="Wingdings"/>
              </a:rPr>
              <a:t></a:t>
            </a:r>
            <a:endParaRPr kumimoji="0" sz="1550" b="0" i="0" u="none" strike="noStrike" kern="0" cap="none" spc="0" normalizeH="0" baseline="0" noProof="0">
              <a:ln>
                <a:noFill/>
              </a:ln>
              <a:solidFill>
                <a:sysClr val="windowText" lastClr="000000"/>
              </a:solidFill>
              <a:effectLst/>
              <a:uLnTx/>
              <a:uFillTx/>
              <a:latin typeface="Wingdings"/>
              <a:cs typeface="Wingdings"/>
            </a:endParaRPr>
          </a:p>
        </p:txBody>
      </p:sp>
      <p:sp>
        <p:nvSpPr>
          <p:cNvPr id="14" name="object 14"/>
          <p:cNvSpPr txBox="1"/>
          <p:nvPr/>
        </p:nvSpPr>
        <p:spPr>
          <a:xfrm>
            <a:off x="383540" y="5059781"/>
            <a:ext cx="3350895" cy="1144270"/>
          </a:xfrm>
          <a:prstGeom prst="rect">
            <a:avLst/>
          </a:prstGeom>
        </p:spPr>
        <p:txBody>
          <a:bodyPr vert="horz" wrap="square" lIns="0" tIns="12700" rIns="0" bIns="0" rtlCol="0">
            <a:spAutoFit/>
          </a:bodyPr>
          <a:lstStyle/>
          <a:p>
            <a:pPr marL="750570" marR="53340" lvl="0" indent="-738505" defTabSz="914400" eaLnBrk="1" fontAlgn="auto" latinLnBrk="0" hangingPunct="1">
              <a:lnSpc>
                <a:spcPct val="121000"/>
              </a:lnSpc>
              <a:spcBef>
                <a:spcPts val="100"/>
              </a:spcBef>
              <a:spcAft>
                <a:spcPts val="0"/>
              </a:spcAft>
              <a:buClr>
                <a:srgbClr val="5F5F5F"/>
              </a:buClr>
              <a:buSzPct val="77500"/>
              <a:buFont typeface="Wingdings"/>
              <a:buChar char=""/>
              <a:tabLst>
                <a:tab pos="750570" algn="l"/>
              </a:tabLst>
              <a:defRPr/>
            </a:pPr>
            <a:r>
              <a:rPr kumimoji="0" sz="2000" b="0" i="0" u="none" strike="noStrike" kern="0" cap="none" spc="-10" normalizeH="0" baseline="0" noProof="0" dirty="0">
                <a:ln>
                  <a:noFill/>
                </a:ln>
                <a:solidFill>
                  <a:srgbClr val="0D0D0D"/>
                </a:solidFill>
                <a:effectLst/>
                <a:uLnTx/>
                <a:uFillTx/>
                <a:latin typeface="Times New Roman"/>
                <a:cs typeface="Times New Roman"/>
              </a:rPr>
              <a:t>Block</a:t>
            </a:r>
            <a:r>
              <a:rPr kumimoji="0" sz="2000" b="0" i="0" u="none" strike="noStrike" kern="0" cap="none" spc="-110" normalizeH="0" baseline="0" noProof="0" dirty="0">
                <a:ln>
                  <a:noFill/>
                </a:ln>
                <a:solidFill>
                  <a:srgbClr val="0D0D0D"/>
                </a:solidFill>
                <a:effectLst/>
                <a:uLnTx/>
                <a:uFillTx/>
                <a:latin typeface="Times New Roman"/>
                <a:cs typeface="Times New Roman"/>
              </a:rPr>
              <a:t> </a:t>
            </a:r>
            <a:r>
              <a:rPr kumimoji="0" sz="2000" b="0" i="0" u="none" strike="noStrike" kern="0" cap="none" spc="-20" normalizeH="0" baseline="0" noProof="0" dirty="0">
                <a:ln>
                  <a:noFill/>
                </a:ln>
                <a:solidFill>
                  <a:srgbClr val="0D0D0D"/>
                </a:solidFill>
                <a:effectLst/>
                <a:uLnTx/>
                <a:uFillTx/>
                <a:latin typeface="Times New Roman"/>
                <a:cs typeface="Times New Roman"/>
              </a:rPr>
              <a:t>A</a:t>
            </a:r>
            <a:r>
              <a:rPr kumimoji="0" sz="2000" b="0" i="0" u="none" strike="noStrike" kern="0" cap="none" spc="-100" normalizeH="0" baseline="0" noProof="0" dirty="0">
                <a:ln>
                  <a:noFill/>
                </a:ln>
                <a:solidFill>
                  <a:srgbClr val="0D0D0D"/>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325"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rgbClr val="0D0D0D"/>
                </a:solidFill>
                <a:effectLst/>
                <a:uLnTx/>
                <a:uFillTx/>
                <a:latin typeface="Times New Roman"/>
                <a:cs typeface="Times New Roman"/>
              </a:rPr>
              <a:t>voice</a:t>
            </a:r>
            <a:r>
              <a:rPr kumimoji="0" sz="2000" b="0" i="0" u="none" strike="noStrike" kern="0" cap="none" spc="-30" normalizeH="0" baseline="0" noProof="0" dirty="0">
                <a:ln>
                  <a:noFill/>
                </a:ln>
                <a:solidFill>
                  <a:srgbClr val="0D0D0D"/>
                </a:solidFill>
                <a:effectLst/>
                <a:uLnTx/>
                <a:uFillTx/>
                <a:latin typeface="Times New Roman"/>
                <a:cs typeface="Times New Roman"/>
              </a:rPr>
              <a:t> </a:t>
            </a:r>
            <a:r>
              <a:rPr kumimoji="0" sz="2000" b="0" i="0" u="none" strike="noStrike" kern="0" cap="none" spc="-10" normalizeH="0" baseline="0" noProof="0" dirty="0">
                <a:ln>
                  <a:noFill/>
                </a:ln>
                <a:solidFill>
                  <a:srgbClr val="0D0D0D"/>
                </a:solidFill>
                <a:effectLst/>
                <a:uLnTx/>
                <a:uFillTx/>
                <a:latin typeface="Times New Roman"/>
                <a:cs typeface="Times New Roman"/>
              </a:rPr>
              <a:t>channels </a:t>
            </a:r>
            <a:r>
              <a:rPr kumimoji="0" sz="2000" b="0" i="0" u="none" strike="noStrike" kern="0" cap="none" spc="0" normalizeH="0" baseline="0" noProof="0" dirty="0">
                <a:ln>
                  <a:noFill/>
                </a:ln>
                <a:solidFill>
                  <a:srgbClr val="0D0D0D"/>
                </a:solidFill>
                <a:effectLst/>
                <a:uLnTx/>
                <a:uFillTx/>
                <a:latin typeface="Times New Roman"/>
                <a:cs typeface="Times New Roman"/>
              </a:rPr>
              <a:t>control</a:t>
            </a:r>
            <a:r>
              <a:rPr kumimoji="0" sz="2000" b="0" i="0" u="none" strike="noStrike" kern="0" cap="none" spc="-50" normalizeH="0" baseline="0" noProof="0" dirty="0">
                <a:ln>
                  <a:noFill/>
                </a:ln>
                <a:solidFill>
                  <a:srgbClr val="0D0D0D"/>
                </a:solidFill>
                <a:effectLst/>
                <a:uLnTx/>
                <a:uFillTx/>
                <a:latin typeface="Times New Roman"/>
                <a:cs typeface="Times New Roman"/>
              </a:rPr>
              <a:t> </a:t>
            </a:r>
            <a:r>
              <a:rPr kumimoji="0" sz="2000" b="0" i="0" u="none" strike="noStrike" kern="0" cap="none" spc="-10" normalizeH="0" baseline="0" noProof="0" dirty="0">
                <a:ln>
                  <a:noFill/>
                </a:ln>
                <a:solidFill>
                  <a:srgbClr val="0D0D0D"/>
                </a:solidFill>
                <a:effectLst/>
                <a:uLnTx/>
                <a:uFillTx/>
                <a:latin typeface="Times New Roman"/>
                <a:cs typeface="Times New Roman"/>
              </a:rPr>
              <a:t>channels</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750570" marR="0" lvl="0" indent="0" defTabSz="914400" eaLnBrk="1" fontAlgn="auto" latinLnBrk="0" hangingPunct="1">
              <a:lnSpc>
                <a:spcPct val="100000"/>
              </a:lnSpc>
              <a:spcBef>
                <a:spcPts val="600"/>
              </a:spcBef>
              <a:spcAft>
                <a:spcPts val="0"/>
              </a:spcAft>
              <a:buClrTx/>
              <a:buSzTx/>
              <a:buFontTx/>
              <a:buNone/>
              <a:tabLst/>
              <a:defRPr/>
            </a:pPr>
            <a:r>
              <a:rPr kumimoji="0" sz="2000" b="0" i="0" u="none" strike="noStrike" kern="0" cap="none" spc="0" normalizeH="0" baseline="0" noProof="0" dirty="0">
                <a:ln>
                  <a:noFill/>
                </a:ln>
                <a:solidFill>
                  <a:srgbClr val="0D0D0D"/>
                </a:solidFill>
                <a:effectLst/>
                <a:uLnTx/>
                <a:uFillTx/>
                <a:latin typeface="Times New Roman"/>
                <a:cs typeface="Times New Roman"/>
              </a:rPr>
              <a:t>Block</a:t>
            </a:r>
            <a:r>
              <a:rPr kumimoji="0" sz="2000" b="0" i="0" u="none" strike="noStrike" kern="0" cap="none" spc="-10" normalizeH="0" baseline="0" noProof="0" dirty="0">
                <a:ln>
                  <a:noFill/>
                </a:ln>
                <a:solidFill>
                  <a:srgbClr val="0D0D0D"/>
                </a:solidFill>
                <a:effectLst/>
                <a:uLnTx/>
                <a:uFillTx/>
                <a:latin typeface="Times New Roman"/>
                <a:cs typeface="Times New Roman"/>
              </a:rPr>
              <a:t> </a:t>
            </a:r>
            <a:r>
              <a:rPr kumimoji="0" sz="2000" b="0" i="0" u="none" strike="noStrike" kern="0" cap="none" spc="0" normalizeH="0" baseline="0" noProof="0" dirty="0">
                <a:ln>
                  <a:noFill/>
                </a:ln>
                <a:solidFill>
                  <a:srgbClr val="0D0D0D"/>
                </a:solidFill>
                <a:effectLst/>
                <a:uLnTx/>
                <a:uFillTx/>
                <a:latin typeface="Times New Roman"/>
                <a:cs typeface="Times New Roman"/>
              </a:rPr>
              <a:t>B</a:t>
            </a:r>
            <a:r>
              <a:rPr kumimoji="0" sz="2000" b="0" i="0" u="none" strike="noStrike" kern="0" cap="none" spc="-5" normalizeH="0" baseline="0" noProof="0" dirty="0">
                <a:ln>
                  <a:noFill/>
                </a:ln>
                <a:solidFill>
                  <a:srgbClr val="0D0D0D"/>
                </a:solidFill>
                <a:effectLst/>
                <a:uLnTx/>
                <a:uFillTx/>
                <a:latin typeface="Times New Roman"/>
                <a:cs typeface="Times New Roman"/>
              </a:rPr>
              <a:t> </a:t>
            </a:r>
            <a:r>
              <a:rPr kumimoji="0" sz="20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0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000" b="0" i="0" u="none" strike="noStrike" kern="0" cap="none" spc="0" normalizeH="0" baseline="0" noProof="0" dirty="0">
                <a:ln>
                  <a:noFill/>
                </a:ln>
                <a:solidFill>
                  <a:srgbClr val="0D0D0D"/>
                </a:solidFill>
                <a:effectLst/>
                <a:uLnTx/>
                <a:uFillTx/>
                <a:latin typeface="Times New Roman"/>
                <a:cs typeface="Times New Roman"/>
              </a:rPr>
              <a:t>voice</a:t>
            </a:r>
            <a:r>
              <a:rPr kumimoji="0" sz="2000" b="0" i="0" u="none" strike="noStrike" kern="0" cap="none" spc="-50" normalizeH="0" baseline="0" noProof="0" dirty="0">
                <a:ln>
                  <a:noFill/>
                </a:ln>
                <a:solidFill>
                  <a:srgbClr val="0D0D0D"/>
                </a:solidFill>
                <a:effectLst/>
                <a:uLnTx/>
                <a:uFillTx/>
                <a:latin typeface="Times New Roman"/>
                <a:cs typeface="Times New Roman"/>
              </a:rPr>
              <a:t> </a:t>
            </a:r>
            <a:r>
              <a:rPr kumimoji="0" sz="2000" b="0" i="0" u="none" strike="noStrike" kern="0" cap="none" spc="-10" normalizeH="0" baseline="0" noProof="0" dirty="0">
                <a:ln>
                  <a:noFill/>
                </a:ln>
                <a:solidFill>
                  <a:srgbClr val="0D0D0D"/>
                </a:solidFill>
                <a:effectLst/>
                <a:uLnTx/>
                <a:uFillTx/>
                <a:latin typeface="Times New Roman"/>
                <a:cs typeface="Times New Roman"/>
              </a:rPr>
              <a:t>channels</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5" name="object 15"/>
          <p:cNvSpPr txBox="1"/>
          <p:nvPr/>
        </p:nvSpPr>
        <p:spPr>
          <a:xfrm>
            <a:off x="4381627" y="5059781"/>
            <a:ext cx="2909570" cy="1144270"/>
          </a:xfrm>
          <a:prstGeom prst="rect">
            <a:avLst/>
          </a:prstGeom>
        </p:spPr>
        <p:txBody>
          <a:bodyPr vert="horz" wrap="square" lIns="0" tIns="76200" rIns="0" bIns="0" rtlCol="0">
            <a:spAutoFit/>
          </a:bodyPr>
          <a:lstStyle/>
          <a:p>
            <a:pPr marL="12700" marR="0" lvl="0" indent="0" defTabSz="914400" eaLnBrk="1" fontAlgn="auto" latinLnBrk="0" hangingPunct="1">
              <a:lnSpc>
                <a:spcPct val="100000"/>
              </a:lnSpc>
              <a:spcBef>
                <a:spcPts val="600"/>
              </a:spcBef>
              <a:spcAft>
                <a:spcPts val="0"/>
              </a:spcAft>
              <a:buClrTx/>
              <a:buSzTx/>
              <a:buFontTx/>
              <a:buNone/>
              <a:tabLst/>
              <a:defRPr/>
            </a:pPr>
            <a:r>
              <a:rPr kumimoji="0" sz="2000" b="0" i="0" u="none" strike="noStrike" kern="0" cap="none" spc="0" normalizeH="0" baseline="0" noProof="0" dirty="0">
                <a:ln>
                  <a:noFill/>
                </a:ln>
                <a:solidFill>
                  <a:srgbClr val="0D0D0D"/>
                </a:solidFill>
                <a:effectLst/>
                <a:uLnTx/>
                <a:uFillTx/>
                <a:latin typeface="Times New Roman"/>
                <a:cs typeface="Times New Roman"/>
              </a:rPr>
              <a:t>1~312,</a:t>
            </a:r>
            <a:r>
              <a:rPr kumimoji="0" sz="2000" b="0" i="0" u="none" strike="noStrike" kern="0" cap="none" spc="-10" normalizeH="0" baseline="0" noProof="0" dirty="0">
                <a:ln>
                  <a:noFill/>
                </a:ln>
                <a:solidFill>
                  <a:srgbClr val="0D0D0D"/>
                </a:solidFill>
                <a:effectLst/>
                <a:uLnTx/>
                <a:uFillTx/>
                <a:latin typeface="Times New Roman"/>
                <a:cs typeface="Times New Roman"/>
              </a:rPr>
              <a:t> </a:t>
            </a:r>
            <a:r>
              <a:rPr kumimoji="0" sz="2000" b="0" i="0" u="none" strike="noStrike" kern="0" cap="none" spc="0" normalizeH="0" baseline="0" noProof="0" dirty="0">
                <a:ln>
                  <a:noFill/>
                </a:ln>
                <a:solidFill>
                  <a:srgbClr val="0D0D0D"/>
                </a:solidFill>
                <a:effectLst/>
                <a:uLnTx/>
                <a:uFillTx/>
                <a:latin typeface="Times New Roman"/>
                <a:cs typeface="Times New Roman"/>
              </a:rPr>
              <a:t>667~716,</a:t>
            </a:r>
            <a:r>
              <a:rPr kumimoji="0" sz="2000" b="0" i="0" u="none" strike="noStrike" kern="0" cap="none" spc="-95" normalizeH="0" baseline="0" noProof="0" dirty="0">
                <a:ln>
                  <a:noFill/>
                </a:ln>
                <a:solidFill>
                  <a:srgbClr val="0D0D0D"/>
                </a:solidFill>
                <a:effectLst/>
                <a:uLnTx/>
                <a:uFillTx/>
                <a:latin typeface="Times New Roman"/>
                <a:cs typeface="Times New Roman"/>
              </a:rPr>
              <a:t> </a:t>
            </a:r>
            <a:r>
              <a:rPr kumimoji="0" sz="2000" b="0" i="0" u="none" strike="noStrike" kern="0" cap="none" spc="-10" normalizeH="0" baseline="0" noProof="0" dirty="0">
                <a:ln>
                  <a:noFill/>
                </a:ln>
                <a:solidFill>
                  <a:srgbClr val="0D0D0D"/>
                </a:solidFill>
                <a:effectLst/>
                <a:uLnTx/>
                <a:uFillTx/>
                <a:latin typeface="Times New Roman"/>
                <a:cs typeface="Times New Roman"/>
              </a:rPr>
              <a:t>991~1023.</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05"/>
              </a:spcBef>
              <a:spcAft>
                <a:spcPts val="0"/>
              </a:spcAft>
              <a:buClrTx/>
              <a:buSzTx/>
              <a:buFontTx/>
              <a:buNone/>
              <a:tabLst/>
              <a:defRPr/>
            </a:pPr>
            <a:r>
              <a:rPr kumimoji="0" sz="2000" b="0" i="0" u="none" strike="noStrike" kern="0" cap="none" spc="-10" normalizeH="0" baseline="0" noProof="0" dirty="0">
                <a:ln>
                  <a:noFill/>
                </a:ln>
                <a:solidFill>
                  <a:srgbClr val="0D0D0D"/>
                </a:solidFill>
                <a:effectLst/>
                <a:uLnTx/>
                <a:uFillTx/>
                <a:latin typeface="Times New Roman"/>
                <a:cs typeface="Times New Roman"/>
              </a:rPr>
              <a:t>313~333.</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a:p>
            <a:pPr marL="29209" marR="0" lvl="0" indent="0" defTabSz="914400" eaLnBrk="1" fontAlgn="auto" latinLnBrk="0" hangingPunct="1">
              <a:lnSpc>
                <a:spcPct val="100000"/>
              </a:lnSpc>
              <a:spcBef>
                <a:spcPts val="600"/>
              </a:spcBef>
              <a:spcAft>
                <a:spcPts val="0"/>
              </a:spcAft>
              <a:buClrTx/>
              <a:buSzTx/>
              <a:buFontTx/>
              <a:buNone/>
              <a:tabLst/>
              <a:defRPr/>
            </a:pPr>
            <a:r>
              <a:rPr kumimoji="0" sz="2000" b="0" i="0" u="none" strike="noStrike" kern="0" cap="none" spc="0" normalizeH="0" baseline="0" noProof="0" dirty="0">
                <a:ln>
                  <a:noFill/>
                </a:ln>
                <a:solidFill>
                  <a:srgbClr val="0D0D0D"/>
                </a:solidFill>
                <a:effectLst/>
                <a:uLnTx/>
                <a:uFillTx/>
                <a:latin typeface="Times New Roman"/>
                <a:cs typeface="Times New Roman"/>
              </a:rPr>
              <a:t>355~666,</a:t>
            </a:r>
            <a:r>
              <a:rPr kumimoji="0" sz="2000" b="0" i="0" u="none" strike="noStrike" kern="0" cap="none" spc="-105" normalizeH="0" baseline="0" noProof="0" dirty="0">
                <a:ln>
                  <a:noFill/>
                </a:ln>
                <a:solidFill>
                  <a:srgbClr val="0D0D0D"/>
                </a:solidFill>
                <a:effectLst/>
                <a:uLnTx/>
                <a:uFillTx/>
                <a:latin typeface="Times New Roman"/>
                <a:cs typeface="Times New Roman"/>
              </a:rPr>
              <a:t> </a:t>
            </a:r>
            <a:r>
              <a:rPr kumimoji="0" sz="2000" b="0" i="0" u="none" strike="noStrike" kern="0" cap="none" spc="-10" normalizeH="0" baseline="0" noProof="0" dirty="0">
                <a:ln>
                  <a:noFill/>
                </a:ln>
                <a:solidFill>
                  <a:srgbClr val="0D0D0D"/>
                </a:solidFill>
                <a:effectLst/>
                <a:uLnTx/>
                <a:uFillTx/>
                <a:latin typeface="Times New Roman"/>
                <a:cs typeface="Times New Roman"/>
              </a:rPr>
              <a:t>717~799.</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6" name="object 16"/>
          <p:cNvSpPr txBox="1"/>
          <p:nvPr/>
        </p:nvSpPr>
        <p:spPr>
          <a:xfrm>
            <a:off x="1121460" y="6241796"/>
            <a:ext cx="4271010" cy="3308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tab pos="3289300" algn="l"/>
              </a:tabLst>
              <a:defRPr/>
            </a:pPr>
            <a:r>
              <a:rPr kumimoji="0" sz="2000" b="0" i="0" u="none" strike="noStrike" kern="0" cap="none" spc="0" normalizeH="0" baseline="0" noProof="0" dirty="0">
                <a:ln>
                  <a:noFill/>
                </a:ln>
                <a:solidFill>
                  <a:srgbClr val="0D0D0D"/>
                </a:solidFill>
                <a:effectLst/>
                <a:uLnTx/>
                <a:uFillTx/>
                <a:latin typeface="Times New Roman"/>
                <a:cs typeface="Times New Roman"/>
              </a:rPr>
              <a:t>control</a:t>
            </a:r>
            <a:r>
              <a:rPr kumimoji="0" sz="2000" b="0" i="0" u="none" strike="noStrike" kern="0" cap="none" spc="-50" normalizeH="0" baseline="0" noProof="0" dirty="0">
                <a:ln>
                  <a:noFill/>
                </a:ln>
                <a:solidFill>
                  <a:srgbClr val="0D0D0D"/>
                </a:solidFill>
                <a:effectLst/>
                <a:uLnTx/>
                <a:uFillTx/>
                <a:latin typeface="Times New Roman"/>
                <a:cs typeface="Times New Roman"/>
              </a:rPr>
              <a:t> </a:t>
            </a:r>
            <a:r>
              <a:rPr kumimoji="0" sz="2000" b="0" i="0" u="none" strike="noStrike" kern="0" cap="none" spc="-10" normalizeH="0" baseline="0" noProof="0" dirty="0">
                <a:ln>
                  <a:noFill/>
                </a:ln>
                <a:solidFill>
                  <a:srgbClr val="0D0D0D"/>
                </a:solidFill>
                <a:effectLst/>
                <a:uLnTx/>
                <a:uFillTx/>
                <a:latin typeface="Times New Roman"/>
                <a:cs typeface="Times New Roman"/>
              </a:rPr>
              <a:t>ch</a:t>
            </a:r>
            <a:r>
              <a:rPr kumimoji="0" sz="2000" b="0" i="0" u="heavy" strike="noStrike" kern="0" cap="none" spc="-10" normalizeH="0" baseline="0" noProof="0" dirty="0">
                <a:ln>
                  <a:noFill/>
                </a:ln>
                <a:solidFill>
                  <a:srgbClr val="0D0D0D"/>
                </a:solidFill>
                <a:effectLst/>
                <a:uLnTx/>
                <a:uFill>
                  <a:solidFill>
                    <a:srgbClr val="FBAF17"/>
                  </a:solidFill>
                </a:uFill>
                <a:latin typeface="Times New Roman"/>
                <a:cs typeface="Times New Roman"/>
              </a:rPr>
              <a:t>annels</a:t>
            </a:r>
            <a:r>
              <a:rPr kumimoji="0" sz="2000" b="0" i="0" u="heavy" strike="noStrike" kern="0" cap="none" spc="0" normalizeH="0" baseline="0" noProof="0" dirty="0">
                <a:ln>
                  <a:noFill/>
                </a:ln>
                <a:solidFill>
                  <a:srgbClr val="0D0D0D"/>
                </a:solidFill>
                <a:effectLst/>
                <a:uLnTx/>
                <a:uFill>
                  <a:solidFill>
                    <a:srgbClr val="FBAF17"/>
                  </a:solidFill>
                </a:uFill>
                <a:latin typeface="Times New Roman"/>
                <a:cs typeface="Times New Roman"/>
              </a:rPr>
              <a:t>	</a:t>
            </a:r>
            <a:r>
              <a:rPr kumimoji="0" sz="2000" b="0" i="0" u="heavy" strike="noStrike" kern="0" cap="none" spc="-10" normalizeH="0" baseline="0" noProof="0" dirty="0">
                <a:ln>
                  <a:noFill/>
                </a:ln>
                <a:solidFill>
                  <a:srgbClr val="0D0D0D"/>
                </a:solidFill>
                <a:effectLst/>
                <a:uLnTx/>
                <a:uFill>
                  <a:solidFill>
                    <a:srgbClr val="FBAF17"/>
                  </a:solidFill>
                </a:uFill>
                <a:latin typeface="Times New Roman"/>
                <a:cs typeface="Times New Roman"/>
              </a:rPr>
              <a:t>33</a:t>
            </a:r>
            <a:r>
              <a:rPr kumimoji="0" sz="2000" b="0" i="0" u="none" strike="noStrike" kern="0" cap="none" spc="-10" normalizeH="0" baseline="0" noProof="0" dirty="0">
                <a:ln>
                  <a:noFill/>
                </a:ln>
                <a:solidFill>
                  <a:srgbClr val="0D0D0D"/>
                </a:solidFill>
                <a:effectLst/>
                <a:uLnTx/>
                <a:uFillTx/>
                <a:latin typeface="Times New Roman"/>
                <a:cs typeface="Times New Roman"/>
              </a:rPr>
              <a:t>4~354.</a:t>
            </a:r>
            <a:endParaRPr kumimoji="0" sz="20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7" name="object 17"/>
          <p:cNvSpPr txBox="1"/>
          <p:nvPr/>
        </p:nvSpPr>
        <p:spPr>
          <a:xfrm>
            <a:off x="8868918" y="6176568"/>
            <a:ext cx="19621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rgbClr val="888888"/>
                </a:solidFill>
                <a:effectLst/>
                <a:uLnTx/>
                <a:uFillTx/>
                <a:latin typeface="Arial MT"/>
                <a:cs typeface="Arial MT"/>
              </a:rPr>
              <a:t>24</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998459" cy="3933825"/>
          </a:xfrm>
          <a:prstGeom prst="rect">
            <a:avLst/>
          </a:prstGeom>
        </p:spPr>
        <p:txBody>
          <a:bodyPr vert="horz" wrap="square" lIns="0" tIns="12700" rIns="0" bIns="0" rtlCol="0">
            <a:spAutoFit/>
          </a:bodyPr>
          <a:lstStyle/>
          <a:p>
            <a:pPr marL="12700" marR="5080" lvl="0" indent="280035" defTabSz="914400" eaLnBrk="1" fontAlgn="auto" latinLnBrk="0" hangingPunct="1">
              <a:lnSpc>
                <a:spcPct val="120000"/>
              </a:lnSpc>
              <a:spcBef>
                <a:spcPts val="100"/>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provided</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bank</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trunked</a:t>
            </a:r>
            <a:r>
              <a:rPr kumimoji="0" sz="24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voice 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815"/>
              </a:spcBef>
              <a:spcAft>
                <a:spcPts val="0"/>
              </a:spcAft>
              <a:buClr>
                <a:srgbClr val="5F5F5F"/>
              </a:buClr>
              <a:buSzTx/>
              <a:buFont typeface="Wingdings"/>
              <a:buChar char=""/>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1083310" lvl="0" indent="-268605" defTabSz="914400" eaLnBrk="1" fontAlgn="auto" latinLnBrk="0" hangingPunct="1">
              <a:lnSpc>
                <a:spcPct val="100000"/>
              </a:lnSpc>
              <a:spcBef>
                <a:spcPts val="0"/>
              </a:spcBef>
              <a:spcAft>
                <a:spcPts val="0"/>
              </a:spcAft>
              <a:buClr>
                <a:srgbClr val="5F5F5F"/>
              </a:buClr>
              <a:buSzTx/>
              <a:buFont typeface="Wingdings"/>
              <a:buChar char=""/>
              <a:tabLst>
                <a:tab pos="292735" algn="l"/>
                <a:tab pos="130683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2400" b="0" i="0" u="none" strike="noStrike" kern="0" cap="none" spc="-1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AMPS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single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single control</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245"/>
              </a:spcBef>
              <a:spcAft>
                <a:spcPts val="0"/>
              </a:spcAft>
              <a:buClr>
                <a:srgbClr val="5F5F5F"/>
              </a:buClr>
              <a:buSzTx/>
              <a:buFont typeface="Wingdings"/>
              <a:buChar char=""/>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112395" lvl="0" indent="-268605" defTabSz="914400" eaLnBrk="1" fontAlgn="auto" latinLnBrk="0" hangingPunct="1">
              <a:lnSpc>
                <a:spcPct val="100000"/>
              </a:lnSpc>
              <a:spcBef>
                <a:spcPts val="0"/>
              </a:spcBef>
              <a:spcAft>
                <a:spcPts val="0"/>
              </a:spcAft>
              <a:buClr>
                <a:srgbClr val="5F5F5F"/>
              </a:buClr>
              <a:buSzTx/>
              <a:buFont typeface="Wingdings"/>
              <a:buChar char=""/>
              <a:tabLst>
                <a:tab pos="292735" algn="l"/>
                <a:tab pos="816610" algn="l"/>
                <a:tab pos="1130935"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Thus,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control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obey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21-cell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scheme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are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assigned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over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three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before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being</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even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through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voice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 assigned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using</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seven-</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reuse scheme.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234</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9930"/>
            <a:ext cx="7898130" cy="4421505"/>
          </a:xfrm>
          <a:prstGeom prst="rect">
            <a:avLst/>
          </a:prstGeom>
        </p:spPr>
        <p:txBody>
          <a:bodyPr vert="horz" wrap="square" lIns="0" tIns="53975" rIns="0" bIns="0" rtlCol="0">
            <a:spAutoFit/>
          </a:bodyPr>
          <a:lstStyle/>
          <a:p>
            <a:pPr marL="292735" marR="400685" lvl="0" indent="-268605" defTabSz="914400" eaLnBrk="1" fontAlgn="auto" latinLnBrk="0" hangingPunct="1">
              <a:lnSpc>
                <a:spcPts val="2590"/>
              </a:lnSpc>
              <a:spcBef>
                <a:spcPts val="425"/>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395 voice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divided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21</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subsets,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each</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88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containing</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about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19</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533400" lvl="0" indent="-268605" defTabSz="914400" eaLnBrk="1" fontAlgn="auto" latinLnBrk="0" hangingPunct="1">
              <a:lnSpc>
                <a:spcPts val="2590"/>
              </a:lnSpc>
              <a:spcBef>
                <a:spcPts val="1240"/>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subset,</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closest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adjacent</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21</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channels away.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0" lvl="0" indent="-267970" defTabSz="914400" eaLnBrk="1" fontAlgn="auto" latinLnBrk="0" hangingPunct="1">
              <a:lnSpc>
                <a:spcPct val="100000"/>
              </a:lnSpc>
              <a:spcBef>
                <a:spcPts val="880"/>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seven-cell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uses three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subsets</a:t>
            </a:r>
            <a:r>
              <a:rPr kumimoji="0" sz="24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910"/>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0" lvl="0" indent="-267970" defTabSz="914400" eaLnBrk="1" fontAlgn="auto" latinLnBrk="0" hangingPunct="1">
              <a:lnSpc>
                <a:spcPct val="100000"/>
              </a:lnSpc>
              <a:spcBef>
                <a:spcPts val="915"/>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assignment</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scheme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illustrated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Table</a:t>
            </a:r>
            <a:r>
              <a:rPr kumimoji="0" sz="2400" b="0" i="0" u="none" strike="noStrike" kern="0" cap="none" spc="-2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3.2.</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0" lvl="0" indent="-267970" defTabSz="914400" eaLnBrk="1" fontAlgn="auto" latinLnBrk="0" hangingPunct="1">
              <a:lnSpc>
                <a:spcPct val="100000"/>
              </a:lnSpc>
              <a:spcBef>
                <a:spcPts val="910"/>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voice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cell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 about</a:t>
            </a:r>
            <a:r>
              <a:rPr kumimoji="0" sz="2400" b="0" i="0" u="none" strike="noStrike" kern="0" cap="none" spc="-1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57.</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2735" marR="0" lvl="0" indent="-267970" defTabSz="914400" eaLnBrk="1" fontAlgn="auto" latinLnBrk="0" hangingPunct="1">
              <a:lnSpc>
                <a:spcPct val="100000"/>
              </a:lnSpc>
              <a:spcBef>
                <a:spcPts val="915"/>
              </a:spcBef>
              <a:spcAft>
                <a:spcPts val="0"/>
              </a:spcAft>
              <a:buClr>
                <a:srgbClr val="5F5F5F"/>
              </a:buClr>
              <a:buSzTx/>
              <a:buFont typeface="Wingdings"/>
              <a:buChar char=""/>
              <a:tabLst>
                <a:tab pos="29273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shaded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correspond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control</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235</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6785" y="10523"/>
            <a:ext cx="6744970" cy="6847476"/>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236</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700" rIns="0" bIns="0" rtlCol="0">
            <a:spAutoFit/>
          </a:bodyPr>
          <a:lstStyle/>
          <a:p>
            <a:pPr marL="279400" marR="5080" indent="-267335" algn="just">
              <a:lnSpc>
                <a:spcPct val="100000"/>
              </a:lnSpc>
              <a:spcBef>
                <a:spcPts val="100"/>
              </a:spcBef>
              <a:buClr>
                <a:srgbClr val="5F5F5F"/>
              </a:buClr>
              <a:buFont typeface="Wingdings"/>
              <a:buChar char=""/>
              <a:tabLst>
                <a:tab pos="280670" algn="l"/>
              </a:tabLst>
            </a:pPr>
            <a:r>
              <a:rPr dirty="0"/>
              <a:t>The</a:t>
            </a:r>
            <a:r>
              <a:rPr spc="65" dirty="0"/>
              <a:t>  </a:t>
            </a:r>
            <a:r>
              <a:rPr dirty="0"/>
              <a:t>power</a:t>
            </a:r>
            <a:r>
              <a:rPr spc="65" dirty="0"/>
              <a:t>  </a:t>
            </a:r>
            <a:r>
              <a:rPr dirty="0"/>
              <a:t>levels</a:t>
            </a:r>
            <a:r>
              <a:rPr spc="70" dirty="0"/>
              <a:t>  </a:t>
            </a:r>
            <a:r>
              <a:rPr dirty="0"/>
              <a:t>transmitted</a:t>
            </a:r>
            <a:r>
              <a:rPr spc="60" dirty="0"/>
              <a:t>  </a:t>
            </a:r>
            <a:r>
              <a:rPr dirty="0"/>
              <a:t>by</a:t>
            </a:r>
            <a:r>
              <a:rPr spc="60" dirty="0"/>
              <a:t>  </a:t>
            </a:r>
            <a:r>
              <a:rPr dirty="0"/>
              <a:t>every</a:t>
            </a:r>
            <a:r>
              <a:rPr spc="70" dirty="0"/>
              <a:t>  </a:t>
            </a:r>
            <a:r>
              <a:rPr dirty="0"/>
              <a:t>subscriber</a:t>
            </a:r>
            <a:r>
              <a:rPr spc="70" dirty="0"/>
              <a:t>  </a:t>
            </a:r>
            <a:r>
              <a:rPr dirty="0"/>
              <a:t>unit</a:t>
            </a:r>
            <a:r>
              <a:rPr spc="60" dirty="0"/>
              <a:t>  </a:t>
            </a:r>
            <a:r>
              <a:rPr spc="-25" dirty="0"/>
              <a:t>are 	</a:t>
            </a:r>
            <a:r>
              <a:rPr dirty="0"/>
              <a:t>under</a:t>
            </a:r>
            <a:r>
              <a:rPr spc="-10" dirty="0"/>
              <a:t> </a:t>
            </a:r>
            <a:r>
              <a:rPr dirty="0"/>
              <a:t>constant</a:t>
            </a:r>
            <a:r>
              <a:rPr spc="-20" dirty="0"/>
              <a:t> </a:t>
            </a:r>
            <a:r>
              <a:rPr dirty="0"/>
              <a:t>control</a:t>
            </a:r>
            <a:r>
              <a:rPr spc="-25" dirty="0"/>
              <a:t> </a:t>
            </a:r>
            <a:r>
              <a:rPr dirty="0"/>
              <a:t>by</a:t>
            </a:r>
            <a:r>
              <a:rPr spc="-5" dirty="0"/>
              <a:t> </a:t>
            </a:r>
            <a:r>
              <a:rPr dirty="0"/>
              <a:t>the</a:t>
            </a:r>
            <a:r>
              <a:rPr spc="-10" dirty="0"/>
              <a:t> </a:t>
            </a:r>
            <a:r>
              <a:rPr dirty="0"/>
              <a:t>serving</a:t>
            </a:r>
            <a:r>
              <a:rPr spc="-45" dirty="0"/>
              <a:t> </a:t>
            </a:r>
            <a:r>
              <a:rPr dirty="0"/>
              <a:t>base</a:t>
            </a:r>
            <a:r>
              <a:rPr spc="-110" dirty="0"/>
              <a:t> </a:t>
            </a:r>
            <a:r>
              <a:rPr spc="-10" dirty="0"/>
              <a:t>stations.</a:t>
            </a:r>
          </a:p>
          <a:p>
            <a:pPr marL="279400" marR="165100" indent="-267335" algn="just">
              <a:lnSpc>
                <a:spcPct val="100000"/>
              </a:lnSpc>
              <a:spcBef>
                <a:spcPts val="600"/>
              </a:spcBef>
              <a:buClr>
                <a:srgbClr val="5F5F5F"/>
              </a:buClr>
              <a:buFont typeface="Wingdings"/>
              <a:buChar char=""/>
              <a:tabLst>
                <a:tab pos="280670" algn="l"/>
              </a:tabLst>
            </a:pPr>
            <a:r>
              <a:rPr dirty="0"/>
              <a:t>To</a:t>
            </a:r>
            <a:r>
              <a:rPr spc="60" dirty="0"/>
              <a:t>  </a:t>
            </a:r>
            <a:r>
              <a:rPr dirty="0"/>
              <a:t>ensure</a:t>
            </a:r>
            <a:r>
              <a:rPr spc="55" dirty="0"/>
              <a:t>  </a:t>
            </a:r>
            <a:r>
              <a:rPr dirty="0"/>
              <a:t>that</a:t>
            </a:r>
            <a:r>
              <a:rPr spc="55" dirty="0"/>
              <a:t>  </a:t>
            </a:r>
            <a:r>
              <a:rPr dirty="0"/>
              <a:t>each</a:t>
            </a:r>
            <a:r>
              <a:rPr spc="65" dirty="0"/>
              <a:t>  </a:t>
            </a:r>
            <a:r>
              <a:rPr dirty="0"/>
              <a:t>mobile</a:t>
            </a:r>
            <a:r>
              <a:rPr spc="55" dirty="0"/>
              <a:t>  </a:t>
            </a:r>
            <a:r>
              <a:rPr dirty="0"/>
              <a:t>transmits</a:t>
            </a:r>
            <a:r>
              <a:rPr spc="55" dirty="0"/>
              <a:t>  </a:t>
            </a:r>
            <a:r>
              <a:rPr dirty="0"/>
              <a:t>the</a:t>
            </a:r>
            <a:r>
              <a:rPr spc="60" dirty="0"/>
              <a:t>  </a:t>
            </a:r>
            <a:r>
              <a:rPr dirty="0"/>
              <a:t>smallest</a:t>
            </a:r>
            <a:r>
              <a:rPr spc="60" dirty="0"/>
              <a:t>  </a:t>
            </a:r>
            <a:r>
              <a:rPr spc="-10" dirty="0"/>
              <a:t>power 	</a:t>
            </a:r>
            <a:r>
              <a:rPr dirty="0"/>
              <a:t>necessary</a:t>
            </a:r>
            <a:r>
              <a:rPr spc="45" dirty="0"/>
              <a:t>  </a:t>
            </a:r>
            <a:r>
              <a:rPr dirty="0"/>
              <a:t>to</a:t>
            </a:r>
            <a:r>
              <a:rPr spc="55" dirty="0"/>
              <a:t>  </a:t>
            </a:r>
            <a:r>
              <a:rPr dirty="0"/>
              <a:t>maintain</a:t>
            </a:r>
            <a:r>
              <a:rPr spc="45" dirty="0"/>
              <a:t>  </a:t>
            </a:r>
            <a:r>
              <a:rPr dirty="0"/>
              <a:t>a</a:t>
            </a:r>
            <a:r>
              <a:rPr spc="50" dirty="0"/>
              <a:t>  </a:t>
            </a:r>
            <a:r>
              <a:rPr dirty="0"/>
              <a:t>good</a:t>
            </a:r>
            <a:r>
              <a:rPr spc="50" dirty="0"/>
              <a:t>  </a:t>
            </a:r>
            <a:r>
              <a:rPr dirty="0"/>
              <a:t>quality</a:t>
            </a:r>
            <a:r>
              <a:rPr spc="50" dirty="0"/>
              <a:t>  </a:t>
            </a:r>
            <a:r>
              <a:rPr dirty="0"/>
              <a:t>link</a:t>
            </a:r>
            <a:r>
              <a:rPr spc="50" dirty="0"/>
              <a:t>  </a:t>
            </a:r>
            <a:r>
              <a:rPr dirty="0"/>
              <a:t>on</a:t>
            </a:r>
            <a:r>
              <a:rPr spc="45" dirty="0"/>
              <a:t>  </a:t>
            </a:r>
            <a:r>
              <a:rPr dirty="0"/>
              <a:t>the</a:t>
            </a:r>
            <a:r>
              <a:rPr spc="60" dirty="0"/>
              <a:t>  </a:t>
            </a:r>
            <a:r>
              <a:rPr spc="-10" dirty="0"/>
              <a:t>reverse 	channel.</a:t>
            </a:r>
          </a:p>
          <a:p>
            <a:pPr marL="280035" indent="-267335" algn="just">
              <a:lnSpc>
                <a:spcPct val="100000"/>
              </a:lnSpc>
              <a:spcBef>
                <a:spcPts val="600"/>
              </a:spcBef>
              <a:buClr>
                <a:srgbClr val="5F5F5F"/>
              </a:buClr>
              <a:buFont typeface="Wingdings"/>
              <a:buChar char=""/>
              <a:tabLst>
                <a:tab pos="280035" algn="l"/>
              </a:tabLst>
            </a:pPr>
            <a:r>
              <a:rPr dirty="0"/>
              <a:t>Prolong</a:t>
            </a:r>
            <a:r>
              <a:rPr spc="-15" dirty="0"/>
              <a:t> </a:t>
            </a:r>
            <a:r>
              <a:rPr dirty="0"/>
              <a:t>battery</a:t>
            </a:r>
            <a:r>
              <a:rPr spc="-50" dirty="0"/>
              <a:t> </a:t>
            </a:r>
            <a:r>
              <a:rPr dirty="0"/>
              <a:t>life</a:t>
            </a:r>
            <a:r>
              <a:rPr spc="-35" dirty="0"/>
              <a:t> </a:t>
            </a:r>
            <a:r>
              <a:rPr dirty="0"/>
              <a:t>and</a:t>
            </a:r>
            <a:r>
              <a:rPr spc="-15" dirty="0"/>
              <a:t> </a:t>
            </a:r>
            <a:r>
              <a:rPr dirty="0"/>
              <a:t>reduce</a:t>
            </a:r>
            <a:r>
              <a:rPr spc="-10" dirty="0"/>
              <a:t> </a:t>
            </a:r>
            <a:r>
              <a:rPr dirty="0"/>
              <a:t>the</a:t>
            </a:r>
            <a:r>
              <a:rPr spc="-20" dirty="0"/>
              <a:t> </a:t>
            </a:r>
            <a:r>
              <a:rPr dirty="0"/>
              <a:t>reverse</a:t>
            </a:r>
            <a:r>
              <a:rPr spc="-45" dirty="0"/>
              <a:t> </a:t>
            </a:r>
            <a:r>
              <a:rPr dirty="0"/>
              <a:t>channel</a:t>
            </a:r>
            <a:r>
              <a:rPr spc="-25" dirty="0"/>
              <a:t> </a:t>
            </a:r>
            <a:r>
              <a:rPr i="1" dirty="0">
                <a:latin typeface="Times New Roman"/>
                <a:cs typeface="Times New Roman"/>
              </a:rPr>
              <a:t>S/I</a:t>
            </a:r>
            <a:r>
              <a:rPr i="1" spc="-110" dirty="0">
                <a:latin typeface="Times New Roman"/>
                <a:cs typeface="Times New Roman"/>
              </a:rPr>
              <a:t> </a:t>
            </a:r>
            <a:r>
              <a:rPr i="1" spc="-50" dirty="0">
                <a:latin typeface="Times New Roman"/>
                <a:cs typeface="Times New Roman"/>
              </a:rPr>
              <a: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237</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104139" rIns="0" bIns="0" rtlCol="0">
            <a:spAutoFit/>
          </a:bodyPr>
          <a:lstStyle/>
          <a:p>
            <a:pPr marL="12700" marR="5080">
              <a:lnSpc>
                <a:spcPts val="3600"/>
              </a:lnSpc>
              <a:spcBef>
                <a:spcPts val="819"/>
              </a:spcBef>
            </a:pPr>
            <a:r>
              <a:rPr spc="-145" dirty="0"/>
              <a:t>Power</a:t>
            </a:r>
            <a:r>
              <a:rPr spc="-310" dirty="0"/>
              <a:t> </a:t>
            </a:r>
            <a:r>
              <a:rPr spc="-155" dirty="0"/>
              <a:t>Control</a:t>
            </a:r>
            <a:r>
              <a:rPr spc="-225" dirty="0"/>
              <a:t> </a:t>
            </a:r>
            <a:r>
              <a:rPr spc="-120" dirty="0"/>
              <a:t>for</a:t>
            </a:r>
            <a:r>
              <a:rPr spc="-315" dirty="0"/>
              <a:t> </a:t>
            </a:r>
            <a:r>
              <a:rPr spc="-135" dirty="0"/>
              <a:t>Reducing </a:t>
            </a:r>
            <a:r>
              <a:rPr spc="-75" dirty="0"/>
              <a:t>Interference</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700" rIns="0" bIns="0" rtlCol="0">
            <a:spAutoFit/>
          </a:bodyPr>
          <a:lstStyle/>
          <a:p>
            <a:pPr marL="279400" marR="374015" indent="-267335" algn="just">
              <a:lnSpc>
                <a:spcPct val="100000"/>
              </a:lnSpc>
              <a:spcBef>
                <a:spcPts val="100"/>
              </a:spcBef>
              <a:buClr>
                <a:srgbClr val="5F5F5F"/>
              </a:buClr>
              <a:buFont typeface="Wingdings"/>
              <a:buChar char=""/>
              <a:tabLst>
                <a:tab pos="280670" algn="l"/>
              </a:tabLst>
            </a:pPr>
            <a:r>
              <a:rPr dirty="0"/>
              <a:t>The</a:t>
            </a:r>
            <a:r>
              <a:rPr spc="240" dirty="0"/>
              <a:t> </a:t>
            </a:r>
            <a:r>
              <a:rPr dirty="0"/>
              <a:t>concept</a:t>
            </a:r>
            <a:r>
              <a:rPr spc="229" dirty="0"/>
              <a:t> </a:t>
            </a:r>
            <a:r>
              <a:rPr dirty="0"/>
              <a:t>of</a:t>
            </a:r>
            <a:r>
              <a:rPr spc="235" dirty="0"/>
              <a:t> </a:t>
            </a:r>
            <a:r>
              <a:rPr b="1" dirty="0">
                <a:latin typeface="Times New Roman"/>
                <a:cs typeface="Times New Roman"/>
              </a:rPr>
              <a:t>trunking</a:t>
            </a:r>
            <a:r>
              <a:rPr b="1" spc="245" dirty="0">
                <a:latin typeface="Times New Roman"/>
                <a:cs typeface="Times New Roman"/>
              </a:rPr>
              <a:t> </a:t>
            </a:r>
            <a:r>
              <a:rPr dirty="0"/>
              <a:t>allows</a:t>
            </a:r>
            <a:r>
              <a:rPr spc="240" dirty="0"/>
              <a:t> </a:t>
            </a:r>
            <a:r>
              <a:rPr dirty="0"/>
              <a:t>a</a:t>
            </a:r>
            <a:r>
              <a:rPr spc="215" dirty="0"/>
              <a:t> </a:t>
            </a:r>
            <a:r>
              <a:rPr dirty="0"/>
              <a:t>large</a:t>
            </a:r>
            <a:r>
              <a:rPr spc="250" dirty="0"/>
              <a:t> </a:t>
            </a:r>
            <a:r>
              <a:rPr dirty="0"/>
              <a:t>number</a:t>
            </a:r>
            <a:r>
              <a:rPr spc="245" dirty="0"/>
              <a:t> </a:t>
            </a:r>
            <a:r>
              <a:rPr dirty="0"/>
              <a:t>of</a:t>
            </a:r>
            <a:r>
              <a:rPr spc="235" dirty="0"/>
              <a:t> </a:t>
            </a:r>
            <a:r>
              <a:rPr dirty="0"/>
              <a:t>user</a:t>
            </a:r>
            <a:r>
              <a:rPr spc="254" dirty="0"/>
              <a:t> </a:t>
            </a:r>
            <a:r>
              <a:rPr spc="-25" dirty="0"/>
              <a:t>to 	</a:t>
            </a:r>
            <a:r>
              <a:rPr dirty="0"/>
              <a:t>share</a:t>
            </a:r>
            <a:r>
              <a:rPr spc="325" dirty="0"/>
              <a:t> </a:t>
            </a:r>
            <a:r>
              <a:rPr dirty="0"/>
              <a:t>the</a:t>
            </a:r>
            <a:r>
              <a:rPr spc="330" dirty="0"/>
              <a:t> </a:t>
            </a:r>
            <a:r>
              <a:rPr dirty="0"/>
              <a:t>relatively</a:t>
            </a:r>
            <a:r>
              <a:rPr spc="345" dirty="0"/>
              <a:t> </a:t>
            </a:r>
            <a:r>
              <a:rPr dirty="0"/>
              <a:t>small</a:t>
            </a:r>
            <a:r>
              <a:rPr spc="315" dirty="0"/>
              <a:t> </a:t>
            </a:r>
            <a:r>
              <a:rPr dirty="0"/>
              <a:t>number</a:t>
            </a:r>
            <a:r>
              <a:rPr spc="340" dirty="0"/>
              <a:t> </a:t>
            </a:r>
            <a:r>
              <a:rPr dirty="0"/>
              <a:t>of</a:t>
            </a:r>
            <a:r>
              <a:rPr spc="325" dirty="0"/>
              <a:t> </a:t>
            </a:r>
            <a:r>
              <a:rPr dirty="0"/>
              <a:t>channels</a:t>
            </a:r>
            <a:r>
              <a:rPr spc="330" dirty="0"/>
              <a:t> </a:t>
            </a:r>
            <a:r>
              <a:rPr dirty="0"/>
              <a:t>in</a:t>
            </a:r>
            <a:r>
              <a:rPr spc="330" dirty="0"/>
              <a:t> </a:t>
            </a:r>
            <a:r>
              <a:rPr dirty="0"/>
              <a:t>a</a:t>
            </a:r>
            <a:r>
              <a:rPr spc="335" dirty="0"/>
              <a:t> </a:t>
            </a:r>
            <a:r>
              <a:rPr dirty="0"/>
              <a:t>cell</a:t>
            </a:r>
            <a:r>
              <a:rPr spc="335" dirty="0"/>
              <a:t> </a:t>
            </a:r>
            <a:r>
              <a:rPr spc="-25" dirty="0"/>
              <a:t>by 	</a:t>
            </a:r>
            <a:r>
              <a:rPr dirty="0"/>
              <a:t>providing</a:t>
            </a:r>
            <a:r>
              <a:rPr spc="310" dirty="0"/>
              <a:t> </a:t>
            </a:r>
            <a:r>
              <a:rPr dirty="0"/>
              <a:t>access</a:t>
            </a:r>
            <a:r>
              <a:rPr spc="310" dirty="0"/>
              <a:t> </a:t>
            </a:r>
            <a:r>
              <a:rPr dirty="0"/>
              <a:t>to</a:t>
            </a:r>
            <a:r>
              <a:rPr spc="320" dirty="0"/>
              <a:t> </a:t>
            </a:r>
            <a:r>
              <a:rPr dirty="0"/>
              <a:t>each</a:t>
            </a:r>
            <a:r>
              <a:rPr spc="315" dirty="0"/>
              <a:t> </a:t>
            </a:r>
            <a:r>
              <a:rPr dirty="0"/>
              <a:t>user,</a:t>
            </a:r>
            <a:r>
              <a:rPr spc="310" dirty="0"/>
              <a:t> </a:t>
            </a:r>
            <a:r>
              <a:rPr dirty="0"/>
              <a:t>on</a:t>
            </a:r>
            <a:r>
              <a:rPr spc="315" dirty="0"/>
              <a:t> </a:t>
            </a:r>
            <a:r>
              <a:rPr dirty="0"/>
              <a:t>demand,</a:t>
            </a:r>
            <a:r>
              <a:rPr spc="320" dirty="0"/>
              <a:t> </a:t>
            </a:r>
            <a:r>
              <a:rPr dirty="0"/>
              <a:t>from</a:t>
            </a:r>
            <a:r>
              <a:rPr spc="300" dirty="0"/>
              <a:t> </a:t>
            </a:r>
            <a:r>
              <a:rPr dirty="0"/>
              <a:t>a</a:t>
            </a:r>
            <a:r>
              <a:rPr spc="315" dirty="0"/>
              <a:t> </a:t>
            </a:r>
            <a:r>
              <a:rPr dirty="0"/>
              <a:t>pool</a:t>
            </a:r>
            <a:r>
              <a:rPr spc="325" dirty="0"/>
              <a:t> </a:t>
            </a:r>
            <a:r>
              <a:rPr spc="-25" dirty="0"/>
              <a:t>of 	</a:t>
            </a:r>
            <a:r>
              <a:rPr dirty="0"/>
              <a:t>available</a:t>
            </a:r>
            <a:r>
              <a:rPr spc="-95" dirty="0"/>
              <a:t> </a:t>
            </a:r>
            <a:r>
              <a:rPr spc="-10" dirty="0"/>
              <a:t>channels.</a:t>
            </a:r>
          </a:p>
          <a:p>
            <a:pPr marL="280035" indent="-267335" algn="just">
              <a:lnSpc>
                <a:spcPct val="100000"/>
              </a:lnSpc>
              <a:spcBef>
                <a:spcPts val="600"/>
              </a:spcBef>
              <a:buClr>
                <a:srgbClr val="5F5F5F"/>
              </a:buClr>
              <a:buFont typeface="Wingdings"/>
              <a:buChar char=""/>
              <a:tabLst>
                <a:tab pos="280035" algn="l"/>
              </a:tabLst>
            </a:pPr>
            <a:r>
              <a:rPr dirty="0"/>
              <a:t>A</a:t>
            </a:r>
            <a:r>
              <a:rPr spc="-140" dirty="0"/>
              <a:t> </a:t>
            </a:r>
            <a:r>
              <a:rPr dirty="0"/>
              <a:t>user</a:t>
            </a:r>
            <a:r>
              <a:rPr spc="-10" dirty="0"/>
              <a:t> </a:t>
            </a:r>
            <a:r>
              <a:rPr dirty="0"/>
              <a:t>is</a:t>
            </a:r>
            <a:r>
              <a:rPr spc="-20" dirty="0"/>
              <a:t> </a:t>
            </a:r>
            <a:r>
              <a:rPr b="1" dirty="0">
                <a:latin typeface="Times New Roman"/>
                <a:cs typeface="Times New Roman"/>
              </a:rPr>
              <a:t>blocked</a:t>
            </a:r>
            <a:r>
              <a:rPr dirty="0"/>
              <a:t>,</a:t>
            </a:r>
            <a:r>
              <a:rPr spc="-20" dirty="0"/>
              <a:t> </a:t>
            </a:r>
            <a:r>
              <a:rPr dirty="0"/>
              <a:t>i.e.,</a:t>
            </a:r>
            <a:r>
              <a:rPr spc="-60" dirty="0"/>
              <a:t> </a:t>
            </a:r>
            <a:r>
              <a:rPr dirty="0"/>
              <a:t>denied</a:t>
            </a:r>
            <a:r>
              <a:rPr spc="-15" dirty="0"/>
              <a:t> </a:t>
            </a:r>
            <a:r>
              <a:rPr dirty="0"/>
              <a:t>access</a:t>
            </a:r>
            <a:r>
              <a:rPr spc="-50" dirty="0"/>
              <a:t> </a:t>
            </a:r>
            <a:r>
              <a:rPr dirty="0"/>
              <a:t>to</a:t>
            </a:r>
            <a:r>
              <a:rPr spc="-20" dirty="0"/>
              <a:t> </a:t>
            </a:r>
            <a:r>
              <a:rPr dirty="0"/>
              <a:t>the</a:t>
            </a:r>
            <a:r>
              <a:rPr spc="-100" dirty="0"/>
              <a:t> </a:t>
            </a:r>
            <a:r>
              <a:rPr spc="-10" dirty="0"/>
              <a:t>system.</a:t>
            </a:r>
          </a:p>
          <a:p>
            <a:pPr marL="279400" marR="5080" indent="-267335" algn="just">
              <a:lnSpc>
                <a:spcPct val="100000"/>
              </a:lnSpc>
              <a:spcBef>
                <a:spcPts val="600"/>
              </a:spcBef>
              <a:buClr>
                <a:srgbClr val="5F5F5F"/>
              </a:buClr>
              <a:buFont typeface="Wingdings"/>
              <a:buChar char=""/>
              <a:tabLst>
                <a:tab pos="280670" algn="l"/>
              </a:tabLst>
            </a:pPr>
            <a:r>
              <a:rPr dirty="0"/>
              <a:t>In</a:t>
            </a:r>
            <a:r>
              <a:rPr spc="310" dirty="0"/>
              <a:t> </a:t>
            </a:r>
            <a:r>
              <a:rPr dirty="0"/>
              <a:t>some</a:t>
            </a:r>
            <a:r>
              <a:rPr spc="305" dirty="0"/>
              <a:t> </a:t>
            </a:r>
            <a:r>
              <a:rPr dirty="0"/>
              <a:t>system,</a:t>
            </a:r>
            <a:r>
              <a:rPr spc="315" dirty="0"/>
              <a:t> </a:t>
            </a:r>
            <a:r>
              <a:rPr dirty="0"/>
              <a:t>a</a:t>
            </a:r>
            <a:r>
              <a:rPr spc="320" dirty="0"/>
              <a:t> </a:t>
            </a:r>
            <a:r>
              <a:rPr dirty="0"/>
              <a:t>queue</a:t>
            </a:r>
            <a:r>
              <a:rPr spc="315" dirty="0"/>
              <a:t> </a:t>
            </a:r>
            <a:r>
              <a:rPr dirty="0"/>
              <a:t>may</a:t>
            </a:r>
            <a:r>
              <a:rPr spc="315" dirty="0"/>
              <a:t> </a:t>
            </a:r>
            <a:r>
              <a:rPr dirty="0"/>
              <a:t>be</a:t>
            </a:r>
            <a:r>
              <a:rPr spc="315" dirty="0"/>
              <a:t> </a:t>
            </a:r>
            <a:r>
              <a:rPr dirty="0"/>
              <a:t>used</a:t>
            </a:r>
            <a:r>
              <a:rPr spc="315" dirty="0"/>
              <a:t> </a:t>
            </a:r>
            <a:r>
              <a:rPr dirty="0"/>
              <a:t>to</a:t>
            </a:r>
            <a:r>
              <a:rPr spc="315" dirty="0"/>
              <a:t> </a:t>
            </a:r>
            <a:r>
              <a:rPr dirty="0"/>
              <a:t>hold</a:t>
            </a:r>
            <a:r>
              <a:rPr spc="305" dirty="0"/>
              <a:t> </a:t>
            </a:r>
            <a:r>
              <a:rPr dirty="0"/>
              <a:t>the</a:t>
            </a:r>
            <a:r>
              <a:rPr spc="310" dirty="0"/>
              <a:t> </a:t>
            </a:r>
            <a:r>
              <a:rPr spc="-10" dirty="0"/>
              <a:t>requesting 	</a:t>
            </a:r>
            <a:r>
              <a:rPr dirty="0"/>
              <a:t>users</a:t>
            </a:r>
            <a:r>
              <a:rPr spc="-30" dirty="0"/>
              <a:t> </a:t>
            </a:r>
            <a:r>
              <a:rPr dirty="0"/>
              <a:t>until</a:t>
            </a:r>
            <a:r>
              <a:rPr spc="-35" dirty="0"/>
              <a:t> </a:t>
            </a:r>
            <a:r>
              <a:rPr dirty="0"/>
              <a:t>a</a:t>
            </a:r>
            <a:r>
              <a:rPr spc="-15" dirty="0"/>
              <a:t> </a:t>
            </a:r>
            <a:r>
              <a:rPr dirty="0"/>
              <a:t>channel</a:t>
            </a:r>
            <a:r>
              <a:rPr spc="-40" dirty="0"/>
              <a:t> </a:t>
            </a:r>
            <a:r>
              <a:rPr dirty="0"/>
              <a:t>becomes</a:t>
            </a:r>
            <a:r>
              <a:rPr spc="-105" dirty="0"/>
              <a:t> </a:t>
            </a:r>
            <a:r>
              <a:rPr spc="-10" dirty="0"/>
              <a:t>available.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238</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25" dirty="0"/>
              <a:t>Trunking</a:t>
            </a:r>
            <a:r>
              <a:rPr spc="-120" dirty="0"/>
              <a:t> </a:t>
            </a:r>
            <a:r>
              <a:rPr spc="-105" dirty="0"/>
              <a:t>and</a:t>
            </a:r>
            <a:r>
              <a:rPr spc="-290" dirty="0"/>
              <a:t> </a:t>
            </a:r>
            <a:r>
              <a:rPr spc="-140" dirty="0"/>
              <a:t>Grade</a:t>
            </a:r>
            <a:r>
              <a:rPr spc="-280" dirty="0"/>
              <a:t> </a:t>
            </a:r>
            <a:r>
              <a:rPr spc="-90" dirty="0"/>
              <a:t>of</a:t>
            </a:r>
            <a:r>
              <a:rPr spc="-215" dirty="0"/>
              <a:t> </a:t>
            </a:r>
            <a:r>
              <a:rPr spc="-120" dirty="0"/>
              <a:t>Service</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030209" cy="2507615"/>
          </a:xfrm>
          <a:prstGeom prst="rect">
            <a:avLst/>
          </a:prstGeom>
        </p:spPr>
        <p:txBody>
          <a:bodyPr vert="horz" wrap="square" lIns="0" tIns="12700" rIns="0" bIns="0" rtlCol="0">
            <a:spAutoFit/>
          </a:bodyPr>
          <a:lstStyle/>
          <a:p>
            <a:pPr marL="292735" marR="5080" lvl="0" indent="-268605" defTabSz="914400" eaLnBrk="1" fontAlgn="auto" latinLnBrk="0" hangingPunct="1">
              <a:lnSpc>
                <a:spcPct val="100000"/>
              </a:lnSpc>
              <a:spcBef>
                <a:spcPts val="100"/>
              </a:spcBef>
              <a:spcAft>
                <a:spcPts val="0"/>
              </a:spcAft>
              <a:buClr>
                <a:srgbClr val="5F5F5F"/>
              </a:buClr>
              <a:buSzTx/>
              <a:buFont typeface="Wingdings"/>
              <a:buChar char=""/>
              <a:tabLst>
                <a:tab pos="292735" algn="l"/>
                <a:tab pos="762762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1" i="0" u="none" strike="noStrike" kern="0" cap="none" spc="0" normalizeH="0" baseline="0" noProof="0" dirty="0">
                <a:ln>
                  <a:noFill/>
                </a:ln>
                <a:solidFill>
                  <a:sysClr val="windowText" lastClr="000000"/>
                </a:solidFill>
                <a:effectLst/>
                <a:uLnTx/>
                <a:uFillTx/>
                <a:latin typeface="Times New Roman"/>
                <a:cs typeface="Times New Roman"/>
              </a:rPr>
              <a:t>Erlang</a:t>
            </a:r>
            <a:r>
              <a:rPr kumimoji="0" sz="2400" b="1"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represents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amount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intensity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carried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completely</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occupied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hour</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per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hour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call-</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minute</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a:t>
            </a:r>
            <a:r>
              <a:rPr kumimoji="0" sz="2400" b="0" i="0" u="none" strike="noStrike" kern="0" cap="none" spc="-10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minute).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6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example: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939165" marR="1940560" lvl="0" indent="-343535" defTabSz="914400" eaLnBrk="1" fontAlgn="auto" latinLnBrk="0" hangingPunct="1">
              <a:lnSpc>
                <a:spcPts val="381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0.5</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Erlangs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occupied</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30</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minutes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during</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24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hour.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239</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83942" y="6550673"/>
            <a:ext cx="7060565" cy="53340"/>
            <a:chOff x="2083942" y="6550673"/>
            <a:chExt cx="7060565" cy="53340"/>
          </a:xfrm>
        </p:grpSpPr>
        <p:sp>
          <p:nvSpPr>
            <p:cNvPr id="3" name="object 3"/>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2133599"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6815454"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6" name="object 6"/>
          <p:cNvPicPr/>
          <p:nvPr/>
        </p:nvPicPr>
        <p:blipFill>
          <a:blip r:embed="rId2" cstate="print"/>
          <a:stretch>
            <a:fillRect/>
          </a:stretch>
        </p:blipFill>
        <p:spPr>
          <a:xfrm>
            <a:off x="6629400" y="0"/>
            <a:ext cx="2193163" cy="692658"/>
          </a:xfrm>
          <a:prstGeom prst="rect">
            <a:avLst/>
          </a:prstGeom>
        </p:spPr>
      </p:pic>
      <p:grpSp>
        <p:nvGrpSpPr>
          <p:cNvPr id="7" name="object 7"/>
          <p:cNvGrpSpPr/>
          <p:nvPr/>
        </p:nvGrpSpPr>
        <p:grpSpPr>
          <a:xfrm>
            <a:off x="0" y="1295401"/>
            <a:ext cx="7010400" cy="45720"/>
            <a:chOff x="0" y="1295401"/>
            <a:chExt cx="7010400" cy="45720"/>
          </a:xfrm>
        </p:grpSpPr>
        <p:sp>
          <p:nvSpPr>
            <p:cNvPr id="8" name="object 8"/>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 name="object 11"/>
          <p:cNvSpPr txBox="1">
            <a:spLocks noGrp="1"/>
          </p:cNvSpPr>
          <p:nvPr>
            <p:ph type="title"/>
          </p:nvPr>
        </p:nvSpPr>
        <p:spPr>
          <a:xfrm>
            <a:off x="383540" y="1516507"/>
            <a:ext cx="7942580" cy="1854835"/>
          </a:xfrm>
          <a:prstGeom prst="rect">
            <a:avLst/>
          </a:prstGeom>
        </p:spPr>
        <p:txBody>
          <a:bodyPr vert="horz" wrap="square" lIns="0" tIns="12700" rIns="0" bIns="0" rtlCol="0">
            <a:spAutoFit/>
          </a:bodyPr>
          <a:lstStyle/>
          <a:p>
            <a:pPr marL="355600" marR="5080" indent="-342900">
              <a:lnSpc>
                <a:spcPct val="100000"/>
              </a:lnSpc>
              <a:spcBef>
                <a:spcPts val="100"/>
              </a:spcBef>
              <a:tabLst>
                <a:tab pos="4584700" algn="l"/>
                <a:tab pos="7172959" algn="l"/>
                <a:tab pos="7380605" algn="l"/>
                <a:tab pos="7421245" algn="l"/>
              </a:tabLst>
            </a:pPr>
            <a:r>
              <a:rPr sz="2400" b="0" dirty="0">
                <a:latin typeface="Times New Roman"/>
                <a:cs typeface="Times New Roman"/>
              </a:rPr>
              <a:t>The</a:t>
            </a:r>
            <a:r>
              <a:rPr sz="2400" b="0" spc="-30" dirty="0">
                <a:latin typeface="Times New Roman"/>
                <a:cs typeface="Times New Roman"/>
              </a:rPr>
              <a:t> </a:t>
            </a:r>
            <a:r>
              <a:rPr sz="2400" dirty="0"/>
              <a:t>grade</a:t>
            </a:r>
            <a:r>
              <a:rPr sz="2400" spc="-10" dirty="0"/>
              <a:t> </a:t>
            </a:r>
            <a:r>
              <a:rPr sz="2400" dirty="0"/>
              <a:t>of</a:t>
            </a:r>
            <a:r>
              <a:rPr sz="2400" spc="-5" dirty="0"/>
              <a:t> </a:t>
            </a:r>
            <a:r>
              <a:rPr sz="2400" dirty="0"/>
              <a:t>service</a:t>
            </a:r>
            <a:r>
              <a:rPr sz="2400" spc="-55" dirty="0"/>
              <a:t> </a:t>
            </a:r>
            <a:r>
              <a:rPr sz="2400" dirty="0"/>
              <a:t>(GOS)</a:t>
            </a:r>
            <a:r>
              <a:rPr sz="2400" spc="-25" dirty="0"/>
              <a:t> </a:t>
            </a:r>
            <a:r>
              <a:rPr sz="2400" b="0" dirty="0">
                <a:latin typeface="Times New Roman"/>
                <a:cs typeface="Times New Roman"/>
              </a:rPr>
              <a:t>is</a:t>
            </a:r>
            <a:r>
              <a:rPr sz="2400" b="0" spc="-15" dirty="0">
                <a:latin typeface="Times New Roman"/>
                <a:cs typeface="Times New Roman"/>
              </a:rPr>
              <a:t> </a:t>
            </a:r>
            <a:r>
              <a:rPr sz="2400" b="0" dirty="0">
                <a:latin typeface="Times New Roman"/>
                <a:cs typeface="Times New Roman"/>
              </a:rPr>
              <a:t>a</a:t>
            </a:r>
            <a:r>
              <a:rPr sz="2400" b="0" spc="-15" dirty="0">
                <a:latin typeface="Times New Roman"/>
                <a:cs typeface="Times New Roman"/>
              </a:rPr>
              <a:t> </a:t>
            </a:r>
            <a:r>
              <a:rPr sz="2400" b="0" dirty="0">
                <a:latin typeface="Times New Roman"/>
                <a:cs typeface="Times New Roman"/>
              </a:rPr>
              <a:t>measure</a:t>
            </a:r>
            <a:r>
              <a:rPr sz="2400" b="0" spc="-50" dirty="0">
                <a:latin typeface="Times New Roman"/>
                <a:cs typeface="Times New Roman"/>
              </a:rPr>
              <a:t> </a:t>
            </a:r>
            <a:r>
              <a:rPr sz="2400" b="0" dirty="0">
                <a:latin typeface="Times New Roman"/>
                <a:cs typeface="Times New Roman"/>
              </a:rPr>
              <a:t>of</a:t>
            </a:r>
            <a:r>
              <a:rPr sz="2400" b="0" spc="-10" dirty="0">
                <a:latin typeface="Times New Roman"/>
                <a:cs typeface="Times New Roman"/>
              </a:rPr>
              <a:t> </a:t>
            </a:r>
            <a:r>
              <a:rPr sz="2400" b="0" dirty="0">
                <a:latin typeface="Times New Roman"/>
                <a:cs typeface="Times New Roman"/>
              </a:rPr>
              <a:t>the</a:t>
            </a:r>
            <a:r>
              <a:rPr sz="2400" b="0" spc="-15" dirty="0">
                <a:latin typeface="Times New Roman"/>
                <a:cs typeface="Times New Roman"/>
              </a:rPr>
              <a:t> </a:t>
            </a:r>
            <a:r>
              <a:rPr sz="2400" b="0" dirty="0">
                <a:latin typeface="Times New Roman"/>
                <a:cs typeface="Times New Roman"/>
              </a:rPr>
              <a:t>ability</a:t>
            </a:r>
            <a:r>
              <a:rPr sz="2400" b="0" spc="-45" dirty="0">
                <a:latin typeface="Times New Roman"/>
                <a:cs typeface="Times New Roman"/>
              </a:rPr>
              <a:t> </a:t>
            </a:r>
            <a:r>
              <a:rPr sz="2400" b="0" dirty="0">
                <a:latin typeface="Times New Roman"/>
                <a:cs typeface="Times New Roman"/>
              </a:rPr>
              <a:t>of</a:t>
            </a:r>
            <a:r>
              <a:rPr sz="2400" b="0" spc="-20" dirty="0">
                <a:latin typeface="Times New Roman"/>
                <a:cs typeface="Times New Roman"/>
              </a:rPr>
              <a:t> </a:t>
            </a:r>
            <a:r>
              <a:rPr sz="2400" b="0" spc="-50" dirty="0">
                <a:latin typeface="Times New Roman"/>
                <a:cs typeface="Times New Roman"/>
              </a:rPr>
              <a:t>a</a:t>
            </a:r>
            <a:r>
              <a:rPr sz="2400" b="0" dirty="0">
                <a:latin typeface="Times New Roman"/>
                <a:cs typeface="Times New Roman"/>
              </a:rPr>
              <a:t>		</a:t>
            </a:r>
            <a:r>
              <a:rPr sz="2400" b="0" spc="-20" dirty="0">
                <a:latin typeface="Times New Roman"/>
                <a:cs typeface="Times New Roman"/>
              </a:rPr>
              <a:t>user </a:t>
            </a:r>
            <a:r>
              <a:rPr sz="2400" b="0" dirty="0">
                <a:latin typeface="Times New Roman"/>
                <a:cs typeface="Times New Roman"/>
              </a:rPr>
              <a:t>to</a:t>
            </a:r>
            <a:r>
              <a:rPr sz="2400" b="0" spc="-15" dirty="0">
                <a:latin typeface="Times New Roman"/>
                <a:cs typeface="Times New Roman"/>
              </a:rPr>
              <a:t> </a:t>
            </a:r>
            <a:r>
              <a:rPr sz="2400" b="0" dirty="0">
                <a:latin typeface="Times New Roman"/>
                <a:cs typeface="Times New Roman"/>
              </a:rPr>
              <a:t>access</a:t>
            </a:r>
            <a:r>
              <a:rPr sz="2400" b="0" spc="-50" dirty="0">
                <a:latin typeface="Times New Roman"/>
                <a:cs typeface="Times New Roman"/>
              </a:rPr>
              <a:t> </a:t>
            </a:r>
            <a:r>
              <a:rPr sz="2400" b="0" dirty="0">
                <a:latin typeface="Times New Roman"/>
                <a:cs typeface="Times New Roman"/>
              </a:rPr>
              <a:t>a</a:t>
            </a:r>
            <a:r>
              <a:rPr sz="2400" b="0" spc="-20" dirty="0">
                <a:latin typeface="Times New Roman"/>
                <a:cs typeface="Times New Roman"/>
              </a:rPr>
              <a:t> </a:t>
            </a:r>
            <a:r>
              <a:rPr sz="2400" b="0" dirty="0">
                <a:latin typeface="Times New Roman"/>
                <a:cs typeface="Times New Roman"/>
              </a:rPr>
              <a:t>trunked</a:t>
            </a:r>
            <a:r>
              <a:rPr sz="2400" b="0" spc="-15" dirty="0">
                <a:latin typeface="Times New Roman"/>
                <a:cs typeface="Times New Roman"/>
              </a:rPr>
              <a:t> </a:t>
            </a:r>
            <a:r>
              <a:rPr sz="2400" b="0" dirty="0">
                <a:latin typeface="Times New Roman"/>
                <a:cs typeface="Times New Roman"/>
              </a:rPr>
              <a:t>system</a:t>
            </a:r>
            <a:r>
              <a:rPr sz="2400" b="0" spc="-30" dirty="0">
                <a:latin typeface="Times New Roman"/>
                <a:cs typeface="Times New Roman"/>
              </a:rPr>
              <a:t> </a:t>
            </a:r>
            <a:r>
              <a:rPr sz="2400" b="0" dirty="0">
                <a:latin typeface="Times New Roman"/>
                <a:cs typeface="Times New Roman"/>
              </a:rPr>
              <a:t>during</a:t>
            </a:r>
            <a:r>
              <a:rPr sz="2400" b="0" spc="-25" dirty="0">
                <a:latin typeface="Times New Roman"/>
                <a:cs typeface="Times New Roman"/>
              </a:rPr>
              <a:t> </a:t>
            </a:r>
            <a:r>
              <a:rPr sz="2400" b="0" dirty="0">
                <a:latin typeface="Times New Roman"/>
                <a:cs typeface="Times New Roman"/>
              </a:rPr>
              <a:t>the busiest</a:t>
            </a:r>
            <a:r>
              <a:rPr sz="2400" b="0" spc="-55" dirty="0">
                <a:latin typeface="Times New Roman"/>
                <a:cs typeface="Times New Roman"/>
              </a:rPr>
              <a:t> </a:t>
            </a:r>
            <a:r>
              <a:rPr sz="2400" b="0" spc="-25" dirty="0">
                <a:latin typeface="Times New Roman"/>
                <a:cs typeface="Times New Roman"/>
              </a:rPr>
              <a:t>hour,</a:t>
            </a:r>
            <a:r>
              <a:rPr sz="2400" b="0" spc="-110" dirty="0">
                <a:latin typeface="Times New Roman"/>
                <a:cs typeface="Times New Roman"/>
              </a:rPr>
              <a:t> </a:t>
            </a:r>
            <a:r>
              <a:rPr sz="2400" b="0" spc="-25" dirty="0">
                <a:latin typeface="Times New Roman"/>
                <a:cs typeface="Times New Roman"/>
              </a:rPr>
              <a:t>and</a:t>
            </a:r>
            <a:r>
              <a:rPr sz="2400" b="0" dirty="0">
                <a:latin typeface="Times New Roman"/>
                <a:cs typeface="Times New Roman"/>
              </a:rPr>
              <a:t>	</a:t>
            </a:r>
            <a:r>
              <a:rPr sz="2400" b="0" spc="-25" dirty="0">
                <a:latin typeface="Times New Roman"/>
                <a:cs typeface="Times New Roman"/>
              </a:rPr>
              <a:t>is </a:t>
            </a:r>
            <a:r>
              <a:rPr sz="2400" b="0" dirty="0">
                <a:latin typeface="Times New Roman"/>
                <a:cs typeface="Times New Roman"/>
              </a:rPr>
              <a:t>typically</a:t>
            </a:r>
            <a:r>
              <a:rPr sz="2400" b="0" spc="-50" dirty="0">
                <a:latin typeface="Times New Roman"/>
                <a:cs typeface="Times New Roman"/>
              </a:rPr>
              <a:t> </a:t>
            </a:r>
            <a:r>
              <a:rPr sz="2400" b="0" dirty="0">
                <a:latin typeface="Times New Roman"/>
                <a:cs typeface="Times New Roman"/>
              </a:rPr>
              <a:t>given</a:t>
            </a:r>
            <a:r>
              <a:rPr sz="2400" b="0" spc="-20" dirty="0">
                <a:latin typeface="Times New Roman"/>
                <a:cs typeface="Times New Roman"/>
              </a:rPr>
              <a:t> </a:t>
            </a:r>
            <a:r>
              <a:rPr sz="2400" b="0" dirty="0">
                <a:latin typeface="Times New Roman"/>
                <a:cs typeface="Times New Roman"/>
              </a:rPr>
              <a:t>as</a:t>
            </a:r>
            <a:r>
              <a:rPr sz="2400" b="0" spc="-10" dirty="0">
                <a:latin typeface="Times New Roman"/>
                <a:cs typeface="Times New Roman"/>
              </a:rPr>
              <a:t> </a:t>
            </a:r>
            <a:r>
              <a:rPr sz="2400" b="0" dirty="0">
                <a:latin typeface="Times New Roman"/>
                <a:cs typeface="Times New Roman"/>
              </a:rPr>
              <a:t>the</a:t>
            </a:r>
            <a:r>
              <a:rPr sz="2400" b="0" spc="-30" dirty="0">
                <a:latin typeface="Times New Roman"/>
                <a:cs typeface="Times New Roman"/>
              </a:rPr>
              <a:t> </a:t>
            </a:r>
            <a:r>
              <a:rPr sz="2400" b="0" dirty="0">
                <a:latin typeface="Times New Roman"/>
                <a:cs typeface="Times New Roman"/>
              </a:rPr>
              <a:t>likelihood</a:t>
            </a:r>
            <a:r>
              <a:rPr sz="2400" b="0" spc="-35" dirty="0">
                <a:latin typeface="Times New Roman"/>
                <a:cs typeface="Times New Roman"/>
              </a:rPr>
              <a:t> </a:t>
            </a:r>
            <a:r>
              <a:rPr sz="2400" b="0" dirty="0">
                <a:latin typeface="Times New Roman"/>
                <a:cs typeface="Times New Roman"/>
              </a:rPr>
              <a:t>that</a:t>
            </a:r>
            <a:r>
              <a:rPr sz="2400" b="0" spc="-25" dirty="0">
                <a:latin typeface="Times New Roman"/>
                <a:cs typeface="Times New Roman"/>
              </a:rPr>
              <a:t> </a:t>
            </a:r>
            <a:r>
              <a:rPr sz="2400" b="0" dirty="0">
                <a:latin typeface="Times New Roman"/>
                <a:cs typeface="Times New Roman"/>
              </a:rPr>
              <a:t>a</a:t>
            </a:r>
            <a:r>
              <a:rPr sz="2400" b="0" spc="-5" dirty="0">
                <a:latin typeface="Times New Roman"/>
                <a:cs typeface="Times New Roman"/>
              </a:rPr>
              <a:t> </a:t>
            </a:r>
            <a:r>
              <a:rPr sz="2400" b="0" dirty="0">
                <a:latin typeface="Times New Roman"/>
                <a:cs typeface="Times New Roman"/>
              </a:rPr>
              <a:t>call</a:t>
            </a:r>
            <a:r>
              <a:rPr sz="2400" b="0" spc="-50" dirty="0">
                <a:latin typeface="Times New Roman"/>
                <a:cs typeface="Times New Roman"/>
              </a:rPr>
              <a:t> </a:t>
            </a:r>
            <a:r>
              <a:rPr sz="2400" b="0" dirty="0">
                <a:latin typeface="Times New Roman"/>
                <a:cs typeface="Times New Roman"/>
              </a:rPr>
              <a:t>is</a:t>
            </a:r>
            <a:r>
              <a:rPr sz="2400" b="0" spc="-20" dirty="0">
                <a:latin typeface="Times New Roman"/>
                <a:cs typeface="Times New Roman"/>
              </a:rPr>
              <a:t> </a:t>
            </a:r>
            <a:r>
              <a:rPr sz="2400" b="0" dirty="0">
                <a:latin typeface="Times New Roman"/>
                <a:cs typeface="Times New Roman"/>
              </a:rPr>
              <a:t>blocked,</a:t>
            </a:r>
            <a:r>
              <a:rPr sz="2400" b="0" spc="-25" dirty="0">
                <a:latin typeface="Times New Roman"/>
                <a:cs typeface="Times New Roman"/>
              </a:rPr>
              <a:t> or</a:t>
            </a:r>
            <a:r>
              <a:rPr sz="2400" b="0" dirty="0">
                <a:latin typeface="Times New Roman"/>
                <a:cs typeface="Times New Roman"/>
              </a:rPr>
              <a:t>	</a:t>
            </a:r>
            <a:r>
              <a:rPr sz="2400" b="0" spc="-25" dirty="0">
                <a:latin typeface="Times New Roman"/>
                <a:cs typeface="Times New Roman"/>
              </a:rPr>
              <a:t>the </a:t>
            </a:r>
            <a:r>
              <a:rPr sz="2400" b="0" dirty="0">
                <a:latin typeface="Times New Roman"/>
                <a:cs typeface="Times New Roman"/>
              </a:rPr>
              <a:t>likelihood</a:t>
            </a:r>
            <a:r>
              <a:rPr sz="2400" b="0" spc="-45" dirty="0">
                <a:latin typeface="Times New Roman"/>
                <a:cs typeface="Times New Roman"/>
              </a:rPr>
              <a:t> </a:t>
            </a:r>
            <a:r>
              <a:rPr sz="2400" b="0" dirty="0">
                <a:latin typeface="Times New Roman"/>
                <a:cs typeface="Times New Roman"/>
              </a:rPr>
              <a:t>of</a:t>
            </a:r>
            <a:r>
              <a:rPr sz="2400" b="0" spc="-10" dirty="0">
                <a:latin typeface="Times New Roman"/>
                <a:cs typeface="Times New Roman"/>
              </a:rPr>
              <a:t> </a:t>
            </a:r>
            <a:r>
              <a:rPr sz="2400" b="0" dirty="0">
                <a:latin typeface="Times New Roman"/>
                <a:cs typeface="Times New Roman"/>
              </a:rPr>
              <a:t>a</a:t>
            </a:r>
            <a:r>
              <a:rPr sz="2400" b="0" spc="-20" dirty="0">
                <a:latin typeface="Times New Roman"/>
                <a:cs typeface="Times New Roman"/>
              </a:rPr>
              <a:t> </a:t>
            </a:r>
            <a:r>
              <a:rPr sz="2400" b="0" dirty="0">
                <a:latin typeface="Times New Roman"/>
                <a:cs typeface="Times New Roman"/>
              </a:rPr>
              <a:t>call</a:t>
            </a:r>
            <a:r>
              <a:rPr sz="2400" b="0" spc="-40" dirty="0">
                <a:latin typeface="Times New Roman"/>
                <a:cs typeface="Times New Roman"/>
              </a:rPr>
              <a:t> </a:t>
            </a:r>
            <a:r>
              <a:rPr sz="2400" b="0" spc="-10" dirty="0">
                <a:latin typeface="Times New Roman"/>
                <a:cs typeface="Times New Roman"/>
              </a:rPr>
              <a:t>experiencing</a:t>
            </a:r>
            <a:r>
              <a:rPr sz="2400" b="0" dirty="0">
                <a:latin typeface="Times New Roman"/>
                <a:cs typeface="Times New Roman"/>
              </a:rPr>
              <a:t>	a</a:t>
            </a:r>
            <a:r>
              <a:rPr sz="2400" b="0" spc="-5" dirty="0">
                <a:latin typeface="Times New Roman"/>
                <a:cs typeface="Times New Roman"/>
              </a:rPr>
              <a:t> </a:t>
            </a:r>
            <a:r>
              <a:rPr sz="2400" b="0" dirty="0">
                <a:latin typeface="Times New Roman"/>
                <a:cs typeface="Times New Roman"/>
              </a:rPr>
              <a:t>delay</a:t>
            </a:r>
            <a:r>
              <a:rPr sz="2400" b="0" spc="-25" dirty="0">
                <a:latin typeface="Times New Roman"/>
                <a:cs typeface="Times New Roman"/>
              </a:rPr>
              <a:t> </a:t>
            </a:r>
            <a:r>
              <a:rPr sz="2400" b="0" dirty="0">
                <a:latin typeface="Times New Roman"/>
                <a:cs typeface="Times New Roman"/>
              </a:rPr>
              <a:t>greater</a:t>
            </a:r>
            <a:r>
              <a:rPr sz="2400" b="0" spc="-45" dirty="0">
                <a:latin typeface="Times New Roman"/>
                <a:cs typeface="Times New Roman"/>
              </a:rPr>
              <a:t> </a:t>
            </a:r>
            <a:r>
              <a:rPr sz="2400" b="0" dirty="0">
                <a:latin typeface="Times New Roman"/>
                <a:cs typeface="Times New Roman"/>
              </a:rPr>
              <a:t>than</a:t>
            </a:r>
            <a:r>
              <a:rPr sz="2400" b="0" spc="-30" dirty="0">
                <a:latin typeface="Times New Roman"/>
                <a:cs typeface="Times New Roman"/>
              </a:rPr>
              <a:t> </a:t>
            </a:r>
            <a:r>
              <a:rPr sz="2400" b="0" spc="-50" dirty="0">
                <a:latin typeface="Times New Roman"/>
                <a:cs typeface="Times New Roman"/>
              </a:rPr>
              <a:t>a </a:t>
            </a:r>
            <a:r>
              <a:rPr sz="2400" b="0" dirty="0">
                <a:latin typeface="Times New Roman"/>
                <a:cs typeface="Times New Roman"/>
              </a:rPr>
              <a:t>certain</a:t>
            </a:r>
            <a:r>
              <a:rPr sz="2400" b="0" spc="-60" dirty="0">
                <a:latin typeface="Times New Roman"/>
                <a:cs typeface="Times New Roman"/>
              </a:rPr>
              <a:t> </a:t>
            </a:r>
            <a:r>
              <a:rPr sz="2400" b="0" dirty="0">
                <a:latin typeface="Times New Roman"/>
                <a:cs typeface="Times New Roman"/>
              </a:rPr>
              <a:t>queuing</a:t>
            </a:r>
            <a:r>
              <a:rPr sz="2400" b="0" spc="-40" dirty="0">
                <a:latin typeface="Times New Roman"/>
                <a:cs typeface="Times New Roman"/>
              </a:rPr>
              <a:t> </a:t>
            </a:r>
            <a:r>
              <a:rPr sz="2400" b="0" spc="-20" dirty="0">
                <a:latin typeface="Times New Roman"/>
                <a:cs typeface="Times New Roman"/>
              </a:rPr>
              <a:t>time.</a:t>
            </a:r>
            <a:endParaRPr sz="24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240</a:t>
            </a:fld>
            <a:endParaRPr kumimoji="0" sz="1200" b="0" i="0" u="none" strike="noStrike" kern="0" cap="none" spc="-25" normalizeH="0" baseline="0" noProof="0" dirty="0">
              <a:ln>
                <a:noFill/>
              </a:ln>
              <a:solidFill>
                <a:srgbClr val="888888"/>
              </a:solidFill>
              <a:effectLst/>
              <a:uLnTx/>
              <a:uFillTx/>
              <a:latin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7746365" cy="4746625"/>
          </a:xfrm>
          <a:prstGeom prst="rect">
            <a:avLst/>
          </a:prstGeom>
        </p:spPr>
        <p:txBody>
          <a:bodyPr vert="horz" wrap="square" lIns="0" tIns="12700" rIns="0" bIns="0" rtlCol="0">
            <a:spAutoFit/>
          </a:bodyPr>
          <a:lstStyle/>
          <a:p>
            <a:pPr marL="12700" marR="523240" lvl="0" indent="0" defTabSz="914400" eaLnBrk="1" fontAlgn="auto" latinLnBrk="0" hangingPunct="1">
              <a:lnSpc>
                <a:spcPct val="120000"/>
              </a:lnSpc>
              <a:spcBef>
                <a:spcPts val="100"/>
              </a:spcBef>
              <a:spcAft>
                <a:spcPts val="0"/>
              </a:spcAft>
              <a:buClrTx/>
              <a:buSzTx/>
              <a:buFontTx/>
              <a:buNone/>
              <a:tabLst>
                <a:tab pos="1110615" algn="l"/>
              </a:tabLst>
              <a:defRPr/>
            </a:pPr>
            <a:r>
              <a:rPr kumimoji="0" sz="2400" b="0" i="0" u="none" strike="noStrike" kern="0" cap="none" spc="-10" normalizeH="0" baseline="0" noProof="0" dirty="0">
                <a:ln>
                  <a:noFill/>
                </a:ln>
                <a:solidFill>
                  <a:srgbClr val="3366FF"/>
                </a:solidFill>
                <a:effectLst/>
                <a:uLnTx/>
                <a:uFillTx/>
                <a:latin typeface="Times New Roman"/>
                <a:cs typeface="Times New Roman"/>
              </a:rPr>
              <a:t>Set-</a:t>
            </a:r>
            <a:r>
              <a:rPr kumimoji="0" sz="2400" b="0" i="0" u="none" strike="noStrike" kern="0" cap="none" spc="0" normalizeH="0" baseline="0" noProof="0" dirty="0">
                <a:ln>
                  <a:noFill/>
                </a:ln>
                <a:solidFill>
                  <a:srgbClr val="3366FF"/>
                </a:solidFill>
                <a:effectLst/>
                <a:uLnTx/>
                <a:uFillTx/>
                <a:latin typeface="Times New Roman"/>
                <a:cs typeface="Times New Roman"/>
              </a:rPr>
              <a:t>up</a:t>
            </a:r>
            <a:r>
              <a:rPr kumimoji="0" sz="2400" b="0" i="0" u="none" strike="noStrike" kern="0" cap="none" spc="-60" normalizeH="0" baseline="0" noProof="0" dirty="0">
                <a:ln>
                  <a:noFill/>
                </a:ln>
                <a:solidFill>
                  <a:srgbClr val="3366FF"/>
                </a:solidFill>
                <a:effectLst/>
                <a:uLnTx/>
                <a:uFillTx/>
                <a:latin typeface="Times New Roman"/>
                <a:cs typeface="Times New Roman"/>
              </a:rPr>
              <a:t> </a:t>
            </a:r>
            <a:r>
              <a:rPr kumimoji="0" sz="2400" b="0" i="0" u="none" strike="noStrike" kern="0" cap="none" spc="-55" normalizeH="0" baseline="0" noProof="0" dirty="0">
                <a:ln>
                  <a:noFill/>
                </a:ln>
                <a:solidFill>
                  <a:srgbClr val="3366FF"/>
                </a:solidFill>
                <a:effectLst/>
                <a:uLnTx/>
                <a:uFillTx/>
                <a:latin typeface="Times New Roman"/>
                <a:cs typeface="Times New Roman"/>
              </a:rPr>
              <a:t>Time</a:t>
            </a:r>
            <a:r>
              <a:rPr kumimoji="0" sz="2400" b="0" i="0" u="none" strike="noStrike" kern="0" cap="none" spc="-6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required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allocate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trunked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radio channel</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requesting</a:t>
            </a:r>
            <a:r>
              <a:rPr kumimoji="0" sz="24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user.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4765" marR="648970" lvl="0" indent="0" defTabSz="914400" eaLnBrk="1" fontAlgn="auto" latinLnBrk="0" hangingPunct="1">
              <a:lnSpc>
                <a:spcPct val="103299"/>
              </a:lnSpc>
              <a:spcBef>
                <a:spcPts val="2030"/>
              </a:spcBef>
              <a:spcAft>
                <a:spcPts val="0"/>
              </a:spcAft>
              <a:buClrTx/>
              <a:buSzTx/>
              <a:buFontTx/>
              <a:buNone/>
              <a:tabLst>
                <a:tab pos="1131570" algn="l"/>
              </a:tabLst>
              <a:defRPr/>
            </a:pPr>
            <a:r>
              <a:rPr kumimoji="0" sz="2400" b="0" i="1" u="none" strike="noStrike" kern="0" cap="none" spc="0" normalizeH="0" baseline="0" noProof="0" dirty="0">
                <a:ln>
                  <a:noFill/>
                </a:ln>
                <a:solidFill>
                  <a:srgbClr val="3366FF"/>
                </a:solidFill>
                <a:effectLst/>
                <a:uLnTx/>
                <a:uFillTx/>
                <a:latin typeface="Times New Roman"/>
                <a:cs typeface="Times New Roman"/>
              </a:rPr>
              <a:t>Blocked</a:t>
            </a:r>
            <a:r>
              <a:rPr kumimoji="0" sz="2400" b="0" i="1" u="none" strike="noStrike" kern="0" cap="none" spc="-45" normalizeH="0" baseline="0" noProof="0" dirty="0">
                <a:ln>
                  <a:noFill/>
                </a:ln>
                <a:solidFill>
                  <a:srgbClr val="3366FF"/>
                </a:solidFill>
                <a:effectLst/>
                <a:uLnTx/>
                <a:uFillTx/>
                <a:latin typeface="Times New Roman"/>
                <a:cs typeface="Times New Roman"/>
              </a:rPr>
              <a:t> </a:t>
            </a:r>
            <a:r>
              <a:rPr kumimoji="0" sz="2400" b="0" i="1" u="none" strike="noStrike" kern="0" cap="none" spc="0" normalizeH="0" baseline="0" noProof="0" dirty="0">
                <a:ln>
                  <a:noFill/>
                </a:ln>
                <a:solidFill>
                  <a:srgbClr val="3366FF"/>
                </a:solidFill>
                <a:effectLst/>
                <a:uLnTx/>
                <a:uFillTx/>
                <a:latin typeface="Times New Roman"/>
                <a:cs typeface="Times New Roman"/>
              </a:rPr>
              <a:t>Call</a:t>
            </a:r>
            <a:r>
              <a:rPr kumimoji="0" sz="2400" b="0" i="1" u="none" strike="noStrike" kern="0" cap="none" spc="-40"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229"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cannot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completed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request,</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due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congestion.</a:t>
            </a:r>
            <a:r>
              <a:rPr kumimoji="0" sz="2400" b="0" i="0"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Also</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referred</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lost</a:t>
            </a:r>
            <a:r>
              <a:rPr kumimoji="0" sz="2400" b="0" i="1" u="none" strike="noStrike" kern="0" cap="none" spc="-229"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4765" marR="0" lvl="0" indent="0" defTabSz="914400" eaLnBrk="1" fontAlgn="auto" latinLnBrk="0" hangingPunct="1">
              <a:lnSpc>
                <a:spcPct val="100000"/>
              </a:lnSpc>
              <a:spcBef>
                <a:spcPts val="2500"/>
              </a:spcBef>
              <a:spcAft>
                <a:spcPts val="0"/>
              </a:spcAft>
              <a:buClrTx/>
              <a:buSzTx/>
              <a:buFontTx/>
              <a:buNone/>
              <a:tabLst/>
              <a:defRPr/>
            </a:pPr>
            <a:r>
              <a:rPr kumimoji="0" sz="2400" b="0" i="1" u="none" strike="noStrike" kern="0" cap="none" spc="0" normalizeH="0" baseline="0" noProof="0" dirty="0">
                <a:ln>
                  <a:noFill/>
                </a:ln>
                <a:solidFill>
                  <a:srgbClr val="3366FF"/>
                </a:solidFill>
                <a:effectLst/>
                <a:uLnTx/>
                <a:uFillTx/>
                <a:latin typeface="Times New Roman"/>
                <a:cs typeface="Times New Roman"/>
              </a:rPr>
              <a:t>Holding</a:t>
            </a:r>
            <a:r>
              <a:rPr kumimoji="0" sz="2400" b="0" i="1" u="none" strike="noStrike" kern="0" cap="none" spc="-85" normalizeH="0" baseline="0" noProof="0" dirty="0">
                <a:ln>
                  <a:noFill/>
                </a:ln>
                <a:solidFill>
                  <a:srgbClr val="3366FF"/>
                </a:solidFill>
                <a:effectLst/>
                <a:uLnTx/>
                <a:uFillTx/>
                <a:latin typeface="Times New Roman"/>
                <a:cs typeface="Times New Roman"/>
              </a:rPr>
              <a:t> </a:t>
            </a:r>
            <a:r>
              <a:rPr kumimoji="0" sz="2400" b="0" i="1" u="none" strike="noStrike" kern="0" cap="none" spc="-60" normalizeH="0" baseline="0" noProof="0" dirty="0">
                <a:ln>
                  <a:noFill/>
                </a:ln>
                <a:solidFill>
                  <a:srgbClr val="3366FF"/>
                </a:solidFill>
                <a:effectLst/>
                <a:uLnTx/>
                <a:uFillTx/>
                <a:latin typeface="Times New Roman"/>
                <a:cs typeface="Times New Roman"/>
              </a:rPr>
              <a:t>Time</a:t>
            </a:r>
            <a:r>
              <a:rPr kumimoji="0" sz="2400" b="0" i="1" u="none" strike="noStrike" kern="0" cap="none" spc="-2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Average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duration</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typical</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Denoted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be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4765" marR="0" lvl="0" indent="0" defTabSz="914400" eaLnBrk="1" fontAlgn="auto" latinLnBrk="0" hangingPunct="1">
              <a:lnSpc>
                <a:spcPct val="100000"/>
              </a:lnSpc>
              <a:spcBef>
                <a:spcPts val="575"/>
              </a:spcBef>
              <a:spcAft>
                <a:spcPts val="0"/>
              </a:spcAft>
              <a:buClrTx/>
              <a:buSzTx/>
              <a:buFontTx/>
              <a:buNone/>
              <a:tabLst>
                <a:tab pos="734695" algn="l"/>
              </a:tabLst>
              <a:defRPr/>
            </a:pPr>
            <a:r>
              <a:rPr kumimoji="0" sz="2400" b="0" i="1" u="none" strike="noStrike" kern="0" cap="none" spc="-20" normalizeH="0" baseline="0" noProof="0" dirty="0">
                <a:ln>
                  <a:noFill/>
                </a:ln>
                <a:solidFill>
                  <a:sysClr val="windowText" lastClr="000000"/>
                </a:solidFill>
                <a:effectLst/>
                <a:uLnTx/>
                <a:uFillTx/>
                <a:latin typeface="Times New Roman"/>
                <a:cs typeface="Times New Roman"/>
              </a:rPr>
              <a:t>H</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seconds).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4765" marR="5080" lvl="0" indent="0" defTabSz="914400" eaLnBrk="1" fontAlgn="auto" latinLnBrk="0" hangingPunct="1">
              <a:lnSpc>
                <a:spcPct val="100000"/>
              </a:lnSpc>
              <a:spcBef>
                <a:spcPts val="1920"/>
              </a:spcBef>
              <a:spcAft>
                <a:spcPts val="0"/>
              </a:spcAft>
              <a:buClrTx/>
              <a:buSzTx/>
              <a:buFontTx/>
              <a:buNone/>
              <a:tabLst>
                <a:tab pos="548640" algn="l"/>
                <a:tab pos="2865755" algn="l"/>
                <a:tab pos="5065395" algn="l"/>
                <a:tab pos="6675120" algn="l"/>
              </a:tabLst>
              <a:defRPr/>
            </a:pPr>
            <a:r>
              <a:rPr kumimoji="0" sz="2400" b="0" i="1" u="none" strike="noStrike" kern="0" cap="none" spc="-35" normalizeH="0" baseline="0" noProof="0" dirty="0">
                <a:ln>
                  <a:noFill/>
                </a:ln>
                <a:solidFill>
                  <a:srgbClr val="3366FF"/>
                </a:solidFill>
                <a:effectLst/>
                <a:uLnTx/>
                <a:uFillTx/>
                <a:latin typeface="Times New Roman"/>
                <a:cs typeface="Times New Roman"/>
              </a:rPr>
              <a:t>Traffic</a:t>
            </a:r>
            <a:r>
              <a:rPr kumimoji="0" sz="2400" b="0" i="1" u="none" strike="noStrike" kern="0" cap="none" spc="-65" normalizeH="0" baseline="0" noProof="0" dirty="0">
                <a:ln>
                  <a:noFill/>
                </a:ln>
                <a:solidFill>
                  <a:srgbClr val="3366FF"/>
                </a:solidFill>
                <a:effectLst/>
                <a:uLnTx/>
                <a:uFillTx/>
                <a:latin typeface="Times New Roman"/>
                <a:cs typeface="Times New Roman"/>
              </a:rPr>
              <a:t> </a:t>
            </a:r>
            <a:r>
              <a:rPr kumimoji="0" sz="2400" b="0" i="1" u="none" strike="noStrike" kern="0" cap="none" spc="0" normalizeH="0" baseline="0" noProof="0" dirty="0">
                <a:ln>
                  <a:noFill/>
                </a:ln>
                <a:solidFill>
                  <a:srgbClr val="3366FF"/>
                </a:solidFill>
                <a:effectLst/>
                <a:uLnTx/>
                <a:uFillTx/>
                <a:latin typeface="Times New Roman"/>
                <a:cs typeface="Times New Roman"/>
              </a:rPr>
              <a:t>Intensity</a:t>
            </a:r>
            <a:r>
              <a:rPr kumimoji="0" sz="2400" b="0" i="1" u="none" strike="noStrike" kern="0" cap="none" spc="-45" normalizeH="0" baseline="0" noProof="0" dirty="0">
                <a:ln>
                  <a:noFill/>
                </a:ln>
                <a:solidFill>
                  <a:srgbClr val="3366FF"/>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Measure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utilization,</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is the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average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occupancy</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measured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Erlangs.</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This is </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a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dimensionless</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quantity</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used</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to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measure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time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utilization</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single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multiple</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Denoted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241</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xfrm>
            <a:off x="383540" y="147320"/>
            <a:ext cx="5461635" cy="1031875"/>
          </a:xfrm>
          <a:prstGeom prst="rect">
            <a:avLst/>
          </a:prstGeom>
        </p:spPr>
        <p:txBody>
          <a:bodyPr vert="horz" wrap="square" lIns="0" tIns="104139" rIns="0" bIns="0" rtlCol="0">
            <a:spAutoFit/>
          </a:bodyPr>
          <a:lstStyle/>
          <a:p>
            <a:pPr marL="12700" marR="5080">
              <a:lnSpc>
                <a:spcPts val="3600"/>
              </a:lnSpc>
              <a:spcBef>
                <a:spcPts val="819"/>
              </a:spcBef>
            </a:pPr>
            <a:r>
              <a:rPr spc="-155" dirty="0"/>
              <a:t>Definitions</a:t>
            </a:r>
            <a:r>
              <a:rPr spc="-210" dirty="0"/>
              <a:t> </a:t>
            </a:r>
            <a:r>
              <a:rPr spc="-90" dirty="0"/>
              <a:t>of</a:t>
            </a:r>
            <a:r>
              <a:rPr spc="-254" dirty="0"/>
              <a:t> </a:t>
            </a:r>
            <a:r>
              <a:rPr spc="-145" dirty="0"/>
              <a:t>Common</a:t>
            </a:r>
            <a:r>
              <a:rPr spc="-310" dirty="0"/>
              <a:t> </a:t>
            </a:r>
            <a:r>
              <a:rPr spc="-90" dirty="0"/>
              <a:t>Terms </a:t>
            </a:r>
            <a:r>
              <a:rPr dirty="0"/>
              <a:t>Used</a:t>
            </a:r>
            <a:r>
              <a:rPr spc="-125" dirty="0"/>
              <a:t> </a:t>
            </a:r>
            <a:r>
              <a:rPr dirty="0"/>
              <a:t>in</a:t>
            </a:r>
            <a:r>
              <a:rPr spc="325" dirty="0"/>
              <a:t> </a:t>
            </a:r>
            <a:r>
              <a:rPr spc="-60" dirty="0"/>
              <a:t>Trunking</a:t>
            </a:r>
            <a:r>
              <a:rPr spc="-175" dirty="0"/>
              <a:t> </a:t>
            </a:r>
            <a:r>
              <a:rPr spc="-10" dirty="0"/>
              <a:t>Theory</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588250" cy="756920"/>
          </a:xfrm>
          <a:prstGeom prst="rect">
            <a:avLst/>
          </a:prstGeom>
        </p:spPr>
        <p:txBody>
          <a:bodyPr vert="horz" wrap="square" lIns="0" tIns="12700" rIns="0" bIns="0" rtlCol="0">
            <a:spAutoFit/>
          </a:bodyPr>
          <a:lstStyle/>
          <a:p>
            <a:pPr marL="24765" marR="5080" lvl="0" indent="-1270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rgbClr val="3366FF"/>
                </a:solidFill>
                <a:effectLst/>
                <a:uLnTx/>
                <a:uFillTx/>
                <a:latin typeface="Times New Roman"/>
                <a:cs typeface="Times New Roman"/>
              </a:rPr>
              <a:t>Load</a:t>
            </a:r>
            <a:r>
              <a:rPr kumimoji="0" sz="2400" b="0" i="0" u="none" strike="noStrike" kern="0" cap="none" spc="-20" normalizeH="0" baseline="0" noProof="0" dirty="0">
                <a:ln>
                  <a:noFill/>
                </a:ln>
                <a:solidFill>
                  <a:srgbClr val="3366FF"/>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Arial MT"/>
                <a:cs typeface="Arial MT"/>
              </a:rPr>
              <a:t>–</a:t>
            </a:r>
            <a:r>
              <a:rPr kumimoji="0" sz="1800" b="0" i="0" u="none" strike="noStrike" kern="0" cap="none" spc="-5" normalizeH="0" baseline="0" noProof="0" dirty="0">
                <a:ln>
                  <a:noFill/>
                </a:ln>
                <a:solidFill>
                  <a:sysClr val="windowText" lastClr="000000"/>
                </a:solidFill>
                <a:effectLst/>
                <a:uLnTx/>
                <a:uFillTx/>
                <a:latin typeface="Arial MT"/>
                <a:cs typeface="Arial MT"/>
              </a:rPr>
              <a:t> </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intensity</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across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entire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trunked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measured</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Eelang.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242</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ctrTitle"/>
          </p:nvPr>
        </p:nvSpPr>
        <p:spPr>
          <a:prstGeom prst="rect">
            <a:avLst/>
          </a:prstGeom>
        </p:spPr>
        <p:txBody>
          <a:bodyPr vert="horz" wrap="square" lIns="0" tIns="12700" rIns="0" bIns="0" rtlCol="0">
            <a:spAutoFit/>
          </a:bodyPr>
          <a:lstStyle/>
          <a:p>
            <a:pPr marL="24765" marR="5080" indent="-12700">
              <a:lnSpc>
                <a:spcPct val="100000"/>
              </a:lnSpc>
              <a:spcBef>
                <a:spcPts val="100"/>
              </a:spcBef>
              <a:tabLst>
                <a:tab pos="2745105" algn="l"/>
                <a:tab pos="5250815" algn="l"/>
              </a:tabLst>
            </a:pPr>
            <a:r>
              <a:rPr sz="2400" b="0" i="1" dirty="0">
                <a:solidFill>
                  <a:srgbClr val="3366FF"/>
                </a:solidFill>
                <a:latin typeface="Times New Roman"/>
                <a:cs typeface="Times New Roman"/>
              </a:rPr>
              <a:t>Grade</a:t>
            </a:r>
            <a:r>
              <a:rPr sz="2400" b="0" i="1" spc="-75" dirty="0">
                <a:solidFill>
                  <a:srgbClr val="3366FF"/>
                </a:solidFill>
                <a:latin typeface="Times New Roman"/>
                <a:cs typeface="Times New Roman"/>
              </a:rPr>
              <a:t> </a:t>
            </a:r>
            <a:r>
              <a:rPr sz="2400" b="0" i="1" dirty="0">
                <a:solidFill>
                  <a:srgbClr val="3366FF"/>
                </a:solidFill>
                <a:latin typeface="Times New Roman"/>
                <a:cs typeface="Times New Roman"/>
              </a:rPr>
              <a:t>of</a:t>
            </a:r>
            <a:r>
              <a:rPr sz="2400" b="0" i="1" spc="-25" dirty="0">
                <a:solidFill>
                  <a:srgbClr val="3366FF"/>
                </a:solidFill>
                <a:latin typeface="Times New Roman"/>
                <a:cs typeface="Times New Roman"/>
              </a:rPr>
              <a:t> </a:t>
            </a:r>
            <a:r>
              <a:rPr sz="2400" b="0" i="1" dirty="0">
                <a:solidFill>
                  <a:srgbClr val="3366FF"/>
                </a:solidFill>
                <a:latin typeface="Times New Roman"/>
                <a:cs typeface="Times New Roman"/>
              </a:rPr>
              <a:t>Service</a:t>
            </a:r>
            <a:r>
              <a:rPr sz="2400" b="0" i="1" spc="-40" dirty="0">
                <a:solidFill>
                  <a:srgbClr val="3366FF"/>
                </a:solidFill>
                <a:latin typeface="Times New Roman"/>
                <a:cs typeface="Times New Roman"/>
              </a:rPr>
              <a:t> </a:t>
            </a:r>
            <a:r>
              <a:rPr sz="2400" b="0" i="1" dirty="0">
                <a:solidFill>
                  <a:srgbClr val="3366FF"/>
                </a:solidFill>
                <a:latin typeface="Times New Roman"/>
                <a:cs typeface="Times New Roman"/>
              </a:rPr>
              <a:t>(GOS)</a:t>
            </a:r>
            <a:r>
              <a:rPr sz="2400" b="0" i="1" spc="-30" dirty="0">
                <a:solidFill>
                  <a:srgbClr val="3366FF"/>
                </a:solidFill>
                <a:latin typeface="Times New Roman"/>
                <a:cs typeface="Times New Roman"/>
              </a:rPr>
              <a:t> </a:t>
            </a:r>
            <a:r>
              <a:rPr sz="1800" b="0" dirty="0">
                <a:latin typeface="Arial MT"/>
                <a:cs typeface="Arial MT"/>
              </a:rPr>
              <a:t>–</a:t>
            </a:r>
            <a:r>
              <a:rPr sz="1800" b="0" spc="-20" dirty="0">
                <a:latin typeface="Arial MT"/>
                <a:cs typeface="Arial MT"/>
              </a:rPr>
              <a:t> </a:t>
            </a:r>
            <a:r>
              <a:rPr sz="2400" b="0" spc="-20" dirty="0">
                <a:latin typeface="Times New Roman"/>
                <a:cs typeface="Times New Roman"/>
              </a:rPr>
              <a:t>A</a:t>
            </a:r>
            <a:r>
              <a:rPr sz="2400" b="0" spc="-140" dirty="0">
                <a:latin typeface="Times New Roman"/>
                <a:cs typeface="Times New Roman"/>
              </a:rPr>
              <a:t> </a:t>
            </a:r>
            <a:r>
              <a:rPr sz="2400" b="0" dirty="0">
                <a:latin typeface="Times New Roman"/>
                <a:cs typeface="Times New Roman"/>
              </a:rPr>
              <a:t>measure</a:t>
            </a:r>
            <a:r>
              <a:rPr sz="2400" b="0" spc="-55" dirty="0">
                <a:latin typeface="Times New Roman"/>
                <a:cs typeface="Times New Roman"/>
              </a:rPr>
              <a:t> </a:t>
            </a:r>
            <a:r>
              <a:rPr sz="2400" b="0" dirty="0">
                <a:latin typeface="Times New Roman"/>
                <a:cs typeface="Times New Roman"/>
              </a:rPr>
              <a:t>of</a:t>
            </a:r>
            <a:r>
              <a:rPr sz="2400" b="0" spc="-20" dirty="0">
                <a:latin typeface="Times New Roman"/>
                <a:cs typeface="Times New Roman"/>
              </a:rPr>
              <a:t> </a:t>
            </a:r>
            <a:r>
              <a:rPr sz="2400" b="0" dirty="0">
                <a:latin typeface="Times New Roman"/>
                <a:cs typeface="Times New Roman"/>
              </a:rPr>
              <a:t>congestion</a:t>
            </a:r>
            <a:r>
              <a:rPr sz="2400" b="0" spc="-45" dirty="0">
                <a:latin typeface="Times New Roman"/>
                <a:cs typeface="Times New Roman"/>
              </a:rPr>
              <a:t> </a:t>
            </a:r>
            <a:r>
              <a:rPr sz="2400" b="0" dirty="0">
                <a:latin typeface="Times New Roman"/>
                <a:cs typeface="Times New Roman"/>
              </a:rPr>
              <a:t>which</a:t>
            </a:r>
            <a:r>
              <a:rPr sz="2400" b="0" spc="-165" dirty="0">
                <a:latin typeface="Times New Roman"/>
                <a:cs typeface="Times New Roman"/>
              </a:rPr>
              <a:t> </a:t>
            </a:r>
            <a:r>
              <a:rPr sz="2400" b="0" spc="-25" dirty="0">
                <a:latin typeface="Times New Roman"/>
                <a:cs typeface="Times New Roman"/>
              </a:rPr>
              <a:t>is </a:t>
            </a:r>
            <a:r>
              <a:rPr sz="2400" b="0" dirty="0">
                <a:latin typeface="Times New Roman"/>
                <a:cs typeface="Times New Roman"/>
              </a:rPr>
              <a:t>specified</a:t>
            </a:r>
            <a:r>
              <a:rPr sz="2400" b="0" spc="-30" dirty="0">
                <a:latin typeface="Times New Roman"/>
                <a:cs typeface="Times New Roman"/>
              </a:rPr>
              <a:t> </a:t>
            </a:r>
            <a:r>
              <a:rPr sz="2400" b="0" dirty="0">
                <a:latin typeface="Times New Roman"/>
                <a:cs typeface="Times New Roman"/>
              </a:rPr>
              <a:t>as</a:t>
            </a:r>
            <a:r>
              <a:rPr sz="2400" b="0" spc="-5" dirty="0">
                <a:latin typeface="Times New Roman"/>
                <a:cs typeface="Times New Roman"/>
              </a:rPr>
              <a:t> </a:t>
            </a:r>
            <a:r>
              <a:rPr sz="2400" b="0" dirty="0">
                <a:latin typeface="Times New Roman"/>
                <a:cs typeface="Times New Roman"/>
              </a:rPr>
              <a:t>the</a:t>
            </a:r>
            <a:r>
              <a:rPr sz="2400" b="0" spc="-20" dirty="0">
                <a:latin typeface="Times New Roman"/>
                <a:cs typeface="Times New Roman"/>
              </a:rPr>
              <a:t> </a:t>
            </a:r>
            <a:r>
              <a:rPr sz="2400" b="0" dirty="0">
                <a:latin typeface="Times New Roman"/>
                <a:cs typeface="Times New Roman"/>
              </a:rPr>
              <a:t>probability</a:t>
            </a:r>
            <a:r>
              <a:rPr sz="2400" b="0" spc="-45" dirty="0">
                <a:latin typeface="Times New Roman"/>
                <a:cs typeface="Times New Roman"/>
              </a:rPr>
              <a:t> </a:t>
            </a:r>
            <a:r>
              <a:rPr sz="2400" b="0" dirty="0">
                <a:latin typeface="Times New Roman"/>
                <a:cs typeface="Times New Roman"/>
              </a:rPr>
              <a:t>of</a:t>
            </a:r>
            <a:r>
              <a:rPr sz="2400" b="0" spc="-5" dirty="0">
                <a:latin typeface="Times New Roman"/>
                <a:cs typeface="Times New Roman"/>
              </a:rPr>
              <a:t> </a:t>
            </a:r>
            <a:r>
              <a:rPr sz="2400" b="0" dirty="0">
                <a:latin typeface="Times New Roman"/>
                <a:cs typeface="Times New Roman"/>
              </a:rPr>
              <a:t>a</a:t>
            </a:r>
            <a:r>
              <a:rPr sz="2400" b="0" spc="-5" dirty="0">
                <a:latin typeface="Times New Roman"/>
                <a:cs typeface="Times New Roman"/>
              </a:rPr>
              <a:t> </a:t>
            </a:r>
            <a:r>
              <a:rPr sz="2400" b="0" dirty="0">
                <a:latin typeface="Times New Roman"/>
                <a:cs typeface="Times New Roman"/>
              </a:rPr>
              <a:t>call</a:t>
            </a:r>
            <a:r>
              <a:rPr sz="2400" b="0" spc="-185" dirty="0">
                <a:latin typeface="Times New Roman"/>
                <a:cs typeface="Times New Roman"/>
              </a:rPr>
              <a:t> </a:t>
            </a:r>
            <a:r>
              <a:rPr sz="2400" b="0" spc="-10" dirty="0">
                <a:latin typeface="Times New Roman"/>
                <a:cs typeface="Times New Roman"/>
              </a:rPr>
              <a:t>being</a:t>
            </a:r>
            <a:r>
              <a:rPr sz="2400" b="0" dirty="0">
                <a:latin typeface="Times New Roman"/>
                <a:cs typeface="Times New Roman"/>
              </a:rPr>
              <a:t>	blocked</a:t>
            </a:r>
            <a:r>
              <a:rPr sz="2400" b="0" spc="-45" dirty="0">
                <a:latin typeface="Times New Roman"/>
                <a:cs typeface="Times New Roman"/>
              </a:rPr>
              <a:t> </a:t>
            </a:r>
            <a:r>
              <a:rPr sz="2400" b="0" dirty="0">
                <a:latin typeface="Times New Roman"/>
                <a:cs typeface="Times New Roman"/>
              </a:rPr>
              <a:t>(for</a:t>
            </a:r>
            <a:r>
              <a:rPr sz="2400" b="0" spc="-10" dirty="0">
                <a:latin typeface="Times New Roman"/>
                <a:cs typeface="Times New Roman"/>
              </a:rPr>
              <a:t> Erlang </a:t>
            </a:r>
            <a:r>
              <a:rPr sz="2400" b="0" dirty="0">
                <a:latin typeface="Times New Roman"/>
                <a:cs typeface="Times New Roman"/>
              </a:rPr>
              <a:t>B),</a:t>
            </a:r>
            <a:r>
              <a:rPr sz="2400" b="0" spc="-10" dirty="0">
                <a:latin typeface="Times New Roman"/>
                <a:cs typeface="Times New Roman"/>
              </a:rPr>
              <a:t> </a:t>
            </a:r>
            <a:r>
              <a:rPr sz="2400" b="0" dirty="0">
                <a:latin typeface="Times New Roman"/>
                <a:cs typeface="Times New Roman"/>
              </a:rPr>
              <a:t>or</a:t>
            </a:r>
            <a:r>
              <a:rPr sz="2400" b="0" spc="-5" dirty="0">
                <a:latin typeface="Times New Roman"/>
                <a:cs typeface="Times New Roman"/>
              </a:rPr>
              <a:t> </a:t>
            </a:r>
            <a:r>
              <a:rPr sz="2400" b="0" dirty="0">
                <a:latin typeface="Times New Roman"/>
                <a:cs typeface="Times New Roman"/>
              </a:rPr>
              <a:t>the</a:t>
            </a:r>
            <a:r>
              <a:rPr sz="2400" b="0" spc="-25" dirty="0">
                <a:latin typeface="Times New Roman"/>
                <a:cs typeface="Times New Roman"/>
              </a:rPr>
              <a:t> </a:t>
            </a:r>
            <a:r>
              <a:rPr sz="2400" b="0" spc="-10" dirty="0">
                <a:latin typeface="Times New Roman"/>
                <a:cs typeface="Times New Roman"/>
              </a:rPr>
              <a:t>probability</a:t>
            </a:r>
            <a:r>
              <a:rPr sz="2400" b="0" dirty="0">
                <a:latin typeface="Times New Roman"/>
                <a:cs typeface="Times New Roman"/>
              </a:rPr>
              <a:t>	of</a:t>
            </a:r>
            <a:r>
              <a:rPr sz="2400" b="0" spc="-15" dirty="0">
                <a:latin typeface="Times New Roman"/>
                <a:cs typeface="Times New Roman"/>
              </a:rPr>
              <a:t> </a:t>
            </a:r>
            <a:r>
              <a:rPr sz="2400" b="0" dirty="0">
                <a:latin typeface="Times New Roman"/>
                <a:cs typeface="Times New Roman"/>
              </a:rPr>
              <a:t>a call</a:t>
            </a:r>
            <a:r>
              <a:rPr sz="2400" b="0" spc="-40" dirty="0">
                <a:latin typeface="Times New Roman"/>
                <a:cs typeface="Times New Roman"/>
              </a:rPr>
              <a:t> </a:t>
            </a:r>
            <a:r>
              <a:rPr sz="2400" b="0" dirty="0">
                <a:latin typeface="Times New Roman"/>
                <a:cs typeface="Times New Roman"/>
              </a:rPr>
              <a:t>being</a:t>
            </a:r>
            <a:r>
              <a:rPr sz="2400" b="0" spc="-15" dirty="0">
                <a:latin typeface="Times New Roman"/>
                <a:cs typeface="Times New Roman"/>
              </a:rPr>
              <a:t> </a:t>
            </a:r>
            <a:r>
              <a:rPr sz="2400" b="0" dirty="0">
                <a:latin typeface="Times New Roman"/>
                <a:cs typeface="Times New Roman"/>
              </a:rPr>
              <a:t>delayed</a:t>
            </a:r>
            <a:r>
              <a:rPr sz="2400" b="0" spc="-25" dirty="0">
                <a:latin typeface="Times New Roman"/>
                <a:cs typeface="Times New Roman"/>
              </a:rPr>
              <a:t> </a:t>
            </a:r>
            <a:r>
              <a:rPr sz="2400" b="0" dirty="0">
                <a:latin typeface="Times New Roman"/>
                <a:cs typeface="Times New Roman"/>
              </a:rPr>
              <a:t>beyond</a:t>
            </a:r>
            <a:r>
              <a:rPr sz="2400" b="0" spc="-10" dirty="0">
                <a:latin typeface="Times New Roman"/>
                <a:cs typeface="Times New Roman"/>
              </a:rPr>
              <a:t> </a:t>
            </a:r>
            <a:r>
              <a:rPr sz="2400" b="0" dirty="0">
                <a:latin typeface="Times New Roman"/>
                <a:cs typeface="Times New Roman"/>
              </a:rPr>
              <a:t>a </a:t>
            </a:r>
            <a:r>
              <a:rPr sz="2400" b="0" spc="-10" dirty="0">
                <a:latin typeface="Times New Roman"/>
                <a:cs typeface="Times New Roman"/>
              </a:rPr>
              <a:t>certain </a:t>
            </a:r>
            <a:r>
              <a:rPr sz="2400" b="0" dirty="0">
                <a:latin typeface="Times New Roman"/>
                <a:cs typeface="Times New Roman"/>
              </a:rPr>
              <a:t>amount</a:t>
            </a:r>
            <a:r>
              <a:rPr sz="2400" b="0" spc="-45" dirty="0">
                <a:latin typeface="Times New Roman"/>
                <a:cs typeface="Times New Roman"/>
              </a:rPr>
              <a:t> </a:t>
            </a:r>
            <a:r>
              <a:rPr sz="2400" b="0" dirty="0">
                <a:latin typeface="Times New Roman"/>
                <a:cs typeface="Times New Roman"/>
              </a:rPr>
              <a:t>of</a:t>
            </a:r>
            <a:r>
              <a:rPr sz="2400" b="0" spc="-10" dirty="0">
                <a:latin typeface="Times New Roman"/>
                <a:cs typeface="Times New Roman"/>
              </a:rPr>
              <a:t> </a:t>
            </a:r>
            <a:r>
              <a:rPr sz="2400" b="0" dirty="0">
                <a:latin typeface="Times New Roman"/>
                <a:cs typeface="Times New Roman"/>
              </a:rPr>
              <a:t>time</a:t>
            </a:r>
            <a:r>
              <a:rPr sz="2400" b="0" spc="-40" dirty="0">
                <a:latin typeface="Times New Roman"/>
                <a:cs typeface="Times New Roman"/>
              </a:rPr>
              <a:t> </a:t>
            </a:r>
            <a:r>
              <a:rPr sz="2400" b="0" dirty="0">
                <a:latin typeface="Times New Roman"/>
                <a:cs typeface="Times New Roman"/>
              </a:rPr>
              <a:t>(for</a:t>
            </a:r>
            <a:r>
              <a:rPr sz="2400" b="0" spc="-15" dirty="0">
                <a:latin typeface="Times New Roman"/>
                <a:cs typeface="Times New Roman"/>
              </a:rPr>
              <a:t> </a:t>
            </a:r>
            <a:r>
              <a:rPr sz="2400" b="0" dirty="0">
                <a:latin typeface="Times New Roman"/>
                <a:cs typeface="Times New Roman"/>
              </a:rPr>
              <a:t>Erlang</a:t>
            </a:r>
            <a:r>
              <a:rPr sz="2400" b="0" spc="-60" dirty="0">
                <a:latin typeface="Times New Roman"/>
                <a:cs typeface="Times New Roman"/>
              </a:rPr>
              <a:t> </a:t>
            </a:r>
            <a:r>
              <a:rPr sz="2400" b="0" spc="-25" dirty="0">
                <a:latin typeface="Times New Roman"/>
                <a:cs typeface="Times New Roman"/>
              </a:rPr>
              <a:t>C).</a:t>
            </a:r>
            <a:endParaRPr sz="2400">
              <a:latin typeface="Times New Roman"/>
              <a:cs typeface="Times New Roman"/>
            </a:endParaRPr>
          </a:p>
        </p:txBody>
      </p:sp>
      <p:sp>
        <p:nvSpPr>
          <p:cNvPr id="4" name="object 4"/>
          <p:cNvSpPr txBox="1">
            <a:spLocks noGrp="1"/>
          </p:cNvSpPr>
          <p:nvPr>
            <p:ph type="subTitle" idx="4"/>
          </p:nvPr>
        </p:nvSpPr>
        <p:spPr>
          <a:prstGeom prst="rect">
            <a:avLst/>
          </a:prstGeom>
        </p:spPr>
        <p:txBody>
          <a:bodyPr vert="horz" wrap="square" lIns="0" tIns="13335" rIns="0" bIns="0" rtlCol="0">
            <a:spAutoFit/>
          </a:bodyPr>
          <a:lstStyle/>
          <a:p>
            <a:pPr marL="50165" marR="30480" indent="-12700">
              <a:lnSpc>
                <a:spcPts val="2990"/>
              </a:lnSpc>
              <a:spcBef>
                <a:spcPts val="105"/>
              </a:spcBef>
            </a:pPr>
            <a:r>
              <a:rPr i="1" dirty="0">
                <a:solidFill>
                  <a:srgbClr val="3366FF"/>
                </a:solidFill>
                <a:latin typeface="Times New Roman"/>
                <a:cs typeface="Times New Roman"/>
              </a:rPr>
              <a:t>Request</a:t>
            </a:r>
            <a:r>
              <a:rPr i="1" spc="-50" dirty="0">
                <a:solidFill>
                  <a:srgbClr val="3366FF"/>
                </a:solidFill>
                <a:latin typeface="Times New Roman"/>
                <a:cs typeface="Times New Roman"/>
              </a:rPr>
              <a:t> </a:t>
            </a:r>
            <a:r>
              <a:rPr i="1" dirty="0">
                <a:solidFill>
                  <a:srgbClr val="3366FF"/>
                </a:solidFill>
                <a:latin typeface="Times New Roman"/>
                <a:cs typeface="Times New Roman"/>
              </a:rPr>
              <a:t>Rate</a:t>
            </a:r>
            <a:r>
              <a:rPr i="1" spc="-35" dirty="0">
                <a:solidFill>
                  <a:srgbClr val="3366FF"/>
                </a:solidFill>
                <a:latin typeface="Times New Roman"/>
                <a:cs typeface="Times New Roman"/>
              </a:rPr>
              <a:t> </a:t>
            </a:r>
            <a:r>
              <a:rPr sz="1800" dirty="0">
                <a:latin typeface="Arial MT"/>
                <a:cs typeface="Arial MT"/>
              </a:rPr>
              <a:t>–</a:t>
            </a:r>
            <a:r>
              <a:rPr sz="1800" spc="-20" dirty="0">
                <a:latin typeface="Arial MT"/>
                <a:cs typeface="Arial MT"/>
              </a:rPr>
              <a:t> </a:t>
            </a:r>
            <a:r>
              <a:rPr dirty="0"/>
              <a:t>The</a:t>
            </a:r>
            <a:r>
              <a:rPr spc="-45" dirty="0"/>
              <a:t> </a:t>
            </a:r>
            <a:r>
              <a:rPr dirty="0"/>
              <a:t>average</a:t>
            </a:r>
            <a:r>
              <a:rPr spc="-15" dirty="0"/>
              <a:t> </a:t>
            </a:r>
            <a:r>
              <a:rPr dirty="0"/>
              <a:t>number</a:t>
            </a:r>
            <a:r>
              <a:rPr spc="-25" dirty="0"/>
              <a:t> </a:t>
            </a:r>
            <a:r>
              <a:rPr dirty="0"/>
              <a:t>of</a:t>
            </a:r>
            <a:r>
              <a:rPr spc="-15" dirty="0"/>
              <a:t> </a:t>
            </a:r>
            <a:r>
              <a:rPr dirty="0"/>
              <a:t>call</a:t>
            </a:r>
            <a:r>
              <a:rPr spc="-25" dirty="0"/>
              <a:t> </a:t>
            </a:r>
            <a:r>
              <a:rPr dirty="0"/>
              <a:t>requests</a:t>
            </a:r>
            <a:r>
              <a:rPr spc="-30" dirty="0"/>
              <a:t> </a:t>
            </a:r>
            <a:r>
              <a:rPr dirty="0"/>
              <a:t>per</a:t>
            </a:r>
            <a:r>
              <a:rPr spc="-15" dirty="0"/>
              <a:t> </a:t>
            </a:r>
            <a:r>
              <a:rPr dirty="0"/>
              <a:t>unit</a:t>
            </a:r>
            <a:r>
              <a:rPr spc="-85" dirty="0"/>
              <a:t> </a:t>
            </a:r>
            <a:r>
              <a:rPr spc="-10" dirty="0"/>
              <a:t>time. </a:t>
            </a:r>
            <a:r>
              <a:rPr dirty="0"/>
              <a:t>Denoted</a:t>
            </a:r>
            <a:r>
              <a:rPr spc="-45" dirty="0"/>
              <a:t> </a:t>
            </a:r>
            <a:r>
              <a:rPr dirty="0"/>
              <a:t>by</a:t>
            </a:r>
            <a:r>
              <a:rPr spc="-20" dirty="0"/>
              <a:t> </a:t>
            </a:r>
            <a:r>
              <a:rPr sz="2600" spc="-65" dirty="0">
                <a:latin typeface="Symbol"/>
                <a:cs typeface="Symbol"/>
              </a:rPr>
              <a:t></a:t>
            </a:r>
            <a:r>
              <a:rPr sz="2600" spc="-150" dirty="0"/>
              <a:t> </a:t>
            </a:r>
            <a:r>
              <a:rPr spc="-10" dirty="0"/>
              <a:t>seconds</a:t>
            </a:r>
            <a:r>
              <a:rPr sz="2400" spc="-15" baseline="20833" dirty="0">
                <a:latin typeface="Symbol"/>
                <a:cs typeface="Symbol"/>
              </a:rPr>
              <a:t></a:t>
            </a:r>
            <a:r>
              <a:rPr sz="2400" spc="-15" baseline="20833" dirty="0"/>
              <a:t>1</a:t>
            </a:r>
            <a:endParaRPr sz="2400" baseline="20833">
              <a:latin typeface="Symbol"/>
              <a:cs typeface="Symbol"/>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8940" y="1516507"/>
            <a:ext cx="5821680" cy="391160"/>
          </a:xfrm>
          <a:prstGeom prst="rect">
            <a:avLst/>
          </a:prstGeom>
        </p:spPr>
        <p:txBody>
          <a:bodyPr vert="horz" wrap="square" lIns="0" tIns="12700" rIns="0" bIns="0" rtlCol="0">
            <a:spAutoFit/>
          </a:bodyPr>
          <a:lstStyle/>
          <a:p>
            <a:pPr marL="293370" marR="0" lvl="0" indent="-267970" defTabSz="914400" eaLnBrk="1" fontAlgn="auto" latinLnBrk="0" hangingPunct="1">
              <a:lnSpc>
                <a:spcPct val="100000"/>
              </a:lnSpc>
              <a:spcBef>
                <a:spcPts val="100"/>
              </a:spcBef>
              <a:spcAft>
                <a:spcPts val="0"/>
              </a:spcAft>
              <a:buClr>
                <a:srgbClr val="5F5F5F"/>
              </a:buClr>
              <a:buSzTx/>
              <a:buFont typeface="Wingdings"/>
              <a:buChar char=""/>
              <a:tabLst>
                <a:tab pos="293370" algn="l"/>
                <a:tab pos="2924175"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intensity</a:t>
            </a:r>
            <a:r>
              <a:rPr kumimoji="0" sz="24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3600" b="0" i="1" u="none" strike="noStrike" kern="0" cap="none" spc="-37" normalizeH="0" baseline="1157" noProof="0" dirty="0">
                <a:ln>
                  <a:noFill/>
                </a:ln>
                <a:solidFill>
                  <a:sysClr val="windowText" lastClr="000000"/>
                </a:solidFill>
                <a:effectLst/>
                <a:uLnTx/>
                <a:uFillTx/>
                <a:latin typeface="Times New Roman"/>
                <a:cs typeface="Times New Roman"/>
              </a:rPr>
              <a:t>A</a:t>
            </a:r>
            <a:r>
              <a:rPr kumimoji="0" sz="1950" b="0" i="1" u="none" strike="noStrike" kern="0" cap="none" spc="-37" normalizeH="0" baseline="-17094" noProof="0" dirty="0">
                <a:ln>
                  <a:noFill/>
                </a:ln>
                <a:solidFill>
                  <a:sysClr val="windowText" lastClr="000000"/>
                </a:solidFill>
                <a:effectLst/>
                <a:uLnTx/>
                <a:uFillTx/>
                <a:latin typeface="Times New Roman"/>
                <a:cs typeface="Times New Roman"/>
              </a:rPr>
              <a:t>u</a:t>
            </a:r>
            <a:r>
              <a:rPr kumimoji="0" sz="1950" b="0" i="1" u="none" strike="noStrike" kern="0" cap="none" spc="0" normalizeH="0" baseline="-17094"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243</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xfrm>
            <a:off x="2597657" y="1955698"/>
            <a:ext cx="1118870" cy="411480"/>
          </a:xfrm>
          <a:prstGeom prst="rect">
            <a:avLst/>
          </a:prstGeom>
        </p:spPr>
        <p:txBody>
          <a:bodyPr vert="horz" wrap="square" lIns="0" tIns="16510" rIns="0" bIns="0" rtlCol="0">
            <a:spAutoFit/>
          </a:bodyPr>
          <a:lstStyle/>
          <a:p>
            <a:pPr marL="25400">
              <a:lnSpc>
                <a:spcPct val="100000"/>
              </a:lnSpc>
              <a:spcBef>
                <a:spcPts val="130"/>
              </a:spcBef>
            </a:pPr>
            <a:r>
              <a:rPr sz="2400" b="0" i="1" spc="80" dirty="0">
                <a:latin typeface="Times New Roman"/>
                <a:cs typeface="Times New Roman"/>
              </a:rPr>
              <a:t>A</a:t>
            </a:r>
            <a:r>
              <a:rPr sz="1950" b="0" i="1" spc="120" baseline="-21367" dirty="0">
                <a:latin typeface="Times New Roman"/>
                <a:cs typeface="Times New Roman"/>
              </a:rPr>
              <a:t>u</a:t>
            </a:r>
            <a:r>
              <a:rPr sz="1950" b="0" i="1" spc="127" baseline="-21367" dirty="0">
                <a:latin typeface="Times New Roman"/>
                <a:cs typeface="Times New Roman"/>
              </a:rPr>
              <a:t> </a:t>
            </a:r>
            <a:r>
              <a:rPr sz="2400" b="0" dirty="0">
                <a:latin typeface="Symbol"/>
                <a:cs typeface="Symbol"/>
              </a:rPr>
              <a:t></a:t>
            </a:r>
            <a:r>
              <a:rPr sz="2400" b="0" spc="355" dirty="0">
                <a:latin typeface="Times New Roman"/>
                <a:cs typeface="Times New Roman"/>
              </a:rPr>
              <a:t> </a:t>
            </a:r>
            <a:r>
              <a:rPr sz="2500" b="0" spc="-75" dirty="0">
                <a:latin typeface="Symbol"/>
                <a:cs typeface="Symbol"/>
              </a:rPr>
              <a:t></a:t>
            </a:r>
            <a:r>
              <a:rPr sz="2500" b="0" spc="-240" dirty="0">
                <a:latin typeface="Times New Roman"/>
                <a:cs typeface="Times New Roman"/>
              </a:rPr>
              <a:t> </a:t>
            </a:r>
            <a:r>
              <a:rPr sz="2400" b="0" i="1" spc="-50" dirty="0">
                <a:latin typeface="Times New Roman"/>
                <a:cs typeface="Times New Roman"/>
              </a:rPr>
              <a:t>H</a:t>
            </a:r>
            <a:endParaRPr sz="2400">
              <a:latin typeface="Times New Roman"/>
              <a:cs typeface="Times New Roman"/>
            </a:endParaRPr>
          </a:p>
        </p:txBody>
      </p:sp>
      <p:sp>
        <p:nvSpPr>
          <p:cNvPr id="4" name="object 4"/>
          <p:cNvSpPr txBox="1"/>
          <p:nvPr/>
        </p:nvSpPr>
        <p:spPr>
          <a:xfrm>
            <a:off x="408940" y="2260473"/>
            <a:ext cx="7570470" cy="2691765"/>
          </a:xfrm>
          <a:prstGeom prst="rect">
            <a:avLst/>
          </a:prstGeom>
        </p:spPr>
        <p:txBody>
          <a:bodyPr vert="horz" wrap="square" lIns="0" tIns="140335" rIns="0" bIns="0" rtlCol="0">
            <a:spAutoFit/>
          </a:bodyPr>
          <a:lstStyle/>
          <a:p>
            <a:pPr marL="293370" marR="0" lvl="0" indent="-267970" defTabSz="914400" eaLnBrk="1" fontAlgn="auto" latinLnBrk="0" hangingPunct="1">
              <a:lnSpc>
                <a:spcPct val="100000"/>
              </a:lnSpc>
              <a:spcBef>
                <a:spcPts val="1105"/>
              </a:spcBef>
              <a:spcAft>
                <a:spcPts val="0"/>
              </a:spcAft>
              <a:buClr>
                <a:srgbClr val="5F5F5F"/>
              </a:buClr>
              <a:buSzTx/>
              <a:buFont typeface="Wingdings"/>
              <a:buChar char=""/>
              <a:tabLst>
                <a:tab pos="293370"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intensity</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1"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U</a:t>
            </a:r>
            <a:r>
              <a:rPr kumimoji="0" sz="2400" b="0" i="1"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users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218690" marR="0" lvl="0" indent="0" defTabSz="914400" eaLnBrk="1" fontAlgn="auto" latinLnBrk="0" hangingPunct="1">
              <a:lnSpc>
                <a:spcPct val="100000"/>
              </a:lnSpc>
              <a:spcBef>
                <a:spcPts val="101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1"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27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UA</a:t>
            </a:r>
            <a:r>
              <a:rPr kumimoji="0" sz="1950" b="0" i="1" u="none" strike="noStrike" kern="0" cap="none" spc="-37" normalizeH="0" baseline="-21367" noProof="0" dirty="0">
                <a:ln>
                  <a:noFill/>
                </a:ln>
                <a:solidFill>
                  <a:sysClr val="windowText" lastClr="000000"/>
                </a:solidFill>
                <a:effectLst/>
                <a:uLnTx/>
                <a:uFillTx/>
                <a:latin typeface="Times New Roman"/>
                <a:cs typeface="Times New Roman"/>
              </a:rPr>
              <a:t>u</a:t>
            </a:r>
            <a:endParaRPr kumimoji="0" sz="1950" b="0" i="0" u="none" strike="noStrike" kern="0" cap="none" spc="0" normalizeH="0" baseline="-21367" noProof="0">
              <a:ln>
                <a:noFill/>
              </a:ln>
              <a:solidFill>
                <a:sysClr val="windowText" lastClr="000000"/>
              </a:solidFill>
              <a:effectLst/>
              <a:uLnTx/>
              <a:uFillTx/>
              <a:latin typeface="Times New Roman"/>
              <a:cs typeface="Times New Roman"/>
            </a:endParaRPr>
          </a:p>
          <a:p>
            <a:pPr marL="293370" marR="0" lvl="0" indent="-267970" defTabSz="914400" eaLnBrk="1" fontAlgn="auto" latinLnBrk="0" hangingPunct="1">
              <a:lnSpc>
                <a:spcPct val="100000"/>
              </a:lnSpc>
              <a:spcBef>
                <a:spcPts val="290"/>
              </a:spcBef>
              <a:spcAft>
                <a:spcPts val="0"/>
              </a:spcAft>
              <a:buClr>
                <a:srgbClr val="5F5F5F"/>
              </a:buClr>
              <a:buSzTx/>
              <a:buFont typeface="Wingdings"/>
              <a:buChar char=""/>
              <a:tabLst>
                <a:tab pos="293370"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intensity</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10" normalizeH="0" baseline="0" noProof="0" dirty="0">
                <a:ln>
                  <a:noFill/>
                </a:ln>
                <a:solidFill>
                  <a:sysClr val="windowText" lastClr="000000"/>
                </a:solidFill>
                <a:effectLst/>
                <a:uLnTx/>
                <a:uFillTx/>
                <a:latin typeface="Times New Roman"/>
                <a:cs typeface="Times New Roman"/>
              </a:rPr>
              <a:t> </a:t>
            </a:r>
            <a:r>
              <a:rPr kumimoji="0" sz="3150" b="0" i="0" u="none" strike="noStrike" kern="0" cap="none" spc="52" normalizeH="0" baseline="5291" noProof="0" dirty="0">
                <a:ln>
                  <a:noFill/>
                </a:ln>
                <a:solidFill>
                  <a:sysClr val="windowText" lastClr="000000"/>
                </a:solidFill>
                <a:effectLst/>
                <a:uLnTx/>
                <a:uFillTx/>
                <a:latin typeface="Times New Roman"/>
                <a:cs typeface="Times New Roman"/>
              </a:rPr>
              <a:t>A</a:t>
            </a:r>
            <a:r>
              <a:rPr kumimoji="0" sz="1950" b="0" i="1" u="none" strike="noStrike" kern="0" cap="none" spc="52" normalizeH="0" baseline="-10683" noProof="0" dirty="0">
                <a:ln>
                  <a:noFill/>
                </a:ln>
                <a:solidFill>
                  <a:sysClr val="windowText" lastClr="000000"/>
                </a:solidFill>
                <a:effectLst/>
                <a:uLnTx/>
                <a:uFillTx/>
                <a:latin typeface="Times New Roman"/>
                <a:cs typeface="Times New Roman"/>
              </a:rPr>
              <a:t>c</a:t>
            </a:r>
            <a:endParaRPr kumimoji="0" sz="1950" b="0" i="0" u="none" strike="noStrike" kern="0" cap="none" spc="0" normalizeH="0" baseline="-10683" noProof="0">
              <a:ln>
                <a:noFill/>
              </a:ln>
              <a:solidFill>
                <a:sysClr val="windowText" lastClr="000000"/>
              </a:solidFill>
              <a:effectLst/>
              <a:uLnTx/>
              <a:uFillTx/>
              <a:latin typeface="Times New Roman"/>
              <a:cs typeface="Times New Roman"/>
            </a:endParaRPr>
          </a:p>
          <a:p>
            <a:pPr marL="2284095" marR="0" lvl="0" indent="0" defTabSz="914400" eaLnBrk="1" fontAlgn="auto" latinLnBrk="0" hangingPunct="1">
              <a:lnSpc>
                <a:spcPct val="100000"/>
              </a:lnSpc>
              <a:spcBef>
                <a:spcPts val="610"/>
              </a:spcBef>
              <a:spcAft>
                <a:spcPts val="0"/>
              </a:spcAft>
              <a:buClrTx/>
              <a:buSzTx/>
              <a:buFontTx/>
              <a:buNone/>
              <a:tabLst/>
              <a:defRPr/>
            </a:pPr>
            <a:r>
              <a:rPr kumimoji="0" sz="2400" b="0" i="1" u="none" strike="noStrike" kern="0" cap="none" spc="-60" normalizeH="0" baseline="0" noProof="0" dirty="0">
                <a:ln>
                  <a:noFill/>
                </a:ln>
                <a:solidFill>
                  <a:sysClr val="windowText" lastClr="000000"/>
                </a:solidFill>
                <a:effectLst/>
                <a:uLnTx/>
                <a:uFillTx/>
                <a:latin typeface="Times New Roman"/>
                <a:cs typeface="Times New Roman"/>
              </a:rPr>
              <a:t>A</a:t>
            </a:r>
            <a:r>
              <a:rPr kumimoji="0" sz="1950" b="0" i="1" u="none" strike="noStrike" kern="0" cap="none" spc="-89" normalizeH="0" baseline="-21367" noProof="0" dirty="0">
                <a:ln>
                  <a:noFill/>
                </a:ln>
                <a:solidFill>
                  <a:sysClr val="windowText" lastClr="000000"/>
                </a:solidFill>
                <a:effectLst/>
                <a:uLnTx/>
                <a:uFillTx/>
                <a:latin typeface="Times New Roman"/>
                <a:cs typeface="Times New Roman"/>
              </a:rPr>
              <a:t>c</a:t>
            </a:r>
            <a:r>
              <a:rPr kumimoji="0" sz="1950" b="0" i="1" u="none" strike="noStrike" kern="0" cap="none" spc="-352" normalizeH="0" baseline="-21367"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80" normalizeH="0" baseline="0" noProof="0" dirty="0">
                <a:ln>
                  <a:noFill/>
                </a:ln>
                <a:solidFill>
                  <a:sysClr val="windowText" lastClr="000000"/>
                </a:solidFill>
                <a:effectLst/>
                <a:uLnTx/>
                <a:uFillTx/>
                <a:latin typeface="Times New Roman"/>
                <a:cs typeface="Times New Roman"/>
              </a:rPr>
              <a:t>UA</a:t>
            </a:r>
            <a:r>
              <a:rPr kumimoji="0" sz="1950" b="0" i="1" u="none" strike="noStrike" kern="0" cap="none" spc="-120" normalizeH="0" baseline="-21367" noProof="0" dirty="0">
                <a:ln>
                  <a:noFill/>
                </a:ln>
                <a:solidFill>
                  <a:sysClr val="windowText" lastClr="000000"/>
                </a:solidFill>
                <a:effectLst/>
                <a:uLnTx/>
                <a:uFillTx/>
                <a:latin typeface="Times New Roman"/>
                <a:cs typeface="Times New Roman"/>
              </a:rPr>
              <a:t>u</a:t>
            </a:r>
            <a:r>
              <a:rPr kumimoji="0" sz="1950" b="0" i="1" u="none" strike="noStrike" kern="0" cap="none" spc="-315" normalizeH="0" baseline="-21367" noProof="0" dirty="0">
                <a:ln>
                  <a:noFill/>
                </a:ln>
                <a:solidFill>
                  <a:sysClr val="windowText" lastClr="000000"/>
                </a:solidFill>
                <a:effectLst/>
                <a:uLnTx/>
                <a:uFillTx/>
                <a:latin typeface="Times New Roman"/>
                <a:cs typeface="Times New Roman"/>
              </a:rPr>
              <a:t> </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C</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93370" marR="17780" lvl="0" indent="-268605" defTabSz="914400" eaLnBrk="1" fontAlgn="auto" latinLnBrk="0" hangingPunct="1">
              <a:lnSpc>
                <a:spcPct val="100000"/>
              </a:lnSpc>
              <a:spcBef>
                <a:spcPts val="795"/>
              </a:spcBef>
              <a:spcAft>
                <a:spcPts val="0"/>
              </a:spcAft>
              <a:buClr>
                <a:srgbClr val="5F5F5F"/>
              </a:buClr>
              <a:buSzTx/>
              <a:buFont typeface="Wingdings"/>
              <a:buChar char=""/>
              <a:tabLst>
                <a:tab pos="2933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maximum</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possible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carried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traffic</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Erlangs.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0840" y="1440307"/>
            <a:ext cx="7821295" cy="2022475"/>
          </a:xfrm>
          <a:prstGeom prst="rect">
            <a:avLst/>
          </a:prstGeom>
        </p:spPr>
        <p:txBody>
          <a:bodyPr vert="horz" wrap="square" lIns="0" tIns="88900" rIns="0" bIns="0" rtlCol="0">
            <a:spAutoFit/>
          </a:bodyPr>
          <a:lstStyle/>
          <a:p>
            <a:pPr marL="25400" marR="0" lvl="0" indent="0" defTabSz="914400" eaLnBrk="1" fontAlgn="auto" latinLnBrk="0" hangingPunct="1">
              <a:lnSpc>
                <a:spcPct val="100000"/>
              </a:lnSpc>
              <a:spcBef>
                <a:spcPts val="7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There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two</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types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trunked</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5400" marR="17780" lvl="0" indent="0" defTabSz="914400" eaLnBrk="1" fontAlgn="auto" latinLnBrk="0" hangingPunct="1">
              <a:lnSpc>
                <a:spcPts val="3479"/>
              </a:lnSpc>
              <a:spcBef>
                <a:spcPts val="215"/>
              </a:spcBef>
              <a:spcAft>
                <a:spcPts val="0"/>
              </a:spcAft>
              <a:buClrTx/>
              <a:buSzTx/>
              <a:buFontTx/>
              <a:buNone/>
              <a:tabLst>
                <a:tab pos="481965" algn="l"/>
                <a:tab pos="2059305" algn="l"/>
              </a:tabLst>
              <a:defRPr/>
            </a:pPr>
            <a:r>
              <a:rPr kumimoji="0" sz="2400" b="0" i="0" u="none" strike="noStrike" kern="0" cap="none" spc="-25" normalizeH="0" baseline="0" noProof="0" dirty="0">
                <a:ln>
                  <a:noFill/>
                </a:ln>
                <a:solidFill>
                  <a:srgbClr val="0F1141"/>
                </a:solidFill>
                <a:effectLst/>
                <a:uLnTx/>
                <a:uFillTx/>
                <a:latin typeface="Times New Roman"/>
                <a:cs typeface="Times New Roman"/>
              </a:rPr>
              <a:t>1.</a:t>
            </a:r>
            <a:r>
              <a:rPr kumimoji="0" sz="2400" b="0" i="0" u="none" strike="noStrike" kern="0" cap="none" spc="0" normalizeH="0" baseline="0" noProof="0" dirty="0">
                <a:ln>
                  <a:noFill/>
                </a:ln>
                <a:solidFill>
                  <a:srgbClr val="0F1141"/>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Blocked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calls</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cleared:</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known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M/M/m/m</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queue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leads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derivation</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Erlang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formula.</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363980" marR="0" lvl="0" indent="0" algn="ctr" defTabSz="914400" eaLnBrk="1" fontAlgn="auto" latinLnBrk="0" hangingPunct="1">
              <a:lnSpc>
                <a:spcPct val="100000"/>
              </a:lnSpc>
              <a:spcBef>
                <a:spcPts val="2185"/>
              </a:spcBef>
              <a:spcAft>
                <a:spcPts val="0"/>
              </a:spcAft>
              <a:buClrTx/>
              <a:buSzTx/>
              <a:buFontTx/>
              <a:buNone/>
              <a:tabLst/>
              <a:defRPr/>
            </a:pPr>
            <a:r>
              <a:rPr kumimoji="0" sz="3600" b="0" i="0" u="none" strike="noStrike" kern="0" cap="none" spc="-37" normalizeH="0" baseline="-20833" noProof="0" dirty="0">
                <a:ln>
                  <a:noFill/>
                </a:ln>
                <a:solidFill>
                  <a:sysClr val="windowText" lastClr="000000"/>
                </a:solidFill>
                <a:effectLst/>
                <a:uLnTx/>
                <a:uFillTx/>
                <a:latin typeface="Cambria Math"/>
                <a:cs typeface="Cambria Math"/>
              </a:rPr>
              <a:t>𝐴</a:t>
            </a:r>
            <a:r>
              <a:rPr kumimoji="0" sz="1750" b="0" i="0" u="none" strike="noStrike" kern="0" cap="none" spc="-25" normalizeH="0" baseline="0" noProof="0" dirty="0">
                <a:ln>
                  <a:noFill/>
                </a:ln>
                <a:solidFill>
                  <a:sysClr val="windowText" lastClr="000000"/>
                </a:solidFill>
                <a:effectLst/>
                <a:uLnTx/>
                <a:uFillTx/>
                <a:latin typeface="Cambria Math"/>
                <a:cs typeface="Cambria Math"/>
              </a:rPr>
              <a:t>𝑐</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3" name="object 3"/>
          <p:cNvSpPr/>
          <p:nvPr/>
        </p:nvSpPr>
        <p:spPr>
          <a:xfrm>
            <a:off x="3950462" y="3741419"/>
            <a:ext cx="66675" cy="283210"/>
          </a:xfrm>
          <a:custGeom>
            <a:avLst/>
            <a:gdLst/>
            <a:ahLst/>
            <a:cxnLst/>
            <a:rect l="l" t="t" r="r" b="b"/>
            <a:pathLst>
              <a:path w="66675" h="283210">
                <a:moveTo>
                  <a:pt x="66421" y="0"/>
                </a:moveTo>
                <a:lnTo>
                  <a:pt x="0" y="0"/>
                </a:lnTo>
                <a:lnTo>
                  <a:pt x="0" y="11430"/>
                </a:lnTo>
                <a:lnTo>
                  <a:pt x="41783" y="11430"/>
                </a:lnTo>
                <a:lnTo>
                  <a:pt x="41783" y="271780"/>
                </a:lnTo>
                <a:lnTo>
                  <a:pt x="0" y="271780"/>
                </a:lnTo>
                <a:lnTo>
                  <a:pt x="0" y="283210"/>
                </a:lnTo>
                <a:lnTo>
                  <a:pt x="66421" y="283210"/>
                </a:lnTo>
                <a:lnTo>
                  <a:pt x="66421" y="271780"/>
                </a:lnTo>
                <a:lnTo>
                  <a:pt x="66421" y="1143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2678049" y="3741419"/>
            <a:ext cx="66675" cy="283210"/>
          </a:xfrm>
          <a:custGeom>
            <a:avLst/>
            <a:gdLst/>
            <a:ahLst/>
            <a:cxnLst/>
            <a:rect l="l" t="t" r="r" b="b"/>
            <a:pathLst>
              <a:path w="66675" h="283210">
                <a:moveTo>
                  <a:pt x="66421" y="0"/>
                </a:moveTo>
                <a:lnTo>
                  <a:pt x="0" y="0"/>
                </a:lnTo>
                <a:lnTo>
                  <a:pt x="0" y="11430"/>
                </a:lnTo>
                <a:lnTo>
                  <a:pt x="0" y="271780"/>
                </a:lnTo>
                <a:lnTo>
                  <a:pt x="0" y="283210"/>
                </a:lnTo>
                <a:lnTo>
                  <a:pt x="66421" y="283210"/>
                </a:lnTo>
                <a:lnTo>
                  <a:pt x="66421" y="271780"/>
                </a:lnTo>
                <a:lnTo>
                  <a:pt x="24765" y="271780"/>
                </a:lnTo>
                <a:lnTo>
                  <a:pt x="24765" y="11430"/>
                </a:lnTo>
                <a:lnTo>
                  <a:pt x="66421" y="1143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4811267" y="3583178"/>
            <a:ext cx="323215" cy="20320"/>
          </a:xfrm>
          <a:custGeom>
            <a:avLst/>
            <a:gdLst/>
            <a:ahLst/>
            <a:cxnLst/>
            <a:rect l="l" t="t" r="r" b="b"/>
            <a:pathLst>
              <a:path w="323214" h="20320">
                <a:moveTo>
                  <a:pt x="323088" y="0"/>
                </a:moveTo>
                <a:lnTo>
                  <a:pt x="0" y="0"/>
                </a:lnTo>
                <a:lnTo>
                  <a:pt x="0" y="19812"/>
                </a:lnTo>
                <a:lnTo>
                  <a:pt x="323088" y="19812"/>
                </a:lnTo>
                <a:lnTo>
                  <a:pt x="32308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p:nvPr/>
        </p:nvSpPr>
        <p:spPr>
          <a:xfrm>
            <a:off x="5109083" y="3763517"/>
            <a:ext cx="40767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3600" b="0" i="0" u="none" strike="noStrike" kern="0" cap="none" spc="44" normalizeH="0" baseline="-16203" noProof="0" dirty="0">
                <a:ln>
                  <a:noFill/>
                </a:ln>
                <a:solidFill>
                  <a:sysClr val="windowText" lastClr="000000"/>
                </a:solidFill>
                <a:effectLst/>
                <a:uLnTx/>
                <a:uFillTx/>
                <a:latin typeface="Cambria Math"/>
                <a:cs typeface="Cambria Math"/>
              </a:rPr>
              <a:t>𝐴</a:t>
            </a:r>
            <a:r>
              <a:rPr kumimoji="0" sz="1750" b="0" i="0" u="none" strike="noStrike" kern="0" cap="none" spc="30" normalizeH="0" baseline="0" noProof="0" dirty="0">
                <a:ln>
                  <a:noFill/>
                </a:ln>
                <a:solidFill>
                  <a:sysClr val="windowText" lastClr="000000"/>
                </a:solidFill>
                <a:effectLst/>
                <a:uLnTx/>
                <a:uFillTx/>
                <a:latin typeface="Cambria Math"/>
                <a:cs typeface="Cambria Math"/>
              </a:rPr>
              <a:t>𝑘</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7" name="object 7"/>
          <p:cNvSpPr/>
          <p:nvPr/>
        </p:nvSpPr>
        <p:spPr>
          <a:xfrm>
            <a:off x="5146547" y="4253738"/>
            <a:ext cx="350520" cy="20320"/>
          </a:xfrm>
          <a:custGeom>
            <a:avLst/>
            <a:gdLst/>
            <a:ahLst/>
            <a:cxnLst/>
            <a:rect l="l" t="t" r="r" b="b"/>
            <a:pathLst>
              <a:path w="350520" h="20320">
                <a:moveTo>
                  <a:pt x="350520" y="0"/>
                </a:moveTo>
                <a:lnTo>
                  <a:pt x="0" y="0"/>
                </a:lnTo>
                <a:lnTo>
                  <a:pt x="0" y="19812"/>
                </a:lnTo>
                <a:lnTo>
                  <a:pt x="350520" y="19812"/>
                </a:lnTo>
                <a:lnTo>
                  <a:pt x="35052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4411090" y="3917442"/>
            <a:ext cx="40513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3600" b="0" i="0" u="none" strike="noStrike" kern="0" cap="none" spc="-37" normalizeH="0" baseline="-18518" noProof="0" dirty="0">
                <a:ln>
                  <a:noFill/>
                </a:ln>
                <a:solidFill>
                  <a:sysClr val="windowText" lastClr="000000"/>
                </a:solidFill>
                <a:effectLst/>
                <a:uLnTx/>
                <a:uFillTx/>
                <a:latin typeface="Cambria Math"/>
                <a:cs typeface="Cambria Math"/>
              </a:rPr>
              <a:t>∑</a:t>
            </a:r>
            <a:r>
              <a:rPr kumimoji="0" sz="1750" b="0" i="0" u="none" strike="noStrike" kern="0" cap="none" spc="-25" normalizeH="0" baseline="0" noProof="0" dirty="0">
                <a:ln>
                  <a:noFill/>
                </a:ln>
                <a:solidFill>
                  <a:sysClr val="windowText" lastClr="000000"/>
                </a:solidFill>
                <a:effectLst/>
                <a:uLnTx/>
                <a:uFillTx/>
                <a:latin typeface="Cambria Math"/>
                <a:cs typeface="Cambria Math"/>
              </a:rPr>
              <a:t>𝑐</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244</a:t>
            </a:fld>
            <a:endParaRPr kumimoji="0" sz="1200" b="0" i="0" u="none" strike="noStrike" kern="0" cap="none" spc="-25" normalizeH="0" baseline="0" noProof="0" dirty="0">
              <a:ln>
                <a:noFill/>
              </a:ln>
              <a:solidFill>
                <a:srgbClr val="888888"/>
              </a:solidFill>
              <a:effectLst/>
              <a:uLnTx/>
              <a:uFillTx/>
              <a:latin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9" name="object 9"/>
          <p:cNvSpPr txBox="1"/>
          <p:nvPr/>
        </p:nvSpPr>
        <p:spPr>
          <a:xfrm>
            <a:off x="4627498" y="4115561"/>
            <a:ext cx="86614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0" normalizeH="0" baseline="0" noProof="0" dirty="0">
                <a:ln>
                  <a:noFill/>
                </a:ln>
                <a:solidFill>
                  <a:sysClr val="windowText" lastClr="000000"/>
                </a:solidFill>
                <a:effectLst/>
                <a:uLnTx/>
                <a:uFillTx/>
                <a:latin typeface="Cambria Math"/>
                <a:cs typeface="Cambria Math"/>
              </a:rPr>
              <a:t>𝑘=0</a:t>
            </a:r>
            <a:r>
              <a:rPr kumimoji="0" sz="1750" b="0" i="0" u="none" strike="noStrike" kern="0" cap="none" spc="470" normalizeH="0" baseline="0" noProof="0" dirty="0">
                <a:ln>
                  <a:noFill/>
                </a:ln>
                <a:solidFill>
                  <a:sysClr val="windowText" lastClr="000000"/>
                </a:solidFill>
                <a:effectLst/>
                <a:uLnTx/>
                <a:uFillTx/>
                <a:latin typeface="Cambria Math"/>
                <a:cs typeface="Cambria Math"/>
              </a:rPr>
              <a:t> </a:t>
            </a:r>
            <a:r>
              <a:rPr kumimoji="0" sz="3600" b="0" i="0" u="none" strike="noStrike" kern="0" cap="none" spc="-37" normalizeH="0" baseline="-13888" noProof="0" dirty="0">
                <a:ln>
                  <a:noFill/>
                </a:ln>
                <a:solidFill>
                  <a:sysClr val="windowText" lastClr="000000"/>
                </a:solidFill>
                <a:effectLst/>
                <a:uLnTx/>
                <a:uFillTx/>
                <a:latin typeface="Cambria Math"/>
                <a:cs typeface="Cambria Math"/>
              </a:rPr>
              <a:t>𝑘!</a:t>
            </a:r>
            <a:endParaRPr kumimoji="0" sz="3600" b="0" i="0" u="none" strike="noStrike" kern="0" cap="none" spc="0" normalizeH="0" baseline="-13888" noProof="0">
              <a:ln>
                <a:noFill/>
              </a:ln>
              <a:solidFill>
                <a:sysClr val="windowText" lastClr="000000"/>
              </a:solidFill>
              <a:effectLst/>
              <a:uLnTx/>
              <a:uFillTx/>
              <a:latin typeface="Cambria Math"/>
              <a:cs typeface="Cambria Math"/>
            </a:endParaRPr>
          </a:p>
        </p:txBody>
      </p:sp>
      <p:sp>
        <p:nvSpPr>
          <p:cNvPr id="10" name="object 10"/>
          <p:cNvSpPr txBox="1"/>
          <p:nvPr/>
        </p:nvSpPr>
        <p:spPr>
          <a:xfrm>
            <a:off x="2326894" y="3652266"/>
            <a:ext cx="4177665" cy="391160"/>
          </a:xfrm>
          <a:prstGeom prst="rect">
            <a:avLst/>
          </a:prstGeom>
        </p:spPr>
        <p:txBody>
          <a:bodyPr vert="horz" wrap="square" lIns="0" tIns="12700" rIns="0" bIns="0" rtlCol="0">
            <a:spAutoFit/>
          </a:bodyPr>
          <a:lstStyle/>
          <a:p>
            <a:pPr marL="50800" marR="0" lvl="0" indent="0" defTabSz="914400" eaLnBrk="1" fontAlgn="auto" latinLnBrk="0" hangingPunct="1">
              <a:lnSpc>
                <a:spcPct val="100000"/>
              </a:lnSpc>
              <a:spcBef>
                <a:spcPts val="100"/>
              </a:spcBef>
              <a:spcAft>
                <a:spcPts val="0"/>
              </a:spcAft>
              <a:buClrTx/>
              <a:buSzTx/>
              <a:buFontTx/>
              <a:buNone/>
              <a:tabLst>
                <a:tab pos="1809750" algn="l"/>
                <a:tab pos="2504440" algn="l"/>
                <a:tab pos="3171190" algn="l"/>
              </a:tabLst>
              <a:defRPr/>
            </a:pPr>
            <a:r>
              <a:rPr kumimoji="0" sz="24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405"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10" normalizeH="0" baseline="0" noProof="0" dirty="0">
                <a:ln>
                  <a:noFill/>
                </a:ln>
                <a:solidFill>
                  <a:sysClr val="windowText" lastClr="000000"/>
                </a:solidFill>
                <a:effectLst/>
                <a:uLnTx/>
                <a:uFillTx/>
                <a:latin typeface="Cambria Math"/>
                <a:cs typeface="Cambria Math"/>
              </a:rPr>
              <a:t>𝑏𝑙𝑜𝑐𝑘𝑖𝑛𝑔</a:t>
            </a:r>
            <a:r>
              <a:rPr kumimoji="0" sz="2400" b="0" i="0" u="none" strike="noStrike" kern="0" cap="none" spc="0" normalizeH="0" baseline="0" noProof="0" dirty="0">
                <a:ln>
                  <a:noFill/>
                </a:ln>
                <a:solidFill>
                  <a:sysClr val="windowText" lastClr="000000"/>
                </a:solidFill>
                <a:effectLst/>
                <a:uLnTx/>
                <a:uFillTx/>
                <a:latin typeface="Cambria Math"/>
                <a:cs typeface="Cambria Math"/>
              </a:rPr>
              <a:t>	= </a:t>
            </a:r>
            <a:r>
              <a:rPr kumimoji="0" sz="3600" b="0" i="0" u="sng" strike="noStrike" kern="0" cap="none" spc="0" normalizeH="0" baseline="25462" noProof="0" dirty="0">
                <a:ln>
                  <a:noFill/>
                </a:ln>
                <a:solidFill>
                  <a:sysClr val="windowText" lastClr="000000"/>
                </a:solidFill>
                <a:effectLst/>
                <a:uLnTx/>
                <a:uFill>
                  <a:solidFill>
                    <a:srgbClr val="000000"/>
                  </a:solidFill>
                </a:uFill>
                <a:latin typeface="Cambria Math"/>
                <a:cs typeface="Cambria Math"/>
              </a:rPr>
              <a:t>	</a:t>
            </a:r>
            <a:r>
              <a:rPr kumimoji="0" sz="3600" b="0" i="0" u="sng" strike="noStrike" kern="0" cap="none" spc="-37" normalizeH="0" baseline="25462" noProof="0" dirty="0">
                <a:ln>
                  <a:noFill/>
                </a:ln>
                <a:solidFill>
                  <a:sysClr val="windowText" lastClr="000000"/>
                </a:solidFill>
                <a:effectLst/>
                <a:uLnTx/>
                <a:uFill>
                  <a:solidFill>
                    <a:srgbClr val="000000"/>
                  </a:solidFill>
                </a:uFill>
                <a:latin typeface="Cambria Math"/>
                <a:cs typeface="Cambria Math"/>
              </a:rPr>
              <a:t>𝐶!</a:t>
            </a:r>
            <a:r>
              <a:rPr kumimoji="0" sz="3600" b="0" i="0" u="sng" strike="noStrike" kern="0" cap="none" spc="0" normalizeH="0" baseline="25462" noProof="0" dirty="0">
                <a:ln>
                  <a:noFill/>
                </a:ln>
                <a:solidFill>
                  <a:sysClr val="windowText" lastClr="000000"/>
                </a:solidFill>
                <a:effectLst/>
                <a:uLnTx/>
                <a:uFill>
                  <a:solidFill>
                    <a:srgbClr val="000000"/>
                  </a:solidFill>
                </a:uFill>
                <a:latin typeface="Cambria Math"/>
                <a:cs typeface="Cambria Math"/>
              </a:rPr>
              <a:t>	</a:t>
            </a:r>
            <a:r>
              <a:rPr kumimoji="0" sz="3600" b="0" i="0" u="none" strike="noStrike" kern="0" cap="none" spc="359" normalizeH="0" baseline="25462"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229"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𝐺𝑂𝑆</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1" name="object 11"/>
          <p:cNvSpPr txBox="1"/>
          <p:nvPr/>
        </p:nvSpPr>
        <p:spPr>
          <a:xfrm>
            <a:off x="383540" y="4560570"/>
            <a:ext cx="7809230" cy="7569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trunked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offered by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trunked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radio</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1"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total</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offered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traffic</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95401"/>
            <a:ext cx="9144000" cy="5308600"/>
            <a:chOff x="0" y="1295401"/>
            <a:chExt cx="9144000" cy="5308600"/>
          </a:xfrm>
        </p:grpSpPr>
        <p:sp>
          <p:nvSpPr>
            <p:cNvPr id="3" name="object 3"/>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4495800"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2133600" y="6558116"/>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6815455" y="6558116"/>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p:cNvPicPr/>
            <p:nvPr/>
          </p:nvPicPr>
          <p:blipFill>
            <a:blip r:embed="rId2" cstate="print"/>
            <a:stretch>
              <a:fillRect/>
            </a:stretch>
          </p:blipFill>
          <p:spPr>
            <a:xfrm>
              <a:off x="276225" y="1371650"/>
              <a:ext cx="7038975" cy="5212842"/>
            </a:xfrm>
            <a:prstGeom prst="rect">
              <a:avLst/>
            </a:prstGeom>
          </p:spPr>
        </p:pic>
      </p:grpSp>
      <p:pic>
        <p:nvPicPr>
          <p:cNvPr id="13" name="object 13"/>
          <p:cNvPicPr/>
          <p:nvPr/>
        </p:nvPicPr>
        <p:blipFill>
          <a:blip r:embed="rId3" cstate="print"/>
          <a:stretch>
            <a:fillRect/>
          </a:stretch>
        </p:blipFill>
        <p:spPr>
          <a:xfrm>
            <a:off x="6629400" y="0"/>
            <a:ext cx="2193163" cy="692658"/>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245</a:t>
            </a:fld>
            <a:endParaRPr kumimoji="0" sz="1200" b="0" i="0" u="none" strike="noStrike" kern="0" cap="none" spc="-25" normalizeH="0" baseline="0" noProof="0" dirty="0">
              <a:ln>
                <a:noFill/>
              </a:ln>
              <a:solidFill>
                <a:srgbClr val="888888"/>
              </a:solidFill>
              <a:effectLst/>
              <a:uLnTx/>
              <a:uFillTx/>
              <a:latin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355"/>
            <a:ext cx="2987675" cy="903605"/>
          </a:xfrm>
          <a:prstGeom prst="rect">
            <a:avLst/>
          </a:prstGeom>
        </p:spPr>
        <p:txBody>
          <a:bodyPr vert="horz" wrap="square" lIns="0" tIns="12700" rIns="0" bIns="0" rtlCol="0">
            <a:spAutoFit/>
          </a:bodyPr>
          <a:lstStyle/>
          <a:p>
            <a:pPr marL="12700" marR="5080" lvl="0" indent="0" defTabSz="914400" eaLnBrk="1" fontAlgn="auto" latinLnBrk="0" hangingPunct="1">
              <a:lnSpc>
                <a:spcPct val="12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2.</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Blocked</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calls</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delayed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Erlang</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formula</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p:nvPr/>
        </p:nvSpPr>
        <p:spPr>
          <a:xfrm>
            <a:off x="3267710" y="2646679"/>
            <a:ext cx="66675" cy="284480"/>
          </a:xfrm>
          <a:custGeom>
            <a:avLst/>
            <a:gdLst/>
            <a:ahLst/>
            <a:cxnLst/>
            <a:rect l="l" t="t" r="r" b="b"/>
            <a:pathLst>
              <a:path w="66675" h="284480">
                <a:moveTo>
                  <a:pt x="66421" y="0"/>
                </a:moveTo>
                <a:lnTo>
                  <a:pt x="0" y="0"/>
                </a:lnTo>
                <a:lnTo>
                  <a:pt x="0" y="11430"/>
                </a:lnTo>
                <a:lnTo>
                  <a:pt x="41770" y="11430"/>
                </a:lnTo>
                <a:lnTo>
                  <a:pt x="41770" y="273050"/>
                </a:lnTo>
                <a:lnTo>
                  <a:pt x="0" y="273050"/>
                </a:lnTo>
                <a:lnTo>
                  <a:pt x="0" y="284480"/>
                </a:lnTo>
                <a:lnTo>
                  <a:pt x="66421" y="284480"/>
                </a:lnTo>
                <a:lnTo>
                  <a:pt x="66421" y="273050"/>
                </a:lnTo>
                <a:lnTo>
                  <a:pt x="66421" y="1143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1852041" y="2646679"/>
            <a:ext cx="66675" cy="284480"/>
          </a:xfrm>
          <a:custGeom>
            <a:avLst/>
            <a:gdLst/>
            <a:ahLst/>
            <a:cxnLst/>
            <a:rect l="l" t="t" r="r" b="b"/>
            <a:pathLst>
              <a:path w="66675" h="284480">
                <a:moveTo>
                  <a:pt x="66421" y="0"/>
                </a:moveTo>
                <a:lnTo>
                  <a:pt x="0" y="0"/>
                </a:lnTo>
                <a:lnTo>
                  <a:pt x="0" y="11430"/>
                </a:lnTo>
                <a:lnTo>
                  <a:pt x="0" y="273050"/>
                </a:lnTo>
                <a:lnTo>
                  <a:pt x="0" y="284480"/>
                </a:lnTo>
                <a:lnTo>
                  <a:pt x="66421" y="284480"/>
                </a:lnTo>
                <a:lnTo>
                  <a:pt x="66421" y="273050"/>
                </a:lnTo>
                <a:lnTo>
                  <a:pt x="24765" y="273050"/>
                </a:lnTo>
                <a:lnTo>
                  <a:pt x="24765" y="11430"/>
                </a:lnTo>
                <a:lnTo>
                  <a:pt x="66421" y="1143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1500886" y="2557653"/>
            <a:ext cx="2217420" cy="391160"/>
          </a:xfrm>
          <a:prstGeom prst="rect">
            <a:avLst/>
          </a:prstGeom>
        </p:spPr>
        <p:txBody>
          <a:bodyPr vert="horz" wrap="square" lIns="0" tIns="12700" rIns="0" bIns="0" rtlCol="0">
            <a:spAutoFit/>
          </a:bodyPr>
          <a:lstStyle/>
          <a:p>
            <a:pPr marL="50800" marR="0" lvl="0" indent="0" defTabSz="914400" eaLnBrk="1" fontAlgn="auto" latinLnBrk="0" hangingPunct="1">
              <a:lnSpc>
                <a:spcPct val="100000"/>
              </a:lnSpc>
              <a:spcBef>
                <a:spcPts val="100"/>
              </a:spcBef>
              <a:spcAft>
                <a:spcPts val="0"/>
              </a:spcAft>
              <a:buClrTx/>
              <a:buSzTx/>
              <a:buFontTx/>
              <a:buNone/>
              <a:tabLst>
                <a:tab pos="1951355" algn="l"/>
              </a:tabLst>
              <a:defRPr/>
            </a:pPr>
            <a:r>
              <a:rPr kumimoji="0" sz="24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37"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675"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𝑑𝑒𝑙𝑎𝑦</a:t>
            </a:r>
            <a:r>
              <a:rPr kumimoji="0" sz="2400" b="0" i="0" u="none" strike="noStrike" kern="0" cap="none" spc="6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4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0</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6" name="object 6"/>
          <p:cNvSpPr txBox="1"/>
          <p:nvPr/>
        </p:nvSpPr>
        <p:spPr>
          <a:xfrm>
            <a:off x="5141340" y="2216277"/>
            <a:ext cx="401955"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3600" b="0" i="0" u="none" strike="noStrike" kern="0" cap="none" spc="-37" normalizeH="0" baseline="-20833" noProof="0" dirty="0">
                <a:ln>
                  <a:noFill/>
                </a:ln>
                <a:solidFill>
                  <a:sysClr val="windowText" lastClr="000000"/>
                </a:solidFill>
                <a:effectLst/>
                <a:uLnTx/>
                <a:uFillTx/>
                <a:latin typeface="Cambria Math"/>
                <a:cs typeface="Cambria Math"/>
              </a:rPr>
              <a:t>𝐴</a:t>
            </a:r>
            <a:r>
              <a:rPr kumimoji="0" sz="1750" b="0" i="0" u="none" strike="noStrike" kern="0" cap="none" spc="-25" normalizeH="0" baseline="0" noProof="0" dirty="0">
                <a:ln>
                  <a:noFill/>
                </a:ln>
                <a:solidFill>
                  <a:sysClr val="windowText" lastClr="000000"/>
                </a:solidFill>
                <a:effectLst/>
                <a:uLnTx/>
                <a:uFillTx/>
                <a:latin typeface="Cambria Math"/>
                <a:cs typeface="Cambria Math"/>
              </a:rPr>
              <a:t>𝐶</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7" name="object 7"/>
          <p:cNvSpPr/>
          <p:nvPr/>
        </p:nvSpPr>
        <p:spPr>
          <a:xfrm>
            <a:off x="4838953" y="2916935"/>
            <a:ext cx="975360" cy="502920"/>
          </a:xfrm>
          <a:custGeom>
            <a:avLst/>
            <a:gdLst/>
            <a:ahLst/>
            <a:cxnLst/>
            <a:rect l="l" t="t" r="r" b="b"/>
            <a:pathLst>
              <a:path w="975360" h="502920">
                <a:moveTo>
                  <a:pt x="866267" y="0"/>
                </a:moveTo>
                <a:lnTo>
                  <a:pt x="861441" y="11937"/>
                </a:lnTo>
                <a:lnTo>
                  <a:pt x="880203" y="27177"/>
                </a:lnTo>
                <a:lnTo>
                  <a:pt x="896858" y="46989"/>
                </a:lnTo>
                <a:lnTo>
                  <a:pt x="923798" y="100329"/>
                </a:lnTo>
                <a:lnTo>
                  <a:pt x="940768" y="169338"/>
                </a:lnTo>
                <a:lnTo>
                  <a:pt x="944997" y="208825"/>
                </a:lnTo>
                <a:lnTo>
                  <a:pt x="946395" y="251333"/>
                </a:lnTo>
                <a:lnTo>
                  <a:pt x="946404" y="251587"/>
                </a:lnTo>
                <a:lnTo>
                  <a:pt x="944999" y="293691"/>
                </a:lnTo>
                <a:lnTo>
                  <a:pt x="940784" y="332771"/>
                </a:lnTo>
                <a:lnTo>
                  <a:pt x="923925" y="401954"/>
                </a:lnTo>
                <a:lnTo>
                  <a:pt x="897064" y="455691"/>
                </a:lnTo>
                <a:lnTo>
                  <a:pt x="861441" y="490854"/>
                </a:lnTo>
                <a:lnTo>
                  <a:pt x="866267" y="502792"/>
                </a:lnTo>
                <a:lnTo>
                  <a:pt x="911034" y="466994"/>
                </a:lnTo>
                <a:lnTo>
                  <a:pt x="945515" y="409575"/>
                </a:lnTo>
                <a:lnTo>
                  <a:pt x="967517" y="335978"/>
                </a:lnTo>
                <a:lnTo>
                  <a:pt x="973018" y="295024"/>
                </a:lnTo>
                <a:lnTo>
                  <a:pt x="974841" y="251587"/>
                </a:lnTo>
                <a:lnTo>
                  <a:pt x="974851" y="251333"/>
                </a:lnTo>
                <a:lnTo>
                  <a:pt x="973079" y="208825"/>
                </a:lnTo>
                <a:lnTo>
                  <a:pt x="973018" y="207353"/>
                </a:lnTo>
                <a:lnTo>
                  <a:pt x="967517" y="166290"/>
                </a:lnTo>
                <a:lnTo>
                  <a:pt x="958349" y="128156"/>
                </a:lnTo>
                <a:lnTo>
                  <a:pt x="929560" y="61793"/>
                </a:lnTo>
                <a:lnTo>
                  <a:pt x="889936" y="15311"/>
                </a:lnTo>
                <a:lnTo>
                  <a:pt x="866267" y="0"/>
                </a:lnTo>
                <a:close/>
              </a:path>
              <a:path w="975360" h="502920">
                <a:moveTo>
                  <a:pt x="108585" y="0"/>
                </a:moveTo>
                <a:lnTo>
                  <a:pt x="63928" y="35909"/>
                </a:lnTo>
                <a:lnTo>
                  <a:pt x="29463" y="92963"/>
                </a:lnTo>
                <a:lnTo>
                  <a:pt x="7350" y="166290"/>
                </a:lnTo>
                <a:lnTo>
                  <a:pt x="1835" y="207353"/>
                </a:lnTo>
                <a:lnTo>
                  <a:pt x="0" y="251333"/>
                </a:lnTo>
                <a:lnTo>
                  <a:pt x="1779" y="293691"/>
                </a:lnTo>
                <a:lnTo>
                  <a:pt x="7350" y="335978"/>
                </a:lnTo>
                <a:lnTo>
                  <a:pt x="16555" y="374169"/>
                </a:lnTo>
                <a:lnTo>
                  <a:pt x="45416" y="440981"/>
                </a:lnTo>
                <a:lnTo>
                  <a:pt x="84988" y="487602"/>
                </a:lnTo>
                <a:lnTo>
                  <a:pt x="108585" y="502792"/>
                </a:lnTo>
                <a:lnTo>
                  <a:pt x="113411" y="490854"/>
                </a:lnTo>
                <a:lnTo>
                  <a:pt x="94503" y="475589"/>
                </a:lnTo>
                <a:lnTo>
                  <a:pt x="77787" y="455691"/>
                </a:lnTo>
                <a:lnTo>
                  <a:pt x="50926" y="401954"/>
                </a:lnTo>
                <a:lnTo>
                  <a:pt x="34067" y="332771"/>
                </a:lnTo>
                <a:lnTo>
                  <a:pt x="29852" y="293691"/>
                </a:lnTo>
                <a:lnTo>
                  <a:pt x="28448" y="251587"/>
                </a:lnTo>
                <a:lnTo>
                  <a:pt x="29874" y="208825"/>
                </a:lnTo>
                <a:lnTo>
                  <a:pt x="34147" y="169338"/>
                </a:lnTo>
                <a:lnTo>
                  <a:pt x="51181" y="100329"/>
                </a:lnTo>
                <a:lnTo>
                  <a:pt x="78057" y="46989"/>
                </a:lnTo>
                <a:lnTo>
                  <a:pt x="113411" y="11937"/>
                </a:lnTo>
                <a:lnTo>
                  <a:pt x="108585"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3712590" y="2938653"/>
            <a:ext cx="1752600" cy="391160"/>
          </a:xfrm>
          <a:prstGeom prst="rect">
            <a:avLst/>
          </a:prstGeom>
        </p:spPr>
        <p:txBody>
          <a:bodyPr vert="horz" wrap="square" lIns="0" tIns="12700" rIns="0" bIns="0" rtlCol="0">
            <a:spAutoFit/>
          </a:bodyPr>
          <a:lstStyle/>
          <a:p>
            <a:pPr marL="50800" marR="0" lvl="0" indent="0" defTabSz="914400" eaLnBrk="1" fontAlgn="auto" latinLnBrk="0" hangingPunct="1">
              <a:lnSpc>
                <a:spcPct val="100000"/>
              </a:lnSpc>
              <a:spcBef>
                <a:spcPts val="100"/>
              </a:spcBef>
              <a:spcAft>
                <a:spcPts val="0"/>
              </a:spcAft>
              <a:buClrTx/>
              <a:buSzTx/>
              <a:buFontTx/>
              <a:buNone/>
              <a:tabLst>
                <a:tab pos="1249680" algn="l"/>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𝐴</a:t>
            </a:r>
            <a:r>
              <a:rPr kumimoji="0" sz="2625" b="0" i="0" u="none" strike="noStrike" kern="0" cap="none" spc="0" normalizeH="0" baseline="22222" noProof="0" dirty="0">
                <a:ln>
                  <a:noFill/>
                </a:ln>
                <a:solidFill>
                  <a:sysClr val="windowText" lastClr="000000"/>
                </a:solidFill>
                <a:effectLst/>
                <a:uLnTx/>
                <a:uFillTx/>
                <a:latin typeface="Cambria Math"/>
                <a:cs typeface="Cambria Math"/>
              </a:rPr>
              <a:t>𝐶</a:t>
            </a:r>
            <a:r>
              <a:rPr kumimoji="0" sz="2625" b="0" i="0" u="none" strike="noStrike" kern="0" cap="none" spc="502" normalizeH="0" baseline="22222"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𝐶!</a:t>
            </a:r>
            <a:r>
              <a:rPr kumimoji="0" sz="2400" b="0" i="0" u="none" strike="noStrike" kern="0" cap="none" spc="0" normalizeH="0" baseline="0" noProof="0" dirty="0">
                <a:ln>
                  <a:noFill/>
                </a:ln>
                <a:solidFill>
                  <a:sysClr val="windowText" lastClr="000000"/>
                </a:solidFill>
                <a:effectLst/>
                <a:uLnTx/>
                <a:uFillTx/>
                <a:latin typeface="Cambria Math"/>
                <a:cs typeface="Cambria Math"/>
              </a:rPr>
              <a:t>	1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9" name="object 9"/>
          <p:cNvSpPr txBox="1"/>
          <p:nvPr/>
        </p:nvSpPr>
        <p:spPr>
          <a:xfrm>
            <a:off x="5482209" y="2760345"/>
            <a:ext cx="218440" cy="723900"/>
          </a:xfrm>
          <a:prstGeom prst="rect">
            <a:avLst/>
          </a:prstGeom>
        </p:spPr>
        <p:txBody>
          <a:bodyPr vert="horz" wrap="square" lIns="0" tIns="12700" rIns="0" bIns="0" rtlCol="0">
            <a:spAutoFit/>
          </a:bodyPr>
          <a:lstStyle/>
          <a:p>
            <a:pPr marL="12700" marR="0" lvl="0" indent="0" defTabSz="914400" eaLnBrk="1" fontAlgn="auto" latinLnBrk="0" hangingPunct="1">
              <a:lnSpc>
                <a:spcPts val="275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𝐴</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12700" marR="0" lvl="0" indent="0" defTabSz="914400" eaLnBrk="1" fontAlgn="auto" latinLnBrk="0" hangingPunct="1">
              <a:lnSpc>
                <a:spcPts val="2750"/>
              </a:lnSpc>
              <a:spcBef>
                <a:spcPts val="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𝐶</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0" name="object 10"/>
          <p:cNvSpPr/>
          <p:nvPr/>
        </p:nvSpPr>
        <p:spPr>
          <a:xfrm>
            <a:off x="5494020" y="3159505"/>
            <a:ext cx="196850" cy="20320"/>
          </a:xfrm>
          <a:custGeom>
            <a:avLst/>
            <a:gdLst/>
            <a:ahLst/>
            <a:cxnLst/>
            <a:rect l="l" t="t" r="r" b="b"/>
            <a:pathLst>
              <a:path w="196850" h="20319">
                <a:moveTo>
                  <a:pt x="196596" y="0"/>
                </a:moveTo>
                <a:lnTo>
                  <a:pt x="0" y="0"/>
                </a:lnTo>
                <a:lnTo>
                  <a:pt x="0" y="19812"/>
                </a:lnTo>
                <a:lnTo>
                  <a:pt x="196596" y="19812"/>
                </a:lnTo>
                <a:lnTo>
                  <a:pt x="19659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p:nvPr/>
        </p:nvSpPr>
        <p:spPr>
          <a:xfrm>
            <a:off x="6555613" y="2668904"/>
            <a:ext cx="40767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3600" b="0" i="0" u="none" strike="noStrike" kern="0" cap="none" spc="37" normalizeH="0" baseline="-16203" noProof="0" dirty="0">
                <a:ln>
                  <a:noFill/>
                </a:ln>
                <a:solidFill>
                  <a:sysClr val="windowText" lastClr="000000"/>
                </a:solidFill>
                <a:effectLst/>
                <a:uLnTx/>
                <a:uFillTx/>
                <a:latin typeface="Cambria Math"/>
                <a:cs typeface="Cambria Math"/>
              </a:rPr>
              <a:t>𝐴</a:t>
            </a:r>
            <a:r>
              <a:rPr kumimoji="0" sz="1750" b="0" i="0" u="none" strike="noStrike" kern="0" cap="none" spc="25" normalizeH="0" baseline="0" noProof="0" dirty="0">
                <a:ln>
                  <a:noFill/>
                </a:ln>
                <a:solidFill>
                  <a:sysClr val="windowText" lastClr="000000"/>
                </a:solidFill>
                <a:effectLst/>
                <a:uLnTx/>
                <a:uFillTx/>
                <a:latin typeface="Cambria Math"/>
                <a:cs typeface="Cambria Math"/>
              </a:rPr>
              <a:t>𝑘</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2" name="object 12"/>
          <p:cNvSpPr/>
          <p:nvPr/>
        </p:nvSpPr>
        <p:spPr>
          <a:xfrm>
            <a:off x="6592823" y="3159505"/>
            <a:ext cx="350520" cy="20320"/>
          </a:xfrm>
          <a:custGeom>
            <a:avLst/>
            <a:gdLst/>
            <a:ahLst/>
            <a:cxnLst/>
            <a:rect l="l" t="t" r="r" b="b"/>
            <a:pathLst>
              <a:path w="350520" h="20319">
                <a:moveTo>
                  <a:pt x="350520" y="0"/>
                </a:moveTo>
                <a:lnTo>
                  <a:pt x="0" y="0"/>
                </a:lnTo>
                <a:lnTo>
                  <a:pt x="0" y="19812"/>
                </a:lnTo>
                <a:lnTo>
                  <a:pt x="350520" y="19812"/>
                </a:lnTo>
                <a:lnTo>
                  <a:pt x="35052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txBox="1"/>
          <p:nvPr/>
        </p:nvSpPr>
        <p:spPr>
          <a:xfrm>
            <a:off x="5853048" y="2821304"/>
            <a:ext cx="727710"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3600" b="0" i="0" u="none" strike="noStrike" kern="0" cap="none" spc="-30" normalizeH="0" baseline="-19675" noProof="0" dirty="0">
                <a:ln>
                  <a:noFill/>
                </a:ln>
                <a:solidFill>
                  <a:sysClr val="windowText" lastClr="000000"/>
                </a:solidFill>
                <a:effectLst/>
                <a:uLnTx/>
                <a:uFillTx/>
                <a:latin typeface="Cambria Math"/>
                <a:cs typeface="Cambria Math"/>
              </a:rPr>
              <a:t>∑</a:t>
            </a:r>
            <a:r>
              <a:rPr kumimoji="0" sz="1750" b="0" i="0" u="none" strike="noStrike" kern="0" cap="none" spc="-20" normalizeH="0" baseline="0" noProof="0" dirty="0">
                <a:ln>
                  <a:noFill/>
                </a:ln>
                <a:solidFill>
                  <a:sysClr val="windowText" lastClr="000000"/>
                </a:solidFill>
                <a:effectLst/>
                <a:uLnTx/>
                <a:uFillTx/>
                <a:latin typeface="Cambria Math"/>
                <a:cs typeface="Cambria Math"/>
              </a:rPr>
              <a:t>𝐶−1</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4" name="object 14"/>
          <p:cNvSpPr txBox="1"/>
          <p:nvPr/>
        </p:nvSpPr>
        <p:spPr>
          <a:xfrm>
            <a:off x="6069457" y="3022472"/>
            <a:ext cx="869315"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0" normalizeH="0" baseline="0" noProof="0" dirty="0">
                <a:ln>
                  <a:noFill/>
                </a:ln>
                <a:solidFill>
                  <a:sysClr val="windowText" lastClr="000000"/>
                </a:solidFill>
                <a:effectLst/>
                <a:uLnTx/>
                <a:uFillTx/>
                <a:latin typeface="Cambria Math"/>
                <a:cs typeface="Cambria Math"/>
              </a:rPr>
              <a:t>𝑘=0</a:t>
            </a:r>
            <a:r>
              <a:rPr kumimoji="0" sz="1750" b="0" i="0" u="none" strike="noStrike" kern="0" cap="none" spc="60" normalizeH="0" baseline="0" noProof="0" dirty="0">
                <a:ln>
                  <a:noFill/>
                </a:ln>
                <a:solidFill>
                  <a:sysClr val="windowText" lastClr="000000"/>
                </a:solidFill>
                <a:effectLst/>
                <a:uLnTx/>
                <a:uFillTx/>
                <a:latin typeface="Cambria Math"/>
                <a:cs typeface="Cambria Math"/>
              </a:rPr>
              <a:t>  </a:t>
            </a:r>
            <a:r>
              <a:rPr kumimoji="0" sz="3600" b="0" i="0" u="none" strike="noStrike" kern="0" cap="none" spc="-37" normalizeH="0" baseline="-12731" noProof="0" dirty="0">
                <a:ln>
                  <a:noFill/>
                </a:ln>
                <a:solidFill>
                  <a:sysClr val="windowText" lastClr="000000"/>
                </a:solidFill>
                <a:effectLst/>
                <a:uLnTx/>
                <a:uFillTx/>
                <a:latin typeface="Cambria Math"/>
                <a:cs typeface="Cambria Math"/>
              </a:rPr>
              <a:t>𝑘!</a:t>
            </a:r>
            <a:endParaRPr kumimoji="0" sz="3600" b="0" i="0" u="none" strike="noStrike" kern="0" cap="none" spc="0" normalizeH="0" baseline="-12731" noProof="0">
              <a:ln>
                <a:noFill/>
              </a:ln>
              <a:solidFill>
                <a:sysClr val="windowText" lastClr="000000"/>
              </a:solidFill>
              <a:effectLst/>
              <a:uLnTx/>
              <a:uFillTx/>
              <a:latin typeface="Cambria Math"/>
              <a:cs typeface="Cambria Math"/>
            </a:endParaRPr>
          </a:p>
        </p:txBody>
      </p:sp>
      <p:sp>
        <p:nvSpPr>
          <p:cNvPr id="15" name="object 15"/>
          <p:cNvSpPr/>
          <p:nvPr/>
        </p:nvSpPr>
        <p:spPr>
          <a:xfrm>
            <a:off x="3762755" y="2778505"/>
            <a:ext cx="3180715" cy="20320"/>
          </a:xfrm>
          <a:custGeom>
            <a:avLst/>
            <a:gdLst/>
            <a:ahLst/>
            <a:cxnLst/>
            <a:rect l="l" t="t" r="r" b="b"/>
            <a:pathLst>
              <a:path w="3180715" h="20319">
                <a:moveTo>
                  <a:pt x="3180588" y="0"/>
                </a:moveTo>
                <a:lnTo>
                  <a:pt x="0" y="0"/>
                </a:lnTo>
                <a:lnTo>
                  <a:pt x="0" y="19812"/>
                </a:lnTo>
                <a:lnTo>
                  <a:pt x="3180588" y="19812"/>
                </a:lnTo>
                <a:lnTo>
                  <a:pt x="3180588"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246</a:t>
            </a:fld>
            <a:endParaRPr kumimoji="0" sz="1200" b="0" i="0" u="none" strike="noStrike" kern="0" cap="none" spc="-25" normalizeH="0" baseline="0" noProof="0" dirty="0">
              <a:ln>
                <a:noFill/>
              </a:ln>
              <a:solidFill>
                <a:srgbClr val="888888"/>
              </a:solidFill>
              <a:effectLst/>
              <a:uLnTx/>
              <a:uFillTx/>
              <a:latin typeface="Arial MT"/>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11094" y="1971039"/>
            <a:ext cx="66675" cy="284480"/>
          </a:xfrm>
          <a:custGeom>
            <a:avLst/>
            <a:gdLst/>
            <a:ahLst/>
            <a:cxnLst/>
            <a:rect l="l" t="t" r="r" b="b"/>
            <a:pathLst>
              <a:path w="66675" h="284480">
                <a:moveTo>
                  <a:pt x="66421" y="0"/>
                </a:moveTo>
                <a:lnTo>
                  <a:pt x="0" y="0"/>
                </a:lnTo>
                <a:lnTo>
                  <a:pt x="0" y="12700"/>
                </a:lnTo>
                <a:lnTo>
                  <a:pt x="41783" y="12700"/>
                </a:lnTo>
                <a:lnTo>
                  <a:pt x="41783" y="273050"/>
                </a:lnTo>
                <a:lnTo>
                  <a:pt x="0" y="273050"/>
                </a:lnTo>
                <a:lnTo>
                  <a:pt x="0" y="284480"/>
                </a:lnTo>
                <a:lnTo>
                  <a:pt x="66421" y="284480"/>
                </a:lnTo>
                <a:lnTo>
                  <a:pt x="66421" y="27305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p:nvPr/>
        </p:nvSpPr>
        <p:spPr>
          <a:xfrm>
            <a:off x="1710309" y="1971039"/>
            <a:ext cx="66675" cy="284480"/>
          </a:xfrm>
          <a:custGeom>
            <a:avLst/>
            <a:gdLst/>
            <a:ahLst/>
            <a:cxnLst/>
            <a:rect l="l" t="t" r="r" b="b"/>
            <a:pathLst>
              <a:path w="66675" h="284480">
                <a:moveTo>
                  <a:pt x="66421" y="0"/>
                </a:moveTo>
                <a:lnTo>
                  <a:pt x="0" y="0"/>
                </a:lnTo>
                <a:lnTo>
                  <a:pt x="0" y="12700"/>
                </a:lnTo>
                <a:lnTo>
                  <a:pt x="0" y="273050"/>
                </a:lnTo>
                <a:lnTo>
                  <a:pt x="0" y="284480"/>
                </a:lnTo>
                <a:lnTo>
                  <a:pt x="66421" y="284480"/>
                </a:lnTo>
                <a:lnTo>
                  <a:pt x="66421" y="273050"/>
                </a:lnTo>
                <a:lnTo>
                  <a:pt x="24765" y="273050"/>
                </a:lnTo>
                <a:lnTo>
                  <a:pt x="24765" y="1270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4883150" y="1971039"/>
            <a:ext cx="66675" cy="284480"/>
          </a:xfrm>
          <a:custGeom>
            <a:avLst/>
            <a:gdLst/>
            <a:ahLst/>
            <a:cxnLst/>
            <a:rect l="l" t="t" r="r" b="b"/>
            <a:pathLst>
              <a:path w="66675" h="284480">
                <a:moveTo>
                  <a:pt x="66421" y="0"/>
                </a:moveTo>
                <a:lnTo>
                  <a:pt x="0" y="0"/>
                </a:lnTo>
                <a:lnTo>
                  <a:pt x="0" y="12700"/>
                </a:lnTo>
                <a:lnTo>
                  <a:pt x="41783" y="12700"/>
                </a:lnTo>
                <a:lnTo>
                  <a:pt x="41783" y="273050"/>
                </a:lnTo>
                <a:lnTo>
                  <a:pt x="0" y="273050"/>
                </a:lnTo>
                <a:lnTo>
                  <a:pt x="0" y="284480"/>
                </a:lnTo>
                <a:lnTo>
                  <a:pt x="66421" y="284480"/>
                </a:lnTo>
                <a:lnTo>
                  <a:pt x="66421" y="27305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3641217" y="1971039"/>
            <a:ext cx="66675" cy="284480"/>
          </a:xfrm>
          <a:custGeom>
            <a:avLst/>
            <a:gdLst/>
            <a:ahLst/>
            <a:cxnLst/>
            <a:rect l="l" t="t" r="r" b="b"/>
            <a:pathLst>
              <a:path w="66675" h="284480">
                <a:moveTo>
                  <a:pt x="66421" y="0"/>
                </a:moveTo>
                <a:lnTo>
                  <a:pt x="0" y="0"/>
                </a:lnTo>
                <a:lnTo>
                  <a:pt x="0" y="12700"/>
                </a:lnTo>
                <a:lnTo>
                  <a:pt x="0" y="273050"/>
                </a:lnTo>
                <a:lnTo>
                  <a:pt x="0" y="284480"/>
                </a:lnTo>
                <a:lnTo>
                  <a:pt x="66421" y="284480"/>
                </a:lnTo>
                <a:lnTo>
                  <a:pt x="66421" y="273050"/>
                </a:lnTo>
                <a:lnTo>
                  <a:pt x="24765" y="273050"/>
                </a:lnTo>
                <a:lnTo>
                  <a:pt x="24765" y="1270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7675118" y="1971039"/>
            <a:ext cx="66675" cy="284480"/>
          </a:xfrm>
          <a:custGeom>
            <a:avLst/>
            <a:gdLst/>
            <a:ahLst/>
            <a:cxnLst/>
            <a:rect l="l" t="t" r="r" b="b"/>
            <a:pathLst>
              <a:path w="66675" h="284480">
                <a:moveTo>
                  <a:pt x="66421" y="0"/>
                </a:moveTo>
                <a:lnTo>
                  <a:pt x="0" y="0"/>
                </a:lnTo>
                <a:lnTo>
                  <a:pt x="0" y="12700"/>
                </a:lnTo>
                <a:lnTo>
                  <a:pt x="41783" y="12700"/>
                </a:lnTo>
                <a:lnTo>
                  <a:pt x="41783" y="273050"/>
                </a:lnTo>
                <a:lnTo>
                  <a:pt x="0" y="273050"/>
                </a:lnTo>
                <a:lnTo>
                  <a:pt x="0" y="284480"/>
                </a:lnTo>
                <a:lnTo>
                  <a:pt x="66421" y="284480"/>
                </a:lnTo>
                <a:lnTo>
                  <a:pt x="66421" y="27305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5239893" y="1971039"/>
            <a:ext cx="66675" cy="284480"/>
          </a:xfrm>
          <a:custGeom>
            <a:avLst/>
            <a:gdLst/>
            <a:ahLst/>
            <a:cxnLst/>
            <a:rect l="l" t="t" r="r" b="b"/>
            <a:pathLst>
              <a:path w="66675" h="284480">
                <a:moveTo>
                  <a:pt x="66421" y="0"/>
                </a:moveTo>
                <a:lnTo>
                  <a:pt x="0" y="0"/>
                </a:lnTo>
                <a:lnTo>
                  <a:pt x="0" y="12700"/>
                </a:lnTo>
                <a:lnTo>
                  <a:pt x="0" y="273050"/>
                </a:lnTo>
                <a:lnTo>
                  <a:pt x="0" y="284480"/>
                </a:lnTo>
                <a:lnTo>
                  <a:pt x="66421" y="284480"/>
                </a:lnTo>
                <a:lnTo>
                  <a:pt x="66421" y="273050"/>
                </a:lnTo>
                <a:lnTo>
                  <a:pt x="24765" y="273050"/>
                </a:lnTo>
                <a:lnTo>
                  <a:pt x="24765" y="1270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3845306" y="2336799"/>
            <a:ext cx="66675" cy="284480"/>
          </a:xfrm>
          <a:custGeom>
            <a:avLst/>
            <a:gdLst/>
            <a:ahLst/>
            <a:cxnLst/>
            <a:rect l="l" t="t" r="r" b="b"/>
            <a:pathLst>
              <a:path w="66675" h="284480">
                <a:moveTo>
                  <a:pt x="66421" y="0"/>
                </a:moveTo>
                <a:lnTo>
                  <a:pt x="0" y="0"/>
                </a:lnTo>
                <a:lnTo>
                  <a:pt x="0" y="12700"/>
                </a:lnTo>
                <a:lnTo>
                  <a:pt x="41783" y="12700"/>
                </a:lnTo>
                <a:lnTo>
                  <a:pt x="41783" y="273050"/>
                </a:lnTo>
                <a:lnTo>
                  <a:pt x="0" y="273050"/>
                </a:lnTo>
                <a:lnTo>
                  <a:pt x="0" y="284480"/>
                </a:lnTo>
                <a:lnTo>
                  <a:pt x="66421" y="284480"/>
                </a:lnTo>
                <a:lnTo>
                  <a:pt x="66421" y="27305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2603373" y="2336799"/>
            <a:ext cx="66675" cy="284480"/>
          </a:xfrm>
          <a:custGeom>
            <a:avLst/>
            <a:gdLst/>
            <a:ahLst/>
            <a:cxnLst/>
            <a:rect l="l" t="t" r="r" b="b"/>
            <a:pathLst>
              <a:path w="66675" h="284480">
                <a:moveTo>
                  <a:pt x="66421" y="0"/>
                </a:moveTo>
                <a:lnTo>
                  <a:pt x="0" y="0"/>
                </a:lnTo>
                <a:lnTo>
                  <a:pt x="0" y="12700"/>
                </a:lnTo>
                <a:lnTo>
                  <a:pt x="0" y="273050"/>
                </a:lnTo>
                <a:lnTo>
                  <a:pt x="0" y="284480"/>
                </a:lnTo>
                <a:lnTo>
                  <a:pt x="66421" y="284480"/>
                </a:lnTo>
                <a:lnTo>
                  <a:pt x="66421" y="273050"/>
                </a:lnTo>
                <a:lnTo>
                  <a:pt x="24765" y="273050"/>
                </a:lnTo>
                <a:lnTo>
                  <a:pt x="24765" y="12700"/>
                </a:lnTo>
                <a:lnTo>
                  <a:pt x="66421" y="1270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4383913" y="2337942"/>
            <a:ext cx="1771014" cy="282575"/>
          </a:xfrm>
          <a:custGeom>
            <a:avLst/>
            <a:gdLst/>
            <a:ahLst/>
            <a:cxnLst/>
            <a:rect l="l" t="t" r="r" b="b"/>
            <a:pathLst>
              <a:path w="1771014" h="282575">
                <a:moveTo>
                  <a:pt x="94107" y="11430"/>
                </a:moveTo>
                <a:lnTo>
                  <a:pt x="90043" y="0"/>
                </a:lnTo>
                <a:lnTo>
                  <a:pt x="69583" y="7391"/>
                </a:lnTo>
                <a:lnTo>
                  <a:pt x="51638" y="18110"/>
                </a:lnTo>
                <a:lnTo>
                  <a:pt x="23241" y="49530"/>
                </a:lnTo>
                <a:lnTo>
                  <a:pt x="5803" y="91427"/>
                </a:lnTo>
                <a:lnTo>
                  <a:pt x="76" y="139827"/>
                </a:lnTo>
                <a:lnTo>
                  <a:pt x="0" y="141224"/>
                </a:lnTo>
                <a:lnTo>
                  <a:pt x="1447" y="167182"/>
                </a:lnTo>
                <a:lnTo>
                  <a:pt x="13068" y="213093"/>
                </a:lnTo>
                <a:lnTo>
                  <a:pt x="36118" y="250342"/>
                </a:lnTo>
                <a:lnTo>
                  <a:pt x="69507" y="274967"/>
                </a:lnTo>
                <a:lnTo>
                  <a:pt x="90043" y="282321"/>
                </a:lnTo>
                <a:lnTo>
                  <a:pt x="93599" y="270891"/>
                </a:lnTo>
                <a:lnTo>
                  <a:pt x="77520" y="263779"/>
                </a:lnTo>
                <a:lnTo>
                  <a:pt x="63639" y="253860"/>
                </a:lnTo>
                <a:lnTo>
                  <a:pt x="35204" y="207606"/>
                </a:lnTo>
                <a:lnTo>
                  <a:pt x="26822" y="164693"/>
                </a:lnTo>
                <a:lnTo>
                  <a:pt x="25781" y="139827"/>
                </a:lnTo>
                <a:lnTo>
                  <a:pt x="26822" y="115684"/>
                </a:lnTo>
                <a:lnTo>
                  <a:pt x="35204" y="73914"/>
                </a:lnTo>
                <a:lnTo>
                  <a:pt x="63754" y="28422"/>
                </a:lnTo>
                <a:lnTo>
                  <a:pt x="77787" y="18580"/>
                </a:lnTo>
                <a:lnTo>
                  <a:pt x="94107" y="11430"/>
                </a:lnTo>
                <a:close/>
              </a:path>
              <a:path w="1771014" h="282575">
                <a:moveTo>
                  <a:pt x="423291" y="11430"/>
                </a:moveTo>
                <a:lnTo>
                  <a:pt x="419227" y="0"/>
                </a:lnTo>
                <a:lnTo>
                  <a:pt x="398767" y="7391"/>
                </a:lnTo>
                <a:lnTo>
                  <a:pt x="380822" y="18110"/>
                </a:lnTo>
                <a:lnTo>
                  <a:pt x="352425" y="49530"/>
                </a:lnTo>
                <a:lnTo>
                  <a:pt x="334987" y="91427"/>
                </a:lnTo>
                <a:lnTo>
                  <a:pt x="329260" y="139827"/>
                </a:lnTo>
                <a:lnTo>
                  <a:pt x="329184" y="141224"/>
                </a:lnTo>
                <a:lnTo>
                  <a:pt x="330631" y="167182"/>
                </a:lnTo>
                <a:lnTo>
                  <a:pt x="342252" y="213093"/>
                </a:lnTo>
                <a:lnTo>
                  <a:pt x="365302" y="250342"/>
                </a:lnTo>
                <a:lnTo>
                  <a:pt x="398691" y="274967"/>
                </a:lnTo>
                <a:lnTo>
                  <a:pt x="419227" y="282321"/>
                </a:lnTo>
                <a:lnTo>
                  <a:pt x="422783" y="270891"/>
                </a:lnTo>
                <a:lnTo>
                  <a:pt x="406704" y="263779"/>
                </a:lnTo>
                <a:lnTo>
                  <a:pt x="392823" y="253860"/>
                </a:lnTo>
                <a:lnTo>
                  <a:pt x="364388" y="207606"/>
                </a:lnTo>
                <a:lnTo>
                  <a:pt x="356006" y="164693"/>
                </a:lnTo>
                <a:lnTo>
                  <a:pt x="354965" y="139827"/>
                </a:lnTo>
                <a:lnTo>
                  <a:pt x="356006" y="115684"/>
                </a:lnTo>
                <a:lnTo>
                  <a:pt x="364388" y="73914"/>
                </a:lnTo>
                <a:lnTo>
                  <a:pt x="392938" y="28422"/>
                </a:lnTo>
                <a:lnTo>
                  <a:pt x="406971" y="18580"/>
                </a:lnTo>
                <a:lnTo>
                  <a:pt x="423291" y="11430"/>
                </a:lnTo>
                <a:close/>
              </a:path>
              <a:path w="1771014" h="282575">
                <a:moveTo>
                  <a:pt x="1208278" y="141224"/>
                </a:moveTo>
                <a:lnTo>
                  <a:pt x="1202461" y="91427"/>
                </a:lnTo>
                <a:lnTo>
                  <a:pt x="1185037" y="49530"/>
                </a:lnTo>
                <a:lnTo>
                  <a:pt x="1156627" y="18097"/>
                </a:lnTo>
                <a:lnTo>
                  <a:pt x="1118235" y="0"/>
                </a:lnTo>
                <a:lnTo>
                  <a:pt x="1114298" y="11430"/>
                </a:lnTo>
                <a:lnTo>
                  <a:pt x="1130604" y="18580"/>
                </a:lnTo>
                <a:lnTo>
                  <a:pt x="1144651" y="28422"/>
                </a:lnTo>
                <a:lnTo>
                  <a:pt x="1173162" y="73914"/>
                </a:lnTo>
                <a:lnTo>
                  <a:pt x="1181417" y="115354"/>
                </a:lnTo>
                <a:lnTo>
                  <a:pt x="1181468" y="115684"/>
                </a:lnTo>
                <a:lnTo>
                  <a:pt x="1181442" y="164693"/>
                </a:lnTo>
                <a:lnTo>
                  <a:pt x="1173111" y="207606"/>
                </a:lnTo>
                <a:lnTo>
                  <a:pt x="1144689" y="253860"/>
                </a:lnTo>
                <a:lnTo>
                  <a:pt x="1114679" y="270891"/>
                </a:lnTo>
                <a:lnTo>
                  <a:pt x="1118235" y="282321"/>
                </a:lnTo>
                <a:lnTo>
                  <a:pt x="1156728" y="264312"/>
                </a:lnTo>
                <a:lnTo>
                  <a:pt x="1185037" y="233045"/>
                </a:lnTo>
                <a:lnTo>
                  <a:pt x="1202461" y="191147"/>
                </a:lnTo>
                <a:lnTo>
                  <a:pt x="1206817" y="167182"/>
                </a:lnTo>
                <a:lnTo>
                  <a:pt x="1208278" y="141224"/>
                </a:lnTo>
                <a:close/>
              </a:path>
              <a:path w="1771014" h="282575">
                <a:moveTo>
                  <a:pt x="1770634" y="141224"/>
                </a:moveTo>
                <a:lnTo>
                  <a:pt x="1764817" y="91427"/>
                </a:lnTo>
                <a:lnTo>
                  <a:pt x="1747393" y="49530"/>
                </a:lnTo>
                <a:lnTo>
                  <a:pt x="1718983" y="18097"/>
                </a:lnTo>
                <a:lnTo>
                  <a:pt x="1680591" y="0"/>
                </a:lnTo>
                <a:lnTo>
                  <a:pt x="1676654" y="11430"/>
                </a:lnTo>
                <a:lnTo>
                  <a:pt x="1692960" y="18580"/>
                </a:lnTo>
                <a:lnTo>
                  <a:pt x="1707007" y="28422"/>
                </a:lnTo>
                <a:lnTo>
                  <a:pt x="1735518" y="73914"/>
                </a:lnTo>
                <a:lnTo>
                  <a:pt x="1743773" y="115354"/>
                </a:lnTo>
                <a:lnTo>
                  <a:pt x="1743824" y="115684"/>
                </a:lnTo>
                <a:lnTo>
                  <a:pt x="1743798" y="164693"/>
                </a:lnTo>
                <a:lnTo>
                  <a:pt x="1735467" y="207606"/>
                </a:lnTo>
                <a:lnTo>
                  <a:pt x="1707045" y="253860"/>
                </a:lnTo>
                <a:lnTo>
                  <a:pt x="1677035" y="270891"/>
                </a:lnTo>
                <a:lnTo>
                  <a:pt x="1680591" y="282321"/>
                </a:lnTo>
                <a:lnTo>
                  <a:pt x="1719084" y="264312"/>
                </a:lnTo>
                <a:lnTo>
                  <a:pt x="1747393" y="233045"/>
                </a:lnTo>
                <a:lnTo>
                  <a:pt x="1764817" y="191147"/>
                </a:lnTo>
                <a:lnTo>
                  <a:pt x="1769173" y="167182"/>
                </a:lnTo>
                <a:lnTo>
                  <a:pt x="1770634" y="141224"/>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p:nvPr/>
        </p:nvSpPr>
        <p:spPr>
          <a:xfrm>
            <a:off x="383031" y="1516507"/>
            <a:ext cx="7374890" cy="1927860"/>
          </a:xfrm>
          <a:prstGeom prst="rect">
            <a:avLst/>
          </a:prstGeom>
        </p:spPr>
        <p:txBody>
          <a:bodyPr vert="horz" wrap="square" lIns="0" tIns="12700" rIns="0" bIns="0" rtlCol="0">
            <a:spAutoFit/>
          </a:bodyPr>
          <a:lstStyle/>
          <a:p>
            <a:pPr marL="331470" marR="0" lvl="0" indent="-267970" defTabSz="914400" eaLnBrk="1" fontAlgn="auto" latinLnBrk="0" hangingPunct="1">
              <a:lnSpc>
                <a:spcPct val="100000"/>
              </a:lnSpc>
              <a:spcBef>
                <a:spcPts val="100"/>
              </a:spcBef>
              <a:spcAft>
                <a:spcPts val="0"/>
              </a:spcAft>
              <a:buClr>
                <a:srgbClr val="5F5F5F"/>
              </a:buClr>
              <a:buSzTx/>
              <a:buFont typeface="Wingdings"/>
              <a:buChar char=""/>
              <a:tabLst>
                <a:tab pos="3314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GOS 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given</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005840" marR="0" lvl="0" indent="0" algn="ctr" defTabSz="914400" eaLnBrk="1" fontAlgn="auto" latinLnBrk="0" hangingPunct="1">
              <a:lnSpc>
                <a:spcPct val="100000"/>
              </a:lnSpc>
              <a:spcBef>
                <a:spcPts val="0"/>
              </a:spcBef>
              <a:spcAft>
                <a:spcPts val="0"/>
              </a:spcAft>
              <a:buClrTx/>
              <a:buSzTx/>
              <a:buFontTx/>
              <a:buNone/>
              <a:tabLst>
                <a:tab pos="2650490" algn="l"/>
              </a:tabLst>
              <a:defRPr/>
            </a:pPr>
            <a:r>
              <a:rPr kumimoji="0" sz="2400" b="0" i="0" u="none" strike="noStrike" kern="0" cap="none" spc="-6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60"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705"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170" normalizeH="0" baseline="0" noProof="0" dirty="0">
                <a:ln>
                  <a:noFill/>
                </a:ln>
                <a:solidFill>
                  <a:sysClr val="windowText" lastClr="000000"/>
                </a:solidFill>
                <a:effectLst/>
                <a:uLnTx/>
                <a:uFillTx/>
                <a:latin typeface="Cambria Math"/>
                <a:cs typeface="Cambria Math"/>
              </a:rPr>
              <a:t>𝑑𝑒𝑙𝑎𝑦</a:t>
            </a:r>
            <a:r>
              <a:rPr kumimoji="0" sz="2400" b="0" i="0" u="none" strike="noStrike" kern="0" cap="none" spc="-1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55"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𝑡</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65" normalizeH="0" baseline="0" noProof="0" dirty="0">
                <a:ln>
                  <a:noFill/>
                </a:ln>
                <a:solidFill>
                  <a:sysClr val="windowText" lastClr="000000"/>
                </a:solidFill>
                <a:effectLst/>
                <a:uLnTx/>
                <a:uFillTx/>
                <a:latin typeface="Cambria Math"/>
                <a:cs typeface="Cambria Math"/>
              </a:rPr>
              <a:t> </a:t>
            </a:r>
            <a:r>
              <a:rPr kumimoji="0" sz="2400" b="0" i="0" u="none" strike="noStrike" kern="0" cap="none" spc="-6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60"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705"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170" normalizeH="0" baseline="0" noProof="0" dirty="0">
                <a:ln>
                  <a:noFill/>
                </a:ln>
                <a:solidFill>
                  <a:sysClr val="windowText" lastClr="000000"/>
                </a:solidFill>
                <a:effectLst/>
                <a:uLnTx/>
                <a:uFillTx/>
                <a:latin typeface="Cambria Math"/>
                <a:cs typeface="Cambria Math"/>
              </a:rPr>
              <a:t>𝑑𝑒𝑙𝑎𝑦</a:t>
            </a:r>
            <a:r>
              <a:rPr kumimoji="0" sz="2400" b="0" i="0" u="none" strike="noStrike" kern="0" cap="none" spc="-3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4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0</a:t>
            </a:r>
            <a:r>
              <a:rPr kumimoji="0" sz="2400" b="0" i="0" u="none" strike="noStrike" kern="0" cap="none" spc="130" normalizeH="0" baseline="0" noProof="0" dirty="0">
                <a:ln>
                  <a:noFill/>
                </a:ln>
                <a:solidFill>
                  <a:sysClr val="windowText" lastClr="000000"/>
                </a:solidFill>
                <a:effectLst/>
                <a:uLnTx/>
                <a:uFillTx/>
                <a:latin typeface="Cambria Math"/>
                <a:cs typeface="Cambria Math"/>
              </a:rPr>
              <a:t> </a:t>
            </a:r>
            <a:r>
              <a:rPr kumimoji="0" sz="2400" b="0" i="0" u="none" strike="noStrike" kern="0" cap="none" spc="-63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60"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705"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170" normalizeH="0" baseline="0" noProof="0" dirty="0">
                <a:ln>
                  <a:noFill/>
                </a:ln>
                <a:solidFill>
                  <a:sysClr val="windowText" lastClr="000000"/>
                </a:solidFill>
                <a:effectLst/>
                <a:uLnTx/>
                <a:uFillTx/>
                <a:latin typeface="Cambria Math"/>
                <a:cs typeface="Cambria Math"/>
              </a:rPr>
              <a:t>𝑑𝑒𝑙𝑎𝑦</a:t>
            </a:r>
            <a:r>
              <a:rPr kumimoji="0" sz="2400" b="0" i="0" u="none" strike="noStrike" kern="0" cap="none" spc="-3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40" normalizeH="0" baseline="0" noProof="0" dirty="0">
                <a:ln>
                  <a:noFill/>
                </a:ln>
                <a:solidFill>
                  <a:sysClr val="windowText" lastClr="000000"/>
                </a:solidFill>
                <a:effectLst/>
                <a:uLnTx/>
                <a:uFillTx/>
                <a:latin typeface="Cambria Math"/>
                <a:cs typeface="Cambria Math"/>
              </a:rPr>
              <a:t> </a:t>
            </a:r>
            <a:r>
              <a:rPr kumimoji="0" sz="2400" b="0" i="0" u="none" strike="noStrike" kern="0" cap="none" spc="-170" normalizeH="0" baseline="0" noProof="0" dirty="0">
                <a:ln>
                  <a:noFill/>
                </a:ln>
                <a:solidFill>
                  <a:sysClr val="windowText" lastClr="000000"/>
                </a:solidFill>
                <a:effectLst/>
                <a:uLnTx/>
                <a:uFillTx/>
                <a:latin typeface="Cambria Math"/>
                <a:cs typeface="Cambria Math"/>
              </a:rPr>
              <a:t>𝑡|𝑑𝑒𝑙𝑎𝑦</a:t>
            </a:r>
            <a:r>
              <a:rPr kumimoji="0" sz="2400" b="0" i="0" u="none" strike="noStrike" kern="0" cap="none" spc="-3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45"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0</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0" marR="3175" lvl="0" indent="0" algn="ctr"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25" normalizeH="0" baseline="0" noProof="0" dirty="0">
                <a:ln>
                  <a:noFill/>
                </a:ln>
                <a:solidFill>
                  <a:sysClr val="windowText" lastClr="000000"/>
                </a:solidFill>
                <a:effectLst/>
                <a:uLnTx/>
                <a:uFillTx/>
                <a:latin typeface="Cambria Math"/>
                <a:cs typeface="Cambria Math"/>
              </a:rPr>
              <a:t> </a:t>
            </a:r>
            <a:r>
              <a:rPr kumimoji="0" sz="2400" b="0" i="0" u="none" strike="noStrike" kern="0" cap="none" spc="-6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60"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630"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170" normalizeH="0" baseline="0" noProof="0" dirty="0">
                <a:ln>
                  <a:noFill/>
                </a:ln>
                <a:solidFill>
                  <a:sysClr val="windowText" lastClr="000000"/>
                </a:solidFill>
                <a:effectLst/>
                <a:uLnTx/>
                <a:uFillTx/>
                <a:latin typeface="Cambria Math"/>
                <a:cs typeface="Cambria Math"/>
              </a:rPr>
              <a:t>𝑑𝑒𝑙𝑎𝑦</a:t>
            </a:r>
            <a:r>
              <a:rPr kumimoji="0" sz="2400" b="0" i="0" u="none" strike="noStrike" kern="0" cap="none" spc="-2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8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0</a:t>
            </a:r>
            <a:r>
              <a:rPr kumimoji="0" sz="2400" b="0" i="0" u="none" strike="noStrike" kern="0" cap="none" spc="95" normalizeH="0" baseline="0" noProof="0" dirty="0">
                <a:ln>
                  <a:noFill/>
                </a:ln>
                <a:solidFill>
                  <a:sysClr val="windowText" lastClr="000000"/>
                </a:solidFill>
                <a:effectLst/>
                <a:uLnTx/>
                <a:uFillTx/>
                <a:latin typeface="Cambria Math"/>
                <a:cs typeface="Cambria Math"/>
              </a:rPr>
              <a:t> </a:t>
            </a:r>
            <a:r>
              <a:rPr kumimoji="0" sz="2400" b="0" i="0" u="none" strike="noStrike" kern="0" cap="none" spc="-45" normalizeH="0" baseline="0" noProof="0" dirty="0">
                <a:ln>
                  <a:noFill/>
                </a:ln>
                <a:solidFill>
                  <a:sysClr val="windowText" lastClr="000000"/>
                </a:solidFill>
                <a:effectLst/>
                <a:uLnTx/>
                <a:uFillTx/>
                <a:latin typeface="Cambria Math"/>
                <a:cs typeface="Cambria Math"/>
              </a:rPr>
              <a:t>𝑒𝑥𝑝</a:t>
            </a:r>
            <a:r>
              <a:rPr kumimoji="0" sz="2400" b="0" i="0" u="none" strike="noStrike" kern="0" cap="none" spc="25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229"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𝐶</a:t>
            </a:r>
            <a:r>
              <a:rPr kumimoji="0" sz="2400" b="0" i="0" u="none" strike="noStrike" kern="0" cap="none" spc="-10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200"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𝐴</a:t>
            </a:r>
            <a:r>
              <a:rPr kumimoji="0" sz="2400" b="0" i="0" u="none" strike="noStrike" kern="0" cap="none" spc="265" normalizeH="0" baseline="0" noProof="0" dirty="0">
                <a:ln>
                  <a:noFill/>
                </a:ln>
                <a:solidFill>
                  <a:sysClr val="windowText" lastClr="000000"/>
                </a:solidFill>
                <a:effectLst/>
                <a:uLnTx/>
                <a:uFillTx/>
                <a:latin typeface="Cambria Math"/>
                <a:cs typeface="Cambria Math"/>
              </a:rPr>
              <a:t> </a:t>
            </a:r>
            <a:r>
              <a:rPr kumimoji="0" sz="2400" b="0" i="0" u="none" strike="noStrike" kern="0" cap="none" spc="-25" normalizeH="0" baseline="0" noProof="0" dirty="0">
                <a:ln>
                  <a:noFill/>
                </a:ln>
                <a:solidFill>
                  <a:sysClr val="windowText" lastClr="000000"/>
                </a:solidFill>
                <a:effectLst/>
                <a:uLnTx/>
                <a:uFillTx/>
                <a:latin typeface="Cambria Math"/>
                <a:cs typeface="Cambria Math"/>
              </a:rPr>
              <a:t>𝑡/𝐻</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0" marR="0" lvl="0" indent="0" defTabSz="914400" eaLnBrk="1" fontAlgn="auto" latinLnBrk="0" hangingPunct="1">
              <a:lnSpc>
                <a:spcPct val="100000"/>
              </a:lnSpc>
              <a:spcBef>
                <a:spcPts val="640"/>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Cambria Math"/>
              <a:cs typeface="Cambria Math"/>
            </a:endParaRPr>
          </a:p>
          <a:p>
            <a:pPr marL="331470" marR="0" lvl="0" indent="-267970" defTabSz="914400" eaLnBrk="1" fontAlgn="auto" latinLnBrk="0" hangingPunct="1">
              <a:lnSpc>
                <a:spcPct val="100000"/>
              </a:lnSpc>
              <a:spcBef>
                <a:spcPts val="5"/>
              </a:spcBef>
              <a:spcAft>
                <a:spcPts val="0"/>
              </a:spcAft>
              <a:buClr>
                <a:srgbClr val="5F5F5F"/>
              </a:buClr>
              <a:buSzTx/>
              <a:buFont typeface="Wingdings"/>
              <a:buChar char=""/>
              <a:tabLst>
                <a:tab pos="3314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average</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delay</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calls</a:t>
            </a:r>
            <a:r>
              <a:rPr kumimoji="0" sz="24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2" name="object 12"/>
          <p:cNvSpPr/>
          <p:nvPr/>
        </p:nvSpPr>
        <p:spPr>
          <a:xfrm>
            <a:off x="5265674" y="3691889"/>
            <a:ext cx="66675" cy="284480"/>
          </a:xfrm>
          <a:custGeom>
            <a:avLst/>
            <a:gdLst/>
            <a:ahLst/>
            <a:cxnLst/>
            <a:rect l="l" t="t" r="r" b="b"/>
            <a:pathLst>
              <a:path w="66675" h="284479">
                <a:moveTo>
                  <a:pt x="66421" y="0"/>
                </a:moveTo>
                <a:lnTo>
                  <a:pt x="0" y="0"/>
                </a:lnTo>
                <a:lnTo>
                  <a:pt x="0" y="11430"/>
                </a:lnTo>
                <a:lnTo>
                  <a:pt x="41783" y="11430"/>
                </a:lnTo>
                <a:lnTo>
                  <a:pt x="41783" y="273050"/>
                </a:lnTo>
                <a:lnTo>
                  <a:pt x="0" y="273050"/>
                </a:lnTo>
                <a:lnTo>
                  <a:pt x="0" y="284480"/>
                </a:lnTo>
                <a:lnTo>
                  <a:pt x="66421" y="284480"/>
                </a:lnTo>
                <a:lnTo>
                  <a:pt x="66421" y="273050"/>
                </a:lnTo>
                <a:lnTo>
                  <a:pt x="66421" y="1143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4023741" y="3691889"/>
            <a:ext cx="66675" cy="284480"/>
          </a:xfrm>
          <a:custGeom>
            <a:avLst/>
            <a:gdLst/>
            <a:ahLst/>
            <a:cxnLst/>
            <a:rect l="l" t="t" r="r" b="b"/>
            <a:pathLst>
              <a:path w="66675" h="284479">
                <a:moveTo>
                  <a:pt x="66421" y="0"/>
                </a:moveTo>
                <a:lnTo>
                  <a:pt x="0" y="0"/>
                </a:lnTo>
                <a:lnTo>
                  <a:pt x="0" y="11430"/>
                </a:lnTo>
                <a:lnTo>
                  <a:pt x="0" y="273050"/>
                </a:lnTo>
                <a:lnTo>
                  <a:pt x="0" y="284480"/>
                </a:lnTo>
                <a:lnTo>
                  <a:pt x="66421" y="284480"/>
                </a:lnTo>
                <a:lnTo>
                  <a:pt x="66421" y="273050"/>
                </a:lnTo>
                <a:lnTo>
                  <a:pt x="24765" y="273050"/>
                </a:lnTo>
                <a:lnTo>
                  <a:pt x="24765" y="11430"/>
                </a:lnTo>
                <a:lnTo>
                  <a:pt x="66421" y="11430"/>
                </a:lnTo>
                <a:lnTo>
                  <a:pt x="6642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txBox="1"/>
          <p:nvPr/>
        </p:nvSpPr>
        <p:spPr>
          <a:xfrm>
            <a:off x="5640704" y="3372992"/>
            <a:ext cx="247650"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𝐻</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5" name="object 15"/>
          <p:cNvSpPr txBox="1"/>
          <p:nvPr/>
        </p:nvSpPr>
        <p:spPr>
          <a:xfrm>
            <a:off x="3111119" y="3603497"/>
            <a:ext cx="3044825" cy="391160"/>
          </a:xfrm>
          <a:prstGeom prst="rect">
            <a:avLst/>
          </a:prstGeom>
        </p:spPr>
        <p:txBody>
          <a:bodyPr vert="horz" wrap="square" lIns="0" tIns="12700" rIns="0" bIns="0" rtlCol="0">
            <a:spAutoFit/>
          </a:bodyPr>
          <a:lstStyle/>
          <a:p>
            <a:pPr marL="38100" marR="0" lvl="0" indent="0" defTabSz="914400" eaLnBrk="1" fontAlgn="auto" latinLnBrk="0" hangingPunct="1">
              <a:lnSpc>
                <a:spcPct val="100000"/>
              </a:lnSpc>
              <a:spcBef>
                <a:spcPts val="100"/>
              </a:spcBef>
              <a:spcAft>
                <a:spcPts val="0"/>
              </a:spcAft>
              <a:buClrTx/>
              <a:buSzTx/>
              <a:buFontTx/>
              <a:buNone/>
              <a:tabLst>
                <a:tab pos="2304415" algn="l"/>
              </a:tabLst>
              <a:defRPr/>
            </a:pPr>
            <a:r>
              <a:rPr kumimoji="0" sz="2400" b="0" i="0" u="none" strike="noStrike" kern="0" cap="none" spc="0" normalizeH="0" baseline="0" noProof="0" dirty="0">
                <a:ln>
                  <a:noFill/>
                </a:ln>
                <a:solidFill>
                  <a:sysClr val="windowText" lastClr="000000"/>
                </a:solidFill>
                <a:effectLst/>
                <a:uLnTx/>
                <a:uFillTx/>
                <a:latin typeface="Cambria Math"/>
                <a:cs typeface="Cambria Math"/>
              </a:rPr>
              <a:t>𝐷</a:t>
            </a:r>
            <a:r>
              <a:rPr kumimoji="0" sz="2400" b="0" i="0" u="none" strike="noStrike" kern="0" cap="none" spc="204"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a:t>
            </a:r>
            <a:r>
              <a:rPr kumimoji="0" sz="2400" b="0" i="0" u="none" strike="noStrike" kern="0" cap="none" spc="140" normalizeH="0" baseline="0" noProof="0" dirty="0">
                <a:ln>
                  <a:noFill/>
                </a:ln>
                <a:solidFill>
                  <a:sysClr val="windowText" lastClr="000000"/>
                </a:solidFill>
                <a:effectLst/>
                <a:uLnTx/>
                <a:uFillTx/>
                <a:latin typeface="Cambria Math"/>
                <a:cs typeface="Cambria Math"/>
              </a:rPr>
              <a:t> </a:t>
            </a:r>
            <a:r>
              <a:rPr kumimoji="0" sz="2400" b="0" i="0" u="none" strike="noStrike" kern="0" cap="none" spc="-625" normalizeH="0" baseline="0" noProof="0" dirty="0">
                <a:ln>
                  <a:noFill/>
                </a:ln>
                <a:solidFill>
                  <a:sysClr val="windowText" lastClr="000000"/>
                </a:solidFill>
                <a:effectLst/>
                <a:uLnTx/>
                <a:uFillTx/>
                <a:latin typeface="Cambria Math"/>
                <a:cs typeface="Cambria Math"/>
              </a:rPr>
              <a:t>𝑃</a:t>
            </a:r>
            <a:r>
              <a:rPr kumimoji="0" sz="2625" b="0" i="0" u="none" strike="noStrike" kern="0" cap="none" spc="60" normalizeH="0" baseline="-15873" noProof="0" dirty="0">
                <a:ln>
                  <a:noFill/>
                </a:ln>
                <a:solidFill>
                  <a:sysClr val="windowText" lastClr="000000"/>
                </a:solidFill>
                <a:effectLst/>
                <a:uLnTx/>
                <a:uFillTx/>
                <a:latin typeface="Cambria Math"/>
                <a:cs typeface="Cambria Math"/>
              </a:rPr>
              <a:t>𝑟</a:t>
            </a:r>
            <a:r>
              <a:rPr kumimoji="0" sz="2625" b="0" i="0" u="none" strike="noStrike" kern="0" cap="none" spc="690" normalizeH="0" baseline="-15873" noProof="0" dirty="0">
                <a:ln>
                  <a:noFill/>
                </a:ln>
                <a:solidFill>
                  <a:sysClr val="windowText" lastClr="000000"/>
                </a:solidFill>
                <a:effectLst/>
                <a:uLnTx/>
                <a:uFillTx/>
                <a:latin typeface="Cambria Math"/>
                <a:cs typeface="Cambria Math"/>
              </a:rPr>
              <a:t> </a:t>
            </a:r>
            <a:r>
              <a:rPr kumimoji="0" sz="2400" b="0" i="0" u="none" strike="noStrike" kern="0" cap="none" spc="-170" normalizeH="0" baseline="0" noProof="0" dirty="0">
                <a:ln>
                  <a:noFill/>
                </a:ln>
                <a:solidFill>
                  <a:sysClr val="windowText" lastClr="000000"/>
                </a:solidFill>
                <a:effectLst/>
                <a:uLnTx/>
                <a:uFillTx/>
                <a:latin typeface="Cambria Math"/>
                <a:cs typeface="Cambria Math"/>
              </a:rPr>
              <a:t>𝑑𝑒𝑙𝑎𝑦</a:t>
            </a:r>
            <a:r>
              <a:rPr kumimoji="0" sz="2400" b="0" i="0" u="none" strike="noStrike" kern="0" cap="none" spc="-35" normalizeH="0" baseline="0" noProof="0" dirty="0">
                <a:ln>
                  <a:noFill/>
                </a:ln>
                <a:solidFill>
                  <a:sysClr val="windowText" lastClr="000000"/>
                </a:solidFill>
                <a:effectLst/>
                <a:uLnTx/>
                <a:uFillTx/>
                <a:latin typeface="Cambria Math"/>
                <a:cs typeface="Cambria Math"/>
              </a:rPr>
              <a:t> </a:t>
            </a:r>
            <a:r>
              <a:rPr kumimoji="0" sz="2400" b="0" i="0" u="none" strike="noStrike" kern="0" cap="none" spc="0" normalizeH="0" baseline="0" noProof="0" dirty="0">
                <a:ln>
                  <a:noFill/>
                </a:ln>
                <a:solidFill>
                  <a:sysClr val="windowText" lastClr="000000"/>
                </a:solidFill>
                <a:effectLst/>
                <a:uLnTx/>
                <a:uFillTx/>
                <a:latin typeface="Cambria Math"/>
                <a:cs typeface="Cambria Math"/>
              </a:rPr>
              <a:t>&gt;</a:t>
            </a:r>
            <a:r>
              <a:rPr kumimoji="0" sz="2400" b="0" i="0" u="none" strike="noStrike" kern="0" cap="none" spc="-50" normalizeH="0" baseline="0" noProof="0" dirty="0">
                <a:ln>
                  <a:noFill/>
                </a:ln>
                <a:solidFill>
                  <a:sysClr val="windowText" lastClr="000000"/>
                </a:solidFill>
                <a:effectLst/>
                <a:uLnTx/>
                <a:uFillTx/>
                <a:latin typeface="Cambria Math"/>
                <a:cs typeface="Cambria Math"/>
              </a:rPr>
              <a:t> 0</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3600" b="0" i="0" u="none" strike="noStrike" kern="0" cap="none" spc="0" normalizeH="0" baseline="-37037" noProof="0" dirty="0">
                <a:ln>
                  <a:noFill/>
                </a:ln>
                <a:solidFill>
                  <a:sysClr val="windowText" lastClr="000000"/>
                </a:solidFill>
                <a:effectLst/>
                <a:uLnTx/>
                <a:uFillTx/>
                <a:latin typeface="Cambria Math"/>
                <a:cs typeface="Cambria Math"/>
              </a:rPr>
              <a:t>𝐶</a:t>
            </a:r>
            <a:r>
              <a:rPr kumimoji="0" sz="3600" b="0" i="0" u="none" strike="noStrike" kern="0" cap="none" spc="-142" normalizeH="0" baseline="-37037" noProof="0" dirty="0">
                <a:ln>
                  <a:noFill/>
                </a:ln>
                <a:solidFill>
                  <a:sysClr val="windowText" lastClr="000000"/>
                </a:solidFill>
                <a:effectLst/>
                <a:uLnTx/>
                <a:uFillTx/>
                <a:latin typeface="Cambria Math"/>
                <a:cs typeface="Cambria Math"/>
              </a:rPr>
              <a:t> </a:t>
            </a:r>
            <a:r>
              <a:rPr kumimoji="0" sz="3600" b="0" i="0" u="none" strike="noStrike" kern="0" cap="none" spc="0" normalizeH="0" baseline="-37037" noProof="0" dirty="0">
                <a:ln>
                  <a:noFill/>
                </a:ln>
                <a:solidFill>
                  <a:sysClr val="windowText" lastClr="000000"/>
                </a:solidFill>
                <a:effectLst/>
                <a:uLnTx/>
                <a:uFillTx/>
                <a:latin typeface="Cambria Math"/>
                <a:cs typeface="Cambria Math"/>
              </a:rPr>
              <a:t>−</a:t>
            </a:r>
            <a:r>
              <a:rPr kumimoji="0" sz="3600" b="0" i="0" u="none" strike="noStrike" kern="0" cap="none" spc="-300" normalizeH="0" baseline="-37037" noProof="0" dirty="0">
                <a:ln>
                  <a:noFill/>
                </a:ln>
                <a:solidFill>
                  <a:sysClr val="windowText" lastClr="000000"/>
                </a:solidFill>
                <a:effectLst/>
                <a:uLnTx/>
                <a:uFillTx/>
                <a:latin typeface="Cambria Math"/>
                <a:cs typeface="Cambria Math"/>
              </a:rPr>
              <a:t> </a:t>
            </a:r>
            <a:r>
              <a:rPr kumimoji="0" sz="3600" b="0" i="0" u="none" strike="noStrike" kern="0" cap="none" spc="-75" normalizeH="0" baseline="-37037" noProof="0" dirty="0">
                <a:ln>
                  <a:noFill/>
                </a:ln>
                <a:solidFill>
                  <a:sysClr val="windowText" lastClr="000000"/>
                </a:solidFill>
                <a:effectLst/>
                <a:uLnTx/>
                <a:uFillTx/>
                <a:latin typeface="Cambria Math"/>
                <a:cs typeface="Cambria Math"/>
              </a:rPr>
              <a:t>𝐴</a:t>
            </a:r>
            <a:endParaRPr kumimoji="0" sz="3600" b="0" i="0" u="none" strike="noStrike" kern="0" cap="none" spc="0" normalizeH="0" baseline="-37037" noProof="0">
              <a:ln>
                <a:noFill/>
              </a:ln>
              <a:solidFill>
                <a:sysClr val="windowText" lastClr="000000"/>
              </a:solidFill>
              <a:effectLst/>
              <a:uLnTx/>
              <a:uFillTx/>
              <a:latin typeface="Cambria Math"/>
              <a:cs typeface="Cambria Math"/>
            </a:endParaRPr>
          </a:p>
        </p:txBody>
      </p:sp>
      <p:sp>
        <p:nvSpPr>
          <p:cNvPr id="16" name="object 16"/>
          <p:cNvSpPr/>
          <p:nvPr/>
        </p:nvSpPr>
        <p:spPr>
          <a:xfrm>
            <a:off x="5414771" y="3823970"/>
            <a:ext cx="681355" cy="20320"/>
          </a:xfrm>
          <a:custGeom>
            <a:avLst/>
            <a:gdLst/>
            <a:ahLst/>
            <a:cxnLst/>
            <a:rect l="l" t="t" r="r" b="b"/>
            <a:pathLst>
              <a:path w="681354" h="20320">
                <a:moveTo>
                  <a:pt x="681227" y="0"/>
                </a:moveTo>
                <a:lnTo>
                  <a:pt x="0" y="0"/>
                </a:lnTo>
                <a:lnTo>
                  <a:pt x="0" y="19811"/>
                </a:lnTo>
                <a:lnTo>
                  <a:pt x="681227" y="19811"/>
                </a:lnTo>
                <a:lnTo>
                  <a:pt x="681227"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txBox="1"/>
          <p:nvPr/>
        </p:nvSpPr>
        <p:spPr>
          <a:xfrm>
            <a:off x="433831" y="4176521"/>
            <a:ext cx="7037705" cy="7569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tab pos="614362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where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average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delay</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for those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calls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which</a:t>
            </a:r>
            <a:r>
              <a:rPr kumimoji="0" sz="24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queued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H/</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C-</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247</a:t>
            </a:fld>
            <a:endParaRPr kumimoji="0" sz="1200" b="0" i="0" u="none" strike="noStrike" kern="0" cap="none" spc="-25" normalizeH="0" baseline="0" noProof="0" dirty="0">
              <a:ln>
                <a:noFill/>
              </a:ln>
              <a:solidFill>
                <a:srgbClr val="888888"/>
              </a:solidFill>
              <a:effectLst/>
              <a:uLnTx/>
              <a:uFillTx/>
              <a:latin typeface="Arial MT"/>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18" name="object 18"/>
          <p:cNvSpPr txBox="1"/>
          <p:nvPr/>
        </p:nvSpPr>
        <p:spPr>
          <a:xfrm>
            <a:off x="7700009" y="4176521"/>
            <a:ext cx="98107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given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0307"/>
            <a:ext cx="8066405" cy="3622675"/>
          </a:xfrm>
          <a:prstGeom prst="rect">
            <a:avLst/>
          </a:prstGeom>
        </p:spPr>
        <p:txBody>
          <a:bodyPr vert="horz" wrap="square" lIns="0" tIns="88900" rIns="0" bIns="0" rtlCol="0">
            <a:spAutoFit/>
          </a:bodyPr>
          <a:lstStyle/>
          <a:p>
            <a:pPr marL="12700" marR="0" lvl="0" indent="0" defTabSz="914400" eaLnBrk="1" fontAlgn="auto" latinLnBrk="0" hangingPunct="1">
              <a:lnSpc>
                <a:spcPct val="100000"/>
              </a:lnSpc>
              <a:spcBef>
                <a:spcPts val="7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Splitting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67665" marR="543560" lvl="0" indent="-342900" defTabSz="914400" eaLnBrk="1" fontAlgn="auto" latinLnBrk="0" hangingPunct="1">
              <a:lnSpc>
                <a:spcPct val="100000"/>
              </a:lnSpc>
              <a:spcBef>
                <a:spcPts val="600"/>
              </a:spcBef>
              <a:spcAft>
                <a:spcPts val="0"/>
              </a:spcAft>
              <a:buClr>
                <a:srgbClr val="5F5F5F"/>
              </a:buClr>
              <a:buSzTx/>
              <a:buFont typeface="Wingdings"/>
              <a:buChar char=""/>
              <a:tabLst>
                <a:tab pos="3676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splitting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process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subdividing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 congested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cell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into</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smaller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67665" marR="958850" lvl="0" indent="-342900" defTabSz="914400" eaLnBrk="1" fontAlgn="auto" latinLnBrk="0" hangingPunct="1">
              <a:lnSpc>
                <a:spcPct val="100000"/>
              </a:lnSpc>
              <a:spcBef>
                <a:spcPts val="600"/>
              </a:spcBef>
              <a:spcAft>
                <a:spcPts val="0"/>
              </a:spcAft>
              <a:buClr>
                <a:srgbClr val="5F5F5F"/>
              </a:buClr>
              <a:buSzTx/>
              <a:buFont typeface="Wingdings"/>
              <a:buChar char=""/>
              <a:tabLst>
                <a:tab pos="3676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Since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increases</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times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are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decreases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splitting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increases</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system.</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67665" marR="5080" lvl="0" indent="-342900" algn="just" defTabSz="914400" eaLnBrk="1" fontAlgn="auto" latinLnBrk="0" hangingPunct="1">
              <a:lnSpc>
                <a:spcPct val="100000"/>
              </a:lnSpc>
              <a:spcBef>
                <a:spcPts val="605"/>
              </a:spcBef>
              <a:spcAft>
                <a:spcPts val="0"/>
              </a:spcAft>
              <a:buClr>
                <a:srgbClr val="5F5F5F"/>
              </a:buClr>
              <a:buSzTx/>
              <a:buFont typeface="Wingdings"/>
              <a:buChar char=""/>
              <a:tabLst>
                <a:tab pos="36766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3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splitting</a:t>
            </a:r>
            <a:r>
              <a:rPr kumimoji="0" sz="2400" b="0" i="0" u="none" strike="noStrike" kern="0" cap="none" spc="3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generally</a:t>
            </a:r>
            <a:r>
              <a:rPr kumimoji="0" sz="2400" b="0" i="0" u="none" strike="noStrike" kern="0" cap="none" spc="30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does</a:t>
            </a:r>
            <a:r>
              <a:rPr kumimoji="0" sz="2400" b="0" i="0" u="none" strike="noStrike" kern="0" cap="none" spc="3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3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upset</a:t>
            </a:r>
            <a:r>
              <a:rPr kumimoji="0" sz="2400" b="0" i="0" u="none" strike="noStrike" kern="0" cap="none" spc="3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allocation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scheme</a:t>
            </a:r>
            <a:r>
              <a:rPr kumimoji="0" sz="2400" b="0" i="0" u="none" strike="noStrike" kern="0" cap="none" spc="4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required</a:t>
            </a:r>
            <a:r>
              <a:rPr kumimoji="0" sz="2400" b="0" i="0" u="none" strike="noStrike" kern="0" cap="none" spc="4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4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maintain</a:t>
            </a:r>
            <a:r>
              <a:rPr kumimoji="0" sz="2400" b="0" i="0" u="none" strike="noStrike" kern="0" cap="none" spc="4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4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minimum</a:t>
            </a:r>
            <a:r>
              <a:rPr kumimoji="0" sz="2400" b="0" i="0" u="none" strike="noStrike" kern="0" cap="none" spc="4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4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reuse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Q</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between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co-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248</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
        <p:nvSpPr>
          <p:cNvPr id="3" name="object 3"/>
          <p:cNvSpPr txBox="1">
            <a:spLocks noGrp="1"/>
          </p:cNvSpPr>
          <p:nvPr>
            <p:ph type="title"/>
          </p:nvPr>
        </p:nvSpPr>
        <p:spPr>
          <a:xfrm>
            <a:off x="383540" y="147320"/>
            <a:ext cx="5254625" cy="1031875"/>
          </a:xfrm>
          <a:prstGeom prst="rect">
            <a:avLst/>
          </a:prstGeom>
        </p:spPr>
        <p:txBody>
          <a:bodyPr vert="horz" wrap="square" lIns="0" tIns="104139" rIns="0" bIns="0" rtlCol="0">
            <a:spAutoFit/>
          </a:bodyPr>
          <a:lstStyle/>
          <a:p>
            <a:pPr marL="12700" marR="5080">
              <a:lnSpc>
                <a:spcPts val="3600"/>
              </a:lnSpc>
              <a:spcBef>
                <a:spcPts val="819"/>
              </a:spcBef>
              <a:tabLst>
                <a:tab pos="2241550" algn="l"/>
              </a:tabLst>
            </a:pPr>
            <a:r>
              <a:rPr dirty="0"/>
              <a:t>Improving</a:t>
            </a:r>
            <a:r>
              <a:rPr spc="-145" dirty="0"/>
              <a:t> </a:t>
            </a:r>
            <a:r>
              <a:rPr spc="-150" dirty="0"/>
              <a:t>Coverage</a:t>
            </a:r>
            <a:r>
              <a:rPr spc="-260" dirty="0"/>
              <a:t> </a:t>
            </a:r>
            <a:r>
              <a:rPr spc="-25" dirty="0"/>
              <a:t>and </a:t>
            </a:r>
            <a:r>
              <a:rPr spc="-150" dirty="0"/>
              <a:t>Capacity</a:t>
            </a:r>
            <a:r>
              <a:rPr spc="-200" dirty="0"/>
              <a:t> </a:t>
            </a:r>
            <a:r>
              <a:rPr spc="-25" dirty="0"/>
              <a:t>in</a:t>
            </a:r>
            <a:r>
              <a:rPr dirty="0"/>
              <a:t>	</a:t>
            </a:r>
            <a:r>
              <a:rPr spc="-150" dirty="0"/>
              <a:t>Cellular</a:t>
            </a:r>
            <a:r>
              <a:rPr spc="-210" dirty="0"/>
              <a:t> </a:t>
            </a:r>
            <a:r>
              <a:rPr spc="-135" dirty="0"/>
              <a:t>Systems</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676" y="1659877"/>
            <a:ext cx="4002633" cy="4570171"/>
          </a:xfrm>
          <a:prstGeom prst="rect">
            <a:avLst/>
          </a:prstGeom>
        </p:spPr>
      </p:pic>
      <p:sp>
        <p:nvSpPr>
          <p:cNvPr id="3" name="object 3"/>
          <p:cNvSpPr/>
          <p:nvPr/>
        </p:nvSpPr>
        <p:spPr>
          <a:xfrm>
            <a:off x="7141210" y="1708149"/>
            <a:ext cx="60960" cy="259079"/>
          </a:xfrm>
          <a:custGeom>
            <a:avLst/>
            <a:gdLst/>
            <a:ahLst/>
            <a:cxnLst/>
            <a:rect l="l" t="t" r="r" b="b"/>
            <a:pathLst>
              <a:path w="60959" h="259080">
                <a:moveTo>
                  <a:pt x="60706" y="0"/>
                </a:moveTo>
                <a:lnTo>
                  <a:pt x="0" y="0"/>
                </a:lnTo>
                <a:lnTo>
                  <a:pt x="0" y="10160"/>
                </a:lnTo>
                <a:lnTo>
                  <a:pt x="38100" y="10160"/>
                </a:lnTo>
                <a:lnTo>
                  <a:pt x="38100" y="248920"/>
                </a:lnTo>
                <a:lnTo>
                  <a:pt x="0" y="248920"/>
                </a:lnTo>
                <a:lnTo>
                  <a:pt x="0" y="259080"/>
                </a:lnTo>
                <a:lnTo>
                  <a:pt x="60706" y="259080"/>
                </a:lnTo>
                <a:lnTo>
                  <a:pt x="60706" y="248920"/>
                </a:lnTo>
                <a:lnTo>
                  <a:pt x="60706" y="10160"/>
                </a:lnTo>
                <a:lnTo>
                  <a:pt x="6070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4673092" y="1708149"/>
            <a:ext cx="60960" cy="259079"/>
          </a:xfrm>
          <a:custGeom>
            <a:avLst/>
            <a:gdLst/>
            <a:ahLst/>
            <a:cxnLst/>
            <a:rect l="l" t="t" r="r" b="b"/>
            <a:pathLst>
              <a:path w="60960" h="259080">
                <a:moveTo>
                  <a:pt x="60833" y="0"/>
                </a:moveTo>
                <a:lnTo>
                  <a:pt x="0" y="0"/>
                </a:lnTo>
                <a:lnTo>
                  <a:pt x="0" y="10160"/>
                </a:lnTo>
                <a:lnTo>
                  <a:pt x="0" y="248920"/>
                </a:lnTo>
                <a:lnTo>
                  <a:pt x="0" y="259080"/>
                </a:lnTo>
                <a:lnTo>
                  <a:pt x="60833" y="259080"/>
                </a:lnTo>
                <a:lnTo>
                  <a:pt x="60833" y="248920"/>
                </a:lnTo>
                <a:lnTo>
                  <a:pt x="22606" y="248920"/>
                </a:lnTo>
                <a:lnTo>
                  <a:pt x="22606" y="10160"/>
                </a:lnTo>
                <a:lnTo>
                  <a:pt x="60833" y="10160"/>
                </a:lnTo>
                <a:lnTo>
                  <a:pt x="6083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7119874" y="2043429"/>
            <a:ext cx="60960" cy="259079"/>
          </a:xfrm>
          <a:custGeom>
            <a:avLst/>
            <a:gdLst/>
            <a:ahLst/>
            <a:cxnLst/>
            <a:rect l="l" t="t" r="r" b="b"/>
            <a:pathLst>
              <a:path w="60959" h="259080">
                <a:moveTo>
                  <a:pt x="60706" y="0"/>
                </a:moveTo>
                <a:lnTo>
                  <a:pt x="0" y="0"/>
                </a:lnTo>
                <a:lnTo>
                  <a:pt x="0" y="10160"/>
                </a:lnTo>
                <a:lnTo>
                  <a:pt x="38100" y="10160"/>
                </a:lnTo>
                <a:lnTo>
                  <a:pt x="38100" y="248920"/>
                </a:lnTo>
                <a:lnTo>
                  <a:pt x="0" y="248920"/>
                </a:lnTo>
                <a:lnTo>
                  <a:pt x="0" y="259080"/>
                </a:lnTo>
                <a:lnTo>
                  <a:pt x="60706" y="259080"/>
                </a:lnTo>
                <a:lnTo>
                  <a:pt x="60706" y="248920"/>
                </a:lnTo>
                <a:lnTo>
                  <a:pt x="60706" y="10160"/>
                </a:lnTo>
                <a:lnTo>
                  <a:pt x="6070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4653280" y="2043429"/>
            <a:ext cx="60960" cy="259079"/>
          </a:xfrm>
          <a:custGeom>
            <a:avLst/>
            <a:gdLst/>
            <a:ahLst/>
            <a:cxnLst/>
            <a:rect l="l" t="t" r="r" b="b"/>
            <a:pathLst>
              <a:path w="60960" h="259080">
                <a:moveTo>
                  <a:pt x="60833" y="0"/>
                </a:moveTo>
                <a:lnTo>
                  <a:pt x="0" y="0"/>
                </a:lnTo>
                <a:lnTo>
                  <a:pt x="0" y="10160"/>
                </a:lnTo>
                <a:lnTo>
                  <a:pt x="0" y="248920"/>
                </a:lnTo>
                <a:lnTo>
                  <a:pt x="0" y="259080"/>
                </a:lnTo>
                <a:lnTo>
                  <a:pt x="60833" y="259080"/>
                </a:lnTo>
                <a:lnTo>
                  <a:pt x="60833" y="248920"/>
                </a:lnTo>
                <a:lnTo>
                  <a:pt x="22606" y="248920"/>
                </a:lnTo>
                <a:lnTo>
                  <a:pt x="22606" y="10160"/>
                </a:lnTo>
                <a:lnTo>
                  <a:pt x="60833" y="10160"/>
                </a:lnTo>
                <a:lnTo>
                  <a:pt x="6083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4029075" y="1625854"/>
            <a:ext cx="3154045" cy="695960"/>
          </a:xfrm>
          <a:prstGeom prst="rect">
            <a:avLst/>
          </a:prstGeom>
        </p:spPr>
        <p:txBody>
          <a:bodyPr vert="horz" wrap="square" lIns="0" tIns="12065" rIns="0" bIns="0" rtlCol="0">
            <a:spAutoFit/>
          </a:bodyPr>
          <a:lstStyle/>
          <a:p>
            <a:pPr marL="0" marR="43180" lvl="0" indent="0" algn="r" defTabSz="914400" eaLnBrk="1" fontAlgn="auto" latinLnBrk="0" hangingPunct="1">
              <a:lnSpc>
                <a:spcPct val="100000"/>
              </a:lnSpc>
              <a:spcBef>
                <a:spcPts val="95"/>
              </a:spcBef>
              <a:spcAft>
                <a:spcPts val="0"/>
              </a:spcAft>
              <a:buClrTx/>
              <a:buSzTx/>
              <a:buFontTx/>
              <a:buNone/>
              <a:tabLst/>
              <a:defRPr/>
            </a:pPr>
            <a:r>
              <a:rPr kumimoji="0" sz="2200" b="0" i="0" u="none" strike="noStrike" kern="0" cap="none" spc="-35" normalizeH="0" baseline="0" noProof="0" dirty="0">
                <a:ln>
                  <a:noFill/>
                </a:ln>
                <a:solidFill>
                  <a:sysClr val="windowText" lastClr="000000"/>
                </a:solidFill>
                <a:effectLst/>
                <a:uLnTx/>
                <a:uFillTx/>
                <a:latin typeface="Cambria Math"/>
                <a:cs typeface="Cambria Math"/>
              </a:rPr>
              <a:t>𝑃</a:t>
            </a:r>
            <a:r>
              <a:rPr kumimoji="0" sz="2400" b="0" i="0" u="none" strike="noStrike" kern="0" cap="none" spc="-52" normalizeH="0" baseline="-15625" noProof="0" dirty="0">
                <a:ln>
                  <a:noFill/>
                </a:ln>
                <a:solidFill>
                  <a:sysClr val="windowText" lastClr="000000"/>
                </a:solidFill>
                <a:effectLst/>
                <a:uLnTx/>
                <a:uFillTx/>
                <a:latin typeface="Cambria Math"/>
                <a:cs typeface="Cambria Math"/>
              </a:rPr>
              <a:t>𝑟</a:t>
            </a:r>
            <a:r>
              <a:rPr kumimoji="0" sz="2400" b="0" i="0" u="none" strike="noStrike" kern="0" cap="none" spc="630" normalizeH="0" baseline="-15625"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𝑎𝑡</a:t>
            </a:r>
            <a:r>
              <a:rPr kumimoji="0" sz="2200" b="0" i="0" u="none" strike="noStrike" kern="0" cap="none" spc="-30" normalizeH="0" baseline="0"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𝑜𝑙𝑑 𝑐𝑒𝑙𝑙</a:t>
            </a:r>
            <a:r>
              <a:rPr kumimoji="0" sz="2200" b="0" i="0" u="none" strike="noStrike" kern="0" cap="none" spc="10" normalizeH="0" baseline="0" noProof="0" dirty="0">
                <a:ln>
                  <a:noFill/>
                </a:ln>
                <a:solidFill>
                  <a:sysClr val="windowText" lastClr="000000"/>
                </a:solidFill>
                <a:effectLst/>
                <a:uLnTx/>
                <a:uFillTx/>
                <a:latin typeface="Cambria Math"/>
                <a:cs typeface="Cambria Math"/>
              </a:rPr>
              <a:t> </a:t>
            </a:r>
            <a:r>
              <a:rPr kumimoji="0" sz="2200" b="0" i="0" u="none" strike="noStrike" kern="0" cap="none" spc="-10" normalizeH="0" baseline="0" noProof="0" dirty="0">
                <a:ln>
                  <a:noFill/>
                </a:ln>
                <a:solidFill>
                  <a:sysClr val="windowText" lastClr="000000"/>
                </a:solidFill>
                <a:effectLst/>
                <a:uLnTx/>
                <a:uFillTx/>
                <a:latin typeface="Cambria Math"/>
                <a:cs typeface="Cambria Math"/>
              </a:rPr>
              <a:t>𝑏𝑜𝑢𝑛𝑑𝑟𝑦</a:t>
            </a:r>
            <a:endParaRPr kumimoji="0" sz="2200" b="0" i="0" u="none" strike="noStrike" kern="0" cap="none" spc="0" normalizeH="0" baseline="0" noProof="0">
              <a:ln>
                <a:noFill/>
              </a:ln>
              <a:solidFill>
                <a:sysClr val="windowText" lastClr="000000"/>
              </a:solidFill>
              <a:effectLst/>
              <a:uLnTx/>
              <a:uFillTx/>
              <a:latin typeface="Cambria Math"/>
              <a:cs typeface="Cambria Math"/>
            </a:endParaRPr>
          </a:p>
          <a:p>
            <a:pPr marL="0" marR="63500" lvl="0" indent="0" algn="r" defTabSz="914400" eaLnBrk="1" fontAlgn="auto" latinLnBrk="0" hangingPunct="1">
              <a:lnSpc>
                <a:spcPct val="100000"/>
              </a:lnSpc>
              <a:spcBef>
                <a:spcPts val="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Cambria Math"/>
                <a:cs typeface="Cambria Math"/>
              </a:rPr>
              <a:t>=</a:t>
            </a:r>
            <a:r>
              <a:rPr kumimoji="0" sz="2200" b="0" i="0" u="none" strike="noStrike" kern="0" cap="none" spc="40" normalizeH="0" baseline="0" noProof="0" dirty="0">
                <a:ln>
                  <a:noFill/>
                </a:ln>
                <a:solidFill>
                  <a:sysClr val="windowText" lastClr="000000"/>
                </a:solidFill>
                <a:effectLst/>
                <a:uLnTx/>
                <a:uFillTx/>
                <a:latin typeface="Cambria Math"/>
                <a:cs typeface="Cambria Math"/>
              </a:rPr>
              <a:t> </a:t>
            </a:r>
            <a:r>
              <a:rPr kumimoji="0" sz="2200" b="0" i="0" u="none" strike="noStrike" kern="0" cap="none" spc="-30" normalizeH="0" baseline="0" noProof="0" dirty="0">
                <a:ln>
                  <a:noFill/>
                </a:ln>
                <a:solidFill>
                  <a:sysClr val="windowText" lastClr="000000"/>
                </a:solidFill>
                <a:effectLst/>
                <a:uLnTx/>
                <a:uFillTx/>
                <a:latin typeface="Cambria Math"/>
                <a:cs typeface="Cambria Math"/>
              </a:rPr>
              <a:t>𝑃</a:t>
            </a:r>
            <a:r>
              <a:rPr kumimoji="0" sz="2400" b="0" i="0" u="none" strike="noStrike" kern="0" cap="none" spc="-44" normalizeH="0" baseline="-15625" noProof="0" dirty="0">
                <a:ln>
                  <a:noFill/>
                </a:ln>
                <a:solidFill>
                  <a:sysClr val="windowText" lastClr="000000"/>
                </a:solidFill>
                <a:effectLst/>
                <a:uLnTx/>
                <a:uFillTx/>
                <a:latin typeface="Cambria Math"/>
                <a:cs typeface="Cambria Math"/>
              </a:rPr>
              <a:t>𝑟</a:t>
            </a:r>
            <a:r>
              <a:rPr kumimoji="0" sz="2400" b="0" i="0" u="none" strike="noStrike" kern="0" cap="none" spc="682" normalizeH="0" baseline="-15625"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𝑎𝑡</a:t>
            </a:r>
            <a:r>
              <a:rPr kumimoji="0" sz="2200" b="0" i="0" u="none" strike="noStrike" kern="0" cap="none" spc="-15" normalizeH="0" baseline="0"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𝑜𝑙𝑑</a:t>
            </a:r>
            <a:r>
              <a:rPr kumimoji="0" sz="2200" b="0" i="0" u="none" strike="noStrike" kern="0" cap="none" spc="15" normalizeH="0" baseline="0" noProof="0" dirty="0">
                <a:ln>
                  <a:noFill/>
                </a:ln>
                <a:solidFill>
                  <a:sysClr val="windowText" lastClr="000000"/>
                </a:solidFill>
                <a:effectLst/>
                <a:uLnTx/>
                <a:uFillTx/>
                <a:latin typeface="Cambria Math"/>
                <a:cs typeface="Cambria Math"/>
              </a:rPr>
              <a:t> </a:t>
            </a:r>
            <a:r>
              <a:rPr kumimoji="0" sz="2200" b="0" i="0" u="none" strike="noStrike" kern="0" cap="none" spc="0" normalizeH="0" baseline="0" noProof="0" dirty="0">
                <a:ln>
                  <a:noFill/>
                </a:ln>
                <a:solidFill>
                  <a:sysClr val="windowText" lastClr="000000"/>
                </a:solidFill>
                <a:effectLst/>
                <a:uLnTx/>
                <a:uFillTx/>
                <a:latin typeface="Cambria Math"/>
                <a:cs typeface="Cambria Math"/>
              </a:rPr>
              <a:t>𝑐𝑒𝑙𝑙</a:t>
            </a:r>
            <a:r>
              <a:rPr kumimoji="0" sz="2200" b="0" i="0" u="none" strike="noStrike" kern="0" cap="none" spc="10" normalizeH="0" baseline="0" noProof="0" dirty="0">
                <a:ln>
                  <a:noFill/>
                </a:ln>
                <a:solidFill>
                  <a:sysClr val="windowText" lastClr="000000"/>
                </a:solidFill>
                <a:effectLst/>
                <a:uLnTx/>
                <a:uFillTx/>
                <a:latin typeface="Cambria Math"/>
                <a:cs typeface="Cambria Math"/>
              </a:rPr>
              <a:t> </a:t>
            </a:r>
            <a:r>
              <a:rPr kumimoji="0" sz="2200" b="0" i="0" u="none" strike="noStrike" kern="0" cap="none" spc="-10" normalizeH="0" baseline="0" noProof="0" dirty="0">
                <a:ln>
                  <a:noFill/>
                </a:ln>
                <a:solidFill>
                  <a:sysClr val="windowText" lastClr="000000"/>
                </a:solidFill>
                <a:effectLst/>
                <a:uLnTx/>
                <a:uFillTx/>
                <a:latin typeface="Cambria Math"/>
                <a:cs typeface="Cambria Math"/>
              </a:rPr>
              <a:t>𝑏𝑜𝑢𝑛𝑑𝑟𝑦</a:t>
            </a:r>
            <a:endParaRPr kumimoji="0" sz="22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8" name="object 8"/>
          <p:cNvSpPr/>
          <p:nvPr/>
        </p:nvSpPr>
        <p:spPr>
          <a:xfrm>
            <a:off x="7953882" y="2045080"/>
            <a:ext cx="676275" cy="258445"/>
          </a:xfrm>
          <a:custGeom>
            <a:avLst/>
            <a:gdLst/>
            <a:ahLst/>
            <a:cxnLst/>
            <a:rect l="l" t="t" r="r" b="b"/>
            <a:pathLst>
              <a:path w="676275" h="258444">
                <a:moveTo>
                  <a:pt x="593978" y="0"/>
                </a:moveTo>
                <a:lnTo>
                  <a:pt x="590296" y="10414"/>
                </a:lnTo>
                <a:lnTo>
                  <a:pt x="605250" y="16910"/>
                </a:lnTo>
                <a:lnTo>
                  <a:pt x="618109" y="25908"/>
                </a:lnTo>
                <a:lnTo>
                  <a:pt x="644207" y="67522"/>
                </a:lnTo>
                <a:lnTo>
                  <a:pt x="651788" y="105487"/>
                </a:lnTo>
                <a:lnTo>
                  <a:pt x="651827" y="105761"/>
                </a:lnTo>
                <a:lnTo>
                  <a:pt x="651825" y="150600"/>
                </a:lnTo>
                <a:lnTo>
                  <a:pt x="644153" y="189894"/>
                </a:lnTo>
                <a:lnTo>
                  <a:pt x="618093" y="232171"/>
                </a:lnTo>
                <a:lnTo>
                  <a:pt x="590676" y="247777"/>
                </a:lnTo>
                <a:lnTo>
                  <a:pt x="593978" y="258318"/>
                </a:lnTo>
                <a:lnTo>
                  <a:pt x="629189" y="241760"/>
                </a:lnTo>
                <a:lnTo>
                  <a:pt x="655066" y="213106"/>
                </a:lnTo>
                <a:lnTo>
                  <a:pt x="671004" y="174799"/>
                </a:lnTo>
                <a:lnTo>
                  <a:pt x="676275" y="129159"/>
                </a:lnTo>
                <a:lnTo>
                  <a:pt x="674958" y="105761"/>
                </a:lnTo>
                <a:lnTo>
                  <a:pt x="674943" y="105487"/>
                </a:lnTo>
                <a:lnTo>
                  <a:pt x="664327" y="63525"/>
                </a:lnTo>
                <a:lnTo>
                  <a:pt x="643235" y="29325"/>
                </a:lnTo>
                <a:lnTo>
                  <a:pt x="612667" y="6742"/>
                </a:lnTo>
                <a:lnTo>
                  <a:pt x="593978" y="0"/>
                </a:lnTo>
                <a:close/>
              </a:path>
              <a:path w="676275" h="258444">
                <a:moveTo>
                  <a:pt x="82423" y="0"/>
                </a:moveTo>
                <a:lnTo>
                  <a:pt x="47259" y="16509"/>
                </a:lnTo>
                <a:lnTo>
                  <a:pt x="21336" y="45212"/>
                </a:lnTo>
                <a:lnTo>
                  <a:pt x="5334" y="83613"/>
                </a:lnTo>
                <a:lnTo>
                  <a:pt x="78" y="127762"/>
                </a:lnTo>
                <a:lnTo>
                  <a:pt x="0" y="129159"/>
                </a:lnTo>
                <a:lnTo>
                  <a:pt x="5318" y="174799"/>
                </a:lnTo>
                <a:lnTo>
                  <a:pt x="21209" y="213106"/>
                </a:lnTo>
                <a:lnTo>
                  <a:pt x="47148" y="241760"/>
                </a:lnTo>
                <a:lnTo>
                  <a:pt x="82423" y="258318"/>
                </a:lnTo>
                <a:lnTo>
                  <a:pt x="85598" y="247777"/>
                </a:lnTo>
                <a:lnTo>
                  <a:pt x="70901" y="241254"/>
                </a:lnTo>
                <a:lnTo>
                  <a:pt x="58229" y="232171"/>
                </a:lnTo>
                <a:lnTo>
                  <a:pt x="32194" y="189894"/>
                </a:lnTo>
                <a:lnTo>
                  <a:pt x="24574" y="150600"/>
                </a:lnTo>
                <a:lnTo>
                  <a:pt x="23680" y="129159"/>
                </a:lnTo>
                <a:lnTo>
                  <a:pt x="23622" y="127762"/>
                </a:lnTo>
                <a:lnTo>
                  <a:pt x="27431" y="85677"/>
                </a:lnTo>
                <a:lnTo>
                  <a:pt x="47583" y="37381"/>
                </a:lnTo>
                <a:lnTo>
                  <a:pt x="86106" y="10414"/>
                </a:lnTo>
                <a:lnTo>
                  <a:pt x="8242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7253985" y="1625854"/>
            <a:ext cx="1720850" cy="695960"/>
          </a:xfrm>
          <a:prstGeom prst="rect">
            <a:avLst/>
          </a:prstGeom>
        </p:spPr>
        <p:txBody>
          <a:bodyPr vert="horz" wrap="square" lIns="0" tIns="12065" rIns="0" bIns="0" rtlCol="0">
            <a:spAutoFit/>
          </a:bodyPr>
          <a:lstStyle/>
          <a:p>
            <a:pPr marL="59055" marR="0" lvl="0" indent="0" defTabSz="914400" eaLnBrk="1" fontAlgn="auto" latinLnBrk="0" hangingPunct="1">
              <a:lnSpc>
                <a:spcPct val="100000"/>
              </a:lnSpc>
              <a:spcBef>
                <a:spcPts val="95"/>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Cambria Math"/>
                <a:cs typeface="Cambria Math"/>
              </a:rPr>
              <a:t>∝</a:t>
            </a:r>
            <a:r>
              <a:rPr kumimoji="0" sz="2200" b="0" i="0" u="none" strike="noStrike" kern="0" cap="none" spc="110" normalizeH="0" baseline="0" noProof="0" dirty="0">
                <a:ln>
                  <a:noFill/>
                </a:ln>
                <a:solidFill>
                  <a:sysClr val="windowText" lastClr="000000"/>
                </a:solidFill>
                <a:effectLst/>
                <a:uLnTx/>
                <a:uFillTx/>
                <a:latin typeface="Cambria Math"/>
                <a:cs typeface="Cambria Math"/>
              </a:rPr>
              <a:t> </a:t>
            </a:r>
            <a:r>
              <a:rPr kumimoji="0" sz="2200" b="0" i="0" u="none" strike="noStrike" kern="0" cap="none" spc="-10" normalizeH="0" baseline="0" noProof="0" dirty="0">
                <a:ln>
                  <a:noFill/>
                </a:ln>
                <a:solidFill>
                  <a:sysClr val="windowText" lastClr="000000"/>
                </a:solidFill>
                <a:effectLst/>
                <a:uLnTx/>
                <a:uFillTx/>
                <a:latin typeface="Cambria Math"/>
                <a:cs typeface="Cambria Math"/>
              </a:rPr>
              <a:t>𝑃</a:t>
            </a:r>
            <a:r>
              <a:rPr kumimoji="0" sz="2400" b="0" i="0" u="none" strike="noStrike" kern="0" cap="none" spc="-15" normalizeH="0" baseline="-15625" noProof="0" dirty="0">
                <a:ln>
                  <a:noFill/>
                </a:ln>
                <a:solidFill>
                  <a:sysClr val="windowText" lastClr="000000"/>
                </a:solidFill>
                <a:effectLst/>
                <a:uLnTx/>
                <a:uFillTx/>
                <a:latin typeface="Cambria Math"/>
                <a:cs typeface="Cambria Math"/>
              </a:rPr>
              <a:t>𝑡1</a:t>
            </a:r>
            <a:r>
              <a:rPr kumimoji="0" sz="2200" b="0" i="0" u="none" strike="noStrike" kern="0" cap="none" spc="-10" normalizeH="0" baseline="0" noProof="0" dirty="0">
                <a:ln>
                  <a:noFill/>
                </a:ln>
                <a:solidFill>
                  <a:sysClr val="windowText" lastClr="000000"/>
                </a:solidFill>
                <a:effectLst/>
                <a:uLnTx/>
                <a:uFillTx/>
                <a:latin typeface="Cambria Math"/>
                <a:cs typeface="Cambria Math"/>
              </a:rPr>
              <a:t>𝑅</a:t>
            </a:r>
            <a:r>
              <a:rPr kumimoji="0" sz="2400" b="0" i="0" u="none" strike="noStrike" kern="0" cap="none" spc="-15" normalizeH="0" baseline="27777" noProof="0" dirty="0">
                <a:ln>
                  <a:noFill/>
                </a:ln>
                <a:solidFill>
                  <a:sysClr val="windowText" lastClr="000000"/>
                </a:solidFill>
                <a:effectLst/>
                <a:uLnTx/>
                <a:uFillTx/>
                <a:latin typeface="Cambria Math"/>
                <a:cs typeface="Cambria Math"/>
              </a:rPr>
              <a:t>−𝑛</a:t>
            </a:r>
            <a:endParaRPr kumimoji="0" sz="2400" b="0" i="0" u="none" strike="noStrike" kern="0" cap="none" spc="0" normalizeH="0" baseline="27777" noProof="0">
              <a:ln>
                <a:noFill/>
              </a:ln>
              <a:solidFill>
                <a:sysClr val="windowText" lastClr="000000"/>
              </a:solidFill>
              <a:effectLst/>
              <a:uLnTx/>
              <a:uFillTx/>
              <a:latin typeface="Cambria Math"/>
              <a:cs typeface="Cambria Math"/>
            </a:endParaRPr>
          </a:p>
          <a:p>
            <a:pPr marL="38100" marR="0" lvl="0" indent="0" defTabSz="914400" eaLnBrk="1" fontAlgn="auto" latinLnBrk="0" hangingPunct="1">
              <a:lnSpc>
                <a:spcPct val="100000"/>
              </a:lnSpc>
              <a:spcBef>
                <a:spcPts val="0"/>
              </a:spcBef>
              <a:spcAft>
                <a:spcPts val="0"/>
              </a:spcAft>
              <a:buClrTx/>
              <a:buSzTx/>
              <a:buFontTx/>
              <a:buNone/>
              <a:tabLst>
                <a:tab pos="791845" algn="l"/>
              </a:tabLst>
              <a:defRPr/>
            </a:pPr>
            <a:r>
              <a:rPr kumimoji="0" sz="2200" b="0" i="0" u="none" strike="noStrike" kern="0" cap="none" spc="0" normalizeH="0" baseline="0" noProof="0" dirty="0">
                <a:ln>
                  <a:noFill/>
                </a:ln>
                <a:solidFill>
                  <a:sysClr val="windowText" lastClr="000000"/>
                </a:solidFill>
                <a:effectLst/>
                <a:uLnTx/>
                <a:uFillTx/>
                <a:latin typeface="Cambria Math"/>
                <a:cs typeface="Cambria Math"/>
              </a:rPr>
              <a:t>∝</a:t>
            </a:r>
            <a:r>
              <a:rPr kumimoji="0" sz="2200" b="0" i="0" u="none" strike="noStrike" kern="0" cap="none" spc="120" normalizeH="0" baseline="0" noProof="0" dirty="0">
                <a:ln>
                  <a:noFill/>
                </a:ln>
                <a:solidFill>
                  <a:sysClr val="windowText" lastClr="000000"/>
                </a:solidFill>
                <a:effectLst/>
                <a:uLnTx/>
                <a:uFillTx/>
                <a:latin typeface="Cambria Math"/>
                <a:cs typeface="Cambria Math"/>
              </a:rPr>
              <a:t> </a:t>
            </a:r>
            <a:r>
              <a:rPr kumimoji="0" sz="2200" b="0" i="0" u="none" strike="noStrike" kern="0" cap="none" spc="-25" normalizeH="0" baseline="0" noProof="0" dirty="0">
                <a:ln>
                  <a:noFill/>
                </a:ln>
                <a:solidFill>
                  <a:sysClr val="windowText" lastClr="000000"/>
                </a:solidFill>
                <a:effectLst/>
                <a:uLnTx/>
                <a:uFillTx/>
                <a:latin typeface="Cambria Math"/>
                <a:cs typeface="Cambria Math"/>
              </a:rPr>
              <a:t>𝑃</a:t>
            </a:r>
            <a:r>
              <a:rPr kumimoji="0" sz="2400" b="0" i="0" u="none" strike="noStrike" kern="0" cap="none" spc="-37" normalizeH="0" baseline="-15625" noProof="0" dirty="0">
                <a:ln>
                  <a:noFill/>
                </a:ln>
                <a:solidFill>
                  <a:sysClr val="windowText" lastClr="000000"/>
                </a:solidFill>
                <a:effectLst/>
                <a:uLnTx/>
                <a:uFillTx/>
                <a:latin typeface="Cambria Math"/>
                <a:cs typeface="Cambria Math"/>
              </a:rPr>
              <a:t>𝑡2</a:t>
            </a:r>
            <a:r>
              <a:rPr kumimoji="0" sz="2400" b="0" i="0" u="none" strike="noStrike" kern="0" cap="none" spc="0" normalizeH="0" baseline="-15625" noProof="0" dirty="0">
                <a:ln>
                  <a:noFill/>
                </a:ln>
                <a:solidFill>
                  <a:sysClr val="windowText" lastClr="000000"/>
                </a:solidFill>
                <a:effectLst/>
                <a:uLnTx/>
                <a:uFillTx/>
                <a:latin typeface="Cambria Math"/>
                <a:cs typeface="Cambria Math"/>
              </a:rPr>
              <a:t>	</a:t>
            </a:r>
            <a:r>
              <a:rPr kumimoji="0" sz="2200" b="0" i="0" u="none" strike="noStrike" kern="0" cap="none" spc="60" normalizeH="0" baseline="0" noProof="0" dirty="0">
                <a:ln>
                  <a:noFill/>
                </a:ln>
                <a:solidFill>
                  <a:sysClr val="windowText" lastClr="000000"/>
                </a:solidFill>
                <a:effectLst/>
                <a:uLnTx/>
                <a:uFillTx/>
                <a:latin typeface="Cambria Math"/>
                <a:cs typeface="Cambria Math"/>
              </a:rPr>
              <a:t>𝑅</a:t>
            </a:r>
            <a:r>
              <a:rPr kumimoji="0" sz="3300" b="0" i="0" u="none" strike="noStrike" kern="0" cap="none" spc="89" normalizeH="0" baseline="2525" noProof="0" dirty="0">
                <a:ln>
                  <a:noFill/>
                </a:ln>
                <a:solidFill>
                  <a:sysClr val="windowText" lastClr="000000"/>
                </a:solidFill>
                <a:effectLst/>
                <a:uLnTx/>
                <a:uFillTx/>
                <a:latin typeface="Cambria Math"/>
                <a:cs typeface="Cambria Math"/>
              </a:rPr>
              <a:t>/</a:t>
            </a:r>
            <a:r>
              <a:rPr kumimoji="0" sz="2200" b="0" i="0" u="none" strike="noStrike" kern="0" cap="none" spc="60" normalizeH="0" baseline="0" noProof="0" dirty="0">
                <a:ln>
                  <a:noFill/>
                </a:ln>
                <a:solidFill>
                  <a:sysClr val="windowText" lastClr="000000"/>
                </a:solidFill>
                <a:effectLst/>
                <a:uLnTx/>
                <a:uFillTx/>
                <a:latin typeface="Cambria Math"/>
                <a:cs typeface="Cambria Math"/>
              </a:rPr>
              <a:t>2</a:t>
            </a:r>
            <a:r>
              <a:rPr kumimoji="0" sz="2200" b="0" i="0" u="none" strike="noStrike" kern="0" cap="none" spc="420" normalizeH="0" baseline="0" noProof="0" dirty="0">
                <a:ln>
                  <a:noFill/>
                </a:ln>
                <a:solidFill>
                  <a:sysClr val="windowText" lastClr="000000"/>
                </a:solidFill>
                <a:effectLst/>
                <a:uLnTx/>
                <a:uFillTx/>
                <a:latin typeface="Cambria Math"/>
                <a:cs typeface="Cambria Math"/>
              </a:rPr>
              <a:t> </a:t>
            </a:r>
            <a:r>
              <a:rPr kumimoji="0" sz="2400" b="0" i="0" u="none" strike="noStrike" kern="0" cap="none" spc="-37" normalizeH="0" baseline="27777" noProof="0" dirty="0">
                <a:ln>
                  <a:noFill/>
                </a:ln>
                <a:solidFill>
                  <a:sysClr val="windowText" lastClr="000000"/>
                </a:solidFill>
                <a:effectLst/>
                <a:uLnTx/>
                <a:uFillTx/>
                <a:latin typeface="Cambria Math"/>
                <a:cs typeface="Cambria Math"/>
              </a:rPr>
              <a:t>−𝑛</a:t>
            </a:r>
            <a:endParaRPr kumimoji="0" sz="2400" b="0" i="0" u="none" strike="noStrike" kern="0" cap="none" spc="0" normalizeH="0" baseline="27777" noProof="0">
              <a:ln>
                <a:noFill/>
              </a:ln>
              <a:solidFill>
                <a:sysClr val="windowText" lastClr="000000"/>
              </a:solidFill>
              <a:effectLst/>
              <a:uLnTx/>
              <a:uFillTx/>
              <a:latin typeface="Cambria Math"/>
              <a:cs typeface="Cambria Math"/>
            </a:endParaRPr>
          </a:p>
        </p:txBody>
      </p:sp>
      <p:sp>
        <p:nvSpPr>
          <p:cNvPr id="10" name="object 10"/>
          <p:cNvSpPr txBox="1"/>
          <p:nvPr/>
        </p:nvSpPr>
        <p:spPr>
          <a:xfrm>
            <a:off x="5793104" y="2622930"/>
            <a:ext cx="252095" cy="2927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750" b="0" i="0" u="none" strike="noStrike" kern="0" cap="none" spc="25" normalizeH="0" baseline="0" noProof="0" dirty="0">
                <a:ln>
                  <a:noFill/>
                </a:ln>
                <a:solidFill>
                  <a:sysClr val="windowText" lastClr="000000"/>
                </a:solidFill>
                <a:effectLst/>
                <a:uLnTx/>
                <a:uFillTx/>
                <a:latin typeface="Cambria Math"/>
                <a:cs typeface="Cambria Math"/>
              </a:rPr>
              <a:t>𝑡2</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1" name="object 11"/>
          <p:cNvSpPr txBox="1"/>
          <p:nvPr/>
        </p:nvSpPr>
        <p:spPr>
          <a:xfrm>
            <a:off x="5610733" y="2310510"/>
            <a:ext cx="1264920" cy="558800"/>
          </a:xfrm>
          <a:prstGeom prst="rect">
            <a:avLst/>
          </a:prstGeom>
        </p:spPr>
        <p:txBody>
          <a:bodyPr vert="horz" wrap="square" lIns="0" tIns="12700" rIns="0" bIns="0" rtlCol="0">
            <a:spAutoFit/>
          </a:bodyPr>
          <a:lstStyle/>
          <a:p>
            <a:pPr marL="829944" marR="0" lvl="0" indent="0" defTabSz="914400" eaLnBrk="1" fontAlgn="auto" latinLnBrk="0" hangingPunct="1">
              <a:lnSpc>
                <a:spcPts val="2100"/>
              </a:lnSpc>
              <a:spcBef>
                <a:spcPts val="100"/>
              </a:spcBef>
              <a:spcAft>
                <a:spcPts val="0"/>
              </a:spcAft>
              <a:buClrTx/>
              <a:buSzTx/>
              <a:buFontTx/>
              <a:buNone/>
              <a:tabLst/>
              <a:defRPr/>
            </a:pPr>
            <a:r>
              <a:rPr kumimoji="0" sz="3600" b="0" i="0" u="none" strike="noStrike" kern="0" cap="none" spc="-37" normalizeH="0" baseline="11574" noProof="0" dirty="0">
                <a:ln>
                  <a:noFill/>
                </a:ln>
                <a:solidFill>
                  <a:sysClr val="windowText" lastClr="000000"/>
                </a:solidFill>
                <a:effectLst/>
                <a:uLnTx/>
                <a:uFillTx/>
                <a:latin typeface="Cambria Math"/>
                <a:cs typeface="Cambria Math"/>
              </a:rPr>
              <a:t>𝑃</a:t>
            </a:r>
            <a:r>
              <a:rPr kumimoji="0" sz="1750" b="0" i="0" u="none" strike="noStrike" kern="0" cap="none" spc="-25" normalizeH="0" baseline="0" noProof="0" dirty="0">
                <a:ln>
                  <a:noFill/>
                </a:ln>
                <a:solidFill>
                  <a:sysClr val="windowText" lastClr="000000"/>
                </a:solidFill>
                <a:effectLst/>
                <a:uLnTx/>
                <a:uFillTx/>
                <a:latin typeface="Cambria Math"/>
                <a:cs typeface="Cambria Math"/>
              </a:rPr>
              <a:t>𝑡1</a:t>
            </a:r>
            <a:endParaRPr kumimoji="0" sz="1750" b="0" i="0" u="none" strike="noStrike" kern="0" cap="none" spc="0" normalizeH="0" baseline="0" noProof="0">
              <a:ln>
                <a:noFill/>
              </a:ln>
              <a:solidFill>
                <a:sysClr val="windowText" lastClr="000000"/>
              </a:solidFill>
              <a:effectLst/>
              <a:uLnTx/>
              <a:uFillTx/>
              <a:latin typeface="Cambria Math"/>
              <a:cs typeface="Cambria Math"/>
            </a:endParaRPr>
          </a:p>
          <a:p>
            <a:pPr marL="38100" marR="0" lvl="0" indent="0" defTabSz="914400" eaLnBrk="1" fontAlgn="auto" latinLnBrk="0" hangingPunct="1">
              <a:lnSpc>
                <a:spcPts val="2100"/>
              </a:lnSpc>
              <a:spcBef>
                <a:spcPts val="0"/>
              </a:spcBef>
              <a:spcAft>
                <a:spcPts val="0"/>
              </a:spcAft>
              <a:buClrTx/>
              <a:buSzTx/>
              <a:buFontTx/>
              <a:buNone/>
              <a:tabLst>
                <a:tab pos="517525" algn="l"/>
              </a:tabLst>
              <a:defRPr/>
            </a:pPr>
            <a:r>
              <a:rPr kumimoji="0" sz="2400" b="0" i="0" u="none" strike="noStrike" kern="0" cap="none" spc="-50" normalizeH="0" baseline="0" noProof="0" dirty="0">
                <a:ln>
                  <a:noFill/>
                </a:ln>
                <a:solidFill>
                  <a:sysClr val="windowText" lastClr="000000"/>
                </a:solidFill>
                <a:effectLst/>
                <a:uLnTx/>
                <a:uFillTx/>
                <a:latin typeface="Cambria Math"/>
                <a:cs typeface="Cambria Math"/>
              </a:rPr>
              <a:t>𝑃</a:t>
            </a:r>
            <a:r>
              <a:rPr kumimoji="0" sz="2400" b="0" i="0" u="none" strike="noStrike" kern="0" cap="none" spc="0" normalizeH="0" baseline="0" noProof="0" dirty="0">
                <a:ln>
                  <a:noFill/>
                </a:ln>
                <a:solidFill>
                  <a:sysClr val="windowText" lastClr="000000"/>
                </a:solidFill>
                <a:effectLst/>
                <a:uLnTx/>
                <a:uFillTx/>
                <a:latin typeface="Cambria Math"/>
                <a:cs typeface="Cambria Math"/>
              </a:rPr>
              <a:t>	</a:t>
            </a:r>
            <a:r>
              <a:rPr kumimoji="0" sz="2400" b="0" i="0" u="none" strike="noStrike" kern="0" cap="none" spc="-50" normalizeH="0" baseline="0" noProof="0" dirty="0">
                <a:ln>
                  <a:noFill/>
                </a:ln>
                <a:solidFill>
                  <a:sysClr val="windowText" lastClr="000000"/>
                </a:solidFill>
                <a:effectLst/>
                <a:uLnTx/>
                <a:uFillTx/>
                <a:latin typeface="Cambria Math"/>
                <a:cs typeface="Cambria Math"/>
              </a:rPr>
              <a:t>=</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2" name="object 12"/>
          <p:cNvSpPr txBox="1"/>
          <p:nvPr/>
        </p:nvSpPr>
        <p:spPr>
          <a:xfrm>
            <a:off x="6457569" y="2682366"/>
            <a:ext cx="36385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Cambria Math"/>
                <a:cs typeface="Cambria Math"/>
              </a:rPr>
              <a:t>16</a:t>
            </a:r>
            <a:endParaRPr kumimoji="0" sz="2400" b="0" i="0" u="none" strike="noStrike" kern="0" cap="none" spc="0" normalizeH="0" baseline="0" noProof="0">
              <a:ln>
                <a:noFill/>
              </a:ln>
              <a:solidFill>
                <a:sysClr val="windowText" lastClr="000000"/>
              </a:solidFill>
              <a:effectLst/>
              <a:uLnTx/>
              <a:uFillTx/>
              <a:latin typeface="Cambria Math"/>
              <a:cs typeface="Cambria Math"/>
            </a:endParaRPr>
          </a:p>
        </p:txBody>
      </p:sp>
      <p:sp>
        <p:nvSpPr>
          <p:cNvPr id="13" name="object 13"/>
          <p:cNvSpPr/>
          <p:nvPr/>
        </p:nvSpPr>
        <p:spPr>
          <a:xfrm>
            <a:off x="6440423" y="2699004"/>
            <a:ext cx="396240" cy="20320"/>
          </a:xfrm>
          <a:custGeom>
            <a:avLst/>
            <a:gdLst/>
            <a:ahLst/>
            <a:cxnLst/>
            <a:rect l="l" t="t" r="r" b="b"/>
            <a:pathLst>
              <a:path w="396240" h="20319">
                <a:moveTo>
                  <a:pt x="396240" y="0"/>
                </a:moveTo>
                <a:lnTo>
                  <a:pt x="0" y="0"/>
                </a:lnTo>
                <a:lnTo>
                  <a:pt x="0" y="19812"/>
                </a:lnTo>
                <a:lnTo>
                  <a:pt x="396240" y="19812"/>
                </a:lnTo>
                <a:lnTo>
                  <a:pt x="39624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txBox="1"/>
          <p:nvPr/>
        </p:nvSpPr>
        <p:spPr>
          <a:xfrm>
            <a:off x="4651375" y="3051175"/>
            <a:ext cx="4269740" cy="185483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transmit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power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must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reduced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 12 dB 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order</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fill</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original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coverage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with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microcells,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while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maintaining</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requirement.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249</a:t>
            </a:fld>
            <a:endParaRPr kumimoji="0" sz="1200" b="0" i="0" u="none" strike="noStrike" kern="0" cap="none" spc="-25" normalizeH="0" baseline="0" noProof="0" dirty="0">
              <a:ln>
                <a:noFill/>
              </a:ln>
              <a:solidFill>
                <a:srgbClr val="888888"/>
              </a:solidFill>
              <a:effectLst/>
              <a:uLnTx/>
              <a:uFillTx/>
              <a:latin typeface="Arial MT"/>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40" dirty="0"/>
              <a:t>Sectoring</a:t>
            </a:r>
          </a:p>
        </p:txBody>
      </p:sp>
      <p:sp>
        <p:nvSpPr>
          <p:cNvPr id="3" name="object 3"/>
          <p:cNvSpPr txBox="1"/>
          <p:nvPr/>
        </p:nvSpPr>
        <p:spPr>
          <a:xfrm>
            <a:off x="395731" y="1516507"/>
            <a:ext cx="7821930" cy="2738755"/>
          </a:xfrm>
          <a:prstGeom prst="rect">
            <a:avLst/>
          </a:prstGeom>
        </p:spPr>
        <p:txBody>
          <a:bodyPr vert="horz" wrap="square" lIns="0" tIns="12700" rIns="0" bIns="0" rtlCol="0">
            <a:spAutoFit/>
          </a:bodyPr>
          <a:lstStyle/>
          <a:p>
            <a:pPr marL="280670" marR="5080" lvl="0" indent="-268605"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decreasing</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radius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keeping</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ratio</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D/R</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unchanged,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splitting</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number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unit</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area.</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464184" lvl="0" indent="-268605"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Another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way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capacity</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keep</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radius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unchanged</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seek</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methods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decrease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D/R</a:t>
            </a:r>
            <a:r>
              <a:rPr kumimoji="0" sz="2400" b="0" i="1"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ratio.</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916940" lvl="0" indent="-268605"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Sectoring</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cluster</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size</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may</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be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reduced.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pic>
        <p:nvPicPr>
          <p:cNvPr id="4" name="object 4"/>
          <p:cNvPicPr/>
          <p:nvPr/>
        </p:nvPicPr>
        <p:blipFill>
          <a:blip r:embed="rId2" cstate="print"/>
          <a:stretch>
            <a:fillRect/>
          </a:stretch>
        </p:blipFill>
        <p:spPr>
          <a:xfrm>
            <a:off x="1964516" y="4021917"/>
            <a:ext cx="5951679" cy="235092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250</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rPr>
              <a:t>Pilani,</a:t>
            </a:r>
            <a:r>
              <a:rPr kumimoji="0" sz="1100" b="0" i="0" u="none" strike="noStrike" kern="0" cap="none" spc="-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Deemed</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to</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be</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University</a:t>
            </a:r>
            <a:r>
              <a:rPr kumimoji="0" sz="1100" b="0" i="0" u="none" strike="noStrike" kern="0" cap="none" spc="-1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under</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Section</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3</a:t>
            </a:r>
            <a:r>
              <a:rPr kumimoji="0" sz="1100" b="0" i="0" u="none" strike="noStrike" kern="0" cap="none" spc="-3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of</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UGC</a:t>
            </a:r>
            <a:r>
              <a:rPr kumimoji="0" sz="1100" b="0" i="0" u="none" strike="noStrike" kern="0" cap="none" spc="-35" normalizeH="0" baseline="0" noProof="0" dirty="0">
                <a:ln>
                  <a:noFill/>
                </a:ln>
                <a:solidFill>
                  <a:srgbClr val="0F1141"/>
                </a:solidFill>
                <a:effectLst/>
                <a:uLnTx/>
                <a:uFillTx/>
                <a:latin typeface="Arial MT"/>
              </a:rPr>
              <a:t> </a:t>
            </a:r>
            <a:r>
              <a:rPr kumimoji="0" sz="1100" b="0" i="0" u="none" strike="noStrike" kern="0" cap="none" spc="0" normalizeH="0" baseline="0" noProof="0" dirty="0">
                <a:ln>
                  <a:noFill/>
                </a:ln>
                <a:solidFill>
                  <a:srgbClr val="0F1141"/>
                </a:solidFill>
                <a:effectLst/>
                <a:uLnTx/>
                <a:uFillTx/>
                <a:latin typeface="Arial MT"/>
              </a:rPr>
              <a:t>Act,</a:t>
            </a:r>
            <a:r>
              <a:rPr kumimoji="0" sz="1100" b="0" i="0" u="none" strike="noStrike" kern="0" cap="none" spc="-40" normalizeH="0" baseline="0" noProof="0" dirty="0">
                <a:ln>
                  <a:noFill/>
                </a:ln>
                <a:solidFill>
                  <a:srgbClr val="0F1141"/>
                </a:solidFill>
                <a:effectLst/>
                <a:uLnTx/>
                <a:uFillTx/>
                <a:latin typeface="Arial MT"/>
              </a:rPr>
              <a:t> </a:t>
            </a:r>
            <a:r>
              <a:rPr kumimoji="0" sz="1100" b="0" i="0" u="none" strike="noStrike" kern="0" cap="none" spc="-20" normalizeH="0" baseline="0" noProof="0" dirty="0">
                <a:ln>
                  <a:noFill/>
                </a:ln>
                <a:solidFill>
                  <a:srgbClr val="0F1141"/>
                </a:solidFill>
                <a:effectLst/>
                <a:uLnTx/>
                <a:uFillTx/>
                <a:latin typeface="Arial MT"/>
              </a:rPr>
              <a:t>1956</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8542" y="6652130"/>
            <a:ext cx="3825240" cy="156845"/>
          </a:xfrm>
          <a:prstGeom prst="rect">
            <a:avLst/>
          </a:prstGeom>
        </p:spPr>
        <p:txBody>
          <a:bodyPr vert="horz" wrap="square" lIns="0" tIns="0" rIns="0" bIns="0" rtlCol="0">
            <a:spAutoFit/>
          </a:bodyPr>
          <a:lstStyle/>
          <a:p>
            <a:pPr marL="0" marR="0" lvl="0" indent="0" defTabSz="914400" eaLnBrk="1" fontAlgn="auto" latinLnBrk="0" hangingPunct="1">
              <a:lnSpc>
                <a:spcPts val="122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25" normalizeH="0" baseline="0" noProof="0" dirty="0">
                <a:ln>
                  <a:noFill/>
                </a:ln>
                <a:solidFill>
                  <a:srgbClr val="0F1141"/>
                </a:solidFill>
                <a:effectLst/>
                <a:uLnTx/>
                <a:uFillTx/>
                <a:latin typeface="Arial MT"/>
                <a:cs typeface="Arial MT"/>
              </a:rPr>
              <a:t>UGC</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grpSp>
        <p:nvGrpSpPr>
          <p:cNvPr id="3" name="object 3"/>
          <p:cNvGrpSpPr/>
          <p:nvPr/>
        </p:nvGrpSpPr>
        <p:grpSpPr>
          <a:xfrm>
            <a:off x="0" y="0"/>
            <a:ext cx="9144000" cy="6844665"/>
            <a:chOff x="0" y="0"/>
            <a:chExt cx="9144000" cy="6844665"/>
          </a:xfrm>
        </p:grpSpPr>
        <p:sp>
          <p:nvSpPr>
            <p:cNvPr id="4" name="object 4"/>
            <p:cNvSpPr/>
            <p:nvPr/>
          </p:nvSpPr>
          <p:spPr>
            <a:xfrm>
              <a:off x="4630420" y="6550675"/>
              <a:ext cx="2328545" cy="48895"/>
            </a:xfrm>
            <a:custGeom>
              <a:avLst/>
              <a:gdLst/>
              <a:ahLst/>
              <a:cxnLst/>
              <a:rect l="l" t="t" r="r" b="b"/>
              <a:pathLst>
                <a:path w="2328545" h="48895">
                  <a:moveTo>
                    <a:pt x="2328545" y="0"/>
                  </a:moveTo>
                  <a:lnTo>
                    <a:pt x="0" y="0"/>
                  </a:lnTo>
                  <a:lnTo>
                    <a:pt x="0" y="48663"/>
                  </a:lnTo>
                  <a:lnTo>
                    <a:pt x="2328545" y="48663"/>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6907910" y="6550673"/>
              <a:ext cx="2236470" cy="45720"/>
            </a:xfrm>
            <a:custGeom>
              <a:avLst/>
              <a:gdLst/>
              <a:ahLst/>
              <a:cxnLst/>
              <a:rect l="l" t="t" r="r" b="b"/>
              <a:pathLst>
                <a:path w="2236470" h="45720">
                  <a:moveTo>
                    <a:pt x="2236089" y="0"/>
                  </a:moveTo>
                  <a:lnTo>
                    <a:pt x="0" y="0"/>
                  </a:lnTo>
                  <a:lnTo>
                    <a:pt x="0" y="45718"/>
                  </a:lnTo>
                  <a:lnTo>
                    <a:pt x="2236089" y="45718"/>
                  </a:lnTo>
                  <a:lnTo>
                    <a:pt x="2236089"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2083942" y="6550675"/>
              <a:ext cx="2580640" cy="48895"/>
            </a:xfrm>
            <a:custGeom>
              <a:avLst/>
              <a:gdLst/>
              <a:ahLst/>
              <a:cxnLst/>
              <a:rect l="l" t="t" r="r" b="b"/>
              <a:pathLst>
                <a:path w="2580640" h="48895">
                  <a:moveTo>
                    <a:pt x="2580639" y="0"/>
                  </a:moveTo>
                  <a:lnTo>
                    <a:pt x="0" y="0"/>
                  </a:lnTo>
                  <a:lnTo>
                    <a:pt x="0" y="48663"/>
                  </a:lnTo>
                  <a:lnTo>
                    <a:pt x="2580639" y="48663"/>
                  </a:lnTo>
                  <a:lnTo>
                    <a:pt x="2580639"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 name="object 7"/>
            <p:cNvPicPr/>
            <p:nvPr/>
          </p:nvPicPr>
          <p:blipFill>
            <a:blip r:embed="rId2" cstate="print"/>
            <a:stretch>
              <a:fillRect/>
            </a:stretch>
          </p:blipFill>
          <p:spPr>
            <a:xfrm>
              <a:off x="6629400" y="0"/>
              <a:ext cx="2193163" cy="692658"/>
            </a:xfrm>
            <a:prstGeom prst="rect">
              <a:avLst/>
            </a:prstGeom>
          </p:spPr>
        </p:pic>
        <p:sp>
          <p:nvSpPr>
            <p:cNvPr id="8" name="object 8"/>
            <p:cNvSpPr/>
            <p:nvPr/>
          </p:nvSpPr>
          <p:spPr>
            <a:xfrm>
              <a:off x="4495800"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2133600" y="6558115"/>
              <a:ext cx="2362200" cy="45720"/>
            </a:xfrm>
            <a:custGeom>
              <a:avLst/>
              <a:gdLst/>
              <a:ahLst/>
              <a:cxnLst/>
              <a:rect l="l" t="t" r="r" b="b"/>
              <a:pathLst>
                <a:path w="2362200" h="45720">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6815455" y="6558115"/>
              <a:ext cx="2328545" cy="45720"/>
            </a:xfrm>
            <a:custGeom>
              <a:avLst/>
              <a:gdLst/>
              <a:ahLst/>
              <a:cxnLst/>
              <a:rect l="l" t="t" r="r" b="b"/>
              <a:pathLst>
                <a:path w="2328545" h="45720">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2362200"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0" y="1295401"/>
              <a:ext cx="2362200" cy="45720"/>
            </a:xfrm>
            <a:custGeom>
              <a:avLst/>
              <a:gdLst/>
              <a:ahLst/>
              <a:cxnLst/>
              <a:rect l="l" t="t" r="r" b="b"/>
              <a:pathLst>
                <a:path w="2362200" h="45719">
                  <a:moveTo>
                    <a:pt x="2362200" y="0"/>
                  </a:moveTo>
                  <a:lnTo>
                    <a:pt x="0" y="0"/>
                  </a:lnTo>
                  <a:lnTo>
                    <a:pt x="0" y="45718"/>
                  </a:lnTo>
                  <a:lnTo>
                    <a:pt x="2362200" y="45718"/>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4681854" y="1295401"/>
              <a:ext cx="2328545" cy="45720"/>
            </a:xfrm>
            <a:custGeom>
              <a:avLst/>
              <a:gdLst/>
              <a:ahLst/>
              <a:cxnLst/>
              <a:rect l="l" t="t" r="r" b="b"/>
              <a:pathLst>
                <a:path w="2328545" h="45719">
                  <a:moveTo>
                    <a:pt x="2328545" y="0"/>
                  </a:moveTo>
                  <a:lnTo>
                    <a:pt x="0" y="0"/>
                  </a:lnTo>
                  <a:lnTo>
                    <a:pt x="0" y="45718"/>
                  </a:lnTo>
                  <a:lnTo>
                    <a:pt x="2328545" y="45718"/>
                  </a:lnTo>
                  <a:lnTo>
                    <a:pt x="2328545"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4" name="object 14"/>
            <p:cNvPicPr/>
            <p:nvPr/>
          </p:nvPicPr>
          <p:blipFill>
            <a:blip r:embed="rId3" cstate="print"/>
            <a:stretch>
              <a:fillRect/>
            </a:stretch>
          </p:blipFill>
          <p:spPr>
            <a:xfrm>
              <a:off x="0" y="0"/>
              <a:ext cx="8458200" cy="6844369"/>
            </a:xfrm>
            <a:prstGeom prst="rect">
              <a:avLst/>
            </a:prstGeom>
          </p:spPr>
        </p:pic>
      </p:grpSp>
      <p:sp>
        <p:nvSpPr>
          <p:cNvPr id="15" name="object 15"/>
          <p:cNvSpPr txBox="1"/>
          <p:nvPr/>
        </p:nvSpPr>
        <p:spPr>
          <a:xfrm>
            <a:off x="6083300" y="63245"/>
            <a:ext cx="224599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S/I</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increases</a:t>
            </a:r>
            <a:r>
              <a:rPr kumimoji="0" sz="18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24.2</a:t>
            </a:r>
            <a:r>
              <a:rPr kumimoji="0" sz="18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dB.</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251</a:t>
            </a:fld>
            <a:endParaRPr kumimoji="0" sz="1200" b="0" i="0" u="none" strike="noStrike" kern="0" cap="none" spc="-25" normalizeH="0" baseline="0" noProof="0" dirty="0">
              <a:ln>
                <a:noFill/>
              </a:ln>
              <a:solidFill>
                <a:srgbClr val="888888"/>
              </a:solidFill>
              <a:effectLst/>
              <a:uLnTx/>
              <a:uFillTx/>
              <a:latin typeface="Arial MT"/>
            </a:endParaRPr>
          </a:p>
        </p:txBody>
      </p:sp>
      <p:sp>
        <p:nvSpPr>
          <p:cNvPr id="17" name="object 17"/>
          <p:cNvSpPr txBox="1"/>
          <p:nvPr/>
        </p:nvSpPr>
        <p:spPr>
          <a:xfrm>
            <a:off x="8448081" y="6639430"/>
            <a:ext cx="61595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15"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251</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440307"/>
            <a:ext cx="8054340" cy="3698875"/>
          </a:xfrm>
          <a:prstGeom prst="rect">
            <a:avLst/>
          </a:prstGeom>
        </p:spPr>
        <p:txBody>
          <a:bodyPr vert="horz" wrap="square" lIns="0" tIns="88900" rIns="0" bIns="0" rtlCol="0">
            <a:spAutoFit/>
          </a:bodyPr>
          <a:lstStyle/>
          <a:p>
            <a:pPr marL="281940" marR="0" lvl="0" indent="-269240" defTabSz="914400" eaLnBrk="1" fontAlgn="auto" latinLnBrk="0" hangingPunct="1">
              <a:lnSpc>
                <a:spcPct val="100000"/>
              </a:lnSpc>
              <a:spcBef>
                <a:spcPts val="700"/>
              </a:spcBef>
              <a:spcAft>
                <a:spcPts val="0"/>
              </a:spcAft>
              <a:buClr>
                <a:srgbClr val="5F5F5F"/>
              </a:buClr>
              <a:buSzTx/>
              <a:buFont typeface="Wingdings"/>
              <a:buChar char=""/>
              <a:tabLst>
                <a:tab pos="28194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penalty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sectoring: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675640" marR="891540" lvl="0" indent="0" defTabSz="914400" eaLnBrk="1" fontAlgn="auto" latinLnBrk="0" hangingPunct="1">
              <a:lnSpc>
                <a:spcPts val="3479"/>
              </a:lnSpc>
              <a:spcBef>
                <a:spcPts val="21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antennas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station.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decrease</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trunkung</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efficiency</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due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channel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018540" marR="0" lvl="0" indent="0" defTabSz="914400" eaLnBrk="1" fontAlgn="auto" latinLnBrk="0" hangingPunct="1">
              <a:lnSpc>
                <a:spcPts val="2665"/>
              </a:lnSpc>
              <a:spcBef>
                <a:spcPts val="0"/>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sectoring.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018540" marR="1179830" lvl="0" indent="-342900" defTabSz="914400" eaLnBrk="1" fontAlgn="auto" latinLnBrk="0" hangingPunct="1">
              <a:lnSpc>
                <a:spcPct val="100000"/>
              </a:lnSpc>
              <a:spcBef>
                <a:spcPts val="6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increased</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usually</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a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major</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concern.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1940" marR="5080" lvl="0" indent="-269875" algn="just" defTabSz="914400" eaLnBrk="1" fontAlgn="auto" latinLnBrk="0" hangingPunct="1">
              <a:lnSpc>
                <a:spcPct val="100000"/>
              </a:lnSpc>
              <a:spcBef>
                <a:spcPts val="600"/>
              </a:spcBef>
              <a:spcAft>
                <a:spcPts val="0"/>
              </a:spcAft>
              <a:buClr>
                <a:srgbClr val="5F5F5F"/>
              </a:buClr>
              <a:buSzTx/>
              <a:buFont typeface="Wingdings"/>
              <a:buChar char=""/>
              <a:tabLst>
                <a:tab pos="28194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Some</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operators</a:t>
            </a:r>
            <a:r>
              <a:rPr kumimoji="0" sz="2400" b="0" i="0" u="none" strike="noStrike" kern="0" cap="none" spc="20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shy</a:t>
            </a:r>
            <a:r>
              <a:rPr kumimoji="0" sz="24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away</a:t>
            </a:r>
            <a:r>
              <a:rPr kumimoji="0" sz="24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1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sectoring</a:t>
            </a:r>
            <a:r>
              <a:rPr kumimoji="0" sz="24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approach,</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because</a:t>
            </a:r>
            <a:r>
              <a:rPr kumimoji="0" sz="2400" b="0" i="0" u="none" strike="noStrike" kern="0" cap="none" spc="1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it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breaks</a:t>
            </a:r>
            <a:r>
              <a:rPr kumimoji="0" sz="2400" b="0" i="0" u="none" strike="noStrike" kern="0" cap="none" spc="2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up</a:t>
            </a:r>
            <a:r>
              <a:rPr kumimoji="0" sz="2400" b="0" i="0" u="none" strike="noStrike" kern="0" cap="none" spc="2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available</a:t>
            </a:r>
            <a:r>
              <a:rPr kumimoji="0" sz="2400" b="0" i="0" u="none" strike="noStrike" kern="0" cap="none" spc="2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trunked</a:t>
            </a:r>
            <a:r>
              <a:rPr kumimoji="0" sz="2400" b="0" i="0" u="none" strike="noStrike" kern="0" cap="none" spc="2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pool</a:t>
            </a:r>
            <a:r>
              <a:rPr kumimoji="0" sz="2400" b="0" i="0" u="none" strike="noStrike" kern="0" cap="none" spc="2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into</a:t>
            </a:r>
            <a:r>
              <a:rPr kumimoji="0" sz="2400" b="0" i="0" u="none" strike="noStrike" kern="0" cap="none" spc="2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several</a:t>
            </a:r>
            <a:r>
              <a:rPr kumimoji="0" sz="2400" b="0" i="0" u="none" strike="noStrike" kern="0" cap="none" spc="2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small</a:t>
            </a:r>
            <a:r>
              <a:rPr kumimoji="0" sz="2400" b="0" i="0" u="none" strike="noStrike" kern="0" cap="none" spc="2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pools,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decreases</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trunking</a:t>
            </a:r>
            <a:r>
              <a:rPr kumimoji="0" sz="24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efficiency.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252</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252</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7588250" cy="756920"/>
          </a:xfrm>
          <a:prstGeom prst="rect">
            <a:avLst/>
          </a:prstGeom>
        </p:spPr>
        <p:txBody>
          <a:bodyPr vert="horz" wrap="square" lIns="0" tIns="12700" rIns="0" bIns="0" rtlCol="0">
            <a:spAutoFit/>
          </a:bodyPr>
          <a:lstStyle/>
          <a:p>
            <a:pPr marL="280670" marR="5080" lvl="0" indent="-268605"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Repeaters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provide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dedicated</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coverage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for</a:t>
            </a:r>
            <a:r>
              <a:rPr kumimoji="0" sz="2400" b="0" i="0"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hard-to-reach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areas,</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such</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within</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buildings,</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valleys</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tunnels.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241249" rIns="0" bIns="0" rtlCol="0">
            <a:spAutoFit/>
          </a:bodyPr>
          <a:lstStyle/>
          <a:p>
            <a:pPr marL="12700">
              <a:lnSpc>
                <a:spcPct val="100000"/>
              </a:lnSpc>
              <a:spcBef>
                <a:spcPts val="100"/>
              </a:spcBef>
            </a:pPr>
            <a:r>
              <a:rPr spc="-155" dirty="0"/>
              <a:t>Repeaters</a:t>
            </a:r>
            <a:r>
              <a:rPr spc="-235" dirty="0"/>
              <a:t> </a:t>
            </a:r>
            <a:r>
              <a:rPr spc="-120" dirty="0"/>
              <a:t>for</a:t>
            </a:r>
            <a:r>
              <a:rPr spc="-325" dirty="0"/>
              <a:t> </a:t>
            </a:r>
            <a:r>
              <a:rPr spc="-135" dirty="0"/>
              <a:t>Range</a:t>
            </a:r>
            <a:r>
              <a:rPr spc="-190" dirty="0"/>
              <a:t> </a:t>
            </a:r>
            <a:r>
              <a:rPr spc="-125" dirty="0"/>
              <a:t>Extension</a:t>
            </a:r>
          </a:p>
        </p:txBody>
      </p:sp>
      <p:pic>
        <p:nvPicPr>
          <p:cNvPr id="4" name="object 4"/>
          <p:cNvPicPr/>
          <p:nvPr/>
        </p:nvPicPr>
        <p:blipFill>
          <a:blip r:embed="rId2" cstate="print"/>
          <a:stretch>
            <a:fillRect/>
          </a:stretch>
        </p:blipFill>
        <p:spPr>
          <a:xfrm>
            <a:off x="762000" y="2514570"/>
            <a:ext cx="6858000" cy="430733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253</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253</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8047990" cy="1123315"/>
          </a:xfrm>
          <a:prstGeom prst="rect">
            <a:avLst/>
          </a:prstGeom>
        </p:spPr>
        <p:txBody>
          <a:bodyPr vert="horz" wrap="square" lIns="0" tIns="12700" rIns="0" bIns="0" rtlCol="0">
            <a:spAutoFit/>
          </a:bodyPr>
          <a:lstStyle/>
          <a:p>
            <a:pPr marL="280670" marR="0" lvl="0" indent="-267970"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When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sectoring</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employed,</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increased</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number</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of</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80670" marR="5080" lvl="0" indent="0" defTabSz="914400" eaLnBrk="1" fontAlgn="auto" latinLnBrk="0" hangingPunct="1">
              <a:lnSpc>
                <a:spcPct val="100000"/>
              </a:lnSpc>
              <a:spcBef>
                <a:spcPts val="0"/>
              </a:spcBef>
              <a:spcAft>
                <a:spcPts val="0"/>
              </a:spcAft>
              <a:buClrTx/>
              <a:buSzTx/>
              <a:buFontTx/>
              <a:buNone/>
              <a:tabLst>
                <a:tab pos="759333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handoffs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results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load</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MSC.</a:t>
            </a:r>
            <a:r>
              <a:rPr kumimoji="0" sz="24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solution</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this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problem</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Microcell</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Zone</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Concept.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title"/>
          </p:nvPr>
        </p:nvSpPr>
        <p:spPr>
          <a:xfrm>
            <a:off x="383540" y="375869"/>
            <a:ext cx="4321175" cy="574675"/>
          </a:xfrm>
          <a:prstGeom prst="rect">
            <a:avLst/>
          </a:prstGeom>
        </p:spPr>
        <p:txBody>
          <a:bodyPr vert="horz" wrap="square" lIns="0" tIns="12700" rIns="0" bIns="0" rtlCol="0">
            <a:spAutoFit/>
          </a:bodyPr>
          <a:lstStyle/>
          <a:p>
            <a:pPr marL="12700">
              <a:lnSpc>
                <a:spcPct val="100000"/>
              </a:lnSpc>
              <a:spcBef>
                <a:spcPts val="100"/>
              </a:spcBef>
            </a:pPr>
            <a:r>
              <a:rPr spc="-160" dirty="0"/>
              <a:t>Microcell</a:t>
            </a:r>
            <a:r>
              <a:rPr spc="-235" dirty="0"/>
              <a:t> </a:t>
            </a:r>
            <a:r>
              <a:rPr spc="-125" dirty="0"/>
              <a:t>Zone</a:t>
            </a:r>
            <a:r>
              <a:rPr spc="-180" dirty="0"/>
              <a:t> </a:t>
            </a:r>
            <a:r>
              <a:rPr spc="-110" dirty="0"/>
              <a:t>Concept</a:t>
            </a:r>
          </a:p>
        </p:txBody>
      </p:sp>
      <p:pic>
        <p:nvPicPr>
          <p:cNvPr id="4" name="object 4"/>
          <p:cNvPicPr/>
          <p:nvPr/>
        </p:nvPicPr>
        <p:blipFill>
          <a:blip r:embed="rId2" cstate="print"/>
          <a:stretch>
            <a:fillRect/>
          </a:stretch>
        </p:blipFill>
        <p:spPr>
          <a:xfrm>
            <a:off x="1295400" y="2667000"/>
            <a:ext cx="4829175" cy="405765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254</a:t>
            </a:fld>
            <a:endParaRPr kumimoji="0" sz="1200" b="0" i="0" u="none" strike="noStrike" kern="0" cap="none" spc="-25" normalizeH="0" baseline="0" noProof="0" dirty="0">
              <a:ln>
                <a:noFill/>
              </a:ln>
              <a:solidFill>
                <a:srgbClr val="888888"/>
              </a:solidFill>
              <a:effectLst/>
              <a:uLnTx/>
              <a:uFillTx/>
              <a:latin typeface="Arial MT"/>
            </a:endParaRPr>
          </a:p>
        </p:txBody>
      </p:sp>
      <p:sp>
        <p:nvSpPr>
          <p:cNvPr id="6" name="object 6"/>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254</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1516507"/>
            <a:ext cx="7924165" cy="3586479"/>
          </a:xfrm>
          <a:prstGeom prst="rect">
            <a:avLst/>
          </a:prstGeom>
        </p:spPr>
        <p:txBody>
          <a:bodyPr vert="horz" wrap="square" lIns="0" tIns="12700" rIns="0" bIns="0" rtlCol="0">
            <a:spAutoFit/>
          </a:bodyPr>
          <a:lstStyle/>
          <a:p>
            <a:pPr marL="280670" marR="148590" lvl="0" indent="-268605" defTabSz="914400" eaLnBrk="1" fontAlgn="auto" latinLnBrk="0" hangingPunct="1">
              <a:lnSpc>
                <a:spcPct val="100000"/>
              </a:lnSpc>
              <a:spcBef>
                <a:spcPts val="1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Antennas</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placed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outer edges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 the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Each</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of</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three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zone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sites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connected</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station.</a:t>
            </a:r>
            <a:r>
              <a:rPr kumimoji="0" sz="2400" b="0" i="0" u="none" strike="noStrike" kern="0" cap="none" spc="-1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Any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base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station</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may</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assigned</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any</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zone.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79400" marR="5080" lvl="0" indent="-267335" algn="just" defTabSz="914400" eaLnBrk="1" fontAlgn="auto" latinLnBrk="0" hangingPunct="1">
              <a:lnSpc>
                <a:spcPct val="100000"/>
              </a:lnSpc>
              <a:spcBef>
                <a:spcPts val="600"/>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1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mobile</a:t>
            </a:r>
            <a:r>
              <a:rPr kumimoji="0" sz="2400" b="0" i="0" u="none" strike="noStrike" kern="0" cap="none" spc="1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travels</a:t>
            </a:r>
            <a:r>
              <a:rPr kumimoji="0" sz="2400" b="0" i="0" u="none" strike="noStrike" kern="0" cap="none" spc="1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1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one</a:t>
            </a:r>
            <a:r>
              <a:rPr kumimoji="0" sz="2400" b="0" i="0"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zone</a:t>
            </a:r>
            <a:r>
              <a:rPr kumimoji="0" sz="2400" b="0" i="0"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another</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within</a:t>
            </a:r>
            <a:r>
              <a:rPr kumimoji="0" sz="2400" b="0" i="0" u="none" strike="noStrike" kern="0" cap="none" spc="1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cell,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20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retains</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same</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04"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base</a:t>
            </a:r>
            <a:r>
              <a:rPr kumimoji="0" sz="2400" b="0" i="0" u="none" strike="noStrike" kern="0" cap="none" spc="2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station</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simply</a:t>
            </a:r>
            <a:r>
              <a:rPr kumimoji="0" sz="2400" b="0" i="0" u="none" strike="noStrike" kern="0" cap="none" spc="2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switches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different</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zone</a:t>
            </a:r>
            <a:r>
              <a:rPr kumimoji="0" sz="24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site.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279400" marR="736600" lvl="0" indent="-267335" algn="just" defTabSz="914400" eaLnBrk="1" fontAlgn="auto" latinLnBrk="0" hangingPunct="1">
              <a:lnSpc>
                <a:spcPct val="100000"/>
              </a:lnSpc>
              <a:spcBef>
                <a:spcPts val="605"/>
              </a:spcBef>
              <a:spcAft>
                <a:spcPts val="0"/>
              </a:spcAft>
              <a:buClr>
                <a:srgbClr val="5F5F5F"/>
              </a:buClr>
              <a:buSzTx/>
              <a:buFont typeface="Wingdings"/>
              <a:buChar char=""/>
              <a:tabLst>
                <a:tab pos="280670"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advantage</a:t>
            </a:r>
            <a:r>
              <a:rPr kumimoji="0" sz="2400" b="0" i="0" u="none" strike="noStrike" kern="0" cap="none" spc="1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zone</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technique</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0"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co-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channel</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interference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cellular</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reduced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17930" marR="0" lvl="0" indent="0" algn="just" defTabSz="914400" eaLnBrk="1" fontAlgn="auto" latinLnBrk="0" hangingPunct="1">
              <a:lnSpc>
                <a:spcPct val="100000"/>
              </a:lnSpc>
              <a:spcBef>
                <a:spcPts val="91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85" normalizeH="0" baseline="0" noProof="0" dirty="0">
                <a:ln>
                  <a:noFill/>
                </a:ln>
                <a:solidFill>
                  <a:sysClr val="windowText" lastClr="000000"/>
                </a:solidFill>
                <a:effectLst/>
                <a:uLnTx/>
                <a:uFillTx/>
                <a:latin typeface="Symbol"/>
                <a:cs typeface="Symbol"/>
              </a:rPr>
              <a:t></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18</a:t>
            </a:r>
            <a:r>
              <a:rPr kumimoji="0" sz="2400" b="0" i="0" u="none" strike="noStrike" kern="0" cap="none" spc="27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dB</a:t>
            </a:r>
            <a:r>
              <a:rPr kumimoji="0" sz="2400" b="0" i="1"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3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229"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1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7</a:t>
            </a:r>
            <a:r>
              <a:rPr kumimoji="0" sz="2400" b="0" i="0" u="none" strike="noStrike" kern="0" cap="none" spc="1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3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D/R</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2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4.6</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255</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255</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28" y="15"/>
            <a:ext cx="9141333" cy="6857984"/>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256</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256</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0040" y="1446402"/>
            <a:ext cx="6026785" cy="3645535"/>
          </a:xfrm>
          <a:prstGeom prst="rect">
            <a:avLst/>
          </a:prstGeom>
        </p:spPr>
        <p:txBody>
          <a:bodyPr vert="horz" wrap="square" lIns="0" tIns="84455" rIns="0" bIns="0" rtlCol="0">
            <a:spAutoFit/>
          </a:bodyPr>
          <a:lstStyle/>
          <a:p>
            <a:pPr marL="76200" marR="0" lvl="0" indent="0" defTabSz="914400" eaLnBrk="1" fontAlgn="auto" latinLnBrk="0" hangingPunct="1">
              <a:lnSpc>
                <a:spcPct val="100000"/>
              </a:lnSpc>
              <a:spcBef>
                <a:spcPts val="665"/>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175" b="0" i="1" u="none" strike="noStrike" kern="0" cap="none" spc="0" normalizeH="0" baseline="-19157" noProof="0" dirty="0">
                <a:ln>
                  <a:noFill/>
                </a:ln>
                <a:solidFill>
                  <a:sysClr val="windowText" lastClr="000000"/>
                </a:solidFill>
                <a:effectLst/>
                <a:uLnTx/>
                <a:uFillTx/>
                <a:latin typeface="Times New Roman"/>
                <a:cs typeface="Times New Roman"/>
              </a:rPr>
              <a:t>Z</a:t>
            </a:r>
            <a:r>
              <a:rPr kumimoji="0" sz="2175" b="0" i="1" u="none" strike="noStrike" kern="0" cap="none" spc="719" normalizeH="0" baseline="-19157"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175" b="0" i="1" u="none" strike="noStrike" kern="0" cap="none" spc="0" normalizeH="0" baseline="-19157" noProof="0" dirty="0">
                <a:ln>
                  <a:noFill/>
                </a:ln>
                <a:solidFill>
                  <a:sysClr val="windowText" lastClr="000000"/>
                </a:solidFill>
                <a:effectLst/>
                <a:uLnTx/>
                <a:uFillTx/>
                <a:latin typeface="Times New Roman"/>
                <a:cs typeface="Times New Roman"/>
              </a:rPr>
              <a:t>Z</a:t>
            </a:r>
            <a:r>
              <a:rPr kumimoji="0" sz="2175" b="0" i="1" u="none" strike="noStrike" kern="0" cap="none" spc="-60" normalizeH="0" baseline="-19157"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Symbol"/>
                <a:cs typeface="Symbol"/>
              </a:rPr>
              <a:t></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4.6</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76200" marR="0" lvl="0" indent="0" defTabSz="914400" eaLnBrk="1" fontAlgn="auto" latinLnBrk="0" hangingPunct="1">
              <a:lnSpc>
                <a:spcPct val="100000"/>
              </a:lnSpc>
              <a:spcBef>
                <a:spcPts val="56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From</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geometry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76200" marR="0" lvl="0" indent="0" defTabSz="914400" eaLnBrk="1" fontAlgn="auto" latinLnBrk="0" hangingPunct="1">
              <a:lnSpc>
                <a:spcPct val="100000"/>
              </a:lnSpc>
              <a:spcBef>
                <a:spcPts val="11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D</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3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R</a:t>
            </a:r>
            <a:r>
              <a:rPr kumimoji="0" sz="2400" b="0" i="1" u="none" strike="noStrike" kern="0" cap="none" spc="-3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0" normalizeH="0" baseline="0" noProof="0" dirty="0">
                <a:ln>
                  <a:noFill/>
                </a:ln>
                <a:solidFill>
                  <a:sysClr val="windowText" lastClr="000000"/>
                </a:solidFill>
                <a:effectLst/>
                <a:uLnTx/>
                <a:uFillTx/>
                <a:latin typeface="Symbol"/>
                <a:cs typeface="Symbol"/>
              </a:rPr>
              <a:t></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3</a:t>
            </a:r>
            <a:r>
              <a:rPr kumimoji="0" sz="2400" b="0" i="0" u="none" strike="noStrike" kern="0" cap="none" spc="100" normalizeH="0" baseline="0" noProof="0" dirty="0">
                <a:ln>
                  <a:noFill/>
                </a:ln>
                <a:solidFill>
                  <a:sysClr val="windowText" lastClr="000000"/>
                </a:solidFill>
                <a:effectLst/>
                <a:uLnTx/>
                <a:uFillTx/>
                <a:latin typeface="Symbol"/>
                <a:cs typeface="Symbol"/>
              </a:rPr>
              <a:t></a:t>
            </a:r>
            <a:r>
              <a:rPr kumimoji="0" sz="2400" b="0" i="1" u="none" strike="noStrike" kern="0" cap="none" spc="100" normalizeH="0" baseline="0" noProof="0" dirty="0">
                <a:ln>
                  <a:noFill/>
                </a:ln>
                <a:solidFill>
                  <a:sysClr val="windowText" lastClr="000000"/>
                </a:solidFill>
                <a:effectLst/>
                <a:uLnTx/>
                <a:uFillTx/>
                <a:latin typeface="Times New Roman"/>
                <a:cs typeface="Times New Roman"/>
              </a:rPr>
              <a:t>N</a:t>
            </a:r>
            <a:r>
              <a:rPr kumimoji="0" sz="2400" b="0" i="1"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70" normalizeH="0" baseline="0" noProof="0" dirty="0">
                <a:ln>
                  <a:noFill/>
                </a:ln>
                <a:solidFill>
                  <a:sysClr val="windowText" lastClr="000000"/>
                </a:solidFill>
                <a:effectLst/>
                <a:uLnTx/>
                <a:uFillTx/>
                <a:latin typeface="Symbol"/>
                <a:cs typeface="Symbol"/>
              </a:rPr>
              <a:t></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3</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76200" marR="0" lvl="0" indent="0" defTabSz="914400" eaLnBrk="1" fontAlgn="auto" latinLnBrk="0" hangingPunct="1">
              <a:lnSpc>
                <a:spcPct val="100000"/>
              </a:lnSpc>
              <a:spcBef>
                <a:spcPts val="565"/>
              </a:spcBef>
              <a:spcAft>
                <a:spcPts val="0"/>
              </a:spcAft>
              <a:buClrTx/>
              <a:buSzTx/>
              <a:buFontTx/>
              <a:buNone/>
              <a:tabLst>
                <a:tab pos="1905000"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7/3=2.33</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Times</a:t>
            </a:r>
            <a:r>
              <a:rPr kumimoji="0" sz="24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increase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capacity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32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76200" marR="0" lvl="0" indent="0" defTabSz="914400" eaLnBrk="1" fontAlgn="auto" latinLnBrk="0" hangingPunct="1">
              <a:lnSpc>
                <a:spcPct val="100000"/>
              </a:lnSpc>
              <a:spcBef>
                <a:spcPts val="5"/>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loss</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trunking</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efficiency</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experienced</a:t>
            </a:r>
            <a:r>
              <a:rPr kumimoji="0" sz="2400" b="0" i="0" u="none" strike="noStrike" kern="0" cap="none" spc="-10" normalizeH="0" baseline="0" noProof="0" dirty="0">
                <a:ln>
                  <a:noFill/>
                </a:ln>
                <a:solidFill>
                  <a:sysClr val="windowText" lastClr="000000"/>
                </a:solidFill>
                <a:effectLst/>
                <a:uLnTx/>
                <a:uFillTx/>
                <a:latin typeface="Arial MT"/>
                <a:cs typeface="Arial MT"/>
              </a:rPr>
              <a:t>.</a:t>
            </a: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0" marR="0" lvl="0" indent="0" defTabSz="914400" eaLnBrk="1" fontAlgn="auto" latinLnBrk="0" hangingPunct="1">
              <a:lnSpc>
                <a:spcPct val="100000"/>
              </a:lnSpc>
              <a:spcBef>
                <a:spcPts val="81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Arial MT"/>
              <a:cs typeface="Arial MT"/>
            </a:endParaRPr>
          </a:p>
          <a:p>
            <a:pPr marL="762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Many</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communication</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this</a:t>
            </a:r>
            <a:r>
              <a:rPr kumimoji="0" sz="24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technique.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257</a:t>
            </a:fld>
            <a:endParaRPr kumimoji="0" sz="1200" b="0" i="0" u="none" strike="noStrike" kern="0" cap="none" spc="-25" normalizeH="0" baseline="0" noProof="0" dirty="0">
              <a:ln>
                <a:noFill/>
              </a:ln>
              <a:solidFill>
                <a:srgbClr val="888888"/>
              </a:solidFill>
              <a:effectLst/>
              <a:uLnTx/>
              <a:uFillTx/>
              <a:latin typeface="Arial MT"/>
            </a:endParaRPr>
          </a:p>
        </p:txBody>
      </p:sp>
      <p:sp>
        <p:nvSpPr>
          <p:cNvPr id="4" name="object 4"/>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257</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8680322" cy="224163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3.8</a:t>
            </a:r>
            <a:r>
              <a:rPr kumimoji="0" lang="en-US"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lang="en-US" sz="2400" b="0" i="0" u="none" strike="noStrike" kern="0" cap="none" spc="0" normalizeH="0" baseline="0" noProof="0" dirty="0">
                <a:ln>
                  <a:noFill/>
                </a:ln>
                <a:solidFill>
                  <a:sysClr val="windowText" lastClr="000000"/>
                </a:solidFill>
                <a:effectLst/>
                <a:uLnTx/>
                <a:uFillTx/>
              </a:rPr>
              <a:t>If an intensive propagation measurement campaign showed that the mobile radio channel provided a propagation path loss exponent of n = 3 instead of four, how would your design decisions in Problem 3.5 change? What is the optimal value of N for the case of n = 3? </a:t>
            </a:r>
            <a:endParaRPr kumimoji="0" lang="en-US" sz="2400" b="0" i="0" u="none" strike="noStrike" kern="0" cap="none" spc="-5" normalizeH="0" baseline="0" noProof="0" dirty="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10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3.10</a:t>
            </a:r>
            <a:r>
              <a:rPr kumimoji="0" lang="en-US" sz="24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3.12</a:t>
            </a:r>
            <a:endParaRPr kumimoji="0" sz="2400" b="0" i="0" u="none" strike="noStrike" kern="0" cap="none" spc="0" normalizeH="0" baseline="0" noProof="0" dirty="0">
              <a:ln>
                <a:noFill/>
              </a:ln>
              <a:solidFill>
                <a:sysClr val="windowText" lastClr="000000"/>
              </a:solidFill>
              <a:effectLst/>
              <a:uLnTx/>
              <a:uFillTx/>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258</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258</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
        <p:nvSpPr>
          <p:cNvPr id="3" name="object 3"/>
          <p:cNvSpPr txBox="1"/>
          <p:nvPr/>
        </p:nvSpPr>
        <p:spPr>
          <a:xfrm>
            <a:off x="383540" y="375869"/>
            <a:ext cx="3534410" cy="574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3600" b="1" i="0" u="none" strike="noStrike" kern="0" cap="none" spc="-130" normalizeH="0" baseline="0" noProof="0" dirty="0">
                <a:ln>
                  <a:noFill/>
                </a:ln>
                <a:solidFill>
                  <a:sysClr val="windowText" lastClr="000000"/>
                </a:solidFill>
                <a:effectLst/>
                <a:uLnTx/>
                <a:uFillTx/>
                <a:latin typeface="Times New Roman"/>
                <a:cs typeface="Times New Roman"/>
              </a:rPr>
              <a:t>HOME</a:t>
            </a:r>
            <a:r>
              <a:rPr kumimoji="0" sz="3600" b="1" i="0" u="none" strike="noStrike" kern="0" cap="none" spc="-330" normalizeH="0" baseline="0" noProof="0" dirty="0">
                <a:ln>
                  <a:noFill/>
                </a:ln>
                <a:solidFill>
                  <a:sysClr val="windowText" lastClr="000000"/>
                </a:solidFill>
                <a:effectLst/>
                <a:uLnTx/>
                <a:uFillTx/>
                <a:latin typeface="Times New Roman"/>
                <a:cs typeface="Times New Roman"/>
              </a:rPr>
              <a:t> </a:t>
            </a:r>
            <a:r>
              <a:rPr kumimoji="0" sz="3600" b="1" i="0" u="none" strike="noStrike" kern="0" cap="none" spc="-120" normalizeH="0" baseline="0" noProof="0" dirty="0">
                <a:ln>
                  <a:noFill/>
                </a:ln>
                <a:solidFill>
                  <a:sysClr val="windowText" lastClr="000000"/>
                </a:solidFill>
                <a:effectLst/>
                <a:uLnTx/>
                <a:uFillTx/>
                <a:latin typeface="Times New Roman"/>
                <a:cs typeface="Times New Roman"/>
              </a:rPr>
              <a:t>WORK</a:t>
            </a:r>
            <a:r>
              <a:rPr kumimoji="0" sz="3600" b="1" i="0" u="none" strike="noStrike" kern="0" cap="none" spc="-270" normalizeH="0" baseline="0" noProof="0" dirty="0">
                <a:ln>
                  <a:noFill/>
                </a:ln>
                <a:solidFill>
                  <a:sysClr val="windowText" lastClr="000000"/>
                </a:solidFill>
                <a:effectLst/>
                <a:uLnTx/>
                <a:uFillTx/>
                <a:latin typeface="Times New Roman"/>
                <a:cs typeface="Times New Roman"/>
              </a:rPr>
              <a:t> </a:t>
            </a:r>
            <a:r>
              <a:rPr kumimoji="0" sz="3600" b="1" i="0" u="none" strike="noStrike" kern="0" cap="none" spc="-80" normalizeH="0" baseline="0" noProof="0" dirty="0">
                <a:ln>
                  <a:noFill/>
                </a:ln>
                <a:solidFill>
                  <a:sysClr val="windowText" lastClr="000000"/>
                </a:solidFill>
                <a:effectLst/>
                <a:uLnTx/>
                <a:uFillTx/>
                <a:latin typeface="Times New Roman"/>
                <a:cs typeface="Times New Roman"/>
              </a:rPr>
              <a:t>2.1</a:t>
            </a:r>
            <a:endParaRPr kumimoji="0" sz="36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C497-4772-2362-609D-0BDA35004DA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C113D5-3214-9B74-079D-87BF1FE448A3}"/>
              </a:ext>
            </a:extLst>
          </p:cNvPr>
          <p:cNvSpPr txBox="1"/>
          <p:nvPr/>
        </p:nvSpPr>
        <p:spPr>
          <a:xfrm>
            <a:off x="80137" y="1371600"/>
            <a:ext cx="9023095" cy="5352747"/>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3.10</a:t>
            </a:r>
            <a:r>
              <a:rPr kumimoji="0" lang="en-US" sz="1800" b="0" i="0" u="none" strike="noStrike" kern="0" cap="none" spc="0" normalizeH="0" baseline="0" noProof="0" dirty="0">
                <a:ln>
                  <a:noFill/>
                </a:ln>
                <a:solidFill>
                  <a:sysClr val="windowText" lastClr="000000"/>
                </a:solidFill>
                <a:effectLst/>
                <a:uLnTx/>
                <a:uFillTx/>
                <a:latin typeface="Times New Roman"/>
                <a:cs typeface="Times New Roman"/>
              </a:rPr>
              <a:t>: </a:t>
            </a:r>
            <a:r>
              <a:rPr kumimoji="0" lang="en-US" sz="1800" b="0" i="0" u="none" strike="noStrike" kern="0" cap="none" spc="0" normalizeH="0" baseline="0" noProof="0" dirty="0">
                <a:ln>
                  <a:noFill/>
                </a:ln>
                <a:solidFill>
                  <a:sysClr val="windowText" lastClr="000000"/>
                </a:solidFill>
                <a:effectLst/>
                <a:uLnTx/>
                <a:uFillTx/>
              </a:rPr>
              <a:t>A total of 24 MHz of bandwidth is allocated to a particular FDD cellular telephone system that uses two 30kHz simplex channels to provide full duplex voice and control channels. Assume each cell phone user generates 0.1 Erlangs of traffic. Assume Erlang B is used.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(a) Find the number of channels in each cell for a four-cell reuse system.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(b) If each cell is to offer capacity that is 90% of perfect scheduling, find the maximum number of users that can be supported per cell where omnidirectional antennas are used at each base station.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(c) What is the blocking probability of the system in (b) when the maximum number of users are available in the user pool?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(d) If each new cell now uses 120" sectoring instead of omnidirectional for each base station, what is the new total number of users that can be supported per cell for the same blocking probability as in (c)?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(e) If each cell covers five square kilometers, then how many subscribers could be supported in an urban market that is 50 km x 50 km for the case of omnidirectional base station antennas?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 If each cell covers five square kilometers, then how many subscribers could be supported in an urban market that is 50 km x 50 km for the case of 120" sectored antennas? </a:t>
            </a:r>
            <a:r>
              <a:rPr kumimoji="0" lang="en-US" sz="1800" b="0" i="0" u="none" strike="noStrike" kern="0" cap="none" spc="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p:txBody>
      </p:sp>
      <p:sp>
        <p:nvSpPr>
          <p:cNvPr id="4" name="object 4">
            <a:extLst>
              <a:ext uri="{FF2B5EF4-FFF2-40B4-BE49-F238E27FC236}">
                <a16:creationId xmlns:a16="http://schemas.microsoft.com/office/drawing/2014/main" id="{A7DEBBFE-3091-8E7F-8C6B-6608F9F05FCF}"/>
              </a:ext>
            </a:extLst>
          </p:cNvPr>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259</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a:extLst>
              <a:ext uri="{FF2B5EF4-FFF2-40B4-BE49-F238E27FC236}">
                <a16:creationId xmlns:a16="http://schemas.microsoft.com/office/drawing/2014/main" id="{3754316D-AC46-5266-C7D3-E07A2B4BE02A}"/>
              </a:ext>
            </a:extLst>
          </p:cNvPr>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259</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
        <p:nvSpPr>
          <p:cNvPr id="3" name="object 3">
            <a:extLst>
              <a:ext uri="{FF2B5EF4-FFF2-40B4-BE49-F238E27FC236}">
                <a16:creationId xmlns:a16="http://schemas.microsoft.com/office/drawing/2014/main" id="{78B86367-4DCA-CC70-4E47-5912CDBDF265}"/>
              </a:ext>
            </a:extLst>
          </p:cNvPr>
          <p:cNvSpPr txBox="1"/>
          <p:nvPr/>
        </p:nvSpPr>
        <p:spPr>
          <a:xfrm>
            <a:off x="383540" y="375869"/>
            <a:ext cx="3534410" cy="574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3600" b="1" i="0" u="none" strike="noStrike" kern="0" cap="none" spc="-130" normalizeH="0" baseline="0" noProof="0" dirty="0">
                <a:ln>
                  <a:noFill/>
                </a:ln>
                <a:solidFill>
                  <a:sysClr val="windowText" lastClr="000000"/>
                </a:solidFill>
                <a:effectLst/>
                <a:uLnTx/>
                <a:uFillTx/>
                <a:latin typeface="Times New Roman"/>
                <a:cs typeface="Times New Roman"/>
              </a:rPr>
              <a:t>HOME</a:t>
            </a:r>
            <a:r>
              <a:rPr kumimoji="0" sz="3600" b="1" i="0" u="none" strike="noStrike" kern="0" cap="none" spc="-330" normalizeH="0" baseline="0" noProof="0" dirty="0">
                <a:ln>
                  <a:noFill/>
                </a:ln>
                <a:solidFill>
                  <a:sysClr val="windowText" lastClr="000000"/>
                </a:solidFill>
                <a:effectLst/>
                <a:uLnTx/>
                <a:uFillTx/>
                <a:latin typeface="Times New Roman"/>
                <a:cs typeface="Times New Roman"/>
              </a:rPr>
              <a:t> </a:t>
            </a:r>
            <a:r>
              <a:rPr kumimoji="0" sz="3600" b="1" i="0" u="none" strike="noStrike" kern="0" cap="none" spc="-120" normalizeH="0" baseline="0" noProof="0" dirty="0">
                <a:ln>
                  <a:noFill/>
                </a:ln>
                <a:solidFill>
                  <a:sysClr val="windowText" lastClr="000000"/>
                </a:solidFill>
                <a:effectLst/>
                <a:uLnTx/>
                <a:uFillTx/>
                <a:latin typeface="Times New Roman"/>
                <a:cs typeface="Times New Roman"/>
              </a:rPr>
              <a:t>WORK</a:t>
            </a:r>
            <a:r>
              <a:rPr kumimoji="0" sz="3600" b="1" i="0" u="none" strike="noStrike" kern="0" cap="none" spc="-270" normalizeH="0" baseline="0" noProof="0" dirty="0">
                <a:ln>
                  <a:noFill/>
                </a:ln>
                <a:solidFill>
                  <a:sysClr val="windowText" lastClr="000000"/>
                </a:solidFill>
                <a:effectLst/>
                <a:uLnTx/>
                <a:uFillTx/>
                <a:latin typeface="Times New Roman"/>
                <a:cs typeface="Times New Roman"/>
              </a:rPr>
              <a:t> </a:t>
            </a:r>
            <a:r>
              <a:rPr kumimoji="0" sz="3600" b="1" i="0" u="none" strike="noStrike" kern="0" cap="none" spc="-80" normalizeH="0" baseline="0" noProof="0" dirty="0">
                <a:ln>
                  <a:noFill/>
                </a:ln>
                <a:solidFill>
                  <a:sysClr val="windowText" lastClr="000000"/>
                </a:solidFill>
                <a:effectLst/>
                <a:uLnTx/>
                <a:uFillTx/>
                <a:latin typeface="Times New Roman"/>
                <a:cs typeface="Times New Roman"/>
              </a:rPr>
              <a:t>2.1</a:t>
            </a:r>
            <a:endParaRPr kumimoji="0" sz="3600" b="0" i="0" u="none" strike="noStrike" kern="0" cap="none" spc="0" normalizeH="0" baseline="0" noProof="0">
              <a:ln>
                <a:noFill/>
              </a:ln>
              <a:solidFill>
                <a:sysClr val="windowText" lastClr="000000"/>
              </a:solidFill>
              <a:effectLst/>
              <a:uLnTx/>
              <a:uFillTx/>
              <a:latin typeface="Times New Roman"/>
              <a:cs typeface="Times New Roman"/>
            </a:endParaRPr>
          </a:p>
        </p:txBody>
      </p:sp>
    </p:spTree>
    <p:extLst>
      <p:ext uri="{BB962C8B-B14F-4D97-AF65-F5344CB8AC3E}">
        <p14:creationId xmlns:p14="http://schemas.microsoft.com/office/powerpoint/2010/main" val="244655442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F904-5768-2DEE-2B46-714EB103BC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FF76F4-B094-209A-7FE1-E68893CB342E}"/>
              </a:ext>
            </a:extLst>
          </p:cNvPr>
          <p:cNvSpPr txBox="1"/>
          <p:nvPr/>
        </p:nvSpPr>
        <p:spPr>
          <a:xfrm>
            <a:off x="80137" y="1371600"/>
            <a:ext cx="8983725" cy="394210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IN" sz="1800" b="0" i="0" u="none" strike="noStrike" kern="0" cap="none" spc="-20" normalizeH="0" baseline="0" noProof="0" dirty="0">
                <a:ln>
                  <a:noFill/>
                </a:ln>
                <a:solidFill>
                  <a:sysClr val="windowText" lastClr="000000"/>
                </a:solidFill>
                <a:effectLst/>
                <a:uLnTx/>
                <a:uFillTx/>
                <a:latin typeface="Times New Roman"/>
                <a:cs typeface="Times New Roman"/>
              </a:rPr>
              <a:t>3.12: </a:t>
            </a:r>
            <a:r>
              <a:rPr kumimoji="0" lang="en-US" sz="1800" b="0" i="0" u="none" strike="noStrike" kern="0" cap="none" spc="0" normalizeH="0" baseline="0" noProof="0" dirty="0">
                <a:ln>
                  <a:noFill/>
                </a:ln>
                <a:solidFill>
                  <a:sysClr val="windowText" lastClr="000000"/>
                </a:solidFill>
                <a:effectLst/>
                <a:uLnTx/>
                <a:uFillTx/>
              </a:rPr>
              <a:t>Assume that a cell named "Radio Knob" has 57 channels, each with an effective radiated power of 32 Wand a cell radius of 10 km. The path loss is 40 dB per decade. The grade of service is established to be a probability of blocking of 5% (assuming blocked calls are cleared). Assume the average call length is two minutes, and each user averages two calls per hour. Further, assume the cell has just reached its maximum capacity and must be split into four new microcells to provide four times the capacity in the same area.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(a) What is the current capacity of the "Radio Knob" cell?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(b) What is the radius and transmit power of the new cells?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(c) How many channels are needed in each of the new cells to maintain frequency reuse stability in the system? </a:t>
            </a:r>
          </a:p>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(d) If traffic is uniformly distributed, what is the new traffic carried by each new cell? Will the probability of blocking in these new cells be below 0.1% after the split? Assume 57 channels are used at the original base station and the split cells. </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p:txBody>
      </p:sp>
      <p:sp>
        <p:nvSpPr>
          <p:cNvPr id="4" name="object 4">
            <a:extLst>
              <a:ext uri="{FF2B5EF4-FFF2-40B4-BE49-F238E27FC236}">
                <a16:creationId xmlns:a16="http://schemas.microsoft.com/office/drawing/2014/main" id="{B5801F21-8B52-B9A2-583D-EFA79F418D29}"/>
              </a:ext>
            </a:extLst>
          </p:cNvPr>
          <p:cNvSpPr txBox="1">
            <a:spLocks noGrp="1"/>
          </p:cNvSpPr>
          <p:nvPr>
            <p:ph type="sldNum" sz="quarter" idx="7"/>
          </p:nvPr>
        </p:nvSpPr>
        <p:spPr>
          <a:prstGeom prst="rect">
            <a:avLst/>
          </a:prstGeom>
        </p:spPr>
        <p:txBody>
          <a:bodyPr vert="horz" wrap="square" lIns="0" tIns="0" rIns="0" bIns="0" rtlCol="0">
            <a:spAutoFit/>
          </a:bodyPr>
          <a:lstStyle/>
          <a:p>
            <a:pPr marL="38100" marR="0" lvl="0" indent="0" defTabSz="914400" eaLnBrk="1" fontAlgn="auto" latinLnBrk="0" hangingPunct="1">
              <a:lnSpc>
                <a:spcPts val="1425"/>
              </a:lnSpc>
              <a:spcBef>
                <a:spcPts val="0"/>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srgbClr val="888888"/>
                </a:solidFill>
                <a:effectLst/>
                <a:uLnTx/>
                <a:uFillTx/>
                <a:latin typeface="Arial MT"/>
              </a:rPr>
              <a:pPr marL="38100" marR="0" lvl="0" indent="0" defTabSz="914400" eaLnBrk="1" fontAlgn="auto" latinLnBrk="0" hangingPunct="1">
                <a:lnSpc>
                  <a:spcPts val="1425"/>
                </a:lnSpc>
                <a:spcBef>
                  <a:spcPts val="0"/>
                </a:spcBef>
                <a:spcAft>
                  <a:spcPts val="0"/>
                </a:spcAft>
                <a:buClrTx/>
                <a:buSzTx/>
                <a:buFontTx/>
                <a:buNone/>
                <a:tabLst/>
                <a:defRPr/>
              </a:pPr>
              <a:t>260</a:t>
            </a:fld>
            <a:endParaRPr kumimoji="0" sz="1200" b="0" i="0" u="none" strike="noStrike" kern="0" cap="none" spc="-25" normalizeH="0" baseline="0" noProof="0" dirty="0">
              <a:ln>
                <a:noFill/>
              </a:ln>
              <a:solidFill>
                <a:srgbClr val="888888"/>
              </a:solidFill>
              <a:effectLst/>
              <a:uLnTx/>
              <a:uFillTx/>
              <a:latin typeface="Arial MT"/>
            </a:endParaRPr>
          </a:p>
        </p:txBody>
      </p:sp>
      <p:sp>
        <p:nvSpPr>
          <p:cNvPr id="5" name="object 5">
            <a:extLst>
              <a:ext uri="{FF2B5EF4-FFF2-40B4-BE49-F238E27FC236}">
                <a16:creationId xmlns:a16="http://schemas.microsoft.com/office/drawing/2014/main" id="{C45D5F9F-050C-1F6B-73B4-A620B2FD73F4}"/>
              </a:ext>
            </a:extLst>
          </p:cNvPr>
          <p:cNvSpPr txBox="1"/>
          <p:nvPr/>
        </p:nvSpPr>
        <p:spPr>
          <a:xfrm>
            <a:off x="4585842" y="6639430"/>
            <a:ext cx="4478020" cy="182245"/>
          </a:xfrm>
          <a:prstGeom prst="rect">
            <a:avLst/>
          </a:prstGeom>
        </p:spPr>
        <p:txBody>
          <a:bodyPr vert="horz" wrap="square" lIns="0" tIns="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MT"/>
                <a:cs typeface="Arial MT"/>
              </a:rPr>
              <a:t>Pilani,</a:t>
            </a:r>
            <a:r>
              <a:rPr kumimoji="0" sz="1100" b="0" i="0" u="none" strike="noStrike" kern="0" cap="none" spc="-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Deemed</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to</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be</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University</a:t>
            </a:r>
            <a:r>
              <a:rPr kumimoji="0" sz="1100" b="0" i="0" u="none" strike="noStrike" kern="0" cap="none" spc="-1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under</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Section</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3</a:t>
            </a:r>
            <a:r>
              <a:rPr kumimoji="0" sz="1100" b="0" i="0" u="none" strike="noStrike" kern="0" cap="none" spc="-3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of</a:t>
            </a:r>
            <a:r>
              <a:rPr kumimoji="0" sz="1100" b="0" i="0" u="none" strike="noStrike" kern="0" cap="none" spc="-40"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UGC</a:t>
            </a:r>
            <a:r>
              <a:rPr kumimoji="0" sz="1100" b="0" i="0" u="none" strike="noStrike" kern="0" cap="none" spc="-35" normalizeH="0" baseline="0" noProof="0" dirty="0">
                <a:ln>
                  <a:noFill/>
                </a:ln>
                <a:solidFill>
                  <a:srgbClr val="0F1141"/>
                </a:solidFill>
                <a:effectLst/>
                <a:uLnTx/>
                <a:uFillTx/>
                <a:latin typeface="Arial MT"/>
                <a:cs typeface="Arial MT"/>
              </a:rPr>
              <a:t> </a:t>
            </a:r>
            <a:r>
              <a:rPr kumimoji="0" sz="1100" b="0" i="0" u="none" strike="noStrike" kern="0" cap="none" spc="0" normalizeH="0" baseline="0" noProof="0" dirty="0">
                <a:ln>
                  <a:noFill/>
                </a:ln>
                <a:solidFill>
                  <a:srgbClr val="0F1141"/>
                </a:solidFill>
                <a:effectLst/>
                <a:uLnTx/>
                <a:uFillTx/>
                <a:latin typeface="Arial MT"/>
                <a:cs typeface="Arial MT"/>
              </a:rPr>
              <a:t>Act,</a:t>
            </a:r>
            <a:r>
              <a:rPr kumimoji="0" sz="1100" b="0" i="0" u="none" strike="noStrike" kern="0" cap="none" spc="-40" normalizeH="0" baseline="0" noProof="0" dirty="0">
                <a:ln>
                  <a:noFill/>
                </a:ln>
                <a:solidFill>
                  <a:srgbClr val="0F1141"/>
                </a:solidFill>
                <a:effectLst/>
                <a:uLnTx/>
                <a:uFillTx/>
                <a:latin typeface="Arial MT"/>
                <a:cs typeface="Arial MT"/>
              </a:rPr>
              <a:t> </a:t>
            </a:r>
            <a:fld id="{81D60167-4931-47E6-BA6A-407CBD079E47}" type="slidenum">
              <a:rPr kumimoji="0" sz="1100" b="0" i="0" u="none" strike="noStrike" kern="0" cap="none" spc="-20" normalizeH="0" baseline="0" noProof="0" dirty="0">
                <a:ln>
                  <a:noFill/>
                </a:ln>
                <a:solidFill>
                  <a:srgbClr val="0F1141"/>
                </a:solidFill>
                <a:effectLst/>
                <a:uLnTx/>
                <a:uFillTx/>
                <a:latin typeface="Arial MT"/>
                <a:cs typeface="Arial MT"/>
              </a:rPr>
              <a:pPr marL="12700" marR="0" lvl="0" indent="0" defTabSz="914400" eaLnBrk="1" fontAlgn="auto" latinLnBrk="0" hangingPunct="1">
                <a:lnSpc>
                  <a:spcPct val="100000"/>
                </a:lnSpc>
                <a:spcBef>
                  <a:spcPts val="0"/>
                </a:spcBef>
                <a:spcAft>
                  <a:spcPts val="0"/>
                </a:spcAft>
                <a:buClrTx/>
                <a:buSzTx/>
                <a:buFontTx/>
                <a:buNone/>
                <a:tabLst/>
                <a:defRPr/>
              </a:pPr>
              <a:t>260</a:t>
            </a:fld>
            <a:r>
              <a:rPr kumimoji="0" sz="1100" b="0" i="0" u="none" strike="noStrike" kern="0" cap="none" spc="-20" normalizeH="0" baseline="0" noProof="0" dirty="0">
                <a:ln>
                  <a:noFill/>
                </a:ln>
                <a:solidFill>
                  <a:srgbClr val="0F1141"/>
                </a:solidFill>
                <a:effectLst/>
                <a:uLnTx/>
                <a:uFillTx/>
                <a:latin typeface="Arial MT"/>
                <a:cs typeface="Arial MT"/>
              </a:rPr>
              <a:t>56</a:t>
            </a:r>
            <a:endParaRPr kumimoji="0" sz="1100" b="0" i="0" u="none" strike="noStrike" kern="0" cap="none" spc="0" normalizeH="0" baseline="0" noProof="0">
              <a:ln>
                <a:noFill/>
              </a:ln>
              <a:solidFill>
                <a:sysClr val="windowText" lastClr="000000"/>
              </a:solidFill>
              <a:effectLst/>
              <a:uLnTx/>
              <a:uFillTx/>
              <a:latin typeface="Arial MT"/>
              <a:cs typeface="Arial MT"/>
            </a:endParaRPr>
          </a:p>
        </p:txBody>
      </p:sp>
      <p:sp>
        <p:nvSpPr>
          <p:cNvPr id="3" name="object 3">
            <a:extLst>
              <a:ext uri="{FF2B5EF4-FFF2-40B4-BE49-F238E27FC236}">
                <a16:creationId xmlns:a16="http://schemas.microsoft.com/office/drawing/2014/main" id="{F74BD343-EAFD-0902-BB7E-A6B0EB3285DE}"/>
              </a:ext>
            </a:extLst>
          </p:cNvPr>
          <p:cNvSpPr txBox="1"/>
          <p:nvPr/>
        </p:nvSpPr>
        <p:spPr>
          <a:xfrm>
            <a:off x="383540" y="375869"/>
            <a:ext cx="3534410" cy="574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3600" b="1" i="0" u="none" strike="noStrike" kern="0" cap="none" spc="-130" normalizeH="0" baseline="0" noProof="0" dirty="0">
                <a:ln>
                  <a:noFill/>
                </a:ln>
                <a:solidFill>
                  <a:sysClr val="windowText" lastClr="000000"/>
                </a:solidFill>
                <a:effectLst/>
                <a:uLnTx/>
                <a:uFillTx/>
                <a:latin typeface="Times New Roman"/>
                <a:cs typeface="Times New Roman"/>
              </a:rPr>
              <a:t>HOME</a:t>
            </a:r>
            <a:r>
              <a:rPr kumimoji="0" sz="3600" b="1" i="0" u="none" strike="noStrike" kern="0" cap="none" spc="-330" normalizeH="0" baseline="0" noProof="0" dirty="0">
                <a:ln>
                  <a:noFill/>
                </a:ln>
                <a:solidFill>
                  <a:sysClr val="windowText" lastClr="000000"/>
                </a:solidFill>
                <a:effectLst/>
                <a:uLnTx/>
                <a:uFillTx/>
                <a:latin typeface="Times New Roman"/>
                <a:cs typeface="Times New Roman"/>
              </a:rPr>
              <a:t> </a:t>
            </a:r>
            <a:r>
              <a:rPr kumimoji="0" sz="3600" b="1" i="0" u="none" strike="noStrike" kern="0" cap="none" spc="-120" normalizeH="0" baseline="0" noProof="0" dirty="0">
                <a:ln>
                  <a:noFill/>
                </a:ln>
                <a:solidFill>
                  <a:sysClr val="windowText" lastClr="000000"/>
                </a:solidFill>
                <a:effectLst/>
                <a:uLnTx/>
                <a:uFillTx/>
                <a:latin typeface="Times New Roman"/>
                <a:cs typeface="Times New Roman"/>
              </a:rPr>
              <a:t>WORK</a:t>
            </a:r>
            <a:r>
              <a:rPr kumimoji="0" sz="3600" b="1" i="0" u="none" strike="noStrike" kern="0" cap="none" spc="-270" normalizeH="0" baseline="0" noProof="0" dirty="0">
                <a:ln>
                  <a:noFill/>
                </a:ln>
                <a:solidFill>
                  <a:sysClr val="windowText" lastClr="000000"/>
                </a:solidFill>
                <a:effectLst/>
                <a:uLnTx/>
                <a:uFillTx/>
                <a:latin typeface="Times New Roman"/>
                <a:cs typeface="Times New Roman"/>
              </a:rPr>
              <a:t> </a:t>
            </a:r>
            <a:r>
              <a:rPr kumimoji="0" sz="3600" b="1" i="0" u="none" strike="noStrike" kern="0" cap="none" spc="-80" normalizeH="0" baseline="0" noProof="0" dirty="0">
                <a:ln>
                  <a:noFill/>
                </a:ln>
                <a:solidFill>
                  <a:sysClr val="windowText" lastClr="000000"/>
                </a:solidFill>
                <a:effectLst/>
                <a:uLnTx/>
                <a:uFillTx/>
                <a:latin typeface="Times New Roman"/>
                <a:cs typeface="Times New Roman"/>
              </a:rPr>
              <a:t>2.1</a:t>
            </a:r>
            <a:endParaRPr kumimoji="0" sz="3600" b="0" i="0" u="none" strike="noStrike" kern="0" cap="none" spc="0" normalizeH="0" baseline="0" noProof="0">
              <a:ln>
                <a:noFill/>
              </a:ln>
              <a:solidFill>
                <a:sysClr val="windowText" lastClr="000000"/>
              </a:solidFill>
              <a:effectLst/>
              <a:uLnTx/>
              <a:uFillTx/>
              <a:latin typeface="Times New Roman"/>
              <a:cs typeface="Times New Roman"/>
            </a:endParaRPr>
          </a:p>
        </p:txBody>
      </p:sp>
    </p:spTree>
    <p:extLst>
      <p:ext uri="{BB962C8B-B14F-4D97-AF65-F5344CB8AC3E}">
        <p14:creationId xmlns:p14="http://schemas.microsoft.com/office/powerpoint/2010/main" val="1566125849"/>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Radio Wave Propagation</a:t>
            </a:r>
          </a:p>
        </p:txBody>
      </p:sp>
      <p:sp>
        <p:nvSpPr>
          <p:cNvPr id="5" name="Content Placeholder 1"/>
          <p:cNvSpPr>
            <a:spLocks noGrp="1"/>
          </p:cNvSpPr>
          <p:nvPr>
            <p:ph idx="1"/>
          </p:nvPr>
        </p:nvSpPr>
        <p:spPr/>
        <p:txBody>
          <a:bodyPr/>
          <a:lstStyle/>
          <a:p>
            <a:r>
              <a:rPr lang="en-US" b="1" dirty="0">
                <a:solidFill>
                  <a:srgbClr val="FF0000"/>
                </a:solidFill>
              </a:rPr>
              <a:t>Radio waves</a:t>
            </a:r>
            <a:r>
              <a:rPr lang="en-US" dirty="0"/>
              <a:t> are a type of electromagnetic radiation with wavelengths in the Radio  spectrum (3 kHz to 300GHz) </a:t>
            </a:r>
            <a:endParaRPr lang="en-IN" dirty="0"/>
          </a:p>
          <a:p>
            <a:pPr marL="0" indent="0">
              <a:buNone/>
            </a:pPr>
            <a:endParaRPr lang="en-US" dirty="0"/>
          </a:p>
          <a:p>
            <a:pPr lvl="0"/>
            <a:endParaRPr lang="en-US" dirty="0"/>
          </a:p>
          <a:p>
            <a:endParaRPr lang="en-US" dirty="0"/>
          </a:p>
        </p:txBody>
      </p:sp>
      <p:pic>
        <p:nvPicPr>
          <p:cNvPr id="6" name="Picture 2" descr="https://www.sumitomoelectric.com/media/Sumitomo/Markets/Broadcasting.jpg"/>
          <p:cNvPicPr>
            <a:picLocks noChangeAspect="1" noChangeArrowheads="1"/>
          </p:cNvPicPr>
          <p:nvPr/>
        </p:nvPicPr>
        <p:blipFill>
          <a:blip r:embed="rId2"/>
          <a:srcRect/>
          <a:stretch>
            <a:fillRect/>
          </a:stretch>
        </p:blipFill>
        <p:spPr bwMode="auto">
          <a:xfrm>
            <a:off x="967666" y="2344669"/>
            <a:ext cx="2570085" cy="1709665"/>
          </a:xfrm>
          <a:prstGeom prst="rect">
            <a:avLst/>
          </a:prstGeom>
          <a:noFill/>
        </p:spPr>
      </p:pic>
      <p:pic>
        <p:nvPicPr>
          <p:cNvPr id="7" name="Picture 10" descr="Israeli military radar is typical of the type of radar used for air traffic control. The antenna rotates at a steady rate, sweeping the local airspace with a narrow vertical fan-shaped beam, to detect aircraft at all altitudes."/>
          <p:cNvPicPr>
            <a:picLocks noChangeAspect="1" noChangeArrowheads="1"/>
          </p:cNvPicPr>
          <p:nvPr/>
        </p:nvPicPr>
        <p:blipFill>
          <a:blip r:embed="rId3"/>
          <a:srcRect/>
          <a:stretch>
            <a:fillRect/>
          </a:stretch>
        </p:blipFill>
        <p:spPr bwMode="auto">
          <a:xfrm>
            <a:off x="5393771" y="2327087"/>
            <a:ext cx="2678837" cy="1652899"/>
          </a:xfrm>
          <a:prstGeom prst="rect">
            <a:avLst/>
          </a:prstGeom>
          <a:noFill/>
        </p:spPr>
      </p:pic>
      <p:pic>
        <p:nvPicPr>
          <p:cNvPr id="8" name="Picture 12" descr="navigation"/>
          <p:cNvPicPr>
            <a:picLocks noChangeAspect="1" noChangeArrowheads="1"/>
          </p:cNvPicPr>
          <p:nvPr/>
        </p:nvPicPr>
        <p:blipFill>
          <a:blip r:embed="rId4"/>
          <a:srcRect t="17021"/>
          <a:stretch>
            <a:fillRect/>
          </a:stretch>
        </p:blipFill>
        <p:spPr bwMode="auto">
          <a:xfrm>
            <a:off x="3556234" y="4125879"/>
            <a:ext cx="2572441" cy="1649182"/>
          </a:xfrm>
          <a:prstGeom prst="rect">
            <a:avLst/>
          </a:prstGeom>
          <a:noFill/>
        </p:spPr>
      </p:pic>
      <p:sp>
        <p:nvSpPr>
          <p:cNvPr id="9" name="TextBox 8"/>
          <p:cNvSpPr txBox="1"/>
          <p:nvPr/>
        </p:nvSpPr>
        <p:spPr>
          <a:xfrm>
            <a:off x="176665" y="4054333"/>
            <a:ext cx="1371600" cy="369332"/>
          </a:xfrm>
          <a:prstGeom prst="rect">
            <a:avLst/>
          </a:prstGeom>
          <a:noFill/>
        </p:spPr>
        <p:txBody>
          <a:bodyPr wrap="square" rtlCol="0">
            <a:spAutoFit/>
          </a:bodyPr>
          <a:lstStyle/>
          <a:p>
            <a:pPr algn="l" rtl="0"/>
            <a:r>
              <a:rPr lang="en-US" kern="1200" dirty="0">
                <a:solidFill>
                  <a:srgbClr val="FF0000"/>
                </a:solidFill>
                <a:latin typeface="Calibri"/>
                <a:ea typeface="+mn-ea"/>
                <a:cs typeface="+mn-cs"/>
              </a:rPr>
              <a:t>Broadcast</a:t>
            </a:r>
          </a:p>
        </p:txBody>
      </p:sp>
      <p:sp>
        <p:nvSpPr>
          <p:cNvPr id="10" name="TextBox 9"/>
          <p:cNvSpPr txBox="1"/>
          <p:nvPr/>
        </p:nvSpPr>
        <p:spPr>
          <a:xfrm>
            <a:off x="7732451" y="4034729"/>
            <a:ext cx="818686" cy="369332"/>
          </a:xfrm>
          <a:prstGeom prst="rect">
            <a:avLst/>
          </a:prstGeom>
          <a:noFill/>
        </p:spPr>
        <p:txBody>
          <a:bodyPr wrap="none" rtlCol="0">
            <a:spAutoFit/>
          </a:bodyPr>
          <a:lstStyle/>
          <a:p>
            <a:pPr algn="l" rtl="0"/>
            <a:r>
              <a:rPr lang="en-US" kern="1200" dirty="0">
                <a:solidFill>
                  <a:srgbClr val="FF0000"/>
                </a:solidFill>
                <a:latin typeface="Calibri"/>
                <a:ea typeface="+mn-ea"/>
                <a:cs typeface="+mn-cs"/>
              </a:rPr>
              <a:t>Radars</a:t>
            </a:r>
          </a:p>
        </p:txBody>
      </p:sp>
      <p:sp>
        <p:nvSpPr>
          <p:cNvPr id="11" name="TextBox 10"/>
          <p:cNvSpPr txBox="1"/>
          <p:nvPr/>
        </p:nvSpPr>
        <p:spPr>
          <a:xfrm>
            <a:off x="6128674" y="5063046"/>
            <a:ext cx="1676400" cy="381000"/>
          </a:xfrm>
          <a:prstGeom prst="rect">
            <a:avLst/>
          </a:prstGeom>
          <a:noFill/>
        </p:spPr>
        <p:txBody>
          <a:bodyPr wrap="square" rtlCol="0">
            <a:spAutoFit/>
          </a:bodyPr>
          <a:lstStyle/>
          <a:p>
            <a:pPr algn="l" rtl="0"/>
            <a:r>
              <a:rPr lang="en-US" kern="1200" dirty="0">
                <a:solidFill>
                  <a:srgbClr val="FF0000"/>
                </a:solidFill>
                <a:latin typeface="Calibri"/>
                <a:ea typeface="+mn-ea"/>
                <a:cs typeface="+mn-cs"/>
              </a:rPr>
              <a:t>Navigation</a:t>
            </a:r>
          </a:p>
        </p:txBody>
      </p:sp>
    </p:spTree>
    <p:extLst>
      <p:ext uri="{BB962C8B-B14F-4D97-AF65-F5344CB8AC3E}">
        <p14:creationId xmlns:p14="http://schemas.microsoft.com/office/powerpoint/2010/main" val="276066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Electromagnetic Spectrum</a:t>
            </a:r>
          </a:p>
          <a:p>
            <a:endParaRPr lang="en-IN" dirty="0"/>
          </a:p>
        </p:txBody>
      </p:sp>
      <p:pic>
        <p:nvPicPr>
          <p:cNvPr id="4" name="Picture 2" descr="https://classconnection.s3.amazonaws.com/255/flashcards/4013255/jpg/electromagneticspectrum-141B490BAC872789434.jpg"/>
          <p:cNvPicPr>
            <a:picLocks noGrp="1" noChangeAspect="1" noChangeArrowheads="1"/>
          </p:cNvPicPr>
          <p:nvPr>
            <p:ph idx="1"/>
          </p:nvPr>
        </p:nvPicPr>
        <p:blipFill>
          <a:blip r:embed="rId2"/>
          <a:srcRect/>
          <a:stretch>
            <a:fillRect/>
          </a:stretch>
        </p:blipFill>
        <p:spPr bwMode="auto">
          <a:xfrm>
            <a:off x="274639" y="1785327"/>
            <a:ext cx="8504237" cy="3766772"/>
          </a:xfrm>
          <a:prstGeom prst="rect">
            <a:avLst/>
          </a:prstGeom>
          <a:noFill/>
        </p:spPr>
      </p:pic>
    </p:spTree>
    <p:extLst>
      <p:ext uri="{BB962C8B-B14F-4D97-AF65-F5344CB8AC3E}">
        <p14:creationId xmlns:p14="http://schemas.microsoft.com/office/powerpoint/2010/main" val="175582916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12552" y="1079211"/>
            <a:ext cx="8694371" cy="582930"/>
          </a:xfrm>
        </p:spPr>
        <p:txBody>
          <a:bodyPr/>
          <a:lstStyle/>
          <a:p>
            <a:r>
              <a:rPr lang="en-US" dirty="0"/>
              <a:t>ITU(International Telecommunication Union) Radio Bands</a:t>
            </a:r>
          </a:p>
          <a:p>
            <a:endParaRPr lang="en-IN" dirty="0"/>
          </a:p>
        </p:txBody>
      </p:sp>
      <p:pic>
        <p:nvPicPr>
          <p:cNvPr id="5" name="Picture 2"/>
          <p:cNvPicPr>
            <a:picLocks noGrp="1" noChangeAspect="1" noChangeArrowheads="1"/>
          </p:cNvPicPr>
          <p:nvPr>
            <p:ph idx="1"/>
          </p:nvPr>
        </p:nvPicPr>
        <p:blipFill>
          <a:blip r:embed="rId2"/>
          <a:srcRect l="26515" t="22857" r="23485" b="28571"/>
          <a:stretch>
            <a:fillRect/>
          </a:stretch>
        </p:blipFill>
        <p:spPr bwMode="auto">
          <a:xfrm>
            <a:off x="701337" y="1892144"/>
            <a:ext cx="7078208" cy="3865893"/>
          </a:xfrm>
          <a:prstGeom prst="rect">
            <a:avLst/>
          </a:prstGeom>
          <a:noFill/>
          <a:ln w="9525">
            <a:noFill/>
            <a:miter lim="800000"/>
            <a:headEnd/>
            <a:tailEnd/>
          </a:ln>
          <a:effectLst/>
        </p:spPr>
      </p:pic>
    </p:spTree>
    <p:extLst>
      <p:ext uri="{BB962C8B-B14F-4D97-AF65-F5344CB8AC3E}">
        <p14:creationId xmlns:p14="http://schemas.microsoft.com/office/powerpoint/2010/main" val="1823482028"/>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973956"/>
            <a:ext cx="7318331" cy="582930"/>
          </a:xfrm>
        </p:spPr>
        <p:txBody>
          <a:bodyPr/>
          <a:lstStyle/>
          <a:p>
            <a:endParaRPr lang="en-US" dirty="0"/>
          </a:p>
          <a:p>
            <a:r>
              <a:rPr lang="en-US" dirty="0"/>
              <a:t>Introduction- Mobile Radio Propagation Path</a:t>
            </a:r>
          </a:p>
          <a:p>
            <a:endParaRPr lang="en-IN" dirty="0"/>
          </a:p>
        </p:txBody>
      </p:sp>
      <p:sp>
        <p:nvSpPr>
          <p:cNvPr id="4" name="Content Placeholder 1"/>
          <p:cNvSpPr txBox="1">
            <a:spLocks/>
          </p:cNvSpPr>
          <p:nvPr/>
        </p:nvSpPr>
        <p:spPr bwMode="auto">
          <a:xfrm>
            <a:off x="245443" y="1556887"/>
            <a:ext cx="8229600" cy="4983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Wingdings" pitchFamily="2" charset="2"/>
              <a:buChar char="q"/>
            </a:pPr>
            <a:r>
              <a:rPr lang="en-US" dirty="0">
                <a:solidFill>
                  <a:prstClr val="black"/>
                </a:solidFill>
              </a:rPr>
              <a:t>The Wireless Transmission Path may be </a:t>
            </a:r>
          </a:p>
          <a:p>
            <a:endParaRPr lang="en-US" dirty="0">
              <a:solidFill>
                <a:prstClr val="black"/>
              </a:solidFill>
            </a:endParaRPr>
          </a:p>
          <a:p>
            <a:pPr>
              <a:buFont typeface="Wingdings" pitchFamily="2" charset="2"/>
              <a:buChar char="§"/>
            </a:pPr>
            <a:endParaRPr lang="en-US" dirty="0">
              <a:solidFill>
                <a:prstClr val="black"/>
              </a:solidFill>
            </a:endParaRPr>
          </a:p>
          <a:p>
            <a:pPr>
              <a:buFont typeface="Wingdings" pitchFamily="2" charset="2"/>
              <a:buChar char="§"/>
            </a:pPr>
            <a:endParaRPr lang="en-US" dirty="0">
              <a:solidFill>
                <a:prstClr val="black"/>
              </a:solidFill>
            </a:endParaRPr>
          </a:p>
          <a:p>
            <a:pPr>
              <a:buFont typeface="Wingdings" pitchFamily="2" charset="2"/>
              <a:buChar char="§"/>
            </a:pPr>
            <a:endParaRPr lang="en-US" dirty="0">
              <a:solidFill>
                <a:prstClr val="black"/>
              </a:solidFill>
            </a:endParaRPr>
          </a:p>
          <a:p>
            <a:pPr>
              <a:buFont typeface="Wingdings" pitchFamily="2" charset="2"/>
              <a:buChar char="§"/>
            </a:pPr>
            <a:endParaRPr lang="en-US" dirty="0">
              <a:solidFill>
                <a:prstClr val="black"/>
              </a:solidFill>
            </a:endParaRPr>
          </a:p>
          <a:p>
            <a:endParaRPr lang="en-US" dirty="0">
              <a:solidFill>
                <a:prstClr val="black"/>
              </a:solidFill>
            </a:endParaRPr>
          </a:p>
          <a:p>
            <a:r>
              <a:rPr lang="en-US" dirty="0">
                <a:solidFill>
                  <a:prstClr val="black"/>
                </a:solidFill>
              </a:rPr>
              <a:t>           </a:t>
            </a:r>
          </a:p>
          <a:p>
            <a:endParaRPr lang="en-US" dirty="0">
              <a:solidFill>
                <a:prstClr val="black"/>
              </a:solidFill>
            </a:endParaRPr>
          </a:p>
          <a:p>
            <a:endParaRPr lang="en-US" dirty="0">
              <a:solidFill>
                <a:prstClr val="black"/>
              </a:solidFill>
            </a:endParaRPr>
          </a:p>
          <a:p>
            <a:endParaRPr lang="en-US" dirty="0">
              <a:solidFill>
                <a:prstClr val="black"/>
              </a:solidFill>
            </a:endParaRPr>
          </a:p>
          <a:p>
            <a:r>
              <a:rPr lang="en-US" dirty="0">
                <a:solidFill>
                  <a:prstClr val="black"/>
                </a:solidFill>
              </a:rPr>
              <a:t>Radio Channels are random and time varying.</a:t>
            </a:r>
          </a:p>
          <a:p>
            <a:endParaRPr lang="en-US" dirty="0">
              <a:solidFill>
                <a:prstClr val="black"/>
              </a:solidFill>
            </a:endParaRPr>
          </a:p>
          <a:p>
            <a:endParaRPr lang="en-US" dirty="0">
              <a:solidFill>
                <a:prstClr val="black"/>
              </a:solidFill>
            </a:endParaRPr>
          </a:p>
        </p:txBody>
      </p:sp>
      <p:sp>
        <p:nvSpPr>
          <p:cNvPr id="7" name="TextBox 6"/>
          <p:cNvSpPr txBox="1"/>
          <p:nvPr/>
        </p:nvSpPr>
        <p:spPr>
          <a:xfrm>
            <a:off x="434774" y="3890169"/>
            <a:ext cx="4212859" cy="1877437"/>
          </a:xfrm>
          <a:prstGeom prst="rect">
            <a:avLst/>
          </a:prstGeom>
          <a:noFill/>
        </p:spPr>
        <p:txBody>
          <a:bodyPr wrap="square" rtlCol="0">
            <a:spAutoFit/>
          </a:bodyPr>
          <a:lstStyle/>
          <a:p>
            <a:pPr algn="l" rtl="0"/>
            <a:r>
              <a:rPr lang="en-US" sz="1600" kern="1200" dirty="0">
                <a:solidFill>
                  <a:prstClr val="black"/>
                </a:solidFill>
                <a:latin typeface="Calibri"/>
                <a:ea typeface="+mn-ea"/>
                <a:cs typeface="+mn-cs"/>
              </a:rPr>
              <a:t>Direct  and unobstructed path between a transmitting  device and a receiving or reflecting device. Microwaves are propagated in this manner and repeaters can be utilized to extend their range.</a:t>
            </a:r>
            <a:endParaRPr lang="en-IN" sz="1600" kern="1200" dirty="0">
              <a:solidFill>
                <a:prstClr val="black"/>
              </a:solidFill>
              <a:latin typeface="Calibri"/>
              <a:ea typeface="+mn-ea"/>
              <a:cs typeface="+mn-cs"/>
            </a:endParaRPr>
          </a:p>
          <a:p>
            <a:pPr algn="l" rtl="0"/>
            <a:endParaRPr lang="en-IN" kern="1200" dirty="0">
              <a:solidFill>
                <a:prstClr val="black"/>
              </a:solidFill>
              <a:latin typeface="Calibri"/>
              <a:ea typeface="+mn-ea"/>
              <a:cs typeface="+mn-cs"/>
            </a:endParaRPr>
          </a:p>
          <a:p>
            <a:pPr algn="l" rtl="0"/>
            <a:endParaRPr lang="en-IN" kern="1200" dirty="0">
              <a:solidFill>
                <a:prstClr val="black"/>
              </a:solidFill>
              <a:latin typeface="Calibri"/>
              <a:ea typeface="+mn-ea"/>
              <a:cs typeface="+mn-cs"/>
            </a:endParaRPr>
          </a:p>
        </p:txBody>
      </p:sp>
      <p:sp>
        <p:nvSpPr>
          <p:cNvPr id="8" name="TextBox 7"/>
          <p:cNvSpPr txBox="1"/>
          <p:nvPr/>
        </p:nvSpPr>
        <p:spPr>
          <a:xfrm>
            <a:off x="5037140" y="3966369"/>
            <a:ext cx="4377519" cy="584775"/>
          </a:xfrm>
          <a:prstGeom prst="rect">
            <a:avLst/>
          </a:prstGeom>
          <a:noFill/>
        </p:spPr>
        <p:txBody>
          <a:bodyPr wrap="square" rtlCol="0">
            <a:spAutoFit/>
          </a:bodyPr>
          <a:lstStyle/>
          <a:p>
            <a:pPr algn="l" rtl="0"/>
            <a:r>
              <a:rPr lang="en-US" sz="1600" kern="1200" dirty="0">
                <a:solidFill>
                  <a:prstClr val="black"/>
                </a:solidFill>
                <a:latin typeface="Calibri"/>
                <a:ea typeface="+mn-ea"/>
                <a:cs typeface="+mn-cs"/>
              </a:rPr>
              <a:t>communication path is obstructed by buildings, foliage, hills etc.</a:t>
            </a:r>
            <a:endParaRPr lang="en-IN" sz="1600" kern="1200" dirty="0">
              <a:solidFill>
                <a:prstClr val="black"/>
              </a:solidFill>
              <a:latin typeface="Calibri"/>
              <a:ea typeface="+mn-ea"/>
              <a:cs typeface="+mn-cs"/>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3040" y="2074735"/>
            <a:ext cx="1778893" cy="1778893"/>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271716" y="2111276"/>
            <a:ext cx="1778893" cy="1778893"/>
          </a:xfrm>
          <a:prstGeom prst="rect">
            <a:avLst/>
          </a:prstGeom>
        </p:spPr>
      </p:pic>
      <p:cxnSp>
        <p:nvCxnSpPr>
          <p:cNvPr id="11" name="Straight Connector 10"/>
          <p:cNvCxnSpPr/>
          <p:nvPr/>
        </p:nvCxnSpPr>
        <p:spPr>
          <a:xfrm>
            <a:off x="724796" y="2450726"/>
            <a:ext cx="6199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059207" y="2444002"/>
            <a:ext cx="694231"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1594640" y="2270424"/>
            <a:ext cx="1215793" cy="34715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rtl="0"/>
            <a:endParaRPr lang="en-IN" kern="1200" dirty="0">
              <a:solidFill>
                <a:prstClr val="black"/>
              </a:solidFill>
              <a:latin typeface="Calibri"/>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flipH="1">
            <a:off x="1272102" y="2338690"/>
            <a:ext cx="257279" cy="233145"/>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2878388" y="2334153"/>
            <a:ext cx="257279" cy="233145"/>
          </a:xfrm>
          <a:prstGeom prst="rect">
            <a:avLst/>
          </a:prstGeom>
        </p:spPr>
      </p:pic>
      <p:cxnSp>
        <p:nvCxnSpPr>
          <p:cNvPr id="18" name="Straight Arrow Connector 17"/>
          <p:cNvCxnSpPr>
            <a:stCxn id="15" idx="0"/>
          </p:cNvCxnSpPr>
          <p:nvPr/>
        </p:nvCxnSpPr>
        <p:spPr>
          <a:xfrm flipV="1">
            <a:off x="1517314" y="2450725"/>
            <a:ext cx="1373141" cy="4537"/>
          </a:xfrm>
          <a:prstGeom prst="straightConnector1">
            <a:avLst/>
          </a:prstGeom>
          <a:ln>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745284" y="2186040"/>
            <a:ext cx="926180"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000" b="1" kern="1200" dirty="0">
                <a:solidFill>
                  <a:prstClr val="black"/>
                </a:solidFill>
                <a:latin typeface="Calibri"/>
              </a:rPr>
              <a:t>Fresnel Zone</a:t>
            </a:r>
          </a:p>
        </p:txBody>
      </p:sp>
      <p:sp>
        <p:nvSpPr>
          <p:cNvPr id="20" name="Rectangle 19"/>
          <p:cNvSpPr/>
          <p:nvPr/>
        </p:nvSpPr>
        <p:spPr>
          <a:xfrm>
            <a:off x="1541601" y="1962823"/>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b="1" kern="1200" dirty="0">
                <a:solidFill>
                  <a:prstClr val="black"/>
                </a:solidFill>
                <a:latin typeface="Calibri"/>
              </a:rPr>
              <a:t>Line of Sight (LOS)</a:t>
            </a:r>
          </a:p>
        </p:txBody>
      </p:sp>
      <p:sp>
        <p:nvSpPr>
          <p:cNvPr id="21" name="Rectangle 20"/>
          <p:cNvSpPr/>
          <p:nvPr/>
        </p:nvSpPr>
        <p:spPr>
          <a:xfrm>
            <a:off x="2176017" y="2549184"/>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900" kern="1200" dirty="0">
                <a:solidFill>
                  <a:prstClr val="black"/>
                </a:solidFill>
                <a:latin typeface="Calibri"/>
              </a:rPr>
              <a:t>Line of Sight </a:t>
            </a:r>
          </a:p>
        </p:txBody>
      </p:sp>
      <p:cxnSp>
        <p:nvCxnSpPr>
          <p:cNvPr id="23" name="Straight Arrow Connector 22"/>
          <p:cNvCxnSpPr/>
          <p:nvPr/>
        </p:nvCxnSpPr>
        <p:spPr>
          <a:xfrm flipH="1" flipV="1">
            <a:off x="2462490" y="2480544"/>
            <a:ext cx="347943" cy="18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8446" y="2772615"/>
            <a:ext cx="1125471" cy="1125471"/>
          </a:xfrm>
          <a:prstGeom prst="rect">
            <a:avLst/>
          </a:prstGeom>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323" y="3310428"/>
            <a:ext cx="577751" cy="577751"/>
          </a:xfrm>
          <a:prstGeom prst="rect">
            <a:avLst/>
          </a:prstGeom>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2219" y="3099150"/>
            <a:ext cx="794127" cy="794127"/>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1407" y="3318671"/>
            <a:ext cx="577751" cy="577751"/>
          </a:xfrm>
          <a:prstGeom prst="rect">
            <a:avLst/>
          </a:prstGeom>
        </p:spPr>
      </p:pic>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0796" y="3317512"/>
            <a:ext cx="577751" cy="577751"/>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70785" y="3477786"/>
            <a:ext cx="416916" cy="416916"/>
          </a:xfrm>
          <a:prstGeom prst="rect">
            <a:avLst/>
          </a:prstGeom>
        </p:spPr>
      </p:pic>
      <p:pic>
        <p:nvPicPr>
          <p:cNvPr id="30" name="Picture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4775" y="2186041"/>
            <a:ext cx="1778893" cy="1778893"/>
          </a:xfrm>
          <a:prstGeom prst="rect">
            <a:avLst/>
          </a:prstGeom>
        </p:spPr>
      </p:pic>
      <p:pic>
        <p:nvPicPr>
          <p:cNvPr id="31" name="Picture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4560020" y="2222582"/>
            <a:ext cx="1778893" cy="1778893"/>
          </a:xfrm>
          <a:prstGeom prst="rect">
            <a:avLst/>
          </a:prstGeom>
        </p:spPr>
      </p:pic>
      <p:cxnSp>
        <p:nvCxnSpPr>
          <p:cNvPr id="32" name="Straight Connector 31"/>
          <p:cNvCxnSpPr/>
          <p:nvPr/>
        </p:nvCxnSpPr>
        <p:spPr>
          <a:xfrm>
            <a:off x="5556531" y="2562032"/>
            <a:ext cx="6199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7890942" y="2555308"/>
            <a:ext cx="694231"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6426375" y="2381730"/>
            <a:ext cx="1215793" cy="34715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rtl="0"/>
            <a:endParaRPr lang="en-IN" kern="1200" dirty="0">
              <a:solidFill>
                <a:prstClr val="black"/>
              </a:solidFill>
              <a:latin typeface="Calibri"/>
            </a:endParaRPr>
          </a:p>
        </p:txBody>
      </p:sp>
      <p:pic>
        <p:nvPicPr>
          <p:cNvPr id="35" name="Picture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flipH="1">
            <a:off x="6103837" y="2449996"/>
            <a:ext cx="257279" cy="233145"/>
          </a:xfrm>
          <a:prstGeom prst="rect">
            <a:avLst/>
          </a:prstGeom>
        </p:spPr>
      </p:pic>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7710123" y="2445459"/>
            <a:ext cx="257279" cy="233145"/>
          </a:xfrm>
          <a:prstGeom prst="rect">
            <a:avLst/>
          </a:prstGeom>
        </p:spPr>
      </p:pic>
      <p:cxnSp>
        <p:nvCxnSpPr>
          <p:cNvPr id="37" name="Straight Arrow Connector 36"/>
          <p:cNvCxnSpPr>
            <a:stCxn id="35" idx="0"/>
          </p:cNvCxnSpPr>
          <p:nvPr/>
        </p:nvCxnSpPr>
        <p:spPr>
          <a:xfrm flipV="1">
            <a:off x="6349049" y="2562031"/>
            <a:ext cx="1373141" cy="4537"/>
          </a:xfrm>
          <a:prstGeom prst="straightConnector1">
            <a:avLst/>
          </a:prstGeom>
          <a:ln>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6577019" y="2297346"/>
            <a:ext cx="926180"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000" b="1" kern="1200" dirty="0">
                <a:solidFill>
                  <a:prstClr val="black"/>
                </a:solidFill>
                <a:latin typeface="Calibri"/>
              </a:rPr>
              <a:t>Fresnel Zone</a:t>
            </a:r>
          </a:p>
        </p:txBody>
      </p:sp>
      <p:sp>
        <p:nvSpPr>
          <p:cNvPr id="39" name="Rectangle 38"/>
          <p:cNvSpPr/>
          <p:nvPr/>
        </p:nvSpPr>
        <p:spPr>
          <a:xfrm>
            <a:off x="6142874" y="2053365"/>
            <a:ext cx="1788876"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b="1" kern="1200" dirty="0">
                <a:solidFill>
                  <a:prstClr val="black"/>
                </a:solidFill>
                <a:latin typeface="Calibri"/>
              </a:rPr>
              <a:t>Non Line of Sight (NLOS)</a:t>
            </a:r>
          </a:p>
        </p:txBody>
      </p:sp>
      <p:sp>
        <p:nvSpPr>
          <p:cNvPr id="40" name="Rectangle 39"/>
          <p:cNvSpPr/>
          <p:nvPr/>
        </p:nvSpPr>
        <p:spPr>
          <a:xfrm>
            <a:off x="7007752" y="2660490"/>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900" kern="1200" dirty="0">
                <a:solidFill>
                  <a:prstClr val="black"/>
                </a:solidFill>
                <a:latin typeface="Calibri"/>
              </a:rPr>
              <a:t>Line of Sight </a:t>
            </a:r>
          </a:p>
        </p:txBody>
      </p:sp>
      <p:cxnSp>
        <p:nvCxnSpPr>
          <p:cNvPr id="41" name="Straight Arrow Connector 40"/>
          <p:cNvCxnSpPr/>
          <p:nvPr/>
        </p:nvCxnSpPr>
        <p:spPr>
          <a:xfrm flipH="1" flipV="1">
            <a:off x="7294225" y="2591850"/>
            <a:ext cx="347943" cy="18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0181" y="2511623"/>
            <a:ext cx="1125471" cy="1497769"/>
          </a:xfrm>
          <a:prstGeom prst="rect">
            <a:avLst/>
          </a:prstGeom>
        </p:spPr>
      </p:pic>
      <p:pic>
        <p:nvPicPr>
          <p:cNvPr id="43" name="Picture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87058" y="3421734"/>
            <a:ext cx="577751" cy="577751"/>
          </a:xfrm>
          <a:prstGeom prst="rect">
            <a:avLst/>
          </a:prstGeom>
        </p:spPr>
      </p:pic>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53953" y="3037091"/>
            <a:ext cx="967492" cy="967492"/>
          </a:xfrm>
          <a:prstGeom prst="rect">
            <a:avLst/>
          </a:prstGeom>
        </p:spPr>
      </p:pic>
      <p:pic>
        <p:nvPicPr>
          <p:cNvPr id="45" name="Picture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3142" y="3429977"/>
            <a:ext cx="577751" cy="577751"/>
          </a:xfrm>
          <a:prstGeom prst="rect">
            <a:avLst/>
          </a:prstGeom>
        </p:spPr>
      </p:pic>
      <p:pic>
        <p:nvPicPr>
          <p:cNvPr id="46" name="Picture 4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2531" y="3428818"/>
            <a:ext cx="577751" cy="577751"/>
          </a:xfrm>
          <a:prstGeom prst="rect">
            <a:avLst/>
          </a:prstGeom>
        </p:spPr>
      </p:pic>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9879" y="3569002"/>
            <a:ext cx="416916" cy="416916"/>
          </a:xfrm>
          <a:prstGeom prst="rect">
            <a:avLst/>
          </a:prstGeom>
        </p:spPr>
      </p:pic>
    </p:spTree>
    <p:extLst>
      <p:ext uri="{BB962C8B-B14F-4D97-AF65-F5344CB8AC3E}">
        <p14:creationId xmlns:p14="http://schemas.microsoft.com/office/powerpoint/2010/main" val="117346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Basics of Propagation </a:t>
            </a:r>
          </a:p>
          <a:p>
            <a:endParaRPr lang="en-IN" dirty="0"/>
          </a:p>
        </p:txBody>
      </p:sp>
      <p:sp>
        <p:nvSpPr>
          <p:cNvPr id="4" name="Content Placeholder 1"/>
          <p:cNvSpPr>
            <a:spLocks noGrp="1"/>
          </p:cNvSpPr>
          <p:nvPr>
            <p:ph idx="1"/>
          </p:nvPr>
        </p:nvSpPr>
        <p:spPr/>
        <p:txBody>
          <a:bodyPr/>
          <a:lstStyle/>
          <a:p>
            <a:pPr>
              <a:buFont typeface="Arial" pitchFamily="34" charset="0"/>
              <a:buChar char="•"/>
            </a:pPr>
            <a:endParaRPr lang="en-US" dirty="0"/>
          </a:p>
          <a:p>
            <a:pPr>
              <a:buFont typeface="Arial" pitchFamily="34" charset="0"/>
              <a:buChar char="•"/>
            </a:pPr>
            <a:r>
              <a:rPr lang="en-US" dirty="0"/>
              <a:t>When electrons moves they create electromagnetic waves that can propagate through space.</a:t>
            </a:r>
          </a:p>
          <a:p>
            <a:pPr>
              <a:buFont typeface="Arial" pitchFamily="34" charset="0"/>
              <a:buChar char="•"/>
            </a:pPr>
            <a:endParaRPr lang="en-US" dirty="0"/>
          </a:p>
          <a:p>
            <a:pPr>
              <a:buFont typeface="Arial" pitchFamily="34" charset="0"/>
              <a:buChar char="•"/>
            </a:pPr>
            <a:r>
              <a:rPr lang="en-US" dirty="0"/>
              <a:t>By attaching an antenna of appropriate size to an electrical circuit, the electromagnetic waves can be broadcast efficiently and received by receiver some distance away.</a:t>
            </a:r>
          </a:p>
          <a:p>
            <a:pPr>
              <a:buFont typeface="Arial" pitchFamily="34" charset="0"/>
              <a:buChar char="•"/>
            </a:pPr>
            <a:endParaRPr lang="en-US" dirty="0"/>
          </a:p>
          <a:p>
            <a:pPr>
              <a:buFont typeface="Arial" pitchFamily="34" charset="0"/>
              <a:buChar char="•"/>
            </a:pPr>
            <a:r>
              <a:rPr lang="en-US" dirty="0"/>
              <a:t>Information can be sent by modulating the Amplitude, Frequency or phase of the waves.</a:t>
            </a:r>
          </a:p>
        </p:txBody>
      </p:sp>
    </p:spTree>
    <p:extLst>
      <p:ext uri="{BB962C8B-B14F-4D97-AF65-F5344CB8AC3E}">
        <p14:creationId xmlns:p14="http://schemas.microsoft.com/office/powerpoint/2010/main" val="3635352986"/>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1098244"/>
            <a:ext cx="6537960" cy="582930"/>
          </a:xfrm>
        </p:spPr>
        <p:txBody>
          <a:bodyPr/>
          <a:lstStyle/>
          <a:p>
            <a:r>
              <a:rPr lang="en-US" dirty="0"/>
              <a:t>Properties of Radio waves</a:t>
            </a:r>
          </a:p>
          <a:p>
            <a:endParaRPr lang="en-IN" dirty="0"/>
          </a:p>
        </p:txBody>
      </p:sp>
      <p:sp>
        <p:nvSpPr>
          <p:cNvPr id="4" name="Content Placeholder 1"/>
          <p:cNvSpPr>
            <a:spLocks noGrp="1"/>
          </p:cNvSpPr>
          <p:nvPr>
            <p:ph idx="1"/>
          </p:nvPr>
        </p:nvSpPr>
        <p:spPr/>
        <p:txBody>
          <a:bodyPr>
            <a:normAutofit/>
          </a:bodyPr>
          <a:lstStyle/>
          <a:p>
            <a:pPr>
              <a:buFont typeface="Arial" pitchFamily="34" charset="0"/>
              <a:buChar char="•"/>
            </a:pPr>
            <a:r>
              <a:rPr lang="en-US" dirty="0"/>
              <a:t>Easy to generate.</a:t>
            </a:r>
          </a:p>
          <a:p>
            <a:pPr marL="0" indent="0"/>
            <a:r>
              <a:rPr lang="en-US" dirty="0"/>
              <a:t>	- When electrons moves they create electromagnetic waves that can propagate through space. By attaching an antenna of appropriate size to an electrical circuit, the electromagnetic waves can be broadcast efficiently and received by receiver some distance away</a:t>
            </a:r>
          </a:p>
          <a:p>
            <a:endParaRPr lang="en-US" dirty="0"/>
          </a:p>
          <a:p>
            <a:pPr>
              <a:buFont typeface="Arial" pitchFamily="34" charset="0"/>
              <a:buChar char="•"/>
            </a:pPr>
            <a:r>
              <a:rPr lang="en-US" dirty="0"/>
              <a:t>Can travel Long distances.</a:t>
            </a:r>
          </a:p>
          <a:p>
            <a:endParaRPr lang="en-US" dirty="0"/>
          </a:p>
          <a:p>
            <a:pPr>
              <a:buFont typeface="Arial" pitchFamily="34" charset="0"/>
              <a:buChar char="•"/>
            </a:pPr>
            <a:r>
              <a:rPr lang="en-US" dirty="0"/>
              <a:t>Can penetrate buildings.</a:t>
            </a:r>
          </a:p>
          <a:p>
            <a:endParaRPr lang="en-US" dirty="0"/>
          </a:p>
          <a:p>
            <a:pPr>
              <a:buFont typeface="Arial" pitchFamily="34" charset="0"/>
              <a:buChar char="•"/>
            </a:pPr>
            <a:r>
              <a:rPr lang="en-US" dirty="0"/>
              <a:t>Used for both indoor and Outdoor Communications.</a:t>
            </a:r>
          </a:p>
          <a:p>
            <a:endParaRPr lang="en-US" dirty="0"/>
          </a:p>
          <a:p>
            <a:pPr>
              <a:buFont typeface="Arial" pitchFamily="34" charset="0"/>
              <a:buChar char="•"/>
            </a:pPr>
            <a:r>
              <a:rPr lang="en-US" dirty="0"/>
              <a:t>They are </a:t>
            </a:r>
            <a:r>
              <a:rPr lang="en-US" dirty="0" err="1"/>
              <a:t>omni</a:t>
            </a:r>
            <a:r>
              <a:rPr lang="en-US" dirty="0"/>
              <a:t> directional</a:t>
            </a:r>
          </a:p>
          <a:p>
            <a:endParaRPr lang="en-US" dirty="0"/>
          </a:p>
          <a:p>
            <a:pPr>
              <a:buFont typeface="Arial" pitchFamily="34" charset="0"/>
              <a:buChar char="•"/>
            </a:pPr>
            <a:r>
              <a:rPr lang="en-US" dirty="0"/>
              <a:t>Can be narrowly focused at high frequency(greater than 100MHz) using parabolic antennas. </a:t>
            </a:r>
          </a:p>
          <a:p>
            <a:endParaRPr lang="en-US" dirty="0"/>
          </a:p>
        </p:txBody>
      </p:sp>
    </p:spTree>
    <p:extLst>
      <p:ext uri="{BB962C8B-B14F-4D97-AF65-F5344CB8AC3E}">
        <p14:creationId xmlns:p14="http://schemas.microsoft.com/office/powerpoint/2010/main" val="90297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a:xfrm>
            <a:off x="266330" y="990415"/>
            <a:ext cx="6517074" cy="566471"/>
          </a:xfrm>
        </p:spPr>
        <p:txBody>
          <a:bodyPr/>
          <a:lstStyle/>
          <a:p>
            <a:r>
              <a:rPr lang="en-US" sz="2400" dirty="0"/>
              <a:t>Properties of Radio waves</a:t>
            </a:r>
          </a:p>
        </p:txBody>
      </p:sp>
      <p:sp>
        <p:nvSpPr>
          <p:cNvPr id="6" name="Content Placeholder 1"/>
          <p:cNvSpPr>
            <a:spLocks noGrp="1"/>
          </p:cNvSpPr>
          <p:nvPr>
            <p:ph idx="1"/>
          </p:nvPr>
        </p:nvSpPr>
        <p:spPr/>
        <p:txBody>
          <a:bodyPr>
            <a:normAutofit/>
          </a:bodyPr>
          <a:lstStyle/>
          <a:p>
            <a:pPr>
              <a:buFont typeface="Arial" pitchFamily="34" charset="0"/>
              <a:buChar char="•"/>
            </a:pPr>
            <a:r>
              <a:rPr lang="en-US" sz="2000" dirty="0">
                <a:solidFill>
                  <a:schemeClr val="tx2">
                    <a:lumMod val="60000"/>
                    <a:lumOff val="40000"/>
                  </a:schemeClr>
                </a:solidFill>
              </a:rPr>
              <a:t>Frequency dependence</a:t>
            </a:r>
          </a:p>
          <a:p>
            <a:pPr marL="0" lvl="2" indent="0">
              <a:buClr>
                <a:srgbClr val="101141"/>
              </a:buClr>
              <a:buNone/>
            </a:pPr>
            <a:r>
              <a:rPr lang="en-US" sz="2800" dirty="0">
                <a:solidFill>
                  <a:schemeClr val="tx2">
                    <a:lumMod val="60000"/>
                    <a:lumOff val="40000"/>
                  </a:schemeClr>
                </a:solidFill>
              </a:rPr>
              <a:t>	- </a:t>
            </a:r>
            <a:r>
              <a:rPr lang="en-US" dirty="0"/>
              <a:t>radio waves behave more like light at higher frequencies. Difficult  in Passing obstacles. Absorbed by Rain.</a:t>
            </a:r>
          </a:p>
          <a:p>
            <a:pPr marL="0" lvl="2" indent="0">
              <a:buClr>
                <a:srgbClr val="101141"/>
              </a:buClr>
              <a:buNone/>
            </a:pPr>
            <a:r>
              <a:rPr lang="en-US" sz="2800" dirty="0"/>
              <a:t>	- </a:t>
            </a:r>
            <a:r>
              <a:rPr lang="en-US" dirty="0"/>
              <a:t>At lower frequencies ,it  can pass obstacles but the power falls sharply with distance from Source. </a:t>
            </a:r>
            <a:endParaRPr lang="en-IN" dirty="0"/>
          </a:p>
          <a:p>
            <a:pPr marL="0" lvl="2" indent="0">
              <a:buClr>
                <a:srgbClr val="101141"/>
              </a:buClr>
              <a:buNone/>
            </a:pPr>
            <a:endParaRPr lang="en-IN" sz="2800" dirty="0"/>
          </a:p>
          <a:p>
            <a:pPr marL="228600" lvl="2"/>
            <a:r>
              <a:rPr lang="en-US" sz="2000" dirty="0">
                <a:solidFill>
                  <a:schemeClr val="tx2">
                    <a:lumMod val="60000"/>
                    <a:lumOff val="40000"/>
                  </a:schemeClr>
                </a:solidFill>
              </a:rPr>
              <a:t>Subject to interference from other Radio wave sources</a:t>
            </a:r>
            <a:r>
              <a:rPr lang="en-US" sz="2800" dirty="0">
                <a:solidFill>
                  <a:schemeClr val="tx2">
                    <a:lumMod val="60000"/>
                    <a:lumOff val="40000"/>
                  </a:schemeClr>
                </a:solidFill>
              </a:rPr>
              <a:t>.</a:t>
            </a:r>
            <a:r>
              <a:rPr lang="en-US" sz="2800" dirty="0"/>
              <a:t>	</a:t>
            </a:r>
          </a:p>
        </p:txBody>
      </p:sp>
    </p:spTree>
    <p:extLst>
      <p:ext uri="{BB962C8B-B14F-4D97-AF65-F5344CB8AC3E}">
        <p14:creationId xmlns:p14="http://schemas.microsoft.com/office/powerpoint/2010/main" val="90937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2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2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2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20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IN" dirty="0"/>
              <a:t>Radio waves are electromagnetic radiation in the frequency range (3KHz to 300KHz)</a:t>
            </a:r>
          </a:p>
          <a:p>
            <a:r>
              <a:rPr lang="en-IN" dirty="0"/>
              <a:t>Radio waves are used in Broadcast, Navigation, cellular systems, Radars etc.</a:t>
            </a:r>
          </a:p>
          <a:p>
            <a:r>
              <a:rPr lang="en-IN" dirty="0"/>
              <a:t>ITU has divided the radio spectrum into various frequency bands to avoid interference and effective use of radio spectrum.</a:t>
            </a:r>
          </a:p>
          <a:p>
            <a:r>
              <a:rPr lang="en-US" dirty="0"/>
              <a:t>Radio waves generation is easy, it can penetrate buildings, travel long distances  etc.</a:t>
            </a:r>
            <a:endParaRPr lang="en-IN" dirty="0"/>
          </a:p>
          <a:p>
            <a:pPr marL="0" indent="0">
              <a:buNone/>
            </a:pPr>
            <a:endParaRPr lang="en-IN" dirty="0"/>
          </a:p>
          <a:p>
            <a:endParaRPr lang="en-IN" dirty="0"/>
          </a:p>
          <a:p>
            <a:endParaRPr lang="en-US"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Propagation Mechanism</a:t>
            </a:r>
          </a:p>
        </p:txBody>
      </p:sp>
      <p:sp>
        <p:nvSpPr>
          <p:cNvPr id="6" name="TextBox 5"/>
          <p:cNvSpPr txBox="1"/>
          <p:nvPr/>
        </p:nvSpPr>
        <p:spPr>
          <a:xfrm>
            <a:off x="820479" y="5299887"/>
            <a:ext cx="4343400" cy="369332"/>
          </a:xfrm>
          <a:prstGeom prst="rect">
            <a:avLst/>
          </a:prstGeom>
          <a:noFill/>
        </p:spPr>
        <p:txBody>
          <a:bodyPr wrap="square" rtlCol="0">
            <a:spAutoFit/>
          </a:bodyPr>
          <a:lstStyle/>
          <a:p>
            <a:pPr algn="l" rtl="0"/>
            <a:r>
              <a:rPr lang="en-IN" kern="1200" dirty="0">
                <a:solidFill>
                  <a:prstClr val="black"/>
                </a:solidFill>
                <a:latin typeface="Calibri"/>
                <a:ea typeface="+mn-ea"/>
                <a:cs typeface="+mn-cs"/>
              </a:rPr>
              <a:t>Fig: Multipath Signal at Outdoor </a:t>
            </a:r>
          </a:p>
        </p:txBody>
      </p:sp>
      <p:sp>
        <p:nvSpPr>
          <p:cNvPr id="24" name="Flowchart: Process 23"/>
          <p:cNvSpPr/>
          <p:nvPr/>
        </p:nvSpPr>
        <p:spPr>
          <a:xfrm>
            <a:off x="5866363" y="3294815"/>
            <a:ext cx="1010093" cy="64858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cxnSp>
        <p:nvCxnSpPr>
          <p:cNvPr id="25" name="Straight Connector 24"/>
          <p:cNvCxnSpPr/>
          <p:nvPr/>
        </p:nvCxnSpPr>
        <p:spPr>
          <a:xfrm flipV="1">
            <a:off x="2219394" y="2082703"/>
            <a:ext cx="1690577" cy="137160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909970" y="2082704"/>
            <a:ext cx="2392326" cy="1307805"/>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2219394" y="2550537"/>
            <a:ext cx="3179135" cy="94629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398529" y="2550537"/>
            <a:ext cx="925033" cy="81870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240660" y="3518099"/>
            <a:ext cx="4019107" cy="4253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219394" y="3560630"/>
            <a:ext cx="2147777" cy="128653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4377804" y="3868973"/>
            <a:ext cx="1924493" cy="98882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2" name="Flowchart: Connector 31"/>
          <p:cNvSpPr/>
          <p:nvPr/>
        </p:nvSpPr>
        <p:spPr>
          <a:xfrm>
            <a:off x="2091804" y="3464935"/>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sp>
        <p:nvSpPr>
          <p:cNvPr id="33" name="Flowchart: Connector 32"/>
          <p:cNvSpPr/>
          <p:nvPr/>
        </p:nvSpPr>
        <p:spPr>
          <a:xfrm>
            <a:off x="2084709" y="3468473"/>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sp>
        <p:nvSpPr>
          <p:cNvPr id="34" name="Flowchart: Connector 33"/>
          <p:cNvSpPr/>
          <p:nvPr/>
        </p:nvSpPr>
        <p:spPr>
          <a:xfrm>
            <a:off x="2095342" y="3468473"/>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sp>
        <p:nvSpPr>
          <p:cNvPr id="35" name="Flowchart: Connector 34"/>
          <p:cNvSpPr/>
          <p:nvPr/>
        </p:nvSpPr>
        <p:spPr>
          <a:xfrm>
            <a:off x="2084709" y="3468473"/>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pic>
        <p:nvPicPr>
          <p:cNvPr id="36" name="Picture 35" descr="Smartphone_icon_-_Noun_Project_283536.svg.png"/>
          <p:cNvPicPr>
            <a:picLocks noChangeAspect="1"/>
          </p:cNvPicPr>
          <p:nvPr/>
        </p:nvPicPr>
        <p:blipFill>
          <a:blip r:embed="rId2"/>
          <a:stretch>
            <a:fillRect/>
          </a:stretch>
        </p:blipFill>
        <p:spPr>
          <a:xfrm>
            <a:off x="6063065" y="3284183"/>
            <a:ext cx="701746" cy="701746"/>
          </a:xfrm>
          <a:prstGeom prst="rect">
            <a:avLst/>
          </a:prstGeom>
        </p:spPr>
      </p:pic>
      <p:pic>
        <p:nvPicPr>
          <p:cNvPr id="37" name="Picture 36" descr="Office_building_icon.png"/>
          <p:cNvPicPr>
            <a:picLocks noChangeAspect="1"/>
          </p:cNvPicPr>
          <p:nvPr/>
        </p:nvPicPr>
        <p:blipFill>
          <a:blip r:embed="rId3"/>
          <a:stretch>
            <a:fillRect/>
          </a:stretch>
        </p:blipFill>
        <p:spPr>
          <a:xfrm>
            <a:off x="3711496" y="4039094"/>
            <a:ext cx="1405270" cy="1405270"/>
          </a:xfrm>
          <a:prstGeom prst="rect">
            <a:avLst/>
          </a:prstGeom>
        </p:spPr>
      </p:pic>
      <p:pic>
        <p:nvPicPr>
          <p:cNvPr id="38" name="Picture 37" descr="tower-31235_960_720.png"/>
          <p:cNvPicPr>
            <a:picLocks noChangeAspect="1"/>
          </p:cNvPicPr>
          <p:nvPr/>
        </p:nvPicPr>
        <p:blipFill>
          <a:blip r:embed="rId4"/>
          <a:stretch>
            <a:fillRect/>
          </a:stretch>
        </p:blipFill>
        <p:spPr>
          <a:xfrm>
            <a:off x="1568040" y="3220387"/>
            <a:ext cx="1143057" cy="1573616"/>
          </a:xfrm>
          <a:prstGeom prst="rect">
            <a:avLst/>
          </a:prstGeom>
        </p:spPr>
      </p:pic>
      <p:pic>
        <p:nvPicPr>
          <p:cNvPr id="39" name="Picture 38" descr="mountain1.png"/>
          <p:cNvPicPr>
            <a:picLocks noChangeAspect="1"/>
          </p:cNvPicPr>
          <p:nvPr/>
        </p:nvPicPr>
        <p:blipFill>
          <a:blip r:embed="rId5"/>
          <a:stretch>
            <a:fillRect/>
          </a:stretch>
        </p:blipFill>
        <p:spPr>
          <a:xfrm>
            <a:off x="3006203" y="1631553"/>
            <a:ext cx="2037318" cy="771057"/>
          </a:xfrm>
          <a:prstGeom prst="rect">
            <a:avLst/>
          </a:prstGeom>
        </p:spPr>
      </p:pic>
      <p:pic>
        <p:nvPicPr>
          <p:cNvPr id="40" name="Picture 39" descr="home-1294564_960_720.png"/>
          <p:cNvPicPr>
            <a:picLocks noChangeAspect="1"/>
          </p:cNvPicPr>
          <p:nvPr/>
        </p:nvPicPr>
        <p:blipFill>
          <a:blip r:embed="rId6"/>
          <a:stretch>
            <a:fillRect/>
          </a:stretch>
        </p:blipFill>
        <p:spPr>
          <a:xfrm>
            <a:off x="5338389" y="1878338"/>
            <a:ext cx="724676" cy="727708"/>
          </a:xfrm>
          <a:prstGeom prst="rect">
            <a:avLst/>
          </a:prstGeom>
        </p:spPr>
      </p:pic>
      <p:sp>
        <p:nvSpPr>
          <p:cNvPr id="2" name="Rectangle 1"/>
          <p:cNvSpPr/>
          <p:nvPr/>
        </p:nvSpPr>
        <p:spPr>
          <a:xfrm>
            <a:off x="2225497" y="2477276"/>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Reflection from mountains </a:t>
            </a:r>
          </a:p>
        </p:txBody>
      </p:sp>
      <p:sp>
        <p:nvSpPr>
          <p:cNvPr id="41" name="Rectangle 40"/>
          <p:cNvSpPr/>
          <p:nvPr/>
        </p:nvSpPr>
        <p:spPr>
          <a:xfrm>
            <a:off x="3076102" y="3932769"/>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Reflection from tall building</a:t>
            </a:r>
          </a:p>
        </p:txBody>
      </p:sp>
      <p:sp>
        <p:nvSpPr>
          <p:cNvPr id="42" name="Rectangle 41"/>
          <p:cNvSpPr/>
          <p:nvPr/>
        </p:nvSpPr>
        <p:spPr>
          <a:xfrm>
            <a:off x="5917778" y="1898356"/>
            <a:ext cx="1067784" cy="427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Diffraction </a:t>
            </a:r>
          </a:p>
        </p:txBody>
      </p:sp>
      <p:sp>
        <p:nvSpPr>
          <p:cNvPr id="43" name="Rectangle 42"/>
          <p:cNvSpPr/>
          <p:nvPr/>
        </p:nvSpPr>
        <p:spPr>
          <a:xfrm>
            <a:off x="3807485" y="3252860"/>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Direct ray</a:t>
            </a:r>
          </a:p>
        </p:txBody>
      </p:sp>
    </p:spTree>
    <p:extLst>
      <p:ext uri="{BB962C8B-B14F-4D97-AF65-F5344CB8AC3E}">
        <p14:creationId xmlns:p14="http://schemas.microsoft.com/office/powerpoint/2010/main" val="2574526045"/>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Propagation Mechanism</a:t>
            </a:r>
          </a:p>
        </p:txBody>
      </p:sp>
      <p:sp>
        <p:nvSpPr>
          <p:cNvPr id="5" name="Content Placeholder 1"/>
          <p:cNvSpPr txBox="1">
            <a:spLocks/>
          </p:cNvSpPr>
          <p:nvPr/>
        </p:nvSpPr>
        <p:spPr bwMode="auto">
          <a:xfrm>
            <a:off x="245444" y="1556887"/>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sz="2000" b="1" dirty="0">
                <a:solidFill>
                  <a:srgbClr val="1F497D">
                    <a:lumMod val="60000"/>
                    <a:lumOff val="40000"/>
                  </a:srgbClr>
                </a:solidFill>
              </a:rPr>
              <a:t>Reflection</a:t>
            </a:r>
            <a:r>
              <a:rPr lang="en-US" sz="2400" b="1" dirty="0">
                <a:solidFill>
                  <a:srgbClr val="1F497D">
                    <a:lumMod val="60000"/>
                    <a:lumOff val="40000"/>
                  </a:srgbClr>
                </a:solidFill>
              </a:rPr>
              <a:t> </a:t>
            </a:r>
          </a:p>
          <a:p>
            <a:r>
              <a:rPr lang="en-US" dirty="0">
                <a:solidFill>
                  <a:prstClr val="black"/>
                </a:solidFill>
              </a:rPr>
              <a:t>Reflection occurs when the Electromagnetic  waves impinge on objects which are much greater than the wavelength of the traveling wave.</a:t>
            </a:r>
          </a:p>
          <a:p>
            <a:pPr marL="0" indent="0">
              <a:buNone/>
            </a:pPr>
            <a:r>
              <a:rPr lang="en-US" sz="2000" b="1" u="sng" dirty="0">
                <a:solidFill>
                  <a:srgbClr val="1F497D">
                    <a:lumMod val="60000"/>
                    <a:lumOff val="40000"/>
                  </a:srgbClr>
                </a:solidFill>
                <a:latin typeface="Calibri"/>
              </a:rPr>
              <a:t>Reflection from Dielectrics</a:t>
            </a:r>
          </a:p>
          <a:p>
            <a:endParaRPr lang="en-US" sz="3600" b="1" dirty="0">
              <a:solidFill>
                <a:srgbClr val="1F497D">
                  <a:lumMod val="60000"/>
                  <a:lumOff val="40000"/>
                </a:srgbClr>
              </a:solidFill>
              <a:latin typeface="Calibri"/>
            </a:endParaRPr>
          </a:p>
          <a:p>
            <a:endParaRPr lang="en-US" sz="3600" b="1" dirty="0">
              <a:solidFill>
                <a:srgbClr val="1F497D">
                  <a:lumMod val="60000"/>
                  <a:lumOff val="40000"/>
                </a:srgbClr>
              </a:solidFill>
              <a:latin typeface="Calibri"/>
            </a:endParaRPr>
          </a:p>
          <a:p>
            <a:endParaRPr lang="en-US" b="1" dirty="0">
              <a:solidFill>
                <a:srgbClr val="1F497D">
                  <a:lumMod val="60000"/>
                  <a:lumOff val="40000"/>
                </a:srgbClr>
              </a:solidFill>
            </a:endParaRPr>
          </a:p>
        </p:txBody>
      </p:sp>
      <p:pic>
        <p:nvPicPr>
          <p:cNvPr id="6" name="Picture 5"/>
          <p:cNvPicPr>
            <a:picLocks noChangeAspect="1"/>
          </p:cNvPicPr>
          <p:nvPr/>
        </p:nvPicPr>
        <p:blipFill rotWithShape="1">
          <a:blip r:embed="rId2"/>
          <a:srcRect l="42972" t="32292" r="39458" b="42708"/>
          <a:stretch/>
        </p:blipFill>
        <p:spPr>
          <a:xfrm>
            <a:off x="668956" y="3429132"/>
            <a:ext cx="4876800" cy="2102118"/>
          </a:xfrm>
          <a:prstGeom prst="rect">
            <a:avLst/>
          </a:prstGeom>
        </p:spPr>
      </p:pic>
      <p:sp>
        <p:nvSpPr>
          <p:cNvPr id="7" name="TextBox 6"/>
          <p:cNvSpPr txBox="1"/>
          <p:nvPr/>
        </p:nvSpPr>
        <p:spPr>
          <a:xfrm>
            <a:off x="5369959" y="3429132"/>
            <a:ext cx="2438400" cy="923330"/>
          </a:xfrm>
          <a:prstGeom prst="rect">
            <a:avLst/>
          </a:prstGeom>
          <a:solidFill>
            <a:srgbClr val="FFC000"/>
          </a:solidFill>
          <a:ln>
            <a:solidFill>
              <a:schemeClr val="tx1"/>
            </a:solidFill>
          </a:ln>
        </p:spPr>
        <p:txBody>
          <a:bodyPr wrap="square" rtlCol="0">
            <a:spAutoFit/>
          </a:bodyPr>
          <a:lstStyle/>
          <a:p>
            <a:pPr algn="l" rtl="0"/>
            <a:r>
              <a:rPr lang="en-IN" kern="1200" dirty="0">
                <a:solidFill>
                  <a:prstClr val="black"/>
                </a:solidFill>
                <a:latin typeface="Calibri"/>
                <a:ea typeface="+mn-ea"/>
                <a:cs typeface="+mn-cs"/>
              </a:rPr>
              <a:t>Ɛ – Permittivity</a:t>
            </a:r>
          </a:p>
          <a:p>
            <a:pPr algn="l" rtl="0"/>
            <a:r>
              <a:rPr lang="el-GR" kern="1200" dirty="0">
                <a:solidFill>
                  <a:prstClr val="black"/>
                </a:solidFill>
                <a:latin typeface="Calibri"/>
                <a:ea typeface="+mn-ea"/>
                <a:cs typeface="+mn-cs"/>
              </a:rPr>
              <a:t>σ</a:t>
            </a:r>
            <a:r>
              <a:rPr lang="en-IN" kern="1200" dirty="0">
                <a:solidFill>
                  <a:prstClr val="black"/>
                </a:solidFill>
                <a:latin typeface="Calibri"/>
                <a:ea typeface="+mn-ea"/>
                <a:cs typeface="+mn-cs"/>
              </a:rPr>
              <a:t>- Conductance </a:t>
            </a:r>
          </a:p>
          <a:p>
            <a:pPr algn="l" rtl="0"/>
            <a:r>
              <a:rPr lang="el-GR" kern="1200" dirty="0">
                <a:solidFill>
                  <a:prstClr val="black"/>
                </a:solidFill>
                <a:latin typeface="Calibri"/>
                <a:ea typeface="+mn-ea"/>
                <a:cs typeface="+mn-cs"/>
              </a:rPr>
              <a:t>μ</a:t>
            </a:r>
            <a:r>
              <a:rPr lang="en-IN" kern="1200" dirty="0">
                <a:solidFill>
                  <a:prstClr val="black"/>
                </a:solidFill>
                <a:latin typeface="Calibri"/>
                <a:ea typeface="+mn-ea"/>
                <a:cs typeface="+mn-cs"/>
              </a:rPr>
              <a:t>- Permeability</a:t>
            </a:r>
          </a:p>
        </p:txBody>
      </p:sp>
      <p:sp>
        <p:nvSpPr>
          <p:cNvPr id="8" name="Rectangle 7"/>
          <p:cNvSpPr/>
          <p:nvPr/>
        </p:nvSpPr>
        <p:spPr>
          <a:xfrm>
            <a:off x="7352254" y="5506119"/>
            <a:ext cx="1939631" cy="458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7000"/>
              </a:lnSpc>
              <a:spcAft>
                <a:spcPts val="800"/>
              </a:spcAft>
            </a:pPr>
            <a:r>
              <a:rPr lang="en-IN" sz="8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8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9312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Propagation Mechanism</a:t>
            </a:r>
          </a:p>
        </p:txBody>
      </p:sp>
      <p:sp>
        <p:nvSpPr>
          <p:cNvPr id="4" name="Content Placeholder 1"/>
          <p:cNvSpPr>
            <a:spLocks noGrp="1"/>
          </p:cNvSpPr>
          <p:nvPr>
            <p:ph idx="1"/>
          </p:nvPr>
        </p:nvSpPr>
        <p:spPr>
          <a:xfrm>
            <a:off x="113414" y="1745032"/>
            <a:ext cx="8229600" cy="4525963"/>
          </a:xfrm>
        </p:spPr>
        <p:txBody>
          <a:bodyPr>
            <a:normAutofit/>
          </a:bodyPr>
          <a:lstStyle/>
          <a:p>
            <a:pPr>
              <a:buFont typeface="Arial" panose="020B0604020202020204" pitchFamily="34" charset="0"/>
              <a:buChar char="•"/>
            </a:pPr>
            <a:r>
              <a:rPr lang="en-US" b="1" dirty="0">
                <a:solidFill>
                  <a:schemeClr val="tx2">
                    <a:lumMod val="60000"/>
                    <a:lumOff val="40000"/>
                  </a:schemeClr>
                </a:solidFill>
              </a:rPr>
              <a:t> Brewster angle:</a:t>
            </a:r>
            <a:r>
              <a:rPr lang="en-US" b="1" dirty="0"/>
              <a:t> Brewster's angle</a:t>
            </a:r>
            <a:r>
              <a:rPr lang="en-US" dirty="0"/>
              <a:t> (also known as the </a:t>
            </a:r>
            <a:r>
              <a:rPr lang="en-US" b="1" dirty="0"/>
              <a:t>polarization angle</a:t>
            </a:r>
            <a:r>
              <a:rPr lang="en-US" dirty="0"/>
              <a:t>) is an angle of incidence at which wave  is perfectly transmitted through surface, with no reflection.</a:t>
            </a:r>
            <a:endParaRPr lang="en-US" b="1" dirty="0">
              <a:solidFill>
                <a:schemeClr val="tx2">
                  <a:lumMod val="60000"/>
                  <a:lumOff val="40000"/>
                </a:schemeClr>
              </a:solidFill>
            </a:endParaRPr>
          </a:p>
          <a:p>
            <a:pPr marL="0" indent="0">
              <a:buNone/>
            </a:pPr>
            <a:r>
              <a:rPr lang="en-US" b="1" dirty="0">
                <a:solidFill>
                  <a:schemeClr val="tx2">
                    <a:lumMod val="60000"/>
                    <a:lumOff val="40000"/>
                  </a:schemeClr>
                </a:solidFill>
              </a:rPr>
              <a:t>    Sin (</a:t>
            </a:r>
            <a:r>
              <a:rPr lang="el-GR" b="1" dirty="0">
                <a:solidFill>
                  <a:schemeClr val="tx2">
                    <a:lumMod val="60000"/>
                    <a:lumOff val="40000"/>
                  </a:schemeClr>
                </a:solidFill>
              </a:rPr>
              <a:t>θ</a:t>
            </a:r>
            <a:r>
              <a:rPr lang="en-US" b="1" baseline="-25000" dirty="0">
                <a:solidFill>
                  <a:schemeClr val="tx2">
                    <a:lumMod val="60000"/>
                    <a:lumOff val="40000"/>
                  </a:schemeClr>
                </a:solidFill>
              </a:rPr>
              <a:t>B</a:t>
            </a:r>
            <a:r>
              <a:rPr lang="en-US" b="1" dirty="0">
                <a:solidFill>
                  <a:schemeClr val="tx2">
                    <a:lumMod val="60000"/>
                    <a:lumOff val="40000"/>
                  </a:schemeClr>
                </a:solidFill>
              </a:rPr>
              <a:t>)= (</a:t>
            </a:r>
            <a:r>
              <a:rPr lang="el-GR" b="1" dirty="0">
                <a:solidFill>
                  <a:schemeClr val="tx2">
                    <a:lumMod val="60000"/>
                    <a:lumOff val="40000"/>
                  </a:schemeClr>
                </a:solidFill>
              </a:rPr>
              <a:t>ε</a:t>
            </a:r>
            <a:r>
              <a:rPr lang="en-US" b="1" baseline="-25000" dirty="0">
                <a:solidFill>
                  <a:schemeClr val="tx2">
                    <a:lumMod val="60000"/>
                    <a:lumOff val="40000"/>
                  </a:schemeClr>
                </a:solidFill>
              </a:rPr>
              <a:t>1</a:t>
            </a:r>
            <a:r>
              <a:rPr lang="en-US" b="1" dirty="0">
                <a:solidFill>
                  <a:schemeClr val="tx2">
                    <a:lumMod val="60000"/>
                    <a:lumOff val="40000"/>
                  </a:schemeClr>
                </a:solidFill>
              </a:rPr>
              <a:t> / (</a:t>
            </a:r>
            <a:r>
              <a:rPr lang="el-GR" b="1" dirty="0">
                <a:solidFill>
                  <a:schemeClr val="tx2">
                    <a:lumMod val="60000"/>
                    <a:lumOff val="40000"/>
                  </a:schemeClr>
                </a:solidFill>
              </a:rPr>
              <a:t>ε</a:t>
            </a:r>
            <a:r>
              <a:rPr lang="en-US" b="1" baseline="-25000" dirty="0">
                <a:solidFill>
                  <a:schemeClr val="tx2">
                    <a:lumMod val="60000"/>
                    <a:lumOff val="40000"/>
                  </a:schemeClr>
                </a:solidFill>
              </a:rPr>
              <a:t>1</a:t>
            </a:r>
            <a:r>
              <a:rPr lang="en-US" b="1" dirty="0">
                <a:solidFill>
                  <a:schemeClr val="tx2">
                    <a:lumMod val="60000"/>
                    <a:lumOff val="40000"/>
                  </a:schemeClr>
                </a:solidFill>
              </a:rPr>
              <a:t> + </a:t>
            </a:r>
            <a:r>
              <a:rPr lang="el-GR" b="1" dirty="0">
                <a:solidFill>
                  <a:schemeClr val="tx2">
                    <a:lumMod val="60000"/>
                    <a:lumOff val="40000"/>
                  </a:schemeClr>
                </a:solidFill>
              </a:rPr>
              <a:t>ε</a:t>
            </a:r>
            <a:r>
              <a:rPr lang="en-US" b="1" baseline="-25000" dirty="0">
                <a:solidFill>
                  <a:schemeClr val="tx2">
                    <a:lumMod val="60000"/>
                    <a:lumOff val="40000"/>
                  </a:schemeClr>
                </a:solidFill>
              </a:rPr>
              <a:t>2</a:t>
            </a:r>
            <a:r>
              <a:rPr lang="en-US" b="1" dirty="0">
                <a:solidFill>
                  <a:schemeClr val="tx2">
                    <a:lumMod val="60000"/>
                    <a:lumOff val="40000"/>
                  </a:schemeClr>
                </a:solidFill>
              </a:rPr>
              <a:t> ))</a:t>
            </a:r>
            <a:r>
              <a:rPr lang="en-US" b="1" baseline="30000" dirty="0">
                <a:solidFill>
                  <a:schemeClr val="tx2">
                    <a:lumMod val="60000"/>
                    <a:lumOff val="40000"/>
                  </a:schemeClr>
                </a:solidFill>
              </a:rPr>
              <a:t> 1/2</a:t>
            </a:r>
          </a:p>
          <a:p>
            <a:pPr marL="0" indent="0">
              <a:buNone/>
            </a:pPr>
            <a:r>
              <a:rPr lang="en-US" b="1" dirty="0"/>
              <a:t>    First medium is free space:</a:t>
            </a:r>
            <a:r>
              <a:rPr lang="en-US" b="1" dirty="0">
                <a:solidFill>
                  <a:schemeClr val="tx2">
                    <a:lumMod val="60000"/>
                    <a:lumOff val="40000"/>
                  </a:schemeClr>
                </a:solidFill>
              </a:rPr>
              <a:t>		</a:t>
            </a:r>
          </a:p>
          <a:p>
            <a:pPr marL="0" indent="0">
              <a:buNone/>
            </a:pPr>
            <a:r>
              <a:rPr lang="en-US" b="1" dirty="0">
                <a:solidFill>
                  <a:schemeClr val="tx2">
                    <a:lumMod val="60000"/>
                    <a:lumOff val="40000"/>
                  </a:schemeClr>
                </a:solidFill>
              </a:rPr>
              <a:t>    sin (</a:t>
            </a:r>
            <a:r>
              <a:rPr lang="el-GR" b="1" dirty="0">
                <a:solidFill>
                  <a:schemeClr val="tx2">
                    <a:lumMod val="60000"/>
                    <a:lumOff val="40000"/>
                  </a:schemeClr>
                </a:solidFill>
              </a:rPr>
              <a:t>θ</a:t>
            </a:r>
            <a:r>
              <a:rPr lang="en-US" b="1" baseline="-25000" dirty="0">
                <a:solidFill>
                  <a:schemeClr val="tx2">
                    <a:lumMod val="60000"/>
                    <a:lumOff val="40000"/>
                  </a:schemeClr>
                </a:solidFill>
              </a:rPr>
              <a:t>B</a:t>
            </a:r>
            <a:r>
              <a:rPr lang="en-US" b="1" dirty="0">
                <a:solidFill>
                  <a:schemeClr val="tx2">
                    <a:lumMod val="60000"/>
                    <a:lumOff val="40000"/>
                  </a:schemeClr>
                </a:solidFill>
              </a:rPr>
              <a:t>)= (</a:t>
            </a:r>
            <a:r>
              <a:rPr lang="el-GR" b="1" dirty="0">
                <a:solidFill>
                  <a:schemeClr val="tx2">
                    <a:lumMod val="60000"/>
                    <a:lumOff val="40000"/>
                  </a:schemeClr>
                </a:solidFill>
              </a:rPr>
              <a:t>ε</a:t>
            </a:r>
            <a:r>
              <a:rPr lang="en-US" b="1" baseline="-25000" dirty="0">
                <a:solidFill>
                  <a:schemeClr val="tx2">
                    <a:lumMod val="60000"/>
                    <a:lumOff val="40000"/>
                  </a:schemeClr>
                </a:solidFill>
              </a:rPr>
              <a:t>r</a:t>
            </a:r>
            <a:r>
              <a:rPr lang="en-US" b="1" dirty="0">
                <a:solidFill>
                  <a:schemeClr val="tx2">
                    <a:lumMod val="60000"/>
                    <a:lumOff val="40000"/>
                  </a:schemeClr>
                </a:solidFill>
              </a:rPr>
              <a:t>-1)</a:t>
            </a:r>
            <a:r>
              <a:rPr lang="en-US" b="1" baseline="30000" dirty="0">
                <a:solidFill>
                  <a:schemeClr val="tx2">
                    <a:lumMod val="60000"/>
                    <a:lumOff val="40000"/>
                  </a:schemeClr>
                </a:solidFill>
              </a:rPr>
              <a:t>1/2</a:t>
            </a:r>
            <a:r>
              <a:rPr lang="en-US" b="1" dirty="0">
                <a:solidFill>
                  <a:schemeClr val="tx2">
                    <a:lumMod val="60000"/>
                    <a:lumOff val="40000"/>
                  </a:schemeClr>
                </a:solidFill>
              </a:rPr>
              <a:t>/(</a:t>
            </a:r>
            <a:r>
              <a:rPr lang="el-GR" b="1" dirty="0">
                <a:solidFill>
                  <a:schemeClr val="tx2">
                    <a:lumMod val="60000"/>
                    <a:lumOff val="40000"/>
                  </a:schemeClr>
                </a:solidFill>
              </a:rPr>
              <a:t>ε</a:t>
            </a:r>
            <a:r>
              <a:rPr lang="en-US" b="1" baseline="-25000" dirty="0">
                <a:solidFill>
                  <a:schemeClr val="tx2">
                    <a:lumMod val="60000"/>
                    <a:lumOff val="40000"/>
                  </a:schemeClr>
                </a:solidFill>
              </a:rPr>
              <a:t>r</a:t>
            </a:r>
            <a:r>
              <a:rPr lang="en-US" b="1" baseline="30000" dirty="0">
                <a:solidFill>
                  <a:schemeClr val="tx2">
                    <a:lumMod val="60000"/>
                    <a:lumOff val="40000"/>
                  </a:schemeClr>
                </a:solidFill>
              </a:rPr>
              <a:t>2</a:t>
            </a:r>
            <a:r>
              <a:rPr lang="en-US" b="1" dirty="0">
                <a:solidFill>
                  <a:schemeClr val="tx2">
                    <a:lumMod val="60000"/>
                    <a:lumOff val="40000"/>
                  </a:schemeClr>
                </a:solidFill>
              </a:rPr>
              <a:t>-1)</a:t>
            </a:r>
            <a:r>
              <a:rPr lang="en-US" b="1" baseline="30000" dirty="0">
                <a:solidFill>
                  <a:schemeClr val="tx2">
                    <a:lumMod val="60000"/>
                    <a:lumOff val="40000"/>
                  </a:schemeClr>
                </a:solidFill>
              </a:rPr>
              <a:t>1/2</a:t>
            </a:r>
          </a:p>
          <a:p>
            <a:endParaRPr lang="en-IN" dirty="0"/>
          </a:p>
          <a:p>
            <a:pPr>
              <a:buFont typeface="Arial" panose="020B0604020202020204" pitchFamily="34" charset="0"/>
              <a:buChar char="•"/>
            </a:pPr>
            <a:r>
              <a:rPr lang="en-IN" b="1" dirty="0">
                <a:solidFill>
                  <a:srgbClr val="0070C0"/>
                </a:solidFill>
              </a:rPr>
              <a:t>Reflection from perfect conductors</a:t>
            </a:r>
          </a:p>
          <a:p>
            <a:pPr marL="0" indent="0">
              <a:buNone/>
            </a:pPr>
            <a:r>
              <a:rPr lang="en-IN" b="1" dirty="0">
                <a:solidFill>
                  <a:srgbClr val="0070C0"/>
                </a:solidFill>
              </a:rPr>
              <a:t>	</a:t>
            </a:r>
            <a:r>
              <a:rPr lang="en-IN" b="1" dirty="0"/>
              <a:t>- EM energy cannot pass through perfect conductor</a:t>
            </a:r>
          </a:p>
          <a:p>
            <a:pPr marL="0" indent="0">
              <a:buNone/>
            </a:pPr>
            <a:r>
              <a:rPr lang="en-IN" b="1" dirty="0"/>
              <a:t>	- All of its energy is reflected</a:t>
            </a:r>
            <a:r>
              <a:rPr lang="en-IN" b="1" dirty="0">
                <a:solidFill>
                  <a:srgbClr val="0070C0"/>
                </a:solidFill>
              </a:rPr>
              <a:t>	</a:t>
            </a:r>
          </a:p>
        </p:txBody>
      </p:sp>
      <p:sp>
        <p:nvSpPr>
          <p:cNvPr id="5" name="TextBox 4"/>
          <p:cNvSpPr txBox="1"/>
          <p:nvPr/>
        </p:nvSpPr>
        <p:spPr>
          <a:xfrm>
            <a:off x="4680642" y="3652328"/>
            <a:ext cx="3585725" cy="369332"/>
          </a:xfrm>
          <a:prstGeom prst="rect">
            <a:avLst/>
          </a:prstGeom>
          <a:solidFill>
            <a:srgbClr val="FFC000"/>
          </a:solidFill>
          <a:ln>
            <a:solidFill>
              <a:schemeClr val="tx1"/>
            </a:solidFill>
          </a:ln>
        </p:spPr>
        <p:txBody>
          <a:bodyPr wrap="none" rtlCol="0">
            <a:spAutoFit/>
          </a:bodyPr>
          <a:lstStyle/>
          <a:p>
            <a:pPr algn="l" rtl="0"/>
            <a:r>
              <a:rPr lang="en-IN" b="1" kern="1200" dirty="0">
                <a:solidFill>
                  <a:prstClr val="black"/>
                </a:solidFill>
                <a:latin typeface="Calibri"/>
                <a:ea typeface="+mn-ea"/>
                <a:cs typeface="+mn-cs"/>
              </a:rPr>
              <a:t>Occurs only for Vertical polarization</a:t>
            </a:r>
          </a:p>
        </p:txBody>
      </p:sp>
      <p:cxnSp>
        <p:nvCxnSpPr>
          <p:cNvPr id="6" name="Straight Arrow Connector 5"/>
          <p:cNvCxnSpPr/>
          <p:nvPr/>
        </p:nvCxnSpPr>
        <p:spPr>
          <a:xfrm flipH="1" flipV="1">
            <a:off x="5066414" y="2994394"/>
            <a:ext cx="6096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4224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81648" y="1175974"/>
            <a:ext cx="6537960" cy="582930"/>
          </a:xfrm>
        </p:spPr>
        <p:txBody>
          <a:bodyPr/>
          <a:lstStyle/>
          <a:p>
            <a:r>
              <a:rPr lang="en-US" dirty="0"/>
              <a:t>Example </a:t>
            </a:r>
          </a:p>
          <a:p>
            <a:endParaRPr lang="en-IN" dirty="0"/>
          </a:p>
        </p:txBody>
      </p:sp>
      <p:sp>
        <p:nvSpPr>
          <p:cNvPr id="3" name="Content Placeholder 2"/>
          <p:cNvSpPr>
            <a:spLocks noGrp="1"/>
          </p:cNvSpPr>
          <p:nvPr>
            <p:ph idx="1"/>
          </p:nvPr>
        </p:nvSpPr>
        <p:spPr/>
        <p:txBody>
          <a:bodyPr/>
          <a:lstStyle/>
          <a:p>
            <a:pPr marL="0" indent="0">
              <a:buNone/>
            </a:pPr>
            <a:r>
              <a:rPr lang="en-US" b="1" dirty="0">
                <a:solidFill>
                  <a:schemeClr val="tx2">
                    <a:lumMod val="60000"/>
                    <a:lumOff val="40000"/>
                  </a:schemeClr>
                </a:solidFill>
              </a:rPr>
              <a:t>Calculate the Brewster angle for a wave impinging on the ground  with a permittivity of 7. Assume the frequency to 200MHz. </a:t>
            </a:r>
          </a:p>
          <a:p>
            <a:endParaRPr lang="en-US" dirty="0"/>
          </a:p>
          <a:p>
            <a:pPr marL="0" indent="0">
              <a:buNone/>
            </a:pPr>
            <a:r>
              <a:rPr lang="en-US" dirty="0"/>
              <a:t>Solution: </a:t>
            </a:r>
            <a:r>
              <a:rPr lang="en-US" b="1" dirty="0">
                <a:solidFill>
                  <a:schemeClr val="tx2">
                    <a:lumMod val="60000"/>
                    <a:lumOff val="40000"/>
                  </a:schemeClr>
                </a:solidFill>
              </a:rPr>
              <a:t>sin (</a:t>
            </a:r>
            <a:r>
              <a:rPr lang="el-GR" b="1" dirty="0">
                <a:solidFill>
                  <a:schemeClr val="tx2">
                    <a:lumMod val="60000"/>
                    <a:lumOff val="40000"/>
                  </a:schemeClr>
                </a:solidFill>
              </a:rPr>
              <a:t>θ</a:t>
            </a:r>
            <a:r>
              <a:rPr lang="en-US" b="1" baseline="-25000" dirty="0">
                <a:solidFill>
                  <a:schemeClr val="tx2">
                    <a:lumMod val="60000"/>
                    <a:lumOff val="40000"/>
                  </a:schemeClr>
                </a:solidFill>
              </a:rPr>
              <a:t>B</a:t>
            </a:r>
            <a:r>
              <a:rPr lang="en-US" b="1" dirty="0">
                <a:solidFill>
                  <a:schemeClr val="tx2">
                    <a:lumMod val="60000"/>
                    <a:lumOff val="40000"/>
                  </a:schemeClr>
                </a:solidFill>
              </a:rPr>
              <a:t>)= (</a:t>
            </a:r>
            <a:r>
              <a:rPr lang="el-GR" b="1" dirty="0">
                <a:solidFill>
                  <a:schemeClr val="tx2">
                    <a:lumMod val="60000"/>
                    <a:lumOff val="40000"/>
                  </a:schemeClr>
                </a:solidFill>
              </a:rPr>
              <a:t>ε</a:t>
            </a:r>
            <a:r>
              <a:rPr lang="en-US" b="1" baseline="-25000" dirty="0">
                <a:solidFill>
                  <a:schemeClr val="tx2">
                    <a:lumMod val="60000"/>
                    <a:lumOff val="40000"/>
                  </a:schemeClr>
                </a:solidFill>
              </a:rPr>
              <a:t>r</a:t>
            </a:r>
            <a:r>
              <a:rPr lang="en-US" b="1" dirty="0">
                <a:solidFill>
                  <a:schemeClr val="tx2">
                    <a:lumMod val="60000"/>
                    <a:lumOff val="40000"/>
                  </a:schemeClr>
                </a:solidFill>
              </a:rPr>
              <a:t>-1)</a:t>
            </a:r>
            <a:r>
              <a:rPr lang="en-US" b="1" baseline="30000" dirty="0">
                <a:solidFill>
                  <a:schemeClr val="tx2">
                    <a:lumMod val="60000"/>
                    <a:lumOff val="40000"/>
                  </a:schemeClr>
                </a:solidFill>
              </a:rPr>
              <a:t>1/2</a:t>
            </a:r>
            <a:r>
              <a:rPr lang="en-US" b="1" dirty="0">
                <a:solidFill>
                  <a:schemeClr val="tx2">
                    <a:lumMod val="60000"/>
                    <a:lumOff val="40000"/>
                  </a:schemeClr>
                </a:solidFill>
              </a:rPr>
              <a:t>/(</a:t>
            </a:r>
            <a:r>
              <a:rPr lang="el-GR" b="1" dirty="0">
                <a:solidFill>
                  <a:schemeClr val="tx2">
                    <a:lumMod val="60000"/>
                    <a:lumOff val="40000"/>
                  </a:schemeClr>
                </a:solidFill>
              </a:rPr>
              <a:t>ε</a:t>
            </a:r>
            <a:r>
              <a:rPr lang="en-US" b="1" baseline="-25000" dirty="0">
                <a:solidFill>
                  <a:schemeClr val="tx2">
                    <a:lumMod val="60000"/>
                    <a:lumOff val="40000"/>
                  </a:schemeClr>
                </a:solidFill>
              </a:rPr>
              <a:t>r</a:t>
            </a:r>
            <a:r>
              <a:rPr lang="en-US" b="1" baseline="30000" dirty="0">
                <a:solidFill>
                  <a:schemeClr val="tx2">
                    <a:lumMod val="60000"/>
                    <a:lumOff val="40000"/>
                  </a:schemeClr>
                </a:solidFill>
              </a:rPr>
              <a:t>2</a:t>
            </a:r>
            <a:r>
              <a:rPr lang="en-US" b="1" dirty="0">
                <a:solidFill>
                  <a:schemeClr val="tx2">
                    <a:lumMod val="60000"/>
                    <a:lumOff val="40000"/>
                  </a:schemeClr>
                </a:solidFill>
              </a:rPr>
              <a:t>-1)</a:t>
            </a:r>
            <a:r>
              <a:rPr lang="en-US" b="1" baseline="30000" dirty="0">
                <a:solidFill>
                  <a:schemeClr val="tx2">
                    <a:lumMod val="60000"/>
                    <a:lumOff val="40000"/>
                  </a:schemeClr>
                </a:solidFill>
              </a:rPr>
              <a:t>1/2</a:t>
            </a:r>
          </a:p>
          <a:p>
            <a:pPr marL="0" indent="0">
              <a:buNone/>
            </a:pPr>
            <a:endParaRPr lang="en-IN" dirty="0"/>
          </a:p>
        </p:txBody>
      </p:sp>
    </p:spTree>
    <p:extLst>
      <p:ext uri="{BB962C8B-B14F-4D97-AF65-F5344CB8AC3E}">
        <p14:creationId xmlns:p14="http://schemas.microsoft.com/office/powerpoint/2010/main" val="415656233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963935"/>
            <a:ext cx="6537960" cy="582930"/>
          </a:xfrm>
        </p:spPr>
        <p:txBody>
          <a:bodyPr/>
          <a:lstStyle/>
          <a:p>
            <a:r>
              <a:rPr lang="en-US" dirty="0"/>
              <a:t>Propagation Mechanism</a:t>
            </a:r>
          </a:p>
        </p:txBody>
      </p:sp>
      <p:sp>
        <p:nvSpPr>
          <p:cNvPr id="4" name="Content Placeholder 1"/>
          <p:cNvSpPr>
            <a:spLocks noGrp="1"/>
          </p:cNvSpPr>
          <p:nvPr>
            <p:ph idx="1"/>
          </p:nvPr>
        </p:nvSpPr>
        <p:spPr>
          <a:xfrm>
            <a:off x="74429" y="1663211"/>
            <a:ext cx="8941980" cy="4467788"/>
          </a:xfrm>
        </p:spPr>
        <p:txBody>
          <a:bodyPr>
            <a:normAutofit fontScale="40000" lnSpcReduction="20000"/>
          </a:bodyPr>
          <a:lstStyle/>
          <a:p>
            <a:pPr>
              <a:buFont typeface="Arial" pitchFamily="34" charset="0"/>
              <a:buChar char="•"/>
            </a:pPr>
            <a:r>
              <a:rPr lang="en-US" sz="4500" b="1" dirty="0">
                <a:solidFill>
                  <a:schemeClr val="tx2">
                    <a:lumMod val="60000"/>
                    <a:lumOff val="40000"/>
                  </a:schemeClr>
                </a:solidFill>
              </a:rPr>
              <a:t>Scattering</a:t>
            </a:r>
          </a:p>
          <a:p>
            <a:pPr marL="0" lvl="1" indent="0">
              <a:buClr>
                <a:srgbClr val="101141"/>
              </a:buClr>
              <a:buNone/>
            </a:pPr>
            <a:r>
              <a:rPr lang="en-US" sz="3600" dirty="0">
                <a:solidFill>
                  <a:schemeClr val="tx2">
                    <a:lumMod val="60000"/>
                    <a:lumOff val="40000"/>
                  </a:schemeClr>
                </a:solidFill>
              </a:rPr>
              <a:t>	</a:t>
            </a:r>
            <a:r>
              <a:rPr lang="en-US" sz="3800" dirty="0"/>
              <a:t>This occurs when the size of the objects is less than the wavelength of the travelling wave. </a:t>
            </a:r>
          </a:p>
          <a:p>
            <a:pPr marL="0" lvl="1" indent="0">
              <a:buClr>
                <a:srgbClr val="101141"/>
              </a:buClr>
              <a:buNone/>
            </a:pPr>
            <a:r>
              <a:rPr lang="en-US" sz="3800" dirty="0"/>
              <a:t>	</a:t>
            </a:r>
          </a:p>
          <a:p>
            <a:pPr marL="0" lvl="1" indent="0">
              <a:buClr>
                <a:srgbClr val="101141"/>
              </a:buClr>
              <a:buNone/>
            </a:pPr>
            <a:r>
              <a:rPr lang="en-US" sz="3800" dirty="0"/>
              <a:t>             Occurs when a radio wave impinges on a rough surface, the reflected energy is spread out in all directions.</a:t>
            </a:r>
            <a:endParaRPr lang="en-IN" sz="3800" dirty="0"/>
          </a:p>
          <a:p>
            <a:pPr marL="0" lvl="1" indent="0">
              <a:buClr>
                <a:srgbClr val="101141"/>
              </a:buClr>
              <a:buNone/>
            </a:pPr>
            <a:r>
              <a:rPr lang="en-IN" sz="4500" dirty="0"/>
              <a:t>	</a:t>
            </a:r>
          </a:p>
          <a:p>
            <a:pPr marL="0" indent="0"/>
            <a:endParaRPr lang="en-US" sz="3600" b="1" dirty="0">
              <a:solidFill>
                <a:schemeClr val="tx2">
                  <a:lumMod val="60000"/>
                  <a:lumOff val="40000"/>
                </a:schemeClr>
              </a:solidFill>
            </a:endParaRPr>
          </a:p>
          <a:p>
            <a:pPr lvl="1">
              <a:buNone/>
            </a:pPr>
            <a:endParaRPr lang="en-US" dirty="0"/>
          </a:p>
          <a:p>
            <a:pPr marL="0" indent="0"/>
            <a:endParaRPr lang="en-US" dirty="0"/>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r>
              <a:rPr lang="en-US" sz="3800" dirty="0"/>
              <a:t>Surface roughness is tested using Critical height h</a:t>
            </a:r>
            <a:r>
              <a:rPr lang="en-US" sz="3800" baseline="-25000" dirty="0"/>
              <a:t>c</a:t>
            </a:r>
            <a:r>
              <a:rPr lang="en-US" sz="3800" dirty="0"/>
              <a:t> of surface perturbance for a given angle of incidence </a:t>
            </a:r>
            <a:r>
              <a:rPr lang="el-GR" sz="3800" dirty="0"/>
              <a:t>θ</a:t>
            </a:r>
            <a:r>
              <a:rPr lang="en-US" sz="3800" dirty="0" err="1"/>
              <a:t>i</a:t>
            </a:r>
            <a:r>
              <a:rPr lang="en-US" sz="3800" dirty="0"/>
              <a:t>.</a:t>
            </a:r>
          </a:p>
          <a:p>
            <a:pPr marL="0" indent="0">
              <a:buNone/>
            </a:pPr>
            <a:r>
              <a:rPr lang="en-US" sz="3800" dirty="0"/>
              <a:t>			h</a:t>
            </a:r>
            <a:r>
              <a:rPr lang="en-US" sz="3800" baseline="-25000" dirty="0"/>
              <a:t>c</a:t>
            </a:r>
            <a:r>
              <a:rPr lang="en-US" sz="3800" dirty="0"/>
              <a:t>= </a:t>
            </a:r>
            <a:r>
              <a:rPr lang="el-GR" sz="3800" dirty="0"/>
              <a:t>λ</a:t>
            </a:r>
            <a:r>
              <a:rPr lang="en-US" sz="3800" dirty="0"/>
              <a:t>/8 sin</a:t>
            </a:r>
            <a:r>
              <a:rPr lang="el-GR" sz="3800" dirty="0"/>
              <a:t> θ</a:t>
            </a:r>
            <a:r>
              <a:rPr lang="en-US" sz="3800" baseline="-25000" dirty="0" err="1"/>
              <a:t>i</a:t>
            </a:r>
            <a:r>
              <a:rPr lang="en-US" sz="3800" dirty="0"/>
              <a:t>. </a:t>
            </a:r>
          </a:p>
          <a:p>
            <a:endParaRPr lang="en-US" sz="3800" dirty="0"/>
          </a:p>
          <a:p>
            <a:pPr>
              <a:buFont typeface="Arial" pitchFamily="34" charset="0"/>
              <a:buChar char="•"/>
            </a:pPr>
            <a:r>
              <a:rPr lang="en-US" sz="3800" dirty="0"/>
              <a:t>A surface is considered smooth if h &lt;h</a:t>
            </a:r>
            <a:r>
              <a:rPr lang="en-US" sz="3800" baseline="-25000" dirty="0"/>
              <a:t>c</a:t>
            </a:r>
            <a:r>
              <a:rPr lang="en-US" sz="3800" dirty="0"/>
              <a:t> and rough if h&gt;h</a:t>
            </a:r>
            <a:r>
              <a:rPr lang="en-US" sz="3800" baseline="-25000" dirty="0"/>
              <a:t>c</a:t>
            </a:r>
            <a:r>
              <a:rPr lang="en-US" sz="3800" dirty="0"/>
              <a:t>. </a:t>
            </a:r>
          </a:p>
          <a:p>
            <a:endParaRPr lang="en-US" sz="3800" dirty="0"/>
          </a:p>
        </p:txBody>
      </p:sp>
      <p:pic>
        <p:nvPicPr>
          <p:cNvPr id="5" name="Picture 6" descr="http://www.mike-willis.com/Images/scatter2.gif"/>
          <p:cNvPicPr>
            <a:picLocks noChangeAspect="1" noChangeArrowheads="1"/>
          </p:cNvPicPr>
          <p:nvPr/>
        </p:nvPicPr>
        <p:blipFill rotWithShape="1">
          <a:blip r:embed="rId2"/>
          <a:srcRect t="13077" r="27600" b="37232"/>
          <a:stretch/>
        </p:blipFill>
        <p:spPr bwMode="auto">
          <a:xfrm>
            <a:off x="1399483" y="2944436"/>
            <a:ext cx="3958323" cy="1356027"/>
          </a:xfrm>
          <a:prstGeom prst="rect">
            <a:avLst/>
          </a:prstGeom>
          <a:noFill/>
        </p:spPr>
      </p:pic>
    </p:spTree>
    <p:extLst>
      <p:ext uri="{BB962C8B-B14F-4D97-AF65-F5344CB8AC3E}">
        <p14:creationId xmlns:p14="http://schemas.microsoft.com/office/powerpoint/2010/main" val="215960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989815"/>
            <a:ext cx="6537960" cy="582930"/>
          </a:xfrm>
        </p:spPr>
        <p:txBody>
          <a:bodyPr/>
          <a:lstStyle/>
          <a:p>
            <a:r>
              <a:rPr lang="en-US" sz="2400" dirty="0"/>
              <a:t>Propagation Mechanism</a:t>
            </a:r>
          </a:p>
        </p:txBody>
      </p:sp>
      <p:sp>
        <p:nvSpPr>
          <p:cNvPr id="3" name="Content Placeholder 2"/>
          <p:cNvSpPr>
            <a:spLocks noGrp="1"/>
          </p:cNvSpPr>
          <p:nvPr>
            <p:ph idx="1"/>
          </p:nvPr>
        </p:nvSpPr>
        <p:spPr/>
        <p:txBody>
          <a:bodyPr/>
          <a:lstStyle/>
          <a:p>
            <a:pPr marL="0" indent="0">
              <a:buNone/>
            </a:pPr>
            <a:r>
              <a:rPr lang="en-IN" b="1" dirty="0">
                <a:solidFill>
                  <a:srgbClr val="0070C0"/>
                </a:solidFill>
              </a:rPr>
              <a:t>Diffraction:</a:t>
            </a:r>
          </a:p>
          <a:p>
            <a:r>
              <a:rPr lang="en-IN" dirty="0"/>
              <a:t>Occurs when the radio path between the transmitter and the receiver is obstructed by a surface that has sharp irregularities.</a:t>
            </a:r>
          </a:p>
          <a:p>
            <a:r>
              <a:rPr lang="en-IN" dirty="0"/>
              <a:t>It results in bending of the waves around the object.</a:t>
            </a:r>
          </a:p>
          <a:p>
            <a:endParaRPr lang="en-IN" dirty="0"/>
          </a:p>
        </p:txBody>
      </p:sp>
      <p:sp>
        <p:nvSpPr>
          <p:cNvPr id="6" name="Flowchart: Process 5"/>
          <p:cNvSpPr/>
          <p:nvPr/>
        </p:nvSpPr>
        <p:spPr>
          <a:xfrm>
            <a:off x="6226581" y="3916921"/>
            <a:ext cx="1010093" cy="64858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cxnSp>
        <p:nvCxnSpPr>
          <p:cNvPr id="7" name="Straight Connector 6"/>
          <p:cNvCxnSpPr/>
          <p:nvPr/>
        </p:nvCxnSpPr>
        <p:spPr>
          <a:xfrm flipV="1">
            <a:off x="2579612" y="3061001"/>
            <a:ext cx="1676455" cy="101540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59950" y="3041558"/>
            <a:ext cx="2402565" cy="97105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579612" y="3172643"/>
            <a:ext cx="3179135" cy="94629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58747" y="3172643"/>
            <a:ext cx="925033" cy="818707"/>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600878" y="4140205"/>
            <a:ext cx="4019107" cy="4253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579612" y="4182736"/>
            <a:ext cx="2147777" cy="1286539"/>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4738022" y="4491079"/>
            <a:ext cx="1924493" cy="988828"/>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lowchart: Connector 13"/>
          <p:cNvSpPr/>
          <p:nvPr/>
        </p:nvSpPr>
        <p:spPr>
          <a:xfrm>
            <a:off x="2452022" y="4087041"/>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sp>
        <p:nvSpPr>
          <p:cNvPr id="15" name="Flowchart: Connector 14"/>
          <p:cNvSpPr/>
          <p:nvPr/>
        </p:nvSpPr>
        <p:spPr>
          <a:xfrm>
            <a:off x="2444927" y="4090579"/>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sp>
        <p:nvSpPr>
          <p:cNvPr id="16" name="Flowchart: Connector 15"/>
          <p:cNvSpPr/>
          <p:nvPr/>
        </p:nvSpPr>
        <p:spPr>
          <a:xfrm>
            <a:off x="2455560" y="4090579"/>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sp>
        <p:nvSpPr>
          <p:cNvPr id="17" name="Flowchart: Connector 16"/>
          <p:cNvSpPr/>
          <p:nvPr/>
        </p:nvSpPr>
        <p:spPr>
          <a:xfrm>
            <a:off x="2444927" y="4090579"/>
            <a:ext cx="106325" cy="106326"/>
          </a:xfrm>
          <a:prstGeom prst="flowChartConnector">
            <a:avLst/>
          </a:prstGeom>
          <a:solidFill>
            <a:schemeClr val="accent4">
              <a:lumMod val="10000"/>
              <a:lumOff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a:solidFill>
                <a:prstClr val="white"/>
              </a:solidFill>
              <a:latin typeface="Calibri"/>
            </a:endParaRPr>
          </a:p>
        </p:txBody>
      </p:sp>
      <p:pic>
        <p:nvPicPr>
          <p:cNvPr id="18" name="Picture 17" descr="Smartphone_icon_-_Noun_Project_283536.svg.png"/>
          <p:cNvPicPr>
            <a:picLocks noChangeAspect="1"/>
          </p:cNvPicPr>
          <p:nvPr/>
        </p:nvPicPr>
        <p:blipFill>
          <a:blip r:embed="rId2"/>
          <a:stretch>
            <a:fillRect/>
          </a:stretch>
        </p:blipFill>
        <p:spPr>
          <a:xfrm>
            <a:off x="6423283" y="3906289"/>
            <a:ext cx="701746" cy="701746"/>
          </a:xfrm>
          <a:prstGeom prst="rect">
            <a:avLst/>
          </a:prstGeom>
        </p:spPr>
      </p:pic>
      <p:pic>
        <p:nvPicPr>
          <p:cNvPr id="19" name="Picture 18" descr="Office_building_icon.png"/>
          <p:cNvPicPr>
            <a:picLocks noChangeAspect="1"/>
          </p:cNvPicPr>
          <p:nvPr/>
        </p:nvPicPr>
        <p:blipFill>
          <a:blip r:embed="rId3"/>
          <a:stretch>
            <a:fillRect/>
          </a:stretch>
        </p:blipFill>
        <p:spPr>
          <a:xfrm>
            <a:off x="4091154" y="4704362"/>
            <a:ext cx="1268195" cy="1268195"/>
          </a:xfrm>
          <a:prstGeom prst="rect">
            <a:avLst/>
          </a:prstGeom>
        </p:spPr>
      </p:pic>
      <p:pic>
        <p:nvPicPr>
          <p:cNvPr id="20" name="Picture 19" descr="tower-31235_960_720.png"/>
          <p:cNvPicPr>
            <a:picLocks noChangeAspect="1"/>
          </p:cNvPicPr>
          <p:nvPr/>
        </p:nvPicPr>
        <p:blipFill>
          <a:blip r:embed="rId4"/>
          <a:stretch>
            <a:fillRect/>
          </a:stretch>
        </p:blipFill>
        <p:spPr>
          <a:xfrm>
            <a:off x="1928258" y="3842493"/>
            <a:ext cx="1143057" cy="1573616"/>
          </a:xfrm>
          <a:prstGeom prst="rect">
            <a:avLst/>
          </a:prstGeom>
        </p:spPr>
      </p:pic>
      <p:pic>
        <p:nvPicPr>
          <p:cNvPr id="21" name="Picture 20" descr="mountain1.png"/>
          <p:cNvPicPr>
            <a:picLocks noChangeAspect="1"/>
          </p:cNvPicPr>
          <p:nvPr/>
        </p:nvPicPr>
        <p:blipFill>
          <a:blip r:embed="rId5"/>
          <a:stretch>
            <a:fillRect/>
          </a:stretch>
        </p:blipFill>
        <p:spPr>
          <a:xfrm>
            <a:off x="3711841" y="2828125"/>
            <a:ext cx="1127885" cy="426867"/>
          </a:xfrm>
          <a:prstGeom prst="rect">
            <a:avLst/>
          </a:prstGeom>
        </p:spPr>
      </p:pic>
      <p:pic>
        <p:nvPicPr>
          <p:cNvPr id="22" name="Picture 21" descr="home-1294564_960_720.png"/>
          <p:cNvPicPr>
            <a:picLocks noChangeAspect="1"/>
          </p:cNvPicPr>
          <p:nvPr/>
        </p:nvPicPr>
        <p:blipFill>
          <a:blip r:embed="rId6"/>
          <a:stretch>
            <a:fillRect/>
          </a:stretch>
        </p:blipFill>
        <p:spPr>
          <a:xfrm>
            <a:off x="5629494" y="2710746"/>
            <a:ext cx="724676" cy="727708"/>
          </a:xfrm>
          <a:prstGeom prst="rect">
            <a:avLst/>
          </a:prstGeom>
        </p:spPr>
      </p:pic>
      <p:sp>
        <p:nvSpPr>
          <p:cNvPr id="23" name="Rectangle 22"/>
          <p:cNvSpPr/>
          <p:nvPr/>
        </p:nvSpPr>
        <p:spPr>
          <a:xfrm>
            <a:off x="2585715" y="3099382"/>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Reflection from mountains </a:t>
            </a:r>
          </a:p>
        </p:txBody>
      </p:sp>
      <p:sp>
        <p:nvSpPr>
          <p:cNvPr id="24" name="Rectangle 23"/>
          <p:cNvSpPr/>
          <p:nvPr/>
        </p:nvSpPr>
        <p:spPr>
          <a:xfrm>
            <a:off x="3436320" y="4554875"/>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Reflection from tall building</a:t>
            </a:r>
          </a:p>
        </p:txBody>
      </p:sp>
      <p:sp>
        <p:nvSpPr>
          <p:cNvPr id="25" name="Rectangle 24"/>
          <p:cNvSpPr/>
          <p:nvPr/>
        </p:nvSpPr>
        <p:spPr>
          <a:xfrm>
            <a:off x="6086092" y="2678803"/>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Diffraction from roof</a:t>
            </a:r>
          </a:p>
        </p:txBody>
      </p:sp>
      <p:sp>
        <p:nvSpPr>
          <p:cNvPr id="26" name="Rectangle 25"/>
          <p:cNvSpPr/>
          <p:nvPr/>
        </p:nvSpPr>
        <p:spPr>
          <a:xfrm>
            <a:off x="4167703" y="3874966"/>
            <a:ext cx="1067784" cy="243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100" kern="1200" dirty="0">
                <a:solidFill>
                  <a:prstClr val="black"/>
                </a:solidFill>
                <a:latin typeface="Calibri"/>
              </a:rPr>
              <a:t>Direct ray</a:t>
            </a:r>
          </a:p>
        </p:txBody>
      </p:sp>
      <p:sp>
        <p:nvSpPr>
          <p:cNvPr id="5" name="Oval 4"/>
          <p:cNvSpPr/>
          <p:nvPr/>
        </p:nvSpPr>
        <p:spPr>
          <a:xfrm>
            <a:off x="5634761" y="2556831"/>
            <a:ext cx="1575863" cy="119468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Tree>
    <p:extLst>
      <p:ext uri="{BB962C8B-B14F-4D97-AF65-F5344CB8AC3E}">
        <p14:creationId xmlns:p14="http://schemas.microsoft.com/office/powerpoint/2010/main" val="62328000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Mobile Radio Propagation</a:t>
            </a:r>
          </a:p>
          <a:p>
            <a:endParaRPr lang="en-IN" dirty="0"/>
          </a:p>
        </p:txBody>
      </p:sp>
      <p:sp>
        <p:nvSpPr>
          <p:cNvPr id="5" name="TextBox 4"/>
          <p:cNvSpPr txBox="1"/>
          <p:nvPr/>
        </p:nvSpPr>
        <p:spPr>
          <a:xfrm>
            <a:off x="5247167" y="2042743"/>
            <a:ext cx="3657600" cy="830997"/>
          </a:xfrm>
          <a:prstGeom prst="rect">
            <a:avLst/>
          </a:prstGeom>
          <a:noFill/>
        </p:spPr>
        <p:txBody>
          <a:bodyPr wrap="square" rtlCol="0">
            <a:spAutoFit/>
          </a:bodyPr>
          <a:lstStyle/>
          <a:p>
            <a:pPr algn="l" rtl="0"/>
            <a:r>
              <a:rPr lang="en-US" sz="2400" kern="1200" dirty="0">
                <a:solidFill>
                  <a:srgbClr val="1F497D">
                    <a:lumMod val="60000"/>
                    <a:lumOff val="40000"/>
                  </a:srgbClr>
                </a:solidFill>
                <a:latin typeface="Calibri"/>
                <a:ea typeface="+mn-ea"/>
                <a:cs typeface="+mn-cs"/>
              </a:rPr>
              <a:t>At VLF, LF, MF bands, radio waves follow the ground</a:t>
            </a:r>
            <a:r>
              <a:rPr lang="en-US" kern="1200" dirty="0">
                <a:solidFill>
                  <a:prstClr val="black"/>
                </a:solidFill>
                <a:latin typeface="Calibri"/>
                <a:ea typeface="+mn-ea"/>
                <a:cs typeface="+mn-cs"/>
              </a:rPr>
              <a:t>.</a:t>
            </a:r>
          </a:p>
        </p:txBody>
      </p:sp>
      <p:sp>
        <p:nvSpPr>
          <p:cNvPr id="6" name="Rectangle 5"/>
          <p:cNvSpPr/>
          <p:nvPr/>
        </p:nvSpPr>
        <p:spPr>
          <a:xfrm>
            <a:off x="329609" y="3393543"/>
            <a:ext cx="8709136" cy="2862322"/>
          </a:xfrm>
          <a:prstGeom prst="rect">
            <a:avLst/>
          </a:prstGeom>
        </p:spPr>
        <p:txBody>
          <a:bodyPr wrap="square">
            <a:spAutoFit/>
          </a:bodyPr>
          <a:lstStyle/>
          <a:p>
            <a:pPr marL="285750" indent="-285750" algn="l" rtl="0">
              <a:buFont typeface="Arial" panose="020B0604020202020204" pitchFamily="34" charset="0"/>
              <a:buChar char="•"/>
            </a:pPr>
            <a:r>
              <a:rPr lang="en-US" kern="1200" dirty="0">
                <a:solidFill>
                  <a:srgbClr val="252525"/>
                </a:solidFill>
                <a:latin typeface="Arial" panose="020B0604020202020204" pitchFamily="34" charset="0"/>
                <a:ea typeface="Times New Roman" panose="02020603050405020304" pitchFamily="18" charset="0"/>
                <a:cs typeface="+mn-cs"/>
              </a:rPr>
              <a:t>Area between the surface of the earth and the </a:t>
            </a:r>
            <a:r>
              <a:rPr lang="en-US" kern="120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ionosphere</a:t>
            </a:r>
            <a:r>
              <a:rPr lang="en-US" kern="1200" dirty="0">
                <a:solidFill>
                  <a:srgbClr val="252525"/>
                </a:solidFill>
                <a:latin typeface="Arial" panose="020B0604020202020204" pitchFamily="34" charset="0"/>
                <a:ea typeface="Times New Roman" panose="02020603050405020304" pitchFamily="18" charset="0"/>
                <a:cs typeface="+mn-cs"/>
              </a:rPr>
              <a:t> for transmission. </a:t>
            </a:r>
          </a:p>
          <a:p>
            <a:pPr marL="285750" indent="-285750" algn="l" rtl="0">
              <a:buFont typeface="Arial" panose="020B0604020202020204" pitchFamily="34" charset="0"/>
              <a:buChar char="•"/>
            </a:pPr>
            <a:r>
              <a:rPr lang="en-US" kern="1200" dirty="0">
                <a:solidFill>
                  <a:srgbClr val="252525"/>
                </a:solidFill>
                <a:latin typeface="Arial" panose="020B0604020202020204" pitchFamily="34" charset="0"/>
                <a:ea typeface="Times New Roman" panose="02020603050405020304" pitchFamily="18" charset="0"/>
                <a:cs typeface="+mn-cs"/>
              </a:rPr>
              <a:t>Ground wave radio signal propagation is ideal for relatively </a:t>
            </a:r>
            <a:r>
              <a:rPr lang="en-US" kern="1200" dirty="0">
                <a:solidFill>
                  <a:srgbClr val="FF0000"/>
                </a:solidFill>
                <a:latin typeface="Arial" panose="020B0604020202020204" pitchFamily="34" charset="0"/>
                <a:ea typeface="Times New Roman" panose="02020603050405020304" pitchFamily="18" charset="0"/>
                <a:cs typeface="+mn-cs"/>
              </a:rPr>
              <a:t>short distance </a:t>
            </a:r>
            <a:r>
              <a:rPr lang="en-US" kern="1200" dirty="0">
                <a:solidFill>
                  <a:srgbClr val="252525"/>
                </a:solidFill>
                <a:latin typeface="Arial" panose="020B0604020202020204" pitchFamily="34" charset="0"/>
                <a:ea typeface="Times New Roman" panose="02020603050405020304" pitchFamily="18" charset="0"/>
                <a:cs typeface="+mn-cs"/>
              </a:rPr>
              <a:t>propagation as the wave front of the ground wave travels along the Earth's surface it is attenuated. </a:t>
            </a:r>
          </a:p>
          <a:p>
            <a:pPr marL="285750" indent="-285750" algn="l" rtl="0">
              <a:buFont typeface="Arial" panose="020B0604020202020204" pitchFamily="34" charset="0"/>
              <a:buChar char="•"/>
            </a:pPr>
            <a:r>
              <a:rPr lang="en-US" kern="1200" dirty="0">
                <a:solidFill>
                  <a:srgbClr val="252525"/>
                </a:solidFill>
                <a:latin typeface="Arial" panose="020B0604020202020204" pitchFamily="34" charset="0"/>
                <a:ea typeface="Times New Roman" panose="02020603050405020304" pitchFamily="18" charset="0"/>
                <a:cs typeface="+mn-cs"/>
              </a:rPr>
              <a:t>Frequency of the radio signal is one of the major determining factor as losses rise with increasing frequency. </a:t>
            </a:r>
          </a:p>
          <a:p>
            <a:pPr marL="285750" indent="-285750" algn="l" rtl="0">
              <a:buFont typeface="Arial" panose="020B0604020202020204" pitchFamily="34" charset="0"/>
              <a:buChar char="•"/>
            </a:pPr>
            <a:r>
              <a:rPr lang="en-US" kern="1200" dirty="0">
                <a:solidFill>
                  <a:srgbClr val="252525"/>
                </a:solidFill>
                <a:latin typeface="Arial" panose="020B0604020202020204" pitchFamily="34" charset="0"/>
                <a:ea typeface="Times New Roman" panose="02020603050405020304" pitchFamily="18" charset="0"/>
                <a:cs typeface="+mn-cs"/>
              </a:rPr>
              <a:t>The type of antenna and its polarization has a </a:t>
            </a:r>
            <a:r>
              <a:rPr lang="en-US" kern="1200" dirty="0">
                <a:solidFill>
                  <a:prstClr val="black"/>
                </a:solidFill>
                <a:latin typeface="Arial" panose="020B0604020202020204" pitchFamily="34" charset="0"/>
                <a:ea typeface="+mn-ea"/>
                <a:cs typeface="Arial" panose="020B0604020202020204" pitchFamily="34" charset="0"/>
              </a:rPr>
              <a:t>major effect on ground wave propagation. Vertical polarization is subject to considerably less attenuation than horizontally polarized signals.</a:t>
            </a:r>
            <a:endParaRPr lang="en-IN" kern="1200" dirty="0">
              <a:solidFill>
                <a:prstClr val="black"/>
              </a:solidFill>
              <a:latin typeface="Arial" panose="020B0604020202020204" pitchFamily="34" charset="0"/>
              <a:ea typeface="+mn-ea"/>
              <a:cs typeface="Arial" panose="020B0604020202020204" pitchFamily="34" charset="0"/>
            </a:endParaRPr>
          </a:p>
          <a:p>
            <a:pPr algn="l" rtl="0"/>
            <a:endParaRPr lang="en-IN" kern="1200" dirty="0">
              <a:solidFill>
                <a:prstClr val="black"/>
              </a:solidFill>
              <a:latin typeface="Calibri"/>
              <a:ea typeface="+mn-ea"/>
              <a:cs typeface="+mn-cs"/>
            </a:endParaRPr>
          </a:p>
        </p:txBody>
      </p:sp>
      <p:sp>
        <p:nvSpPr>
          <p:cNvPr id="7" name="Freeform 6"/>
          <p:cNvSpPr/>
          <p:nvPr/>
        </p:nvSpPr>
        <p:spPr>
          <a:xfrm>
            <a:off x="672353" y="2797639"/>
            <a:ext cx="4146794" cy="538081"/>
          </a:xfrm>
          <a:custGeom>
            <a:avLst/>
            <a:gdLst>
              <a:gd name="connsiteX0" fmla="*/ 0 w 4146794"/>
              <a:gd name="connsiteY0" fmla="*/ 470682 h 538081"/>
              <a:gd name="connsiteX1" fmla="*/ 1754841 w 4146794"/>
              <a:gd name="connsiteY1" fmla="*/ 35 h 538081"/>
              <a:gd name="connsiteX2" fmla="*/ 3926541 w 4146794"/>
              <a:gd name="connsiteY2" fmla="*/ 490853 h 538081"/>
              <a:gd name="connsiteX3" fmla="*/ 3960159 w 4146794"/>
              <a:gd name="connsiteY3" fmla="*/ 490853 h 538081"/>
            </a:gdLst>
            <a:ahLst/>
            <a:cxnLst>
              <a:cxn ang="0">
                <a:pos x="connsiteX0" y="connsiteY0"/>
              </a:cxn>
              <a:cxn ang="0">
                <a:pos x="connsiteX1" y="connsiteY1"/>
              </a:cxn>
              <a:cxn ang="0">
                <a:pos x="connsiteX2" y="connsiteY2"/>
              </a:cxn>
              <a:cxn ang="0">
                <a:pos x="connsiteX3" y="connsiteY3"/>
              </a:cxn>
            </a:cxnLst>
            <a:rect l="l" t="t" r="r" b="b"/>
            <a:pathLst>
              <a:path w="4146794" h="538081">
                <a:moveTo>
                  <a:pt x="0" y="470682"/>
                </a:moveTo>
                <a:cubicBezTo>
                  <a:pt x="550209" y="233677"/>
                  <a:pt x="1100418" y="-3327"/>
                  <a:pt x="1754841" y="35"/>
                </a:cubicBezTo>
                <a:cubicBezTo>
                  <a:pt x="2409265" y="3397"/>
                  <a:pt x="3558988" y="409050"/>
                  <a:pt x="3926541" y="490853"/>
                </a:cubicBezTo>
                <a:cubicBezTo>
                  <a:pt x="4294094" y="572656"/>
                  <a:pt x="4127126" y="531754"/>
                  <a:pt x="3960159" y="490853"/>
                </a:cubicBezTo>
              </a:path>
            </a:pathLst>
          </a:cu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8" name="Freeform 7"/>
          <p:cNvSpPr/>
          <p:nvPr/>
        </p:nvSpPr>
        <p:spPr>
          <a:xfrm>
            <a:off x="672353" y="2042743"/>
            <a:ext cx="4146794" cy="538081"/>
          </a:xfrm>
          <a:custGeom>
            <a:avLst/>
            <a:gdLst>
              <a:gd name="connsiteX0" fmla="*/ 0 w 4146794"/>
              <a:gd name="connsiteY0" fmla="*/ 470682 h 538081"/>
              <a:gd name="connsiteX1" fmla="*/ 1754841 w 4146794"/>
              <a:gd name="connsiteY1" fmla="*/ 35 h 538081"/>
              <a:gd name="connsiteX2" fmla="*/ 3926541 w 4146794"/>
              <a:gd name="connsiteY2" fmla="*/ 490853 h 538081"/>
              <a:gd name="connsiteX3" fmla="*/ 3960159 w 4146794"/>
              <a:gd name="connsiteY3" fmla="*/ 490853 h 538081"/>
            </a:gdLst>
            <a:ahLst/>
            <a:cxnLst>
              <a:cxn ang="0">
                <a:pos x="connsiteX0" y="connsiteY0"/>
              </a:cxn>
              <a:cxn ang="0">
                <a:pos x="connsiteX1" y="connsiteY1"/>
              </a:cxn>
              <a:cxn ang="0">
                <a:pos x="connsiteX2" y="connsiteY2"/>
              </a:cxn>
              <a:cxn ang="0">
                <a:pos x="connsiteX3" y="connsiteY3"/>
              </a:cxn>
            </a:cxnLst>
            <a:rect l="l" t="t" r="r" b="b"/>
            <a:pathLst>
              <a:path w="4146794" h="538081">
                <a:moveTo>
                  <a:pt x="0" y="470682"/>
                </a:moveTo>
                <a:cubicBezTo>
                  <a:pt x="550209" y="233677"/>
                  <a:pt x="1100418" y="-3327"/>
                  <a:pt x="1754841" y="35"/>
                </a:cubicBezTo>
                <a:cubicBezTo>
                  <a:pt x="2409265" y="3397"/>
                  <a:pt x="3558988" y="409050"/>
                  <a:pt x="3926541" y="490853"/>
                </a:cubicBezTo>
                <a:cubicBezTo>
                  <a:pt x="4294094" y="572656"/>
                  <a:pt x="4127126" y="531754"/>
                  <a:pt x="3960159" y="49085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80160" y="2560084"/>
            <a:ext cx="441816" cy="608237"/>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46763" y="2772099"/>
            <a:ext cx="472385" cy="472385"/>
          </a:xfrm>
          <a:prstGeom prst="rect">
            <a:avLst/>
          </a:prstGeom>
        </p:spPr>
      </p:pic>
      <p:sp>
        <p:nvSpPr>
          <p:cNvPr id="11" name="Arc 10"/>
          <p:cNvSpPr/>
          <p:nvPr/>
        </p:nvSpPr>
        <p:spPr>
          <a:xfrm rot="1050223">
            <a:off x="722426" y="2424593"/>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2" name="Arc 11"/>
          <p:cNvSpPr/>
          <p:nvPr/>
        </p:nvSpPr>
        <p:spPr>
          <a:xfrm rot="1050223">
            <a:off x="936436" y="2349185"/>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3" name="Arc 12"/>
          <p:cNvSpPr/>
          <p:nvPr/>
        </p:nvSpPr>
        <p:spPr>
          <a:xfrm rot="1050223">
            <a:off x="1174424" y="2272724"/>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4" name="Arc 13"/>
          <p:cNvSpPr/>
          <p:nvPr/>
        </p:nvSpPr>
        <p:spPr>
          <a:xfrm rot="1050223">
            <a:off x="1415738" y="2211693"/>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5" name="Arc 14"/>
          <p:cNvSpPr/>
          <p:nvPr/>
        </p:nvSpPr>
        <p:spPr>
          <a:xfrm rot="1050223">
            <a:off x="1642089" y="2167652"/>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6" name="Arc 15"/>
          <p:cNvSpPr/>
          <p:nvPr/>
        </p:nvSpPr>
        <p:spPr>
          <a:xfrm rot="1050223">
            <a:off x="1888590" y="2132981"/>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7" name="Arc 16"/>
          <p:cNvSpPr/>
          <p:nvPr/>
        </p:nvSpPr>
        <p:spPr>
          <a:xfrm rot="2235354">
            <a:off x="2163153" y="2138218"/>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8" name="Arc 17"/>
          <p:cNvSpPr/>
          <p:nvPr/>
        </p:nvSpPr>
        <p:spPr>
          <a:xfrm rot="2235354">
            <a:off x="2459174" y="2169097"/>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19" name="Arc 18"/>
          <p:cNvSpPr/>
          <p:nvPr/>
        </p:nvSpPr>
        <p:spPr>
          <a:xfrm rot="2235354">
            <a:off x="2763923" y="2233856"/>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20" name="Arc 19"/>
          <p:cNvSpPr/>
          <p:nvPr/>
        </p:nvSpPr>
        <p:spPr>
          <a:xfrm rot="2940162">
            <a:off x="3019927" y="2293319"/>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21" name="Arc 20"/>
          <p:cNvSpPr/>
          <p:nvPr/>
        </p:nvSpPr>
        <p:spPr>
          <a:xfrm rot="3321821">
            <a:off x="3292929" y="2348018"/>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22" name="Arc 21"/>
          <p:cNvSpPr/>
          <p:nvPr/>
        </p:nvSpPr>
        <p:spPr>
          <a:xfrm rot="3321821">
            <a:off x="3552019" y="2419543"/>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23" name="Arc 22"/>
          <p:cNvSpPr/>
          <p:nvPr/>
        </p:nvSpPr>
        <p:spPr>
          <a:xfrm rot="3321821">
            <a:off x="3787620" y="2472382"/>
            <a:ext cx="600104" cy="564919"/>
          </a:xfrm>
          <a:prstGeom prst="arc">
            <a:avLst>
              <a:gd name="adj1" fmla="val 15037222"/>
              <a:gd name="adj2" fmla="val 1343449"/>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
        <p:nvSpPr>
          <p:cNvPr id="24" name="Rectangle 23"/>
          <p:cNvSpPr/>
          <p:nvPr/>
        </p:nvSpPr>
        <p:spPr>
          <a:xfrm>
            <a:off x="1926867" y="2838777"/>
            <a:ext cx="88489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Earth</a:t>
            </a:r>
          </a:p>
        </p:txBody>
      </p:sp>
      <p:sp>
        <p:nvSpPr>
          <p:cNvPr id="25" name="Rectangle 24"/>
          <p:cNvSpPr/>
          <p:nvPr/>
        </p:nvSpPr>
        <p:spPr>
          <a:xfrm>
            <a:off x="2806257" y="1847940"/>
            <a:ext cx="972285"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Atmosphere</a:t>
            </a:r>
          </a:p>
        </p:txBody>
      </p:sp>
      <p:sp>
        <p:nvSpPr>
          <p:cNvPr id="26" name="Rectangle 25"/>
          <p:cNvSpPr/>
          <p:nvPr/>
        </p:nvSpPr>
        <p:spPr>
          <a:xfrm>
            <a:off x="4596282" y="2975138"/>
            <a:ext cx="88489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Home</a:t>
            </a:r>
          </a:p>
        </p:txBody>
      </p:sp>
      <p:sp>
        <p:nvSpPr>
          <p:cNvPr id="27" name="Rectangle 26"/>
          <p:cNvSpPr/>
          <p:nvPr/>
        </p:nvSpPr>
        <p:spPr>
          <a:xfrm>
            <a:off x="-5094" y="2776322"/>
            <a:ext cx="88489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Radio Tower</a:t>
            </a:r>
          </a:p>
        </p:txBody>
      </p:sp>
      <p:sp>
        <p:nvSpPr>
          <p:cNvPr id="28" name="Rectangle 27"/>
          <p:cNvSpPr/>
          <p:nvPr/>
        </p:nvSpPr>
        <p:spPr>
          <a:xfrm>
            <a:off x="1415606" y="3100627"/>
            <a:ext cx="221860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b="1" kern="1200" dirty="0">
                <a:solidFill>
                  <a:prstClr val="black"/>
                </a:solidFill>
                <a:latin typeface="Calibri"/>
              </a:rPr>
              <a:t>Ground Wave Propagation</a:t>
            </a:r>
          </a:p>
        </p:txBody>
      </p:sp>
    </p:spTree>
    <p:extLst>
      <p:ext uri="{BB962C8B-B14F-4D97-AF65-F5344CB8AC3E}">
        <p14:creationId xmlns:p14="http://schemas.microsoft.com/office/powerpoint/2010/main" val="93716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err="1"/>
              <a:t>Ionospheric</a:t>
            </a:r>
            <a:r>
              <a:rPr lang="en-US" dirty="0"/>
              <a:t> Propagation</a:t>
            </a:r>
            <a:endParaRPr lang="en-IN" dirty="0"/>
          </a:p>
        </p:txBody>
      </p:sp>
      <p:sp>
        <p:nvSpPr>
          <p:cNvPr id="5" name="TextBox 4"/>
          <p:cNvSpPr txBox="1"/>
          <p:nvPr/>
        </p:nvSpPr>
        <p:spPr>
          <a:xfrm>
            <a:off x="4890977" y="2564204"/>
            <a:ext cx="2667000" cy="461665"/>
          </a:xfrm>
          <a:prstGeom prst="rect">
            <a:avLst/>
          </a:prstGeom>
          <a:noFill/>
        </p:spPr>
        <p:txBody>
          <a:bodyPr wrap="square" rtlCol="0">
            <a:spAutoFit/>
          </a:bodyPr>
          <a:lstStyle/>
          <a:p>
            <a:pPr algn="l" rtl="0"/>
            <a:r>
              <a:rPr lang="en-US" sz="2400" kern="1200" dirty="0">
                <a:solidFill>
                  <a:srgbClr val="1F497D">
                    <a:lumMod val="60000"/>
                    <a:lumOff val="40000"/>
                  </a:srgbClr>
                </a:solidFill>
                <a:latin typeface="Calibri"/>
                <a:ea typeface="+mn-ea"/>
                <a:cs typeface="+mn-cs"/>
              </a:rPr>
              <a:t>HF Bands</a:t>
            </a:r>
          </a:p>
        </p:txBody>
      </p:sp>
      <p:sp>
        <p:nvSpPr>
          <p:cNvPr id="6" name="Rectangle 5"/>
          <p:cNvSpPr/>
          <p:nvPr/>
        </p:nvSpPr>
        <p:spPr>
          <a:xfrm>
            <a:off x="145312" y="4494850"/>
            <a:ext cx="8305800" cy="1304460"/>
          </a:xfrm>
          <a:prstGeom prst="rect">
            <a:avLst/>
          </a:prstGeom>
        </p:spPr>
        <p:txBody>
          <a:bodyPr wrap="square">
            <a:spAutoFit/>
          </a:bodyPr>
          <a:lstStyle/>
          <a:p>
            <a:pPr algn="l" rtl="0">
              <a:lnSpc>
                <a:spcPct val="115000"/>
              </a:lnSpc>
              <a:spcAft>
                <a:spcPts val="1000"/>
              </a:spcAft>
            </a:pPr>
            <a:r>
              <a:rPr lang="en-US"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D layer- Lowest layer  existing at an average height of 70Km.It reflects VLF , LF.</a:t>
            </a:r>
            <a:endParaRPr lang="en-IN"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15000"/>
              </a:lnSpc>
              <a:spcAft>
                <a:spcPts val="1000"/>
              </a:spcAft>
            </a:pPr>
            <a:r>
              <a:rPr lang="en-US"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E layer- Exists at an average height of 100km. It reflects MF waves.</a:t>
            </a:r>
            <a:endParaRPr lang="en-IN"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15000"/>
              </a:lnSpc>
              <a:spcAft>
                <a:spcPts val="1000"/>
              </a:spcAft>
            </a:pPr>
            <a:r>
              <a:rPr lang="en-US"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F1 and F2 layer- Exists at a average height of 180 Km. Reflects HF waves. </a:t>
            </a:r>
            <a:endParaRPr lang="en-IN"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Freeform 6"/>
          <p:cNvSpPr/>
          <p:nvPr/>
        </p:nvSpPr>
        <p:spPr>
          <a:xfrm>
            <a:off x="669783" y="3772219"/>
            <a:ext cx="3879477" cy="370430"/>
          </a:xfrm>
          <a:custGeom>
            <a:avLst/>
            <a:gdLst>
              <a:gd name="connsiteX0" fmla="*/ 0 w 3529853"/>
              <a:gd name="connsiteY0" fmla="*/ 437514 h 511473"/>
              <a:gd name="connsiteX1" fmla="*/ 1606923 w 3529853"/>
              <a:gd name="connsiteY1" fmla="*/ 485 h 511473"/>
              <a:gd name="connsiteX2" fmla="*/ 3529853 w 3529853"/>
              <a:gd name="connsiteY2" fmla="*/ 511473 h 511473"/>
            </a:gdLst>
            <a:ahLst/>
            <a:cxnLst>
              <a:cxn ang="0">
                <a:pos x="connsiteX0" y="connsiteY0"/>
              </a:cxn>
              <a:cxn ang="0">
                <a:pos x="connsiteX1" y="connsiteY1"/>
              </a:cxn>
              <a:cxn ang="0">
                <a:pos x="connsiteX2" y="connsiteY2"/>
              </a:cxn>
            </a:cxnLst>
            <a:rect l="l" t="t" r="r" b="b"/>
            <a:pathLst>
              <a:path w="3529853" h="511473">
                <a:moveTo>
                  <a:pt x="0" y="437514"/>
                </a:moveTo>
                <a:cubicBezTo>
                  <a:pt x="509307" y="212836"/>
                  <a:pt x="1018614" y="-11841"/>
                  <a:pt x="1606923" y="485"/>
                </a:cubicBezTo>
                <a:cubicBezTo>
                  <a:pt x="2195232" y="12811"/>
                  <a:pt x="2862542" y="262142"/>
                  <a:pt x="3529853" y="51147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733124">
            <a:off x="545127" y="3621560"/>
            <a:ext cx="317874" cy="437608"/>
          </a:xfrm>
          <a:prstGeom prst="rect">
            <a:avLst/>
          </a:prstGeom>
        </p:spPr>
      </p:pic>
      <p:sp>
        <p:nvSpPr>
          <p:cNvPr id="9" name="Freeform 8"/>
          <p:cNvSpPr/>
          <p:nvPr/>
        </p:nvSpPr>
        <p:spPr>
          <a:xfrm>
            <a:off x="943204" y="2724357"/>
            <a:ext cx="3476065" cy="406371"/>
          </a:xfrm>
          <a:custGeom>
            <a:avLst/>
            <a:gdLst>
              <a:gd name="connsiteX0" fmla="*/ 0 w 3476065"/>
              <a:gd name="connsiteY0" fmla="*/ 359307 h 406371"/>
              <a:gd name="connsiteX1" fmla="*/ 759759 w 3476065"/>
              <a:gd name="connsiteY1" fmla="*/ 50024 h 406371"/>
              <a:gd name="connsiteX2" fmla="*/ 2682689 w 3476065"/>
              <a:gd name="connsiteY2" fmla="*/ 36577 h 406371"/>
              <a:gd name="connsiteX3" fmla="*/ 3476065 w 3476065"/>
              <a:gd name="connsiteY3" fmla="*/ 406371 h 406371"/>
            </a:gdLst>
            <a:ahLst/>
            <a:cxnLst>
              <a:cxn ang="0">
                <a:pos x="connsiteX0" y="connsiteY0"/>
              </a:cxn>
              <a:cxn ang="0">
                <a:pos x="connsiteX1" y="connsiteY1"/>
              </a:cxn>
              <a:cxn ang="0">
                <a:pos x="connsiteX2" y="connsiteY2"/>
              </a:cxn>
              <a:cxn ang="0">
                <a:pos x="connsiteX3" y="connsiteY3"/>
              </a:cxn>
            </a:cxnLst>
            <a:rect l="l" t="t" r="r" b="b"/>
            <a:pathLst>
              <a:path w="3476065" h="406371">
                <a:moveTo>
                  <a:pt x="0" y="359307"/>
                </a:moveTo>
                <a:cubicBezTo>
                  <a:pt x="156322" y="231559"/>
                  <a:pt x="312644" y="103812"/>
                  <a:pt x="759759" y="50024"/>
                </a:cubicBezTo>
                <a:cubicBezTo>
                  <a:pt x="1206874" y="-3764"/>
                  <a:pt x="2229971" y="-22814"/>
                  <a:pt x="2682689" y="36577"/>
                </a:cubicBezTo>
                <a:cubicBezTo>
                  <a:pt x="3135407" y="95968"/>
                  <a:pt x="3305736" y="251169"/>
                  <a:pt x="3476065" y="406371"/>
                </a:cubicBezTo>
              </a:path>
            </a:pathLst>
          </a:cu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0" name="Freeform 9"/>
          <p:cNvSpPr/>
          <p:nvPr/>
        </p:nvSpPr>
        <p:spPr>
          <a:xfrm>
            <a:off x="943205" y="2961068"/>
            <a:ext cx="3476065" cy="406371"/>
          </a:xfrm>
          <a:custGeom>
            <a:avLst/>
            <a:gdLst>
              <a:gd name="connsiteX0" fmla="*/ 0 w 3476065"/>
              <a:gd name="connsiteY0" fmla="*/ 359307 h 406371"/>
              <a:gd name="connsiteX1" fmla="*/ 759759 w 3476065"/>
              <a:gd name="connsiteY1" fmla="*/ 50024 h 406371"/>
              <a:gd name="connsiteX2" fmla="*/ 2682689 w 3476065"/>
              <a:gd name="connsiteY2" fmla="*/ 36577 h 406371"/>
              <a:gd name="connsiteX3" fmla="*/ 3476065 w 3476065"/>
              <a:gd name="connsiteY3" fmla="*/ 406371 h 406371"/>
            </a:gdLst>
            <a:ahLst/>
            <a:cxnLst>
              <a:cxn ang="0">
                <a:pos x="connsiteX0" y="connsiteY0"/>
              </a:cxn>
              <a:cxn ang="0">
                <a:pos x="connsiteX1" y="connsiteY1"/>
              </a:cxn>
              <a:cxn ang="0">
                <a:pos x="connsiteX2" y="connsiteY2"/>
              </a:cxn>
              <a:cxn ang="0">
                <a:pos x="connsiteX3" y="connsiteY3"/>
              </a:cxn>
            </a:cxnLst>
            <a:rect l="l" t="t" r="r" b="b"/>
            <a:pathLst>
              <a:path w="3476065" h="406371">
                <a:moveTo>
                  <a:pt x="0" y="359307"/>
                </a:moveTo>
                <a:cubicBezTo>
                  <a:pt x="156322" y="231559"/>
                  <a:pt x="312644" y="103812"/>
                  <a:pt x="759759" y="50024"/>
                </a:cubicBezTo>
                <a:cubicBezTo>
                  <a:pt x="1206874" y="-3764"/>
                  <a:pt x="2229971" y="-22814"/>
                  <a:pt x="2682689" y="36577"/>
                </a:cubicBezTo>
                <a:cubicBezTo>
                  <a:pt x="3135407" y="95968"/>
                  <a:pt x="3305736" y="251169"/>
                  <a:pt x="3476065" y="406371"/>
                </a:cubicBezTo>
              </a:path>
            </a:pathLst>
          </a:cu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1" name="Freeform 10"/>
          <p:cNvSpPr/>
          <p:nvPr/>
        </p:nvSpPr>
        <p:spPr>
          <a:xfrm>
            <a:off x="871487" y="1779019"/>
            <a:ext cx="3476065" cy="406371"/>
          </a:xfrm>
          <a:custGeom>
            <a:avLst/>
            <a:gdLst>
              <a:gd name="connsiteX0" fmla="*/ 0 w 3476065"/>
              <a:gd name="connsiteY0" fmla="*/ 359307 h 406371"/>
              <a:gd name="connsiteX1" fmla="*/ 759759 w 3476065"/>
              <a:gd name="connsiteY1" fmla="*/ 50024 h 406371"/>
              <a:gd name="connsiteX2" fmla="*/ 2682689 w 3476065"/>
              <a:gd name="connsiteY2" fmla="*/ 36577 h 406371"/>
              <a:gd name="connsiteX3" fmla="*/ 3476065 w 3476065"/>
              <a:gd name="connsiteY3" fmla="*/ 406371 h 406371"/>
            </a:gdLst>
            <a:ahLst/>
            <a:cxnLst>
              <a:cxn ang="0">
                <a:pos x="connsiteX0" y="connsiteY0"/>
              </a:cxn>
              <a:cxn ang="0">
                <a:pos x="connsiteX1" y="connsiteY1"/>
              </a:cxn>
              <a:cxn ang="0">
                <a:pos x="connsiteX2" y="connsiteY2"/>
              </a:cxn>
              <a:cxn ang="0">
                <a:pos x="connsiteX3" y="connsiteY3"/>
              </a:cxn>
            </a:cxnLst>
            <a:rect l="l" t="t" r="r" b="b"/>
            <a:pathLst>
              <a:path w="3476065" h="406371">
                <a:moveTo>
                  <a:pt x="0" y="359307"/>
                </a:moveTo>
                <a:cubicBezTo>
                  <a:pt x="156322" y="231559"/>
                  <a:pt x="312644" y="103812"/>
                  <a:pt x="759759" y="50024"/>
                </a:cubicBezTo>
                <a:cubicBezTo>
                  <a:pt x="1206874" y="-3764"/>
                  <a:pt x="2229971" y="-22814"/>
                  <a:pt x="2682689" y="36577"/>
                </a:cubicBezTo>
                <a:cubicBezTo>
                  <a:pt x="3135407" y="95968"/>
                  <a:pt x="3305736" y="251169"/>
                  <a:pt x="3476065" y="406371"/>
                </a:cubicBezTo>
              </a:path>
            </a:pathLst>
          </a:cu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2" name="Freeform 11"/>
          <p:cNvSpPr/>
          <p:nvPr/>
        </p:nvSpPr>
        <p:spPr>
          <a:xfrm>
            <a:off x="871486" y="2023392"/>
            <a:ext cx="3476065" cy="406371"/>
          </a:xfrm>
          <a:custGeom>
            <a:avLst/>
            <a:gdLst>
              <a:gd name="connsiteX0" fmla="*/ 0 w 3476065"/>
              <a:gd name="connsiteY0" fmla="*/ 359307 h 406371"/>
              <a:gd name="connsiteX1" fmla="*/ 759759 w 3476065"/>
              <a:gd name="connsiteY1" fmla="*/ 50024 h 406371"/>
              <a:gd name="connsiteX2" fmla="*/ 2682689 w 3476065"/>
              <a:gd name="connsiteY2" fmla="*/ 36577 h 406371"/>
              <a:gd name="connsiteX3" fmla="*/ 3476065 w 3476065"/>
              <a:gd name="connsiteY3" fmla="*/ 406371 h 406371"/>
            </a:gdLst>
            <a:ahLst/>
            <a:cxnLst>
              <a:cxn ang="0">
                <a:pos x="connsiteX0" y="connsiteY0"/>
              </a:cxn>
              <a:cxn ang="0">
                <a:pos x="connsiteX1" y="connsiteY1"/>
              </a:cxn>
              <a:cxn ang="0">
                <a:pos x="connsiteX2" y="connsiteY2"/>
              </a:cxn>
              <a:cxn ang="0">
                <a:pos x="connsiteX3" y="connsiteY3"/>
              </a:cxn>
            </a:cxnLst>
            <a:rect l="l" t="t" r="r" b="b"/>
            <a:pathLst>
              <a:path w="3476065" h="406371">
                <a:moveTo>
                  <a:pt x="0" y="359307"/>
                </a:moveTo>
                <a:cubicBezTo>
                  <a:pt x="156322" y="231559"/>
                  <a:pt x="312644" y="103812"/>
                  <a:pt x="759759" y="50024"/>
                </a:cubicBezTo>
                <a:cubicBezTo>
                  <a:pt x="1206874" y="-3764"/>
                  <a:pt x="2229971" y="-22814"/>
                  <a:pt x="2682689" y="36577"/>
                </a:cubicBezTo>
                <a:cubicBezTo>
                  <a:pt x="3135407" y="95968"/>
                  <a:pt x="3305736" y="251169"/>
                  <a:pt x="3476065" y="406371"/>
                </a:cubicBezTo>
              </a:path>
            </a:pathLst>
          </a:cu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3" name="Freeform 12"/>
          <p:cNvSpPr/>
          <p:nvPr/>
        </p:nvSpPr>
        <p:spPr>
          <a:xfrm>
            <a:off x="871487" y="2353956"/>
            <a:ext cx="3476065" cy="406371"/>
          </a:xfrm>
          <a:custGeom>
            <a:avLst/>
            <a:gdLst>
              <a:gd name="connsiteX0" fmla="*/ 0 w 3476065"/>
              <a:gd name="connsiteY0" fmla="*/ 359307 h 406371"/>
              <a:gd name="connsiteX1" fmla="*/ 759759 w 3476065"/>
              <a:gd name="connsiteY1" fmla="*/ 50024 h 406371"/>
              <a:gd name="connsiteX2" fmla="*/ 2682689 w 3476065"/>
              <a:gd name="connsiteY2" fmla="*/ 36577 h 406371"/>
              <a:gd name="connsiteX3" fmla="*/ 3476065 w 3476065"/>
              <a:gd name="connsiteY3" fmla="*/ 406371 h 406371"/>
            </a:gdLst>
            <a:ahLst/>
            <a:cxnLst>
              <a:cxn ang="0">
                <a:pos x="connsiteX0" y="connsiteY0"/>
              </a:cxn>
              <a:cxn ang="0">
                <a:pos x="connsiteX1" y="connsiteY1"/>
              </a:cxn>
              <a:cxn ang="0">
                <a:pos x="connsiteX2" y="connsiteY2"/>
              </a:cxn>
              <a:cxn ang="0">
                <a:pos x="connsiteX3" y="connsiteY3"/>
              </a:cxn>
            </a:cxnLst>
            <a:rect l="l" t="t" r="r" b="b"/>
            <a:pathLst>
              <a:path w="3476065" h="406371">
                <a:moveTo>
                  <a:pt x="0" y="359307"/>
                </a:moveTo>
                <a:cubicBezTo>
                  <a:pt x="156322" y="231559"/>
                  <a:pt x="312644" y="103812"/>
                  <a:pt x="759759" y="50024"/>
                </a:cubicBezTo>
                <a:cubicBezTo>
                  <a:pt x="1206874" y="-3764"/>
                  <a:pt x="2229971" y="-22814"/>
                  <a:pt x="2682689" y="36577"/>
                </a:cubicBezTo>
                <a:cubicBezTo>
                  <a:pt x="3135407" y="95968"/>
                  <a:pt x="3305736" y="251169"/>
                  <a:pt x="3476065" y="406371"/>
                </a:cubicBezTo>
              </a:path>
            </a:pathLst>
          </a:cu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4" name="Freeform 13"/>
          <p:cNvSpPr/>
          <p:nvPr/>
        </p:nvSpPr>
        <p:spPr>
          <a:xfrm>
            <a:off x="712695" y="1697691"/>
            <a:ext cx="2279277" cy="1976718"/>
          </a:xfrm>
          <a:custGeom>
            <a:avLst/>
            <a:gdLst>
              <a:gd name="connsiteX0" fmla="*/ 0 w 2279277"/>
              <a:gd name="connsiteY0" fmla="*/ 1976718 h 1976718"/>
              <a:gd name="connsiteX1" fmla="*/ 719418 w 2279277"/>
              <a:gd name="connsiteY1" fmla="*/ 699247 h 1976718"/>
              <a:gd name="connsiteX2" fmla="*/ 2279277 w 2279277"/>
              <a:gd name="connsiteY2" fmla="*/ 0 h 1976718"/>
            </a:gdLst>
            <a:ahLst/>
            <a:cxnLst>
              <a:cxn ang="0">
                <a:pos x="connsiteX0" y="connsiteY0"/>
              </a:cxn>
              <a:cxn ang="0">
                <a:pos x="connsiteX1" y="connsiteY1"/>
              </a:cxn>
              <a:cxn ang="0">
                <a:pos x="connsiteX2" y="connsiteY2"/>
              </a:cxn>
            </a:cxnLst>
            <a:rect l="l" t="t" r="r" b="b"/>
            <a:pathLst>
              <a:path w="2279277" h="1976718">
                <a:moveTo>
                  <a:pt x="0" y="1976718"/>
                </a:moveTo>
                <a:cubicBezTo>
                  <a:pt x="169769" y="1502709"/>
                  <a:pt x="339539" y="1028700"/>
                  <a:pt x="719418" y="699247"/>
                </a:cubicBezTo>
                <a:cubicBezTo>
                  <a:pt x="1099297" y="369794"/>
                  <a:pt x="1689287" y="184897"/>
                  <a:pt x="2279277" y="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5" name="Freeform 14"/>
          <p:cNvSpPr/>
          <p:nvPr/>
        </p:nvSpPr>
        <p:spPr>
          <a:xfrm>
            <a:off x="726142" y="1677521"/>
            <a:ext cx="3133165" cy="2023782"/>
          </a:xfrm>
          <a:custGeom>
            <a:avLst/>
            <a:gdLst>
              <a:gd name="connsiteX0" fmla="*/ 0 w 3133165"/>
              <a:gd name="connsiteY0" fmla="*/ 2023782 h 2023782"/>
              <a:gd name="connsiteX1" fmla="*/ 53788 w 3133165"/>
              <a:gd name="connsiteY1" fmla="*/ 1969994 h 2023782"/>
              <a:gd name="connsiteX2" fmla="*/ 1055594 w 3133165"/>
              <a:gd name="connsiteY2" fmla="*/ 927847 h 2023782"/>
              <a:gd name="connsiteX3" fmla="*/ 3133165 w 3133165"/>
              <a:gd name="connsiteY3" fmla="*/ 0 h 2023782"/>
            </a:gdLst>
            <a:ahLst/>
            <a:cxnLst>
              <a:cxn ang="0">
                <a:pos x="connsiteX0" y="connsiteY0"/>
              </a:cxn>
              <a:cxn ang="0">
                <a:pos x="connsiteX1" y="connsiteY1"/>
              </a:cxn>
              <a:cxn ang="0">
                <a:pos x="connsiteX2" y="connsiteY2"/>
              </a:cxn>
              <a:cxn ang="0">
                <a:pos x="connsiteX3" y="connsiteY3"/>
              </a:cxn>
            </a:cxnLst>
            <a:rect l="l" t="t" r="r" b="b"/>
            <a:pathLst>
              <a:path w="3133165" h="2023782">
                <a:moveTo>
                  <a:pt x="0" y="2023782"/>
                </a:moveTo>
                <a:lnTo>
                  <a:pt x="53788" y="1969994"/>
                </a:lnTo>
                <a:cubicBezTo>
                  <a:pt x="229720" y="1787338"/>
                  <a:pt x="542365" y="1256179"/>
                  <a:pt x="1055594" y="927847"/>
                </a:cubicBezTo>
                <a:cubicBezTo>
                  <a:pt x="1568824" y="599515"/>
                  <a:pt x="2350994" y="299757"/>
                  <a:pt x="3133165" y="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16" name="Freeform 15"/>
          <p:cNvSpPr/>
          <p:nvPr/>
        </p:nvSpPr>
        <p:spPr>
          <a:xfrm>
            <a:off x="726142" y="2576344"/>
            <a:ext cx="3328147" cy="1420794"/>
          </a:xfrm>
          <a:custGeom>
            <a:avLst/>
            <a:gdLst>
              <a:gd name="connsiteX0" fmla="*/ 0 w 3328147"/>
              <a:gd name="connsiteY0" fmla="*/ 1165300 h 1420794"/>
              <a:gd name="connsiteX1" fmla="*/ 1976718 w 3328147"/>
              <a:gd name="connsiteY1" fmla="*/ 2130 h 1420794"/>
              <a:gd name="connsiteX2" fmla="*/ 3328147 w 3328147"/>
              <a:gd name="connsiteY2" fmla="*/ 1420794 h 1420794"/>
            </a:gdLst>
            <a:ahLst/>
            <a:cxnLst>
              <a:cxn ang="0">
                <a:pos x="connsiteX0" y="connsiteY0"/>
              </a:cxn>
              <a:cxn ang="0">
                <a:pos x="connsiteX1" y="connsiteY1"/>
              </a:cxn>
              <a:cxn ang="0">
                <a:pos x="connsiteX2" y="connsiteY2"/>
              </a:cxn>
            </a:cxnLst>
            <a:rect l="l" t="t" r="r" b="b"/>
            <a:pathLst>
              <a:path w="3328147" h="1420794">
                <a:moveTo>
                  <a:pt x="0" y="1165300"/>
                </a:moveTo>
                <a:cubicBezTo>
                  <a:pt x="711013" y="562424"/>
                  <a:pt x="1422027" y="-40452"/>
                  <a:pt x="1976718" y="2130"/>
                </a:cubicBezTo>
                <a:cubicBezTo>
                  <a:pt x="2531409" y="44712"/>
                  <a:pt x="2929778" y="732753"/>
                  <a:pt x="3328147" y="1420794"/>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cxnSp>
        <p:nvCxnSpPr>
          <p:cNvPr id="17" name="Straight Arrow Connector 16"/>
          <p:cNvCxnSpPr/>
          <p:nvPr/>
        </p:nvCxnSpPr>
        <p:spPr>
          <a:xfrm flipV="1">
            <a:off x="2238935" y="1869761"/>
            <a:ext cx="235324" cy="69367"/>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3514424" y="1720313"/>
            <a:ext cx="235324" cy="89960"/>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748119" y="2804409"/>
            <a:ext cx="215153" cy="139313"/>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741644" y="3478321"/>
            <a:ext cx="117662" cy="176051"/>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1791821" y="3732417"/>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Earth Surface</a:t>
            </a:r>
          </a:p>
        </p:txBody>
      </p:sp>
      <p:sp>
        <p:nvSpPr>
          <p:cNvPr id="22" name="Rectangle 21"/>
          <p:cNvSpPr/>
          <p:nvPr/>
        </p:nvSpPr>
        <p:spPr>
          <a:xfrm>
            <a:off x="1564211" y="4095177"/>
            <a:ext cx="165200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b="1" kern="1200" dirty="0">
                <a:solidFill>
                  <a:prstClr val="black"/>
                </a:solidFill>
                <a:latin typeface="Calibri"/>
              </a:rPr>
              <a:t>Sky wave propagation</a:t>
            </a:r>
          </a:p>
        </p:txBody>
      </p:sp>
      <p:sp>
        <p:nvSpPr>
          <p:cNvPr id="23" name="Rectangle 22"/>
          <p:cNvSpPr/>
          <p:nvPr/>
        </p:nvSpPr>
        <p:spPr>
          <a:xfrm>
            <a:off x="-69216" y="2496422"/>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IN" sz="1200" kern="1200" dirty="0" err="1">
                <a:solidFill>
                  <a:prstClr val="black"/>
                </a:solidFill>
                <a:latin typeface="Calibri"/>
              </a:rPr>
              <a:t>Ionospheric</a:t>
            </a:r>
            <a:r>
              <a:rPr lang="en-IN" sz="1200" kern="1200" dirty="0">
                <a:solidFill>
                  <a:prstClr val="black"/>
                </a:solidFill>
                <a:latin typeface="Calibri"/>
              </a:rPr>
              <a:t> Layers</a:t>
            </a:r>
          </a:p>
        </p:txBody>
      </p:sp>
      <p:sp>
        <p:nvSpPr>
          <p:cNvPr id="24" name="Rectangle 23"/>
          <p:cNvSpPr/>
          <p:nvPr/>
        </p:nvSpPr>
        <p:spPr>
          <a:xfrm>
            <a:off x="671464" y="3045826"/>
            <a:ext cx="271739"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IN" sz="1200" kern="1200" dirty="0">
                <a:solidFill>
                  <a:prstClr val="black"/>
                </a:solidFill>
                <a:latin typeface="Calibri"/>
              </a:rPr>
              <a:t>D</a:t>
            </a:r>
          </a:p>
        </p:txBody>
      </p:sp>
      <p:sp>
        <p:nvSpPr>
          <p:cNvPr id="25" name="Rectangle 24"/>
          <p:cNvSpPr/>
          <p:nvPr/>
        </p:nvSpPr>
        <p:spPr>
          <a:xfrm>
            <a:off x="669783" y="2770316"/>
            <a:ext cx="271739"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IN" sz="1200" kern="1200" dirty="0">
                <a:solidFill>
                  <a:prstClr val="black"/>
                </a:solidFill>
                <a:latin typeface="Calibri"/>
              </a:rPr>
              <a:t>E</a:t>
            </a:r>
          </a:p>
        </p:txBody>
      </p:sp>
      <p:sp>
        <p:nvSpPr>
          <p:cNvPr id="26" name="Rectangle 25"/>
          <p:cNvSpPr/>
          <p:nvPr/>
        </p:nvSpPr>
        <p:spPr>
          <a:xfrm>
            <a:off x="712693" y="2075413"/>
            <a:ext cx="33200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IN" sz="1200" kern="1200" dirty="0">
                <a:solidFill>
                  <a:prstClr val="black"/>
                </a:solidFill>
                <a:latin typeface="Calibri"/>
              </a:rPr>
              <a:t>F</a:t>
            </a:r>
            <a:r>
              <a:rPr lang="en-IN" sz="1200" kern="1200" baseline="-25000" dirty="0">
                <a:solidFill>
                  <a:prstClr val="black"/>
                </a:solidFill>
                <a:latin typeface="Calibri"/>
              </a:rPr>
              <a:t>2</a:t>
            </a:r>
          </a:p>
        </p:txBody>
      </p:sp>
      <p:sp>
        <p:nvSpPr>
          <p:cNvPr id="27" name="Rectangle 26"/>
          <p:cNvSpPr/>
          <p:nvPr/>
        </p:nvSpPr>
        <p:spPr>
          <a:xfrm>
            <a:off x="728331" y="2355733"/>
            <a:ext cx="332006"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IN" sz="1200" kern="1200" dirty="0">
                <a:solidFill>
                  <a:prstClr val="black"/>
                </a:solidFill>
                <a:latin typeface="Calibri"/>
              </a:rPr>
              <a:t>F</a:t>
            </a:r>
            <a:r>
              <a:rPr lang="en-IN" sz="1200" kern="1200" baseline="-25000" dirty="0">
                <a:solidFill>
                  <a:prstClr val="black"/>
                </a:solidFill>
                <a:latin typeface="Calibri"/>
              </a:rPr>
              <a:t>1</a:t>
            </a:r>
            <a:endParaRPr lang="en-IN" sz="1200" kern="1200" dirty="0">
              <a:solidFill>
                <a:prstClr val="black"/>
              </a:solidFill>
              <a:latin typeface="Calibri"/>
            </a:endParaRP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420961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Space Wave Propagation</a:t>
            </a:r>
          </a:p>
          <a:p>
            <a:endParaRPr lang="en-IN" dirty="0"/>
          </a:p>
        </p:txBody>
      </p:sp>
      <p:sp>
        <p:nvSpPr>
          <p:cNvPr id="4" name="Rectangle 3"/>
          <p:cNvSpPr/>
          <p:nvPr/>
        </p:nvSpPr>
        <p:spPr>
          <a:xfrm>
            <a:off x="1" y="1556886"/>
            <a:ext cx="8983639" cy="2472472"/>
          </a:xfrm>
          <a:prstGeom prst="rect">
            <a:avLst/>
          </a:prstGeom>
        </p:spPr>
        <p:txBody>
          <a:bodyPr wrap="square">
            <a:spAutoFit/>
          </a:bodyPr>
          <a:lstStyle/>
          <a:p>
            <a:pPr marL="285750" indent="-285750" algn="l" rtl="0">
              <a:lnSpc>
                <a:spcPct val="115000"/>
              </a:lnSpc>
              <a:spcAft>
                <a:spcPts val="1000"/>
              </a:spcAft>
              <a:buFont typeface="Arial" panose="020B0604020202020204" pitchFamily="34" charset="0"/>
              <a:buChar char="•"/>
            </a:pPr>
            <a:r>
              <a:rPr lang="en-US" sz="2000" kern="120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The radio waves having high frequencies are basically called as space waves. </a:t>
            </a:r>
          </a:p>
          <a:p>
            <a:pPr marL="285750" indent="-285750" algn="l" rtl="0">
              <a:lnSpc>
                <a:spcPct val="115000"/>
              </a:lnSpc>
              <a:spcAft>
                <a:spcPts val="1000"/>
              </a:spcAft>
              <a:buFont typeface="Arial" panose="020B0604020202020204" pitchFamily="34" charset="0"/>
              <a:buChar char="•"/>
            </a:pPr>
            <a:r>
              <a:rPr lang="en-US" sz="2000"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Occur within the lower 20 km of the atmosphere (troposphere), and are comprised of a direct and reflected wave(</a:t>
            </a:r>
            <a:r>
              <a:rPr lang="en-US" sz="2000" kern="1200" dirty="0" err="1">
                <a:solidFill>
                  <a:srgbClr val="222222"/>
                </a:solidFill>
                <a:latin typeface="Arial" panose="020B0604020202020204" pitchFamily="34" charset="0"/>
                <a:ea typeface="Times New Roman" panose="02020603050405020304" pitchFamily="18" charset="0"/>
                <a:cs typeface="Times New Roman" panose="02020603050405020304" pitchFamily="18" charset="0"/>
              </a:rPr>
              <a:t>Tropospherical</a:t>
            </a:r>
            <a:r>
              <a:rPr lang="en-US" sz="2000" kern="120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 Propagation)</a:t>
            </a:r>
            <a:r>
              <a:rPr lang="en-US" sz="2000"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a:t>
            </a:r>
          </a:p>
          <a:p>
            <a:pPr marL="285750" indent="-285750" algn="l" rtl="0">
              <a:lnSpc>
                <a:spcPct val="115000"/>
              </a:lnSpc>
              <a:spcAft>
                <a:spcPts val="1000"/>
              </a:spcAft>
              <a:buFont typeface="Arial" panose="020B0604020202020204" pitchFamily="34" charset="0"/>
              <a:buChar char="•"/>
            </a:pPr>
            <a:r>
              <a:rPr lang="en-US" sz="2000" kern="1200" dirty="0">
                <a:solidFill>
                  <a:srgbClr val="222222"/>
                </a:solidFill>
                <a:latin typeface="Arial" panose="020B0604020202020204" pitchFamily="34" charset="0"/>
                <a:ea typeface="Times New Roman" panose="02020603050405020304" pitchFamily="18" charset="0"/>
                <a:cs typeface="Times New Roman" panose="02020603050405020304" pitchFamily="18" charset="0"/>
              </a:rPr>
              <a:t>Space waves can travel directly or can travel after reflecting from earth’s surface to the troposphere surface of earth. </a:t>
            </a:r>
          </a:p>
        </p:txBody>
      </p:sp>
      <p:sp>
        <p:nvSpPr>
          <p:cNvPr id="6" name="TextBox 5"/>
          <p:cNvSpPr txBox="1"/>
          <p:nvPr/>
        </p:nvSpPr>
        <p:spPr>
          <a:xfrm>
            <a:off x="5817782" y="4417385"/>
            <a:ext cx="3078707" cy="923330"/>
          </a:xfrm>
          <a:prstGeom prst="rect">
            <a:avLst/>
          </a:prstGeom>
          <a:noFill/>
        </p:spPr>
        <p:txBody>
          <a:bodyPr wrap="square" rtlCol="0">
            <a:spAutoFit/>
          </a:bodyPr>
          <a:lstStyle/>
          <a:p>
            <a:pPr algn="l" rtl="0"/>
            <a:r>
              <a:rPr lang="en-US" b="1" kern="1200" dirty="0">
                <a:solidFill>
                  <a:srgbClr val="1F497D">
                    <a:lumMod val="60000"/>
                    <a:lumOff val="40000"/>
                  </a:srgbClr>
                </a:solidFill>
                <a:latin typeface="Arial" pitchFamily="34" charset="0"/>
                <a:ea typeface="+mn-ea"/>
                <a:cs typeface="Arial" pitchFamily="34" charset="0"/>
              </a:rPr>
              <a:t>Frequency Bands VHF, UHF, SHF, EHF use space wave propagation. </a:t>
            </a:r>
          </a:p>
        </p:txBody>
      </p:sp>
      <p:sp>
        <p:nvSpPr>
          <p:cNvPr id="7" name="Freeform 6"/>
          <p:cNvSpPr/>
          <p:nvPr/>
        </p:nvSpPr>
        <p:spPr>
          <a:xfrm>
            <a:off x="864765" y="5340715"/>
            <a:ext cx="3879477" cy="370430"/>
          </a:xfrm>
          <a:custGeom>
            <a:avLst/>
            <a:gdLst>
              <a:gd name="connsiteX0" fmla="*/ 0 w 3529853"/>
              <a:gd name="connsiteY0" fmla="*/ 437514 h 511473"/>
              <a:gd name="connsiteX1" fmla="*/ 1606923 w 3529853"/>
              <a:gd name="connsiteY1" fmla="*/ 485 h 511473"/>
              <a:gd name="connsiteX2" fmla="*/ 3529853 w 3529853"/>
              <a:gd name="connsiteY2" fmla="*/ 511473 h 511473"/>
            </a:gdLst>
            <a:ahLst/>
            <a:cxnLst>
              <a:cxn ang="0">
                <a:pos x="connsiteX0" y="connsiteY0"/>
              </a:cxn>
              <a:cxn ang="0">
                <a:pos x="connsiteX1" y="connsiteY1"/>
              </a:cxn>
              <a:cxn ang="0">
                <a:pos x="connsiteX2" y="connsiteY2"/>
              </a:cxn>
            </a:cxnLst>
            <a:rect l="l" t="t" r="r" b="b"/>
            <a:pathLst>
              <a:path w="3529853" h="511473">
                <a:moveTo>
                  <a:pt x="0" y="437514"/>
                </a:moveTo>
                <a:cubicBezTo>
                  <a:pt x="509307" y="212836"/>
                  <a:pt x="1018614" y="-11841"/>
                  <a:pt x="1606923" y="485"/>
                </a:cubicBezTo>
                <a:cubicBezTo>
                  <a:pt x="2195232" y="12811"/>
                  <a:pt x="2862542" y="262142"/>
                  <a:pt x="3529853" y="51147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8" name="Rectangle 7"/>
          <p:cNvSpPr/>
          <p:nvPr/>
        </p:nvSpPr>
        <p:spPr>
          <a:xfrm>
            <a:off x="2013697" y="5340715"/>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Earth Surface</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742824">
            <a:off x="544664" y="4447267"/>
            <a:ext cx="854682" cy="1176618"/>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936874">
            <a:off x="4229369" y="4510699"/>
            <a:ext cx="854682" cy="1176618"/>
          </a:xfrm>
          <a:prstGeom prst="rect">
            <a:avLst/>
          </a:prstGeom>
        </p:spPr>
      </p:pic>
      <p:sp>
        <p:nvSpPr>
          <p:cNvPr id="11" name="Rectangle 10"/>
          <p:cNvSpPr/>
          <p:nvPr/>
        </p:nvSpPr>
        <p:spPr>
          <a:xfrm>
            <a:off x="109475" y="4253642"/>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Transmitter</a:t>
            </a:r>
          </a:p>
        </p:txBody>
      </p:sp>
      <p:sp>
        <p:nvSpPr>
          <p:cNvPr id="12" name="Rectangle 11"/>
          <p:cNvSpPr/>
          <p:nvPr/>
        </p:nvSpPr>
        <p:spPr>
          <a:xfrm>
            <a:off x="4392654" y="4319372"/>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kern="1200" dirty="0">
                <a:solidFill>
                  <a:prstClr val="black"/>
                </a:solidFill>
                <a:latin typeface="Calibri"/>
              </a:rPr>
              <a:t>Receiver</a:t>
            </a:r>
          </a:p>
        </p:txBody>
      </p:sp>
      <p:cxnSp>
        <p:nvCxnSpPr>
          <p:cNvPr id="13" name="Straight Arrow Connector 12"/>
          <p:cNvCxnSpPr/>
          <p:nvPr/>
        </p:nvCxnSpPr>
        <p:spPr>
          <a:xfrm>
            <a:off x="1324536" y="4612288"/>
            <a:ext cx="12539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578473" y="4612288"/>
            <a:ext cx="16707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324536" y="4612288"/>
            <a:ext cx="874059" cy="486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198595" y="5098656"/>
            <a:ext cx="417715" cy="2420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1"/>
          </p:cNvCxnSpPr>
          <p:nvPr/>
        </p:nvCxnSpPr>
        <p:spPr>
          <a:xfrm flipV="1">
            <a:off x="2630850" y="5098656"/>
            <a:ext cx="562827" cy="242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169621" y="4612287"/>
            <a:ext cx="1068054" cy="494429"/>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010072" y="4360006"/>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000" kern="1200" dirty="0">
                <a:solidFill>
                  <a:prstClr val="black"/>
                </a:solidFill>
                <a:latin typeface="Calibri"/>
              </a:rPr>
              <a:t>Direct wave</a:t>
            </a:r>
          </a:p>
        </p:txBody>
      </p:sp>
      <p:sp>
        <p:nvSpPr>
          <p:cNvPr id="20" name="Rectangle 19"/>
          <p:cNvSpPr/>
          <p:nvPr/>
        </p:nvSpPr>
        <p:spPr>
          <a:xfrm>
            <a:off x="2104334" y="4945948"/>
            <a:ext cx="1129553" cy="292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000" kern="1200" dirty="0">
                <a:solidFill>
                  <a:prstClr val="black"/>
                </a:solidFill>
                <a:latin typeface="Calibri"/>
              </a:rPr>
              <a:t>Reflected wave</a:t>
            </a:r>
          </a:p>
        </p:txBody>
      </p:sp>
    </p:spTree>
    <p:extLst>
      <p:ext uri="{BB962C8B-B14F-4D97-AF65-F5344CB8AC3E}">
        <p14:creationId xmlns:p14="http://schemas.microsoft.com/office/powerpoint/2010/main" val="3287369664"/>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Space wave Propagation</a:t>
            </a:r>
          </a:p>
          <a:p>
            <a:endParaRPr lang="en-IN" dirty="0"/>
          </a:p>
        </p:txBody>
      </p:sp>
      <p:sp>
        <p:nvSpPr>
          <p:cNvPr id="3" name="Content Placeholder 2"/>
          <p:cNvSpPr>
            <a:spLocks noGrp="1"/>
          </p:cNvSpPr>
          <p:nvPr>
            <p:ph idx="1"/>
          </p:nvPr>
        </p:nvSpPr>
        <p:spPr/>
        <p:txBody>
          <a:bodyPr/>
          <a:lstStyle/>
          <a:p>
            <a:pPr marL="0" indent="0">
              <a:buNone/>
            </a:pPr>
            <a:r>
              <a:rPr lang="en-US" dirty="0">
                <a:solidFill>
                  <a:srgbClr val="FF0000"/>
                </a:solidFill>
              </a:rPr>
              <a:t>Limitations of space wave propagation</a:t>
            </a:r>
          </a:p>
          <a:p>
            <a:r>
              <a:rPr lang="en-US" dirty="0"/>
              <a:t>Space waves are limited to the curvature of the earth.</a:t>
            </a:r>
          </a:p>
          <a:p>
            <a:r>
              <a:rPr lang="en-US" dirty="0"/>
              <a:t>These waves have line of sight propagation, means their propagation is along the line of sight distance.</a:t>
            </a:r>
          </a:p>
          <a:p>
            <a:r>
              <a:rPr lang="en-US" dirty="0"/>
              <a:t>Increase the transmission distance can be done by simply extending the heights of both the sender as well as the receiver antenna. </a:t>
            </a:r>
          </a:p>
          <a:p>
            <a:r>
              <a:rPr lang="en-US" dirty="0"/>
              <a:t>This type of propagation is used basically in radar and television communication. </a:t>
            </a:r>
          </a:p>
          <a:p>
            <a:r>
              <a:rPr lang="en-US" dirty="0"/>
              <a:t>Directional antennas are used for space wave propagation.</a:t>
            </a:r>
            <a:endParaRPr lang="en-IN" dirty="0"/>
          </a:p>
          <a:p>
            <a:endParaRPr lang="en-IN" dirty="0"/>
          </a:p>
        </p:txBody>
      </p:sp>
    </p:spTree>
    <p:extLst>
      <p:ext uri="{BB962C8B-B14F-4D97-AF65-F5344CB8AC3E}">
        <p14:creationId xmlns:p14="http://schemas.microsoft.com/office/powerpoint/2010/main" val="30371190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IN" dirty="0"/>
              <a:t>The radio waves take multipath during the propagation</a:t>
            </a:r>
          </a:p>
          <a:p>
            <a:r>
              <a:rPr lang="en-IN" dirty="0"/>
              <a:t>Radio waves get reflected, diffracted, scattered before reaching the receiver</a:t>
            </a:r>
          </a:p>
          <a:p>
            <a:r>
              <a:rPr lang="en-IN" dirty="0"/>
              <a:t>Radio waves propagate through various  modes of propagation like ground wave, Ionosphere propagation and Space wave propagation. </a:t>
            </a:r>
          </a:p>
          <a:p>
            <a:pPr marL="0" indent="0">
              <a:buNone/>
            </a:pPr>
            <a:endParaRPr lang="en-IN" dirty="0"/>
          </a:p>
          <a:p>
            <a:endParaRPr lang="en-IN" dirty="0"/>
          </a:p>
          <a:p>
            <a:endParaRPr lang="en-US"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Free Space Propagation Model</a:t>
            </a:r>
          </a:p>
          <a:p>
            <a:endParaRPr lang="en-IN" dirty="0"/>
          </a:p>
        </p:txBody>
      </p:sp>
      <p:sp>
        <p:nvSpPr>
          <p:cNvPr id="3" name="Content Placeholder 2"/>
          <p:cNvSpPr>
            <a:spLocks noGrp="1"/>
          </p:cNvSpPr>
          <p:nvPr>
            <p:ph idx="1"/>
          </p:nvPr>
        </p:nvSpPr>
        <p:spPr/>
        <p:txBody>
          <a:bodyPr/>
          <a:lstStyle/>
          <a:p>
            <a:pPr marL="0" indent="0">
              <a:buNone/>
            </a:pPr>
            <a:r>
              <a:rPr lang="en-US" dirty="0"/>
              <a:t>Why free space propagation model?</a:t>
            </a:r>
          </a:p>
          <a:p>
            <a:endParaRPr lang="en-US" dirty="0"/>
          </a:p>
          <a:p>
            <a:pPr marL="0" indent="0">
              <a:buNone/>
            </a:pPr>
            <a:r>
              <a:rPr lang="en-US" dirty="0"/>
              <a:t>Predict received signal strength when the transmitter and receiver have a clear, unobstructed line-of-sight path between them.</a:t>
            </a:r>
          </a:p>
          <a:p>
            <a:endParaRPr lang="en-US" dirty="0"/>
          </a:p>
          <a:p>
            <a:pPr marL="0" indent="0">
              <a:buNone/>
            </a:pPr>
            <a:r>
              <a:rPr lang="en-US" dirty="0"/>
              <a:t>Satellite communication systems and microwave line-of-sight radio links  undergo free space propagation.</a:t>
            </a:r>
            <a:endParaRPr lang="en-IN" dirty="0"/>
          </a:p>
          <a:p>
            <a:endParaRPr lang="en-IN" dirty="0"/>
          </a:p>
          <a:p>
            <a:endParaRPr lang="en-IN" dirty="0"/>
          </a:p>
        </p:txBody>
      </p:sp>
    </p:spTree>
    <p:extLst>
      <p:ext uri="{BB962C8B-B14F-4D97-AF65-F5344CB8AC3E}">
        <p14:creationId xmlns:p14="http://schemas.microsoft.com/office/powerpoint/2010/main" val="3256900592"/>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Free Space Propagation Model</a:t>
            </a:r>
          </a:p>
          <a:p>
            <a:endParaRPr lang="en-IN" dirty="0"/>
          </a:p>
        </p:txBody>
      </p:sp>
      <p:sp>
        <p:nvSpPr>
          <p:cNvPr id="4" name="Content Placeholder 3"/>
          <p:cNvSpPr txBox="1">
            <a:spLocks noGrp="1"/>
          </p:cNvSpPr>
          <p:nvPr>
            <p:ph idx="1"/>
          </p:nvPr>
        </p:nvSpPr>
        <p:spPr>
          <a:xfrm>
            <a:off x="274320" y="1611631"/>
            <a:ext cx="8503920" cy="646331"/>
          </a:xfrm>
          <a:prstGeom prst="rect">
            <a:avLst/>
          </a:prstGeom>
          <a:noFill/>
        </p:spPr>
        <p:txBody>
          <a:bodyPr wrap="square" rtlCol="0">
            <a:spAutoFit/>
          </a:bodyPr>
          <a:lstStyle/>
          <a:p>
            <a:pPr marL="0" indent="0">
              <a:buNone/>
            </a:pPr>
            <a:r>
              <a:rPr lang="en-US" b="1" dirty="0">
                <a:solidFill>
                  <a:schemeClr val="tx2">
                    <a:lumMod val="60000"/>
                    <a:lumOff val="40000"/>
                  </a:schemeClr>
                </a:solidFill>
              </a:rPr>
              <a:t>Equation for the Free space received power by a receiver antenna (Friis Free Space Equation)</a:t>
            </a:r>
          </a:p>
        </p:txBody>
      </p:sp>
      <p:pic>
        <p:nvPicPr>
          <p:cNvPr id="5" name="Picture 2" descr="friis transmission equation"/>
          <p:cNvPicPr>
            <a:picLocks noChangeAspect="1" noChangeArrowheads="1"/>
          </p:cNvPicPr>
          <p:nvPr/>
        </p:nvPicPr>
        <p:blipFill>
          <a:blip r:embed="rId3"/>
          <a:srcRect/>
          <a:stretch>
            <a:fillRect/>
          </a:stretch>
        </p:blipFill>
        <p:spPr bwMode="auto">
          <a:xfrm>
            <a:off x="2050742" y="2561764"/>
            <a:ext cx="2835953" cy="1592563"/>
          </a:xfrm>
          <a:prstGeom prst="rect">
            <a:avLst/>
          </a:prstGeom>
          <a:noFill/>
        </p:spPr>
      </p:pic>
      <p:sp>
        <p:nvSpPr>
          <p:cNvPr id="6" name="Rectangle 5"/>
          <p:cNvSpPr/>
          <p:nvPr/>
        </p:nvSpPr>
        <p:spPr>
          <a:xfrm>
            <a:off x="528221" y="4284774"/>
            <a:ext cx="8136385" cy="923330"/>
          </a:xfrm>
          <a:prstGeom prst="rect">
            <a:avLst/>
          </a:prstGeom>
        </p:spPr>
        <p:txBody>
          <a:bodyPr wrap="square">
            <a:spAutoFit/>
          </a:bodyPr>
          <a:lstStyle/>
          <a:p>
            <a:pPr algn="l" rtl="0"/>
            <a:r>
              <a:rPr lang="en-US" kern="1200" dirty="0">
                <a:solidFill>
                  <a:prstClr val="black"/>
                </a:solidFill>
                <a:latin typeface="Calibri"/>
                <a:ea typeface="+mn-ea"/>
                <a:cs typeface="+mn-cs"/>
              </a:rPr>
              <a:t>The power density p, flowing through the surface of a sphere of radius R centered at the transmitter</a:t>
            </a:r>
          </a:p>
          <a:p>
            <a:pPr algn="l" rtl="0"/>
            <a:endParaRPr lang="en-US" kern="1200" dirty="0">
              <a:solidFill>
                <a:prstClr val="black"/>
              </a:solidFill>
              <a:latin typeface="Calibri"/>
              <a:ea typeface="+mn-ea"/>
              <a:cs typeface="+mn-cs"/>
            </a:endParaRPr>
          </a:p>
        </p:txBody>
      </p:sp>
      <p:pic>
        <p:nvPicPr>
          <p:cNvPr id="7" name="Picture 10" descr="friis transmission formula"/>
          <p:cNvPicPr>
            <a:picLocks noChangeAspect="1" noChangeArrowheads="1"/>
          </p:cNvPicPr>
          <p:nvPr/>
        </p:nvPicPr>
        <p:blipFill>
          <a:blip r:embed="rId4"/>
          <a:srcRect/>
          <a:stretch>
            <a:fillRect/>
          </a:stretch>
        </p:blipFill>
        <p:spPr bwMode="auto">
          <a:xfrm>
            <a:off x="2441359" y="4881352"/>
            <a:ext cx="1285782" cy="701336"/>
          </a:xfrm>
          <a:prstGeom prst="rect">
            <a:avLst/>
          </a:prstGeom>
          <a:noFill/>
        </p:spPr>
      </p:pic>
    </p:spTree>
    <p:extLst>
      <p:ext uri="{BB962C8B-B14F-4D97-AF65-F5344CB8AC3E}">
        <p14:creationId xmlns:p14="http://schemas.microsoft.com/office/powerpoint/2010/main" val="216601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Free Space Propagation Model</a:t>
            </a:r>
          </a:p>
          <a:p>
            <a:endParaRPr lang="en-IN" dirty="0"/>
          </a:p>
        </p:txBody>
      </p:sp>
      <p:pic>
        <p:nvPicPr>
          <p:cNvPr id="5" name="Picture 2" descr="antennas"/>
          <p:cNvPicPr>
            <a:picLocks noChangeAspect="1" noChangeArrowheads="1"/>
          </p:cNvPicPr>
          <p:nvPr/>
        </p:nvPicPr>
        <p:blipFill>
          <a:blip r:embed="rId3"/>
          <a:srcRect/>
          <a:stretch>
            <a:fillRect/>
          </a:stretch>
        </p:blipFill>
        <p:spPr bwMode="auto">
          <a:xfrm>
            <a:off x="1870970" y="1903011"/>
            <a:ext cx="1253231" cy="651680"/>
          </a:xfrm>
          <a:prstGeom prst="rect">
            <a:avLst/>
          </a:prstGeom>
          <a:noFill/>
        </p:spPr>
      </p:pic>
      <p:sp>
        <p:nvSpPr>
          <p:cNvPr id="6" name="TextBox 5"/>
          <p:cNvSpPr txBox="1"/>
          <p:nvPr/>
        </p:nvSpPr>
        <p:spPr>
          <a:xfrm>
            <a:off x="673290" y="2811157"/>
            <a:ext cx="7218959" cy="369332"/>
          </a:xfrm>
          <a:prstGeom prst="rect">
            <a:avLst/>
          </a:prstGeom>
          <a:noFill/>
        </p:spPr>
        <p:txBody>
          <a:bodyPr wrap="square" rtlCol="0">
            <a:spAutoFit/>
          </a:bodyPr>
          <a:lstStyle/>
          <a:p>
            <a:pPr algn="l" rtl="0"/>
            <a:r>
              <a:rPr lang="en-US" kern="1200" dirty="0">
                <a:solidFill>
                  <a:prstClr val="black"/>
                </a:solidFill>
                <a:latin typeface="Arial" pitchFamily="34" charset="0"/>
                <a:ea typeface="+mn-ea"/>
                <a:cs typeface="Arial" pitchFamily="34" charset="0"/>
              </a:rPr>
              <a:t>The Power received the by the receiving antenna is </a:t>
            </a:r>
          </a:p>
        </p:txBody>
      </p:sp>
      <p:pic>
        <p:nvPicPr>
          <p:cNvPr id="7" name="Picture 4" descr="Friis"/>
          <p:cNvPicPr>
            <a:picLocks noChangeAspect="1" noChangeArrowheads="1"/>
          </p:cNvPicPr>
          <p:nvPr/>
        </p:nvPicPr>
        <p:blipFill>
          <a:blip r:embed="rId4"/>
          <a:srcRect/>
          <a:stretch>
            <a:fillRect/>
          </a:stretch>
        </p:blipFill>
        <p:spPr bwMode="auto">
          <a:xfrm>
            <a:off x="1928280" y="3229767"/>
            <a:ext cx="1586144" cy="793072"/>
          </a:xfrm>
          <a:prstGeom prst="rect">
            <a:avLst/>
          </a:prstGeom>
          <a:noFill/>
        </p:spPr>
      </p:pic>
      <p:sp>
        <p:nvSpPr>
          <p:cNvPr id="8" name="Rectangle 7"/>
          <p:cNvSpPr/>
          <p:nvPr/>
        </p:nvSpPr>
        <p:spPr>
          <a:xfrm>
            <a:off x="447581" y="4417452"/>
            <a:ext cx="8323557" cy="1509388"/>
          </a:xfrm>
          <a:prstGeom prst="rect">
            <a:avLst/>
          </a:prstGeom>
        </p:spPr>
        <p:txBody>
          <a:bodyPr wrap="square">
            <a:spAutoFit/>
          </a:bodyPr>
          <a:lstStyle/>
          <a:p>
            <a:pPr algn="l" rtl="0">
              <a:lnSpc>
                <a:spcPct val="115000"/>
              </a:lnSpc>
              <a:spcAft>
                <a:spcPts val="1000"/>
              </a:spcAft>
            </a:pPr>
            <a:r>
              <a:rPr lang="en-US"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Gain of antenna: Antenna’s ability to direct or concentrate radio frequency energy in a particular direction.  </a:t>
            </a:r>
          </a:p>
          <a:p>
            <a:pPr algn="l" rtl="0">
              <a:lnSpc>
                <a:spcPct val="115000"/>
              </a:lnSpc>
              <a:spcAft>
                <a:spcPts val="1000"/>
              </a:spcAft>
            </a:pPr>
            <a:r>
              <a:rPr lang="en-US" b="1"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A</a:t>
            </a:r>
            <a:r>
              <a:rPr lang="en-US" b="1" kern="1200" baseline="-250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ER  </a:t>
            </a:r>
            <a:r>
              <a:rPr lang="en-US" b="1"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is the antenna aperture</a:t>
            </a:r>
            <a:r>
              <a:rPr lang="en-US"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 or </a:t>
            </a:r>
            <a:r>
              <a:rPr lang="en-US" b="1"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effective area</a:t>
            </a:r>
            <a:r>
              <a:rPr lang="en-US" kern="1200" dirty="0">
                <a:solidFill>
                  <a:srgbClr val="252525"/>
                </a:solidFill>
                <a:latin typeface="Arial" panose="020B0604020202020204" pitchFamily="34" charset="0"/>
                <a:ea typeface="Times New Roman" panose="02020603050405020304" pitchFamily="18" charset="0"/>
                <a:cs typeface="Times New Roman" panose="02020603050405020304" pitchFamily="18" charset="0"/>
              </a:rPr>
              <a:t>  which is a measure of how effective an antenna is at receiving the power of </a:t>
            </a:r>
            <a:r>
              <a:rPr lang="en-US" kern="12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radio waves </a:t>
            </a:r>
            <a:endParaRPr lang="en-IN" sz="2000" kern="12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4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endParaRPr lang="en-US" dirty="0"/>
          </a:p>
          <a:p>
            <a:r>
              <a:rPr lang="en-US" dirty="0"/>
              <a:t>Free Space Propagation Model</a:t>
            </a:r>
          </a:p>
          <a:p>
            <a:endParaRPr lang="en-IN" dirty="0"/>
          </a:p>
        </p:txBody>
      </p:sp>
      <p:sp>
        <p:nvSpPr>
          <p:cNvPr id="5" name="Content Placeholder 1"/>
          <p:cNvSpPr>
            <a:spLocks noGrp="1"/>
          </p:cNvSpPr>
          <p:nvPr>
            <p:ph idx="1"/>
          </p:nvPr>
        </p:nvSpPr>
        <p:spPr/>
        <p:txBody>
          <a:bodyPr/>
          <a:lstStyle/>
          <a:p>
            <a:r>
              <a:rPr lang="en-US" dirty="0"/>
              <a:t>The effective aperture for any antenna can be expressed as</a:t>
            </a:r>
          </a:p>
        </p:txBody>
      </p:sp>
      <p:pic>
        <p:nvPicPr>
          <p:cNvPr id="6" name="Picture 2" descr="effective aperture"/>
          <p:cNvPicPr>
            <a:picLocks noChangeAspect="1" noChangeArrowheads="1"/>
          </p:cNvPicPr>
          <p:nvPr/>
        </p:nvPicPr>
        <p:blipFill>
          <a:blip r:embed="rId2"/>
          <a:srcRect/>
          <a:stretch>
            <a:fillRect/>
          </a:stretch>
        </p:blipFill>
        <p:spPr bwMode="auto">
          <a:xfrm>
            <a:off x="1748901" y="2171885"/>
            <a:ext cx="1367901" cy="736562"/>
          </a:xfrm>
          <a:prstGeom prst="rect">
            <a:avLst/>
          </a:prstGeom>
          <a:noFill/>
        </p:spPr>
      </p:pic>
      <p:sp>
        <p:nvSpPr>
          <p:cNvPr id="7" name="Rectangle 6"/>
          <p:cNvSpPr/>
          <p:nvPr/>
        </p:nvSpPr>
        <p:spPr>
          <a:xfrm>
            <a:off x="706515" y="3099370"/>
            <a:ext cx="6629400" cy="369332"/>
          </a:xfrm>
          <a:prstGeom prst="rect">
            <a:avLst/>
          </a:prstGeom>
        </p:spPr>
        <p:txBody>
          <a:bodyPr wrap="square">
            <a:spAutoFit/>
          </a:bodyPr>
          <a:lstStyle/>
          <a:p>
            <a:pPr algn="l" rtl="0"/>
            <a:r>
              <a:rPr lang="en-US" kern="1200" dirty="0">
                <a:solidFill>
                  <a:prstClr val="black"/>
                </a:solidFill>
                <a:latin typeface="Arial" pitchFamily="34" charset="0"/>
                <a:ea typeface="+mn-ea"/>
                <a:cs typeface="Arial" pitchFamily="34" charset="0"/>
              </a:rPr>
              <a:t>The resulting received power can be written as:</a:t>
            </a:r>
          </a:p>
        </p:txBody>
      </p:sp>
      <p:pic>
        <p:nvPicPr>
          <p:cNvPr id="8" name="Picture 4" descr="received power from Friis Transmission Formula"/>
          <p:cNvPicPr>
            <a:picLocks noChangeAspect="1" noChangeArrowheads="1"/>
          </p:cNvPicPr>
          <p:nvPr/>
        </p:nvPicPr>
        <p:blipFill>
          <a:blip r:embed="rId3"/>
          <a:srcRect/>
          <a:stretch>
            <a:fillRect/>
          </a:stretch>
        </p:blipFill>
        <p:spPr bwMode="auto">
          <a:xfrm>
            <a:off x="1748900" y="3750927"/>
            <a:ext cx="1367901" cy="720591"/>
          </a:xfrm>
          <a:prstGeom prst="rect">
            <a:avLst/>
          </a:prstGeom>
          <a:noFill/>
        </p:spPr>
      </p:pic>
      <p:sp>
        <p:nvSpPr>
          <p:cNvPr id="9" name="TextBox 8"/>
          <p:cNvSpPr txBox="1"/>
          <p:nvPr/>
        </p:nvSpPr>
        <p:spPr>
          <a:xfrm>
            <a:off x="4591380" y="3951235"/>
            <a:ext cx="3613599" cy="646331"/>
          </a:xfrm>
          <a:prstGeom prst="rect">
            <a:avLst/>
          </a:prstGeom>
          <a:solidFill>
            <a:srgbClr val="FFC000"/>
          </a:solidFill>
          <a:ln>
            <a:solidFill>
              <a:schemeClr val="tx1"/>
            </a:solidFill>
          </a:ln>
        </p:spPr>
        <p:txBody>
          <a:bodyPr wrap="square" rtlCol="0">
            <a:spAutoFit/>
          </a:bodyPr>
          <a:lstStyle/>
          <a:p>
            <a:pPr algn="l" rtl="0"/>
            <a:r>
              <a:rPr lang="en-IN" kern="1200" dirty="0">
                <a:solidFill>
                  <a:prstClr val="black"/>
                </a:solidFill>
                <a:latin typeface="Arial" panose="020B0604020202020204" pitchFamily="34" charset="0"/>
                <a:ea typeface="+mn-ea"/>
                <a:cs typeface="Arial" panose="020B0604020202020204" pitchFamily="34" charset="0"/>
              </a:rPr>
              <a:t>Received power decays at the rate 20db/decade with distance</a:t>
            </a:r>
          </a:p>
        </p:txBody>
      </p:sp>
    </p:spTree>
    <p:extLst>
      <p:ext uri="{BB962C8B-B14F-4D97-AF65-F5344CB8AC3E}">
        <p14:creationId xmlns:p14="http://schemas.microsoft.com/office/powerpoint/2010/main" val="373240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endParaRPr lang="en-US" dirty="0"/>
          </a:p>
          <a:p>
            <a:r>
              <a:rPr lang="en-US" dirty="0"/>
              <a:t>Free Space Propagation Model</a:t>
            </a:r>
          </a:p>
          <a:p>
            <a:endParaRPr lang="en-IN" dirty="0"/>
          </a:p>
        </p:txBody>
      </p:sp>
      <p:sp>
        <p:nvSpPr>
          <p:cNvPr id="5" name="Content Placeholder 1"/>
          <p:cNvSpPr>
            <a:spLocks noGrp="1"/>
          </p:cNvSpPr>
          <p:nvPr>
            <p:ph idx="1"/>
          </p:nvPr>
        </p:nvSpPr>
        <p:spPr/>
        <p:txBody>
          <a:bodyPr/>
          <a:lstStyle/>
          <a:p>
            <a:r>
              <a:rPr lang="en-IN" dirty="0"/>
              <a:t>An isotropic antenna is an ideal antenna which radiates power with unit gain uniformly in all directions.</a:t>
            </a:r>
          </a:p>
          <a:p>
            <a:endParaRPr lang="en-IN" dirty="0"/>
          </a:p>
          <a:p>
            <a:r>
              <a:rPr lang="en-IN" dirty="0"/>
              <a:t>Effective isotropic radiated power is </a:t>
            </a:r>
          </a:p>
          <a:p>
            <a:pPr marL="0" indent="0">
              <a:buNone/>
            </a:pPr>
            <a:r>
              <a:rPr lang="en-IN" dirty="0"/>
              <a:t>	 EIRP = </a:t>
            </a:r>
            <a:r>
              <a:rPr lang="en-IN" dirty="0" err="1"/>
              <a:t>P</a:t>
            </a:r>
            <a:r>
              <a:rPr lang="en-IN" baseline="-25000" dirty="0" err="1"/>
              <a:t>t</a:t>
            </a:r>
            <a:r>
              <a:rPr lang="en-IN" dirty="0" err="1"/>
              <a:t>G</a:t>
            </a:r>
            <a:r>
              <a:rPr lang="en-IN" baseline="-25000" dirty="0" err="1"/>
              <a:t>t</a:t>
            </a:r>
            <a:endParaRPr lang="en-IN" baseline="-25000" dirty="0"/>
          </a:p>
          <a:p>
            <a:pPr marL="0" indent="0">
              <a:buNone/>
            </a:pPr>
            <a:endParaRPr lang="en-IN" dirty="0"/>
          </a:p>
          <a:p>
            <a:r>
              <a:rPr lang="en-US" dirty="0"/>
              <a:t>Magnitude of the received E field</a:t>
            </a:r>
            <a:endParaRPr lang="en-IN" dirty="0"/>
          </a:p>
          <a:p>
            <a:endParaRPr lang="en-IN" dirty="0"/>
          </a:p>
        </p:txBody>
      </p:sp>
      <p:sp>
        <p:nvSpPr>
          <p:cNvPr id="6" name="TextBox 5"/>
          <p:cNvSpPr txBox="1"/>
          <p:nvPr/>
        </p:nvSpPr>
        <p:spPr>
          <a:xfrm>
            <a:off x="736848" y="4045814"/>
            <a:ext cx="4935985" cy="369332"/>
          </a:xfrm>
          <a:prstGeom prst="rect">
            <a:avLst/>
          </a:prstGeom>
          <a:noFill/>
        </p:spPr>
        <p:txBody>
          <a:bodyPr wrap="square" rtlCol="0">
            <a:spAutoFit/>
          </a:bodyPr>
          <a:lstStyle/>
          <a:p>
            <a:pPr algn="l" rtl="0"/>
            <a:r>
              <a:rPr lang="el-GR" kern="1200" dirty="0">
                <a:solidFill>
                  <a:prstClr val="black"/>
                </a:solidFill>
                <a:latin typeface="Calibri"/>
                <a:ea typeface="+mn-ea"/>
                <a:cs typeface="+mn-cs"/>
              </a:rPr>
              <a:t>Ι</a:t>
            </a:r>
            <a:r>
              <a:rPr lang="en-US" kern="1200" dirty="0">
                <a:solidFill>
                  <a:prstClr val="black"/>
                </a:solidFill>
                <a:latin typeface="Calibri"/>
                <a:ea typeface="+mn-ea"/>
                <a:cs typeface="+mn-cs"/>
              </a:rPr>
              <a:t>E</a:t>
            </a:r>
            <a:r>
              <a:rPr lang="el-GR" kern="1200" dirty="0">
                <a:solidFill>
                  <a:prstClr val="black"/>
                </a:solidFill>
                <a:latin typeface="Calibri"/>
                <a:ea typeface="+mn-ea"/>
                <a:cs typeface="+mn-cs"/>
              </a:rPr>
              <a:t>Ι</a:t>
            </a:r>
            <a:r>
              <a:rPr lang="en-US" kern="1200" dirty="0">
                <a:solidFill>
                  <a:prstClr val="black"/>
                </a:solidFill>
                <a:latin typeface="Calibri"/>
                <a:ea typeface="+mn-ea"/>
                <a:cs typeface="+mn-cs"/>
              </a:rPr>
              <a:t> = ( P</a:t>
            </a:r>
            <a:r>
              <a:rPr lang="en-US" kern="1200" baseline="-25000" dirty="0">
                <a:solidFill>
                  <a:prstClr val="black"/>
                </a:solidFill>
                <a:latin typeface="Calibri"/>
                <a:ea typeface="+mn-ea"/>
                <a:cs typeface="+mn-cs"/>
              </a:rPr>
              <a:t>r</a:t>
            </a:r>
            <a:r>
              <a:rPr lang="en-US" kern="1200" dirty="0">
                <a:solidFill>
                  <a:prstClr val="black"/>
                </a:solidFill>
                <a:latin typeface="Calibri"/>
                <a:ea typeface="+mn-ea"/>
                <a:cs typeface="+mn-cs"/>
              </a:rPr>
              <a:t>(d)120</a:t>
            </a:r>
            <a:r>
              <a:rPr lang="el-GR" kern="1200" dirty="0">
                <a:solidFill>
                  <a:prstClr val="black"/>
                </a:solidFill>
                <a:latin typeface="Calibri"/>
                <a:ea typeface="+mn-ea"/>
                <a:cs typeface="+mn-cs"/>
              </a:rPr>
              <a:t>π</a:t>
            </a:r>
            <a:r>
              <a:rPr lang="en-US" kern="1200" dirty="0">
                <a:solidFill>
                  <a:prstClr val="black"/>
                </a:solidFill>
                <a:latin typeface="Calibri"/>
                <a:ea typeface="+mn-ea"/>
                <a:cs typeface="+mn-cs"/>
              </a:rPr>
              <a:t>/A</a:t>
            </a:r>
            <a:r>
              <a:rPr lang="en-US" kern="1200" baseline="-25000" dirty="0">
                <a:solidFill>
                  <a:prstClr val="black"/>
                </a:solidFill>
                <a:latin typeface="Calibri"/>
                <a:ea typeface="+mn-ea"/>
                <a:cs typeface="+mn-cs"/>
              </a:rPr>
              <a:t>e</a:t>
            </a:r>
            <a:r>
              <a:rPr lang="en-US" kern="1200" dirty="0">
                <a:solidFill>
                  <a:prstClr val="black"/>
                </a:solidFill>
                <a:latin typeface="Calibri"/>
                <a:ea typeface="+mn-ea"/>
                <a:cs typeface="+mn-cs"/>
              </a:rPr>
              <a:t>)</a:t>
            </a:r>
            <a:r>
              <a:rPr lang="en-US" kern="1200" baseline="30000" dirty="0">
                <a:solidFill>
                  <a:prstClr val="black"/>
                </a:solidFill>
                <a:latin typeface="Calibri"/>
                <a:ea typeface="+mn-ea"/>
                <a:cs typeface="+mn-cs"/>
              </a:rPr>
              <a:t>1/2</a:t>
            </a:r>
          </a:p>
        </p:txBody>
      </p:sp>
    </p:spTree>
    <p:extLst>
      <p:ext uri="{BB962C8B-B14F-4D97-AF65-F5344CB8AC3E}">
        <p14:creationId xmlns:p14="http://schemas.microsoft.com/office/powerpoint/2010/main" val="222409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Free Space Propagation Model</a:t>
            </a:r>
          </a:p>
          <a:p>
            <a:endParaRPr lang="en-IN" dirty="0"/>
          </a:p>
        </p:txBody>
      </p:sp>
      <p:sp>
        <p:nvSpPr>
          <p:cNvPr id="3" name="Content Placeholder 2"/>
          <p:cNvSpPr>
            <a:spLocks noGrp="1"/>
          </p:cNvSpPr>
          <p:nvPr>
            <p:ph idx="1"/>
          </p:nvPr>
        </p:nvSpPr>
        <p:spPr/>
        <p:txBody>
          <a:bodyPr/>
          <a:lstStyle/>
          <a:p>
            <a:r>
              <a:rPr lang="en-US" dirty="0"/>
              <a:t>Path loss represents the signal attenuation and is measured in </a:t>
            </a:r>
            <a:r>
              <a:rPr lang="en-US" dirty="0" err="1"/>
              <a:t>dB.</a:t>
            </a:r>
            <a:endParaRPr lang="en-US" dirty="0"/>
          </a:p>
          <a:p>
            <a:pPr marL="0" indent="0">
              <a:buNone/>
            </a:pPr>
            <a:r>
              <a:rPr lang="en-US" i="1" dirty="0"/>
              <a:t>		</a:t>
            </a:r>
          </a:p>
          <a:p>
            <a:endParaRPr lang="en-US" i="1" dirty="0"/>
          </a:p>
          <a:p>
            <a:endParaRPr lang="en-US" i="1" dirty="0"/>
          </a:p>
          <a:p>
            <a:endParaRPr lang="en-US" i="1" dirty="0"/>
          </a:p>
          <a:p>
            <a:r>
              <a:rPr lang="en-US" dirty="0"/>
              <a:t>If unit gain antennas are considered , </a:t>
            </a:r>
          </a:p>
          <a:p>
            <a:pPr marL="0" indent="0">
              <a:buNone/>
            </a:pPr>
            <a:endParaRPr lang="en-US" i="1" dirty="0"/>
          </a:p>
          <a:p>
            <a:endParaRPr lang="en-US" i="1" dirty="0"/>
          </a:p>
          <a:p>
            <a:endParaRPr lang="en-US" i="1" dirty="0"/>
          </a:p>
          <a:p>
            <a:endParaRPr lang="en-IN" dirty="0"/>
          </a:p>
        </p:txBody>
      </p:sp>
      <p:pic>
        <p:nvPicPr>
          <p:cNvPr id="4" name="Picture 3"/>
          <p:cNvPicPr>
            <a:picLocks noChangeAspect="1"/>
          </p:cNvPicPr>
          <p:nvPr/>
        </p:nvPicPr>
        <p:blipFill rotWithShape="1">
          <a:blip r:embed="rId2"/>
          <a:srcRect l="37701" t="38542" r="40630" b="54167"/>
          <a:stretch/>
        </p:blipFill>
        <p:spPr>
          <a:xfrm>
            <a:off x="1571347" y="2241428"/>
            <a:ext cx="3389790" cy="635586"/>
          </a:xfrm>
          <a:prstGeom prst="rect">
            <a:avLst/>
          </a:prstGeom>
        </p:spPr>
      </p:pic>
      <p:pic>
        <p:nvPicPr>
          <p:cNvPr id="5" name="Picture 4"/>
          <p:cNvPicPr>
            <a:picLocks noChangeAspect="1"/>
          </p:cNvPicPr>
          <p:nvPr/>
        </p:nvPicPr>
        <p:blipFill rotWithShape="1">
          <a:blip r:embed="rId2"/>
          <a:srcRect l="37701" t="52083" r="40630" b="41667"/>
          <a:stretch/>
        </p:blipFill>
        <p:spPr>
          <a:xfrm>
            <a:off x="1686757" y="3889195"/>
            <a:ext cx="3595456" cy="630781"/>
          </a:xfrm>
          <a:prstGeom prst="rect">
            <a:avLst/>
          </a:prstGeom>
        </p:spPr>
      </p:pic>
    </p:spTree>
    <p:extLst>
      <p:ext uri="{BB962C8B-B14F-4D97-AF65-F5344CB8AC3E}">
        <p14:creationId xmlns:p14="http://schemas.microsoft.com/office/powerpoint/2010/main" val="3540807644"/>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Fields of Antenna</a:t>
            </a:r>
            <a:endParaRPr lang="en-IN" dirty="0"/>
          </a:p>
        </p:txBody>
      </p:sp>
      <p:sp>
        <p:nvSpPr>
          <p:cNvPr id="4" name="Content Placeholder 1"/>
          <p:cNvSpPr>
            <a:spLocks noGrp="1"/>
          </p:cNvSpPr>
          <p:nvPr>
            <p:ph idx="1"/>
          </p:nvPr>
        </p:nvSpPr>
        <p:spPr/>
        <p:txBody>
          <a:bodyPr>
            <a:normAutofit/>
          </a:bodyPr>
          <a:lstStyle/>
          <a:p>
            <a:pPr marL="0" indent="0">
              <a:buNone/>
            </a:pPr>
            <a:r>
              <a:rPr lang="en-US" dirty="0"/>
              <a:t>The fields of an antenna can broadly be classified in two regions</a:t>
            </a:r>
          </a:p>
          <a:p>
            <a:pPr lvl="0">
              <a:buFont typeface="Arial" panose="020B0604020202020204" pitchFamily="34" charset="0"/>
              <a:buChar char="•"/>
            </a:pPr>
            <a:r>
              <a:rPr lang="en-US" dirty="0"/>
              <a:t>Far field</a:t>
            </a:r>
          </a:p>
          <a:p>
            <a:pPr lvl="0">
              <a:buFont typeface="Arial" panose="020B0604020202020204" pitchFamily="34" charset="0"/>
              <a:buChar char="•"/>
            </a:pPr>
            <a:r>
              <a:rPr lang="en-US" dirty="0"/>
              <a:t>Near field </a:t>
            </a:r>
          </a:p>
          <a:p>
            <a:pPr lvl="0">
              <a:buFont typeface="Arial" panose="020B0604020202020204" pitchFamily="34" charset="0"/>
              <a:buChar char="•"/>
            </a:pPr>
            <a:endParaRPr lang="en-US" dirty="0"/>
          </a:p>
          <a:p>
            <a:pPr marL="0" indent="0">
              <a:buNone/>
            </a:pPr>
            <a:r>
              <a:rPr lang="en-US" dirty="0"/>
              <a:t>The </a:t>
            </a:r>
            <a:r>
              <a:rPr lang="en-US" dirty="0" err="1"/>
              <a:t>Friis</a:t>
            </a:r>
            <a:r>
              <a:rPr lang="en-US" dirty="0"/>
              <a:t> free space model is only a valid for values of d which are in the far-field of the transmitting antenna. </a:t>
            </a:r>
            <a:endParaRPr lang="en-IN" dirty="0"/>
          </a:p>
          <a:p>
            <a:pPr marL="0" indent="0"/>
            <a:endParaRPr lang="en-US" dirty="0"/>
          </a:p>
          <a:p>
            <a:pPr marL="0" indent="0">
              <a:buNone/>
            </a:pPr>
            <a:r>
              <a:rPr lang="en-US" dirty="0"/>
              <a:t>It is in the far field that the propagating waves act as plane waves and the power decays inversely with distance.</a:t>
            </a:r>
            <a:endParaRPr lang="en-IN" dirty="0"/>
          </a:p>
          <a:p>
            <a:pPr lvl="0"/>
            <a:endParaRPr lang="en-US" dirty="0"/>
          </a:p>
          <a:p>
            <a:pPr marL="0" indent="0">
              <a:buNone/>
            </a:pPr>
            <a:r>
              <a:rPr lang="en-US" dirty="0"/>
              <a:t>The far field region is also termed as </a:t>
            </a:r>
            <a:r>
              <a:rPr lang="en-US" dirty="0">
                <a:solidFill>
                  <a:srgbClr val="FF0000"/>
                </a:solidFill>
              </a:rPr>
              <a:t>Fraunhofe</a:t>
            </a:r>
            <a:r>
              <a:rPr lang="en-US" dirty="0"/>
              <a:t>r region</a:t>
            </a:r>
            <a:endParaRPr lang="en-IN" dirty="0"/>
          </a:p>
        </p:txBody>
      </p:sp>
    </p:spTree>
    <p:extLst>
      <p:ext uri="{BB962C8B-B14F-4D97-AF65-F5344CB8AC3E}">
        <p14:creationId xmlns:p14="http://schemas.microsoft.com/office/powerpoint/2010/main" val="73197385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Free Space Propagation Model</a:t>
            </a:r>
          </a:p>
          <a:p>
            <a:endParaRPr lang="en-IN" dirty="0"/>
          </a:p>
        </p:txBody>
      </p:sp>
      <p:sp>
        <p:nvSpPr>
          <p:cNvPr id="4" name="Content Placeholder 1"/>
          <p:cNvSpPr>
            <a:spLocks noGrp="1"/>
          </p:cNvSpPr>
          <p:nvPr>
            <p:ph idx="1"/>
          </p:nvPr>
        </p:nvSpPr>
        <p:spPr/>
        <p:txBody>
          <a:bodyPr/>
          <a:lstStyle/>
          <a:p>
            <a:pPr marL="0" indent="0">
              <a:buNone/>
            </a:pPr>
            <a:r>
              <a:rPr lang="en-US" dirty="0"/>
              <a:t>The Fraunhofer distance is given by</a:t>
            </a:r>
          </a:p>
          <a:p>
            <a:pPr marL="0" indent="0">
              <a:buNone/>
            </a:pPr>
            <a:r>
              <a:rPr lang="en-US" dirty="0"/>
              <a:t>                    </a:t>
            </a:r>
            <a:r>
              <a:rPr lang="en-US" dirty="0" err="1"/>
              <a:t>df</a:t>
            </a:r>
            <a:r>
              <a:rPr lang="en-US" dirty="0"/>
              <a:t> = 2D</a:t>
            </a:r>
            <a:r>
              <a:rPr lang="en-US" baseline="30000" dirty="0"/>
              <a:t>2</a:t>
            </a:r>
            <a:r>
              <a:rPr lang="en-US" dirty="0"/>
              <a:t>/</a:t>
            </a:r>
            <a:r>
              <a:rPr lang="el-GR" dirty="0"/>
              <a:t>λ</a:t>
            </a:r>
            <a:r>
              <a:rPr lang="en-US" dirty="0"/>
              <a:t>.</a:t>
            </a:r>
          </a:p>
          <a:p>
            <a:pPr marL="0" indent="0">
              <a:buNone/>
            </a:pPr>
            <a:r>
              <a:rPr lang="en-US" dirty="0"/>
              <a:t>D- largest physical linear dimension of the antenna</a:t>
            </a:r>
          </a:p>
          <a:p>
            <a:endParaRPr lang="en-US" dirty="0"/>
          </a:p>
          <a:p>
            <a:pPr marL="0" indent="0">
              <a:buNone/>
            </a:pPr>
            <a:r>
              <a:rPr lang="en-US" dirty="0"/>
              <a:t>Large-scale propagation models use a close-in distance, d0, as a known received power reference point. </a:t>
            </a:r>
          </a:p>
          <a:p>
            <a:endParaRPr lang="en-US" dirty="0"/>
          </a:p>
          <a:p>
            <a:pPr marL="0" indent="0">
              <a:buNone/>
            </a:pPr>
            <a:r>
              <a:rPr lang="en-US" dirty="0"/>
              <a:t>Received power in free space at a distance greater than d0 is given by</a:t>
            </a:r>
          </a:p>
          <a:p>
            <a:endParaRPr lang="en-IN" dirty="0"/>
          </a:p>
          <a:p>
            <a:endParaRPr lang="en-IN" dirty="0"/>
          </a:p>
          <a:p>
            <a:endParaRPr lang="en-IN" dirty="0"/>
          </a:p>
          <a:p>
            <a:endParaRPr lang="en-IN" dirty="0"/>
          </a:p>
          <a:p>
            <a:endParaRPr lang="en-IN" dirty="0"/>
          </a:p>
        </p:txBody>
      </p:sp>
      <p:pic>
        <p:nvPicPr>
          <p:cNvPr id="5" name="Picture 4"/>
          <p:cNvPicPr/>
          <p:nvPr/>
        </p:nvPicPr>
        <p:blipFill>
          <a:blip r:embed="rId2"/>
          <a:srcRect l="33333" t="52137" r="35096" b="40171"/>
          <a:stretch>
            <a:fillRect/>
          </a:stretch>
        </p:blipFill>
        <p:spPr bwMode="auto">
          <a:xfrm>
            <a:off x="896645" y="4509699"/>
            <a:ext cx="4109621" cy="617711"/>
          </a:xfrm>
          <a:prstGeom prst="rect">
            <a:avLst/>
          </a:prstGeom>
          <a:noFill/>
          <a:ln w="9525">
            <a:noFill/>
            <a:miter lim="800000"/>
            <a:headEnd/>
            <a:tailEnd/>
          </a:ln>
        </p:spPr>
      </p:pic>
    </p:spTree>
    <p:extLst>
      <p:ext uri="{BB962C8B-B14F-4D97-AF65-F5344CB8AC3E}">
        <p14:creationId xmlns:p14="http://schemas.microsoft.com/office/powerpoint/2010/main" val="51360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Two Ray Ground Reflection Model </a:t>
            </a:r>
          </a:p>
        </p:txBody>
      </p:sp>
      <p:pic>
        <p:nvPicPr>
          <p:cNvPr id="5" name="Picture 2" descr="https://upload.wikimedia.org/wikipedia/commons/b/bf/2-Ray_Ground_Reflection_Model_1.jpg"/>
          <p:cNvPicPr>
            <a:picLocks noGrp="1" noChangeAspect="1" noChangeArrowheads="1"/>
          </p:cNvPicPr>
          <p:nvPr>
            <p:ph idx="1"/>
          </p:nvPr>
        </p:nvPicPr>
        <p:blipFill>
          <a:blip r:embed="rId2">
            <a:lum bright="10000"/>
          </a:blip>
          <a:srcRect t="20833"/>
          <a:stretch>
            <a:fillRect/>
          </a:stretch>
        </p:blipFill>
        <p:spPr bwMode="auto">
          <a:xfrm>
            <a:off x="1033689" y="2210287"/>
            <a:ext cx="5337553" cy="1789658"/>
          </a:xfrm>
          <a:prstGeom prst="rect">
            <a:avLst/>
          </a:prstGeom>
          <a:noFill/>
        </p:spPr>
      </p:pic>
      <p:pic>
        <p:nvPicPr>
          <p:cNvPr id="6" name="Picture 5"/>
          <p:cNvPicPr/>
          <p:nvPr/>
        </p:nvPicPr>
        <p:blipFill>
          <a:blip r:embed="rId3"/>
          <a:srcRect l="31566" t="17701" r="44666" b="76304"/>
          <a:stretch>
            <a:fillRect/>
          </a:stretch>
        </p:blipFill>
        <p:spPr bwMode="auto">
          <a:xfrm>
            <a:off x="613300" y="4261836"/>
            <a:ext cx="4551286" cy="590366"/>
          </a:xfrm>
          <a:prstGeom prst="rect">
            <a:avLst/>
          </a:prstGeom>
          <a:noFill/>
          <a:ln w="9525">
            <a:noFill/>
            <a:miter lim="800000"/>
            <a:headEnd/>
            <a:tailEnd/>
          </a:ln>
        </p:spPr>
      </p:pic>
      <p:pic>
        <p:nvPicPr>
          <p:cNvPr id="7" name="Picture 6"/>
          <p:cNvPicPr/>
          <p:nvPr/>
        </p:nvPicPr>
        <p:blipFill>
          <a:blip r:embed="rId3"/>
          <a:srcRect l="39904" t="27066" r="52885" b="67521"/>
          <a:stretch>
            <a:fillRect/>
          </a:stretch>
        </p:blipFill>
        <p:spPr bwMode="auto">
          <a:xfrm>
            <a:off x="710955" y="5030320"/>
            <a:ext cx="1780714" cy="644195"/>
          </a:xfrm>
          <a:prstGeom prst="rect">
            <a:avLst/>
          </a:prstGeom>
          <a:noFill/>
          <a:ln w="9525">
            <a:noFill/>
            <a:miter lim="800000"/>
            <a:headEnd/>
            <a:tailEnd/>
          </a:ln>
        </p:spPr>
      </p:pic>
      <p:sp>
        <p:nvSpPr>
          <p:cNvPr id="8" name="TextBox 7"/>
          <p:cNvSpPr txBox="1"/>
          <p:nvPr/>
        </p:nvSpPr>
        <p:spPr>
          <a:xfrm>
            <a:off x="2061839" y="5030319"/>
            <a:ext cx="4876800" cy="523220"/>
          </a:xfrm>
          <a:prstGeom prst="rect">
            <a:avLst/>
          </a:prstGeom>
          <a:noFill/>
        </p:spPr>
        <p:txBody>
          <a:bodyPr wrap="square" rtlCol="0">
            <a:spAutoFit/>
          </a:bodyPr>
          <a:lstStyle/>
          <a:p>
            <a:pPr algn="l" rtl="0"/>
            <a:r>
              <a:rPr lang="en-US" sz="2800" kern="1200" dirty="0">
                <a:solidFill>
                  <a:prstClr val="black"/>
                </a:solidFill>
                <a:latin typeface="Calibri"/>
                <a:ea typeface="+mn-ea"/>
                <a:cs typeface="+mn-cs"/>
              </a:rPr>
              <a:t> </a:t>
            </a:r>
            <a:r>
              <a:rPr lang="en-US" sz="2000" kern="1200" dirty="0">
                <a:solidFill>
                  <a:prstClr val="black"/>
                </a:solidFill>
                <a:latin typeface="Calibri"/>
                <a:ea typeface="+mn-ea"/>
                <a:cs typeface="+mn-cs"/>
              </a:rPr>
              <a:t>if d&gt;&gt; </a:t>
            </a:r>
            <a:r>
              <a:rPr lang="en-US" sz="2000" kern="1200" dirty="0" err="1">
                <a:solidFill>
                  <a:prstClr val="black"/>
                </a:solidFill>
                <a:latin typeface="Calibri"/>
                <a:ea typeface="+mn-ea"/>
                <a:cs typeface="+mn-cs"/>
              </a:rPr>
              <a:t>ht+hr</a:t>
            </a:r>
            <a:endParaRPr lang="en-US" sz="2000" kern="1200" dirty="0">
              <a:solidFill>
                <a:prstClr val="black"/>
              </a:solidFill>
              <a:latin typeface="Calibri"/>
              <a:ea typeface="+mn-ea"/>
              <a:cs typeface="+mn-cs"/>
            </a:endParaRPr>
          </a:p>
        </p:txBody>
      </p:sp>
    </p:spTree>
    <p:extLst>
      <p:ext uri="{BB962C8B-B14F-4D97-AF65-F5344CB8AC3E}">
        <p14:creationId xmlns:p14="http://schemas.microsoft.com/office/powerpoint/2010/main" val="127135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Two Ray Ground Reflection Model </a:t>
            </a:r>
          </a:p>
        </p:txBody>
      </p:sp>
      <p:pic>
        <p:nvPicPr>
          <p:cNvPr id="6" name="Picture 5"/>
          <p:cNvPicPr/>
          <p:nvPr/>
        </p:nvPicPr>
        <p:blipFill>
          <a:blip r:embed="rId2"/>
          <a:srcRect l="41506" t="53846" r="44231" b="25071"/>
          <a:stretch>
            <a:fillRect/>
          </a:stretch>
        </p:blipFill>
        <p:spPr bwMode="auto">
          <a:xfrm>
            <a:off x="1136342" y="2193607"/>
            <a:ext cx="3114120" cy="1468986"/>
          </a:xfrm>
          <a:prstGeom prst="rect">
            <a:avLst/>
          </a:prstGeom>
          <a:noFill/>
          <a:ln w="9525">
            <a:noFill/>
            <a:miter lim="800000"/>
            <a:headEnd/>
            <a:tailEnd/>
          </a:ln>
        </p:spPr>
      </p:pic>
      <p:pic>
        <p:nvPicPr>
          <p:cNvPr id="7" name="Picture 2"/>
          <p:cNvPicPr>
            <a:picLocks noChangeAspect="1" noChangeArrowheads="1"/>
          </p:cNvPicPr>
          <p:nvPr/>
        </p:nvPicPr>
        <p:blipFill>
          <a:blip r:embed="rId3"/>
          <a:srcRect l="39825" t="41667" r="42020" b="50000"/>
          <a:stretch>
            <a:fillRect/>
          </a:stretch>
        </p:blipFill>
        <p:spPr bwMode="auto">
          <a:xfrm>
            <a:off x="1322773" y="4248728"/>
            <a:ext cx="2640367" cy="770107"/>
          </a:xfrm>
          <a:prstGeom prst="rect">
            <a:avLst/>
          </a:prstGeom>
          <a:noFill/>
          <a:ln w="9525">
            <a:noFill/>
            <a:miter lim="800000"/>
            <a:headEnd/>
            <a:tailEnd/>
          </a:ln>
          <a:effectLst/>
        </p:spPr>
      </p:pic>
      <p:sp>
        <p:nvSpPr>
          <p:cNvPr id="8" name="TextBox 7"/>
          <p:cNvSpPr txBox="1"/>
          <p:nvPr/>
        </p:nvSpPr>
        <p:spPr>
          <a:xfrm>
            <a:off x="118369" y="3770994"/>
            <a:ext cx="8229600" cy="369332"/>
          </a:xfrm>
          <a:prstGeom prst="rect">
            <a:avLst/>
          </a:prstGeom>
          <a:noFill/>
        </p:spPr>
        <p:txBody>
          <a:bodyPr wrap="square" rtlCol="0">
            <a:spAutoFit/>
          </a:bodyPr>
          <a:lstStyle/>
          <a:p>
            <a:pPr algn="l" rtl="0"/>
            <a:r>
              <a:rPr lang="en-IN" kern="1200" dirty="0">
                <a:solidFill>
                  <a:prstClr val="black"/>
                </a:solidFill>
                <a:latin typeface="Arial" panose="020B0604020202020204" pitchFamily="34" charset="0"/>
                <a:ea typeface="+mn-ea"/>
                <a:cs typeface="Arial" panose="020B0604020202020204" pitchFamily="34" charset="0"/>
              </a:rPr>
              <a:t>Received power at a distance d from the transmitting antenna is </a:t>
            </a:r>
          </a:p>
        </p:txBody>
      </p:sp>
    </p:spTree>
    <p:extLst>
      <p:ext uri="{BB962C8B-B14F-4D97-AF65-F5344CB8AC3E}">
        <p14:creationId xmlns:p14="http://schemas.microsoft.com/office/powerpoint/2010/main" val="37524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a:xfrm>
            <a:off x="245444" y="1556886"/>
            <a:ext cx="8503920" cy="4114800"/>
          </a:xfrm>
        </p:spPr>
        <p:txBody>
          <a:bodyPr/>
          <a:lstStyle/>
          <a:p>
            <a:endParaRPr lang="en-US" dirty="0"/>
          </a:p>
          <a:p>
            <a:r>
              <a:rPr lang="en-US" dirty="0"/>
              <a:t>Free space propagation model is used to predict received signal strength when the transmitter and receiver have a clear, unobstructed line-of-sight path between them</a:t>
            </a:r>
            <a:r>
              <a:rPr lang="en-IN" dirty="0"/>
              <a:t> .</a:t>
            </a:r>
          </a:p>
          <a:p>
            <a:r>
              <a:rPr lang="en-US" dirty="0"/>
              <a:t>The </a:t>
            </a:r>
            <a:r>
              <a:rPr lang="en-US" dirty="0" err="1"/>
              <a:t>Friis</a:t>
            </a:r>
            <a:r>
              <a:rPr lang="en-US" dirty="0"/>
              <a:t> free space model is only a valid for values of d which are in the far-field of the transmitting antenna. </a:t>
            </a:r>
          </a:p>
          <a:p>
            <a:r>
              <a:rPr lang="en-US" dirty="0"/>
              <a:t>The power received in a two way ground reflection model is dependent on the height of the transmitting and receiving antenna.</a:t>
            </a:r>
            <a:endParaRPr lang="en-IN" dirty="0"/>
          </a:p>
          <a:p>
            <a:pPr marL="0" indent="0"/>
            <a:endParaRPr lang="en-US" dirty="0"/>
          </a:p>
          <a:p>
            <a:pPr marL="0" indent="0">
              <a:buNone/>
            </a:pPr>
            <a:endParaRPr lang="en-IN" dirty="0"/>
          </a:p>
          <a:p>
            <a:endParaRPr lang="en-IN" dirty="0"/>
          </a:p>
          <a:p>
            <a:endParaRPr lang="en-US"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sz="quarter" idx="10"/>
          </p:nvPr>
        </p:nvSpPr>
        <p:spPr/>
        <p:txBody>
          <a:bodyPr/>
          <a:lstStyle/>
          <a:p>
            <a:r>
              <a:rPr lang="en-US" dirty="0"/>
              <a:t>Fresnel Zone</a:t>
            </a:r>
          </a:p>
        </p:txBody>
      </p:sp>
      <p:sp>
        <p:nvSpPr>
          <p:cNvPr id="6" name="Content Placeholder 1"/>
          <p:cNvSpPr>
            <a:spLocks noGrp="1"/>
          </p:cNvSpPr>
          <p:nvPr>
            <p:ph idx="1"/>
          </p:nvPr>
        </p:nvSpPr>
        <p:spPr/>
        <p:txBody>
          <a:bodyPr>
            <a:normAutofit/>
          </a:bodyPr>
          <a:lstStyle/>
          <a:p>
            <a:pPr marL="0" indent="0">
              <a:buNone/>
            </a:pPr>
            <a:r>
              <a:rPr lang="en-US" dirty="0"/>
              <a:t>Fresnel zones are concentric ellipses  centered on the direct transmission path.</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The zone surrounding the RF </a:t>
            </a:r>
            <a:r>
              <a:rPr lang="en-US" dirty="0" err="1"/>
              <a:t>LoS</a:t>
            </a:r>
            <a:r>
              <a:rPr lang="en-US" dirty="0"/>
              <a:t> is said to be the Fresnel zone</a:t>
            </a:r>
          </a:p>
          <a:p>
            <a:pPr marL="0" indent="0">
              <a:buNone/>
            </a:pPr>
            <a:endParaRPr lang="en-US" dirty="0"/>
          </a:p>
          <a:p>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54986" y="2372686"/>
            <a:ext cx="1778893" cy="1778893"/>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300231" y="2409227"/>
            <a:ext cx="1778893" cy="1778893"/>
          </a:xfrm>
          <a:prstGeom prst="rect">
            <a:avLst/>
          </a:prstGeom>
        </p:spPr>
      </p:pic>
      <p:cxnSp>
        <p:nvCxnSpPr>
          <p:cNvPr id="10" name="Straight Connector 9"/>
          <p:cNvCxnSpPr/>
          <p:nvPr/>
        </p:nvCxnSpPr>
        <p:spPr>
          <a:xfrm>
            <a:off x="2296742" y="2748677"/>
            <a:ext cx="6199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631153" y="2741953"/>
            <a:ext cx="694231"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3166586" y="2568375"/>
            <a:ext cx="1215793" cy="34715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rtl="0"/>
            <a:endParaRPr lang="en-IN" kern="1200" dirty="0">
              <a:solidFill>
                <a:prstClr val="black"/>
              </a:solidFill>
              <a:latin typeface="Calibri"/>
            </a:endParaRP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flipH="1">
            <a:off x="2844048" y="2636641"/>
            <a:ext cx="257279" cy="233145"/>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4450334" y="2632104"/>
            <a:ext cx="257279" cy="233145"/>
          </a:xfrm>
          <a:prstGeom prst="rect">
            <a:avLst/>
          </a:prstGeom>
        </p:spPr>
      </p:pic>
      <p:cxnSp>
        <p:nvCxnSpPr>
          <p:cNvPr id="15" name="Straight Arrow Connector 14"/>
          <p:cNvCxnSpPr>
            <a:stCxn id="13" idx="0"/>
          </p:cNvCxnSpPr>
          <p:nvPr/>
        </p:nvCxnSpPr>
        <p:spPr>
          <a:xfrm flipV="1">
            <a:off x="3089260" y="2748676"/>
            <a:ext cx="1373141" cy="4537"/>
          </a:xfrm>
          <a:prstGeom prst="straightConnector1">
            <a:avLst/>
          </a:prstGeom>
          <a:ln>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317230" y="2483991"/>
            <a:ext cx="926180"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000" b="1" kern="1200" dirty="0">
                <a:solidFill>
                  <a:prstClr val="black"/>
                </a:solidFill>
                <a:latin typeface="Calibri"/>
              </a:rPr>
              <a:t>Fresnel Zone</a:t>
            </a:r>
          </a:p>
        </p:txBody>
      </p:sp>
      <p:sp>
        <p:nvSpPr>
          <p:cNvPr id="17" name="Rectangle 16"/>
          <p:cNvSpPr/>
          <p:nvPr/>
        </p:nvSpPr>
        <p:spPr>
          <a:xfrm>
            <a:off x="3113547" y="2260774"/>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b="1" kern="1200" dirty="0">
                <a:solidFill>
                  <a:prstClr val="black"/>
                </a:solidFill>
                <a:latin typeface="Calibri"/>
              </a:rPr>
              <a:t>Line of Sight (LOS)</a:t>
            </a:r>
          </a:p>
        </p:txBody>
      </p:sp>
      <p:sp>
        <p:nvSpPr>
          <p:cNvPr id="18" name="Rectangle 17"/>
          <p:cNvSpPr/>
          <p:nvPr/>
        </p:nvSpPr>
        <p:spPr>
          <a:xfrm>
            <a:off x="3747963" y="2847135"/>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900" kern="1200" dirty="0">
                <a:solidFill>
                  <a:prstClr val="black"/>
                </a:solidFill>
                <a:latin typeface="Calibri"/>
              </a:rPr>
              <a:t>Line of Sight </a:t>
            </a:r>
          </a:p>
        </p:txBody>
      </p:sp>
      <p:cxnSp>
        <p:nvCxnSpPr>
          <p:cNvPr id="19" name="Straight Arrow Connector 18"/>
          <p:cNvCxnSpPr/>
          <p:nvPr/>
        </p:nvCxnSpPr>
        <p:spPr>
          <a:xfrm flipH="1" flipV="1">
            <a:off x="4034436" y="2778495"/>
            <a:ext cx="347943" cy="18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0392" y="3070566"/>
            <a:ext cx="1125471" cy="1125471"/>
          </a:xfrm>
          <a:prstGeom prst="rect">
            <a:avLst/>
          </a:prstGeom>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27269" y="3608379"/>
            <a:ext cx="577751" cy="577751"/>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94165" y="3397101"/>
            <a:ext cx="794127" cy="794127"/>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43353" y="3616622"/>
            <a:ext cx="577751" cy="577751"/>
          </a:xfrm>
          <a:prstGeom prst="rect">
            <a:avLst/>
          </a:prstGeom>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32742" y="3615463"/>
            <a:ext cx="577751" cy="577751"/>
          </a:xfrm>
          <a:prstGeom prst="rect">
            <a:avLst/>
          </a:prstGeom>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42731" y="3775737"/>
            <a:ext cx="416916" cy="416916"/>
          </a:xfrm>
          <a:prstGeom prst="rect">
            <a:avLst/>
          </a:prstGeom>
        </p:spPr>
      </p:pic>
    </p:spTree>
    <p:extLst>
      <p:ext uri="{BB962C8B-B14F-4D97-AF65-F5344CB8AC3E}">
        <p14:creationId xmlns:p14="http://schemas.microsoft.com/office/powerpoint/2010/main" val="914216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IN" dirty="0"/>
              <a:t>Fresnel Zone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4172" y="2360702"/>
            <a:ext cx="1778893" cy="1778893"/>
          </a:xfrm>
          <a:prstGeom prst="rect">
            <a:avLst/>
          </a:prstGeom>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500027" y="2357854"/>
            <a:ext cx="1818282" cy="1818282"/>
          </a:xfrm>
          <a:prstGeom prst="rect">
            <a:avLst/>
          </a:prstGeom>
        </p:spPr>
      </p:pic>
      <p:cxnSp>
        <p:nvCxnSpPr>
          <p:cNvPr id="8" name="Straight Connector 7"/>
          <p:cNvCxnSpPr/>
          <p:nvPr/>
        </p:nvCxnSpPr>
        <p:spPr>
          <a:xfrm>
            <a:off x="2535928" y="2736693"/>
            <a:ext cx="6199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4870339" y="2729969"/>
            <a:ext cx="694231"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405772" y="2556391"/>
            <a:ext cx="1215793" cy="34715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rtl="0"/>
            <a:endParaRPr lang="en-IN" kern="1200" dirty="0">
              <a:solidFill>
                <a:prstClr val="black"/>
              </a:solidFill>
              <a:latin typeface="Calibri"/>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flipH="1">
            <a:off x="3083234" y="2624657"/>
            <a:ext cx="257279" cy="233145"/>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4689520" y="2620120"/>
            <a:ext cx="257279" cy="233145"/>
          </a:xfrm>
          <a:prstGeom prst="rect">
            <a:avLst/>
          </a:prstGeom>
        </p:spPr>
      </p:pic>
      <p:cxnSp>
        <p:nvCxnSpPr>
          <p:cNvPr id="13" name="Straight Arrow Connector 12"/>
          <p:cNvCxnSpPr>
            <a:stCxn id="11" idx="0"/>
          </p:cNvCxnSpPr>
          <p:nvPr/>
        </p:nvCxnSpPr>
        <p:spPr>
          <a:xfrm flipV="1">
            <a:off x="3328446" y="2736692"/>
            <a:ext cx="1373141" cy="4537"/>
          </a:xfrm>
          <a:prstGeom prst="straightConnector1">
            <a:avLst/>
          </a:prstGeom>
          <a:ln>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556416" y="2472007"/>
            <a:ext cx="926180"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000" b="1" kern="1200" dirty="0">
                <a:solidFill>
                  <a:prstClr val="black"/>
                </a:solidFill>
                <a:latin typeface="Calibri"/>
              </a:rPr>
              <a:t>Fresnel Zone</a:t>
            </a:r>
          </a:p>
        </p:txBody>
      </p:sp>
      <p:sp>
        <p:nvSpPr>
          <p:cNvPr id="15" name="Rectangle 14"/>
          <p:cNvSpPr/>
          <p:nvPr/>
        </p:nvSpPr>
        <p:spPr>
          <a:xfrm>
            <a:off x="3122271" y="2228026"/>
            <a:ext cx="1788876"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1200" b="1" kern="1200" dirty="0">
                <a:solidFill>
                  <a:prstClr val="black"/>
                </a:solidFill>
                <a:latin typeface="Calibri"/>
              </a:rPr>
              <a:t>Non Line of Sight (NLOS)</a:t>
            </a:r>
          </a:p>
        </p:txBody>
      </p:sp>
      <p:sp>
        <p:nvSpPr>
          <p:cNvPr id="16" name="Rectangle 15"/>
          <p:cNvSpPr/>
          <p:nvPr/>
        </p:nvSpPr>
        <p:spPr>
          <a:xfrm>
            <a:off x="3987149" y="2835151"/>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IN" sz="900" kern="1200" dirty="0">
                <a:solidFill>
                  <a:prstClr val="black"/>
                </a:solidFill>
                <a:latin typeface="Calibri"/>
              </a:rPr>
              <a:t>Line of Sight </a:t>
            </a:r>
          </a:p>
        </p:txBody>
      </p:sp>
      <p:cxnSp>
        <p:nvCxnSpPr>
          <p:cNvPr id="17" name="Straight Arrow Connector 16"/>
          <p:cNvCxnSpPr/>
          <p:nvPr/>
        </p:nvCxnSpPr>
        <p:spPr>
          <a:xfrm flipH="1" flipV="1">
            <a:off x="4273622" y="2766511"/>
            <a:ext cx="347943" cy="18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9578" y="2686284"/>
            <a:ext cx="1125471" cy="1497769"/>
          </a:xfrm>
          <a:prstGeom prst="rect">
            <a:avLst/>
          </a:prstGeom>
        </p:spPr>
      </p:pic>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6455" y="3596395"/>
            <a:ext cx="577751" cy="577751"/>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3350" y="3211752"/>
            <a:ext cx="967492" cy="967492"/>
          </a:xfrm>
          <a:prstGeom prst="rect">
            <a:avLst/>
          </a:prstGeom>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82539" y="3604638"/>
            <a:ext cx="577751" cy="577751"/>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1928" y="3603479"/>
            <a:ext cx="577751" cy="577751"/>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9276" y="3743663"/>
            <a:ext cx="416916" cy="416916"/>
          </a:xfrm>
          <a:prstGeom prst="rect">
            <a:avLst/>
          </a:prstGeom>
        </p:spPr>
      </p:pic>
      <p:sp>
        <p:nvSpPr>
          <p:cNvPr id="3" name="TextBox 2"/>
          <p:cNvSpPr txBox="1"/>
          <p:nvPr/>
        </p:nvSpPr>
        <p:spPr>
          <a:xfrm>
            <a:off x="1885023" y="5330401"/>
            <a:ext cx="4528507"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Fig: Fresnel Zone obstructed by Obstacle </a:t>
            </a:r>
            <a:endParaRPr lang="en-IN" kern="1200" dirty="0">
              <a:solidFill>
                <a:prstClr val="black"/>
              </a:solidFill>
              <a:latin typeface="Calibri"/>
              <a:ea typeface="+mn-ea"/>
              <a:cs typeface="+mn-cs"/>
            </a:endParaRPr>
          </a:p>
        </p:txBody>
      </p:sp>
      <p:cxnSp>
        <p:nvCxnSpPr>
          <p:cNvPr id="25" name="Straight Connector 24"/>
          <p:cNvCxnSpPr/>
          <p:nvPr/>
        </p:nvCxnSpPr>
        <p:spPr>
          <a:xfrm>
            <a:off x="2126751" y="4278545"/>
            <a:ext cx="10274" cy="441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020656" y="4181229"/>
            <a:ext cx="0" cy="49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987148" y="4181229"/>
            <a:ext cx="0" cy="49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137026" y="4473754"/>
            <a:ext cx="1850123" cy="102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987148" y="4473754"/>
            <a:ext cx="2033508" cy="102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709972" y="4558787"/>
            <a:ext cx="559373"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d1</a:t>
            </a:r>
            <a:endParaRPr lang="en-IN" kern="1200" dirty="0">
              <a:solidFill>
                <a:prstClr val="black"/>
              </a:solidFill>
              <a:latin typeface="Calibri"/>
              <a:ea typeface="+mn-ea"/>
              <a:cs typeface="+mn-cs"/>
            </a:endParaRPr>
          </a:p>
        </p:txBody>
      </p:sp>
      <p:sp>
        <p:nvSpPr>
          <p:cNvPr id="34" name="TextBox 33"/>
          <p:cNvSpPr txBox="1"/>
          <p:nvPr/>
        </p:nvSpPr>
        <p:spPr>
          <a:xfrm>
            <a:off x="4753509" y="4531602"/>
            <a:ext cx="559373"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d2</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2744851713"/>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973254"/>
            <a:ext cx="6537960" cy="582930"/>
          </a:xfrm>
        </p:spPr>
        <p:txBody>
          <a:bodyPr/>
          <a:lstStyle/>
          <a:p>
            <a:r>
              <a:rPr lang="en-IN" dirty="0"/>
              <a:t>Fresnel Zone</a:t>
            </a:r>
          </a:p>
        </p:txBody>
      </p:sp>
      <p:pic>
        <p:nvPicPr>
          <p:cNvPr id="4" name="Content Placeholder 3"/>
          <p:cNvPicPr>
            <a:picLocks noGrp="1" noChangeAspect="1"/>
          </p:cNvPicPr>
          <p:nvPr>
            <p:ph idx="1"/>
          </p:nvPr>
        </p:nvPicPr>
        <p:blipFill rotWithShape="1">
          <a:blip r:embed="rId2"/>
          <a:srcRect l="1209" t="27904" r="63880" b="44378"/>
          <a:stretch/>
        </p:blipFill>
        <p:spPr>
          <a:xfrm>
            <a:off x="425303" y="2547828"/>
            <a:ext cx="4359349" cy="2530549"/>
          </a:xfrm>
          <a:prstGeom prst="rect">
            <a:avLst/>
          </a:prstGeom>
        </p:spPr>
      </p:pic>
      <p:sp>
        <p:nvSpPr>
          <p:cNvPr id="5" name="TextBox 4"/>
          <p:cNvSpPr txBox="1"/>
          <p:nvPr/>
        </p:nvSpPr>
        <p:spPr>
          <a:xfrm>
            <a:off x="5016623" y="1905565"/>
            <a:ext cx="4267200" cy="3416320"/>
          </a:xfrm>
          <a:prstGeom prst="rect">
            <a:avLst/>
          </a:prstGeom>
          <a:noFill/>
        </p:spPr>
        <p:txBody>
          <a:bodyPr wrap="square" rtlCol="0">
            <a:spAutoFit/>
          </a:bodyPr>
          <a:lstStyle/>
          <a:p>
            <a:pPr marL="285750" indent="-285750" algn="l" rtl="0">
              <a:buFont typeface="Arial" panose="020B0604020202020204" pitchFamily="34" charset="0"/>
              <a:buChar char="•"/>
            </a:pPr>
            <a:r>
              <a:rPr lang="en-IN" kern="1200" dirty="0">
                <a:solidFill>
                  <a:prstClr val="black"/>
                </a:solidFill>
                <a:latin typeface="Calibri"/>
                <a:ea typeface="+mn-ea"/>
                <a:cs typeface="+mn-cs"/>
              </a:rPr>
              <a:t>The first Fresnel zone is the region where the  transmission energy is the most intense.</a:t>
            </a:r>
          </a:p>
          <a:p>
            <a:pPr marL="285750" indent="-285750" algn="l" rtl="0">
              <a:buFont typeface="Arial" panose="020B0604020202020204" pitchFamily="34" charset="0"/>
              <a:buChar char="•"/>
            </a:pPr>
            <a:r>
              <a:rPr lang="en-IN" kern="1200" dirty="0">
                <a:solidFill>
                  <a:prstClr val="black"/>
                </a:solidFill>
                <a:latin typeface="Calibri"/>
                <a:ea typeface="+mn-ea"/>
                <a:cs typeface="+mn-cs"/>
              </a:rPr>
              <a:t>The obstruction in the Fresnel zone should be as little as possible.</a:t>
            </a:r>
          </a:p>
          <a:p>
            <a:pPr marL="285750" indent="-285750" algn="l" rtl="0">
              <a:buFont typeface="Arial" panose="020B0604020202020204" pitchFamily="34" charset="0"/>
              <a:buChar char="•"/>
            </a:pPr>
            <a:r>
              <a:rPr lang="en-IN" kern="1200" dirty="0">
                <a:solidFill>
                  <a:prstClr val="black"/>
                </a:solidFill>
                <a:latin typeface="Calibri"/>
                <a:ea typeface="+mn-ea"/>
                <a:cs typeface="+mn-cs"/>
              </a:rPr>
              <a:t>When </a:t>
            </a:r>
            <a:r>
              <a:rPr lang="en-IN" kern="1200" dirty="0">
                <a:solidFill>
                  <a:prstClr val="black"/>
                </a:solidFill>
                <a:latin typeface="Arial" panose="020B0604020202020204" pitchFamily="34" charset="0"/>
                <a:ea typeface="+mn-ea"/>
                <a:cs typeface="Arial" panose="020B0604020202020204" pitchFamily="34" charset="0"/>
              </a:rPr>
              <a:t>planning</a:t>
            </a:r>
            <a:r>
              <a:rPr lang="en-IN" kern="1200" dirty="0">
                <a:solidFill>
                  <a:prstClr val="black"/>
                </a:solidFill>
                <a:latin typeface="Calibri"/>
                <a:ea typeface="+mn-ea"/>
                <a:cs typeface="+mn-cs"/>
              </a:rPr>
              <a:t> a new link try to maintain good clearance between two stations, avoiding obstruct the first Fresnel zone.</a:t>
            </a:r>
          </a:p>
          <a:p>
            <a:pPr marL="285750" indent="-285750" algn="l" rtl="0">
              <a:buFont typeface="Arial" panose="020B0604020202020204" pitchFamily="34" charset="0"/>
              <a:buChar char="•"/>
            </a:pPr>
            <a:r>
              <a:rPr lang="en-IN" kern="1200" dirty="0">
                <a:solidFill>
                  <a:prstClr val="black"/>
                </a:solidFill>
                <a:latin typeface="Calibri"/>
                <a:ea typeface="+mn-ea"/>
                <a:cs typeface="+mn-cs"/>
              </a:rPr>
              <a:t>At least  55% of the first Fresnel zone should be kept clear so that the loss is not much.</a:t>
            </a:r>
          </a:p>
        </p:txBody>
      </p:sp>
      <p:sp>
        <p:nvSpPr>
          <p:cNvPr id="3" name="Rectangle 2"/>
          <p:cNvSpPr/>
          <p:nvPr/>
        </p:nvSpPr>
        <p:spPr>
          <a:xfrm>
            <a:off x="3466182" y="4469130"/>
            <a:ext cx="1619255" cy="852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6" name="Rectangle 5"/>
          <p:cNvSpPr/>
          <p:nvPr/>
        </p:nvSpPr>
        <p:spPr>
          <a:xfrm>
            <a:off x="115366" y="4469131"/>
            <a:ext cx="1619255" cy="852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7" name="Rectangle 6"/>
          <p:cNvSpPr/>
          <p:nvPr/>
        </p:nvSpPr>
        <p:spPr>
          <a:xfrm>
            <a:off x="2342508" y="3918950"/>
            <a:ext cx="1200792" cy="1263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2177709" y="3641668"/>
            <a:ext cx="1818282" cy="1818282"/>
          </a:xfrm>
          <a:prstGeom prst="rect">
            <a:avLst/>
          </a:prstGeom>
        </p:spPr>
      </p:pic>
    </p:spTree>
    <p:extLst>
      <p:ext uri="{BB962C8B-B14F-4D97-AF65-F5344CB8AC3E}">
        <p14:creationId xmlns:p14="http://schemas.microsoft.com/office/powerpoint/2010/main" val="376275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sz="quarter" idx="10"/>
          </p:nvPr>
        </p:nvSpPr>
        <p:spPr>
          <a:xfrm>
            <a:off x="274320" y="970251"/>
            <a:ext cx="6537960" cy="582930"/>
          </a:xfrm>
        </p:spPr>
        <p:txBody>
          <a:bodyPr/>
          <a:lstStyle/>
          <a:p>
            <a:r>
              <a:rPr lang="en-IN" dirty="0"/>
              <a:t>Fresnel Zone</a:t>
            </a:r>
          </a:p>
        </p:txBody>
      </p:sp>
      <p:sp>
        <p:nvSpPr>
          <p:cNvPr id="5" name="Content Placeholder 1"/>
          <p:cNvSpPr>
            <a:spLocks noGrp="1"/>
          </p:cNvSpPr>
          <p:nvPr>
            <p:ph idx="1"/>
          </p:nvPr>
        </p:nvSpPr>
        <p:spPr/>
        <p:txBody>
          <a:bodyPr>
            <a:normAutofit/>
          </a:bodyPr>
          <a:lstStyle/>
          <a:p>
            <a:pPr marL="0" indent="0">
              <a:buNone/>
            </a:pPr>
            <a:r>
              <a:rPr lang="en-US" dirty="0"/>
              <a:t>The general equation for calculating the Fresnel zone radius at any point P in between the endpoints of the link</a:t>
            </a:r>
          </a:p>
          <a:p>
            <a:endParaRPr lang="en-US" dirty="0"/>
          </a:p>
          <a:p>
            <a:endParaRPr lang="en-US" dirty="0"/>
          </a:p>
          <a:p>
            <a:endParaRPr lang="en-US" dirty="0"/>
          </a:p>
          <a:p>
            <a:endParaRPr lang="en-US" dirty="0"/>
          </a:p>
          <a:p>
            <a:pPr marL="0" indent="0">
              <a:buNone/>
            </a:pPr>
            <a:r>
              <a:rPr lang="en-US" dirty="0"/>
              <a:t>F</a:t>
            </a:r>
            <a:r>
              <a:rPr lang="en-US" baseline="-25000" dirty="0"/>
              <a:t>n</a:t>
            </a:r>
            <a:r>
              <a:rPr lang="en-US" dirty="0"/>
              <a:t> = The nth Fresnel Zone radius in </a:t>
            </a:r>
            <a:r>
              <a:rPr lang="en-US" dirty="0" err="1"/>
              <a:t>metres</a:t>
            </a:r>
            <a:endParaRPr lang="en-US" dirty="0"/>
          </a:p>
          <a:p>
            <a:pPr marL="0" indent="0">
              <a:buNone/>
            </a:pPr>
            <a:r>
              <a:rPr lang="en-US" dirty="0"/>
              <a:t>d</a:t>
            </a:r>
            <a:r>
              <a:rPr lang="en-US" baseline="-25000" dirty="0"/>
              <a:t>1</a:t>
            </a:r>
            <a:r>
              <a:rPr lang="en-US" dirty="0"/>
              <a:t> = The distance of P from one end in </a:t>
            </a:r>
            <a:r>
              <a:rPr lang="en-US" dirty="0" err="1"/>
              <a:t>metres</a:t>
            </a:r>
            <a:endParaRPr lang="en-US" dirty="0"/>
          </a:p>
          <a:p>
            <a:pPr marL="0" indent="0">
              <a:buNone/>
            </a:pPr>
            <a:r>
              <a:rPr lang="en-US" dirty="0"/>
              <a:t>d</a:t>
            </a:r>
            <a:r>
              <a:rPr lang="en-US" baseline="-25000" dirty="0"/>
              <a:t>2</a:t>
            </a:r>
            <a:r>
              <a:rPr lang="en-US" dirty="0"/>
              <a:t> = The distance of P from the other end in </a:t>
            </a:r>
            <a:r>
              <a:rPr lang="en-US" dirty="0" err="1"/>
              <a:t>metres</a:t>
            </a:r>
            <a:endParaRPr lang="en-US" dirty="0"/>
          </a:p>
          <a:p>
            <a:pPr marL="0" indent="0">
              <a:buNone/>
            </a:pPr>
            <a:r>
              <a:rPr lang="el-GR" dirty="0"/>
              <a:t>λ</a:t>
            </a:r>
            <a:r>
              <a:rPr lang="en-US" dirty="0"/>
              <a:t>= The wavelength of the transmitted signal in </a:t>
            </a:r>
            <a:r>
              <a:rPr lang="en-US" dirty="0" err="1"/>
              <a:t>metres</a:t>
            </a:r>
            <a:r>
              <a:rPr lang="en-US" dirty="0"/>
              <a:t>.</a:t>
            </a:r>
          </a:p>
          <a:p>
            <a:pPr marL="0" indent="0">
              <a:buNone/>
            </a:pPr>
            <a:endParaRPr lang="en-US" dirty="0"/>
          </a:p>
          <a:p>
            <a:endParaRPr lang="en-US" dirty="0"/>
          </a:p>
        </p:txBody>
      </p:sp>
      <p:pic>
        <p:nvPicPr>
          <p:cNvPr id="6" name="Picture 4" descr="F_n = \sqrt{\frac{n \lambda d_1 d_2}{d_1 + d_2}} "/>
          <p:cNvPicPr>
            <a:picLocks noChangeAspect="1" noChangeArrowheads="1"/>
          </p:cNvPicPr>
          <p:nvPr/>
        </p:nvPicPr>
        <p:blipFill>
          <a:blip r:embed="rId2"/>
          <a:srcRect/>
          <a:stretch>
            <a:fillRect/>
          </a:stretch>
        </p:blipFill>
        <p:spPr bwMode="auto">
          <a:xfrm>
            <a:off x="1669002" y="2528399"/>
            <a:ext cx="1604454" cy="672343"/>
          </a:xfrm>
          <a:prstGeom prst="rect">
            <a:avLst/>
          </a:prstGeom>
          <a:noFill/>
        </p:spPr>
      </p:pic>
    </p:spTree>
    <p:extLst>
      <p:ext uri="{BB962C8B-B14F-4D97-AF65-F5344CB8AC3E}">
        <p14:creationId xmlns:p14="http://schemas.microsoft.com/office/powerpoint/2010/main" val="336988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IN" dirty="0"/>
          </a:p>
          <a:p>
            <a:r>
              <a:rPr lang="en-IN" dirty="0"/>
              <a:t>Problems</a:t>
            </a:r>
          </a:p>
          <a:p>
            <a:endParaRPr lang="en-IN" dirty="0"/>
          </a:p>
        </p:txBody>
      </p:sp>
      <p:sp>
        <p:nvSpPr>
          <p:cNvPr id="4" name="Content Placeholder 1"/>
          <p:cNvSpPr>
            <a:spLocks noGrp="1"/>
          </p:cNvSpPr>
          <p:nvPr>
            <p:ph idx="1"/>
          </p:nvPr>
        </p:nvSpPr>
        <p:spPr/>
        <p:txBody>
          <a:bodyPr/>
          <a:lstStyle/>
          <a:p>
            <a:pPr marL="0" indent="0">
              <a:buNone/>
            </a:pPr>
            <a:r>
              <a:rPr lang="en-US" dirty="0"/>
              <a:t>Frequency of the transmitted signal =900Mhz</a:t>
            </a:r>
          </a:p>
          <a:p>
            <a:pPr marL="0" indent="0">
              <a:buNone/>
            </a:pPr>
            <a:r>
              <a:rPr lang="en-US" dirty="0"/>
              <a:t>Distance from transmitter to point P= 1Km</a:t>
            </a:r>
          </a:p>
          <a:p>
            <a:pPr marL="0" indent="0">
              <a:buNone/>
            </a:pPr>
            <a:r>
              <a:rPr lang="en-US" dirty="0"/>
              <a:t>Distance from receiver to Point P =2 Km</a:t>
            </a:r>
          </a:p>
          <a:p>
            <a:pPr marL="0" indent="0">
              <a:buNone/>
            </a:pPr>
            <a:r>
              <a:rPr lang="en-US" dirty="0"/>
              <a:t>Radius of point P of 3</a:t>
            </a:r>
            <a:r>
              <a:rPr lang="en-US" baseline="30000" dirty="0"/>
              <a:t>rd</a:t>
            </a:r>
            <a:r>
              <a:rPr lang="en-US" dirty="0"/>
              <a:t> Fresnel zone?</a:t>
            </a:r>
            <a:endParaRPr lang="en-IN" dirty="0"/>
          </a:p>
          <a:p>
            <a:pPr marL="0" indent="0">
              <a:buNone/>
            </a:pPr>
            <a:endParaRPr lang="en-IN" dirty="0"/>
          </a:p>
          <a:p>
            <a:pPr marL="0" indent="0">
              <a:buNone/>
            </a:pPr>
            <a:r>
              <a:rPr lang="en-IN" dirty="0"/>
              <a:t>Solution:</a:t>
            </a:r>
          </a:p>
          <a:p>
            <a:endParaRPr lang="en-IN" dirty="0"/>
          </a:p>
        </p:txBody>
      </p:sp>
      <p:pic>
        <p:nvPicPr>
          <p:cNvPr id="5" name="Picture 4" descr="F_n = \sqrt{\frac{n \lambda d_1 d_2}{d_1 + d_2}} "/>
          <p:cNvPicPr>
            <a:picLocks noChangeAspect="1" noChangeArrowheads="1"/>
          </p:cNvPicPr>
          <p:nvPr/>
        </p:nvPicPr>
        <p:blipFill>
          <a:blip r:embed="rId2"/>
          <a:srcRect/>
          <a:stretch>
            <a:fillRect/>
          </a:stretch>
        </p:blipFill>
        <p:spPr bwMode="auto">
          <a:xfrm>
            <a:off x="752409" y="4010955"/>
            <a:ext cx="1604454" cy="672343"/>
          </a:xfrm>
          <a:prstGeom prst="rect">
            <a:avLst/>
          </a:prstGeom>
          <a:noFill/>
        </p:spPr>
      </p:pic>
      <p:sp>
        <p:nvSpPr>
          <p:cNvPr id="3" name="TextBox 2"/>
          <p:cNvSpPr txBox="1"/>
          <p:nvPr/>
        </p:nvSpPr>
        <p:spPr>
          <a:xfrm>
            <a:off x="1150707" y="4956639"/>
            <a:ext cx="1777429"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 1.5</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252520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Knife Edge Diffraction Model</a:t>
            </a:r>
          </a:p>
        </p:txBody>
      </p:sp>
      <p:pic>
        <p:nvPicPr>
          <p:cNvPr id="5" name="Picture 2"/>
          <p:cNvPicPr>
            <a:picLocks noGrp="1" noChangeAspect="1" noChangeArrowheads="1"/>
          </p:cNvPicPr>
          <p:nvPr>
            <p:ph idx="1"/>
          </p:nvPr>
        </p:nvPicPr>
        <p:blipFill>
          <a:blip r:embed="rId2"/>
          <a:srcRect/>
          <a:stretch>
            <a:fillRect/>
          </a:stretch>
        </p:blipFill>
        <p:spPr bwMode="auto">
          <a:xfrm>
            <a:off x="523782" y="2037442"/>
            <a:ext cx="4422242" cy="2702481"/>
          </a:xfrm>
          <a:prstGeom prst="rect">
            <a:avLst/>
          </a:prstGeom>
          <a:noFill/>
          <a:ln w="9525">
            <a:noFill/>
            <a:miter lim="800000"/>
            <a:headEnd/>
            <a:tailEnd/>
          </a:ln>
          <a:effectLst/>
        </p:spPr>
      </p:pic>
      <p:sp>
        <p:nvSpPr>
          <p:cNvPr id="6" name="TextBox 5"/>
          <p:cNvSpPr txBox="1"/>
          <p:nvPr/>
        </p:nvSpPr>
        <p:spPr>
          <a:xfrm>
            <a:off x="5213828" y="2961997"/>
            <a:ext cx="3581400" cy="646331"/>
          </a:xfrm>
          <a:prstGeom prst="rect">
            <a:avLst/>
          </a:prstGeom>
          <a:solidFill>
            <a:srgbClr val="FFFF00"/>
          </a:solidFill>
          <a:ln>
            <a:solidFill>
              <a:schemeClr val="tx1"/>
            </a:solidFill>
          </a:ln>
        </p:spPr>
        <p:txBody>
          <a:bodyPr wrap="square" rtlCol="0">
            <a:spAutoFit/>
          </a:bodyPr>
          <a:lstStyle/>
          <a:p>
            <a:pPr algn="l" rtl="0"/>
            <a:r>
              <a:rPr lang="en-IN" kern="1200" dirty="0">
                <a:solidFill>
                  <a:prstClr val="black"/>
                </a:solidFill>
                <a:latin typeface="Arial" panose="020B0604020202020204" pitchFamily="34" charset="0"/>
                <a:ea typeface="+mn-ea"/>
                <a:cs typeface="Arial" panose="020B0604020202020204" pitchFamily="34" charset="0"/>
              </a:rPr>
              <a:t>Estimating signal attenuation due to knife edge diffraction</a:t>
            </a:r>
          </a:p>
        </p:txBody>
      </p:sp>
      <p:sp>
        <p:nvSpPr>
          <p:cNvPr id="7" name="Rectangle 6"/>
          <p:cNvSpPr/>
          <p:nvPr/>
        </p:nvSpPr>
        <p:spPr>
          <a:xfrm>
            <a:off x="7181637" y="5511444"/>
            <a:ext cx="1962364"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789190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Knife Edge Diffraction Model</a:t>
            </a:r>
          </a:p>
          <a:p>
            <a:endParaRPr lang="en-IN" dirty="0"/>
          </a:p>
        </p:txBody>
      </p:sp>
      <p:sp>
        <p:nvSpPr>
          <p:cNvPr id="4" name="Content Placeholder 1"/>
          <p:cNvSpPr>
            <a:spLocks noGrp="1"/>
          </p:cNvSpPr>
          <p:nvPr>
            <p:ph idx="1"/>
          </p:nvPr>
        </p:nvSpPr>
        <p:spPr/>
        <p:txBody>
          <a:bodyPr/>
          <a:lstStyle/>
          <a:p>
            <a:pPr marL="0" indent="0">
              <a:buNone/>
            </a:pPr>
            <a:r>
              <a:rPr lang="en-US" dirty="0"/>
              <a:t>consider that there’s an obstruction of height h at a distance of </a:t>
            </a:r>
            <a:r>
              <a:rPr lang="en-US" i="1" dirty="0"/>
              <a:t>d1 from the transmitter and d2 from the receiver. The path</a:t>
            </a:r>
          </a:p>
          <a:p>
            <a:pPr marL="0" indent="0">
              <a:buNone/>
            </a:pPr>
            <a:r>
              <a:rPr lang="en-US" dirty="0"/>
              <a:t>Difference between direct path and the diffracted path is</a:t>
            </a:r>
          </a:p>
          <a:p>
            <a:endParaRPr lang="en-US" dirty="0"/>
          </a:p>
          <a:p>
            <a:endParaRPr lang="en-US" dirty="0"/>
          </a:p>
          <a:p>
            <a:endParaRPr lang="en-US" dirty="0"/>
          </a:p>
        </p:txBody>
      </p:sp>
      <p:pic>
        <p:nvPicPr>
          <p:cNvPr id="5" name="Picture 4"/>
          <p:cNvPicPr/>
          <p:nvPr/>
        </p:nvPicPr>
        <p:blipFill>
          <a:blip r:embed="rId2"/>
          <a:srcRect l="36378" t="35936" r="32051" b="56078"/>
          <a:stretch>
            <a:fillRect/>
          </a:stretch>
        </p:blipFill>
        <p:spPr bwMode="auto">
          <a:xfrm>
            <a:off x="1473693" y="2942763"/>
            <a:ext cx="3270682" cy="592754"/>
          </a:xfrm>
          <a:prstGeom prst="rect">
            <a:avLst/>
          </a:prstGeom>
          <a:noFill/>
          <a:ln w="9525">
            <a:noFill/>
            <a:miter lim="800000"/>
            <a:headEnd/>
            <a:tailEnd/>
          </a:ln>
        </p:spPr>
      </p:pic>
      <p:pic>
        <p:nvPicPr>
          <p:cNvPr id="6" name="Picture 5"/>
          <p:cNvPicPr/>
          <p:nvPr/>
        </p:nvPicPr>
        <p:blipFill>
          <a:blip r:embed="rId3"/>
          <a:srcRect l="31571" t="55022" r="26923" b="26732"/>
          <a:stretch>
            <a:fillRect/>
          </a:stretch>
        </p:blipFill>
        <p:spPr bwMode="auto">
          <a:xfrm>
            <a:off x="437266" y="3846897"/>
            <a:ext cx="4690878" cy="1176308"/>
          </a:xfrm>
          <a:prstGeom prst="rect">
            <a:avLst/>
          </a:prstGeom>
          <a:noFill/>
          <a:ln w="9525">
            <a:noFill/>
            <a:miter lim="800000"/>
            <a:headEnd/>
            <a:tailEnd/>
          </a:ln>
        </p:spPr>
      </p:pic>
      <p:pic>
        <p:nvPicPr>
          <p:cNvPr id="7" name="Picture 2"/>
          <p:cNvPicPr>
            <a:picLocks noChangeAspect="1" noChangeArrowheads="1"/>
          </p:cNvPicPr>
          <p:nvPr/>
        </p:nvPicPr>
        <p:blipFill>
          <a:blip r:embed="rId4"/>
          <a:srcRect/>
          <a:stretch>
            <a:fillRect/>
          </a:stretch>
        </p:blipFill>
        <p:spPr bwMode="auto">
          <a:xfrm>
            <a:off x="5291091" y="2714162"/>
            <a:ext cx="3719987" cy="2546412"/>
          </a:xfrm>
          <a:prstGeom prst="rect">
            <a:avLst/>
          </a:prstGeom>
          <a:noFill/>
          <a:ln w="9525">
            <a:noFill/>
            <a:miter lim="800000"/>
            <a:headEnd/>
            <a:tailEnd/>
          </a:ln>
          <a:effectLst/>
        </p:spPr>
      </p:pic>
    </p:spTree>
    <p:extLst>
      <p:ext uri="{BB962C8B-B14F-4D97-AF65-F5344CB8AC3E}">
        <p14:creationId xmlns:p14="http://schemas.microsoft.com/office/powerpoint/2010/main" val="1455358604"/>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sz="quarter" idx="10"/>
          </p:nvPr>
        </p:nvSpPr>
        <p:spPr>
          <a:xfrm>
            <a:off x="272955" y="983548"/>
            <a:ext cx="6537960" cy="582930"/>
          </a:xfrm>
        </p:spPr>
        <p:txBody>
          <a:bodyPr/>
          <a:lstStyle/>
          <a:p>
            <a:endParaRPr lang="en-US" dirty="0"/>
          </a:p>
          <a:p>
            <a:r>
              <a:rPr lang="en-US" dirty="0"/>
              <a:t>Knife Edge Diffraction Model</a:t>
            </a:r>
          </a:p>
          <a:p>
            <a:endParaRPr lang="en-IN" dirty="0"/>
          </a:p>
        </p:txBody>
      </p:sp>
      <p:pic>
        <p:nvPicPr>
          <p:cNvPr id="5" name="Content Placeholder 4"/>
          <p:cNvPicPr>
            <a:picLocks/>
          </p:cNvPicPr>
          <p:nvPr/>
        </p:nvPicPr>
        <p:blipFill>
          <a:blip r:embed="rId2"/>
          <a:srcRect l="18269" t="73789" r="32692" b="8547"/>
          <a:stretch>
            <a:fillRect/>
          </a:stretch>
        </p:blipFill>
        <p:spPr bwMode="auto">
          <a:xfrm>
            <a:off x="272955" y="1714980"/>
            <a:ext cx="6195134" cy="1062335"/>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Box 5"/>
          <p:cNvSpPr txBox="1"/>
          <p:nvPr/>
        </p:nvSpPr>
        <p:spPr>
          <a:xfrm>
            <a:off x="272955" y="2876584"/>
            <a:ext cx="8251424" cy="1569660"/>
          </a:xfrm>
          <a:prstGeom prst="rect">
            <a:avLst/>
          </a:prstGeom>
          <a:noFill/>
        </p:spPr>
        <p:txBody>
          <a:bodyPr wrap="square" rtlCol="0">
            <a:spAutoFit/>
          </a:bodyPr>
          <a:lstStyle/>
          <a:p>
            <a:pPr algn="l" rtl="0"/>
            <a:endParaRPr lang="en-US" sz="2400" kern="1200" dirty="0">
              <a:solidFill>
                <a:prstClr val="black"/>
              </a:solidFill>
              <a:latin typeface="Calibri"/>
              <a:ea typeface="+mn-ea"/>
              <a:cs typeface="+mn-cs"/>
            </a:endParaRPr>
          </a:p>
          <a:p>
            <a:pPr algn="l" rtl="0"/>
            <a:r>
              <a:rPr lang="en-US" kern="1200" dirty="0">
                <a:solidFill>
                  <a:prstClr val="black"/>
                </a:solidFill>
                <a:latin typeface="Calibri"/>
                <a:ea typeface="+mn-ea"/>
                <a:cs typeface="+mn-cs"/>
              </a:rPr>
              <a:t>Tan </a:t>
            </a:r>
            <a:r>
              <a:rPr lang="el-GR" kern="1200" dirty="0">
                <a:solidFill>
                  <a:prstClr val="black"/>
                </a:solidFill>
                <a:latin typeface="Calibri"/>
                <a:ea typeface="+mn-ea"/>
                <a:cs typeface="+mn-cs"/>
              </a:rPr>
              <a:t>α</a:t>
            </a:r>
            <a:r>
              <a:rPr lang="en-US" kern="1200" dirty="0">
                <a:solidFill>
                  <a:prstClr val="black"/>
                </a:solidFill>
                <a:latin typeface="Calibri"/>
                <a:ea typeface="+mn-ea"/>
                <a:cs typeface="+mn-cs"/>
              </a:rPr>
              <a:t> = tan </a:t>
            </a:r>
            <a:r>
              <a:rPr lang="el-GR" kern="1200" dirty="0">
                <a:solidFill>
                  <a:prstClr val="black"/>
                </a:solidFill>
                <a:latin typeface="Calibri"/>
                <a:ea typeface="+mn-ea"/>
                <a:cs typeface="+mn-cs"/>
              </a:rPr>
              <a:t>β</a:t>
            </a:r>
            <a:r>
              <a:rPr lang="en-US" kern="1200" dirty="0">
                <a:solidFill>
                  <a:prstClr val="black"/>
                </a:solidFill>
                <a:latin typeface="Calibri"/>
                <a:ea typeface="+mn-ea"/>
                <a:cs typeface="+mn-cs"/>
              </a:rPr>
              <a:t> + tan </a:t>
            </a:r>
            <a:r>
              <a:rPr lang="el-GR" kern="1200" dirty="0">
                <a:solidFill>
                  <a:prstClr val="black"/>
                </a:solidFill>
                <a:latin typeface="Calibri"/>
                <a:ea typeface="+mn-ea"/>
                <a:cs typeface="+mn-cs"/>
              </a:rPr>
              <a:t>γ</a:t>
            </a:r>
            <a:endParaRPr lang="en-US" kern="1200" dirty="0">
              <a:solidFill>
                <a:prstClr val="black"/>
              </a:solidFill>
              <a:latin typeface="Calibri"/>
              <a:ea typeface="+mn-ea"/>
              <a:cs typeface="+mn-cs"/>
            </a:endParaRPr>
          </a:p>
          <a:p>
            <a:pPr algn="l" rtl="0"/>
            <a:r>
              <a:rPr lang="en-US" kern="1200" dirty="0">
                <a:solidFill>
                  <a:prstClr val="black"/>
                </a:solidFill>
                <a:latin typeface="Calibri"/>
                <a:ea typeface="+mn-ea"/>
                <a:cs typeface="+mn-cs"/>
              </a:rPr>
              <a:t>Tan </a:t>
            </a:r>
            <a:r>
              <a:rPr lang="el-GR" kern="1200" dirty="0">
                <a:solidFill>
                  <a:prstClr val="black"/>
                </a:solidFill>
                <a:latin typeface="Calibri"/>
                <a:ea typeface="+mn-ea"/>
                <a:cs typeface="+mn-cs"/>
              </a:rPr>
              <a:t>α</a:t>
            </a:r>
            <a:r>
              <a:rPr lang="en-US" kern="1200" dirty="0">
                <a:solidFill>
                  <a:prstClr val="black"/>
                </a:solidFill>
                <a:latin typeface="Calibri"/>
                <a:ea typeface="+mn-ea"/>
                <a:cs typeface="+mn-cs"/>
              </a:rPr>
              <a:t> ≈ </a:t>
            </a:r>
            <a:r>
              <a:rPr lang="el-GR" kern="1200" dirty="0">
                <a:solidFill>
                  <a:prstClr val="black"/>
                </a:solidFill>
                <a:latin typeface="Calibri"/>
                <a:ea typeface="+mn-ea"/>
                <a:cs typeface="+mn-cs"/>
              </a:rPr>
              <a:t>α</a:t>
            </a:r>
            <a:endParaRPr lang="en-US" kern="1200" dirty="0">
              <a:solidFill>
                <a:prstClr val="black"/>
              </a:solidFill>
              <a:latin typeface="Calibri"/>
              <a:ea typeface="+mn-ea"/>
              <a:cs typeface="+mn-cs"/>
            </a:endParaRPr>
          </a:p>
          <a:p>
            <a:pPr algn="l" rtl="0"/>
            <a:r>
              <a:rPr lang="el-GR" kern="1200" dirty="0">
                <a:solidFill>
                  <a:prstClr val="black"/>
                </a:solidFill>
                <a:latin typeface="Calibri"/>
                <a:ea typeface="+mn-ea"/>
                <a:cs typeface="+mn-cs"/>
              </a:rPr>
              <a:t>α </a:t>
            </a:r>
            <a:r>
              <a:rPr lang="en-US" kern="1200" dirty="0">
                <a:solidFill>
                  <a:prstClr val="black"/>
                </a:solidFill>
                <a:latin typeface="Calibri"/>
                <a:ea typeface="+mn-ea"/>
                <a:cs typeface="+mn-cs"/>
              </a:rPr>
              <a:t>= </a:t>
            </a:r>
            <a:r>
              <a:rPr lang="pt-BR" i="1" kern="1200" dirty="0">
                <a:solidFill>
                  <a:prstClr val="black"/>
                </a:solidFill>
                <a:latin typeface="Calibri"/>
                <a:ea typeface="+mn-ea"/>
                <a:cs typeface="+mn-cs"/>
              </a:rPr>
              <a:t>h/d1 + h/d2 = h(d1 + d2)/d1d2.</a:t>
            </a:r>
          </a:p>
          <a:p>
            <a:pPr algn="l" rtl="0"/>
            <a:endParaRPr lang="en-US" kern="1200" dirty="0">
              <a:solidFill>
                <a:prstClr val="black"/>
              </a:solidFill>
              <a:latin typeface="Calibri"/>
              <a:ea typeface="+mn-ea"/>
              <a:cs typeface="+mn-cs"/>
            </a:endParaRPr>
          </a:p>
        </p:txBody>
      </p:sp>
      <p:pic>
        <p:nvPicPr>
          <p:cNvPr id="7" name="Picture 6"/>
          <p:cNvPicPr/>
          <p:nvPr/>
        </p:nvPicPr>
        <p:blipFill>
          <a:blip r:embed="rId3"/>
          <a:srcRect l="36218" t="72365" r="32532" b="18233"/>
          <a:stretch>
            <a:fillRect/>
          </a:stretch>
        </p:blipFill>
        <p:spPr bwMode="auto">
          <a:xfrm>
            <a:off x="0" y="5208121"/>
            <a:ext cx="5189738" cy="648335"/>
          </a:xfrm>
          <a:prstGeom prst="rect">
            <a:avLst/>
          </a:prstGeom>
          <a:noFill/>
          <a:ln w="9525">
            <a:noFill/>
            <a:miter lim="800000"/>
            <a:headEnd/>
            <a:tailEnd/>
          </a:ln>
        </p:spPr>
      </p:pic>
      <p:sp>
        <p:nvSpPr>
          <p:cNvPr id="8" name="TextBox 7"/>
          <p:cNvSpPr txBox="1"/>
          <p:nvPr/>
        </p:nvSpPr>
        <p:spPr>
          <a:xfrm>
            <a:off x="143523" y="4814596"/>
            <a:ext cx="5334000" cy="369332"/>
          </a:xfrm>
          <a:prstGeom prst="rect">
            <a:avLst/>
          </a:prstGeom>
          <a:noFill/>
        </p:spPr>
        <p:txBody>
          <a:bodyPr wrap="square" rtlCol="0">
            <a:spAutoFit/>
          </a:bodyPr>
          <a:lstStyle/>
          <a:p>
            <a:pPr algn="l" rtl="0"/>
            <a:r>
              <a:rPr lang="en-US" kern="1200" dirty="0">
                <a:solidFill>
                  <a:prstClr val="black"/>
                </a:solidFill>
                <a:latin typeface="Calibri"/>
                <a:ea typeface="+mn-ea"/>
                <a:cs typeface="+mn-cs"/>
              </a:rPr>
              <a:t>V is the </a:t>
            </a:r>
            <a:r>
              <a:rPr lang="en-US" kern="1200" dirty="0" err="1">
                <a:solidFill>
                  <a:prstClr val="black"/>
                </a:solidFill>
                <a:latin typeface="Calibri"/>
                <a:ea typeface="+mn-ea"/>
                <a:cs typeface="+mn-cs"/>
              </a:rPr>
              <a:t>fresnel</a:t>
            </a:r>
            <a:r>
              <a:rPr lang="en-US" kern="1200" dirty="0">
                <a:solidFill>
                  <a:prstClr val="black"/>
                </a:solidFill>
                <a:latin typeface="Calibri"/>
                <a:ea typeface="+mn-ea"/>
                <a:cs typeface="+mn-cs"/>
              </a:rPr>
              <a:t> diffraction parameter</a:t>
            </a:r>
          </a:p>
        </p:txBody>
      </p:sp>
      <p:pic>
        <p:nvPicPr>
          <p:cNvPr id="9" name="Picture 2"/>
          <p:cNvPicPr>
            <a:picLocks noChangeAspect="1" noChangeArrowheads="1"/>
          </p:cNvPicPr>
          <p:nvPr/>
        </p:nvPicPr>
        <p:blipFill>
          <a:blip r:embed="rId4"/>
          <a:srcRect/>
          <a:stretch>
            <a:fillRect/>
          </a:stretch>
        </p:blipFill>
        <p:spPr bwMode="auto">
          <a:xfrm>
            <a:off x="4398668" y="2801506"/>
            <a:ext cx="4332303" cy="2390236"/>
          </a:xfrm>
          <a:prstGeom prst="rect">
            <a:avLst/>
          </a:prstGeom>
          <a:noFill/>
          <a:ln w="9525">
            <a:noFill/>
            <a:miter lim="800000"/>
            <a:headEnd/>
            <a:tailEnd/>
          </a:ln>
          <a:effectLst/>
        </p:spPr>
      </p:pic>
      <p:sp>
        <p:nvSpPr>
          <p:cNvPr id="10" name="Rectangle 9"/>
          <p:cNvSpPr/>
          <p:nvPr/>
        </p:nvSpPr>
        <p:spPr>
          <a:xfrm>
            <a:off x="5797120" y="5162955"/>
            <a:ext cx="1139063" cy="369332"/>
          </a:xfrm>
          <a:prstGeom prst="rect">
            <a:avLst/>
          </a:prstGeom>
        </p:spPr>
        <p:txBody>
          <a:bodyPr wrap="square">
            <a:spAutoFit/>
          </a:bodyPr>
          <a:lstStyle/>
          <a:p>
            <a:pPr algn="l" rtl="0"/>
            <a:r>
              <a:rPr lang="el-GR" kern="1200" dirty="0">
                <a:solidFill>
                  <a:prstClr val="black"/>
                </a:solidFill>
                <a:latin typeface="Calibri"/>
                <a:ea typeface="+mn-ea"/>
                <a:cs typeface="+mn-cs"/>
              </a:rPr>
              <a:t>φ</a:t>
            </a:r>
            <a:r>
              <a:rPr lang="en-US" kern="1200" dirty="0">
                <a:solidFill>
                  <a:prstClr val="black"/>
                </a:solidFill>
                <a:latin typeface="Calibri"/>
                <a:ea typeface="+mn-ea"/>
                <a:cs typeface="+mn-cs"/>
              </a:rPr>
              <a:t>= </a:t>
            </a:r>
            <a:r>
              <a:rPr lang="el-GR" kern="1200" dirty="0">
                <a:solidFill>
                  <a:prstClr val="black"/>
                </a:solidFill>
                <a:latin typeface="Calibri"/>
                <a:ea typeface="+mn-ea"/>
                <a:cs typeface="+mn-cs"/>
              </a:rPr>
              <a:t>π</a:t>
            </a:r>
            <a:r>
              <a:rPr lang="en-US" kern="1200" dirty="0">
                <a:solidFill>
                  <a:prstClr val="black"/>
                </a:solidFill>
                <a:latin typeface="Calibri"/>
                <a:ea typeface="+mn-ea"/>
                <a:cs typeface="+mn-cs"/>
              </a:rPr>
              <a:t>v</a:t>
            </a:r>
            <a:r>
              <a:rPr lang="en-US" kern="1200" baseline="30000" dirty="0">
                <a:solidFill>
                  <a:prstClr val="black"/>
                </a:solidFill>
                <a:latin typeface="Calibri"/>
                <a:ea typeface="+mn-ea"/>
                <a:cs typeface="+mn-cs"/>
              </a:rPr>
              <a:t>2</a:t>
            </a:r>
            <a:r>
              <a:rPr lang="en-US" kern="1200" dirty="0">
                <a:solidFill>
                  <a:prstClr val="black"/>
                </a:solidFill>
                <a:latin typeface="Calibri"/>
                <a:ea typeface="+mn-ea"/>
                <a:cs typeface="+mn-cs"/>
              </a:rPr>
              <a:t>/2</a:t>
            </a:r>
          </a:p>
        </p:txBody>
      </p:sp>
    </p:spTree>
    <p:extLst>
      <p:ext uri="{BB962C8B-B14F-4D97-AF65-F5344CB8AC3E}">
        <p14:creationId xmlns:p14="http://schemas.microsoft.com/office/powerpoint/2010/main" val="3831862722"/>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l="28365" t="36467" r="30449" b="23932"/>
          <a:stretch>
            <a:fillRect/>
          </a:stretch>
        </p:blipFill>
        <p:spPr bwMode="auto">
          <a:xfrm>
            <a:off x="355972" y="1931448"/>
            <a:ext cx="6427432" cy="3497802"/>
          </a:xfrm>
          <a:prstGeom prst="rect">
            <a:avLst/>
          </a:prstGeom>
          <a:noFill/>
          <a:ln w="9525">
            <a:noFill/>
            <a:miter lim="800000"/>
            <a:headEnd/>
            <a:tailEnd/>
          </a:ln>
        </p:spPr>
      </p:pic>
      <p:sp>
        <p:nvSpPr>
          <p:cNvPr id="5" name="Content Placeholder 1"/>
          <p:cNvSpPr>
            <a:spLocks noGrp="1"/>
          </p:cNvSpPr>
          <p:nvPr>
            <p:ph sz="quarter" idx="10"/>
          </p:nvPr>
        </p:nvSpPr>
        <p:spPr/>
        <p:txBody>
          <a:bodyPr/>
          <a:lstStyle/>
          <a:p>
            <a:endParaRPr lang="en-US" dirty="0"/>
          </a:p>
          <a:p>
            <a:r>
              <a:rPr lang="en-US" dirty="0"/>
              <a:t>Knife Edge Diffraction Model</a:t>
            </a:r>
          </a:p>
          <a:p>
            <a:endParaRPr lang="en-IN" dirty="0"/>
          </a:p>
        </p:txBody>
      </p:sp>
      <p:sp>
        <p:nvSpPr>
          <p:cNvPr id="6" name="Rectangle 5"/>
          <p:cNvSpPr/>
          <p:nvPr/>
        </p:nvSpPr>
        <p:spPr>
          <a:xfrm>
            <a:off x="7181637" y="5511444"/>
            <a:ext cx="1962364"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2469308"/>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normAutofit/>
          </a:bodyPr>
          <a:lstStyle/>
          <a:p>
            <a:r>
              <a:rPr lang="en-US" altLang="en-US" dirty="0"/>
              <a:t>Multiple knife-edge diffraction</a:t>
            </a:r>
            <a:endParaRPr lang="en-US" dirty="0"/>
          </a:p>
        </p:txBody>
      </p:sp>
      <p:sp>
        <p:nvSpPr>
          <p:cNvPr id="5" name="Content Placeholder 1"/>
          <p:cNvSpPr>
            <a:spLocks noGrp="1"/>
          </p:cNvSpPr>
          <p:nvPr>
            <p:ph idx="1"/>
          </p:nvPr>
        </p:nvSpPr>
        <p:spPr/>
        <p:txBody>
          <a:bodyPr/>
          <a:lstStyle/>
          <a:p>
            <a:pPr marL="0" indent="0">
              <a:buNone/>
            </a:pPr>
            <a:r>
              <a:rPr lang="en-US" altLang="zh-CN" dirty="0">
                <a:latin typeface="+mj-lt"/>
              </a:rPr>
              <a:t>Multiple Knife-edge diffraction : For the presence of two knife edges, replace it by an equivalent knife edge.</a:t>
            </a:r>
          </a:p>
          <a:p>
            <a:endParaRPr lang="en-US" dirty="0"/>
          </a:p>
        </p:txBody>
      </p:sp>
      <p:pic>
        <p:nvPicPr>
          <p:cNvPr id="6" name="Picture 6" descr="F4_15"/>
          <p:cNvPicPr>
            <a:picLocks noChangeAspect="1" noChangeArrowheads="1"/>
          </p:cNvPicPr>
          <p:nvPr/>
        </p:nvPicPr>
        <p:blipFill rotWithShape="1">
          <a:blip r:embed="rId2">
            <a:lum bright="-20000" contrast="40000"/>
            <a:extLst>
              <a:ext uri="{28A0092B-C50C-407E-A947-70E740481C1C}">
                <a14:useLocalDpi xmlns:a14="http://schemas.microsoft.com/office/drawing/2010/main" val="0"/>
              </a:ext>
            </a:extLst>
          </a:blip>
          <a:srcRect b="8560"/>
          <a:stretch/>
        </p:blipFill>
        <p:spPr bwMode="auto">
          <a:xfrm>
            <a:off x="245444" y="2651943"/>
            <a:ext cx="6081204" cy="216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7181637" y="5511444"/>
            <a:ext cx="1962364"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5848697"/>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Example</a:t>
            </a:r>
          </a:p>
          <a:p>
            <a:endParaRPr lang="en-IN" dirty="0"/>
          </a:p>
        </p:txBody>
      </p:sp>
      <p:sp>
        <p:nvSpPr>
          <p:cNvPr id="4" name="Content Placeholder 1"/>
          <p:cNvSpPr txBox="1">
            <a:spLocks/>
          </p:cNvSpPr>
          <p:nvPr/>
        </p:nvSpPr>
        <p:spPr bwMode="auto">
          <a:xfrm>
            <a:off x="171635" y="1685262"/>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dirty="0">
                <a:solidFill>
                  <a:prstClr val="black"/>
                </a:solidFill>
              </a:rPr>
              <a:t>Compute the diffraction parameter for h=25m. Assume wavelength as 1/3m, d1= 2 km, d2=2km. Identify the </a:t>
            </a:r>
            <a:r>
              <a:rPr lang="en-US" dirty="0" err="1">
                <a:solidFill>
                  <a:prstClr val="black"/>
                </a:solidFill>
              </a:rPr>
              <a:t>fresnel</a:t>
            </a:r>
            <a:r>
              <a:rPr lang="en-US" dirty="0">
                <a:solidFill>
                  <a:prstClr val="black"/>
                </a:solidFill>
              </a:rPr>
              <a:t> zone within which the tip of the obstruction lies.</a:t>
            </a:r>
          </a:p>
          <a:p>
            <a:endParaRPr lang="en-US" dirty="0">
              <a:solidFill>
                <a:prstClr val="black"/>
              </a:solidFill>
            </a:endParaRPr>
          </a:p>
          <a:p>
            <a:pPr marL="0" indent="0">
              <a:buNone/>
            </a:pPr>
            <a:r>
              <a:rPr lang="en-US" dirty="0">
                <a:solidFill>
                  <a:prstClr val="black"/>
                </a:solidFill>
              </a:rPr>
              <a:t>Solution: </a:t>
            </a:r>
          </a:p>
          <a:p>
            <a:endParaRPr lang="en-US" dirty="0">
              <a:solidFill>
                <a:prstClr val="black"/>
              </a:solidFill>
            </a:endParaRPr>
          </a:p>
          <a:p>
            <a:pPr marL="0" indent="0">
              <a:buNone/>
            </a:pPr>
            <a:r>
              <a:rPr lang="en-US" dirty="0">
                <a:solidFill>
                  <a:prstClr val="black"/>
                </a:solidFill>
              </a:rPr>
              <a:t>		      </a:t>
            </a:r>
          </a:p>
          <a:p>
            <a:pPr marL="0" indent="0">
              <a:buNone/>
            </a:pPr>
            <a:r>
              <a:rPr lang="en-US" dirty="0">
                <a:solidFill>
                  <a:prstClr val="black"/>
                </a:solidFill>
              </a:rPr>
              <a:t>                             </a:t>
            </a:r>
            <a:r>
              <a:rPr lang="el-GR" dirty="0">
                <a:solidFill>
                  <a:prstClr val="black"/>
                </a:solidFill>
              </a:rPr>
              <a:t>Δ</a:t>
            </a:r>
            <a:r>
              <a:rPr lang="en-US" dirty="0">
                <a:solidFill>
                  <a:prstClr val="black"/>
                </a:solidFill>
              </a:rPr>
              <a:t>=</a:t>
            </a:r>
          </a:p>
          <a:p>
            <a:pPr marL="0" indent="0">
              <a:buNone/>
            </a:pPr>
            <a:r>
              <a:rPr lang="en-US" dirty="0">
                <a:solidFill>
                  <a:prstClr val="black"/>
                </a:solidFill>
              </a:rPr>
              <a:t>                </a:t>
            </a:r>
          </a:p>
          <a:p>
            <a:pPr marL="0" indent="0">
              <a:buNone/>
            </a:pPr>
            <a:r>
              <a:rPr lang="en-US" dirty="0">
                <a:solidFill>
                  <a:prstClr val="black"/>
                </a:solidFill>
              </a:rPr>
              <a:t> 		</a:t>
            </a:r>
            <a:r>
              <a:rPr lang="el-GR" sz="1600" dirty="0">
                <a:solidFill>
                  <a:prstClr val="black"/>
                </a:solidFill>
              </a:rPr>
              <a:t>Δ</a:t>
            </a:r>
            <a:r>
              <a:rPr lang="en-US" sz="1600" dirty="0">
                <a:solidFill>
                  <a:prstClr val="black"/>
                </a:solidFill>
              </a:rPr>
              <a:t>= n</a:t>
            </a:r>
            <a:r>
              <a:rPr lang="el-GR" sz="1600" dirty="0">
                <a:solidFill>
                  <a:prstClr val="black"/>
                </a:solidFill>
              </a:rPr>
              <a:t>λ</a:t>
            </a:r>
            <a:r>
              <a:rPr lang="en-US" sz="1600" dirty="0">
                <a:solidFill>
                  <a:prstClr val="black"/>
                </a:solidFill>
              </a:rPr>
              <a:t>/2. Therefore n= 2</a:t>
            </a:r>
            <a:r>
              <a:rPr lang="el-GR" sz="1600" dirty="0">
                <a:solidFill>
                  <a:prstClr val="black"/>
                </a:solidFill>
              </a:rPr>
              <a:t> Δ </a:t>
            </a:r>
            <a:r>
              <a:rPr lang="en-US" sz="1600" dirty="0">
                <a:solidFill>
                  <a:prstClr val="black"/>
                </a:solidFill>
              </a:rPr>
              <a:t>/</a:t>
            </a:r>
            <a:r>
              <a:rPr lang="el-GR" sz="1600" dirty="0">
                <a:solidFill>
                  <a:prstClr val="black"/>
                </a:solidFill>
              </a:rPr>
              <a:t> λ</a:t>
            </a:r>
            <a:r>
              <a:rPr lang="en-US" sz="1600" dirty="0">
                <a:solidFill>
                  <a:prstClr val="black"/>
                </a:solidFill>
              </a:rPr>
              <a:t>.</a:t>
            </a:r>
          </a:p>
          <a:p>
            <a:pPr marL="0" indent="0">
              <a:buNone/>
            </a:pPr>
            <a:r>
              <a:rPr lang="en-US" dirty="0">
                <a:solidFill>
                  <a:prstClr val="black"/>
                </a:solidFill>
              </a:rPr>
              <a:t>		       </a:t>
            </a:r>
          </a:p>
        </p:txBody>
      </p:sp>
      <p:pic>
        <p:nvPicPr>
          <p:cNvPr id="5" name="Picture 4"/>
          <p:cNvPicPr/>
          <p:nvPr/>
        </p:nvPicPr>
        <p:blipFill>
          <a:blip r:embed="rId2"/>
          <a:srcRect l="36218" t="72365" r="48492" b="18233"/>
          <a:stretch>
            <a:fillRect/>
          </a:stretch>
        </p:blipFill>
        <p:spPr bwMode="auto">
          <a:xfrm>
            <a:off x="1660517" y="2930456"/>
            <a:ext cx="2339961" cy="898311"/>
          </a:xfrm>
          <a:prstGeom prst="rect">
            <a:avLst/>
          </a:prstGeom>
          <a:noFill/>
          <a:ln w="9525">
            <a:noFill/>
            <a:miter lim="800000"/>
            <a:headEnd/>
            <a:tailEnd/>
          </a:ln>
        </p:spPr>
      </p:pic>
      <p:pic>
        <p:nvPicPr>
          <p:cNvPr id="6" name="Picture 5"/>
          <p:cNvPicPr/>
          <p:nvPr/>
        </p:nvPicPr>
        <p:blipFill>
          <a:blip r:embed="rId3"/>
          <a:srcRect l="54817" t="65000" r="26923" b="26732"/>
          <a:stretch>
            <a:fillRect/>
          </a:stretch>
        </p:blipFill>
        <p:spPr bwMode="auto">
          <a:xfrm>
            <a:off x="2290439" y="3828767"/>
            <a:ext cx="2254928" cy="641225"/>
          </a:xfrm>
          <a:prstGeom prst="rect">
            <a:avLst/>
          </a:prstGeom>
          <a:noFill/>
          <a:ln w="9525">
            <a:noFill/>
            <a:miter lim="800000"/>
            <a:headEnd/>
            <a:tailEnd/>
          </a:ln>
        </p:spPr>
      </p:pic>
    </p:spTree>
    <p:extLst>
      <p:ext uri="{BB962C8B-B14F-4D97-AF65-F5344CB8AC3E}">
        <p14:creationId xmlns:p14="http://schemas.microsoft.com/office/powerpoint/2010/main" val="2329691854"/>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Problem</a:t>
            </a:r>
            <a:endParaRPr lang="en-IN" dirty="0"/>
          </a:p>
        </p:txBody>
      </p:sp>
      <p:sp>
        <p:nvSpPr>
          <p:cNvPr id="3" name="Content Placeholder 2"/>
          <p:cNvSpPr>
            <a:spLocks noGrp="1"/>
          </p:cNvSpPr>
          <p:nvPr>
            <p:ph idx="1"/>
          </p:nvPr>
        </p:nvSpPr>
        <p:spPr>
          <a:xfrm>
            <a:off x="71920" y="1611630"/>
            <a:ext cx="8938517" cy="4114800"/>
          </a:xfrm>
        </p:spPr>
        <p:txBody>
          <a:bodyPr/>
          <a:lstStyle/>
          <a:p>
            <a:pPr marL="0" indent="0">
              <a:buNone/>
            </a:pPr>
            <a:r>
              <a:rPr lang="en-US" dirty="0"/>
              <a:t>Frequency of signal =1000Mhz, </a:t>
            </a:r>
            <a:r>
              <a:rPr lang="en-US" dirty="0" err="1"/>
              <a:t>ht</a:t>
            </a:r>
            <a:r>
              <a:rPr lang="en-US" dirty="0"/>
              <a:t> = 50m, </a:t>
            </a:r>
            <a:r>
              <a:rPr lang="en-US" dirty="0" err="1"/>
              <a:t>hr</a:t>
            </a:r>
            <a:r>
              <a:rPr lang="en-US" dirty="0"/>
              <a:t>= 25m, Knife edge= 125 m</a:t>
            </a:r>
          </a:p>
          <a:p>
            <a:pPr marL="0" indent="0">
              <a:buNone/>
            </a:pPr>
            <a:r>
              <a:rPr lang="en-US" dirty="0"/>
              <a:t>Distance from transmitter to obstacle= 15km, Distance from receiver to obstacle = 2Km</a:t>
            </a:r>
          </a:p>
          <a:p>
            <a:pPr marL="0" indent="0">
              <a:buNone/>
            </a:pPr>
            <a:r>
              <a:rPr lang="en-US" dirty="0"/>
              <a:t>Loss due to diffraction parameter </a:t>
            </a:r>
          </a:p>
          <a:p>
            <a:pPr marL="0" indent="0">
              <a:buNone/>
            </a:pPr>
            <a:r>
              <a:rPr lang="en-US" dirty="0"/>
              <a:t>Solution: </a:t>
            </a:r>
          </a:p>
          <a:p>
            <a:pPr marL="514350" indent="-514350">
              <a:buAutoNum type="romanLcParenR"/>
            </a:pPr>
            <a:r>
              <a:rPr lang="en-US" dirty="0"/>
              <a:t>Find wavelength from frequency given.</a:t>
            </a:r>
          </a:p>
          <a:p>
            <a:pPr marL="514350" indent="-514350">
              <a:buAutoNum type="romanLcParenR"/>
            </a:pPr>
            <a:r>
              <a:rPr lang="en-US" dirty="0"/>
              <a:t>Redraw the geometry. </a:t>
            </a:r>
          </a:p>
          <a:p>
            <a:pPr marL="0" indent="0">
              <a:buNone/>
            </a:pPr>
            <a:r>
              <a:rPr lang="en-US" dirty="0"/>
              <a:t>Find </a:t>
            </a:r>
            <a:r>
              <a:rPr lang="el-GR" dirty="0"/>
              <a:t>β</a:t>
            </a:r>
            <a:r>
              <a:rPr lang="en-US" dirty="0"/>
              <a:t> and </a:t>
            </a:r>
            <a:r>
              <a:rPr lang="el-GR" dirty="0"/>
              <a:t>γ</a:t>
            </a:r>
            <a:r>
              <a:rPr lang="en-US" dirty="0"/>
              <a:t> values . </a:t>
            </a:r>
            <a:r>
              <a:rPr lang="el-GR" dirty="0"/>
              <a:t>α</a:t>
            </a:r>
            <a:r>
              <a:rPr lang="en-US" dirty="0"/>
              <a:t> =</a:t>
            </a:r>
            <a:r>
              <a:rPr lang="el-GR" dirty="0"/>
              <a:t>β</a:t>
            </a:r>
            <a:r>
              <a:rPr lang="en-US" dirty="0"/>
              <a:t> + </a:t>
            </a:r>
            <a:r>
              <a:rPr lang="el-GR" dirty="0"/>
              <a:t>γ</a:t>
            </a:r>
            <a:r>
              <a:rPr lang="en-US" dirty="0"/>
              <a:t> in radians.</a:t>
            </a:r>
          </a:p>
          <a:p>
            <a:pPr marL="0" indent="0">
              <a:buNone/>
            </a:pPr>
            <a:r>
              <a:rPr lang="el-GR" dirty="0"/>
              <a:t>β</a:t>
            </a:r>
            <a:r>
              <a:rPr lang="en-US" dirty="0"/>
              <a:t> = tan</a:t>
            </a:r>
            <a:r>
              <a:rPr lang="en-US" baseline="30000" dirty="0"/>
              <a:t>-1</a:t>
            </a:r>
            <a:r>
              <a:rPr lang="en-US" dirty="0"/>
              <a:t>((100-25)/15000) </a:t>
            </a:r>
          </a:p>
          <a:p>
            <a:pPr marL="0" indent="0">
              <a:buNone/>
            </a:pPr>
            <a:r>
              <a:rPr lang="el-GR" dirty="0"/>
              <a:t>γ</a:t>
            </a:r>
            <a:r>
              <a:rPr lang="en-US" dirty="0"/>
              <a:t>= tan</a:t>
            </a:r>
            <a:r>
              <a:rPr lang="en-US" baseline="30000" dirty="0"/>
              <a:t>-1 </a:t>
            </a:r>
            <a:r>
              <a:rPr lang="en-US" dirty="0"/>
              <a:t>(75/2000)</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cxnSp>
        <p:nvCxnSpPr>
          <p:cNvPr id="4" name="Straight Connector 3"/>
          <p:cNvCxnSpPr/>
          <p:nvPr/>
        </p:nvCxnSpPr>
        <p:spPr>
          <a:xfrm>
            <a:off x="3383871" y="5726430"/>
            <a:ext cx="365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3383871" y="4431030"/>
            <a:ext cx="0" cy="129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212671" y="3440430"/>
            <a:ext cx="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3383871" y="2695854"/>
            <a:ext cx="3200400" cy="173517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212671" y="3440430"/>
            <a:ext cx="182880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383870" y="4363874"/>
            <a:ext cx="2590802" cy="762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94903" y="4240531"/>
            <a:ext cx="761999" cy="381000"/>
          </a:xfrm>
          <a:prstGeom prst="rect">
            <a:avLst/>
          </a:prstGeom>
          <a:noFill/>
        </p:spPr>
        <p:txBody>
          <a:bodyPr wrap="square" rtlCol="0">
            <a:spAutoFit/>
          </a:bodyPr>
          <a:lstStyle/>
          <a:p>
            <a:pPr algn="l" rtl="0"/>
            <a:r>
              <a:rPr lang="en-US" kern="1200" dirty="0">
                <a:solidFill>
                  <a:prstClr val="black"/>
                </a:solidFill>
                <a:latin typeface="Calibri"/>
                <a:ea typeface="+mn-ea"/>
                <a:cs typeface="+mn-cs"/>
              </a:rPr>
              <a:t>T</a:t>
            </a:r>
            <a:endParaRPr lang="en-IN" kern="1200" dirty="0">
              <a:solidFill>
                <a:prstClr val="black"/>
              </a:solidFill>
              <a:latin typeface="Calibri"/>
              <a:ea typeface="+mn-ea"/>
              <a:cs typeface="+mn-cs"/>
            </a:endParaRPr>
          </a:p>
        </p:txBody>
      </p:sp>
      <p:sp>
        <p:nvSpPr>
          <p:cNvPr id="11" name="TextBox 10"/>
          <p:cNvSpPr txBox="1"/>
          <p:nvPr/>
        </p:nvSpPr>
        <p:spPr>
          <a:xfrm>
            <a:off x="2850472" y="4888230"/>
            <a:ext cx="761999" cy="381000"/>
          </a:xfrm>
          <a:prstGeom prst="rect">
            <a:avLst/>
          </a:prstGeom>
          <a:noFill/>
        </p:spPr>
        <p:txBody>
          <a:bodyPr wrap="square" rtlCol="0">
            <a:spAutoFit/>
          </a:bodyPr>
          <a:lstStyle/>
          <a:p>
            <a:pPr algn="l" rtl="0"/>
            <a:r>
              <a:rPr lang="en-US" kern="1200" dirty="0">
                <a:solidFill>
                  <a:prstClr val="black"/>
                </a:solidFill>
                <a:latin typeface="Calibri"/>
                <a:ea typeface="+mn-ea"/>
                <a:cs typeface="+mn-cs"/>
              </a:rPr>
              <a:t>25m</a:t>
            </a:r>
            <a:endParaRPr lang="en-IN" kern="1200" dirty="0">
              <a:solidFill>
                <a:prstClr val="black"/>
              </a:solidFill>
              <a:latin typeface="Calibri"/>
              <a:ea typeface="+mn-ea"/>
              <a:cs typeface="+mn-cs"/>
            </a:endParaRPr>
          </a:p>
        </p:txBody>
      </p:sp>
      <p:sp>
        <p:nvSpPr>
          <p:cNvPr id="12" name="TextBox 11"/>
          <p:cNvSpPr txBox="1"/>
          <p:nvPr/>
        </p:nvSpPr>
        <p:spPr>
          <a:xfrm>
            <a:off x="6638401" y="5535930"/>
            <a:ext cx="761999" cy="381000"/>
          </a:xfrm>
          <a:prstGeom prst="rect">
            <a:avLst/>
          </a:prstGeom>
          <a:noFill/>
        </p:spPr>
        <p:txBody>
          <a:bodyPr wrap="square" rtlCol="0">
            <a:spAutoFit/>
          </a:bodyPr>
          <a:lstStyle/>
          <a:p>
            <a:pPr algn="r" rtl="0"/>
            <a:r>
              <a:rPr lang="en-US" kern="1200" dirty="0">
                <a:solidFill>
                  <a:prstClr val="black"/>
                </a:solidFill>
                <a:latin typeface="Calibri"/>
                <a:ea typeface="+mn-ea"/>
                <a:cs typeface="+mn-cs"/>
              </a:rPr>
              <a:t>R</a:t>
            </a:r>
            <a:endParaRPr lang="en-IN" kern="1200" dirty="0">
              <a:solidFill>
                <a:prstClr val="black"/>
              </a:solidFill>
              <a:latin typeface="Calibri"/>
              <a:ea typeface="+mn-ea"/>
              <a:cs typeface="+mn-cs"/>
            </a:endParaRPr>
          </a:p>
        </p:txBody>
      </p:sp>
      <p:sp>
        <p:nvSpPr>
          <p:cNvPr id="13" name="TextBox 12"/>
          <p:cNvSpPr txBox="1"/>
          <p:nvPr/>
        </p:nvSpPr>
        <p:spPr>
          <a:xfrm>
            <a:off x="4449194" y="3876954"/>
            <a:ext cx="761999" cy="381000"/>
          </a:xfrm>
          <a:prstGeom prst="rect">
            <a:avLst/>
          </a:prstGeom>
          <a:noFill/>
        </p:spPr>
        <p:txBody>
          <a:bodyPr wrap="square" rtlCol="0">
            <a:spAutoFit/>
          </a:bodyPr>
          <a:lstStyle/>
          <a:p>
            <a:pPr algn="r" rtl="0"/>
            <a:r>
              <a:rPr lang="en-US" kern="1200" dirty="0">
                <a:solidFill>
                  <a:prstClr val="black"/>
                </a:solidFill>
                <a:latin typeface="Calibri"/>
                <a:ea typeface="+mn-ea"/>
                <a:cs typeface="+mn-cs"/>
              </a:rPr>
              <a:t>h</a:t>
            </a:r>
            <a:endParaRPr lang="en-IN" kern="1200" dirty="0">
              <a:solidFill>
                <a:prstClr val="black"/>
              </a:solidFill>
              <a:latin typeface="Calibri"/>
              <a:ea typeface="+mn-ea"/>
              <a:cs typeface="+mn-cs"/>
            </a:endParaRPr>
          </a:p>
        </p:txBody>
      </p:sp>
    </p:spTree>
    <p:extLst>
      <p:ext uri="{BB962C8B-B14F-4D97-AF65-F5344CB8AC3E}">
        <p14:creationId xmlns:p14="http://schemas.microsoft.com/office/powerpoint/2010/main" val="309313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Problem</a:t>
            </a:r>
            <a:endParaRPr lang="en-IN" dirty="0"/>
          </a:p>
        </p:txBody>
      </p:sp>
      <p:sp>
        <p:nvSpPr>
          <p:cNvPr id="3" name="Content Placeholder 2"/>
          <p:cNvSpPr>
            <a:spLocks noGrp="1"/>
          </p:cNvSpPr>
          <p:nvPr>
            <p:ph idx="1"/>
          </p:nvPr>
        </p:nvSpPr>
        <p:spPr/>
        <p:txBody>
          <a:bodyPr/>
          <a:lstStyle/>
          <a:p>
            <a:pPr marL="0" indent="0">
              <a:buNone/>
            </a:pPr>
            <a:r>
              <a:rPr lang="en-US" dirty="0"/>
              <a:t>Use equation of V to find the diffraction parameter.</a:t>
            </a:r>
          </a:p>
          <a:p>
            <a:pPr marL="0" indent="0">
              <a:buNone/>
            </a:pPr>
            <a:endParaRPr lang="en-US" dirty="0"/>
          </a:p>
          <a:p>
            <a:pPr marL="0" indent="0">
              <a:buNone/>
            </a:pPr>
            <a:endParaRPr lang="en-US" dirty="0"/>
          </a:p>
          <a:p>
            <a:pPr marL="0" indent="0">
              <a:buNone/>
            </a:pPr>
            <a:endParaRPr lang="en-US" dirty="0"/>
          </a:p>
          <a:p>
            <a:pPr marL="0" indent="0">
              <a:buNone/>
            </a:pPr>
            <a:r>
              <a:rPr lang="en-US" dirty="0"/>
              <a:t>With the value of V, find the diffraction loss.</a:t>
            </a:r>
          </a:p>
          <a:p>
            <a:pPr marL="0" indent="0">
              <a:buNone/>
            </a:pPr>
            <a:endParaRPr lang="en-US" dirty="0"/>
          </a:p>
          <a:p>
            <a:pPr marL="0" indent="0">
              <a:buNone/>
            </a:pPr>
            <a:endParaRPr lang="en-IN" dirty="0"/>
          </a:p>
        </p:txBody>
      </p:sp>
      <p:pic>
        <p:nvPicPr>
          <p:cNvPr id="4" name="Picture 3"/>
          <p:cNvPicPr/>
          <p:nvPr/>
        </p:nvPicPr>
        <p:blipFill>
          <a:blip r:embed="rId2"/>
          <a:srcRect l="36218" t="72365" r="32532" b="18233"/>
          <a:stretch>
            <a:fillRect/>
          </a:stretch>
        </p:blipFill>
        <p:spPr bwMode="auto">
          <a:xfrm>
            <a:off x="488272" y="2084588"/>
            <a:ext cx="4974488" cy="663606"/>
          </a:xfrm>
          <a:prstGeom prst="rect">
            <a:avLst/>
          </a:prstGeom>
          <a:noFill/>
          <a:ln w="9525">
            <a:noFill/>
            <a:miter lim="800000"/>
            <a:headEnd/>
            <a:tailEnd/>
          </a:ln>
        </p:spPr>
      </p:pic>
    </p:spTree>
    <p:extLst>
      <p:ext uri="{BB962C8B-B14F-4D97-AF65-F5344CB8AC3E}">
        <p14:creationId xmlns:p14="http://schemas.microsoft.com/office/powerpoint/2010/main" val="397580895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US" dirty="0"/>
              <a:t>Fresnel zones are concentric ellipses  centered on the direct transmission path.</a:t>
            </a:r>
          </a:p>
          <a:p>
            <a:r>
              <a:rPr lang="en-US" dirty="0"/>
              <a:t>Estimating the signal attenuation in case of knife edge diffraction. </a:t>
            </a:r>
          </a:p>
          <a:p>
            <a:r>
              <a:rPr lang="en-US" dirty="0"/>
              <a:t>In Hilly area, propagation path may have multiple obstacles. The total diffraction loss is due to all the obstacles. </a:t>
            </a:r>
            <a:r>
              <a:rPr lang="en-US" dirty="0" err="1"/>
              <a:t>Bullington</a:t>
            </a:r>
            <a:r>
              <a:rPr lang="en-US" dirty="0"/>
              <a:t> suggested a single equivalent obstacle to compute the same.</a:t>
            </a:r>
          </a:p>
          <a:p>
            <a:pPr marL="0" indent="0">
              <a:buNone/>
            </a:pPr>
            <a:endParaRPr lang="en-IN" dirty="0"/>
          </a:p>
          <a:p>
            <a:endParaRPr lang="en-US"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Log-distance Path Loss Model</a:t>
            </a:r>
            <a:endParaRPr lang="en-IN" dirty="0"/>
          </a:p>
          <a:p>
            <a:endParaRPr lang="en-IN" dirty="0"/>
          </a:p>
        </p:txBody>
      </p:sp>
      <p:sp>
        <p:nvSpPr>
          <p:cNvPr id="4" name="Content Placeholder 1"/>
          <p:cNvSpPr>
            <a:spLocks noGrp="1"/>
          </p:cNvSpPr>
          <p:nvPr>
            <p:ph idx="1"/>
          </p:nvPr>
        </p:nvSpPr>
        <p:spPr/>
        <p:txBody>
          <a:bodyPr>
            <a:normAutofit/>
          </a:bodyPr>
          <a:lstStyle/>
          <a:p>
            <a:pPr marL="0" indent="0">
              <a:buNone/>
            </a:pPr>
            <a:r>
              <a:rPr lang="en-US" dirty="0"/>
              <a:t>Path Loss models to estimate the received signal level as a function of distance, it is possible to predict the SNR for a mobile communication. </a:t>
            </a:r>
          </a:p>
          <a:p>
            <a:endParaRPr lang="en-US" dirty="0"/>
          </a:p>
          <a:p>
            <a:pPr marL="0" indent="0">
              <a:buNone/>
            </a:pPr>
            <a:r>
              <a:rPr lang="en-US" dirty="0"/>
              <a:t>The average signal power received decreases logarithmically with distance.</a:t>
            </a:r>
          </a:p>
          <a:p>
            <a:pPr marL="0" indent="0">
              <a:buNone/>
            </a:pPr>
            <a:r>
              <a:rPr lang="en-US" dirty="0"/>
              <a:t>       </a:t>
            </a:r>
          </a:p>
          <a:p>
            <a:pPr marL="0" indent="0">
              <a:buNone/>
            </a:pPr>
            <a:r>
              <a:rPr lang="en-US" dirty="0"/>
              <a:t>      </a:t>
            </a:r>
          </a:p>
          <a:p>
            <a:pPr marL="0" indent="0">
              <a:buNone/>
            </a:pPr>
            <a:endParaRPr lang="en-US" dirty="0"/>
          </a:p>
          <a:p>
            <a:endParaRPr lang="en-US" dirty="0"/>
          </a:p>
          <a:p>
            <a:pPr marL="0" indent="0">
              <a:buNone/>
            </a:pPr>
            <a:r>
              <a:rPr lang="en-US" dirty="0"/>
              <a:t>d- distance between the transmitter and receiver</a:t>
            </a:r>
          </a:p>
          <a:p>
            <a:pPr marL="0" indent="0">
              <a:buNone/>
            </a:pPr>
            <a:r>
              <a:rPr lang="en-US" dirty="0"/>
              <a:t>d</a:t>
            </a:r>
            <a:r>
              <a:rPr lang="en-US" baseline="-25000" dirty="0"/>
              <a:t>0</a:t>
            </a:r>
            <a:r>
              <a:rPr lang="en-US" dirty="0"/>
              <a:t>-Close-in reference distance </a:t>
            </a:r>
          </a:p>
          <a:p>
            <a:pPr marL="0" indent="0">
              <a:buNone/>
            </a:pPr>
            <a:r>
              <a:rPr lang="en-US" dirty="0"/>
              <a:t>n- Path loss exponent which indicates rate at which the pass loss increases with distance</a:t>
            </a:r>
          </a:p>
        </p:txBody>
      </p:sp>
      <mc:AlternateContent xmlns:mc="http://schemas.openxmlformats.org/markup-compatibility/2006">
        <mc:Choice xmlns:a14="http://schemas.microsoft.com/office/drawing/2010/main" Requires="a14">
          <p:sp>
            <p:nvSpPr>
              <p:cNvPr id="5" name="Rectangle 4"/>
              <p:cNvSpPr/>
              <p:nvPr/>
            </p:nvSpPr>
            <p:spPr>
              <a:xfrm>
                <a:off x="838200" y="2352414"/>
                <a:ext cx="3266983" cy="11008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US" kern="1200" dirty="0">
                    <a:solidFill>
                      <a:prstClr val="white"/>
                    </a:solidFill>
                    <a:latin typeface="Calibri"/>
                  </a:rPr>
                  <a:t>      </a:t>
                </a:r>
                <a:r>
                  <a:rPr lang="en-US" kern="1200" dirty="0">
                    <a:solidFill>
                      <a:prstClr val="black"/>
                    </a:solidFill>
                    <a:latin typeface="Calibri"/>
                  </a:rPr>
                  <a:t>PL(d) </a:t>
                </a:r>
                <a14:m>
                  <m:oMath xmlns:m="http://schemas.openxmlformats.org/officeDocument/2006/math">
                    <m:r>
                      <a:rPr lang="en-US" i="1" kern="1200" dirty="0">
                        <a:solidFill>
                          <a:prstClr val="black"/>
                        </a:solidFill>
                        <a:latin typeface="Cambria Math" panose="02040503050406030204" pitchFamily="18" charset="0"/>
                        <a:ea typeface="Cambria Math" panose="02040503050406030204" pitchFamily="18" charset="0"/>
                      </a:rPr>
                      <m:t>∝</m:t>
                    </m:r>
                    <m:d>
                      <m:dPr>
                        <m:ctrlPr>
                          <a:rPr lang="en-US" i="1" kern="1200" dirty="0">
                            <a:solidFill>
                              <a:prstClr val="black"/>
                            </a:solidFill>
                            <a:latin typeface="Cambria Math" panose="02040503050406030204" pitchFamily="18" charset="0"/>
                            <a:ea typeface="Cambria Math" panose="02040503050406030204" pitchFamily="18" charset="0"/>
                          </a:rPr>
                        </m:ctrlPr>
                      </m:dPr>
                      <m:e>
                        <m:f>
                          <m:fPr>
                            <m:ctrlPr>
                              <a:rPr lang="en-US" i="1" kern="1200" dirty="0">
                                <a:solidFill>
                                  <a:prstClr val="black"/>
                                </a:solidFill>
                                <a:latin typeface="Cambria Math" panose="02040503050406030204" pitchFamily="18" charset="0"/>
                                <a:ea typeface="Cambria Math" panose="02040503050406030204" pitchFamily="18" charset="0"/>
                              </a:rPr>
                            </m:ctrlPr>
                          </m:fPr>
                          <m:num>
                            <m:r>
                              <a:rPr lang="en-US" i="1" kern="1200" dirty="0">
                                <a:solidFill>
                                  <a:prstClr val="black"/>
                                </a:solidFill>
                                <a:latin typeface="Cambria Math" panose="02040503050406030204" pitchFamily="18" charset="0"/>
                                <a:ea typeface="Cambria Math" panose="02040503050406030204" pitchFamily="18" charset="0"/>
                              </a:rPr>
                              <m:t>𝑑</m:t>
                            </m:r>
                          </m:num>
                          <m:den>
                            <m:r>
                              <a:rPr lang="en-US" i="1" kern="1200" dirty="0">
                                <a:solidFill>
                                  <a:prstClr val="black"/>
                                </a:solidFill>
                                <a:latin typeface="Cambria Math" panose="02040503050406030204" pitchFamily="18" charset="0"/>
                                <a:ea typeface="Cambria Math" panose="02040503050406030204" pitchFamily="18" charset="0"/>
                              </a:rPr>
                              <m:t>𝑑𝑜</m:t>
                            </m:r>
                          </m:den>
                        </m:f>
                      </m:e>
                    </m:d>
                    <m:r>
                      <m:rPr>
                        <m:nor/>
                      </m:rPr>
                      <a:rPr lang="en-US" kern="1200" baseline="30000" dirty="0">
                        <a:solidFill>
                          <a:prstClr val="black"/>
                        </a:solidFill>
                        <a:latin typeface="Calibri"/>
                      </a:rPr>
                      <m:t>n</m:t>
                    </m:r>
                  </m:oMath>
                </a14:m>
                <a:endParaRPr lang="en-US" kern="1200" baseline="30000" dirty="0">
                  <a:solidFill>
                    <a:prstClr val="black"/>
                  </a:solidFill>
                  <a:latin typeface="Calibri"/>
                </a:endParaRPr>
              </a:p>
              <a:p>
                <a:pPr algn="l" rtl="0"/>
                <a:r>
                  <a:rPr lang="en-US" kern="1200" dirty="0">
                    <a:solidFill>
                      <a:prstClr val="black"/>
                    </a:solidFill>
                    <a:latin typeface="Calibri"/>
                  </a:rPr>
                  <a:t>      PL(dB)= PL(d</a:t>
                </a:r>
                <a:r>
                  <a:rPr lang="en-US" kern="1200" baseline="-25000" dirty="0">
                    <a:solidFill>
                      <a:prstClr val="black"/>
                    </a:solidFill>
                    <a:latin typeface="Calibri"/>
                  </a:rPr>
                  <a:t>0</a:t>
                </a:r>
                <a:r>
                  <a:rPr lang="en-US" kern="1200" dirty="0">
                    <a:solidFill>
                      <a:prstClr val="black"/>
                    </a:solidFill>
                    <a:latin typeface="Calibri"/>
                  </a:rPr>
                  <a:t>) +10 </a:t>
                </a:r>
                <a:r>
                  <a:rPr lang="en-US" kern="1200" dirty="0" err="1">
                    <a:solidFill>
                      <a:prstClr val="black"/>
                    </a:solidFill>
                    <a:latin typeface="Calibri"/>
                  </a:rPr>
                  <a:t>nlog</a:t>
                </a:r>
                <a:r>
                  <a:rPr lang="en-US" kern="1200" dirty="0">
                    <a:solidFill>
                      <a:prstClr val="black"/>
                    </a:solidFill>
                    <a:latin typeface="Calibri"/>
                  </a:rPr>
                  <a:t>(d/d</a:t>
                </a:r>
                <a:r>
                  <a:rPr lang="en-US" kern="1200" baseline="-25000" dirty="0">
                    <a:solidFill>
                      <a:prstClr val="black"/>
                    </a:solidFill>
                    <a:latin typeface="Calibri"/>
                  </a:rPr>
                  <a:t>0</a:t>
                </a:r>
                <a:r>
                  <a:rPr lang="en-US" kern="1200" dirty="0">
                    <a:solidFill>
                      <a:prstClr val="black"/>
                    </a:solidFill>
                    <a:latin typeface="Calibri"/>
                  </a:rPr>
                  <a:t>) </a:t>
                </a:r>
              </a:p>
            </p:txBody>
          </p:sp>
        </mc:Choice>
        <mc:Fallback>
          <p:sp>
            <p:nvSpPr>
              <p:cNvPr id="5" name="Rectangle 4"/>
              <p:cNvSpPr>
                <a:spLocks noRot="1" noChangeAspect="1" noMove="1" noResize="1" noEditPoints="1" noAdjustHandles="1" noChangeArrowheads="1" noChangeShapeType="1" noTextEdit="1"/>
              </p:cNvSpPr>
              <p:nvPr/>
            </p:nvSpPr>
            <p:spPr>
              <a:xfrm>
                <a:off x="838200" y="2352414"/>
                <a:ext cx="3266983" cy="1100831"/>
              </a:xfrm>
              <a:prstGeom prst="rect">
                <a:avLst/>
              </a:prstGeom>
              <a:blipFill>
                <a:blip r:embed="rId2"/>
                <a:stretch>
                  <a:fillRect r="-1299"/>
                </a:stretch>
              </a:blipFill>
            </p:spPr>
            <p:txBody>
              <a:bodyPr/>
              <a:lstStyle/>
              <a:p>
                <a:r>
                  <a:rPr lang="en-IN">
                    <a:noFill/>
                  </a:rPr>
                  <a:t> </a:t>
                </a:r>
              </a:p>
            </p:txBody>
          </p:sp>
        </mc:Fallback>
      </mc:AlternateContent>
    </p:spTree>
    <p:extLst>
      <p:ext uri="{BB962C8B-B14F-4D97-AF65-F5344CB8AC3E}">
        <p14:creationId xmlns:p14="http://schemas.microsoft.com/office/powerpoint/2010/main" val="3640393762"/>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Value of n depends on propagation environment.</a:t>
            </a:r>
          </a:p>
          <a:p>
            <a:pPr marL="0" indent="0">
              <a:buNone/>
            </a:pPr>
            <a:r>
              <a:rPr lang="en-US" dirty="0"/>
              <a:t>n increases when obstructions are present.</a:t>
            </a:r>
            <a:endParaRPr lang="en-IN" dirty="0"/>
          </a:p>
          <a:p>
            <a:pPr marL="0" indent="0">
              <a:buNone/>
            </a:pPr>
            <a:endParaRPr lang="en-IN" dirty="0"/>
          </a:p>
        </p:txBody>
      </p:sp>
      <p:sp>
        <p:nvSpPr>
          <p:cNvPr id="4" name="Content Placeholder 2"/>
          <p:cNvSpPr>
            <a:spLocks noGrp="1"/>
          </p:cNvSpPr>
          <p:nvPr>
            <p:ph sz="quarter" idx="10"/>
          </p:nvPr>
        </p:nvSpPr>
        <p:spPr/>
        <p:txBody>
          <a:bodyPr/>
          <a:lstStyle/>
          <a:p>
            <a:endParaRPr lang="en-US" dirty="0"/>
          </a:p>
          <a:p>
            <a:r>
              <a:rPr lang="en-US" dirty="0"/>
              <a:t>Log-distance Path Loss Model</a:t>
            </a:r>
            <a:endParaRPr lang="en-IN" dirty="0"/>
          </a:p>
          <a:p>
            <a:endParaRPr lang="en-IN" dirty="0"/>
          </a:p>
        </p:txBody>
      </p:sp>
      <p:graphicFrame>
        <p:nvGraphicFramePr>
          <p:cNvPr id="5" name="Table 4"/>
          <p:cNvGraphicFramePr>
            <a:graphicFrameLocks noGrp="1"/>
          </p:cNvGraphicFramePr>
          <p:nvPr/>
        </p:nvGraphicFramePr>
        <p:xfrm>
          <a:off x="687404" y="2616508"/>
          <a:ext cx="6096000" cy="25958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solidFill>
                            <a:schemeClr val="tx1"/>
                          </a:solidFill>
                        </a:rPr>
                        <a:t>Environment</a:t>
                      </a:r>
                      <a:endParaRPr lang="en-IN" dirty="0">
                        <a:solidFill>
                          <a:schemeClr val="tx1"/>
                        </a:solidFill>
                      </a:endParaRPr>
                    </a:p>
                  </a:txBody>
                  <a:tcPr>
                    <a:solidFill>
                      <a:schemeClr val="accent6">
                        <a:lumMod val="20000"/>
                        <a:lumOff val="80000"/>
                      </a:schemeClr>
                    </a:solidFill>
                  </a:tcPr>
                </a:tc>
                <a:tc>
                  <a:txBody>
                    <a:bodyPr/>
                    <a:lstStyle/>
                    <a:p>
                      <a:r>
                        <a:rPr lang="en-US" dirty="0">
                          <a:solidFill>
                            <a:schemeClr val="tx1"/>
                          </a:solidFill>
                        </a:rPr>
                        <a:t>Path</a:t>
                      </a:r>
                      <a:r>
                        <a:rPr lang="en-US" baseline="0" dirty="0">
                          <a:solidFill>
                            <a:schemeClr val="tx1"/>
                          </a:solidFill>
                        </a:rPr>
                        <a:t> loss Exponent n</a:t>
                      </a:r>
                      <a:endParaRPr lang="en-IN" dirty="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val="10000"/>
                  </a:ext>
                </a:extLst>
              </a:tr>
              <a:tr h="370840">
                <a:tc>
                  <a:txBody>
                    <a:bodyPr/>
                    <a:lstStyle/>
                    <a:p>
                      <a:r>
                        <a:rPr lang="en-US" dirty="0"/>
                        <a:t>Free Space</a:t>
                      </a:r>
                      <a:endParaRPr lang="en-IN" dirty="0"/>
                    </a:p>
                  </a:txBody>
                  <a:tcPr>
                    <a:solidFill>
                      <a:schemeClr val="accent6">
                        <a:lumMod val="20000"/>
                        <a:lumOff val="80000"/>
                      </a:schemeClr>
                    </a:solidFill>
                  </a:tcPr>
                </a:tc>
                <a:tc>
                  <a:txBody>
                    <a:bodyPr/>
                    <a:lstStyle/>
                    <a:p>
                      <a:r>
                        <a:rPr lang="en-US" dirty="0"/>
                        <a:t>2</a:t>
                      </a:r>
                      <a:endParaRPr lang="en-IN" dirty="0"/>
                    </a:p>
                  </a:txBody>
                  <a:tcPr>
                    <a:solidFill>
                      <a:schemeClr val="accent6">
                        <a:lumMod val="20000"/>
                        <a:lumOff val="80000"/>
                      </a:schemeClr>
                    </a:solidFill>
                  </a:tcPr>
                </a:tc>
                <a:extLst>
                  <a:ext uri="{0D108BD9-81ED-4DB2-BD59-A6C34878D82A}">
                    <a16:rowId xmlns:a16="http://schemas.microsoft.com/office/drawing/2014/main" val="10001"/>
                  </a:ext>
                </a:extLst>
              </a:tr>
              <a:tr h="370840">
                <a:tc>
                  <a:txBody>
                    <a:bodyPr/>
                    <a:lstStyle/>
                    <a:p>
                      <a:r>
                        <a:rPr lang="en-US" dirty="0"/>
                        <a:t>Urban area cellular radio</a:t>
                      </a:r>
                      <a:endParaRPr lang="en-IN" dirty="0"/>
                    </a:p>
                  </a:txBody>
                  <a:tcPr>
                    <a:solidFill>
                      <a:schemeClr val="accent6">
                        <a:lumMod val="20000"/>
                        <a:lumOff val="80000"/>
                      </a:schemeClr>
                    </a:solidFill>
                  </a:tcPr>
                </a:tc>
                <a:tc>
                  <a:txBody>
                    <a:bodyPr/>
                    <a:lstStyle/>
                    <a:p>
                      <a:r>
                        <a:rPr lang="en-US" dirty="0"/>
                        <a:t>2.7 to 3.5</a:t>
                      </a:r>
                      <a:endParaRPr lang="en-IN" dirty="0"/>
                    </a:p>
                  </a:txBody>
                  <a:tcPr>
                    <a:solidFill>
                      <a:schemeClr val="accent6">
                        <a:lumMod val="20000"/>
                        <a:lumOff val="80000"/>
                      </a:schemeClr>
                    </a:solidFill>
                  </a:tcPr>
                </a:tc>
                <a:extLst>
                  <a:ext uri="{0D108BD9-81ED-4DB2-BD59-A6C34878D82A}">
                    <a16:rowId xmlns:a16="http://schemas.microsoft.com/office/drawing/2014/main" val="10002"/>
                  </a:ext>
                </a:extLst>
              </a:tr>
              <a:tr h="370840">
                <a:tc>
                  <a:txBody>
                    <a:bodyPr/>
                    <a:lstStyle/>
                    <a:p>
                      <a:r>
                        <a:rPr lang="en-US" dirty="0"/>
                        <a:t>Shadowed urban area</a:t>
                      </a:r>
                      <a:endParaRPr lang="en-IN" dirty="0"/>
                    </a:p>
                  </a:txBody>
                  <a:tcPr>
                    <a:solidFill>
                      <a:schemeClr val="accent6">
                        <a:lumMod val="20000"/>
                        <a:lumOff val="80000"/>
                      </a:schemeClr>
                    </a:solidFill>
                  </a:tcPr>
                </a:tc>
                <a:tc>
                  <a:txBody>
                    <a:bodyPr/>
                    <a:lstStyle/>
                    <a:p>
                      <a:r>
                        <a:rPr lang="en-US" dirty="0"/>
                        <a:t>3 to 5</a:t>
                      </a:r>
                      <a:endParaRPr lang="en-IN" dirty="0"/>
                    </a:p>
                  </a:txBody>
                  <a:tcPr>
                    <a:solidFill>
                      <a:schemeClr val="accent6">
                        <a:lumMod val="20000"/>
                        <a:lumOff val="80000"/>
                      </a:schemeClr>
                    </a:solidFill>
                  </a:tcPr>
                </a:tc>
                <a:extLst>
                  <a:ext uri="{0D108BD9-81ED-4DB2-BD59-A6C34878D82A}">
                    <a16:rowId xmlns:a16="http://schemas.microsoft.com/office/drawing/2014/main" val="10003"/>
                  </a:ext>
                </a:extLst>
              </a:tr>
              <a:tr h="370840">
                <a:tc>
                  <a:txBody>
                    <a:bodyPr/>
                    <a:lstStyle/>
                    <a:p>
                      <a:r>
                        <a:rPr lang="en-US" dirty="0"/>
                        <a:t>In building Line of</a:t>
                      </a:r>
                      <a:r>
                        <a:rPr lang="en-US" baseline="0" dirty="0"/>
                        <a:t> sight </a:t>
                      </a:r>
                      <a:endParaRPr lang="en-IN" dirty="0"/>
                    </a:p>
                  </a:txBody>
                  <a:tcPr>
                    <a:solidFill>
                      <a:schemeClr val="accent6">
                        <a:lumMod val="20000"/>
                        <a:lumOff val="80000"/>
                      </a:schemeClr>
                    </a:solidFill>
                  </a:tcPr>
                </a:tc>
                <a:tc>
                  <a:txBody>
                    <a:bodyPr/>
                    <a:lstStyle/>
                    <a:p>
                      <a:r>
                        <a:rPr lang="en-US" dirty="0"/>
                        <a:t>1.6 to 1.8</a:t>
                      </a:r>
                      <a:endParaRPr lang="en-IN" dirty="0"/>
                    </a:p>
                  </a:txBody>
                  <a:tcPr>
                    <a:solidFill>
                      <a:schemeClr val="accent6">
                        <a:lumMod val="20000"/>
                        <a:lumOff val="80000"/>
                      </a:schemeClr>
                    </a:solidFill>
                  </a:tcPr>
                </a:tc>
                <a:extLst>
                  <a:ext uri="{0D108BD9-81ED-4DB2-BD59-A6C34878D82A}">
                    <a16:rowId xmlns:a16="http://schemas.microsoft.com/office/drawing/2014/main" val="10004"/>
                  </a:ext>
                </a:extLst>
              </a:tr>
              <a:tr h="370840">
                <a:tc>
                  <a:txBody>
                    <a:bodyPr/>
                    <a:lstStyle/>
                    <a:p>
                      <a:r>
                        <a:rPr lang="en-US" dirty="0"/>
                        <a:t>Obstructed</a:t>
                      </a:r>
                      <a:r>
                        <a:rPr lang="en-US" baseline="0" dirty="0"/>
                        <a:t> in building</a:t>
                      </a:r>
                      <a:endParaRPr lang="en-IN" dirty="0"/>
                    </a:p>
                  </a:txBody>
                  <a:tcPr>
                    <a:solidFill>
                      <a:schemeClr val="accent6">
                        <a:lumMod val="20000"/>
                        <a:lumOff val="80000"/>
                      </a:schemeClr>
                    </a:solidFill>
                  </a:tcPr>
                </a:tc>
                <a:tc>
                  <a:txBody>
                    <a:bodyPr/>
                    <a:lstStyle/>
                    <a:p>
                      <a:r>
                        <a:rPr lang="en-US" dirty="0"/>
                        <a:t>4 to 6</a:t>
                      </a:r>
                      <a:endParaRPr lang="en-IN" dirty="0"/>
                    </a:p>
                  </a:txBody>
                  <a:tcPr>
                    <a:solidFill>
                      <a:schemeClr val="accent6">
                        <a:lumMod val="20000"/>
                        <a:lumOff val="80000"/>
                      </a:schemeClr>
                    </a:solidFill>
                  </a:tcPr>
                </a:tc>
                <a:extLst>
                  <a:ext uri="{0D108BD9-81ED-4DB2-BD59-A6C34878D82A}">
                    <a16:rowId xmlns:a16="http://schemas.microsoft.com/office/drawing/2014/main" val="10005"/>
                  </a:ext>
                </a:extLst>
              </a:tr>
              <a:tr h="370840">
                <a:tc>
                  <a:txBody>
                    <a:bodyPr/>
                    <a:lstStyle/>
                    <a:p>
                      <a:r>
                        <a:rPr lang="en-US" dirty="0"/>
                        <a:t>Obstructed in factories</a:t>
                      </a:r>
                      <a:endParaRPr lang="en-IN" dirty="0"/>
                    </a:p>
                  </a:txBody>
                  <a:tcPr>
                    <a:solidFill>
                      <a:schemeClr val="accent6">
                        <a:lumMod val="20000"/>
                        <a:lumOff val="80000"/>
                      </a:schemeClr>
                    </a:solidFill>
                  </a:tcPr>
                </a:tc>
                <a:tc>
                  <a:txBody>
                    <a:bodyPr/>
                    <a:lstStyle/>
                    <a:p>
                      <a:r>
                        <a:rPr lang="en-US" dirty="0"/>
                        <a:t>2 to</a:t>
                      </a:r>
                      <a:r>
                        <a:rPr lang="en-US" baseline="0" dirty="0"/>
                        <a:t> 3</a:t>
                      </a:r>
                      <a:endParaRPr lang="en-IN" dirty="0"/>
                    </a:p>
                  </a:txBody>
                  <a:tcPr>
                    <a:solidFill>
                      <a:schemeClr val="accent6">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5195541"/>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Log-normal Shadowing</a:t>
            </a:r>
            <a:endParaRPr lang="en-IN" dirty="0"/>
          </a:p>
          <a:p>
            <a:endParaRPr lang="en-IN" dirty="0"/>
          </a:p>
        </p:txBody>
      </p:sp>
      <p:sp>
        <p:nvSpPr>
          <p:cNvPr id="4" name="Content Placeholder 1"/>
          <p:cNvSpPr>
            <a:spLocks noGrp="1"/>
          </p:cNvSpPr>
          <p:nvPr>
            <p:ph idx="1"/>
          </p:nvPr>
        </p:nvSpPr>
        <p:spPr/>
        <p:txBody>
          <a:bodyPr/>
          <a:lstStyle/>
          <a:p>
            <a:pPr>
              <a:buFont typeface="Arial" panose="020B0604020202020204" pitchFamily="34" charset="0"/>
              <a:buChar char="•"/>
            </a:pPr>
            <a:endParaRPr lang="en-US" dirty="0"/>
          </a:p>
          <a:p>
            <a:pPr>
              <a:buFont typeface="Arial" panose="020B0604020202020204" pitchFamily="34" charset="0"/>
              <a:buChar char="•"/>
            </a:pPr>
            <a:r>
              <a:rPr lang="en-US" dirty="0"/>
              <a:t>Log distance does not consider the fact that surrounding environment clutter may be different at two different locations having same T-R distance. </a:t>
            </a:r>
          </a:p>
          <a:p>
            <a:pPr>
              <a:buFont typeface="Arial" panose="020B0604020202020204" pitchFamily="34" charset="0"/>
              <a:buChar char="•"/>
            </a:pPr>
            <a:endParaRPr lang="en-US" dirty="0"/>
          </a:p>
          <a:p>
            <a:pPr>
              <a:buFont typeface="Arial" panose="020B0604020202020204" pitchFamily="34" charset="0"/>
              <a:buChar char="•"/>
            </a:pPr>
            <a:r>
              <a:rPr lang="en-US" dirty="0"/>
              <a:t>Hence measured signals vary than the average value predicted.</a:t>
            </a:r>
          </a:p>
          <a:p>
            <a:pPr>
              <a:buFont typeface="Arial" panose="020B0604020202020204" pitchFamily="34" charset="0"/>
              <a:buChar char="•"/>
            </a:pPr>
            <a:endParaRPr lang="en-US" dirty="0"/>
          </a:p>
          <a:p>
            <a:pPr>
              <a:buFont typeface="Arial" panose="020B0604020202020204" pitchFamily="34" charset="0"/>
              <a:buChar char="•"/>
            </a:pPr>
            <a:r>
              <a:rPr lang="en-US" dirty="0"/>
              <a:t>Log-normal shadowing model used.</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3651476613"/>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Shadowing</a:t>
            </a:r>
            <a:endParaRPr lang="en-IN" dirty="0"/>
          </a:p>
          <a:p>
            <a:endParaRPr lang="en-IN" dirty="0"/>
          </a:p>
        </p:txBody>
      </p:sp>
      <p:sp>
        <p:nvSpPr>
          <p:cNvPr id="3" name="Content Placeholder 2"/>
          <p:cNvSpPr>
            <a:spLocks noGrp="1"/>
          </p:cNvSpPr>
          <p:nvPr>
            <p:ph idx="1"/>
          </p:nvPr>
        </p:nvSpPr>
        <p:spPr/>
        <p:txBody>
          <a:bodyPr/>
          <a:lstStyle/>
          <a:p>
            <a:pPr marL="0" indent="0">
              <a:buNone/>
            </a:pPr>
            <a:r>
              <a:rPr lang="en-US" b="1" dirty="0">
                <a:solidFill>
                  <a:srgbClr val="0070C0"/>
                </a:solidFill>
              </a:rPr>
              <a:t>What is shadowing?</a:t>
            </a:r>
          </a:p>
          <a:p>
            <a:pPr marL="0" indent="0">
              <a:buNone/>
            </a:pPr>
            <a:r>
              <a:rPr lang="en-IN" b="1" dirty="0"/>
              <a:t>shadowing</a:t>
            </a:r>
            <a:r>
              <a:rPr lang="en-IN" dirty="0"/>
              <a:t> is deviation of the power of the received electromagnetic signal from an average value. </a:t>
            </a:r>
          </a:p>
          <a:p>
            <a:endParaRPr lang="en-US" b="1" dirty="0">
              <a:solidFill>
                <a:srgbClr val="0070C0"/>
              </a:solidFill>
            </a:endParaRPr>
          </a:p>
          <a:p>
            <a:pPr marL="0" indent="0">
              <a:buNone/>
            </a:pPr>
            <a:r>
              <a:rPr lang="en-US" b="1" dirty="0">
                <a:solidFill>
                  <a:srgbClr val="0070C0"/>
                </a:solidFill>
              </a:rPr>
              <a:t>Causes for Shadowing</a:t>
            </a:r>
          </a:p>
          <a:p>
            <a:pPr marL="0" indent="0">
              <a:buNone/>
            </a:pPr>
            <a:r>
              <a:rPr lang="en-IN" dirty="0"/>
              <a:t>Caused by obstacles affecting the wave propagation. </a:t>
            </a:r>
          </a:p>
          <a:p>
            <a:endParaRPr lang="en-IN" dirty="0"/>
          </a:p>
          <a:p>
            <a:pPr marL="0" indent="0">
              <a:buNone/>
            </a:pPr>
            <a:r>
              <a:rPr lang="en-IN" dirty="0"/>
              <a:t>May vary with geographical position and/or radio frequency.</a:t>
            </a:r>
          </a:p>
          <a:p>
            <a:pPr marL="0" indent="0">
              <a:buNone/>
            </a:pPr>
            <a:r>
              <a:rPr lang="en-IN" dirty="0"/>
              <a:t>Usually modelled as a random process.</a:t>
            </a:r>
            <a:endParaRPr lang="en-IN" b="1" dirty="0">
              <a:solidFill>
                <a:srgbClr val="0070C0"/>
              </a:solidFill>
            </a:endParaRPr>
          </a:p>
          <a:p>
            <a:pPr marL="0" indent="0">
              <a:buNone/>
            </a:pPr>
            <a:endParaRPr lang="en-IN" dirty="0"/>
          </a:p>
        </p:txBody>
      </p:sp>
    </p:spTree>
    <p:extLst>
      <p:ext uri="{BB962C8B-B14F-4D97-AF65-F5344CB8AC3E}">
        <p14:creationId xmlns:p14="http://schemas.microsoft.com/office/powerpoint/2010/main" val="3092039635"/>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1213653"/>
            <a:ext cx="6537960" cy="582930"/>
          </a:xfrm>
        </p:spPr>
        <p:txBody>
          <a:bodyPr/>
          <a:lstStyle/>
          <a:p>
            <a:r>
              <a:rPr lang="en-US" dirty="0"/>
              <a:t>Log-normal Shadowing </a:t>
            </a:r>
            <a:endParaRPr lang="en-IN" dirty="0"/>
          </a:p>
          <a:p>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US" dirty="0"/>
              </a:p>
              <a:p>
                <a:pPr marL="0" indent="0">
                  <a:buNone/>
                </a:pPr>
                <a:r>
                  <a:rPr lang="en-US" dirty="0"/>
                  <a:t>Path loss at a particular location is random and distributed log-normal about the mean distance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𝑃𝐿</m:t>
                      </m:r>
                      <m:d>
                        <m:dPr>
                          <m:ctrlPr>
                            <a:rPr lang="en-US" i="1">
                              <a:latin typeface="Cambria Math" panose="02040503050406030204" pitchFamily="18" charset="0"/>
                            </a:rPr>
                          </m:ctrlPr>
                        </m:dPr>
                        <m:e>
                          <m:r>
                            <a:rPr lang="en-US" i="1">
                              <a:latin typeface="Cambria Math" panose="02040503050406030204" pitchFamily="18" charset="0"/>
                            </a:rPr>
                            <m:t>𝑑</m:t>
                          </m:r>
                        </m:e>
                      </m:d>
                      <m:d>
                        <m:dPr>
                          <m:begChr m:val="["/>
                          <m:endChr m:val="]"/>
                          <m:ctrlPr>
                            <a:rPr lang="en-US" i="1">
                              <a:latin typeface="Cambria Math" panose="02040503050406030204" pitchFamily="18" charset="0"/>
                            </a:rPr>
                          </m:ctrlPr>
                        </m:dPr>
                        <m:e>
                          <m:r>
                            <a:rPr lang="en-US" i="1">
                              <a:latin typeface="Cambria Math" panose="02040503050406030204" pitchFamily="18" charset="0"/>
                            </a:rPr>
                            <m:t>𝑑𝐵</m:t>
                          </m:r>
                        </m:e>
                      </m:d>
                      <m:r>
                        <a:rPr lang="en-US" i="1">
                          <a:latin typeface="Cambria Math" panose="02040503050406030204" pitchFamily="18" charset="0"/>
                        </a:rPr>
                        <m:t>=</m:t>
                      </m:r>
                      <m:r>
                        <a:rPr lang="en-US" i="1">
                          <a:latin typeface="Cambria Math" panose="02040503050406030204" pitchFamily="18" charset="0"/>
                        </a:rPr>
                        <m:t>𝑃𝐿</m:t>
                      </m:r>
                      <m:d>
                        <m:dPr>
                          <m:ctrlPr>
                            <a:rPr lang="en-US" i="1">
                              <a:latin typeface="Cambria Math" panose="02040503050406030204" pitchFamily="18" charset="0"/>
                            </a:rPr>
                          </m:ctrlPr>
                        </m:dPr>
                        <m:e>
                          <m:r>
                            <a:rPr lang="en-US" i="1">
                              <a:latin typeface="Cambria Math" panose="02040503050406030204" pitchFamily="18" charset="0"/>
                            </a:rPr>
                            <m:t>𝑑</m:t>
                          </m:r>
                        </m:e>
                      </m:d>
                      <m:r>
                        <a:rPr lang="en-US" i="1">
                          <a:latin typeface="Cambria Math" panose="02040503050406030204" pitchFamily="18" charset="0"/>
                        </a:rPr>
                        <m:t>+</m:t>
                      </m:r>
                      <m:r>
                        <a:rPr lang="en-US" i="1">
                          <a:latin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𝑑</m:t>
                          </m:r>
                          <m:r>
                            <a:rPr lang="en-US" i="1" baseline="-2500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+10 </m:t>
                      </m:r>
                      <m:r>
                        <a:rPr lang="en-US" i="1">
                          <a:latin typeface="Cambria Math" panose="02040503050406030204" pitchFamily="18" charset="0"/>
                          <a:ea typeface="Cambria Math" panose="02040503050406030204" pitchFamily="18" charset="0"/>
                        </a:rPr>
                        <m:t>𝑛</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num>
                                <m:den>
                                  <m:r>
                                    <a:rPr lang="en-US" i="1">
                                      <a:latin typeface="Cambria Math" panose="02040503050406030204" pitchFamily="18" charset="0"/>
                                      <a:ea typeface="Cambria Math" panose="02040503050406030204" pitchFamily="18" charset="0"/>
                                    </a:rPr>
                                    <m:t>𝑑</m:t>
                                  </m:r>
                                  <m:r>
                                    <a:rPr lang="en-US" i="1" baseline="-25000">
                                      <a:latin typeface="Cambria Math" panose="02040503050406030204" pitchFamily="18" charset="0"/>
                                      <a:ea typeface="Cambria Math" panose="02040503050406030204" pitchFamily="18" charset="0"/>
                                    </a:rPr>
                                    <m:t>0</m:t>
                                  </m:r>
                                </m:den>
                              </m:f>
                            </m:e>
                          </m:d>
                        </m:e>
                      </m:fun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𝜎</m:t>
                      </m:r>
                    </m:oMath>
                  </m:oMathPara>
                </a14:m>
                <a:endParaRPr lang="en-US" baseline="-25000" dirty="0">
                  <a:ea typeface="Cambria Math" panose="02040503050406030204" pitchFamily="18" charset="0"/>
                </a:endParaRPr>
              </a:p>
              <a:p>
                <a:pPr marL="0" indent="0">
                  <a:buNone/>
                </a:pPr>
                <a:endParaRPr lang="en-US" baseline="-25000" dirty="0"/>
              </a:p>
              <a:p>
                <a:pPr marL="0" indent="0">
                  <a:buNone/>
                </a:pPr>
                <a:r>
                  <a:rPr lang="en-US" baseline="-25000" dirty="0"/>
                  <a:t>	</a:t>
                </a:r>
                <a14:m>
                  <m:oMath xmlns:m="http://schemas.openxmlformats.org/officeDocument/2006/math">
                    <m:r>
                      <a:rPr lang="en-US" i="1">
                        <a:latin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𝜎</m:t>
                    </m:r>
                    <m:r>
                      <a:rPr lang="en-US" i="1" baseline="-25000">
                        <a:latin typeface="Cambria Math" panose="02040503050406030204" pitchFamily="18" charset="0"/>
                        <a:ea typeface="Cambria Math" panose="02040503050406030204" pitchFamily="18" charset="0"/>
                      </a:rPr>
                      <m:t> </m:t>
                    </m:r>
                  </m:oMath>
                </a14:m>
                <a:r>
                  <a:rPr lang="en-US" dirty="0"/>
                  <a:t>- Zero Mean Gaussian distributed random variable</a:t>
                </a:r>
              </a:p>
              <a:p>
                <a:pPr marL="0" indent="0">
                  <a:buNone/>
                </a:pPr>
                <a:r>
                  <a:rPr lang="en-US" dirty="0"/>
                  <a:t>	</a:t>
                </a:r>
                <a:r>
                  <a:rPr lang="el-GR" dirty="0"/>
                  <a:t>σ</a:t>
                </a:r>
                <a:r>
                  <a:rPr lang="en-US" dirty="0"/>
                  <a:t>- Standard deviation</a:t>
                </a:r>
              </a:p>
              <a:p>
                <a:endParaRPr lang="en-US" baseline="-25000" dirty="0"/>
              </a:p>
              <a:p>
                <a:endParaRPr lang="en-US" baseline="-25000"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649" r="-1649"/>
                </a:stretch>
              </a:blipFill>
            </p:spPr>
            <p:txBody>
              <a:bodyPr/>
              <a:lstStyle/>
              <a:p>
                <a:r>
                  <a:rPr lang="en-IN">
                    <a:noFill/>
                  </a:rPr>
                  <a:t> </a:t>
                </a:r>
              </a:p>
            </p:txBody>
          </p:sp>
        </mc:Fallback>
      </mc:AlternateContent>
    </p:spTree>
    <p:extLst>
      <p:ext uri="{BB962C8B-B14F-4D97-AF65-F5344CB8AC3E}">
        <p14:creationId xmlns:p14="http://schemas.microsoft.com/office/powerpoint/2010/main" val="1353294022"/>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US" dirty="0"/>
              <a:t>Two path loss models considered for estimation of the received signal.</a:t>
            </a:r>
          </a:p>
          <a:p>
            <a:r>
              <a:rPr lang="en-US" dirty="0"/>
              <a:t>Log distance model does not take into consideration the surrounding environmental clutter at two different locations with same T-R distance.</a:t>
            </a:r>
          </a:p>
          <a:p>
            <a:r>
              <a:rPr lang="en-US" dirty="0"/>
              <a:t>Log-normal shadowing model, path loss at a particular location is random and is distributed log-normal about the mean distance.</a:t>
            </a:r>
            <a:endParaRPr lang="en-IN" dirty="0"/>
          </a:p>
          <a:p>
            <a:pPr marL="0" indent="0">
              <a:buNone/>
            </a:pPr>
            <a:endParaRPr lang="en-IN" dirty="0"/>
          </a:p>
          <a:p>
            <a:endParaRPr lang="en-US"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Propagation Models</a:t>
            </a:r>
          </a:p>
          <a:p>
            <a:endParaRPr lang="en-IN" dirty="0"/>
          </a:p>
        </p:txBody>
      </p:sp>
      <p:sp>
        <p:nvSpPr>
          <p:cNvPr id="3" name="Content Placeholder 2"/>
          <p:cNvSpPr>
            <a:spLocks noGrp="1"/>
          </p:cNvSpPr>
          <p:nvPr>
            <p:ph idx="1"/>
          </p:nvPr>
        </p:nvSpPr>
        <p:spPr/>
        <p:txBody>
          <a:bodyPr/>
          <a:lstStyle/>
          <a:p>
            <a:pPr marL="0" indent="0">
              <a:buNone/>
            </a:pPr>
            <a:r>
              <a:rPr lang="en-US" dirty="0"/>
              <a:t>Radio transmission takes place over a variety of irregular terrain.</a:t>
            </a:r>
          </a:p>
          <a:p>
            <a:endParaRPr lang="en-US" dirty="0"/>
          </a:p>
          <a:p>
            <a:pPr marL="0" indent="0">
              <a:buNone/>
            </a:pPr>
            <a:r>
              <a:rPr lang="en-US" dirty="0"/>
              <a:t>The terrain profile need to be taken into account for estimating the path loss.</a:t>
            </a:r>
          </a:p>
          <a:p>
            <a:endParaRPr lang="en-US" dirty="0"/>
          </a:p>
          <a:p>
            <a:pPr marL="0" indent="0">
              <a:buNone/>
            </a:pPr>
            <a:r>
              <a:rPr lang="en-US" dirty="0"/>
              <a:t>Different Models have been developed to meet the needs of realizing the propagation behavior in different conditions.</a:t>
            </a:r>
          </a:p>
          <a:p>
            <a:endParaRPr lang="en-US" dirty="0"/>
          </a:p>
          <a:p>
            <a:pPr marL="0" indent="0">
              <a:buNone/>
            </a:pPr>
            <a:r>
              <a:rPr lang="en-US" dirty="0"/>
              <a:t>Types of models for radio propagation include</a:t>
            </a:r>
          </a:p>
          <a:p>
            <a:endParaRPr lang="en-US" dirty="0"/>
          </a:p>
          <a:p>
            <a:r>
              <a:rPr lang="en-US" dirty="0"/>
              <a:t>Outdoor Propagation Model</a:t>
            </a:r>
          </a:p>
          <a:p>
            <a:r>
              <a:rPr lang="en-US" dirty="0"/>
              <a:t>Indoor Propagation Model.</a:t>
            </a:r>
          </a:p>
          <a:p>
            <a:endParaRPr lang="en-IN" dirty="0"/>
          </a:p>
        </p:txBody>
      </p:sp>
    </p:spTree>
    <p:extLst>
      <p:ext uri="{BB962C8B-B14F-4D97-AF65-F5344CB8AC3E}">
        <p14:creationId xmlns:p14="http://schemas.microsoft.com/office/powerpoint/2010/main" val="2366174454"/>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Outdoor Propagation Models</a:t>
            </a:r>
          </a:p>
        </p:txBody>
      </p:sp>
      <p:sp>
        <p:nvSpPr>
          <p:cNvPr id="6" name="Content Placeholder 1"/>
          <p:cNvSpPr>
            <a:spLocks noGrp="1"/>
          </p:cNvSpPr>
          <p:nvPr>
            <p:ph idx="1"/>
          </p:nvPr>
        </p:nvSpPr>
        <p:spPr>
          <a:xfrm>
            <a:off x="245444" y="1738529"/>
            <a:ext cx="8229600" cy="4525963"/>
          </a:xfrm>
        </p:spPr>
        <p:txBody>
          <a:bodyPr/>
          <a:lstStyle/>
          <a:p>
            <a:pPr marL="0" indent="0">
              <a:buNone/>
            </a:pPr>
            <a:r>
              <a:rPr lang="en-IN" dirty="0"/>
              <a:t>Types of outdoor Propagation model</a:t>
            </a:r>
          </a:p>
          <a:p>
            <a:endParaRPr lang="en-IN" dirty="0"/>
          </a:p>
          <a:p>
            <a:pPr>
              <a:buFont typeface="Arial" panose="020B0604020202020204" pitchFamily="34" charset="0"/>
              <a:buChar char="•"/>
            </a:pPr>
            <a:r>
              <a:rPr lang="en-IN" dirty="0"/>
              <a:t>Terrain Models</a:t>
            </a:r>
          </a:p>
          <a:p>
            <a:pPr marL="0" indent="0">
              <a:buNone/>
            </a:pPr>
            <a:r>
              <a:rPr lang="en-IN" dirty="0"/>
              <a:t>	- Longley Rice Model</a:t>
            </a:r>
          </a:p>
          <a:p>
            <a:pPr marL="0" indent="0">
              <a:buNone/>
            </a:pPr>
            <a:endParaRPr lang="en-IN" dirty="0"/>
          </a:p>
          <a:p>
            <a:pPr>
              <a:buFont typeface="Arial" panose="020B0604020202020204" pitchFamily="34" charset="0"/>
              <a:buChar char="•"/>
            </a:pPr>
            <a:r>
              <a:rPr lang="en-IN" dirty="0"/>
              <a:t>Parametric Models</a:t>
            </a:r>
          </a:p>
          <a:p>
            <a:pPr marL="0" indent="0">
              <a:buNone/>
            </a:pPr>
            <a:r>
              <a:rPr lang="en-IN" dirty="0"/>
              <a:t>	- Okumura  Model</a:t>
            </a:r>
          </a:p>
          <a:p>
            <a:pPr marL="0" indent="0">
              <a:buNone/>
            </a:pPr>
            <a:r>
              <a:rPr lang="en-IN" dirty="0"/>
              <a:t>	- </a:t>
            </a:r>
            <a:r>
              <a:rPr lang="en-IN" dirty="0" err="1"/>
              <a:t>Hata</a:t>
            </a:r>
            <a:r>
              <a:rPr lang="en-IN" dirty="0"/>
              <a:t> Model</a:t>
            </a:r>
          </a:p>
        </p:txBody>
      </p:sp>
    </p:spTree>
    <p:extLst>
      <p:ext uri="{BB962C8B-B14F-4D97-AF65-F5344CB8AC3E}">
        <p14:creationId xmlns:p14="http://schemas.microsoft.com/office/powerpoint/2010/main" val="280583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Outdoor Propagation Models</a:t>
            </a:r>
          </a:p>
          <a:p>
            <a:endParaRPr lang="en-IN" dirty="0"/>
          </a:p>
        </p:txBody>
      </p:sp>
      <p:sp>
        <p:nvSpPr>
          <p:cNvPr id="4" name="TextBox 3"/>
          <p:cNvSpPr txBox="1"/>
          <p:nvPr/>
        </p:nvSpPr>
        <p:spPr>
          <a:xfrm>
            <a:off x="0" y="1648103"/>
            <a:ext cx="8458200" cy="4431983"/>
          </a:xfrm>
          <a:prstGeom prst="rect">
            <a:avLst/>
          </a:prstGeom>
          <a:noFill/>
        </p:spPr>
        <p:txBody>
          <a:bodyPr wrap="square" rtlCol="0">
            <a:spAutoFit/>
          </a:bodyPr>
          <a:lstStyle/>
          <a:p>
            <a:pPr algn="l" rtl="0">
              <a:buFont typeface="Arial" pitchFamily="34" charset="0"/>
              <a:buChar char="•"/>
            </a:pPr>
            <a:r>
              <a:rPr lang="en-US" sz="2000" b="1" kern="1200" dirty="0">
                <a:solidFill>
                  <a:srgbClr val="1F497D">
                    <a:lumMod val="60000"/>
                    <a:lumOff val="40000"/>
                  </a:srgbClr>
                </a:solidFill>
                <a:latin typeface="Arial" panose="020B0604020202020204" pitchFamily="34" charset="0"/>
                <a:ea typeface="+mn-ea"/>
                <a:cs typeface="Arial" panose="020B0604020202020204" pitchFamily="34" charset="0"/>
              </a:rPr>
              <a:t> Terrain Models</a:t>
            </a:r>
          </a:p>
          <a:p>
            <a:pPr marL="457200" lvl="1" algn="l" rtl="0">
              <a:buFont typeface="Wingdings" pitchFamily="2" charset="2"/>
              <a:buChar char="§"/>
            </a:pPr>
            <a:r>
              <a:rPr lang="en-US" sz="1600" kern="1200" dirty="0">
                <a:solidFill>
                  <a:prstClr val="black"/>
                </a:solidFill>
                <a:latin typeface="Arial" panose="020B0604020202020204" pitchFamily="34" charset="0"/>
                <a:ea typeface="+mn-ea"/>
                <a:cs typeface="Arial" panose="020B0604020202020204" pitchFamily="34" charset="0"/>
              </a:rPr>
              <a:t>	</a:t>
            </a:r>
            <a:r>
              <a:rPr lang="en-US" sz="2000" kern="1200" dirty="0">
                <a:solidFill>
                  <a:prstClr val="black"/>
                </a:solidFill>
                <a:latin typeface="Arial" panose="020B0604020202020204" pitchFamily="34" charset="0"/>
                <a:ea typeface="+mn-ea"/>
                <a:cs typeface="Arial" panose="020B0604020202020204" pitchFamily="34" charset="0"/>
              </a:rPr>
              <a:t>Longley-Rice Model </a:t>
            </a:r>
          </a:p>
          <a:p>
            <a:pPr marL="457200" lvl="1" algn="l" rtl="0"/>
            <a:r>
              <a:rPr lang="en-US" sz="2000" kern="1200" dirty="0">
                <a:solidFill>
                  <a:prstClr val="black"/>
                </a:solidFill>
                <a:latin typeface="Arial" panose="020B0604020202020204" pitchFamily="34" charset="0"/>
                <a:ea typeface="+mn-ea"/>
                <a:cs typeface="Arial" panose="020B0604020202020204" pitchFamily="34" charset="0"/>
              </a:rPr>
              <a:t>		- Also called as Irregular Terrain model.</a:t>
            </a:r>
          </a:p>
          <a:p>
            <a:pPr algn="l" rtl="0"/>
            <a:r>
              <a:rPr lang="en-US" sz="2000" kern="1200" dirty="0">
                <a:solidFill>
                  <a:prstClr val="black"/>
                </a:solidFill>
                <a:latin typeface="Arial" panose="020B0604020202020204" pitchFamily="34" charset="0"/>
                <a:ea typeface="+mn-ea"/>
                <a:cs typeface="Arial" panose="020B0604020202020204" pitchFamily="34" charset="0"/>
              </a:rPr>
              <a:t>		-Applicable to point to point communication.</a:t>
            </a:r>
          </a:p>
          <a:p>
            <a:pPr algn="l" rtl="0"/>
            <a:r>
              <a:rPr lang="en-US" sz="2000" kern="1200" dirty="0">
                <a:solidFill>
                  <a:prstClr val="black"/>
                </a:solidFill>
                <a:latin typeface="Arial" panose="020B0604020202020204" pitchFamily="34" charset="0"/>
                <a:ea typeface="+mn-ea"/>
                <a:cs typeface="Arial" panose="020B0604020202020204" pitchFamily="34" charset="0"/>
              </a:rPr>
              <a:t>		- Frequency range from 40MHz to 100GHz over             </a:t>
            </a:r>
          </a:p>
          <a:p>
            <a:pPr algn="l" rtl="0"/>
            <a:r>
              <a:rPr lang="en-US" sz="2000" kern="1200" dirty="0">
                <a:solidFill>
                  <a:prstClr val="black"/>
                </a:solidFill>
                <a:latin typeface="Arial" panose="020B0604020202020204" pitchFamily="34" charset="0"/>
                <a:ea typeface="+mn-ea"/>
                <a:cs typeface="Arial" panose="020B0604020202020204" pitchFamily="34" charset="0"/>
              </a:rPr>
              <a:t>                              various different kinds of terrain</a:t>
            </a:r>
          </a:p>
          <a:p>
            <a:pPr algn="l" rtl="0"/>
            <a:r>
              <a:rPr lang="en-US" sz="2000" kern="1200" dirty="0">
                <a:solidFill>
                  <a:prstClr val="black"/>
                </a:solidFill>
                <a:latin typeface="Arial" panose="020B0604020202020204" pitchFamily="34" charset="0"/>
                <a:ea typeface="+mn-ea"/>
                <a:cs typeface="Arial" panose="020B0604020202020204" pitchFamily="34" charset="0"/>
              </a:rPr>
              <a:t>		- Applicable only for Irregular Terrain.</a:t>
            </a:r>
          </a:p>
          <a:p>
            <a:pPr algn="l" rtl="0"/>
            <a:r>
              <a:rPr lang="en-US" sz="2000" kern="1200" dirty="0">
                <a:solidFill>
                  <a:prstClr val="black"/>
                </a:solidFill>
                <a:latin typeface="Arial" panose="020B0604020202020204" pitchFamily="34" charset="0"/>
                <a:ea typeface="+mn-ea"/>
                <a:cs typeface="Arial" panose="020B0604020202020204" pitchFamily="34" charset="0"/>
              </a:rPr>
              <a:t>		- It doesn’t take into account buildings or trees.</a:t>
            </a:r>
          </a:p>
          <a:p>
            <a:pPr algn="l" rtl="0"/>
            <a:endParaRPr lang="en-US" sz="2000" kern="1200" dirty="0">
              <a:solidFill>
                <a:prstClr val="black"/>
              </a:solidFill>
              <a:latin typeface="Arial" panose="020B0604020202020204" pitchFamily="34" charset="0"/>
              <a:ea typeface="+mn-ea"/>
              <a:cs typeface="Arial" panose="020B0604020202020204" pitchFamily="34" charset="0"/>
            </a:endParaRPr>
          </a:p>
          <a:p>
            <a:pPr algn="l" rtl="0"/>
            <a:r>
              <a:rPr lang="en-US" sz="2000" b="1" kern="1200" dirty="0">
                <a:solidFill>
                  <a:srgbClr val="0070C0"/>
                </a:solidFill>
                <a:latin typeface="Arial" panose="020B0604020202020204" pitchFamily="34" charset="0"/>
                <a:ea typeface="+mn-ea"/>
                <a:cs typeface="Arial" panose="020B0604020202020204" pitchFamily="34" charset="0"/>
              </a:rPr>
              <a:t>Two Modes of operation:</a:t>
            </a:r>
          </a:p>
          <a:p>
            <a:pPr algn="l" rtl="0"/>
            <a:r>
              <a:rPr lang="en-US" sz="2000" kern="1200" dirty="0">
                <a:solidFill>
                  <a:srgbClr val="FF0000"/>
                </a:solidFill>
                <a:latin typeface="Arial" panose="020B0604020202020204" pitchFamily="34" charset="0"/>
                <a:ea typeface="+mn-ea"/>
                <a:cs typeface="Arial" panose="020B0604020202020204" pitchFamily="34" charset="0"/>
              </a:rPr>
              <a:t>Point to point mode Prediction </a:t>
            </a:r>
            <a:r>
              <a:rPr lang="en-US" sz="2000" kern="1200" dirty="0">
                <a:solidFill>
                  <a:prstClr val="black"/>
                </a:solidFill>
                <a:latin typeface="Arial" panose="020B0604020202020204" pitchFamily="34" charset="0"/>
                <a:ea typeface="+mn-ea"/>
                <a:cs typeface="Arial" panose="020B0604020202020204" pitchFamily="34" charset="0"/>
              </a:rPr>
              <a:t>- Terrain path profile available, easy to determine path specific parameters.</a:t>
            </a:r>
          </a:p>
          <a:p>
            <a:pPr algn="l" rtl="0"/>
            <a:r>
              <a:rPr lang="en-US" sz="2000" kern="1200" dirty="0">
                <a:solidFill>
                  <a:srgbClr val="FF0000"/>
                </a:solidFill>
                <a:latin typeface="Arial" panose="020B0604020202020204" pitchFamily="34" charset="0"/>
                <a:ea typeface="+mn-ea"/>
                <a:cs typeface="Arial" panose="020B0604020202020204" pitchFamily="34" charset="0"/>
              </a:rPr>
              <a:t>Area Mode prediction</a:t>
            </a:r>
            <a:r>
              <a:rPr lang="en-US" sz="2000" kern="1200" dirty="0">
                <a:solidFill>
                  <a:prstClr val="black"/>
                </a:solidFill>
                <a:latin typeface="Arial" panose="020B0604020202020204" pitchFamily="34" charset="0"/>
                <a:ea typeface="+mn-ea"/>
                <a:cs typeface="Arial" panose="020B0604020202020204" pitchFamily="34" charset="0"/>
              </a:rPr>
              <a:t>: Terrain path profile not available</a:t>
            </a:r>
          </a:p>
          <a:p>
            <a:pPr algn="l" rtl="0"/>
            <a:endParaRPr lang="en-US" sz="1600" kern="12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5658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94055" y="1275260"/>
            <a:ext cx="6537960" cy="582930"/>
          </a:xfrm>
        </p:spPr>
        <p:txBody>
          <a:bodyPr/>
          <a:lstStyle/>
          <a:p>
            <a:r>
              <a:rPr lang="en-US" dirty="0"/>
              <a:t>Okumura Model</a:t>
            </a:r>
          </a:p>
          <a:p>
            <a:endParaRPr lang="en-IN" dirty="0"/>
          </a:p>
          <a:p>
            <a:endParaRPr lang="en-IN" dirty="0"/>
          </a:p>
        </p:txBody>
      </p:sp>
      <p:sp>
        <p:nvSpPr>
          <p:cNvPr id="7" name="Content Placeholder 1"/>
          <p:cNvSpPr>
            <a:spLocks noGrp="1"/>
          </p:cNvSpPr>
          <p:nvPr>
            <p:ph idx="1"/>
          </p:nvPr>
        </p:nvSpPr>
        <p:spPr>
          <a:xfrm>
            <a:off x="79899" y="1566725"/>
            <a:ext cx="8839200" cy="5334000"/>
          </a:xfrm>
        </p:spPr>
        <p:txBody>
          <a:bodyPr>
            <a:noAutofit/>
          </a:bodyPr>
          <a:lstStyle/>
          <a:p>
            <a:pPr marL="0" indent="0">
              <a:buNone/>
            </a:pPr>
            <a:r>
              <a:rPr lang="en-US" sz="1600" dirty="0"/>
              <a:t>Widely used for signal prediction in urban areas. </a:t>
            </a:r>
          </a:p>
          <a:p>
            <a:pPr marL="0" indent="0">
              <a:buNone/>
            </a:pPr>
            <a:r>
              <a:rPr lang="en-US" sz="1600" b="1" dirty="0"/>
              <a:t>The Okumura model for urban areas</a:t>
            </a:r>
            <a:r>
              <a:rPr lang="en-US" sz="1600" dirty="0"/>
              <a:t> is a Radio propagation model that was built using the data collected in the city of Tokyo, Japan.</a:t>
            </a:r>
          </a:p>
          <a:p>
            <a:pPr marL="0" indent="0">
              <a:buNone/>
            </a:pPr>
            <a:r>
              <a:rPr lang="en-US" sz="1600" dirty="0"/>
              <a:t>Developed during the mid 1960's</a:t>
            </a:r>
          </a:p>
          <a:p>
            <a:pPr marL="0" indent="0">
              <a:buNone/>
            </a:pPr>
            <a:r>
              <a:rPr lang="en-US" sz="1600" dirty="0"/>
              <a:t>Applicable for:</a:t>
            </a:r>
          </a:p>
          <a:p>
            <a:pPr lvl="1"/>
            <a:r>
              <a:rPr lang="en-US" sz="1600" dirty="0"/>
              <a:t>frequency </a:t>
            </a:r>
            <a:r>
              <a:rPr lang="en-US" sz="1600" i="1" dirty="0"/>
              <a:t>f</a:t>
            </a:r>
            <a:r>
              <a:rPr lang="en-US" sz="1600" dirty="0"/>
              <a:t>: 150 MHz -  1920 MHz</a:t>
            </a:r>
          </a:p>
          <a:p>
            <a:pPr lvl="1"/>
            <a:r>
              <a:rPr lang="en-US" sz="1600" dirty="0"/>
              <a:t>distance </a:t>
            </a:r>
            <a:r>
              <a:rPr lang="en-US" sz="1600" i="1" dirty="0"/>
              <a:t>d</a:t>
            </a:r>
            <a:r>
              <a:rPr lang="en-US" sz="1600" dirty="0"/>
              <a:t>: 1 km  - 100 km</a:t>
            </a:r>
          </a:p>
          <a:p>
            <a:pPr marL="457200" lvl="1" indent="0">
              <a:buNone/>
            </a:pPr>
            <a:r>
              <a:rPr lang="en-US" sz="1600" dirty="0">
                <a:solidFill>
                  <a:srgbClr val="FF0000"/>
                </a:solidFill>
              </a:rPr>
              <a:t>Free Space path loss is given by </a:t>
            </a:r>
          </a:p>
          <a:p>
            <a:pPr lvl="1"/>
            <a:r>
              <a:rPr lang="en-US" sz="1600" dirty="0"/>
              <a:t>  [L] = L</a:t>
            </a:r>
            <a:r>
              <a:rPr lang="en-US" sz="1600" baseline="-25000" dirty="0"/>
              <a:t>f </a:t>
            </a:r>
            <a:r>
              <a:rPr lang="en-US" sz="1600" dirty="0"/>
              <a:t>+ A</a:t>
            </a:r>
            <a:r>
              <a:rPr lang="en-US" sz="1600" baseline="-25000" dirty="0"/>
              <a:t>mu</a:t>
            </a:r>
            <a:r>
              <a:rPr lang="en-US" sz="1600" dirty="0"/>
              <a:t>(</a:t>
            </a:r>
            <a:r>
              <a:rPr lang="en-US" sz="1600" dirty="0" err="1"/>
              <a:t>f,d</a:t>
            </a:r>
            <a:r>
              <a:rPr lang="en-US" sz="1600" dirty="0"/>
              <a:t>) – G(</a:t>
            </a:r>
            <a:r>
              <a:rPr lang="en-US" sz="1600" dirty="0" err="1"/>
              <a:t>h</a:t>
            </a:r>
            <a:r>
              <a:rPr lang="en-US" sz="1600" baseline="-25000" dirty="0" err="1"/>
              <a:t>te</a:t>
            </a:r>
            <a:r>
              <a:rPr lang="en-US" sz="1600" dirty="0"/>
              <a:t>) – G(</a:t>
            </a:r>
            <a:r>
              <a:rPr lang="en-US" sz="1600" dirty="0" err="1"/>
              <a:t>h</a:t>
            </a:r>
            <a:r>
              <a:rPr lang="en-US" sz="1600" baseline="-25000" dirty="0" err="1"/>
              <a:t>re</a:t>
            </a:r>
            <a:r>
              <a:rPr lang="en-US" sz="1600" dirty="0"/>
              <a:t>) -</a:t>
            </a:r>
            <a:r>
              <a:rPr lang="en-US" sz="1600" dirty="0" err="1"/>
              <a:t>G</a:t>
            </a:r>
            <a:r>
              <a:rPr lang="en-US" sz="1600" baseline="-25000" dirty="0" err="1"/>
              <a:t>area</a:t>
            </a:r>
            <a:endParaRPr lang="en-US" sz="1600" baseline="-25000" dirty="0"/>
          </a:p>
          <a:p>
            <a:r>
              <a:rPr lang="en-US" sz="1600" dirty="0"/>
              <a:t>L</a:t>
            </a:r>
            <a:r>
              <a:rPr lang="en-US" sz="1600" baseline="-25000" dirty="0"/>
              <a:t>f</a:t>
            </a:r>
            <a:r>
              <a:rPr lang="en-US" sz="1600" dirty="0"/>
              <a:t> is the free space propagation loss</a:t>
            </a:r>
          </a:p>
          <a:p>
            <a:r>
              <a:rPr lang="en-US" sz="1600" dirty="0"/>
              <a:t>A</a:t>
            </a:r>
            <a:r>
              <a:rPr lang="en-US" sz="1600" baseline="-25000" dirty="0"/>
              <a:t>mu</a:t>
            </a:r>
            <a:r>
              <a:rPr lang="en-US" sz="1600" dirty="0"/>
              <a:t> is the median attenuation relative to free space</a:t>
            </a:r>
          </a:p>
          <a:p>
            <a:r>
              <a:rPr lang="en-US" sz="1600" dirty="0"/>
              <a:t>G(</a:t>
            </a:r>
            <a:r>
              <a:rPr lang="en-US" sz="1600" dirty="0" err="1"/>
              <a:t>h</a:t>
            </a:r>
            <a:r>
              <a:rPr lang="en-US" sz="1600" baseline="-25000" dirty="0" err="1"/>
              <a:t>te</a:t>
            </a:r>
            <a:r>
              <a:rPr lang="en-US" sz="1600" dirty="0"/>
              <a:t>)- Base station antenna height gain factor</a:t>
            </a:r>
          </a:p>
          <a:p>
            <a:r>
              <a:rPr lang="en-US" sz="1600" dirty="0"/>
              <a:t>G(</a:t>
            </a:r>
            <a:r>
              <a:rPr lang="en-US" sz="1600" dirty="0" err="1"/>
              <a:t>h</a:t>
            </a:r>
            <a:r>
              <a:rPr lang="en-US" sz="1600" baseline="-25000" dirty="0" err="1"/>
              <a:t>re</a:t>
            </a:r>
            <a:r>
              <a:rPr lang="en-US" sz="1600" dirty="0"/>
              <a:t>)- Mobile antenna height gain factor. </a:t>
            </a:r>
          </a:p>
          <a:p>
            <a:pPr marL="342900" lvl="1" indent="-342900">
              <a:buClr>
                <a:srgbClr val="101141"/>
              </a:buClr>
              <a:buNone/>
            </a:pPr>
            <a:r>
              <a:rPr lang="en-US" sz="1600" dirty="0" err="1"/>
              <a:t>G</a:t>
            </a:r>
            <a:r>
              <a:rPr lang="en-US" sz="1600" baseline="-25000" dirty="0" err="1"/>
              <a:t>area</a:t>
            </a:r>
            <a:r>
              <a:rPr lang="en-US" sz="1600" baseline="-25000" dirty="0"/>
              <a:t> </a:t>
            </a:r>
            <a:r>
              <a:rPr lang="en-US" sz="1600" dirty="0"/>
              <a:t>- Gain due to type of environment</a:t>
            </a:r>
            <a:endParaRPr lang="en-US" sz="1600" baseline="-25000" dirty="0"/>
          </a:p>
          <a:p>
            <a:pPr lvl="1">
              <a:buNone/>
            </a:pPr>
            <a:r>
              <a:rPr lang="en-US" sz="1600" dirty="0">
                <a:solidFill>
                  <a:schemeClr val="tx2">
                    <a:lumMod val="60000"/>
                    <a:lumOff val="40000"/>
                  </a:schemeClr>
                </a:solidFill>
              </a:rPr>
              <a:t>This model is based only on the measured data.</a:t>
            </a:r>
          </a:p>
          <a:p>
            <a:pPr lvl="1">
              <a:buNone/>
            </a:pPr>
            <a:endParaRPr lang="en-US" sz="1050" dirty="0"/>
          </a:p>
          <a:p>
            <a:pPr lvl="1">
              <a:buNone/>
            </a:pPr>
            <a:endParaRPr lang="en-US" sz="1050" dirty="0"/>
          </a:p>
          <a:p>
            <a:pPr lvl="1">
              <a:buNone/>
            </a:pPr>
            <a:endParaRPr lang="en-US" sz="1000" dirty="0"/>
          </a:p>
          <a:p>
            <a:endParaRPr lang="en-US" sz="1200" dirty="0"/>
          </a:p>
        </p:txBody>
      </p:sp>
    </p:spTree>
    <p:extLst>
      <p:ext uri="{BB962C8B-B14F-4D97-AF65-F5344CB8AC3E}">
        <p14:creationId xmlns:p14="http://schemas.microsoft.com/office/powerpoint/2010/main" val="323892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endParaRPr lang="en-US" dirty="0"/>
          </a:p>
          <a:p>
            <a:r>
              <a:rPr lang="en-US" dirty="0"/>
              <a:t>Okumura Model</a:t>
            </a:r>
          </a:p>
          <a:p>
            <a:endParaRPr lang="en-IN" dirty="0"/>
          </a:p>
          <a:p>
            <a:endParaRPr lang="en-IN" dirty="0"/>
          </a:p>
        </p:txBody>
      </p:sp>
      <p:sp>
        <p:nvSpPr>
          <p:cNvPr id="5" name="Content Placeholder 1"/>
          <p:cNvSpPr txBox="1">
            <a:spLocks/>
          </p:cNvSpPr>
          <p:nvPr/>
        </p:nvSpPr>
        <p:spPr bwMode="auto">
          <a:xfrm>
            <a:off x="340311" y="180955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dirty="0">
                <a:solidFill>
                  <a:prstClr val="black"/>
                </a:solidFill>
              </a:rPr>
              <a:t>G(</a:t>
            </a:r>
            <a:r>
              <a:rPr lang="en-US" dirty="0" err="1">
                <a:solidFill>
                  <a:prstClr val="black"/>
                </a:solidFill>
              </a:rPr>
              <a:t>h</a:t>
            </a:r>
            <a:r>
              <a:rPr lang="en-US" baseline="-25000" dirty="0" err="1">
                <a:solidFill>
                  <a:prstClr val="black"/>
                </a:solidFill>
              </a:rPr>
              <a:t>te</a:t>
            </a:r>
            <a:r>
              <a:rPr lang="en-US" dirty="0">
                <a:solidFill>
                  <a:prstClr val="black"/>
                </a:solidFill>
              </a:rPr>
              <a:t>) –varies at rate 20dB/decade</a:t>
            </a:r>
          </a:p>
          <a:p>
            <a:pPr marL="0" indent="0">
              <a:buNone/>
            </a:pPr>
            <a:r>
              <a:rPr lang="en-US" dirty="0">
                <a:solidFill>
                  <a:prstClr val="black"/>
                </a:solidFill>
              </a:rPr>
              <a:t>G(</a:t>
            </a:r>
            <a:r>
              <a:rPr lang="en-US" dirty="0" err="1">
                <a:solidFill>
                  <a:prstClr val="black"/>
                </a:solidFill>
              </a:rPr>
              <a:t>h</a:t>
            </a:r>
            <a:r>
              <a:rPr lang="en-US" baseline="-25000" dirty="0" err="1">
                <a:solidFill>
                  <a:prstClr val="black"/>
                </a:solidFill>
              </a:rPr>
              <a:t>re</a:t>
            </a:r>
            <a:r>
              <a:rPr lang="en-US" dirty="0">
                <a:solidFill>
                  <a:prstClr val="black"/>
                </a:solidFill>
              </a:rPr>
              <a:t>)- varies at the rate 10dB/decade                   Heights &lt; 3m</a:t>
            </a:r>
          </a:p>
          <a:p>
            <a:endParaRPr lang="en-US" dirty="0">
              <a:solidFill>
                <a:prstClr val="black"/>
              </a:solidFill>
            </a:endParaRPr>
          </a:p>
          <a:p>
            <a:pPr marL="0" indent="0">
              <a:buNone/>
            </a:pPr>
            <a:r>
              <a:rPr lang="en-US" dirty="0">
                <a:solidFill>
                  <a:prstClr val="black"/>
                </a:solidFill>
              </a:rPr>
              <a:t>G(</a:t>
            </a:r>
            <a:r>
              <a:rPr lang="en-US" dirty="0" err="1">
                <a:solidFill>
                  <a:prstClr val="black"/>
                </a:solidFill>
              </a:rPr>
              <a:t>h</a:t>
            </a:r>
            <a:r>
              <a:rPr lang="en-US" baseline="-25000" dirty="0" err="1">
                <a:solidFill>
                  <a:prstClr val="black"/>
                </a:solidFill>
              </a:rPr>
              <a:t>te</a:t>
            </a:r>
            <a:r>
              <a:rPr lang="en-US" dirty="0">
                <a:solidFill>
                  <a:prstClr val="black"/>
                </a:solidFill>
              </a:rPr>
              <a:t>)= 20 log(</a:t>
            </a:r>
            <a:r>
              <a:rPr lang="en-US" dirty="0" err="1">
                <a:solidFill>
                  <a:prstClr val="black"/>
                </a:solidFill>
              </a:rPr>
              <a:t>h</a:t>
            </a:r>
            <a:r>
              <a:rPr lang="en-US" baseline="-25000" dirty="0" err="1">
                <a:solidFill>
                  <a:prstClr val="black"/>
                </a:solidFill>
              </a:rPr>
              <a:t>te</a:t>
            </a:r>
            <a:r>
              <a:rPr lang="en-US" dirty="0">
                <a:solidFill>
                  <a:prstClr val="black"/>
                </a:solidFill>
              </a:rPr>
              <a:t>/200)            1000m&gt;</a:t>
            </a:r>
            <a:r>
              <a:rPr lang="en-US" dirty="0" err="1">
                <a:solidFill>
                  <a:prstClr val="black"/>
                </a:solidFill>
              </a:rPr>
              <a:t>h</a:t>
            </a:r>
            <a:r>
              <a:rPr lang="en-US" baseline="-25000" dirty="0" err="1">
                <a:solidFill>
                  <a:prstClr val="black"/>
                </a:solidFill>
              </a:rPr>
              <a:t>t</a:t>
            </a:r>
            <a:r>
              <a:rPr lang="en-US" dirty="0">
                <a:solidFill>
                  <a:prstClr val="black"/>
                </a:solidFill>
              </a:rPr>
              <a:t>&gt;30m</a:t>
            </a:r>
          </a:p>
          <a:p>
            <a:endParaRPr lang="en-US" dirty="0">
              <a:solidFill>
                <a:prstClr val="black"/>
              </a:solidFill>
            </a:endParaRPr>
          </a:p>
          <a:p>
            <a:pPr marL="0" indent="0">
              <a:buNone/>
            </a:pPr>
            <a:r>
              <a:rPr lang="en-US" dirty="0">
                <a:solidFill>
                  <a:prstClr val="black"/>
                </a:solidFill>
              </a:rPr>
              <a:t>G(</a:t>
            </a:r>
            <a:r>
              <a:rPr lang="en-US" dirty="0" err="1">
                <a:solidFill>
                  <a:prstClr val="black"/>
                </a:solidFill>
              </a:rPr>
              <a:t>h</a:t>
            </a:r>
            <a:r>
              <a:rPr lang="en-US" baseline="-25000" dirty="0" err="1">
                <a:solidFill>
                  <a:prstClr val="black"/>
                </a:solidFill>
              </a:rPr>
              <a:t>re</a:t>
            </a:r>
            <a:r>
              <a:rPr lang="en-US" dirty="0">
                <a:solidFill>
                  <a:prstClr val="black"/>
                </a:solidFill>
              </a:rPr>
              <a:t> )=10 log (</a:t>
            </a:r>
            <a:r>
              <a:rPr lang="en-US" dirty="0" err="1">
                <a:solidFill>
                  <a:prstClr val="black"/>
                </a:solidFill>
              </a:rPr>
              <a:t>h</a:t>
            </a:r>
            <a:r>
              <a:rPr lang="en-US" baseline="-25000" dirty="0" err="1">
                <a:solidFill>
                  <a:prstClr val="black"/>
                </a:solidFill>
              </a:rPr>
              <a:t>re</a:t>
            </a:r>
            <a:r>
              <a:rPr lang="en-US" dirty="0">
                <a:solidFill>
                  <a:prstClr val="black"/>
                </a:solidFill>
              </a:rPr>
              <a:t>/3)               </a:t>
            </a:r>
            <a:r>
              <a:rPr lang="en-US" dirty="0" err="1">
                <a:solidFill>
                  <a:prstClr val="black"/>
                </a:solidFill>
              </a:rPr>
              <a:t>h</a:t>
            </a:r>
            <a:r>
              <a:rPr lang="en-US" baseline="-25000" dirty="0" err="1">
                <a:solidFill>
                  <a:prstClr val="black"/>
                </a:solidFill>
              </a:rPr>
              <a:t>re</a:t>
            </a:r>
            <a:r>
              <a:rPr lang="en-US" dirty="0">
                <a:solidFill>
                  <a:prstClr val="black"/>
                </a:solidFill>
              </a:rPr>
              <a:t>≤ 3m</a:t>
            </a:r>
          </a:p>
          <a:p>
            <a:endParaRPr lang="en-US" dirty="0">
              <a:solidFill>
                <a:prstClr val="black"/>
              </a:solidFill>
            </a:endParaRPr>
          </a:p>
          <a:p>
            <a:pPr marL="0" indent="0">
              <a:buNone/>
            </a:pPr>
            <a:r>
              <a:rPr lang="en-US" dirty="0">
                <a:solidFill>
                  <a:prstClr val="black"/>
                </a:solidFill>
              </a:rPr>
              <a:t>G(</a:t>
            </a:r>
            <a:r>
              <a:rPr lang="en-US" dirty="0" err="1">
                <a:solidFill>
                  <a:prstClr val="black"/>
                </a:solidFill>
              </a:rPr>
              <a:t>h</a:t>
            </a:r>
            <a:r>
              <a:rPr lang="en-US" baseline="-25000" dirty="0" err="1">
                <a:solidFill>
                  <a:prstClr val="black"/>
                </a:solidFill>
              </a:rPr>
              <a:t>re</a:t>
            </a:r>
            <a:r>
              <a:rPr lang="en-US" dirty="0">
                <a:solidFill>
                  <a:prstClr val="black"/>
                </a:solidFill>
              </a:rPr>
              <a:t>) = 20log(</a:t>
            </a:r>
            <a:r>
              <a:rPr lang="en-US" dirty="0" err="1">
                <a:solidFill>
                  <a:prstClr val="black"/>
                </a:solidFill>
              </a:rPr>
              <a:t>h</a:t>
            </a:r>
            <a:r>
              <a:rPr lang="en-US" baseline="-25000" dirty="0" err="1">
                <a:solidFill>
                  <a:prstClr val="black"/>
                </a:solidFill>
              </a:rPr>
              <a:t>re</a:t>
            </a:r>
            <a:r>
              <a:rPr lang="en-US" dirty="0">
                <a:solidFill>
                  <a:prstClr val="black"/>
                </a:solidFill>
              </a:rPr>
              <a:t>)/3)	    10m&gt;</a:t>
            </a:r>
            <a:r>
              <a:rPr lang="en-US" dirty="0" err="1">
                <a:solidFill>
                  <a:prstClr val="black"/>
                </a:solidFill>
              </a:rPr>
              <a:t>h</a:t>
            </a:r>
            <a:r>
              <a:rPr lang="en-US" baseline="-25000" dirty="0" err="1">
                <a:solidFill>
                  <a:prstClr val="black"/>
                </a:solidFill>
              </a:rPr>
              <a:t>te</a:t>
            </a:r>
            <a:r>
              <a:rPr lang="en-US" dirty="0">
                <a:solidFill>
                  <a:prstClr val="black"/>
                </a:solidFill>
              </a:rPr>
              <a:t>&gt;3m</a:t>
            </a:r>
          </a:p>
          <a:p>
            <a:endParaRPr lang="en-US" dirty="0">
              <a:solidFill>
                <a:prstClr val="black"/>
              </a:solidFill>
            </a:endParaRPr>
          </a:p>
          <a:p>
            <a:endParaRPr lang="en-US" dirty="0">
              <a:solidFill>
                <a:prstClr val="black"/>
              </a:solidFill>
            </a:endParaRPr>
          </a:p>
          <a:p>
            <a:endParaRPr lang="en-IN" dirty="0">
              <a:solidFill>
                <a:prstClr val="black"/>
              </a:solidFill>
            </a:endParaRPr>
          </a:p>
        </p:txBody>
      </p:sp>
      <p:sp>
        <p:nvSpPr>
          <p:cNvPr id="6" name="Right Brace 5"/>
          <p:cNvSpPr/>
          <p:nvPr/>
        </p:nvSpPr>
        <p:spPr>
          <a:xfrm>
            <a:off x="4663736" y="1688792"/>
            <a:ext cx="304800"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N" kern="1200">
              <a:solidFill>
                <a:prstClr val="black"/>
              </a:solidFill>
              <a:latin typeface="Calibri"/>
            </a:endParaRPr>
          </a:p>
        </p:txBody>
      </p:sp>
    </p:spTree>
    <p:extLst>
      <p:ext uri="{BB962C8B-B14F-4D97-AF65-F5344CB8AC3E}">
        <p14:creationId xmlns:p14="http://schemas.microsoft.com/office/powerpoint/2010/main" val="1865670446"/>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err="1"/>
              <a:t>Hata</a:t>
            </a:r>
            <a:r>
              <a:rPr lang="en-US" dirty="0"/>
              <a:t> Model</a:t>
            </a:r>
          </a:p>
          <a:p>
            <a:endParaRPr lang="en-IN" dirty="0"/>
          </a:p>
        </p:txBody>
      </p:sp>
      <p:sp>
        <p:nvSpPr>
          <p:cNvPr id="6" name="Content Placeholder 1"/>
          <p:cNvSpPr txBox="1">
            <a:spLocks/>
          </p:cNvSpPr>
          <p:nvPr/>
        </p:nvSpPr>
        <p:spPr bwMode="auto">
          <a:xfrm>
            <a:off x="91736" y="1685263"/>
            <a:ext cx="8229600" cy="4983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solidFill>
                  <a:prstClr val="black"/>
                </a:solidFill>
              </a:rPr>
              <a:t>The </a:t>
            </a:r>
            <a:r>
              <a:rPr lang="en-US" dirty="0" err="1">
                <a:solidFill>
                  <a:prstClr val="black"/>
                </a:solidFill>
              </a:rPr>
              <a:t>Hata</a:t>
            </a:r>
            <a:r>
              <a:rPr lang="en-US" dirty="0">
                <a:solidFill>
                  <a:prstClr val="black"/>
                </a:solidFill>
              </a:rPr>
              <a:t> model is an empirical formulation of the graphical path loss data provided by Okumura.</a:t>
            </a:r>
          </a:p>
          <a:p>
            <a:r>
              <a:rPr lang="en-US" dirty="0">
                <a:solidFill>
                  <a:prstClr val="black"/>
                </a:solidFill>
              </a:rPr>
              <a:t>It is valid from 150 MHz to 1500 </a:t>
            </a:r>
            <a:r>
              <a:rPr lang="en-US" dirty="0" err="1">
                <a:solidFill>
                  <a:prstClr val="black"/>
                </a:solidFill>
              </a:rPr>
              <a:t>MHz.</a:t>
            </a:r>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a:p>
            <a:r>
              <a:rPr lang="en-US" dirty="0">
                <a:solidFill>
                  <a:prstClr val="black"/>
                </a:solidFill>
              </a:rPr>
              <a:t>fc - frequency (in MHz) from 150 MHz to 1500 </a:t>
            </a:r>
            <a:r>
              <a:rPr lang="en-US" dirty="0" err="1">
                <a:solidFill>
                  <a:prstClr val="black"/>
                </a:solidFill>
              </a:rPr>
              <a:t>MHz.</a:t>
            </a:r>
            <a:endParaRPr lang="en-US" dirty="0">
              <a:solidFill>
                <a:prstClr val="black"/>
              </a:solidFill>
            </a:endParaRPr>
          </a:p>
          <a:p>
            <a:r>
              <a:rPr lang="en-US" dirty="0" err="1">
                <a:solidFill>
                  <a:prstClr val="black"/>
                </a:solidFill>
              </a:rPr>
              <a:t>h</a:t>
            </a:r>
            <a:r>
              <a:rPr lang="en-US" baseline="-25000" dirty="0" err="1">
                <a:solidFill>
                  <a:prstClr val="black"/>
                </a:solidFill>
              </a:rPr>
              <a:t>te</a:t>
            </a:r>
            <a:r>
              <a:rPr lang="en-US" dirty="0">
                <a:solidFill>
                  <a:prstClr val="black"/>
                </a:solidFill>
              </a:rPr>
              <a:t> –effective transmitter (base station) antenna height </a:t>
            </a:r>
          </a:p>
          <a:p>
            <a:r>
              <a:rPr lang="en-US" dirty="0" err="1">
                <a:solidFill>
                  <a:prstClr val="black"/>
                </a:solidFill>
              </a:rPr>
              <a:t>h</a:t>
            </a:r>
            <a:r>
              <a:rPr lang="en-US" baseline="-25000" dirty="0" err="1">
                <a:solidFill>
                  <a:prstClr val="black"/>
                </a:solidFill>
              </a:rPr>
              <a:t>re</a:t>
            </a:r>
            <a:r>
              <a:rPr lang="en-US" dirty="0">
                <a:solidFill>
                  <a:prstClr val="black"/>
                </a:solidFill>
              </a:rPr>
              <a:t> - effective receiver (mobile) antenna height </a:t>
            </a:r>
          </a:p>
          <a:p>
            <a:r>
              <a:rPr lang="en-US" dirty="0">
                <a:solidFill>
                  <a:prstClr val="black"/>
                </a:solidFill>
              </a:rPr>
              <a:t>d - T-R separation distance.</a:t>
            </a:r>
          </a:p>
          <a:p>
            <a:r>
              <a:rPr lang="en-US" dirty="0">
                <a:solidFill>
                  <a:prstClr val="black"/>
                </a:solidFill>
              </a:rPr>
              <a:t>α</a:t>
            </a:r>
            <a:r>
              <a:rPr lang="en-US" baseline="-25000" dirty="0" err="1">
                <a:solidFill>
                  <a:prstClr val="black"/>
                </a:solidFill>
              </a:rPr>
              <a:t>hre</a:t>
            </a:r>
            <a:r>
              <a:rPr lang="en-US" dirty="0">
                <a:solidFill>
                  <a:prstClr val="black"/>
                </a:solidFill>
              </a:rPr>
              <a:t>- correction factor for effective mobile antenna height (Function of the size of the coverage area)</a:t>
            </a:r>
          </a:p>
        </p:txBody>
      </p:sp>
      <p:pic>
        <p:nvPicPr>
          <p:cNvPr id="7" name="Picture 2"/>
          <p:cNvPicPr>
            <a:picLocks noChangeAspect="1" noChangeArrowheads="1"/>
          </p:cNvPicPr>
          <p:nvPr/>
        </p:nvPicPr>
        <p:blipFill>
          <a:blip r:embed="rId2"/>
          <a:srcRect l="26354" t="56250" r="37921" b="35417"/>
          <a:stretch>
            <a:fillRect/>
          </a:stretch>
        </p:blipFill>
        <p:spPr bwMode="auto">
          <a:xfrm>
            <a:off x="381741" y="2774827"/>
            <a:ext cx="5568518" cy="841753"/>
          </a:xfrm>
          <a:prstGeom prst="rect">
            <a:avLst/>
          </a:prstGeom>
          <a:noFill/>
          <a:ln w="9525">
            <a:solidFill>
              <a:srgbClr val="FF0000"/>
            </a:solidFill>
            <a:miter lim="800000"/>
            <a:headEnd/>
            <a:tailEnd/>
          </a:ln>
          <a:effectLst/>
        </p:spPr>
      </p:pic>
    </p:spTree>
    <p:extLst>
      <p:ext uri="{BB962C8B-B14F-4D97-AF65-F5344CB8AC3E}">
        <p14:creationId xmlns:p14="http://schemas.microsoft.com/office/powerpoint/2010/main" val="105057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err="1"/>
              <a:t>Hata</a:t>
            </a:r>
            <a:r>
              <a:rPr lang="en-US" dirty="0"/>
              <a:t> Model</a:t>
            </a:r>
          </a:p>
          <a:p>
            <a:endParaRPr lang="en-IN" dirty="0"/>
          </a:p>
        </p:txBody>
      </p:sp>
      <p:sp>
        <p:nvSpPr>
          <p:cNvPr id="3" name="Content Placeholder 2"/>
          <p:cNvSpPr>
            <a:spLocks noGrp="1"/>
          </p:cNvSpPr>
          <p:nvPr>
            <p:ph idx="1"/>
          </p:nvPr>
        </p:nvSpPr>
        <p:spPr/>
        <p:txBody>
          <a:bodyPr/>
          <a:lstStyle/>
          <a:p>
            <a:pPr marL="0" indent="0">
              <a:buNone/>
            </a:pPr>
            <a:r>
              <a:rPr lang="en-US" dirty="0"/>
              <a:t>Small to medium size city, </a:t>
            </a:r>
          </a:p>
          <a:p>
            <a:pPr marL="0" indent="0">
              <a:buNone/>
            </a:pPr>
            <a:r>
              <a:rPr lang="en-US" dirty="0"/>
              <a:t>α</a:t>
            </a:r>
            <a:r>
              <a:rPr lang="en-US" baseline="-25000" dirty="0" err="1"/>
              <a:t>hre</a:t>
            </a:r>
            <a:r>
              <a:rPr lang="en-US" baseline="-25000" dirty="0"/>
              <a:t> </a:t>
            </a:r>
            <a:r>
              <a:rPr lang="en-US" dirty="0"/>
              <a:t>  = (1.1logf</a:t>
            </a:r>
            <a:r>
              <a:rPr lang="en-US" baseline="-25000" dirty="0"/>
              <a:t>c</a:t>
            </a:r>
            <a:r>
              <a:rPr lang="en-US" dirty="0"/>
              <a:t>-0.7)</a:t>
            </a:r>
            <a:r>
              <a:rPr lang="en-US" dirty="0" err="1"/>
              <a:t>h</a:t>
            </a:r>
            <a:r>
              <a:rPr lang="en-US" baseline="-25000" dirty="0" err="1"/>
              <a:t>re</a:t>
            </a:r>
            <a:r>
              <a:rPr lang="en-US" dirty="0"/>
              <a:t> – (1.56logf</a:t>
            </a:r>
            <a:r>
              <a:rPr lang="en-US" baseline="-25000" dirty="0"/>
              <a:t>c</a:t>
            </a:r>
            <a:r>
              <a:rPr lang="en-US" dirty="0"/>
              <a:t>-0.8) dB </a:t>
            </a:r>
          </a:p>
          <a:p>
            <a:endParaRPr lang="en-US" dirty="0"/>
          </a:p>
          <a:p>
            <a:pPr marL="0" indent="0">
              <a:buNone/>
            </a:pPr>
            <a:r>
              <a:rPr lang="en-US" dirty="0"/>
              <a:t>For Large Cities,</a:t>
            </a:r>
          </a:p>
          <a:p>
            <a:pPr marL="0" indent="0">
              <a:buNone/>
            </a:pPr>
            <a:r>
              <a:rPr lang="en-US" dirty="0"/>
              <a:t>α</a:t>
            </a:r>
            <a:r>
              <a:rPr lang="en-US" baseline="-25000" dirty="0" err="1"/>
              <a:t>hre</a:t>
            </a:r>
            <a:r>
              <a:rPr lang="en-US" baseline="-25000" dirty="0"/>
              <a:t> </a:t>
            </a:r>
            <a:r>
              <a:rPr lang="en-US" dirty="0"/>
              <a:t>= 8.29(log 1.54h</a:t>
            </a:r>
            <a:r>
              <a:rPr lang="en-US" baseline="-25000" dirty="0"/>
              <a:t>re</a:t>
            </a:r>
            <a:r>
              <a:rPr lang="en-US" dirty="0"/>
              <a:t>)2 – 1.1 dB      f</a:t>
            </a:r>
            <a:r>
              <a:rPr lang="en-US" baseline="-25000" dirty="0"/>
              <a:t>c </a:t>
            </a:r>
            <a:r>
              <a:rPr lang="en-US" dirty="0"/>
              <a:t>≤ 300Mz</a:t>
            </a:r>
          </a:p>
          <a:p>
            <a:pPr marL="0" indent="0">
              <a:buNone/>
            </a:pPr>
            <a:r>
              <a:rPr lang="en-US" baseline="-25000" dirty="0"/>
              <a:t> </a:t>
            </a:r>
            <a:r>
              <a:rPr lang="en-US" dirty="0"/>
              <a:t>α</a:t>
            </a:r>
            <a:r>
              <a:rPr lang="en-US" baseline="-25000" dirty="0" err="1"/>
              <a:t>hre</a:t>
            </a:r>
            <a:r>
              <a:rPr lang="en-US" baseline="-25000" dirty="0"/>
              <a:t> </a:t>
            </a:r>
            <a:r>
              <a:rPr lang="en-US" dirty="0"/>
              <a:t>= 3.2(log11.75h</a:t>
            </a:r>
            <a:r>
              <a:rPr lang="en-US" baseline="-25000" dirty="0"/>
              <a:t>re</a:t>
            </a:r>
            <a:r>
              <a:rPr lang="en-US" dirty="0"/>
              <a:t>)2- 4.97dB        f</a:t>
            </a:r>
            <a:r>
              <a:rPr lang="en-US" baseline="-25000" dirty="0"/>
              <a:t>c</a:t>
            </a:r>
            <a:r>
              <a:rPr lang="en-US" dirty="0"/>
              <a:t>&gt;300Mhz</a:t>
            </a:r>
          </a:p>
          <a:p>
            <a:endParaRPr lang="en-US" dirty="0"/>
          </a:p>
          <a:p>
            <a:pPr marL="0" indent="0">
              <a:buNone/>
            </a:pPr>
            <a:r>
              <a:rPr lang="en-US" dirty="0"/>
              <a:t>The predictions of HATA model compare closely with </a:t>
            </a:r>
            <a:r>
              <a:rPr lang="en-US" dirty="0" err="1"/>
              <a:t>okumura</a:t>
            </a:r>
            <a:r>
              <a:rPr lang="en-US" dirty="0"/>
              <a:t> model as long as d exceeds 1KM</a:t>
            </a:r>
          </a:p>
          <a:p>
            <a:endParaRPr lang="en-US" baseline="-25000" dirty="0"/>
          </a:p>
          <a:p>
            <a:pPr marL="0" indent="0">
              <a:buNone/>
            </a:pPr>
            <a:r>
              <a:rPr lang="en-US" dirty="0"/>
              <a:t>Model is suited for large cell mobile systems but not personal communication systems which have cells of radius 1Km.</a:t>
            </a:r>
          </a:p>
          <a:p>
            <a:pPr marL="0" indent="0">
              <a:buNone/>
            </a:pPr>
            <a:r>
              <a:rPr lang="en-US" baseline="-25000" dirty="0"/>
              <a:t>  </a:t>
            </a:r>
            <a:endParaRPr lang="en-IN" dirty="0"/>
          </a:p>
          <a:p>
            <a:endParaRPr lang="en-IN" dirty="0"/>
          </a:p>
        </p:txBody>
      </p:sp>
    </p:spTree>
    <p:extLst>
      <p:ext uri="{BB962C8B-B14F-4D97-AF65-F5344CB8AC3E}">
        <p14:creationId xmlns:p14="http://schemas.microsoft.com/office/powerpoint/2010/main" val="2846737117"/>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Indoor Propagation Losses</a:t>
            </a:r>
          </a:p>
          <a:p>
            <a:endParaRPr lang="en-IN" dirty="0"/>
          </a:p>
        </p:txBody>
      </p:sp>
      <p:sp>
        <p:nvSpPr>
          <p:cNvPr id="3" name="Content Placeholder 2"/>
          <p:cNvSpPr>
            <a:spLocks noGrp="1"/>
          </p:cNvSpPr>
          <p:nvPr>
            <p:ph idx="1"/>
          </p:nvPr>
        </p:nvSpPr>
        <p:spPr/>
        <p:txBody>
          <a:bodyPr/>
          <a:lstStyle/>
          <a:p>
            <a:pPr marL="0" indent="0">
              <a:buNone/>
            </a:pPr>
            <a:r>
              <a:rPr lang="en-US" b="1" dirty="0">
                <a:solidFill>
                  <a:schemeClr val="tx2">
                    <a:lumMod val="60000"/>
                    <a:lumOff val="40000"/>
                  </a:schemeClr>
                </a:solidFill>
              </a:rPr>
              <a:t>Partition Losses</a:t>
            </a:r>
          </a:p>
          <a:p>
            <a:pPr>
              <a:buFontTx/>
              <a:buChar char="-"/>
            </a:pPr>
            <a:r>
              <a:rPr lang="en-US" dirty="0"/>
              <a:t>Partitions that are formed as a part of the building structure are called hard partitions.</a:t>
            </a:r>
          </a:p>
          <a:p>
            <a:pPr>
              <a:buFontTx/>
              <a:buChar char="-"/>
            </a:pPr>
            <a:r>
              <a:rPr lang="en-US" dirty="0"/>
              <a:t>Partitions that may be moved are called soft partitions.</a:t>
            </a:r>
          </a:p>
          <a:p>
            <a:pPr marL="0" indent="0"/>
            <a:endParaRPr lang="en-US" dirty="0"/>
          </a:p>
          <a:p>
            <a:pPr marL="0" indent="0">
              <a:buNone/>
            </a:pPr>
            <a:r>
              <a:rPr lang="en-US" dirty="0"/>
              <a:t>Partitions vary in their physical and electrical characteristics and hence variations in loss depending on the material .</a:t>
            </a:r>
          </a:p>
          <a:p>
            <a:pPr marL="0" indent="0">
              <a:buNone/>
            </a:pPr>
            <a:r>
              <a:rPr lang="en-US" dirty="0"/>
              <a:t>Example:</a:t>
            </a:r>
          </a:p>
          <a:p>
            <a:r>
              <a:rPr lang="en-US" dirty="0"/>
              <a:t>	</a:t>
            </a:r>
            <a:r>
              <a:rPr lang="en-US" dirty="0" err="1"/>
              <a:t>Alluminum</a:t>
            </a:r>
            <a:r>
              <a:rPr lang="en-US" dirty="0"/>
              <a:t> sliding  20.4dB at 815 MHz</a:t>
            </a:r>
          </a:p>
          <a:p>
            <a:r>
              <a:rPr lang="en-US" dirty="0"/>
              <a:t>	Concrete wall – 13dB at 1300Mhz</a:t>
            </a:r>
          </a:p>
          <a:p>
            <a:r>
              <a:rPr lang="en-US" dirty="0"/>
              <a:t>	Heavy textile inventory- 8-11dB at 1300Mz</a:t>
            </a:r>
          </a:p>
          <a:p>
            <a:pPr marL="0" indent="0">
              <a:buNone/>
            </a:pPr>
            <a:endParaRPr lang="en-IN" dirty="0"/>
          </a:p>
        </p:txBody>
      </p:sp>
    </p:spTree>
    <p:extLst>
      <p:ext uri="{BB962C8B-B14F-4D97-AF65-F5344CB8AC3E}">
        <p14:creationId xmlns:p14="http://schemas.microsoft.com/office/powerpoint/2010/main" val="3775629293"/>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solidFill>
                  <a:schemeClr val="tx2">
                    <a:lumMod val="60000"/>
                    <a:lumOff val="40000"/>
                  </a:schemeClr>
                </a:solidFill>
              </a:rPr>
              <a:t>Losses between the floors</a:t>
            </a:r>
            <a:r>
              <a:rPr lang="en-US" dirty="0"/>
              <a:t>:</a:t>
            </a:r>
          </a:p>
          <a:p>
            <a:pPr marL="0" indent="0">
              <a:buNone/>
            </a:pPr>
            <a:r>
              <a:rPr lang="en-US" dirty="0"/>
              <a:t>The losses between the floors of a building are determined </a:t>
            </a:r>
          </a:p>
          <a:p>
            <a:pPr marL="0" indent="0">
              <a:buNone/>
            </a:pPr>
            <a:r>
              <a:rPr lang="en-US" dirty="0"/>
              <a:t>	 -	Materials of the building</a:t>
            </a:r>
          </a:p>
          <a:p>
            <a:pPr marL="0" indent="0">
              <a:buNone/>
            </a:pPr>
            <a:endParaRPr lang="en-IN" dirty="0"/>
          </a:p>
        </p:txBody>
      </p:sp>
      <p:sp>
        <p:nvSpPr>
          <p:cNvPr id="4" name="Content Placeholder 2"/>
          <p:cNvSpPr>
            <a:spLocks noGrp="1"/>
          </p:cNvSpPr>
          <p:nvPr>
            <p:ph sz="quarter" idx="10"/>
          </p:nvPr>
        </p:nvSpPr>
        <p:spPr/>
        <p:txBody>
          <a:bodyPr/>
          <a:lstStyle/>
          <a:p>
            <a:endParaRPr lang="en-US" dirty="0"/>
          </a:p>
          <a:p>
            <a:r>
              <a:rPr lang="en-US" dirty="0"/>
              <a:t>Indoor Propagation Losses</a:t>
            </a:r>
          </a:p>
          <a:p>
            <a:endParaRPr lang="en-IN" dirty="0"/>
          </a:p>
        </p:txBody>
      </p:sp>
      <p:pic>
        <p:nvPicPr>
          <p:cNvPr id="5" name="Picture 4"/>
          <p:cNvPicPr>
            <a:picLocks noChangeAspect="1"/>
          </p:cNvPicPr>
          <p:nvPr/>
        </p:nvPicPr>
        <p:blipFill rotWithShape="1">
          <a:blip r:embed="rId2"/>
          <a:srcRect l="28917" t="54166" r="30674" b="10417"/>
          <a:stretch/>
        </p:blipFill>
        <p:spPr>
          <a:xfrm>
            <a:off x="1003176" y="2683296"/>
            <a:ext cx="6286870" cy="3097878"/>
          </a:xfrm>
          <a:prstGeom prst="rect">
            <a:avLst/>
          </a:prstGeom>
        </p:spPr>
      </p:pic>
      <p:sp>
        <p:nvSpPr>
          <p:cNvPr id="2" name="Rectangle 1"/>
          <p:cNvSpPr/>
          <p:nvPr/>
        </p:nvSpPr>
        <p:spPr>
          <a:xfrm>
            <a:off x="1003176" y="2683297"/>
            <a:ext cx="702334" cy="3212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8" name="Rectangle 7"/>
          <p:cNvSpPr/>
          <p:nvPr/>
        </p:nvSpPr>
        <p:spPr>
          <a:xfrm>
            <a:off x="7064329" y="5322844"/>
            <a:ext cx="1939631"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8732623"/>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Log Distance Path Loss Model</a:t>
            </a:r>
            <a:endParaRPr lang="en-IN" dirty="0"/>
          </a:p>
          <a:p>
            <a:endParaRPr lang="en-IN" dirty="0"/>
          </a:p>
        </p:txBody>
      </p:sp>
      <p:sp>
        <p:nvSpPr>
          <p:cNvPr id="3" name="Content Placeholder 2"/>
          <p:cNvSpPr>
            <a:spLocks noGrp="1"/>
          </p:cNvSpPr>
          <p:nvPr>
            <p:ph idx="1"/>
          </p:nvPr>
        </p:nvSpPr>
        <p:spPr/>
        <p:txBody>
          <a:bodyPr/>
          <a:lstStyle/>
          <a:p>
            <a:pPr marL="0" indent="0">
              <a:buNone/>
            </a:pPr>
            <a:r>
              <a:rPr lang="en-US" dirty="0"/>
              <a:t>Indoor propagation loss obey the distance power law equation</a:t>
            </a:r>
          </a:p>
          <a:p>
            <a:endParaRPr lang="en-US" dirty="0"/>
          </a:p>
          <a:p>
            <a:pPr marL="0" indent="0">
              <a:buNone/>
            </a:pPr>
            <a:r>
              <a:rPr lang="en-US" dirty="0"/>
              <a:t>PL(dB)= PL(d</a:t>
            </a:r>
            <a:r>
              <a:rPr lang="en-US" baseline="-25000" dirty="0"/>
              <a:t>0</a:t>
            </a:r>
            <a:r>
              <a:rPr lang="en-US" dirty="0"/>
              <a:t>) +10nlog(d/d</a:t>
            </a:r>
            <a:r>
              <a:rPr lang="en-US" baseline="-25000" dirty="0"/>
              <a:t>0</a:t>
            </a:r>
            <a:r>
              <a:rPr lang="en-US" dirty="0"/>
              <a:t>) +x</a:t>
            </a:r>
            <a:r>
              <a:rPr lang="el-GR" baseline="-25000" dirty="0"/>
              <a:t>σ</a:t>
            </a:r>
            <a:endParaRPr lang="en-US" baseline="-25000" dirty="0"/>
          </a:p>
          <a:p>
            <a:endParaRPr lang="en-US" baseline="-25000" dirty="0"/>
          </a:p>
          <a:p>
            <a:pPr marL="0" indent="0">
              <a:buNone/>
            </a:pPr>
            <a:r>
              <a:rPr lang="en-US" dirty="0"/>
              <a:t>n – depends on surrounding and building type. </a:t>
            </a:r>
          </a:p>
          <a:p>
            <a:pPr marL="0" indent="0">
              <a:buNone/>
            </a:pPr>
            <a:r>
              <a:rPr lang="en-US" dirty="0"/>
              <a:t>x</a:t>
            </a:r>
            <a:r>
              <a:rPr lang="el-GR" baseline="-25000" dirty="0"/>
              <a:t>σ </a:t>
            </a:r>
            <a:r>
              <a:rPr lang="en-US" baseline="-25000" dirty="0"/>
              <a:t>: </a:t>
            </a:r>
            <a:r>
              <a:rPr lang="en-US" dirty="0"/>
              <a:t>Normal random variable in dB having standard deviation of </a:t>
            </a:r>
            <a:r>
              <a:rPr lang="el-GR" dirty="0"/>
              <a:t>σ</a:t>
            </a:r>
            <a:r>
              <a:rPr lang="en-US" dirty="0"/>
              <a:t>. </a:t>
            </a:r>
          </a:p>
          <a:p>
            <a:endParaRPr lang="en-IN" baseline="-25000" dirty="0"/>
          </a:p>
          <a:p>
            <a:endParaRPr lang="en-IN" dirty="0"/>
          </a:p>
        </p:txBody>
      </p:sp>
    </p:spTree>
    <p:extLst>
      <p:ext uri="{BB962C8B-B14F-4D97-AF65-F5344CB8AC3E}">
        <p14:creationId xmlns:p14="http://schemas.microsoft.com/office/powerpoint/2010/main" val="2632219964"/>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Log Distance Path Loss Model</a:t>
            </a:r>
            <a:endParaRPr lang="en-IN" dirty="0"/>
          </a:p>
        </p:txBody>
      </p:sp>
      <p:pic>
        <p:nvPicPr>
          <p:cNvPr id="5" name="Content Placeholder 6"/>
          <p:cNvPicPr>
            <a:picLocks noChangeAspect="1"/>
          </p:cNvPicPr>
          <p:nvPr/>
        </p:nvPicPr>
        <p:blipFill rotWithShape="1">
          <a:blip r:embed="rId2"/>
          <a:srcRect l="29176" t="32670" r="31069" b="15151"/>
          <a:stretch/>
        </p:blipFill>
        <p:spPr bwMode="auto">
          <a:xfrm>
            <a:off x="767602" y="1814181"/>
            <a:ext cx="6015802" cy="40537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767602" y="1814181"/>
            <a:ext cx="650232" cy="1835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N" kern="1200">
              <a:solidFill>
                <a:prstClr val="white"/>
              </a:solidFill>
              <a:latin typeface="Calibri"/>
            </a:endParaRPr>
          </a:p>
        </p:txBody>
      </p:sp>
      <p:sp>
        <p:nvSpPr>
          <p:cNvPr id="6" name="Rectangle 5"/>
          <p:cNvSpPr/>
          <p:nvPr/>
        </p:nvSpPr>
        <p:spPr>
          <a:xfrm>
            <a:off x="7068621" y="5409579"/>
            <a:ext cx="1939631" cy="458331"/>
          </a:xfrm>
          <a:prstGeom prst="rect">
            <a:avLst/>
          </a:prstGeom>
        </p:spPr>
        <p:txBody>
          <a:bodyPr wrap="square">
            <a:spAutoFit/>
          </a:bodyPr>
          <a:lstStyle/>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Courtesy to Theodore S. Rappaport       </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algn="l" rtl="0">
              <a:lnSpc>
                <a:spcPct val="107000"/>
              </a:lnSpc>
              <a:spcAft>
                <a:spcPts val="800"/>
              </a:spcAft>
            </a:pPr>
            <a:r>
              <a:rPr lang="en-IN" sz="800" kern="1200" dirty="0">
                <a:solidFill>
                  <a:prstClr val="black"/>
                </a:solidFill>
                <a:latin typeface="Arial" panose="020B0604020202020204" pitchFamily="34" charset="0"/>
                <a:ea typeface="Calibri" panose="020F0502020204030204" pitchFamily="34" charset="0"/>
                <a:cs typeface="Times New Roman" panose="02020603050405020304" pitchFamily="18" charset="0"/>
              </a:rPr>
              <a:t>©2002, 1996 Prentice Hall PTR</a:t>
            </a:r>
            <a:endParaRPr lang="en-IN" sz="800" kern="12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5036667"/>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US" dirty="0"/>
              <a:t>Longley rice model  is the terrain model suitable in the range of frequency 400MHz to 100GHz</a:t>
            </a:r>
          </a:p>
          <a:p>
            <a:r>
              <a:rPr lang="en-US" dirty="0"/>
              <a:t>Various Parametric models like Okumura model and </a:t>
            </a:r>
            <a:r>
              <a:rPr lang="en-US" dirty="0" err="1"/>
              <a:t>Hata</a:t>
            </a:r>
            <a:r>
              <a:rPr lang="en-US" dirty="0"/>
              <a:t> model for urban areas. </a:t>
            </a:r>
          </a:p>
          <a:p>
            <a:r>
              <a:rPr lang="en-US" dirty="0"/>
              <a:t>Indoor propagation losses like partition loss, floor loss depends on the material used, their physical and electrical characteristics.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ITS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TotalTime>
  <Words>25898</Words>
  <Application>Microsoft Office PowerPoint</Application>
  <PresentationFormat>On-screen Show (4:3)</PresentationFormat>
  <Paragraphs>3109</Paragraphs>
  <Slides>322</Slides>
  <Notes>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322</vt:i4>
      </vt:variant>
    </vt:vector>
  </HeadingPairs>
  <TitlesOfParts>
    <vt:vector size="334" baseType="lpstr">
      <vt:lpstr>新細明體</vt:lpstr>
      <vt:lpstr>Arial</vt:lpstr>
      <vt:lpstr>Arial MT</vt:lpstr>
      <vt:lpstr>Calibri</vt:lpstr>
      <vt:lpstr>Cambria Math</vt:lpstr>
      <vt:lpstr>Symbol</vt:lpstr>
      <vt:lpstr>Times New Roman</vt:lpstr>
      <vt:lpstr>Wingdings</vt:lpstr>
      <vt:lpstr>Office Theme</vt:lpstr>
      <vt:lpstr>BITS_PPT_template</vt:lpstr>
      <vt:lpstr>1_Office Theme</vt:lpstr>
      <vt:lpstr>2_Office Theme</vt:lpstr>
      <vt:lpstr>Programming Language:</vt:lpstr>
      <vt:lpstr>Introduction</vt:lpstr>
      <vt:lpstr>Introduction</vt:lpstr>
      <vt:lpstr>PowerPoint Presentation</vt:lpstr>
      <vt:lpstr>PowerPoint Presentation</vt:lpstr>
      <vt:lpstr>PowerPoint Presentation</vt:lpstr>
      <vt:lpstr>PowerPoint Presentation</vt:lpstr>
      <vt:lpstr>PowerPoint Presentation</vt:lpstr>
      <vt:lpstr>PowerPoint Presentation</vt:lpstr>
      <vt:lpstr>How It A l Started</vt:lpstr>
      <vt:lpstr>How It A l Started</vt:lpstr>
      <vt:lpstr>Types of Services</vt:lpstr>
      <vt:lpstr>Types of Services</vt:lpstr>
      <vt:lpstr>Broadcast</vt:lpstr>
      <vt:lpstr>Broadcast</vt:lpstr>
      <vt:lpstr>Paging</vt:lpstr>
      <vt:lpstr>Paging</vt:lpstr>
      <vt:lpstr>Cellular Telephony</vt:lpstr>
      <vt:lpstr>Cellular Telephony</vt:lpstr>
      <vt:lpstr>Trunking Radio</vt:lpstr>
      <vt:lpstr>Trunking Radio</vt:lpstr>
      <vt:lpstr>Trunking Radio</vt:lpstr>
      <vt:lpstr>PowerPoint Presentation</vt:lpstr>
      <vt:lpstr>PowerPoint Presentation</vt:lpstr>
      <vt:lpstr>PowerPoint Presentation</vt:lpstr>
      <vt:lpstr>Wireless Local Area Networks</vt:lpstr>
      <vt:lpstr>Wireless Local Area Networks</vt:lpstr>
      <vt:lpstr>Wireless Local Area Networks</vt:lpstr>
      <vt:lpstr>Personal Area Networks</vt:lpstr>
      <vt:lpstr>Personal Area Networks</vt:lpstr>
      <vt:lpstr>Personal Area Networks</vt:lpstr>
      <vt:lpstr>Fixed Wireless Access</vt:lpstr>
      <vt:lpstr>Fixed Wireless Access</vt:lpstr>
      <vt:lpstr>Fixed Wireless Access</vt:lpstr>
      <vt:lpstr>Requirements for the Services</vt:lpstr>
      <vt:lpstr>Data Rate</vt:lpstr>
      <vt:lpstr>Data Rate</vt:lpstr>
      <vt:lpstr>Range and Number of Users</vt:lpstr>
      <vt:lpstr>Range and Number of Users</vt:lpstr>
      <vt:lpstr>PowerPoint Presentation</vt:lpstr>
      <vt:lpstr>PowerPoint Presentation</vt:lpstr>
      <vt:lpstr>PowerPoint Presentation</vt:lpstr>
      <vt:lpstr>PowerPoint Presentation</vt:lpstr>
      <vt:lpstr>Mobility</vt:lpstr>
      <vt:lpstr>Mobility</vt:lpstr>
      <vt:lpstr>Mobility</vt:lpstr>
      <vt:lpstr>Energy Consumption</vt:lpstr>
      <vt:lpstr>Energy Consumption</vt:lpstr>
      <vt:lpstr>Use of Spectrum</vt:lpstr>
      <vt:lpstr>Use of Spectrum</vt:lpstr>
      <vt:lpstr>Direction of Transmission (The duplex concept )</vt:lpstr>
      <vt:lpstr>Direction of Transmission (The duplex concept )</vt:lpstr>
      <vt:lpstr>Direction of Transmission (The duplex concept )</vt:lpstr>
      <vt:lpstr>Wireless communication systems</vt:lpstr>
      <vt:lpstr>Wireless communication systems</vt:lpstr>
      <vt:lpstr>Wireless communication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Cellular Network- 1G</vt:lpstr>
      <vt:lpstr>In AMPS, two 25-MHz bands are allocated. One 25-MHz band is for communication from BS to mobile unit and the other for communication from mobile unit to BS.</vt:lpstr>
      <vt:lpstr>Cellular Network-2G</vt:lpstr>
      <vt:lpstr>Digital modulation formats were introduced in this generation with the main technology as TDMA/FDD Data Speed: upto 64kbps</vt:lpstr>
      <vt:lpstr>PowerPoint Presentation</vt:lpstr>
      <vt:lpstr>Interim generation (2.5G )</vt:lpstr>
      <vt:lpstr>Cellular Network- 3G</vt:lpstr>
      <vt:lpstr>PowerPoint Presentation</vt:lpstr>
      <vt:lpstr>PowerPoint Presentation</vt:lpstr>
      <vt:lpstr>Cellular Network- 4G</vt:lpstr>
      <vt:lpstr>Features of 4G</vt:lpstr>
      <vt:lpstr>Advantages of 4G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Prioritizing Handoffs</vt:lpstr>
      <vt:lpstr>Prioritizing Handoffs</vt:lpstr>
      <vt:lpstr>Practical Handoff Considerations</vt:lpstr>
      <vt:lpstr>HOME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Wireless communication systems</vt:lpstr>
      <vt:lpstr>Direction of Transmission (The duplex concept )</vt:lpstr>
      <vt:lpstr>Ce lular Geometry</vt:lpstr>
      <vt:lpstr>Ce l Shapes</vt:lpstr>
      <vt:lpstr>PowerPoint Presentation</vt:lpstr>
      <vt:lpstr>PowerPoint Presentation</vt:lpstr>
      <vt:lpstr>Introduction to ce lular concept</vt:lpstr>
      <vt:lpstr>PowerPoint Presentation</vt:lpstr>
      <vt:lpstr>PowerPoint Presentation</vt:lpstr>
      <vt:lpstr>PowerPoint Presentation</vt:lpstr>
      <vt:lpstr>PowerPoint Presentation</vt:lpstr>
      <vt:lpstr>EX: The bandwidth allocated to a particular FDD cellular system is 33 MHz. It uses two 25 kHz simplex channels to provide full duplex voice and control channels, compute the number of channels available per cell if a system uses</vt:lpstr>
      <vt:lpstr>PowerPoint Presentation</vt:lpstr>
      <vt:lpstr>To understand the frequency reuse concept, Consider a cellular system which has a total of S duplex channels available for use in a cluster</vt:lpstr>
      <vt:lpstr>PowerPoint Presentation</vt:lpstr>
      <vt:lpstr>PowerPoint Presentation</vt:lpstr>
      <vt:lpstr>PowerPoint Presentation</vt:lpstr>
      <vt:lpstr>Co-channel Interference</vt:lpstr>
      <vt:lpstr>Relationship between frequency reuse factor (D/R) and cluster size (N)</vt:lpstr>
      <vt:lpstr>PowerPoint Presentation</vt:lpstr>
      <vt:lpstr>PowerPoint Presentation</vt:lpstr>
      <vt:lpstr>Channel Assignment Strategies</vt:lpstr>
      <vt:lpstr>PowerPoint Presentation</vt:lpstr>
      <vt:lpstr>PowerPoint Presentation</vt:lpstr>
      <vt:lpstr>PowerPoint Presentation</vt:lpstr>
      <vt:lpstr>PowerPoint Presentation</vt:lpstr>
      <vt:lpstr>PowerPoint Presentation</vt:lpstr>
      <vt:lpstr>PowerPoint Presentation</vt:lpstr>
      <vt:lpstr>Prioritizing Handoffs</vt:lpstr>
      <vt:lpstr>Practical Handoff Considerations</vt:lpstr>
      <vt:lpstr>HOME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Interference and System Capacity</vt:lpstr>
      <vt:lpstr>Co-channel Interference and System Capacity</vt:lpstr>
      <vt:lpstr>PowerPoint Presentation</vt:lpstr>
      <vt:lpstr>PowerPoint Presentation</vt:lpstr>
      <vt:lpstr>The average received power 𝑃𝑟 at a distance d is from the transmitting antenna is</vt:lpstr>
      <vt:lpstr>𝑅−𝑛</vt:lpstr>
      <vt:lpstr>PowerPoint Presentation</vt:lpstr>
      <vt:lpstr>PowerPoint Presentation</vt:lpstr>
      <vt:lpstr>In practice, a capacity reduction of 7/9 would not be tolerable to accommodate for the worst case situation which rarely occurs.</vt:lpstr>
      <vt:lpstr>PowerPoint Presentation</vt:lpstr>
      <vt:lpstr>let us consider a seven-cell reuse pattern.</vt:lpstr>
      <vt:lpstr>Channel Planning for Wireless System</vt:lpstr>
      <vt:lpstr>Adjacent Channel Interference</vt:lpstr>
      <vt:lpstr>PowerPoint Presentation</vt:lpstr>
      <vt:lpstr>PowerPoint Presentation</vt:lpstr>
      <vt:lpstr>PowerPoint Presentation</vt:lpstr>
      <vt:lpstr>PowerPoint Presentation</vt:lpstr>
      <vt:lpstr>PowerPoint Presentation</vt:lpstr>
      <vt:lpstr>PowerPoint Presentation</vt:lpstr>
      <vt:lpstr>Power Control for Reducing Interference</vt:lpstr>
      <vt:lpstr>Trunking and Grade of Service</vt:lpstr>
      <vt:lpstr>PowerPoint Presentation</vt:lpstr>
      <vt:lpstr>The grade of service (GOS) is a measure of the ability of a  user to access a trunked system during the busiest hour, and is typically given as the likelihood that a call is blocked, or the likelihood of a call experiencing a delay greater than a certain queuing time.</vt:lpstr>
      <vt:lpstr>Definitions of Common Terms Used in Trunking Theory</vt:lpstr>
      <vt:lpstr>Grade of Service (GOS) – A measure of congestion which is specified as the probability of a call being blocked (for Erlang B), or the probability of a call being delayed beyond a certain amount of time (for Erlang C).</vt:lpstr>
      <vt:lpstr>Au   H</vt:lpstr>
      <vt:lpstr>PowerPoint Presentation</vt:lpstr>
      <vt:lpstr>PowerPoint Presentation</vt:lpstr>
      <vt:lpstr>PowerPoint Presentation</vt:lpstr>
      <vt:lpstr>PowerPoint Presentation</vt:lpstr>
      <vt:lpstr>Improving Coverage and Capacity in Cellular Systems</vt:lpstr>
      <vt:lpstr>PowerPoint Presentation</vt:lpstr>
      <vt:lpstr>Sectoring</vt:lpstr>
      <vt:lpstr>PowerPoint Presentation</vt:lpstr>
      <vt:lpstr>PowerPoint Presentation</vt:lpstr>
      <vt:lpstr>Repeaters for Range Extension</vt:lpstr>
      <vt:lpstr>Microcell Zone Concept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Abid AK</cp:lastModifiedBy>
  <cp:revision>4</cp:revision>
  <dcterms:created xsi:type="dcterms:W3CDTF">2025-04-04T07:32:37Z</dcterms:created>
  <dcterms:modified xsi:type="dcterms:W3CDTF">2025-04-17T13:04:31Z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2024-03-09T00:00:00Z</vt:filetime>
  </property>
  <property fmtid="{D5CDD505-2E9C-101B-9397-08002B2CF9AE}" pid="3" name="Creator">
    <vt:lpwstr>Microsoft® PowerPoint® 2010</vt:lpwstr>
  </property>
  <property fmtid="{D5CDD505-2E9C-101B-9397-08002B2CF9AE}" pid="4" name="LastSaved">
    <vt:filetime>2025-04-04T00:00:00Z</vt:filetime>
  </property>
  <property fmtid="{D5CDD505-2E9C-101B-9397-08002B2CF9AE}" pid="5" name="Producer">
    <vt:lpwstr>Microsoft® PowerPoint® 2010</vt:lpwstr>
  </property>
</Properties>
</file>