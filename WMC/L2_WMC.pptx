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4"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714"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7999"/>
          </a:xfrm>
          <a:prstGeom prst="rect">
            <a:avLst/>
          </a:prstGeom>
        </p:spPr>
      </p:pic>
      <p:sp>
        <p:nvSpPr>
          <p:cNvPr id="17" name="bg object 17"/>
          <p:cNvSpPr/>
          <p:nvPr/>
        </p:nvSpPr>
        <p:spPr>
          <a:xfrm>
            <a:off x="0" y="4282185"/>
            <a:ext cx="9144000" cy="2576195"/>
          </a:xfrm>
          <a:custGeom>
            <a:avLst/>
            <a:gdLst/>
            <a:ahLst/>
            <a:cxnLst/>
            <a:rect l="l" t="t" r="r" b="b"/>
            <a:pathLst>
              <a:path w="9144000" h="2576195">
                <a:moveTo>
                  <a:pt x="9144000" y="0"/>
                </a:moveTo>
                <a:lnTo>
                  <a:pt x="0" y="0"/>
                </a:lnTo>
                <a:lnTo>
                  <a:pt x="0" y="2575814"/>
                </a:lnTo>
                <a:lnTo>
                  <a:pt x="9144000" y="2575814"/>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4282185"/>
            <a:ext cx="9144000" cy="2576195"/>
          </a:xfrm>
          <a:custGeom>
            <a:avLst/>
            <a:gdLst/>
            <a:ahLst/>
            <a:cxnLst/>
            <a:rect l="l" t="t" r="r" b="b"/>
            <a:pathLst>
              <a:path w="9144000" h="2576195">
                <a:moveTo>
                  <a:pt x="0" y="2575814"/>
                </a:moveTo>
                <a:lnTo>
                  <a:pt x="9144000" y="2575814"/>
                </a:lnTo>
                <a:lnTo>
                  <a:pt x="9144000" y="0"/>
                </a:lnTo>
                <a:lnTo>
                  <a:pt x="0" y="0"/>
                </a:lnTo>
                <a:lnTo>
                  <a:pt x="0" y="2575814"/>
                </a:lnTo>
                <a:close/>
              </a:path>
            </a:pathLst>
          </a:custGeom>
          <a:ln w="9525">
            <a:solidFill>
              <a:srgbClr val="497DBA"/>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6629400" y="0"/>
            <a:ext cx="2193163" cy="692658"/>
          </a:xfrm>
          <a:prstGeom prst="rect">
            <a:avLst/>
          </a:prstGeom>
        </p:spPr>
      </p:pic>
      <p:sp>
        <p:nvSpPr>
          <p:cNvPr id="20" name="bg object 20"/>
          <p:cNvSpPr/>
          <p:nvPr/>
        </p:nvSpPr>
        <p:spPr>
          <a:xfrm>
            <a:off x="2882900" y="677545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21" name="bg object 21"/>
          <p:cNvSpPr/>
          <p:nvPr/>
        </p:nvSpPr>
        <p:spPr>
          <a:xfrm>
            <a:off x="0" y="6775450"/>
            <a:ext cx="2882900" cy="76200"/>
          </a:xfrm>
          <a:custGeom>
            <a:avLst/>
            <a:gdLst/>
            <a:ahLst/>
            <a:cxnLst/>
            <a:rect l="l" t="t" r="r" b="b"/>
            <a:pathLst>
              <a:path w="2882900" h="76200">
                <a:moveTo>
                  <a:pt x="2882900" y="0"/>
                </a:moveTo>
                <a:lnTo>
                  <a:pt x="0" y="0"/>
                </a:lnTo>
                <a:lnTo>
                  <a:pt x="0" y="76200"/>
                </a:lnTo>
                <a:lnTo>
                  <a:pt x="2882900" y="76200"/>
                </a:lnTo>
                <a:lnTo>
                  <a:pt x="2882900" y="0"/>
                </a:lnTo>
                <a:close/>
              </a:path>
            </a:pathLst>
          </a:custGeom>
          <a:solidFill>
            <a:srgbClr val="FBAF17"/>
          </a:solidFill>
        </p:spPr>
        <p:txBody>
          <a:bodyPr wrap="square" lIns="0" tIns="0" rIns="0" bIns="0" rtlCol="0"/>
          <a:lstStyle/>
          <a:p>
            <a:endParaRPr/>
          </a:p>
        </p:txBody>
      </p:sp>
      <p:sp>
        <p:nvSpPr>
          <p:cNvPr id="22" name="bg object 22"/>
          <p:cNvSpPr/>
          <p:nvPr/>
        </p:nvSpPr>
        <p:spPr>
          <a:xfrm>
            <a:off x="5778500" y="677545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sp>
        <p:nvSpPr>
          <p:cNvPr id="2" name="Holder 2"/>
          <p:cNvSpPr>
            <a:spLocks noGrp="1"/>
          </p:cNvSpPr>
          <p:nvPr>
            <p:ph type="ctrTitle"/>
          </p:nvPr>
        </p:nvSpPr>
        <p:spPr>
          <a:xfrm>
            <a:off x="7135114" y="719368"/>
            <a:ext cx="1676400" cy="69088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100734" y="4589145"/>
            <a:ext cx="6885940" cy="11684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6950836" y="0"/>
            <a:ext cx="2193163" cy="692658"/>
          </a:xfrm>
          <a:prstGeom prst="rect">
            <a:avLst/>
          </a:prstGeom>
        </p:spPr>
      </p:pic>
      <p:sp>
        <p:nvSpPr>
          <p:cNvPr id="20" name="bg object 20"/>
          <p:cNvSpPr/>
          <p:nvPr/>
        </p:nvSpPr>
        <p:spPr>
          <a:xfrm>
            <a:off x="4495800"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1" name="bg object 21"/>
          <p:cNvSpPr/>
          <p:nvPr/>
        </p:nvSpPr>
        <p:spPr>
          <a:xfrm>
            <a:off x="2133600" y="6553201"/>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6815454"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0" name="bg object 20"/>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6629400" y="0"/>
            <a:ext cx="2193163" cy="692658"/>
          </a:xfrm>
          <a:prstGeom prst="rect">
            <a:avLst/>
          </a:prstGeom>
        </p:spPr>
      </p:pic>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383540" y="-27797"/>
            <a:ext cx="5812155" cy="121004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383540" y="1443355"/>
            <a:ext cx="8529320" cy="470852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585842" y="6639430"/>
            <a:ext cx="44780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4/10/2025</a:t>
            </a:fld>
            <a:endParaRPr lang="en-US"/>
          </a:p>
        </p:txBody>
      </p:sp>
      <p:sp>
        <p:nvSpPr>
          <p:cNvPr id="6" name="Holder 6"/>
          <p:cNvSpPr>
            <a:spLocks noGrp="1"/>
          </p:cNvSpPr>
          <p:nvPr>
            <p:ph type="sldNum" sz="quarter" idx="7"/>
          </p:nvPr>
        </p:nvSpPr>
        <p:spPr>
          <a:xfrm>
            <a:off x="8843518" y="6191005"/>
            <a:ext cx="259715" cy="196214"/>
          </a:xfrm>
          <a:prstGeom prst="rect">
            <a:avLst/>
          </a:prstGeom>
        </p:spPr>
        <p:txBody>
          <a:bodyPr wrap="square" lIns="0" tIns="0" rIns="0" bIns="0">
            <a:spAutoFit/>
          </a:bodyPr>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2305" rIns="0" bIns="0" rtlCol="0">
            <a:spAutoFit/>
          </a:bodyPr>
          <a:lstStyle/>
          <a:p>
            <a:pPr marL="12700" marR="5080">
              <a:lnSpc>
                <a:spcPts val="3600"/>
              </a:lnSpc>
              <a:spcBef>
                <a:spcPts val="819"/>
              </a:spcBef>
            </a:pPr>
            <a:r>
              <a:rPr spc="-155" dirty="0"/>
              <a:t>Wireless</a:t>
            </a:r>
            <a:r>
              <a:rPr spc="-195" dirty="0"/>
              <a:t> </a:t>
            </a:r>
            <a:r>
              <a:rPr spc="-150" dirty="0"/>
              <a:t>communication </a:t>
            </a:r>
            <a:r>
              <a:rPr spc="-25" dirty="0"/>
              <a:t>systems</a:t>
            </a:r>
          </a:p>
        </p:txBody>
      </p:sp>
      <p:sp>
        <p:nvSpPr>
          <p:cNvPr id="3" name="object 3"/>
          <p:cNvSpPr txBox="1"/>
          <p:nvPr/>
        </p:nvSpPr>
        <p:spPr>
          <a:xfrm>
            <a:off x="372135" y="2057463"/>
            <a:ext cx="1531620" cy="584835"/>
          </a:xfrm>
          <a:prstGeom prst="rect">
            <a:avLst/>
          </a:prstGeom>
          <a:solidFill>
            <a:srgbClr val="C5D9F0"/>
          </a:solidFill>
          <a:ln w="9525">
            <a:solidFill>
              <a:srgbClr val="000000"/>
            </a:solidFill>
          </a:ln>
        </p:spPr>
        <p:txBody>
          <a:bodyPr vert="horz" wrap="square" lIns="0" tIns="33020" rIns="0" bIns="0" rtlCol="0">
            <a:spAutoFit/>
          </a:bodyPr>
          <a:lstStyle/>
          <a:p>
            <a:pPr marL="91440">
              <a:lnSpc>
                <a:spcPct val="100000"/>
              </a:lnSpc>
              <a:spcBef>
                <a:spcPts val="260"/>
              </a:spcBef>
            </a:pPr>
            <a:r>
              <a:rPr sz="1600" b="1" spc="-10" dirty="0">
                <a:latin typeface="Calibri"/>
                <a:cs typeface="Calibri"/>
              </a:rPr>
              <a:t>Information</a:t>
            </a:r>
            <a:r>
              <a:rPr sz="1600" b="1" spc="10" dirty="0">
                <a:latin typeface="Calibri"/>
                <a:cs typeface="Calibri"/>
              </a:rPr>
              <a:t> </a:t>
            </a:r>
            <a:r>
              <a:rPr sz="1600" b="1" spc="-25" dirty="0">
                <a:latin typeface="Calibri"/>
                <a:cs typeface="Calibri"/>
              </a:rPr>
              <a:t>to</a:t>
            </a:r>
            <a:endParaRPr sz="1600">
              <a:latin typeface="Calibri"/>
              <a:cs typeface="Calibri"/>
            </a:endParaRPr>
          </a:p>
          <a:p>
            <a:pPr marL="91440">
              <a:lnSpc>
                <a:spcPct val="100000"/>
              </a:lnSpc>
              <a:spcBef>
                <a:spcPts val="5"/>
              </a:spcBef>
            </a:pPr>
            <a:r>
              <a:rPr sz="1600" b="1" dirty="0">
                <a:latin typeface="Calibri"/>
                <a:cs typeface="Calibri"/>
              </a:rPr>
              <a:t>be</a:t>
            </a:r>
            <a:r>
              <a:rPr sz="1600" b="1" spc="-10" dirty="0">
                <a:latin typeface="Calibri"/>
                <a:cs typeface="Calibri"/>
              </a:rPr>
              <a:t> transmitted</a:t>
            </a:r>
            <a:endParaRPr sz="1600">
              <a:latin typeface="Calibri"/>
              <a:cs typeface="Calibri"/>
            </a:endParaRPr>
          </a:p>
        </p:txBody>
      </p:sp>
      <p:sp>
        <p:nvSpPr>
          <p:cNvPr id="4" name="object 4"/>
          <p:cNvSpPr txBox="1"/>
          <p:nvPr/>
        </p:nvSpPr>
        <p:spPr>
          <a:xfrm>
            <a:off x="2172461"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1440">
              <a:lnSpc>
                <a:spcPct val="100000"/>
              </a:lnSpc>
              <a:spcBef>
                <a:spcPts val="244"/>
              </a:spcBef>
            </a:pPr>
            <a:r>
              <a:rPr sz="1800" spc="-10" dirty="0">
                <a:latin typeface="Calibri"/>
                <a:cs typeface="Calibri"/>
              </a:rPr>
              <a:t>coding</a:t>
            </a:r>
            <a:endParaRPr sz="1800">
              <a:latin typeface="Calibri"/>
              <a:cs typeface="Calibri"/>
            </a:endParaRPr>
          </a:p>
        </p:txBody>
      </p:sp>
      <p:sp>
        <p:nvSpPr>
          <p:cNvPr id="5" name="object 5"/>
          <p:cNvSpPr txBox="1"/>
          <p:nvPr/>
        </p:nvSpPr>
        <p:spPr>
          <a:xfrm>
            <a:off x="3874642"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2075">
              <a:lnSpc>
                <a:spcPct val="100000"/>
              </a:lnSpc>
              <a:spcBef>
                <a:spcPts val="244"/>
              </a:spcBef>
            </a:pPr>
            <a:r>
              <a:rPr sz="1800" spc="-10" dirty="0">
                <a:latin typeface="Calibri"/>
                <a:cs typeface="Calibri"/>
              </a:rPr>
              <a:t>Modulator</a:t>
            </a:r>
            <a:endParaRPr sz="1800">
              <a:latin typeface="Calibri"/>
              <a:cs typeface="Calibri"/>
            </a:endParaRPr>
          </a:p>
        </p:txBody>
      </p:sp>
      <p:sp>
        <p:nvSpPr>
          <p:cNvPr id="6" name="object 6"/>
          <p:cNvSpPr txBox="1"/>
          <p:nvPr/>
        </p:nvSpPr>
        <p:spPr>
          <a:xfrm>
            <a:off x="5698490" y="2131275"/>
            <a:ext cx="1545590" cy="383540"/>
          </a:xfrm>
          <a:prstGeom prst="rect">
            <a:avLst/>
          </a:prstGeom>
          <a:solidFill>
            <a:srgbClr val="C5D9F0"/>
          </a:solidFill>
          <a:ln w="9525">
            <a:solidFill>
              <a:srgbClr val="000000"/>
            </a:solidFill>
          </a:ln>
        </p:spPr>
        <p:txBody>
          <a:bodyPr vert="horz" wrap="square" lIns="0" tIns="31114" rIns="0" bIns="0" rtlCol="0">
            <a:spAutoFit/>
          </a:bodyPr>
          <a:lstStyle/>
          <a:p>
            <a:pPr marL="92075">
              <a:lnSpc>
                <a:spcPct val="100000"/>
              </a:lnSpc>
              <a:spcBef>
                <a:spcPts val="244"/>
              </a:spcBef>
            </a:pPr>
            <a:r>
              <a:rPr sz="1800" spc="-10" dirty="0">
                <a:latin typeface="Calibri"/>
                <a:cs typeface="Calibri"/>
              </a:rPr>
              <a:t>Transmitter</a:t>
            </a:r>
            <a:endParaRPr sz="1800">
              <a:latin typeface="Calibri"/>
              <a:cs typeface="Calibri"/>
            </a:endParaRPr>
          </a:p>
        </p:txBody>
      </p:sp>
      <p:sp>
        <p:nvSpPr>
          <p:cNvPr id="7" name="object 7"/>
          <p:cNvSpPr txBox="1"/>
          <p:nvPr/>
        </p:nvSpPr>
        <p:spPr>
          <a:xfrm>
            <a:off x="6904101" y="1450200"/>
            <a:ext cx="1325880" cy="369570"/>
          </a:xfrm>
          <a:prstGeom prst="rect">
            <a:avLst/>
          </a:prstGeom>
          <a:solidFill>
            <a:srgbClr val="C5D9F0"/>
          </a:solidFill>
          <a:ln w="9525">
            <a:solidFill>
              <a:srgbClr val="000000"/>
            </a:solidFill>
          </a:ln>
        </p:spPr>
        <p:txBody>
          <a:bodyPr vert="horz" wrap="square" lIns="0" tIns="30480" rIns="0" bIns="0" rtlCol="0">
            <a:spAutoFit/>
          </a:bodyPr>
          <a:lstStyle/>
          <a:p>
            <a:pPr marL="92075">
              <a:lnSpc>
                <a:spcPct val="100000"/>
              </a:lnSpc>
              <a:spcBef>
                <a:spcPts val="240"/>
              </a:spcBef>
            </a:pPr>
            <a:r>
              <a:rPr sz="1800" spc="-10" dirty="0">
                <a:latin typeface="Calibri"/>
                <a:cs typeface="Calibri"/>
              </a:rPr>
              <a:t>Antenna</a:t>
            </a:r>
            <a:endParaRPr sz="1800">
              <a:latin typeface="Calibri"/>
              <a:cs typeface="Calibri"/>
            </a:endParaRPr>
          </a:p>
        </p:txBody>
      </p:sp>
      <p:sp>
        <p:nvSpPr>
          <p:cNvPr id="8" name="object 8"/>
          <p:cNvSpPr txBox="1"/>
          <p:nvPr/>
        </p:nvSpPr>
        <p:spPr>
          <a:xfrm>
            <a:off x="7522971" y="3932161"/>
            <a:ext cx="1169670" cy="36957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Antenna</a:t>
            </a:r>
            <a:endParaRPr sz="1800">
              <a:latin typeface="Calibri"/>
              <a:cs typeface="Calibri"/>
            </a:endParaRPr>
          </a:p>
        </p:txBody>
      </p:sp>
      <p:sp>
        <p:nvSpPr>
          <p:cNvPr id="9" name="object 9"/>
          <p:cNvSpPr/>
          <p:nvPr/>
        </p:nvSpPr>
        <p:spPr>
          <a:xfrm>
            <a:off x="1902714" y="2294763"/>
            <a:ext cx="269875" cy="76200"/>
          </a:xfrm>
          <a:custGeom>
            <a:avLst/>
            <a:gdLst/>
            <a:ahLst/>
            <a:cxnLst/>
            <a:rect l="l" t="t" r="r" b="b"/>
            <a:pathLst>
              <a:path w="269875" h="76200">
                <a:moveTo>
                  <a:pt x="267815" y="30479"/>
                </a:moveTo>
                <a:lnTo>
                  <a:pt x="205867" y="30479"/>
                </a:lnTo>
                <a:lnTo>
                  <a:pt x="207010" y="43179"/>
                </a:lnTo>
                <a:lnTo>
                  <a:pt x="194351" y="44295"/>
                </a:lnTo>
                <a:lnTo>
                  <a:pt x="197104" y="75946"/>
                </a:lnTo>
                <a:lnTo>
                  <a:pt x="269748" y="31241"/>
                </a:lnTo>
                <a:lnTo>
                  <a:pt x="267815" y="30479"/>
                </a:lnTo>
                <a:close/>
              </a:path>
              <a:path w="269875" h="76200">
                <a:moveTo>
                  <a:pt x="193247" y="31593"/>
                </a:moveTo>
                <a:lnTo>
                  <a:pt x="0" y="48640"/>
                </a:lnTo>
                <a:lnTo>
                  <a:pt x="1016" y="61340"/>
                </a:lnTo>
                <a:lnTo>
                  <a:pt x="194351" y="44295"/>
                </a:lnTo>
                <a:lnTo>
                  <a:pt x="193247" y="31593"/>
                </a:lnTo>
                <a:close/>
              </a:path>
              <a:path w="269875" h="76200">
                <a:moveTo>
                  <a:pt x="205867" y="30479"/>
                </a:moveTo>
                <a:lnTo>
                  <a:pt x="193247" y="31593"/>
                </a:lnTo>
                <a:lnTo>
                  <a:pt x="194254" y="43179"/>
                </a:lnTo>
                <a:lnTo>
                  <a:pt x="194351" y="44295"/>
                </a:lnTo>
                <a:lnTo>
                  <a:pt x="207010" y="43179"/>
                </a:lnTo>
                <a:lnTo>
                  <a:pt x="205967" y="31593"/>
                </a:lnTo>
                <a:lnTo>
                  <a:pt x="205867" y="30479"/>
                </a:lnTo>
                <a:close/>
              </a:path>
              <a:path w="269875" h="76200">
                <a:moveTo>
                  <a:pt x="190500" y="0"/>
                </a:moveTo>
                <a:lnTo>
                  <a:pt x="193150" y="30479"/>
                </a:lnTo>
                <a:lnTo>
                  <a:pt x="193247" y="31593"/>
                </a:lnTo>
                <a:lnTo>
                  <a:pt x="205867" y="30479"/>
                </a:lnTo>
                <a:lnTo>
                  <a:pt x="267815" y="30479"/>
                </a:lnTo>
                <a:lnTo>
                  <a:pt x="190500" y="0"/>
                </a:lnTo>
                <a:close/>
              </a:path>
            </a:pathLst>
          </a:custGeom>
          <a:solidFill>
            <a:srgbClr val="497DBA"/>
          </a:solidFill>
        </p:spPr>
        <p:txBody>
          <a:bodyPr wrap="square" lIns="0" tIns="0" rIns="0" bIns="0" rtlCol="0"/>
          <a:lstStyle/>
          <a:p>
            <a:endParaRPr/>
          </a:p>
        </p:txBody>
      </p:sp>
      <p:sp>
        <p:nvSpPr>
          <p:cNvPr id="10" name="object 10"/>
          <p:cNvSpPr/>
          <p:nvPr/>
        </p:nvSpPr>
        <p:spPr>
          <a:xfrm>
            <a:off x="5419852" y="2285619"/>
            <a:ext cx="278765" cy="76200"/>
          </a:xfrm>
          <a:custGeom>
            <a:avLst/>
            <a:gdLst/>
            <a:ahLst/>
            <a:cxnLst/>
            <a:rect l="l" t="t" r="r" b="b"/>
            <a:pathLst>
              <a:path w="278764" h="76200">
                <a:moveTo>
                  <a:pt x="266916" y="31622"/>
                </a:moveTo>
                <a:lnTo>
                  <a:pt x="215137" y="31622"/>
                </a:lnTo>
                <a:lnTo>
                  <a:pt x="215264" y="44322"/>
                </a:lnTo>
                <a:lnTo>
                  <a:pt x="202575" y="44465"/>
                </a:lnTo>
                <a:lnTo>
                  <a:pt x="202946" y="76200"/>
                </a:lnTo>
                <a:lnTo>
                  <a:pt x="278638" y="37337"/>
                </a:lnTo>
                <a:lnTo>
                  <a:pt x="266916" y="31622"/>
                </a:lnTo>
                <a:close/>
              </a:path>
              <a:path w="278764" h="76200">
                <a:moveTo>
                  <a:pt x="202427" y="31765"/>
                </a:moveTo>
                <a:lnTo>
                  <a:pt x="0" y="34035"/>
                </a:lnTo>
                <a:lnTo>
                  <a:pt x="126" y="46735"/>
                </a:lnTo>
                <a:lnTo>
                  <a:pt x="202575" y="44465"/>
                </a:lnTo>
                <a:lnTo>
                  <a:pt x="202454" y="34035"/>
                </a:lnTo>
                <a:lnTo>
                  <a:pt x="202427" y="31765"/>
                </a:lnTo>
                <a:close/>
              </a:path>
              <a:path w="278764" h="76200">
                <a:moveTo>
                  <a:pt x="215137" y="31622"/>
                </a:moveTo>
                <a:lnTo>
                  <a:pt x="202427" y="31765"/>
                </a:lnTo>
                <a:lnTo>
                  <a:pt x="202454" y="34035"/>
                </a:lnTo>
                <a:lnTo>
                  <a:pt x="202575" y="44465"/>
                </a:lnTo>
                <a:lnTo>
                  <a:pt x="215264" y="44322"/>
                </a:lnTo>
                <a:lnTo>
                  <a:pt x="215137" y="31622"/>
                </a:lnTo>
                <a:close/>
              </a:path>
              <a:path w="278764" h="76200">
                <a:moveTo>
                  <a:pt x="202057" y="0"/>
                </a:moveTo>
                <a:lnTo>
                  <a:pt x="202425" y="31622"/>
                </a:lnTo>
                <a:lnTo>
                  <a:pt x="202427" y="31765"/>
                </a:lnTo>
                <a:lnTo>
                  <a:pt x="215137" y="31622"/>
                </a:lnTo>
                <a:lnTo>
                  <a:pt x="266916" y="31622"/>
                </a:lnTo>
                <a:lnTo>
                  <a:pt x="202057" y="0"/>
                </a:lnTo>
                <a:close/>
              </a:path>
            </a:pathLst>
          </a:custGeom>
          <a:solidFill>
            <a:srgbClr val="497DBA"/>
          </a:solidFill>
        </p:spPr>
        <p:txBody>
          <a:bodyPr wrap="square" lIns="0" tIns="0" rIns="0" bIns="0" rtlCol="0"/>
          <a:lstStyle/>
          <a:p>
            <a:endParaRPr/>
          </a:p>
        </p:txBody>
      </p:sp>
      <p:pic>
        <p:nvPicPr>
          <p:cNvPr id="11" name="object 11"/>
          <p:cNvPicPr/>
          <p:nvPr/>
        </p:nvPicPr>
        <p:blipFill>
          <a:blip r:embed="rId2" cstate="print"/>
          <a:stretch>
            <a:fillRect/>
          </a:stretch>
        </p:blipFill>
        <p:spPr>
          <a:xfrm>
            <a:off x="3717671" y="2287904"/>
            <a:ext cx="156971" cy="76200"/>
          </a:xfrm>
          <a:prstGeom prst="rect">
            <a:avLst/>
          </a:prstGeom>
        </p:spPr>
      </p:pic>
      <p:grpSp>
        <p:nvGrpSpPr>
          <p:cNvPr id="12" name="object 12"/>
          <p:cNvGrpSpPr/>
          <p:nvPr/>
        </p:nvGrpSpPr>
        <p:grpSpPr>
          <a:xfrm>
            <a:off x="7157339" y="4301490"/>
            <a:ext cx="1153795" cy="379095"/>
            <a:chOff x="7157339" y="4301490"/>
            <a:chExt cx="1153795" cy="379095"/>
          </a:xfrm>
        </p:grpSpPr>
        <p:sp>
          <p:nvSpPr>
            <p:cNvPr id="13" name="object 13"/>
            <p:cNvSpPr/>
            <p:nvPr/>
          </p:nvSpPr>
          <p:spPr>
            <a:xfrm>
              <a:off x="7157339" y="4604385"/>
              <a:ext cx="1138555" cy="76200"/>
            </a:xfrm>
            <a:custGeom>
              <a:avLst/>
              <a:gdLst/>
              <a:ahLst/>
              <a:cxnLst/>
              <a:rect l="l" t="t" r="r" b="b"/>
              <a:pathLst>
                <a:path w="1138554" h="76200">
                  <a:moveTo>
                    <a:pt x="76580" y="0"/>
                  </a:moveTo>
                  <a:lnTo>
                    <a:pt x="0" y="37464"/>
                  </a:lnTo>
                  <a:lnTo>
                    <a:pt x="75818" y="76200"/>
                  </a:lnTo>
                  <a:lnTo>
                    <a:pt x="76034" y="54609"/>
                  </a:lnTo>
                  <a:lnTo>
                    <a:pt x="76135" y="44570"/>
                  </a:lnTo>
                  <a:lnTo>
                    <a:pt x="63371" y="44570"/>
                  </a:lnTo>
                  <a:lnTo>
                    <a:pt x="63442" y="37464"/>
                  </a:lnTo>
                  <a:lnTo>
                    <a:pt x="63498" y="31870"/>
                  </a:lnTo>
                  <a:lnTo>
                    <a:pt x="76262" y="31870"/>
                  </a:lnTo>
                  <a:lnTo>
                    <a:pt x="76580" y="0"/>
                  </a:lnTo>
                  <a:close/>
                </a:path>
                <a:path w="1138554" h="76200">
                  <a:moveTo>
                    <a:pt x="76262" y="31870"/>
                  </a:moveTo>
                  <a:lnTo>
                    <a:pt x="76135" y="44570"/>
                  </a:lnTo>
                  <a:lnTo>
                    <a:pt x="1138174" y="54609"/>
                  </a:lnTo>
                  <a:lnTo>
                    <a:pt x="1138301" y="41909"/>
                  </a:lnTo>
                  <a:lnTo>
                    <a:pt x="76262" y="31870"/>
                  </a:lnTo>
                  <a:close/>
                </a:path>
                <a:path w="1138554" h="76200">
                  <a:moveTo>
                    <a:pt x="76262" y="31870"/>
                  </a:moveTo>
                  <a:lnTo>
                    <a:pt x="63498" y="31870"/>
                  </a:lnTo>
                  <a:lnTo>
                    <a:pt x="63442" y="37464"/>
                  </a:lnTo>
                  <a:lnTo>
                    <a:pt x="63371" y="44570"/>
                  </a:lnTo>
                  <a:lnTo>
                    <a:pt x="76135" y="44570"/>
                  </a:lnTo>
                  <a:lnTo>
                    <a:pt x="76262" y="31870"/>
                  </a:lnTo>
                  <a:close/>
                </a:path>
              </a:pathLst>
            </a:custGeom>
            <a:solidFill>
              <a:srgbClr val="497DBA"/>
            </a:solidFill>
          </p:spPr>
          <p:txBody>
            <a:bodyPr wrap="square" lIns="0" tIns="0" rIns="0" bIns="0" rtlCol="0"/>
            <a:lstStyle/>
            <a:p>
              <a:endParaRPr/>
            </a:p>
          </p:txBody>
        </p:sp>
        <p:sp>
          <p:nvSpPr>
            <p:cNvPr id="14" name="object 14"/>
            <p:cNvSpPr/>
            <p:nvPr/>
          </p:nvSpPr>
          <p:spPr>
            <a:xfrm>
              <a:off x="8305800" y="4301490"/>
              <a:ext cx="0" cy="351155"/>
            </a:xfrm>
            <a:custGeom>
              <a:avLst/>
              <a:gdLst/>
              <a:ahLst/>
              <a:cxnLst/>
              <a:rect l="l" t="t" r="r" b="b"/>
              <a:pathLst>
                <a:path h="351154">
                  <a:moveTo>
                    <a:pt x="0" y="0"/>
                  </a:moveTo>
                  <a:lnTo>
                    <a:pt x="0" y="351155"/>
                  </a:lnTo>
                </a:path>
              </a:pathLst>
            </a:custGeom>
            <a:ln w="9525">
              <a:solidFill>
                <a:srgbClr val="497DBA"/>
              </a:solidFill>
            </a:ln>
          </p:spPr>
          <p:txBody>
            <a:bodyPr wrap="square" lIns="0" tIns="0" rIns="0" bIns="0" rtlCol="0"/>
            <a:lstStyle/>
            <a:p>
              <a:endParaRPr/>
            </a:p>
          </p:txBody>
        </p:sp>
      </p:grpSp>
      <p:sp>
        <p:nvSpPr>
          <p:cNvPr id="15" name="object 15"/>
          <p:cNvSpPr txBox="1"/>
          <p:nvPr/>
        </p:nvSpPr>
        <p:spPr>
          <a:xfrm>
            <a:off x="5611495" y="4361776"/>
            <a:ext cx="1545590" cy="38354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Receiver</a:t>
            </a:r>
            <a:endParaRPr sz="1800">
              <a:latin typeface="Calibri"/>
              <a:cs typeface="Calibri"/>
            </a:endParaRPr>
          </a:p>
        </p:txBody>
      </p:sp>
      <p:sp>
        <p:nvSpPr>
          <p:cNvPr id="16" name="object 16"/>
          <p:cNvSpPr txBox="1"/>
          <p:nvPr/>
        </p:nvSpPr>
        <p:spPr>
          <a:xfrm>
            <a:off x="3679952"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a:lnSpc>
                <a:spcPct val="100000"/>
              </a:lnSpc>
              <a:spcBef>
                <a:spcPts val="245"/>
              </a:spcBef>
            </a:pPr>
            <a:r>
              <a:rPr sz="1800" spc="-10" dirty="0">
                <a:latin typeface="Calibri"/>
                <a:cs typeface="Calibri"/>
              </a:rPr>
              <a:t>DeModulator</a:t>
            </a:r>
            <a:endParaRPr sz="1800">
              <a:latin typeface="Calibri"/>
              <a:cs typeface="Calibri"/>
            </a:endParaRPr>
          </a:p>
        </p:txBody>
      </p:sp>
      <p:sp>
        <p:nvSpPr>
          <p:cNvPr id="17" name="object 17"/>
          <p:cNvSpPr/>
          <p:nvPr/>
        </p:nvSpPr>
        <p:spPr>
          <a:xfrm>
            <a:off x="5225288" y="4520946"/>
            <a:ext cx="386715" cy="76200"/>
          </a:xfrm>
          <a:custGeom>
            <a:avLst/>
            <a:gdLst/>
            <a:ahLst/>
            <a:cxnLst/>
            <a:rect l="l" t="t" r="r" b="b"/>
            <a:pathLst>
              <a:path w="386714" h="76200">
                <a:moveTo>
                  <a:pt x="75437" y="0"/>
                </a:moveTo>
                <a:lnTo>
                  <a:pt x="0" y="39496"/>
                </a:lnTo>
                <a:lnTo>
                  <a:pt x="76835" y="76199"/>
                </a:lnTo>
                <a:lnTo>
                  <a:pt x="76257" y="44703"/>
                </a:lnTo>
                <a:lnTo>
                  <a:pt x="63500" y="44703"/>
                </a:lnTo>
                <a:lnTo>
                  <a:pt x="63373" y="32003"/>
                </a:lnTo>
                <a:lnTo>
                  <a:pt x="76020" y="31775"/>
                </a:lnTo>
                <a:lnTo>
                  <a:pt x="75437" y="0"/>
                </a:lnTo>
                <a:close/>
              </a:path>
              <a:path w="386714" h="76200">
                <a:moveTo>
                  <a:pt x="76020" y="31775"/>
                </a:moveTo>
                <a:lnTo>
                  <a:pt x="63373" y="32003"/>
                </a:lnTo>
                <a:lnTo>
                  <a:pt x="63500" y="44703"/>
                </a:lnTo>
                <a:lnTo>
                  <a:pt x="76253" y="44473"/>
                </a:lnTo>
                <a:lnTo>
                  <a:pt x="76150" y="38861"/>
                </a:lnTo>
                <a:lnTo>
                  <a:pt x="76024" y="32003"/>
                </a:lnTo>
                <a:lnTo>
                  <a:pt x="76020" y="31775"/>
                </a:lnTo>
                <a:close/>
              </a:path>
              <a:path w="386714" h="76200">
                <a:moveTo>
                  <a:pt x="76253" y="44473"/>
                </a:moveTo>
                <a:lnTo>
                  <a:pt x="63500" y="44703"/>
                </a:lnTo>
                <a:lnTo>
                  <a:pt x="76257" y="44703"/>
                </a:lnTo>
                <a:lnTo>
                  <a:pt x="76253" y="44473"/>
                </a:lnTo>
                <a:close/>
              </a:path>
              <a:path w="386714" h="76200">
                <a:moveTo>
                  <a:pt x="386079" y="26161"/>
                </a:moveTo>
                <a:lnTo>
                  <a:pt x="76020" y="31775"/>
                </a:lnTo>
                <a:lnTo>
                  <a:pt x="76024" y="32003"/>
                </a:lnTo>
                <a:lnTo>
                  <a:pt x="76150" y="38861"/>
                </a:lnTo>
                <a:lnTo>
                  <a:pt x="76253" y="44473"/>
                </a:lnTo>
                <a:lnTo>
                  <a:pt x="386334" y="38861"/>
                </a:lnTo>
                <a:lnTo>
                  <a:pt x="386196" y="32003"/>
                </a:lnTo>
                <a:lnTo>
                  <a:pt x="386079" y="26161"/>
                </a:lnTo>
                <a:close/>
              </a:path>
            </a:pathLst>
          </a:custGeom>
          <a:solidFill>
            <a:srgbClr val="497DBA"/>
          </a:solidFill>
        </p:spPr>
        <p:txBody>
          <a:bodyPr wrap="square" lIns="0" tIns="0" rIns="0" bIns="0" rtlCol="0"/>
          <a:lstStyle/>
          <a:p>
            <a:endParaRPr/>
          </a:p>
        </p:txBody>
      </p:sp>
      <p:sp>
        <p:nvSpPr>
          <p:cNvPr id="18" name="object 18"/>
          <p:cNvSpPr txBox="1"/>
          <p:nvPr/>
        </p:nvSpPr>
        <p:spPr>
          <a:xfrm>
            <a:off x="1823466"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a:lnSpc>
                <a:spcPct val="100000"/>
              </a:lnSpc>
              <a:spcBef>
                <a:spcPts val="245"/>
              </a:spcBef>
            </a:pPr>
            <a:r>
              <a:rPr sz="1800" spc="-10" dirty="0">
                <a:latin typeface="Calibri"/>
                <a:cs typeface="Calibri"/>
              </a:rPr>
              <a:t>decoding</a:t>
            </a:r>
            <a:endParaRPr sz="1800">
              <a:latin typeface="Calibri"/>
              <a:cs typeface="Calibri"/>
            </a:endParaRPr>
          </a:p>
        </p:txBody>
      </p:sp>
      <p:sp>
        <p:nvSpPr>
          <p:cNvPr id="19" name="object 19"/>
          <p:cNvSpPr/>
          <p:nvPr/>
        </p:nvSpPr>
        <p:spPr>
          <a:xfrm>
            <a:off x="3368802" y="4520565"/>
            <a:ext cx="311150" cy="76200"/>
          </a:xfrm>
          <a:custGeom>
            <a:avLst/>
            <a:gdLst/>
            <a:ahLst/>
            <a:cxnLst/>
            <a:rect l="l" t="t" r="r" b="b"/>
            <a:pathLst>
              <a:path w="311150" h="76200">
                <a:moveTo>
                  <a:pt x="75311" y="0"/>
                </a:moveTo>
                <a:lnTo>
                  <a:pt x="0" y="39878"/>
                </a:lnTo>
                <a:lnTo>
                  <a:pt x="76962" y="76200"/>
                </a:lnTo>
                <a:lnTo>
                  <a:pt x="76279" y="44704"/>
                </a:lnTo>
                <a:lnTo>
                  <a:pt x="63626" y="44704"/>
                </a:lnTo>
                <a:lnTo>
                  <a:pt x="63246" y="32004"/>
                </a:lnTo>
                <a:lnTo>
                  <a:pt x="75998" y="31722"/>
                </a:lnTo>
                <a:lnTo>
                  <a:pt x="75311" y="0"/>
                </a:lnTo>
                <a:close/>
              </a:path>
              <a:path w="311150" h="76200">
                <a:moveTo>
                  <a:pt x="75998" y="31722"/>
                </a:moveTo>
                <a:lnTo>
                  <a:pt x="63246" y="32004"/>
                </a:lnTo>
                <a:lnTo>
                  <a:pt x="63618" y="44424"/>
                </a:lnTo>
                <a:lnTo>
                  <a:pt x="63626" y="44704"/>
                </a:lnTo>
                <a:lnTo>
                  <a:pt x="76273" y="44424"/>
                </a:lnTo>
                <a:lnTo>
                  <a:pt x="76004" y="32004"/>
                </a:lnTo>
                <a:lnTo>
                  <a:pt x="75998" y="31722"/>
                </a:lnTo>
                <a:close/>
              </a:path>
              <a:path w="311150" h="76200">
                <a:moveTo>
                  <a:pt x="76273" y="44424"/>
                </a:moveTo>
                <a:lnTo>
                  <a:pt x="63626" y="44704"/>
                </a:lnTo>
                <a:lnTo>
                  <a:pt x="76279" y="44704"/>
                </a:lnTo>
                <a:lnTo>
                  <a:pt x="76273" y="44424"/>
                </a:lnTo>
                <a:close/>
              </a:path>
              <a:path w="311150" h="76200">
                <a:moveTo>
                  <a:pt x="310642" y="26543"/>
                </a:moveTo>
                <a:lnTo>
                  <a:pt x="75998" y="31722"/>
                </a:lnTo>
                <a:lnTo>
                  <a:pt x="76161" y="39243"/>
                </a:lnTo>
                <a:lnTo>
                  <a:pt x="76273" y="44424"/>
                </a:lnTo>
                <a:lnTo>
                  <a:pt x="310896" y="39243"/>
                </a:lnTo>
                <a:lnTo>
                  <a:pt x="310751" y="32004"/>
                </a:lnTo>
                <a:lnTo>
                  <a:pt x="310642" y="26543"/>
                </a:lnTo>
                <a:close/>
              </a:path>
            </a:pathLst>
          </a:custGeom>
          <a:solidFill>
            <a:srgbClr val="497DBA"/>
          </a:solidFill>
        </p:spPr>
        <p:txBody>
          <a:bodyPr wrap="square" lIns="0" tIns="0" rIns="0" bIns="0" rtlCol="0"/>
          <a:lstStyle/>
          <a:p>
            <a:endParaRPr/>
          </a:p>
        </p:txBody>
      </p:sp>
      <p:sp>
        <p:nvSpPr>
          <p:cNvPr id="20" name="object 20"/>
          <p:cNvSpPr txBox="1"/>
          <p:nvPr/>
        </p:nvSpPr>
        <p:spPr>
          <a:xfrm>
            <a:off x="277875" y="4261040"/>
            <a:ext cx="1241425" cy="584835"/>
          </a:xfrm>
          <a:prstGeom prst="rect">
            <a:avLst/>
          </a:prstGeom>
          <a:solidFill>
            <a:srgbClr val="C5D9F0"/>
          </a:solidFill>
          <a:ln w="9525">
            <a:solidFill>
              <a:srgbClr val="000000"/>
            </a:solidFill>
          </a:ln>
        </p:spPr>
        <p:txBody>
          <a:bodyPr vert="horz" wrap="square" lIns="0" tIns="33655" rIns="0" bIns="0" rtlCol="0">
            <a:spAutoFit/>
          </a:bodyPr>
          <a:lstStyle/>
          <a:p>
            <a:pPr marL="91440">
              <a:lnSpc>
                <a:spcPct val="100000"/>
              </a:lnSpc>
              <a:spcBef>
                <a:spcPts val="265"/>
              </a:spcBef>
            </a:pPr>
            <a:r>
              <a:rPr sz="1600" b="1" spc="-10" dirty="0">
                <a:latin typeface="Calibri"/>
                <a:cs typeface="Calibri"/>
              </a:rPr>
              <a:t>Information</a:t>
            </a:r>
            <a:endParaRPr sz="1600">
              <a:latin typeface="Calibri"/>
              <a:cs typeface="Calibri"/>
            </a:endParaRPr>
          </a:p>
          <a:p>
            <a:pPr marL="91440">
              <a:lnSpc>
                <a:spcPct val="100000"/>
              </a:lnSpc>
            </a:pPr>
            <a:r>
              <a:rPr sz="1600" b="1" spc="-10" dirty="0">
                <a:latin typeface="Calibri"/>
                <a:cs typeface="Calibri"/>
              </a:rPr>
              <a:t>Received</a:t>
            </a:r>
            <a:endParaRPr sz="1600">
              <a:latin typeface="Calibri"/>
              <a:cs typeface="Calibri"/>
            </a:endParaRPr>
          </a:p>
        </p:txBody>
      </p:sp>
      <p:sp>
        <p:nvSpPr>
          <p:cNvPr id="21" name="object 21"/>
          <p:cNvSpPr/>
          <p:nvPr/>
        </p:nvSpPr>
        <p:spPr>
          <a:xfrm>
            <a:off x="1538605" y="4517135"/>
            <a:ext cx="285115" cy="76200"/>
          </a:xfrm>
          <a:custGeom>
            <a:avLst/>
            <a:gdLst/>
            <a:ahLst/>
            <a:cxnLst/>
            <a:rect l="l" t="t" r="r" b="b"/>
            <a:pathLst>
              <a:path w="285114" h="76200">
                <a:moveTo>
                  <a:pt x="77215" y="0"/>
                </a:moveTo>
                <a:lnTo>
                  <a:pt x="0" y="36321"/>
                </a:lnTo>
                <a:lnTo>
                  <a:pt x="75310" y="76200"/>
                </a:lnTo>
                <a:lnTo>
                  <a:pt x="76103" y="44510"/>
                </a:lnTo>
                <a:lnTo>
                  <a:pt x="63372" y="44195"/>
                </a:lnTo>
                <a:lnTo>
                  <a:pt x="63517" y="36956"/>
                </a:lnTo>
                <a:lnTo>
                  <a:pt x="63626" y="31495"/>
                </a:lnTo>
                <a:lnTo>
                  <a:pt x="76428" y="31495"/>
                </a:lnTo>
                <a:lnTo>
                  <a:pt x="77215" y="0"/>
                </a:lnTo>
                <a:close/>
              </a:path>
              <a:path w="285114" h="76200">
                <a:moveTo>
                  <a:pt x="76420" y="31811"/>
                </a:moveTo>
                <a:lnTo>
                  <a:pt x="76111" y="44195"/>
                </a:lnTo>
                <a:lnTo>
                  <a:pt x="76103" y="44510"/>
                </a:lnTo>
                <a:lnTo>
                  <a:pt x="284733" y="49656"/>
                </a:lnTo>
                <a:lnTo>
                  <a:pt x="284988" y="36956"/>
                </a:lnTo>
                <a:lnTo>
                  <a:pt x="76420" y="31811"/>
                </a:lnTo>
                <a:close/>
              </a:path>
              <a:path w="285114" h="76200">
                <a:moveTo>
                  <a:pt x="63626" y="31495"/>
                </a:moveTo>
                <a:lnTo>
                  <a:pt x="63372" y="44195"/>
                </a:lnTo>
                <a:lnTo>
                  <a:pt x="76103" y="44510"/>
                </a:lnTo>
                <a:lnTo>
                  <a:pt x="76292" y="36956"/>
                </a:lnTo>
                <a:lnTo>
                  <a:pt x="76307" y="36321"/>
                </a:lnTo>
                <a:lnTo>
                  <a:pt x="76420" y="31811"/>
                </a:lnTo>
                <a:lnTo>
                  <a:pt x="63626" y="31495"/>
                </a:lnTo>
                <a:close/>
              </a:path>
              <a:path w="285114" h="76200">
                <a:moveTo>
                  <a:pt x="76428" y="31495"/>
                </a:moveTo>
                <a:lnTo>
                  <a:pt x="63626" y="31495"/>
                </a:lnTo>
                <a:lnTo>
                  <a:pt x="76420" y="31811"/>
                </a:lnTo>
                <a:lnTo>
                  <a:pt x="76428" y="31495"/>
                </a:lnTo>
                <a:close/>
              </a:path>
            </a:pathLst>
          </a:custGeom>
          <a:solidFill>
            <a:srgbClr val="497DBA"/>
          </a:solidFill>
        </p:spPr>
        <p:txBody>
          <a:bodyPr wrap="square" lIns="0" tIns="0" rIns="0" bIns="0" rtlCol="0"/>
          <a:lstStyle/>
          <a:p>
            <a:endParaRPr/>
          </a:p>
        </p:txBody>
      </p:sp>
      <p:sp>
        <p:nvSpPr>
          <p:cNvPr id="22" name="object 22"/>
          <p:cNvSpPr/>
          <p:nvPr/>
        </p:nvSpPr>
        <p:spPr>
          <a:xfrm>
            <a:off x="4607305" y="2510663"/>
            <a:ext cx="76200" cy="448309"/>
          </a:xfrm>
          <a:custGeom>
            <a:avLst/>
            <a:gdLst/>
            <a:ahLst/>
            <a:cxnLst/>
            <a:rect l="l" t="t" r="r" b="b"/>
            <a:pathLst>
              <a:path w="76200" h="448310">
                <a:moveTo>
                  <a:pt x="31677" y="76030"/>
                </a:moveTo>
                <a:lnTo>
                  <a:pt x="22098" y="447548"/>
                </a:lnTo>
                <a:lnTo>
                  <a:pt x="34798" y="447801"/>
                </a:lnTo>
                <a:lnTo>
                  <a:pt x="44353" y="77215"/>
                </a:lnTo>
                <a:lnTo>
                  <a:pt x="44375" y="76369"/>
                </a:lnTo>
                <a:lnTo>
                  <a:pt x="31677" y="76030"/>
                </a:lnTo>
                <a:close/>
              </a:path>
              <a:path w="76200" h="448310">
                <a:moveTo>
                  <a:pt x="69606" y="63373"/>
                </a:moveTo>
                <a:lnTo>
                  <a:pt x="32004" y="63373"/>
                </a:lnTo>
                <a:lnTo>
                  <a:pt x="44704" y="63626"/>
                </a:lnTo>
                <a:lnTo>
                  <a:pt x="44406" y="75184"/>
                </a:lnTo>
                <a:lnTo>
                  <a:pt x="44375" y="76369"/>
                </a:lnTo>
                <a:lnTo>
                  <a:pt x="76073" y="77215"/>
                </a:lnTo>
                <a:lnTo>
                  <a:pt x="69725" y="63626"/>
                </a:lnTo>
                <a:lnTo>
                  <a:pt x="69606" y="63373"/>
                </a:lnTo>
                <a:close/>
              </a:path>
              <a:path w="76200" h="448310">
                <a:moveTo>
                  <a:pt x="32004" y="63373"/>
                </a:moveTo>
                <a:lnTo>
                  <a:pt x="31699" y="75184"/>
                </a:lnTo>
                <a:lnTo>
                  <a:pt x="31677" y="76030"/>
                </a:lnTo>
                <a:lnTo>
                  <a:pt x="44375" y="76369"/>
                </a:lnTo>
                <a:lnTo>
                  <a:pt x="44704" y="63626"/>
                </a:lnTo>
                <a:lnTo>
                  <a:pt x="32004" y="63373"/>
                </a:lnTo>
                <a:close/>
              </a:path>
              <a:path w="76200" h="448310">
                <a:moveTo>
                  <a:pt x="40005" y="0"/>
                </a:moveTo>
                <a:lnTo>
                  <a:pt x="0" y="75184"/>
                </a:lnTo>
                <a:lnTo>
                  <a:pt x="31677" y="76030"/>
                </a:lnTo>
                <a:lnTo>
                  <a:pt x="31997" y="63626"/>
                </a:lnTo>
                <a:lnTo>
                  <a:pt x="32004" y="63373"/>
                </a:lnTo>
                <a:lnTo>
                  <a:pt x="69606" y="63373"/>
                </a:lnTo>
                <a:lnTo>
                  <a:pt x="40005" y="0"/>
                </a:lnTo>
                <a:close/>
              </a:path>
            </a:pathLst>
          </a:custGeom>
          <a:solidFill>
            <a:srgbClr val="497DBA"/>
          </a:solidFill>
        </p:spPr>
        <p:txBody>
          <a:bodyPr wrap="square" lIns="0" tIns="0" rIns="0" bIns="0" rtlCol="0"/>
          <a:lstStyle/>
          <a:p>
            <a:endParaRPr/>
          </a:p>
        </p:txBody>
      </p:sp>
      <p:grpSp>
        <p:nvGrpSpPr>
          <p:cNvPr id="23" name="object 23"/>
          <p:cNvGrpSpPr/>
          <p:nvPr/>
        </p:nvGrpSpPr>
        <p:grpSpPr>
          <a:xfrm>
            <a:off x="7234237" y="1895094"/>
            <a:ext cx="489584" cy="403225"/>
            <a:chOff x="7234237" y="1895094"/>
            <a:chExt cx="489584" cy="403225"/>
          </a:xfrm>
        </p:grpSpPr>
        <p:sp>
          <p:nvSpPr>
            <p:cNvPr id="24" name="object 24"/>
            <p:cNvSpPr/>
            <p:nvPr/>
          </p:nvSpPr>
          <p:spPr>
            <a:xfrm>
              <a:off x="7647177" y="1895094"/>
              <a:ext cx="76200" cy="397510"/>
            </a:xfrm>
            <a:custGeom>
              <a:avLst/>
              <a:gdLst/>
              <a:ahLst/>
              <a:cxnLst/>
              <a:rect l="l" t="t" r="r" b="b"/>
              <a:pathLst>
                <a:path w="76200" h="397510">
                  <a:moveTo>
                    <a:pt x="31790" y="76031"/>
                  </a:moveTo>
                  <a:lnTo>
                    <a:pt x="23241" y="397128"/>
                  </a:lnTo>
                  <a:lnTo>
                    <a:pt x="35814" y="397509"/>
                  </a:lnTo>
                  <a:lnTo>
                    <a:pt x="44464" y="77215"/>
                  </a:lnTo>
                  <a:lnTo>
                    <a:pt x="44486" y="76370"/>
                  </a:lnTo>
                  <a:lnTo>
                    <a:pt x="31790" y="76031"/>
                  </a:lnTo>
                  <a:close/>
                </a:path>
                <a:path w="76200" h="397510">
                  <a:moveTo>
                    <a:pt x="69674" y="63245"/>
                  </a:moveTo>
                  <a:lnTo>
                    <a:pt x="32130" y="63245"/>
                  </a:lnTo>
                  <a:lnTo>
                    <a:pt x="44830" y="63626"/>
                  </a:lnTo>
                  <a:lnTo>
                    <a:pt x="44518" y="75183"/>
                  </a:lnTo>
                  <a:lnTo>
                    <a:pt x="44486" y="76370"/>
                  </a:lnTo>
                  <a:lnTo>
                    <a:pt x="76200" y="77215"/>
                  </a:lnTo>
                  <a:lnTo>
                    <a:pt x="69674" y="63245"/>
                  </a:lnTo>
                  <a:close/>
                </a:path>
                <a:path w="76200" h="397510">
                  <a:moveTo>
                    <a:pt x="32130" y="63245"/>
                  </a:moveTo>
                  <a:lnTo>
                    <a:pt x="31813" y="75183"/>
                  </a:lnTo>
                  <a:lnTo>
                    <a:pt x="31790" y="76031"/>
                  </a:lnTo>
                  <a:lnTo>
                    <a:pt x="44486" y="76370"/>
                  </a:lnTo>
                  <a:lnTo>
                    <a:pt x="44830" y="63626"/>
                  </a:lnTo>
                  <a:lnTo>
                    <a:pt x="32130" y="63245"/>
                  </a:lnTo>
                  <a:close/>
                </a:path>
                <a:path w="76200" h="397510">
                  <a:moveTo>
                    <a:pt x="40131" y="0"/>
                  </a:moveTo>
                  <a:lnTo>
                    <a:pt x="0" y="75183"/>
                  </a:lnTo>
                  <a:lnTo>
                    <a:pt x="31790" y="76031"/>
                  </a:lnTo>
                  <a:lnTo>
                    <a:pt x="32120" y="63626"/>
                  </a:lnTo>
                  <a:lnTo>
                    <a:pt x="32130" y="63245"/>
                  </a:lnTo>
                  <a:lnTo>
                    <a:pt x="69674" y="63245"/>
                  </a:lnTo>
                  <a:lnTo>
                    <a:pt x="40131" y="0"/>
                  </a:lnTo>
                  <a:close/>
                </a:path>
              </a:pathLst>
            </a:custGeom>
            <a:solidFill>
              <a:srgbClr val="497DBA"/>
            </a:solidFill>
          </p:spPr>
          <p:txBody>
            <a:bodyPr wrap="square" lIns="0" tIns="0" rIns="0" bIns="0" rtlCol="0"/>
            <a:lstStyle/>
            <a:p>
              <a:endParaRPr/>
            </a:p>
          </p:txBody>
        </p:sp>
        <p:sp>
          <p:nvSpPr>
            <p:cNvPr id="25" name="object 25"/>
            <p:cNvSpPr/>
            <p:nvPr/>
          </p:nvSpPr>
          <p:spPr>
            <a:xfrm>
              <a:off x="7239000" y="2286000"/>
              <a:ext cx="433070" cy="6985"/>
            </a:xfrm>
            <a:custGeom>
              <a:avLst/>
              <a:gdLst/>
              <a:ahLst/>
              <a:cxnLst/>
              <a:rect l="l" t="t" r="r" b="b"/>
              <a:pathLst>
                <a:path w="433070" h="6985">
                  <a:moveTo>
                    <a:pt x="0" y="0"/>
                  </a:moveTo>
                  <a:lnTo>
                    <a:pt x="432561" y="6985"/>
                  </a:lnTo>
                </a:path>
              </a:pathLst>
            </a:custGeom>
            <a:ln w="9525">
              <a:solidFill>
                <a:srgbClr val="497DBA"/>
              </a:solidFill>
            </a:ln>
          </p:spPr>
          <p:txBody>
            <a:bodyPr wrap="square" lIns="0" tIns="0" rIns="0" bIns="0" rtlCol="0"/>
            <a:lstStyle/>
            <a:p>
              <a:endParaRPr/>
            </a:p>
          </p:txBody>
        </p:sp>
      </p:grpSp>
      <p:sp>
        <p:nvSpPr>
          <p:cNvPr id="26" name="object 26"/>
          <p:cNvSpPr txBox="1"/>
          <p:nvPr/>
        </p:nvSpPr>
        <p:spPr>
          <a:xfrm>
            <a:off x="3874642" y="2951340"/>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carrier</a:t>
            </a:r>
            <a:endParaRPr sz="1800">
              <a:latin typeface="Calibri"/>
              <a:cs typeface="Calibri"/>
            </a:endParaRPr>
          </a:p>
        </p:txBody>
      </p:sp>
      <p:sp>
        <p:nvSpPr>
          <p:cNvPr id="27" name="object 27"/>
          <p:cNvSpPr txBox="1"/>
          <p:nvPr/>
        </p:nvSpPr>
        <p:spPr>
          <a:xfrm>
            <a:off x="3709289" y="5193271"/>
            <a:ext cx="1545590" cy="369570"/>
          </a:xfrm>
          <a:prstGeom prst="rect">
            <a:avLst/>
          </a:prstGeom>
          <a:solidFill>
            <a:srgbClr val="C5D9F0"/>
          </a:solidFill>
          <a:ln w="9525">
            <a:solidFill>
              <a:srgbClr val="000000"/>
            </a:solidFill>
          </a:ln>
        </p:spPr>
        <p:txBody>
          <a:bodyPr vert="horz" wrap="square" lIns="0" tIns="31750" rIns="0" bIns="0" rtlCol="0">
            <a:spAutoFit/>
          </a:bodyPr>
          <a:lstStyle/>
          <a:p>
            <a:pPr marL="92075">
              <a:lnSpc>
                <a:spcPct val="100000"/>
              </a:lnSpc>
              <a:spcBef>
                <a:spcPts val="250"/>
              </a:spcBef>
            </a:pPr>
            <a:r>
              <a:rPr sz="1800" spc="-10" dirty="0">
                <a:latin typeface="Calibri"/>
                <a:cs typeface="Calibri"/>
              </a:rPr>
              <a:t>carrier</a:t>
            </a:r>
            <a:endParaRPr sz="1800">
              <a:latin typeface="Calibri"/>
              <a:cs typeface="Calibri"/>
            </a:endParaRPr>
          </a:p>
        </p:txBody>
      </p:sp>
      <p:sp>
        <p:nvSpPr>
          <p:cNvPr id="28" name="object 28"/>
          <p:cNvSpPr/>
          <p:nvPr/>
        </p:nvSpPr>
        <p:spPr>
          <a:xfrm>
            <a:off x="4374896" y="4745609"/>
            <a:ext cx="76200" cy="448309"/>
          </a:xfrm>
          <a:custGeom>
            <a:avLst/>
            <a:gdLst/>
            <a:ahLst/>
            <a:cxnLst/>
            <a:rect l="l" t="t" r="r" b="b"/>
            <a:pathLst>
              <a:path w="76200" h="448310">
                <a:moveTo>
                  <a:pt x="31804" y="76032"/>
                </a:moveTo>
                <a:lnTo>
                  <a:pt x="22225" y="447548"/>
                </a:lnTo>
                <a:lnTo>
                  <a:pt x="34925" y="447802"/>
                </a:lnTo>
                <a:lnTo>
                  <a:pt x="44480" y="77216"/>
                </a:lnTo>
                <a:lnTo>
                  <a:pt x="44502" y="76370"/>
                </a:lnTo>
                <a:lnTo>
                  <a:pt x="31804" y="76032"/>
                </a:lnTo>
                <a:close/>
              </a:path>
              <a:path w="76200" h="448310">
                <a:moveTo>
                  <a:pt x="69733" y="63373"/>
                </a:moveTo>
                <a:lnTo>
                  <a:pt x="32130" y="63373"/>
                </a:lnTo>
                <a:lnTo>
                  <a:pt x="44830" y="63627"/>
                </a:lnTo>
                <a:lnTo>
                  <a:pt x="44533" y="75184"/>
                </a:lnTo>
                <a:lnTo>
                  <a:pt x="44502" y="76370"/>
                </a:lnTo>
                <a:lnTo>
                  <a:pt x="76200" y="77216"/>
                </a:lnTo>
                <a:lnTo>
                  <a:pt x="69852" y="63627"/>
                </a:lnTo>
                <a:lnTo>
                  <a:pt x="69733" y="63373"/>
                </a:lnTo>
                <a:close/>
              </a:path>
              <a:path w="76200" h="448310">
                <a:moveTo>
                  <a:pt x="32130" y="63373"/>
                </a:moveTo>
                <a:lnTo>
                  <a:pt x="31826" y="75184"/>
                </a:lnTo>
                <a:lnTo>
                  <a:pt x="31804" y="76032"/>
                </a:lnTo>
                <a:lnTo>
                  <a:pt x="44502" y="76370"/>
                </a:lnTo>
                <a:lnTo>
                  <a:pt x="44830" y="63627"/>
                </a:lnTo>
                <a:lnTo>
                  <a:pt x="32130" y="63373"/>
                </a:lnTo>
                <a:close/>
              </a:path>
              <a:path w="76200" h="448310">
                <a:moveTo>
                  <a:pt x="40131" y="0"/>
                </a:moveTo>
                <a:lnTo>
                  <a:pt x="0" y="75184"/>
                </a:lnTo>
                <a:lnTo>
                  <a:pt x="31804" y="76032"/>
                </a:lnTo>
                <a:lnTo>
                  <a:pt x="32124" y="63627"/>
                </a:lnTo>
                <a:lnTo>
                  <a:pt x="32130" y="63373"/>
                </a:lnTo>
                <a:lnTo>
                  <a:pt x="69733" y="63373"/>
                </a:lnTo>
                <a:lnTo>
                  <a:pt x="40131" y="0"/>
                </a:lnTo>
                <a:close/>
              </a:path>
            </a:pathLst>
          </a:custGeom>
          <a:solidFill>
            <a:srgbClr val="497DBA"/>
          </a:solidFill>
        </p:spPr>
        <p:txBody>
          <a:bodyPr wrap="square" lIns="0" tIns="0" rIns="0" bIns="0" rtlCol="0"/>
          <a:lstStyle/>
          <a:p>
            <a:endParaRP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123189">
              <a:lnSpc>
                <a:spcPts val="1425"/>
              </a:lnSpc>
            </a:pPr>
            <a:fld id="{81D60167-4931-47E6-BA6A-407CBD079E47}" type="slidenum">
              <a:rPr spc="-50" dirty="0"/>
              <a:t>1</a:t>
            </a:fld>
            <a:endParaRPr spc="-50" dirty="0"/>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630159" cy="3244850"/>
          </a:xfrm>
          <a:prstGeom prst="rect">
            <a:avLst/>
          </a:prstGeom>
        </p:spPr>
        <p:txBody>
          <a:bodyPr vert="horz" wrap="square" lIns="0" tIns="85725" rIns="0" bIns="0" rtlCol="0">
            <a:spAutoFit/>
          </a:bodyPr>
          <a:lstStyle/>
          <a:p>
            <a:pPr marL="354965" indent="-342265">
              <a:lnSpc>
                <a:spcPct val="100000"/>
              </a:lnSpc>
              <a:spcBef>
                <a:spcPts val="675"/>
              </a:spcBef>
              <a:buClr>
                <a:srgbClr val="0F1141"/>
              </a:buClr>
              <a:buFont typeface="Arial MT"/>
              <a:buChar char="•"/>
              <a:tabLst>
                <a:tab pos="354965" algn="l"/>
              </a:tabLst>
            </a:pPr>
            <a:r>
              <a:rPr sz="2400" i="1" dirty="0">
                <a:latin typeface="Times New Roman"/>
                <a:cs typeface="Times New Roman"/>
              </a:rPr>
              <a:t>Simplex</a:t>
            </a:r>
            <a:r>
              <a:rPr sz="2400" i="1" spc="-40" dirty="0">
                <a:latin typeface="Times New Roman"/>
                <a:cs typeface="Times New Roman"/>
              </a:rPr>
              <a:t> </a:t>
            </a:r>
            <a:r>
              <a:rPr sz="2400" i="1" dirty="0">
                <a:latin typeface="Times New Roman"/>
                <a:cs typeface="Times New Roman"/>
              </a:rPr>
              <a:t>systems</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e.g.,</a:t>
            </a:r>
            <a:r>
              <a:rPr sz="2400" spc="-25" dirty="0">
                <a:latin typeface="Times New Roman"/>
                <a:cs typeface="Times New Roman"/>
              </a:rPr>
              <a:t> </a:t>
            </a:r>
            <a:r>
              <a:rPr sz="2400" dirty="0">
                <a:latin typeface="Times New Roman"/>
                <a:cs typeface="Times New Roman"/>
              </a:rPr>
              <a:t>broadcast</a:t>
            </a:r>
            <a:r>
              <a:rPr sz="2400" spc="-35" dirty="0">
                <a:latin typeface="Times New Roman"/>
                <a:cs typeface="Times New Roman"/>
              </a:rPr>
              <a:t> </a:t>
            </a:r>
            <a:r>
              <a:rPr sz="2400" dirty="0">
                <a:latin typeface="Times New Roman"/>
                <a:cs typeface="Times New Roman"/>
              </a:rPr>
              <a:t>systems</a:t>
            </a:r>
            <a:r>
              <a:rPr sz="2400" spc="-1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pagers.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i="1" spc="-10" dirty="0">
                <a:latin typeface="Times New Roman"/>
                <a:cs typeface="Times New Roman"/>
              </a:rPr>
              <a:t>Semi-</a:t>
            </a:r>
            <a:r>
              <a:rPr sz="2400" i="1" dirty="0">
                <a:latin typeface="Times New Roman"/>
                <a:cs typeface="Times New Roman"/>
              </a:rPr>
              <a:t>duplex</a:t>
            </a:r>
            <a:r>
              <a:rPr sz="2400" i="1" spc="10" dirty="0">
                <a:latin typeface="Times New Roman"/>
                <a:cs typeface="Times New Roman"/>
              </a:rPr>
              <a:t> </a:t>
            </a:r>
            <a:r>
              <a:rPr sz="2400" i="1" dirty="0">
                <a:latin typeface="Times New Roman"/>
                <a:cs typeface="Times New Roman"/>
              </a:rPr>
              <a:t>systems</a:t>
            </a:r>
            <a:r>
              <a:rPr sz="2400" i="1" spc="25"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i="1" spc="-25" dirty="0">
                <a:latin typeface="Times New Roman"/>
                <a:cs typeface="Times New Roman"/>
              </a:rPr>
              <a:t>e.g.,</a:t>
            </a:r>
            <a:r>
              <a:rPr sz="2400" spc="-25" dirty="0">
                <a:latin typeface="Times New Roman"/>
                <a:cs typeface="Times New Roman"/>
              </a:rPr>
              <a:t>Walkie-</a:t>
            </a:r>
            <a:r>
              <a:rPr sz="2400" spc="-10" dirty="0">
                <a:latin typeface="Times New Roman"/>
                <a:cs typeface="Times New Roman"/>
              </a:rPr>
              <a:t>talkies</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i="1" dirty="0">
                <a:latin typeface="Times New Roman"/>
                <a:cs typeface="Times New Roman"/>
              </a:rPr>
              <a:t>Full-duplex</a:t>
            </a:r>
            <a:r>
              <a:rPr sz="2400" i="1" spc="-50" dirty="0">
                <a:latin typeface="Times New Roman"/>
                <a:cs typeface="Times New Roman"/>
              </a:rPr>
              <a:t> </a:t>
            </a:r>
            <a:r>
              <a:rPr sz="2400" i="1" dirty="0">
                <a:latin typeface="Times New Roman"/>
                <a:cs typeface="Times New Roman"/>
              </a:rPr>
              <a:t>systems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e.g.,</a:t>
            </a:r>
            <a:r>
              <a:rPr sz="2400" spc="-15" dirty="0">
                <a:latin typeface="Times New Roman"/>
                <a:cs typeface="Times New Roman"/>
              </a:rPr>
              <a:t> </a:t>
            </a:r>
            <a:r>
              <a:rPr sz="2400" dirty="0">
                <a:latin typeface="Times New Roman"/>
                <a:cs typeface="Times New Roman"/>
              </a:rPr>
              <a:t>cellphones</a:t>
            </a:r>
            <a:r>
              <a:rPr sz="2400" spc="-4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cordless</a:t>
            </a:r>
            <a:r>
              <a:rPr sz="2400" spc="-25" dirty="0">
                <a:latin typeface="Times New Roman"/>
                <a:cs typeface="Times New Roman"/>
              </a:rPr>
              <a:t> </a:t>
            </a:r>
            <a:r>
              <a:rPr sz="2400" spc="-10" dirty="0">
                <a:latin typeface="Times New Roman"/>
                <a:cs typeface="Times New Roman"/>
              </a:rPr>
              <a:t>phones.</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b="1" i="1" dirty="0">
                <a:latin typeface="Times New Roman"/>
                <a:cs typeface="Times New Roman"/>
              </a:rPr>
              <a:t>FDD</a:t>
            </a:r>
            <a:r>
              <a:rPr sz="2400" b="1" i="1" spc="-20" dirty="0">
                <a:latin typeface="Times New Roman"/>
                <a:cs typeface="Times New Roman"/>
              </a:rPr>
              <a:t> </a:t>
            </a:r>
            <a:r>
              <a:rPr sz="2400" i="1" dirty="0">
                <a:latin typeface="Times New Roman"/>
                <a:cs typeface="Times New Roman"/>
              </a:rPr>
              <a:t>uses</a:t>
            </a:r>
            <a:r>
              <a:rPr sz="2400" i="1" spc="-40" dirty="0">
                <a:latin typeface="Times New Roman"/>
                <a:cs typeface="Times New Roman"/>
              </a:rPr>
              <a:t> </a:t>
            </a:r>
            <a:r>
              <a:rPr sz="2400" i="1" dirty="0">
                <a:latin typeface="Times New Roman"/>
                <a:cs typeface="Times New Roman"/>
              </a:rPr>
              <a:t>two</a:t>
            </a:r>
            <a:r>
              <a:rPr sz="2400" i="1" spc="-55" dirty="0">
                <a:latin typeface="Times New Roman"/>
                <a:cs typeface="Times New Roman"/>
              </a:rPr>
              <a:t> </a:t>
            </a:r>
            <a:r>
              <a:rPr sz="2400" i="1" dirty="0">
                <a:latin typeface="Times New Roman"/>
                <a:cs typeface="Times New Roman"/>
              </a:rPr>
              <a:t>separate</a:t>
            </a:r>
            <a:r>
              <a:rPr sz="2400" i="1" spc="-45" dirty="0">
                <a:latin typeface="Times New Roman"/>
                <a:cs typeface="Times New Roman"/>
              </a:rPr>
              <a:t> </a:t>
            </a:r>
            <a:r>
              <a:rPr sz="2400" i="1" dirty="0">
                <a:latin typeface="Times New Roman"/>
                <a:cs typeface="Times New Roman"/>
              </a:rPr>
              <a:t>frequencies</a:t>
            </a:r>
            <a:r>
              <a:rPr sz="2400" i="1" spc="-75" dirty="0">
                <a:latin typeface="Times New Roman"/>
                <a:cs typeface="Times New Roman"/>
              </a:rPr>
              <a:t> </a:t>
            </a:r>
            <a:r>
              <a:rPr sz="2400" i="1" dirty="0">
                <a:latin typeface="Times New Roman"/>
                <a:cs typeface="Times New Roman"/>
              </a:rPr>
              <a:t>for</a:t>
            </a:r>
            <a:r>
              <a:rPr sz="2400" i="1" spc="-40" dirty="0">
                <a:latin typeface="Times New Roman"/>
                <a:cs typeface="Times New Roman"/>
              </a:rPr>
              <a:t> </a:t>
            </a:r>
            <a:r>
              <a:rPr sz="2400" i="1" dirty="0">
                <a:latin typeface="Times New Roman"/>
                <a:cs typeface="Times New Roman"/>
              </a:rPr>
              <a:t>the</a:t>
            </a:r>
            <a:r>
              <a:rPr sz="2400" i="1" spc="-60" dirty="0">
                <a:latin typeface="Times New Roman"/>
                <a:cs typeface="Times New Roman"/>
              </a:rPr>
              <a:t> </a:t>
            </a:r>
            <a:r>
              <a:rPr sz="2400" i="1" dirty="0">
                <a:latin typeface="Times New Roman"/>
                <a:cs typeface="Times New Roman"/>
              </a:rPr>
              <a:t>uplink</a:t>
            </a:r>
            <a:r>
              <a:rPr sz="2400" i="1" spc="-65" dirty="0">
                <a:latin typeface="Times New Roman"/>
                <a:cs typeface="Times New Roman"/>
              </a:rPr>
              <a:t> </a:t>
            </a:r>
            <a:r>
              <a:rPr sz="2400" i="1" dirty="0">
                <a:latin typeface="Times New Roman"/>
                <a:cs typeface="Times New Roman"/>
              </a:rPr>
              <a:t>(from</a:t>
            </a:r>
            <a:r>
              <a:rPr sz="2400" i="1" spc="-35" dirty="0">
                <a:latin typeface="Times New Roman"/>
                <a:cs typeface="Times New Roman"/>
              </a:rPr>
              <a:t> </a:t>
            </a:r>
            <a:r>
              <a:rPr sz="2400" i="1" spc="-25" dirty="0">
                <a:latin typeface="Times New Roman"/>
                <a:cs typeface="Times New Roman"/>
              </a:rPr>
              <a:t>the </a:t>
            </a:r>
            <a:r>
              <a:rPr sz="2400" i="1" dirty="0">
                <a:latin typeface="Times New Roman"/>
                <a:cs typeface="Times New Roman"/>
              </a:rPr>
              <a:t>mobile</a:t>
            </a:r>
            <a:r>
              <a:rPr sz="2400" i="1" spc="-25" dirty="0">
                <a:latin typeface="Times New Roman"/>
                <a:cs typeface="Times New Roman"/>
              </a:rPr>
              <a:t> </a:t>
            </a:r>
            <a:r>
              <a:rPr sz="2400" i="1" dirty="0">
                <a:latin typeface="Times New Roman"/>
                <a:cs typeface="Times New Roman"/>
              </a:rPr>
              <a:t>to</a:t>
            </a:r>
            <a:r>
              <a:rPr sz="2400" i="1" spc="-20" dirty="0">
                <a:latin typeface="Times New Roman"/>
                <a:cs typeface="Times New Roman"/>
              </a:rPr>
              <a:t> </a:t>
            </a:r>
            <a:r>
              <a:rPr sz="2400" i="1" dirty="0">
                <a:latin typeface="Times New Roman"/>
                <a:cs typeface="Times New Roman"/>
              </a:rPr>
              <a:t>the</a:t>
            </a:r>
            <a:r>
              <a:rPr sz="2400" i="1" spc="-20" dirty="0">
                <a:latin typeface="Times New Roman"/>
                <a:cs typeface="Times New Roman"/>
              </a:rPr>
              <a:t> </a:t>
            </a:r>
            <a:r>
              <a:rPr sz="2400" i="1" dirty="0">
                <a:latin typeface="Times New Roman"/>
                <a:cs typeface="Times New Roman"/>
              </a:rPr>
              <a:t>BS)</a:t>
            </a:r>
            <a:r>
              <a:rPr sz="2400" i="1" spc="-25" dirty="0">
                <a:latin typeface="Times New Roman"/>
                <a:cs typeface="Times New Roman"/>
              </a:rPr>
              <a:t> </a:t>
            </a:r>
            <a:r>
              <a:rPr sz="2400" i="1" dirty="0">
                <a:latin typeface="Times New Roman"/>
                <a:cs typeface="Times New Roman"/>
              </a:rPr>
              <a:t>and</a:t>
            </a:r>
            <a:r>
              <a:rPr sz="2400" i="1" spc="-10" dirty="0">
                <a:latin typeface="Times New Roman"/>
                <a:cs typeface="Times New Roman"/>
              </a:rPr>
              <a:t> </a:t>
            </a:r>
            <a:r>
              <a:rPr sz="2400" i="1" dirty="0">
                <a:latin typeface="Times New Roman"/>
                <a:cs typeface="Times New Roman"/>
              </a:rPr>
              <a:t>the</a:t>
            </a:r>
            <a:r>
              <a:rPr sz="2400" i="1" spc="-20" dirty="0">
                <a:latin typeface="Times New Roman"/>
                <a:cs typeface="Times New Roman"/>
              </a:rPr>
              <a:t> </a:t>
            </a:r>
            <a:r>
              <a:rPr sz="2400" i="1" dirty="0">
                <a:latin typeface="Times New Roman"/>
                <a:cs typeface="Times New Roman"/>
              </a:rPr>
              <a:t>downlink</a:t>
            </a:r>
            <a:r>
              <a:rPr sz="2400" i="1" spc="-30" dirty="0">
                <a:latin typeface="Times New Roman"/>
                <a:cs typeface="Times New Roman"/>
              </a:rPr>
              <a:t> </a:t>
            </a:r>
            <a:r>
              <a:rPr sz="2400" i="1" dirty="0">
                <a:latin typeface="Times New Roman"/>
                <a:cs typeface="Times New Roman"/>
              </a:rPr>
              <a:t>(from</a:t>
            </a:r>
            <a:r>
              <a:rPr sz="2400" i="1" spc="-10" dirty="0">
                <a:latin typeface="Times New Roman"/>
                <a:cs typeface="Times New Roman"/>
              </a:rPr>
              <a:t> </a:t>
            </a:r>
            <a:r>
              <a:rPr sz="2400" i="1" dirty="0">
                <a:latin typeface="Times New Roman"/>
                <a:cs typeface="Times New Roman"/>
              </a:rPr>
              <a:t>the</a:t>
            </a:r>
            <a:r>
              <a:rPr sz="2400" i="1" spc="-30" dirty="0">
                <a:latin typeface="Times New Roman"/>
                <a:cs typeface="Times New Roman"/>
              </a:rPr>
              <a:t> </a:t>
            </a:r>
            <a:r>
              <a:rPr sz="2400" i="1" dirty="0">
                <a:latin typeface="Times New Roman"/>
                <a:cs typeface="Times New Roman"/>
              </a:rPr>
              <a:t>BS</a:t>
            </a:r>
            <a:r>
              <a:rPr sz="2400" i="1" spc="-10" dirty="0">
                <a:latin typeface="Times New Roman"/>
                <a:cs typeface="Times New Roman"/>
              </a:rPr>
              <a:t> </a:t>
            </a:r>
            <a:r>
              <a:rPr sz="2400" i="1" dirty="0">
                <a:latin typeface="Times New Roman"/>
                <a:cs typeface="Times New Roman"/>
              </a:rPr>
              <a:t>to</a:t>
            </a:r>
            <a:r>
              <a:rPr sz="2400" i="1" spc="-10" dirty="0">
                <a:latin typeface="Times New Roman"/>
                <a:cs typeface="Times New Roman"/>
              </a:rPr>
              <a:t> </a:t>
            </a:r>
            <a:r>
              <a:rPr sz="2400" i="1" spc="-25" dirty="0">
                <a:latin typeface="Times New Roman"/>
                <a:cs typeface="Times New Roman"/>
              </a:rPr>
              <a:t>the </a:t>
            </a:r>
            <a:r>
              <a:rPr sz="2400" i="1" spc="-10" dirty="0">
                <a:latin typeface="Times New Roman"/>
                <a:cs typeface="Times New Roman"/>
              </a:rPr>
              <a:t>mobile).</a:t>
            </a:r>
            <a:endParaRPr sz="2400">
              <a:latin typeface="Times New Roman"/>
              <a:cs typeface="Times New Roman"/>
            </a:endParaRPr>
          </a:p>
          <a:p>
            <a:pPr marL="355600" marR="19050">
              <a:lnSpc>
                <a:spcPct val="100000"/>
              </a:lnSpc>
            </a:pPr>
            <a:r>
              <a:rPr sz="2400" b="1" i="1" dirty="0">
                <a:latin typeface="Times New Roman"/>
                <a:cs typeface="Times New Roman"/>
              </a:rPr>
              <a:t>TDD</a:t>
            </a:r>
            <a:r>
              <a:rPr sz="2400" b="1" i="1" spc="-25" dirty="0">
                <a:latin typeface="Times New Roman"/>
                <a:cs typeface="Times New Roman"/>
              </a:rPr>
              <a:t> </a:t>
            </a:r>
            <a:r>
              <a:rPr sz="2400" i="1" dirty="0">
                <a:latin typeface="Times New Roman"/>
                <a:cs typeface="Times New Roman"/>
              </a:rPr>
              <a:t>uses</a:t>
            </a:r>
            <a:r>
              <a:rPr sz="2400" i="1" spc="-25" dirty="0">
                <a:latin typeface="Times New Roman"/>
                <a:cs typeface="Times New Roman"/>
              </a:rPr>
              <a:t> </a:t>
            </a:r>
            <a:r>
              <a:rPr sz="2400" i="1" dirty="0">
                <a:latin typeface="Times New Roman"/>
                <a:cs typeface="Times New Roman"/>
              </a:rPr>
              <a:t>a</a:t>
            </a:r>
            <a:r>
              <a:rPr sz="2400" i="1" spc="-25" dirty="0">
                <a:latin typeface="Times New Roman"/>
                <a:cs typeface="Times New Roman"/>
              </a:rPr>
              <a:t> </a:t>
            </a:r>
            <a:r>
              <a:rPr sz="2400" i="1" dirty="0">
                <a:latin typeface="Times New Roman"/>
                <a:cs typeface="Times New Roman"/>
              </a:rPr>
              <a:t>single</a:t>
            </a:r>
            <a:r>
              <a:rPr sz="2400" i="1" spc="-45" dirty="0">
                <a:latin typeface="Times New Roman"/>
                <a:cs typeface="Times New Roman"/>
              </a:rPr>
              <a:t> </a:t>
            </a:r>
            <a:r>
              <a:rPr sz="2400" i="1" dirty="0">
                <a:latin typeface="Times New Roman"/>
                <a:cs typeface="Times New Roman"/>
              </a:rPr>
              <a:t>frequency</a:t>
            </a:r>
            <a:r>
              <a:rPr sz="2400" i="1" spc="-55" dirty="0">
                <a:latin typeface="Times New Roman"/>
                <a:cs typeface="Times New Roman"/>
              </a:rPr>
              <a:t> </a:t>
            </a:r>
            <a:r>
              <a:rPr sz="2400" i="1" dirty="0">
                <a:latin typeface="Times New Roman"/>
                <a:cs typeface="Times New Roman"/>
              </a:rPr>
              <a:t>to</a:t>
            </a:r>
            <a:r>
              <a:rPr sz="2400" i="1" spc="-25" dirty="0">
                <a:latin typeface="Times New Roman"/>
                <a:cs typeface="Times New Roman"/>
              </a:rPr>
              <a:t> </a:t>
            </a:r>
            <a:r>
              <a:rPr sz="2400" i="1" dirty="0">
                <a:latin typeface="Times New Roman"/>
                <a:cs typeface="Times New Roman"/>
              </a:rPr>
              <a:t>transmit</a:t>
            </a:r>
            <a:r>
              <a:rPr sz="2400" i="1" spc="-45" dirty="0">
                <a:latin typeface="Times New Roman"/>
                <a:cs typeface="Times New Roman"/>
              </a:rPr>
              <a:t> </a:t>
            </a:r>
            <a:r>
              <a:rPr sz="2400" i="1" dirty="0">
                <a:latin typeface="Times New Roman"/>
                <a:cs typeface="Times New Roman"/>
              </a:rPr>
              <a:t>signals</a:t>
            </a:r>
            <a:r>
              <a:rPr sz="2400" i="1" spc="-25" dirty="0">
                <a:latin typeface="Times New Roman"/>
                <a:cs typeface="Times New Roman"/>
              </a:rPr>
              <a:t> </a:t>
            </a:r>
            <a:r>
              <a:rPr sz="2400" i="1" dirty="0">
                <a:latin typeface="Times New Roman"/>
                <a:cs typeface="Times New Roman"/>
              </a:rPr>
              <a:t>in</a:t>
            </a:r>
            <a:r>
              <a:rPr sz="2400" i="1" spc="-35" dirty="0">
                <a:latin typeface="Times New Roman"/>
                <a:cs typeface="Times New Roman"/>
              </a:rPr>
              <a:t> </a:t>
            </a:r>
            <a:r>
              <a:rPr sz="2400" i="1" dirty="0">
                <a:latin typeface="Times New Roman"/>
                <a:cs typeface="Times New Roman"/>
              </a:rPr>
              <a:t>both</a:t>
            </a:r>
            <a:r>
              <a:rPr sz="2400" i="1" spc="-25" dirty="0">
                <a:latin typeface="Times New Roman"/>
                <a:cs typeface="Times New Roman"/>
              </a:rPr>
              <a:t> the </a:t>
            </a:r>
            <a:r>
              <a:rPr sz="2400" i="1" dirty="0">
                <a:latin typeface="Times New Roman"/>
                <a:cs typeface="Times New Roman"/>
              </a:rPr>
              <a:t>downlink</a:t>
            </a:r>
            <a:r>
              <a:rPr sz="2400" i="1" spc="-20" dirty="0">
                <a:latin typeface="Times New Roman"/>
                <a:cs typeface="Times New Roman"/>
              </a:rPr>
              <a:t> </a:t>
            </a:r>
            <a:r>
              <a:rPr sz="2400" i="1" dirty="0">
                <a:latin typeface="Times New Roman"/>
                <a:cs typeface="Times New Roman"/>
              </a:rPr>
              <a:t>and uplink</a:t>
            </a:r>
            <a:r>
              <a:rPr sz="2400" i="1" spc="-20" dirty="0">
                <a:latin typeface="Times New Roman"/>
                <a:cs typeface="Times New Roman"/>
              </a:rPr>
              <a:t> </a:t>
            </a:r>
            <a:r>
              <a:rPr sz="2400" i="1" spc="-10" dirty="0">
                <a:latin typeface="Times New Roman"/>
                <a:cs typeface="Times New Roman"/>
              </a:rPr>
              <a:t>directions.</a:t>
            </a:r>
            <a:endParaRPr sz="2400">
              <a:latin typeface="Times New Roman"/>
              <a:cs typeface="Times New Roman"/>
            </a:endParaRPr>
          </a:p>
        </p:txBody>
      </p:sp>
      <p:sp>
        <p:nvSpPr>
          <p:cNvPr id="3" name="object 3"/>
          <p:cNvSpPr txBox="1">
            <a:spLocks noGrp="1"/>
          </p:cNvSpPr>
          <p:nvPr>
            <p:ph type="title"/>
          </p:nvPr>
        </p:nvSpPr>
        <p:spPr>
          <a:xfrm>
            <a:off x="383540" y="150367"/>
            <a:ext cx="4685665" cy="1031875"/>
          </a:xfrm>
          <a:prstGeom prst="rect">
            <a:avLst/>
          </a:prstGeom>
        </p:spPr>
        <p:txBody>
          <a:bodyPr vert="horz" wrap="square" lIns="0" tIns="104139" rIns="0" bIns="0" rtlCol="0">
            <a:spAutoFit/>
          </a:bodyPr>
          <a:lstStyle/>
          <a:p>
            <a:pPr marL="12700" marR="5080">
              <a:lnSpc>
                <a:spcPts val="3600"/>
              </a:lnSpc>
              <a:spcBef>
                <a:spcPts val="819"/>
              </a:spcBef>
            </a:pPr>
            <a:r>
              <a:rPr b="0" i="1" spc="-150" dirty="0">
                <a:latin typeface="Arial"/>
                <a:cs typeface="Arial"/>
              </a:rPr>
              <a:t>Direction</a:t>
            </a:r>
            <a:r>
              <a:rPr b="0" i="1" spc="-240" dirty="0">
                <a:latin typeface="Arial"/>
                <a:cs typeface="Arial"/>
              </a:rPr>
              <a:t> </a:t>
            </a:r>
            <a:r>
              <a:rPr b="0" i="1" spc="-85" dirty="0">
                <a:latin typeface="Arial"/>
                <a:cs typeface="Arial"/>
              </a:rPr>
              <a:t>of</a:t>
            </a:r>
            <a:r>
              <a:rPr b="0" i="1" spc="-270" dirty="0">
                <a:latin typeface="Arial"/>
                <a:cs typeface="Arial"/>
              </a:rPr>
              <a:t> </a:t>
            </a:r>
            <a:r>
              <a:rPr b="0" i="1" spc="-165" dirty="0">
                <a:latin typeface="Arial"/>
                <a:cs typeface="Arial"/>
              </a:rPr>
              <a:t>Transmission </a:t>
            </a:r>
            <a:r>
              <a:rPr b="0" i="1" spc="-130" dirty="0">
                <a:latin typeface="Arial"/>
                <a:cs typeface="Arial"/>
              </a:rPr>
              <a:t>(</a:t>
            </a:r>
            <a:r>
              <a:rPr b="0" spc="-130" dirty="0">
                <a:latin typeface="Arial MT"/>
                <a:cs typeface="Arial MT"/>
              </a:rPr>
              <a:t>The</a:t>
            </a:r>
            <a:r>
              <a:rPr b="0" spc="-254" dirty="0">
                <a:latin typeface="Arial MT"/>
                <a:cs typeface="Arial MT"/>
              </a:rPr>
              <a:t> </a:t>
            </a:r>
            <a:r>
              <a:rPr b="0" spc="-140" dirty="0">
                <a:latin typeface="Arial MT"/>
                <a:cs typeface="Arial MT"/>
              </a:rPr>
              <a:t>duplex</a:t>
            </a:r>
            <a:r>
              <a:rPr b="0" spc="-245" dirty="0">
                <a:latin typeface="Arial MT"/>
                <a:cs typeface="Arial MT"/>
              </a:rPr>
              <a:t> </a:t>
            </a:r>
            <a:r>
              <a:rPr b="0" spc="-145" dirty="0">
                <a:latin typeface="Arial MT"/>
                <a:cs typeface="Arial MT"/>
              </a:rPr>
              <a:t>concept</a:t>
            </a:r>
            <a:r>
              <a:rPr b="0" spc="-240" dirty="0">
                <a:latin typeface="Arial MT"/>
                <a:cs typeface="Arial MT"/>
              </a:rPr>
              <a:t> </a:t>
            </a:r>
            <a:r>
              <a:rPr spc="-50" dirty="0"/>
              <a:t>)</a:t>
            </a:r>
          </a:p>
        </p:txBody>
      </p:sp>
      <p:sp>
        <p:nvSpPr>
          <p:cNvPr id="4" name="object 4"/>
          <p:cNvSpPr/>
          <p:nvPr/>
        </p:nvSpPr>
        <p:spPr>
          <a:xfrm>
            <a:off x="744499" y="4392294"/>
            <a:ext cx="3848100" cy="2019300"/>
          </a:xfrm>
          <a:custGeom>
            <a:avLst/>
            <a:gdLst/>
            <a:ahLst/>
            <a:cxnLst/>
            <a:rect l="l" t="t" r="r" b="b"/>
            <a:pathLst>
              <a:path w="3848100" h="2019300">
                <a:moveTo>
                  <a:pt x="3848074" y="1981200"/>
                </a:moveTo>
                <a:lnTo>
                  <a:pt x="3835400" y="1974862"/>
                </a:lnTo>
                <a:lnTo>
                  <a:pt x="3771874" y="1943100"/>
                </a:lnTo>
                <a:lnTo>
                  <a:pt x="3771874" y="1974862"/>
                </a:lnTo>
                <a:lnTo>
                  <a:pt x="44450" y="1974862"/>
                </a:lnTo>
                <a:lnTo>
                  <a:pt x="44450" y="76200"/>
                </a:lnTo>
                <a:lnTo>
                  <a:pt x="76200" y="76200"/>
                </a:lnTo>
                <a:lnTo>
                  <a:pt x="69850" y="63500"/>
                </a:lnTo>
                <a:lnTo>
                  <a:pt x="38100" y="0"/>
                </a:lnTo>
                <a:lnTo>
                  <a:pt x="0" y="76200"/>
                </a:lnTo>
                <a:lnTo>
                  <a:pt x="31750" y="76200"/>
                </a:lnTo>
                <a:lnTo>
                  <a:pt x="31750" y="1981212"/>
                </a:lnTo>
                <a:lnTo>
                  <a:pt x="38100" y="1981212"/>
                </a:lnTo>
                <a:lnTo>
                  <a:pt x="38100" y="1987562"/>
                </a:lnTo>
                <a:lnTo>
                  <a:pt x="3771874" y="1987562"/>
                </a:lnTo>
                <a:lnTo>
                  <a:pt x="3771874" y="2019300"/>
                </a:lnTo>
                <a:lnTo>
                  <a:pt x="3835349" y="1987562"/>
                </a:lnTo>
                <a:lnTo>
                  <a:pt x="3848074" y="1981200"/>
                </a:lnTo>
                <a:close/>
              </a:path>
            </a:pathLst>
          </a:custGeom>
          <a:solidFill>
            <a:srgbClr val="497DBA"/>
          </a:solidFill>
        </p:spPr>
        <p:txBody>
          <a:bodyPr wrap="square" lIns="0" tIns="0" rIns="0" bIns="0" rtlCol="0"/>
          <a:lstStyle/>
          <a:p>
            <a:endParaRPr/>
          </a:p>
        </p:txBody>
      </p:sp>
      <p:sp>
        <p:nvSpPr>
          <p:cNvPr id="5" name="object 5"/>
          <p:cNvSpPr txBox="1"/>
          <p:nvPr/>
        </p:nvSpPr>
        <p:spPr>
          <a:xfrm>
            <a:off x="782599" y="4773282"/>
            <a:ext cx="3581400" cy="369570"/>
          </a:xfrm>
          <a:prstGeom prst="rect">
            <a:avLst/>
          </a:prstGeom>
          <a:solidFill>
            <a:srgbClr val="DCE6F1"/>
          </a:solidFill>
          <a:ln w="9525">
            <a:solidFill>
              <a:srgbClr val="7E7E7E"/>
            </a:solidFill>
          </a:ln>
        </p:spPr>
        <p:txBody>
          <a:bodyPr vert="horz" wrap="square" lIns="0" tIns="31750" rIns="0" bIns="0" rtlCol="0">
            <a:spAutoFit/>
          </a:bodyPr>
          <a:lstStyle/>
          <a:p>
            <a:pPr marL="91440">
              <a:lnSpc>
                <a:spcPct val="100000"/>
              </a:lnSpc>
              <a:spcBef>
                <a:spcPts val="250"/>
              </a:spcBef>
            </a:pPr>
            <a:r>
              <a:rPr sz="1800" dirty="0">
                <a:latin typeface="Calibri"/>
                <a:cs typeface="Calibri"/>
              </a:rPr>
              <a:t>Base</a:t>
            </a:r>
            <a:r>
              <a:rPr sz="1800" spc="-55" dirty="0">
                <a:latin typeface="Calibri"/>
                <a:cs typeface="Calibri"/>
              </a:rPr>
              <a:t> </a:t>
            </a:r>
            <a:r>
              <a:rPr sz="1800" spc="-10" dirty="0">
                <a:latin typeface="Calibri"/>
                <a:cs typeface="Calibri"/>
              </a:rPr>
              <a:t>Station(Tx),</a:t>
            </a:r>
            <a:r>
              <a:rPr sz="1800" spc="-40" dirty="0">
                <a:latin typeface="Calibri"/>
                <a:cs typeface="Calibri"/>
              </a:rPr>
              <a:t> </a:t>
            </a:r>
            <a:r>
              <a:rPr sz="1800" dirty="0">
                <a:latin typeface="Calibri"/>
                <a:cs typeface="Calibri"/>
              </a:rPr>
              <a:t>Mobile</a:t>
            </a:r>
            <a:r>
              <a:rPr sz="1800" spc="-25" dirty="0">
                <a:latin typeface="Calibri"/>
                <a:cs typeface="Calibri"/>
              </a:rPr>
              <a:t> </a:t>
            </a:r>
            <a:r>
              <a:rPr sz="1800" spc="-10" dirty="0">
                <a:latin typeface="Calibri"/>
                <a:cs typeface="Calibri"/>
              </a:rPr>
              <a:t>Station(Rx</a:t>
            </a:r>
            <a:endParaRPr sz="1800">
              <a:latin typeface="Calibri"/>
              <a:cs typeface="Calibri"/>
            </a:endParaRPr>
          </a:p>
        </p:txBody>
      </p:sp>
      <p:sp>
        <p:nvSpPr>
          <p:cNvPr id="6" name="object 6"/>
          <p:cNvSpPr txBox="1"/>
          <p:nvPr/>
        </p:nvSpPr>
        <p:spPr>
          <a:xfrm>
            <a:off x="799655" y="5857608"/>
            <a:ext cx="3581400" cy="369570"/>
          </a:xfrm>
          <a:prstGeom prst="rect">
            <a:avLst/>
          </a:prstGeom>
          <a:solidFill>
            <a:srgbClr val="FBD4B5"/>
          </a:solidFill>
        </p:spPr>
        <p:txBody>
          <a:bodyPr vert="horz" wrap="square" lIns="0" tIns="31750" rIns="0" bIns="0" rtlCol="0">
            <a:spAutoFit/>
          </a:bodyPr>
          <a:lstStyle/>
          <a:p>
            <a:pPr marL="91440">
              <a:lnSpc>
                <a:spcPct val="100000"/>
              </a:lnSpc>
              <a:spcBef>
                <a:spcPts val="250"/>
              </a:spcBef>
            </a:pPr>
            <a:r>
              <a:rPr sz="1800" dirty="0">
                <a:latin typeface="Calibri"/>
                <a:cs typeface="Calibri"/>
              </a:rPr>
              <a:t>Mobile</a:t>
            </a:r>
            <a:r>
              <a:rPr sz="1800" spc="-15" dirty="0">
                <a:latin typeface="Calibri"/>
                <a:cs typeface="Calibri"/>
              </a:rPr>
              <a:t> </a:t>
            </a:r>
            <a:r>
              <a:rPr sz="1800" spc="-10" dirty="0">
                <a:latin typeface="Calibri"/>
                <a:cs typeface="Calibri"/>
              </a:rPr>
              <a:t>station</a:t>
            </a:r>
            <a:r>
              <a:rPr sz="1800" spc="-35" dirty="0">
                <a:latin typeface="Calibri"/>
                <a:cs typeface="Calibri"/>
              </a:rPr>
              <a:t> </a:t>
            </a:r>
            <a:r>
              <a:rPr sz="1800" dirty="0">
                <a:latin typeface="Calibri"/>
                <a:cs typeface="Calibri"/>
              </a:rPr>
              <a:t>(tx),</a:t>
            </a:r>
            <a:r>
              <a:rPr sz="1800" spc="-25" dirty="0">
                <a:latin typeface="Calibri"/>
                <a:cs typeface="Calibri"/>
              </a:rPr>
              <a:t> </a:t>
            </a:r>
            <a:r>
              <a:rPr sz="1800" dirty="0">
                <a:latin typeface="Calibri"/>
                <a:cs typeface="Calibri"/>
              </a:rPr>
              <a:t>Base</a:t>
            </a:r>
            <a:r>
              <a:rPr sz="1800" spc="-40" dirty="0">
                <a:latin typeface="Calibri"/>
                <a:cs typeface="Calibri"/>
              </a:rPr>
              <a:t> </a:t>
            </a:r>
            <a:r>
              <a:rPr sz="1800" spc="-10" dirty="0">
                <a:latin typeface="Calibri"/>
                <a:cs typeface="Calibri"/>
              </a:rPr>
              <a:t>station(Rx)</a:t>
            </a:r>
            <a:endParaRPr sz="1800">
              <a:latin typeface="Calibri"/>
              <a:cs typeface="Calibri"/>
            </a:endParaRPr>
          </a:p>
        </p:txBody>
      </p:sp>
      <p:sp>
        <p:nvSpPr>
          <p:cNvPr id="7" name="object 7"/>
          <p:cNvSpPr txBox="1"/>
          <p:nvPr/>
        </p:nvSpPr>
        <p:spPr>
          <a:xfrm>
            <a:off x="303529" y="4756429"/>
            <a:ext cx="254000" cy="153987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Frequency(Mhz)</a:t>
            </a:r>
            <a:endParaRPr sz="1800">
              <a:latin typeface="Calibri"/>
              <a:cs typeface="Calibri"/>
            </a:endParaRPr>
          </a:p>
        </p:txBody>
      </p:sp>
      <p:sp>
        <p:nvSpPr>
          <p:cNvPr id="8" name="object 8"/>
          <p:cNvSpPr/>
          <p:nvPr/>
        </p:nvSpPr>
        <p:spPr>
          <a:xfrm>
            <a:off x="5448300" y="4419600"/>
            <a:ext cx="3695700" cy="1987550"/>
          </a:xfrm>
          <a:custGeom>
            <a:avLst/>
            <a:gdLst/>
            <a:ahLst/>
            <a:cxnLst/>
            <a:rect l="l" t="t" r="r" b="b"/>
            <a:pathLst>
              <a:path w="3695700" h="1987550">
                <a:moveTo>
                  <a:pt x="3695700" y="1974850"/>
                </a:moveTo>
                <a:lnTo>
                  <a:pt x="44450" y="1974850"/>
                </a:lnTo>
                <a:lnTo>
                  <a:pt x="44450" y="76200"/>
                </a:lnTo>
                <a:lnTo>
                  <a:pt x="76200" y="76200"/>
                </a:lnTo>
                <a:lnTo>
                  <a:pt x="69850" y="63500"/>
                </a:lnTo>
                <a:lnTo>
                  <a:pt x="38100" y="0"/>
                </a:lnTo>
                <a:lnTo>
                  <a:pt x="0" y="76200"/>
                </a:lnTo>
                <a:lnTo>
                  <a:pt x="31750" y="76200"/>
                </a:lnTo>
                <a:lnTo>
                  <a:pt x="31750" y="1981200"/>
                </a:lnTo>
                <a:lnTo>
                  <a:pt x="38100" y="1981200"/>
                </a:lnTo>
                <a:lnTo>
                  <a:pt x="38100" y="1987550"/>
                </a:lnTo>
                <a:lnTo>
                  <a:pt x="3695700" y="1987550"/>
                </a:lnTo>
                <a:lnTo>
                  <a:pt x="3695700" y="1974850"/>
                </a:lnTo>
                <a:close/>
              </a:path>
            </a:pathLst>
          </a:custGeom>
          <a:solidFill>
            <a:srgbClr val="497DBA"/>
          </a:solidFill>
        </p:spPr>
        <p:txBody>
          <a:bodyPr wrap="square" lIns="0" tIns="0" rIns="0" bIns="0" rtlCol="0"/>
          <a:lstStyle/>
          <a:p>
            <a:endParaRPr/>
          </a:p>
        </p:txBody>
      </p:sp>
      <p:sp>
        <p:nvSpPr>
          <p:cNvPr id="9" name="object 9"/>
          <p:cNvSpPr txBox="1"/>
          <p:nvPr/>
        </p:nvSpPr>
        <p:spPr>
          <a:xfrm>
            <a:off x="5600319" y="5145925"/>
            <a:ext cx="1606550" cy="1200785"/>
          </a:xfrm>
          <a:prstGeom prst="rect">
            <a:avLst/>
          </a:prstGeom>
          <a:solidFill>
            <a:srgbClr val="DCE6F1"/>
          </a:solidFill>
          <a:ln w="9525">
            <a:solidFill>
              <a:srgbClr val="7E7E7E"/>
            </a:solidFill>
          </a:ln>
        </p:spPr>
        <p:txBody>
          <a:bodyPr vert="horz" wrap="square" lIns="0" tIns="31115" rIns="0" bIns="0" rtlCol="0">
            <a:spAutoFit/>
          </a:bodyPr>
          <a:lstStyle/>
          <a:p>
            <a:pPr marL="92075" marR="457200">
              <a:lnSpc>
                <a:spcPct val="100000"/>
              </a:lnSpc>
              <a:spcBef>
                <a:spcPts val="245"/>
              </a:spcBef>
            </a:pPr>
            <a:r>
              <a:rPr sz="1800" spc="-20" dirty="0">
                <a:latin typeface="Calibri"/>
                <a:cs typeface="Calibri"/>
              </a:rPr>
              <a:t>Base Station(Tx), </a:t>
            </a:r>
            <a:r>
              <a:rPr sz="1800" spc="-10" dirty="0">
                <a:latin typeface="Calibri"/>
                <a:cs typeface="Calibri"/>
              </a:rPr>
              <a:t>Mobile Station(Rx)</a:t>
            </a:r>
            <a:endParaRPr sz="180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a:t>
            </a:fld>
            <a:endParaRPr spc="-25" dirty="0"/>
          </a:p>
        </p:txBody>
      </p:sp>
      <p:sp>
        <p:nvSpPr>
          <p:cNvPr id="13" name="object 13"/>
          <p:cNvSpPr txBox="1"/>
          <p:nvPr/>
        </p:nvSpPr>
        <p:spPr>
          <a:xfrm>
            <a:off x="2157222" y="6565036"/>
            <a:ext cx="948690" cy="254000"/>
          </a:xfrm>
          <a:prstGeom prst="rect">
            <a:avLst/>
          </a:prstGeom>
        </p:spPr>
        <p:txBody>
          <a:bodyPr vert="horz" wrap="square" lIns="0" tIns="0" rIns="0" bIns="0" rtlCol="0">
            <a:spAutoFit/>
          </a:bodyPr>
          <a:lstStyle/>
          <a:p>
            <a:pPr marL="12700">
              <a:lnSpc>
                <a:spcPts val="1810"/>
              </a:lnSpc>
            </a:pPr>
            <a:r>
              <a:rPr sz="1800" dirty="0">
                <a:latin typeface="Calibri"/>
                <a:cs typeface="Calibri"/>
              </a:rPr>
              <a:t>Time</a:t>
            </a:r>
            <a:r>
              <a:rPr sz="1800" spc="-30" dirty="0">
                <a:latin typeface="Calibri"/>
                <a:cs typeface="Calibri"/>
              </a:rPr>
              <a:t> </a:t>
            </a:r>
            <a:r>
              <a:rPr sz="1800" spc="-20" dirty="0">
                <a:latin typeface="Calibri"/>
                <a:cs typeface="Calibri"/>
              </a:rPr>
              <a:t>(ms)</a:t>
            </a:r>
            <a:endParaRPr sz="1800">
              <a:latin typeface="Calibri"/>
              <a:cs typeface="Calibri"/>
            </a:endParaRPr>
          </a:p>
        </p:txBody>
      </p:sp>
      <p:sp>
        <p:nvSpPr>
          <p:cNvPr id="14" name="object 14"/>
          <p:cNvSpPr txBox="1"/>
          <p:nvPr/>
        </p:nvSpPr>
        <p:spPr>
          <a:xfrm>
            <a:off x="4585842" y="6592163"/>
            <a:ext cx="4478020" cy="254000"/>
          </a:xfrm>
          <a:prstGeom prst="rect">
            <a:avLst/>
          </a:prstGeom>
        </p:spPr>
        <p:txBody>
          <a:bodyPr vert="horz" wrap="square" lIns="0" tIns="0" rIns="0" bIns="0" rtlCol="0">
            <a:spAutoFit/>
          </a:bodyPr>
          <a:lstStyle/>
          <a:p>
            <a:pPr marL="12700">
              <a:lnSpc>
                <a:spcPts val="1830"/>
              </a:lnSpc>
            </a:pPr>
            <a:r>
              <a:rPr sz="1100" b="1" dirty="0">
                <a:solidFill>
                  <a:srgbClr val="0F1141"/>
                </a:solidFill>
                <a:latin typeface="Arial"/>
                <a:cs typeface="Arial"/>
              </a:rPr>
              <a:t>BITS </a:t>
            </a:r>
            <a:r>
              <a:rPr sz="1100" dirty="0">
                <a:solidFill>
                  <a:srgbClr val="0F1141"/>
                </a:solidFill>
                <a:latin typeface="Arial MT"/>
                <a:cs typeface="Arial MT"/>
              </a:rPr>
              <a:t>Pilani,</a:t>
            </a:r>
            <a:r>
              <a:rPr sz="1100" spc="30" dirty="0">
                <a:solidFill>
                  <a:srgbClr val="0F1141"/>
                </a:solidFill>
                <a:latin typeface="Arial MT"/>
                <a:cs typeface="Arial MT"/>
              </a:rPr>
              <a:t> </a:t>
            </a:r>
            <a:r>
              <a:rPr sz="1100" dirty="0">
                <a:solidFill>
                  <a:srgbClr val="0F1141"/>
                </a:solidFill>
                <a:latin typeface="Arial MT"/>
                <a:cs typeface="Arial MT"/>
              </a:rPr>
              <a:t>Deemed</a:t>
            </a:r>
            <a:r>
              <a:rPr sz="1100" spc="-10" dirty="0">
                <a:solidFill>
                  <a:srgbClr val="0F1141"/>
                </a:solidFill>
                <a:latin typeface="Arial MT"/>
                <a:cs typeface="Arial MT"/>
              </a:rPr>
              <a:t> </a:t>
            </a:r>
            <a:r>
              <a:rPr sz="1100" dirty="0">
                <a:solidFill>
                  <a:srgbClr val="0F1141"/>
                </a:solidFill>
                <a:latin typeface="Arial MT"/>
                <a:cs typeface="Arial MT"/>
              </a:rPr>
              <a:t>to</a:t>
            </a:r>
            <a:r>
              <a:rPr sz="1100" spc="-15" dirty="0">
                <a:solidFill>
                  <a:srgbClr val="0F1141"/>
                </a:solidFill>
                <a:latin typeface="Arial MT"/>
                <a:cs typeface="Arial MT"/>
              </a:rPr>
              <a:t> </a:t>
            </a:r>
            <a:r>
              <a:rPr sz="1100" dirty="0">
                <a:solidFill>
                  <a:srgbClr val="0F1141"/>
                </a:solidFill>
                <a:latin typeface="Arial MT"/>
                <a:cs typeface="Arial MT"/>
              </a:rPr>
              <a:t>be</a:t>
            </a:r>
            <a:r>
              <a:rPr sz="1100" spc="-5" dirty="0">
                <a:solidFill>
                  <a:srgbClr val="0F1141"/>
                </a:solidFill>
                <a:latin typeface="Arial MT"/>
                <a:cs typeface="Arial MT"/>
              </a:rPr>
              <a:t> </a:t>
            </a:r>
            <a:r>
              <a:rPr sz="1100" spc="-20" dirty="0">
                <a:solidFill>
                  <a:srgbClr val="0F1141"/>
                </a:solidFill>
                <a:latin typeface="Arial MT"/>
                <a:cs typeface="Arial MT"/>
              </a:rPr>
              <a:t>U</a:t>
            </a:r>
            <a:r>
              <a:rPr sz="1100" spc="-15" dirty="0">
                <a:solidFill>
                  <a:srgbClr val="0F1141"/>
                </a:solidFill>
                <a:latin typeface="Arial MT"/>
                <a:cs typeface="Arial MT"/>
              </a:rPr>
              <a:t>n</a:t>
            </a:r>
            <a:r>
              <a:rPr sz="1100" spc="-20" dirty="0">
                <a:solidFill>
                  <a:srgbClr val="0F1141"/>
                </a:solidFill>
                <a:latin typeface="Arial MT"/>
                <a:cs typeface="Arial MT"/>
              </a:rPr>
              <a:t>iv</a:t>
            </a:r>
            <a:r>
              <a:rPr sz="1100" spc="-5" dirty="0">
                <a:solidFill>
                  <a:srgbClr val="0F1141"/>
                </a:solidFill>
                <a:latin typeface="Arial MT"/>
                <a:cs typeface="Arial MT"/>
              </a:rPr>
              <a:t>ersit</a:t>
            </a:r>
            <a:r>
              <a:rPr sz="1100" spc="-225" dirty="0">
                <a:solidFill>
                  <a:srgbClr val="0F1141"/>
                </a:solidFill>
                <a:latin typeface="Arial MT"/>
                <a:cs typeface="Arial MT"/>
              </a:rPr>
              <a:t>y</a:t>
            </a:r>
            <a:r>
              <a:rPr sz="1800" spc="-340" dirty="0">
                <a:latin typeface="Calibri"/>
                <a:cs typeface="Calibri"/>
              </a:rPr>
              <a:t>T</a:t>
            </a:r>
            <a:r>
              <a:rPr sz="1100" spc="-285" dirty="0">
                <a:solidFill>
                  <a:srgbClr val="0F1141"/>
                </a:solidFill>
                <a:latin typeface="Arial MT"/>
                <a:cs typeface="Arial MT"/>
              </a:rPr>
              <a:t>u</a:t>
            </a:r>
            <a:r>
              <a:rPr sz="1800" spc="-140" dirty="0">
                <a:latin typeface="Calibri"/>
                <a:cs typeface="Calibri"/>
              </a:rPr>
              <a:t>i</a:t>
            </a:r>
            <a:r>
              <a:rPr sz="1100" spc="-495" dirty="0">
                <a:solidFill>
                  <a:srgbClr val="0F1141"/>
                </a:solidFill>
                <a:latin typeface="Arial MT"/>
                <a:cs typeface="Arial MT"/>
              </a:rPr>
              <a:t>n</a:t>
            </a:r>
            <a:r>
              <a:rPr sz="1800" spc="-960" dirty="0">
                <a:latin typeface="Calibri"/>
                <a:cs typeface="Calibri"/>
              </a:rPr>
              <a:t>m</a:t>
            </a:r>
            <a:r>
              <a:rPr sz="1100" spc="-10" dirty="0">
                <a:solidFill>
                  <a:srgbClr val="0F1141"/>
                </a:solidFill>
                <a:latin typeface="Arial MT"/>
                <a:cs typeface="Arial MT"/>
              </a:rPr>
              <a:t>d</a:t>
            </a:r>
            <a:r>
              <a:rPr sz="1100" spc="-280" dirty="0">
                <a:solidFill>
                  <a:srgbClr val="0F1141"/>
                </a:solidFill>
                <a:latin typeface="Arial MT"/>
                <a:cs typeface="Arial MT"/>
              </a:rPr>
              <a:t>e</a:t>
            </a:r>
            <a:r>
              <a:rPr sz="1800" spc="-645" dirty="0">
                <a:latin typeface="Calibri"/>
                <a:cs typeface="Calibri"/>
              </a:rPr>
              <a:t>e</a:t>
            </a:r>
            <a:r>
              <a:rPr sz="1100" spc="-5" dirty="0">
                <a:solidFill>
                  <a:srgbClr val="0F1141"/>
                </a:solidFill>
                <a:latin typeface="Arial MT"/>
                <a:cs typeface="Arial MT"/>
              </a:rPr>
              <a:t>r</a:t>
            </a:r>
            <a:r>
              <a:rPr sz="1100" spc="-10" dirty="0">
                <a:solidFill>
                  <a:srgbClr val="0F1141"/>
                </a:solidFill>
                <a:latin typeface="Arial MT"/>
                <a:cs typeface="Arial MT"/>
              </a:rPr>
              <a:t> </a:t>
            </a:r>
            <a:r>
              <a:rPr sz="1100" spc="-375" dirty="0">
                <a:solidFill>
                  <a:srgbClr val="0F1141"/>
                </a:solidFill>
                <a:latin typeface="Arial MT"/>
                <a:cs typeface="Arial MT"/>
              </a:rPr>
              <a:t>S</a:t>
            </a:r>
            <a:r>
              <a:rPr sz="1800" spc="-210" dirty="0">
                <a:latin typeface="Calibri"/>
                <a:cs typeface="Calibri"/>
              </a:rPr>
              <a:t>(</a:t>
            </a:r>
            <a:r>
              <a:rPr sz="1100" spc="-434" dirty="0">
                <a:solidFill>
                  <a:srgbClr val="0F1141"/>
                </a:solidFill>
                <a:latin typeface="Arial MT"/>
                <a:cs typeface="Arial MT"/>
              </a:rPr>
              <a:t>e</a:t>
            </a:r>
            <a:r>
              <a:rPr sz="1800" spc="-1030" dirty="0">
                <a:latin typeface="Calibri"/>
                <a:cs typeface="Calibri"/>
              </a:rPr>
              <a:t>m</a:t>
            </a:r>
            <a:r>
              <a:rPr sz="1100" spc="-15" dirty="0">
                <a:solidFill>
                  <a:srgbClr val="0F1141"/>
                </a:solidFill>
                <a:latin typeface="Arial MT"/>
                <a:cs typeface="Arial MT"/>
              </a:rPr>
              <a:t>ct</a:t>
            </a:r>
            <a:r>
              <a:rPr sz="1100" spc="-105" dirty="0">
                <a:solidFill>
                  <a:srgbClr val="0F1141"/>
                </a:solidFill>
                <a:latin typeface="Arial MT"/>
                <a:cs typeface="Arial MT"/>
              </a:rPr>
              <a:t>i</a:t>
            </a:r>
            <a:r>
              <a:rPr sz="1800" spc="-630" dirty="0">
                <a:latin typeface="Calibri"/>
                <a:cs typeface="Calibri"/>
              </a:rPr>
              <a:t>s</a:t>
            </a:r>
            <a:r>
              <a:rPr sz="1100" spc="-15" dirty="0">
                <a:solidFill>
                  <a:srgbClr val="0F1141"/>
                </a:solidFill>
                <a:latin typeface="Arial MT"/>
                <a:cs typeface="Arial MT"/>
              </a:rPr>
              <a:t>o</a:t>
            </a:r>
            <a:r>
              <a:rPr sz="1100" spc="-615" dirty="0">
                <a:solidFill>
                  <a:srgbClr val="0F1141"/>
                </a:solidFill>
                <a:latin typeface="Arial MT"/>
                <a:cs typeface="Arial MT"/>
              </a:rPr>
              <a:t>n</a:t>
            </a:r>
            <a:r>
              <a:rPr sz="1800" spc="-10" dirty="0">
                <a:latin typeface="Calibri"/>
                <a:cs typeface="Calibri"/>
              </a:rPr>
              <a:t>)</a:t>
            </a:r>
            <a:r>
              <a:rPr sz="1800" spc="-50" dirty="0">
                <a:latin typeface="Calibri"/>
                <a:cs typeface="Calibri"/>
              </a:rPr>
              <a:t> </a:t>
            </a:r>
            <a:r>
              <a:rPr sz="1100" dirty="0">
                <a:solidFill>
                  <a:srgbClr val="0F1141"/>
                </a:solidFill>
                <a:latin typeface="Arial MT"/>
                <a:cs typeface="Arial MT"/>
              </a:rPr>
              <a:t>3</a:t>
            </a:r>
            <a:r>
              <a:rPr sz="1100" spc="-5" dirty="0">
                <a:solidFill>
                  <a:srgbClr val="0F1141"/>
                </a:solidFill>
                <a:latin typeface="Arial MT"/>
                <a:cs typeface="Arial MT"/>
              </a:rPr>
              <a:t> </a:t>
            </a:r>
            <a:r>
              <a:rPr sz="1100" dirty="0">
                <a:solidFill>
                  <a:srgbClr val="0F1141"/>
                </a:solidFill>
                <a:latin typeface="Arial MT"/>
                <a:cs typeface="Arial MT"/>
              </a:rPr>
              <a:t>of</a:t>
            </a:r>
            <a:r>
              <a:rPr sz="1100" spc="-15" dirty="0">
                <a:solidFill>
                  <a:srgbClr val="0F1141"/>
                </a:solidFill>
                <a:latin typeface="Arial MT"/>
                <a:cs typeface="Arial MT"/>
              </a:rPr>
              <a:t> </a:t>
            </a:r>
            <a:r>
              <a:rPr sz="1100" dirty="0">
                <a:solidFill>
                  <a:srgbClr val="0F1141"/>
                </a:solidFill>
                <a:latin typeface="Arial MT"/>
                <a:cs typeface="Arial MT"/>
              </a:rPr>
              <a:t>UGC</a:t>
            </a:r>
            <a:r>
              <a:rPr sz="1100" spc="-10" dirty="0">
                <a:solidFill>
                  <a:srgbClr val="0F1141"/>
                </a:solidFill>
                <a:latin typeface="Arial MT"/>
                <a:cs typeface="Arial MT"/>
              </a:rPr>
              <a:t> </a:t>
            </a:r>
            <a:r>
              <a:rPr sz="1100" dirty="0">
                <a:solidFill>
                  <a:srgbClr val="0F1141"/>
                </a:solidFill>
                <a:latin typeface="Arial MT"/>
                <a:cs typeface="Arial MT"/>
              </a:rPr>
              <a:t>Act,</a:t>
            </a:r>
            <a:r>
              <a:rPr sz="1100" spc="-10" dirty="0">
                <a:solidFill>
                  <a:srgbClr val="0F1141"/>
                </a:solidFill>
                <a:latin typeface="Arial MT"/>
                <a:cs typeface="Arial MT"/>
              </a:rPr>
              <a:t> </a:t>
            </a:r>
            <a:r>
              <a:rPr sz="1100" spc="-20" dirty="0">
                <a:solidFill>
                  <a:srgbClr val="0F1141"/>
                </a:solidFill>
                <a:latin typeface="Arial MT"/>
                <a:cs typeface="Arial MT"/>
              </a:rPr>
              <a:t>1956</a:t>
            </a:r>
            <a:endParaRPr sz="1100">
              <a:latin typeface="Arial MT"/>
              <a:cs typeface="Arial MT"/>
            </a:endParaRPr>
          </a:p>
        </p:txBody>
      </p:sp>
      <p:sp>
        <p:nvSpPr>
          <p:cNvPr id="10" name="object 10"/>
          <p:cNvSpPr txBox="1"/>
          <p:nvPr/>
        </p:nvSpPr>
        <p:spPr>
          <a:xfrm>
            <a:off x="7256018" y="5145925"/>
            <a:ext cx="1524000" cy="1200785"/>
          </a:xfrm>
          <a:prstGeom prst="rect">
            <a:avLst/>
          </a:prstGeom>
          <a:solidFill>
            <a:srgbClr val="FBD4B5"/>
          </a:solidFill>
        </p:spPr>
        <p:txBody>
          <a:bodyPr vert="horz" wrap="square" lIns="0" tIns="31115" rIns="0" bIns="0" rtlCol="0">
            <a:spAutoFit/>
          </a:bodyPr>
          <a:lstStyle/>
          <a:p>
            <a:pPr marL="92075" marR="365760">
              <a:lnSpc>
                <a:spcPct val="100000"/>
              </a:lnSpc>
              <a:spcBef>
                <a:spcPts val="245"/>
              </a:spcBef>
            </a:pPr>
            <a:r>
              <a:rPr sz="1800" spc="-10" dirty="0">
                <a:latin typeface="Calibri"/>
                <a:cs typeface="Calibri"/>
              </a:rPr>
              <a:t>Mobile station</a:t>
            </a:r>
            <a:r>
              <a:rPr sz="1800" spc="-40" dirty="0">
                <a:latin typeface="Calibri"/>
                <a:cs typeface="Calibri"/>
              </a:rPr>
              <a:t> </a:t>
            </a:r>
            <a:r>
              <a:rPr sz="1800" spc="-10" dirty="0">
                <a:latin typeface="Calibri"/>
                <a:cs typeface="Calibri"/>
              </a:rPr>
              <a:t>(tx), </a:t>
            </a:r>
            <a:r>
              <a:rPr sz="1800" spc="-20" dirty="0">
                <a:latin typeface="Calibri"/>
                <a:cs typeface="Calibri"/>
              </a:rPr>
              <a:t>Base </a:t>
            </a:r>
            <a:r>
              <a:rPr sz="1800" spc="-10" dirty="0">
                <a:latin typeface="Calibri"/>
                <a:cs typeface="Calibri"/>
              </a:rPr>
              <a:t>station(Rx)</a:t>
            </a:r>
            <a:endParaRPr sz="1800">
              <a:latin typeface="Calibri"/>
              <a:cs typeface="Calibri"/>
            </a:endParaRPr>
          </a:p>
        </p:txBody>
      </p:sp>
      <p:sp>
        <p:nvSpPr>
          <p:cNvPr id="11" name="object 11"/>
          <p:cNvSpPr txBox="1"/>
          <p:nvPr/>
        </p:nvSpPr>
        <p:spPr>
          <a:xfrm>
            <a:off x="5008117" y="4783480"/>
            <a:ext cx="254000" cy="153987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Frequency(Mhz)</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8010525" cy="3171825"/>
          </a:xfrm>
          <a:prstGeom prst="rect">
            <a:avLst/>
          </a:prstGeom>
        </p:spPr>
        <p:txBody>
          <a:bodyPr vert="horz" wrap="square" lIns="0" tIns="53975" rIns="0" bIns="0" rtlCol="0">
            <a:spAutoFit/>
          </a:bodyPr>
          <a:lstStyle/>
          <a:p>
            <a:pPr marL="355600" marR="75565" indent="-342900">
              <a:lnSpc>
                <a:spcPts val="2590"/>
              </a:lnSpc>
              <a:spcBef>
                <a:spcPts val="425"/>
              </a:spcBef>
              <a:buClr>
                <a:srgbClr val="0F1141"/>
              </a:buClr>
              <a:buFont typeface="Arial MT"/>
              <a:buChar char="•"/>
              <a:tabLst>
                <a:tab pos="355600" algn="l"/>
              </a:tabLst>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main</a:t>
            </a:r>
            <a:r>
              <a:rPr sz="2400" spc="-10" dirty="0">
                <a:latin typeface="Times New Roman"/>
                <a:cs typeface="Times New Roman"/>
              </a:rPr>
              <a:t> </a:t>
            </a:r>
            <a:r>
              <a:rPr sz="2400" dirty="0">
                <a:latin typeface="Times New Roman"/>
                <a:cs typeface="Times New Roman"/>
              </a:rPr>
              <a:t>reason</a:t>
            </a:r>
            <a:r>
              <a:rPr sz="2400" spc="-2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defining</a:t>
            </a:r>
            <a:r>
              <a:rPr sz="2400" spc="-30" dirty="0">
                <a:latin typeface="Times New Roman"/>
                <a:cs typeface="Times New Roman"/>
              </a:rPr>
              <a:t> </a:t>
            </a:r>
            <a:r>
              <a:rPr sz="2400" dirty="0">
                <a:latin typeface="Times New Roman"/>
                <a:cs typeface="Times New Roman"/>
              </a:rPr>
              <a:t>cells</a:t>
            </a:r>
            <a:r>
              <a:rPr sz="2400" spc="-3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cellular</a:t>
            </a:r>
            <a:r>
              <a:rPr sz="2400" spc="-45" dirty="0">
                <a:latin typeface="Times New Roman"/>
                <a:cs typeface="Times New Roman"/>
              </a:rPr>
              <a:t> </a:t>
            </a:r>
            <a:r>
              <a:rPr sz="2400" dirty="0">
                <a:latin typeface="Times New Roman"/>
                <a:cs typeface="Times New Roman"/>
              </a:rPr>
              <a:t>land</a:t>
            </a:r>
            <a:r>
              <a:rPr sz="2400" spc="-35" dirty="0">
                <a:latin typeface="Times New Roman"/>
                <a:cs typeface="Times New Roman"/>
              </a:rPr>
              <a:t> </a:t>
            </a:r>
            <a:r>
              <a:rPr sz="2400" spc="-10" dirty="0">
                <a:latin typeface="Times New Roman"/>
                <a:cs typeface="Times New Roman"/>
              </a:rPr>
              <a:t>mobile </a:t>
            </a:r>
            <a:r>
              <a:rPr sz="2400" dirty="0">
                <a:latin typeface="Times New Roman"/>
                <a:cs typeface="Times New Roman"/>
              </a:rPr>
              <a:t>radio</a:t>
            </a:r>
            <a:r>
              <a:rPr sz="2400" spc="-30" dirty="0">
                <a:latin typeface="Times New Roman"/>
                <a:cs typeface="Times New Roman"/>
              </a:rPr>
              <a:t> </a:t>
            </a:r>
            <a:r>
              <a:rPr sz="2400" dirty="0">
                <a:latin typeface="Times New Roman"/>
                <a:cs typeface="Times New Roman"/>
              </a:rPr>
              <a:t>system</a:t>
            </a:r>
            <a:r>
              <a:rPr sz="2400" spc="-1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outline</a:t>
            </a:r>
            <a:r>
              <a:rPr sz="2400" spc="-40" dirty="0">
                <a:latin typeface="Times New Roman"/>
                <a:cs typeface="Times New Roman"/>
              </a:rPr>
              <a:t> </a:t>
            </a:r>
            <a:r>
              <a:rPr sz="2400" dirty="0">
                <a:latin typeface="Times New Roman"/>
                <a:cs typeface="Times New Roman"/>
              </a:rPr>
              <a:t>areas</a:t>
            </a:r>
            <a:r>
              <a:rPr sz="2400" spc="-2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which</a:t>
            </a:r>
            <a:r>
              <a:rPr sz="2400" spc="-5" dirty="0">
                <a:latin typeface="Times New Roman"/>
                <a:cs typeface="Times New Roman"/>
              </a:rPr>
              <a:t> </a:t>
            </a:r>
            <a:r>
              <a:rPr sz="2400" dirty="0">
                <a:latin typeface="Times New Roman"/>
                <a:cs typeface="Times New Roman"/>
              </a:rPr>
              <a:t>specific</a:t>
            </a:r>
            <a:r>
              <a:rPr sz="2400" spc="-45" dirty="0">
                <a:latin typeface="Times New Roman"/>
                <a:cs typeface="Times New Roman"/>
              </a:rPr>
              <a:t> </a:t>
            </a:r>
            <a:r>
              <a:rPr sz="2400" dirty="0">
                <a:latin typeface="Times New Roman"/>
                <a:cs typeface="Times New Roman"/>
              </a:rPr>
              <a:t>channels</a:t>
            </a:r>
            <a:r>
              <a:rPr sz="2400" spc="-25" dirty="0">
                <a:latin typeface="Times New Roman"/>
                <a:cs typeface="Times New Roman"/>
              </a:rPr>
              <a:t> and </a:t>
            </a:r>
            <a:r>
              <a:rPr sz="2400" dirty="0">
                <a:latin typeface="Times New Roman"/>
                <a:cs typeface="Times New Roman"/>
              </a:rPr>
              <a:t>specific</a:t>
            </a:r>
            <a:r>
              <a:rPr sz="2400" spc="-20" dirty="0">
                <a:latin typeface="Times New Roman"/>
                <a:cs typeface="Times New Roman"/>
              </a:rPr>
              <a:t> </a:t>
            </a:r>
            <a:r>
              <a:rPr sz="2400" dirty="0">
                <a:latin typeface="Times New Roman"/>
                <a:cs typeface="Times New Roman"/>
              </a:rPr>
              <a:t>cell</a:t>
            </a:r>
            <a:r>
              <a:rPr sz="2400" spc="-30" dirty="0">
                <a:latin typeface="Times New Roman"/>
                <a:cs typeface="Times New Roman"/>
              </a:rPr>
              <a:t> </a:t>
            </a:r>
            <a:r>
              <a:rPr sz="2400" dirty="0">
                <a:latin typeface="Times New Roman"/>
                <a:cs typeface="Times New Roman"/>
              </a:rPr>
              <a:t>sites</a:t>
            </a:r>
            <a:r>
              <a:rPr sz="2400" spc="-10" dirty="0">
                <a:latin typeface="Times New Roman"/>
                <a:cs typeface="Times New Roman"/>
              </a:rPr>
              <a:t> </a:t>
            </a:r>
            <a:r>
              <a:rPr sz="2400" dirty="0">
                <a:latin typeface="Times New Roman"/>
                <a:cs typeface="Times New Roman"/>
              </a:rPr>
              <a:t>are</a:t>
            </a:r>
            <a:r>
              <a:rPr sz="2400" spc="-15" dirty="0">
                <a:latin typeface="Times New Roman"/>
                <a:cs typeface="Times New Roman"/>
              </a:rPr>
              <a:t> </a:t>
            </a:r>
            <a:r>
              <a:rPr sz="2400" spc="-10" dirty="0">
                <a:latin typeface="Times New Roman"/>
                <a:cs typeface="Times New Roman"/>
              </a:rPr>
              <a:t>used.</a:t>
            </a:r>
            <a:endParaRPr sz="2400">
              <a:latin typeface="Times New Roman"/>
              <a:cs typeface="Times New Roman"/>
            </a:endParaRPr>
          </a:p>
          <a:p>
            <a:pPr marL="355600" marR="103505" indent="-342900">
              <a:lnSpc>
                <a:spcPts val="2590"/>
              </a:lnSpc>
              <a:spcBef>
                <a:spcPts val="585"/>
              </a:spcBef>
              <a:buClr>
                <a:srgbClr val="0F1141"/>
              </a:buClr>
              <a:buFont typeface="Arial MT"/>
              <a:buChar char="•"/>
              <a:tabLst>
                <a:tab pos="355600" algn="l"/>
              </a:tabLst>
            </a:pPr>
            <a:r>
              <a:rPr sz="2400" dirty="0">
                <a:latin typeface="Times New Roman"/>
                <a:cs typeface="Times New Roman"/>
              </a:rPr>
              <a:t>Designers</a:t>
            </a:r>
            <a:r>
              <a:rPr sz="2400" spc="-15" dirty="0">
                <a:latin typeface="Times New Roman"/>
                <a:cs typeface="Times New Roman"/>
              </a:rPr>
              <a:t> </a:t>
            </a:r>
            <a:r>
              <a:rPr sz="2400" dirty="0">
                <a:latin typeface="Times New Roman"/>
                <a:cs typeface="Times New Roman"/>
              </a:rPr>
              <a:t>have</a:t>
            </a:r>
            <a:r>
              <a:rPr sz="2400" spc="-10" dirty="0">
                <a:latin typeface="Times New Roman"/>
                <a:cs typeface="Times New Roman"/>
              </a:rPr>
              <a:t> </a:t>
            </a:r>
            <a:r>
              <a:rPr sz="2400" dirty="0">
                <a:latin typeface="Times New Roman"/>
                <a:cs typeface="Times New Roman"/>
              </a:rPr>
              <a:t>realized</a:t>
            </a:r>
            <a:r>
              <a:rPr sz="2400" spc="-45"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visualizing</a:t>
            </a:r>
            <a:r>
              <a:rPr sz="2400" spc="-50" dirty="0">
                <a:latin typeface="Times New Roman"/>
                <a:cs typeface="Times New Roman"/>
              </a:rPr>
              <a:t> </a:t>
            </a:r>
            <a:r>
              <a:rPr sz="2400" dirty="0">
                <a:latin typeface="Times New Roman"/>
                <a:cs typeface="Times New Roman"/>
              </a:rPr>
              <a:t>all</a:t>
            </a:r>
            <a:r>
              <a:rPr sz="2400" spc="-20" dirty="0">
                <a:latin typeface="Times New Roman"/>
                <a:cs typeface="Times New Roman"/>
              </a:rPr>
              <a:t> </a:t>
            </a:r>
            <a:r>
              <a:rPr sz="2400" dirty="0">
                <a:latin typeface="Times New Roman"/>
                <a:cs typeface="Times New Roman"/>
              </a:rPr>
              <a:t>cells</a:t>
            </a:r>
            <a:r>
              <a:rPr sz="2400" spc="-20" dirty="0">
                <a:latin typeface="Times New Roman"/>
                <a:cs typeface="Times New Roman"/>
              </a:rPr>
              <a:t> </a:t>
            </a:r>
            <a:r>
              <a:rPr sz="2400" dirty="0">
                <a:latin typeface="Times New Roman"/>
                <a:cs typeface="Times New Roman"/>
              </a:rPr>
              <a:t>as</a:t>
            </a:r>
            <a:r>
              <a:rPr sz="2400" spc="-5" dirty="0">
                <a:latin typeface="Times New Roman"/>
                <a:cs typeface="Times New Roman"/>
              </a:rPr>
              <a:t> </a:t>
            </a:r>
            <a:r>
              <a:rPr sz="2400" dirty="0">
                <a:latin typeface="Times New Roman"/>
                <a:cs typeface="Times New Roman"/>
              </a:rPr>
              <a:t>having</a:t>
            </a:r>
            <a:r>
              <a:rPr sz="2400" spc="-20" dirty="0">
                <a:latin typeface="Times New Roman"/>
                <a:cs typeface="Times New Roman"/>
              </a:rPr>
              <a:t> </a:t>
            </a:r>
            <a:r>
              <a:rPr sz="2400" spc="-25" dirty="0">
                <a:latin typeface="Times New Roman"/>
                <a:cs typeface="Times New Roman"/>
              </a:rPr>
              <a:t>the </a:t>
            </a:r>
            <a:r>
              <a:rPr sz="2400" dirty="0">
                <a:latin typeface="Times New Roman"/>
                <a:cs typeface="Times New Roman"/>
              </a:rPr>
              <a:t>same</a:t>
            </a:r>
            <a:r>
              <a:rPr sz="2400" spc="-10" dirty="0">
                <a:latin typeface="Times New Roman"/>
                <a:cs typeface="Times New Roman"/>
              </a:rPr>
              <a:t> </a:t>
            </a:r>
            <a:r>
              <a:rPr sz="2400" dirty="0">
                <a:latin typeface="Times New Roman"/>
                <a:cs typeface="Times New Roman"/>
              </a:rPr>
              <a:t>geometrical</a:t>
            </a:r>
            <a:r>
              <a:rPr sz="2400" spc="-35" dirty="0">
                <a:latin typeface="Times New Roman"/>
                <a:cs typeface="Times New Roman"/>
              </a:rPr>
              <a:t> </a:t>
            </a:r>
            <a:r>
              <a:rPr sz="2400" dirty="0">
                <a:latin typeface="Times New Roman"/>
                <a:cs typeface="Times New Roman"/>
              </a:rPr>
              <a:t>shape</a:t>
            </a:r>
            <a:r>
              <a:rPr sz="2400" spc="-20" dirty="0">
                <a:latin typeface="Times New Roman"/>
                <a:cs typeface="Times New Roman"/>
              </a:rPr>
              <a:t> </a:t>
            </a:r>
            <a:r>
              <a:rPr sz="2400" dirty="0">
                <a:latin typeface="Times New Roman"/>
                <a:cs typeface="Times New Roman"/>
              </a:rPr>
              <a:t>helps</a:t>
            </a:r>
            <a:r>
              <a:rPr sz="2400"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ease</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design</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spc="-10" dirty="0">
                <a:latin typeface="Times New Roman"/>
                <a:cs typeface="Times New Roman"/>
              </a:rPr>
              <a:t>cellular systems.</a:t>
            </a:r>
            <a:endParaRPr sz="2400">
              <a:latin typeface="Times New Roman"/>
              <a:cs typeface="Times New Roman"/>
            </a:endParaRPr>
          </a:p>
          <a:p>
            <a:pPr marL="355600" marR="5080" indent="-342900">
              <a:lnSpc>
                <a:spcPts val="2590"/>
              </a:lnSpc>
              <a:spcBef>
                <a:spcPts val="585"/>
              </a:spcBef>
              <a:buClr>
                <a:srgbClr val="0F1141"/>
              </a:buClr>
              <a:buFont typeface="Arial MT"/>
              <a:buChar char="•"/>
              <a:tabLst>
                <a:tab pos="355600" algn="l"/>
              </a:tabLst>
            </a:pP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geometry</a:t>
            </a:r>
            <a:r>
              <a:rPr sz="2400" spc="-30" dirty="0">
                <a:latin typeface="Times New Roman"/>
                <a:cs typeface="Times New Roman"/>
              </a:rPr>
              <a:t> </a:t>
            </a:r>
            <a:r>
              <a:rPr sz="2400" dirty="0">
                <a:latin typeface="Times New Roman"/>
                <a:cs typeface="Times New Roman"/>
              </a:rPr>
              <a:t>helps</a:t>
            </a:r>
            <a:r>
              <a:rPr sz="2400" spc="-2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ease</a:t>
            </a:r>
            <a:r>
              <a:rPr sz="2400" spc="-1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assessment</a:t>
            </a:r>
            <a:r>
              <a:rPr sz="2400" spc="-25" dirty="0">
                <a:latin typeface="Times New Roman"/>
                <a:cs typeface="Times New Roman"/>
              </a:rPr>
              <a:t> </a:t>
            </a:r>
            <a:r>
              <a:rPr sz="2400" dirty="0">
                <a:latin typeface="Times New Roman"/>
                <a:cs typeface="Times New Roman"/>
              </a:rPr>
              <a:t>of</a:t>
            </a:r>
            <a:r>
              <a:rPr sz="2400" spc="-10" dirty="0">
                <a:latin typeface="Times New Roman"/>
                <a:cs typeface="Times New Roman"/>
              </a:rPr>
              <a:t> spectral </a:t>
            </a:r>
            <a:r>
              <a:rPr sz="2400" dirty="0">
                <a:latin typeface="Times New Roman"/>
                <a:cs typeface="Times New Roman"/>
              </a:rPr>
              <a:t>efficiency</a:t>
            </a:r>
            <a:r>
              <a:rPr sz="2400" spc="-4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various</a:t>
            </a:r>
            <a:r>
              <a:rPr sz="2400" spc="-15" dirty="0">
                <a:latin typeface="Times New Roman"/>
                <a:cs typeface="Times New Roman"/>
              </a:rPr>
              <a:t> </a:t>
            </a:r>
            <a:r>
              <a:rPr sz="2400" dirty="0">
                <a:latin typeface="Times New Roman"/>
                <a:cs typeface="Times New Roman"/>
              </a:rPr>
              <a:t>cellular</a:t>
            </a:r>
            <a:r>
              <a:rPr sz="2400" spc="-65" dirty="0">
                <a:latin typeface="Times New Roman"/>
                <a:cs typeface="Times New Roman"/>
              </a:rPr>
              <a:t> </a:t>
            </a:r>
            <a:r>
              <a:rPr sz="2400" dirty="0">
                <a:latin typeface="Times New Roman"/>
                <a:cs typeface="Times New Roman"/>
              </a:rPr>
              <a:t>systems,</a:t>
            </a:r>
            <a:r>
              <a:rPr sz="2400" spc="-5"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particular</a:t>
            </a:r>
            <a:r>
              <a:rPr sz="2400" spc="-5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10" dirty="0">
                <a:latin typeface="Times New Roman"/>
                <a:cs typeface="Times New Roman"/>
              </a:rPr>
              <a:t>calculate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significant</a:t>
            </a:r>
            <a:r>
              <a:rPr sz="2400" spc="-50" dirty="0">
                <a:latin typeface="Times New Roman"/>
                <a:cs typeface="Times New Roman"/>
              </a:rPr>
              <a:t> </a:t>
            </a:r>
            <a:r>
              <a:rPr sz="2400" dirty="0">
                <a:latin typeface="Times New Roman"/>
                <a:cs typeface="Times New Roman"/>
              </a:rPr>
              <a:t>co-channel</a:t>
            </a:r>
            <a:r>
              <a:rPr sz="2400" spc="-25" dirty="0">
                <a:latin typeface="Times New Roman"/>
                <a:cs typeface="Times New Roman"/>
              </a:rPr>
              <a:t> </a:t>
            </a:r>
            <a:r>
              <a:rPr sz="2400" dirty="0">
                <a:latin typeface="Times New Roman"/>
                <a:cs typeface="Times New Roman"/>
              </a:rPr>
              <a:t>interference</a:t>
            </a:r>
            <a:r>
              <a:rPr sz="2400" spc="-50" dirty="0">
                <a:latin typeface="Times New Roman"/>
                <a:cs typeface="Times New Roman"/>
              </a:rPr>
              <a:t> </a:t>
            </a:r>
            <a:r>
              <a:rPr sz="2400" dirty="0">
                <a:latin typeface="Times New Roman"/>
                <a:cs typeface="Times New Roman"/>
              </a:rPr>
              <a:t>(CCI)</a:t>
            </a:r>
            <a:r>
              <a:rPr sz="2400" spc="-15"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85" dirty="0">
                <a:latin typeface="Arial MT"/>
                <a:cs typeface="Arial MT"/>
              </a:rPr>
              <a:t>Ce</a:t>
            </a:r>
            <a:r>
              <a:rPr b="0" spc="-495" dirty="0">
                <a:latin typeface="Arial MT"/>
                <a:cs typeface="Arial MT"/>
              </a:rPr>
              <a:t> </a:t>
            </a:r>
            <a:r>
              <a:rPr spc="-175" dirty="0"/>
              <a:t>l</a:t>
            </a:r>
            <a:r>
              <a:rPr b="0" spc="-175" dirty="0">
                <a:latin typeface="Arial MT"/>
                <a:cs typeface="Arial MT"/>
              </a:rPr>
              <a:t>ular</a:t>
            </a:r>
            <a:r>
              <a:rPr b="0" spc="-265" dirty="0">
                <a:latin typeface="Arial MT"/>
                <a:cs typeface="Arial MT"/>
              </a:rPr>
              <a:t> </a:t>
            </a:r>
            <a:r>
              <a:rPr b="0" spc="-130" dirty="0">
                <a:latin typeface="Arial MT"/>
                <a:cs typeface="Arial MT"/>
              </a:rPr>
              <a:t>Geometry</a:t>
            </a:r>
          </a:p>
        </p:txBody>
      </p:sp>
      <p:sp>
        <p:nvSpPr>
          <p:cNvPr id="4" name="object 4"/>
          <p:cNvSpPr txBox="1"/>
          <p:nvPr/>
        </p:nvSpPr>
        <p:spPr>
          <a:xfrm>
            <a:off x="8879585" y="6176568"/>
            <a:ext cx="175260" cy="208279"/>
          </a:xfrm>
          <a:prstGeom prst="rect">
            <a:avLst/>
          </a:prstGeom>
        </p:spPr>
        <p:txBody>
          <a:bodyPr vert="horz" wrap="square" lIns="0" tIns="12700" rIns="0" bIns="0" rtlCol="0">
            <a:spAutoFit/>
          </a:bodyPr>
          <a:lstStyle/>
          <a:p>
            <a:pPr marL="12700">
              <a:lnSpc>
                <a:spcPct val="100000"/>
              </a:lnSpc>
              <a:spcBef>
                <a:spcPts val="100"/>
              </a:spcBef>
            </a:pPr>
            <a:r>
              <a:rPr sz="1200" spc="-55" dirty="0">
                <a:solidFill>
                  <a:srgbClr val="888888"/>
                </a:solidFill>
                <a:latin typeface="Arial MT"/>
                <a:cs typeface="Arial MT"/>
              </a:rPr>
              <a:t>11</a:t>
            </a:r>
            <a:endParaRPr sz="12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6942455" cy="1342390"/>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Shapes:</a:t>
            </a:r>
            <a:r>
              <a:rPr sz="2400" spc="-20" dirty="0">
                <a:latin typeface="Times New Roman"/>
                <a:cs typeface="Times New Roman"/>
              </a:rPr>
              <a:t> </a:t>
            </a:r>
            <a:r>
              <a:rPr sz="2400" dirty="0">
                <a:latin typeface="Times New Roman"/>
                <a:cs typeface="Times New Roman"/>
              </a:rPr>
              <a:t>Regular</a:t>
            </a:r>
            <a:r>
              <a:rPr sz="2400" spc="-20" dirty="0">
                <a:latin typeface="Times New Roman"/>
                <a:cs typeface="Times New Roman"/>
              </a:rPr>
              <a:t> </a:t>
            </a:r>
            <a:r>
              <a:rPr sz="2400" dirty="0">
                <a:latin typeface="Times New Roman"/>
                <a:cs typeface="Times New Roman"/>
              </a:rPr>
              <a:t>Hexagon, Square, Circle</a:t>
            </a:r>
            <a:r>
              <a:rPr sz="2400" spc="-25" dirty="0">
                <a:latin typeface="Times New Roman"/>
                <a:cs typeface="Times New Roman"/>
              </a:rPr>
              <a:t> </a:t>
            </a:r>
            <a:r>
              <a:rPr sz="2400" dirty="0">
                <a:latin typeface="Times New Roman"/>
                <a:cs typeface="Times New Roman"/>
              </a:rPr>
              <a:t>&amp;</a:t>
            </a:r>
            <a:r>
              <a:rPr sz="2400" spc="-60" dirty="0">
                <a:latin typeface="Times New Roman"/>
                <a:cs typeface="Times New Roman"/>
              </a:rPr>
              <a:t> </a:t>
            </a:r>
            <a:r>
              <a:rPr sz="2400" spc="-10" dirty="0">
                <a:latin typeface="Times New Roman"/>
                <a:cs typeface="Times New Roman"/>
              </a:rPr>
              <a:t>Triangle.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regular</a:t>
            </a:r>
            <a:r>
              <a:rPr sz="2400" spc="-30" dirty="0">
                <a:latin typeface="Times New Roman"/>
                <a:cs typeface="Times New Roman"/>
              </a:rPr>
              <a:t> </a:t>
            </a:r>
            <a:r>
              <a:rPr sz="2400" dirty="0">
                <a:latin typeface="Times New Roman"/>
                <a:cs typeface="Times New Roman"/>
              </a:rPr>
              <a:t>hexagon</a:t>
            </a:r>
            <a:r>
              <a:rPr sz="2400" spc="-1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favoured</a:t>
            </a:r>
            <a:r>
              <a:rPr sz="2400" spc="-1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dirty="0">
                <a:latin typeface="Times New Roman"/>
                <a:cs typeface="Times New Roman"/>
              </a:rPr>
              <a:t>designers</a:t>
            </a:r>
            <a:r>
              <a:rPr sz="2400" spc="-35" dirty="0">
                <a:latin typeface="Times New Roman"/>
                <a:cs typeface="Times New Roman"/>
              </a:rPr>
              <a:t> </a:t>
            </a:r>
            <a:r>
              <a:rPr sz="2400" spc="-25" dirty="0">
                <a:latin typeface="Times New Roman"/>
                <a:cs typeface="Times New Roman"/>
              </a:rPr>
              <a:t>for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following</a:t>
            </a:r>
            <a:r>
              <a:rPr sz="2400" spc="-10" dirty="0">
                <a:latin typeface="Times New Roman"/>
                <a:cs typeface="Times New Roman"/>
              </a:rPr>
              <a:t> reasons:</a:t>
            </a:r>
            <a:endParaRPr sz="24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p:nvPr/>
        </p:nvSpPr>
        <p:spPr>
          <a:xfrm>
            <a:off x="383540" y="2833496"/>
            <a:ext cx="7958455" cy="3537585"/>
          </a:xfrm>
          <a:prstGeom prst="rect">
            <a:avLst/>
          </a:prstGeom>
        </p:spPr>
        <p:txBody>
          <a:bodyPr vert="horz" wrap="square" lIns="0" tIns="12700" rIns="0" bIns="0" rtlCol="0">
            <a:spAutoFit/>
          </a:bodyPr>
          <a:lstStyle/>
          <a:p>
            <a:pPr marL="355600" marR="848360" indent="-342900">
              <a:lnSpc>
                <a:spcPct val="100000"/>
              </a:lnSpc>
              <a:spcBef>
                <a:spcPts val="100"/>
              </a:spcBef>
              <a:buClr>
                <a:srgbClr val="0F1141"/>
              </a:buClr>
              <a:buFont typeface="Arial MT"/>
              <a:buChar char="•"/>
              <a:tabLst>
                <a:tab pos="355600" algn="l"/>
              </a:tabLst>
            </a:pPr>
            <a:r>
              <a:rPr sz="2400" dirty="0">
                <a:latin typeface="Times New Roman"/>
                <a:cs typeface="Times New Roman"/>
              </a:rPr>
              <a:t>It</a:t>
            </a:r>
            <a:r>
              <a:rPr sz="2400" spc="-15" dirty="0">
                <a:latin typeface="Times New Roman"/>
                <a:cs typeface="Times New Roman"/>
              </a:rPr>
              <a:t> </a:t>
            </a:r>
            <a:r>
              <a:rPr sz="2400" dirty="0">
                <a:latin typeface="Times New Roman"/>
                <a:cs typeface="Times New Roman"/>
              </a:rPr>
              <a:t>provides</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best</a:t>
            </a:r>
            <a:r>
              <a:rPr sz="2400" spc="-10" dirty="0">
                <a:latin typeface="Times New Roman"/>
                <a:cs typeface="Times New Roman"/>
              </a:rPr>
              <a:t> </a:t>
            </a:r>
            <a:r>
              <a:rPr sz="2400" dirty="0">
                <a:latin typeface="Times New Roman"/>
                <a:cs typeface="Times New Roman"/>
              </a:rPr>
              <a:t>approximation</a:t>
            </a:r>
            <a:r>
              <a:rPr sz="2400" spc="-2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circular</a:t>
            </a:r>
            <a:r>
              <a:rPr sz="2400" spc="-10" dirty="0">
                <a:latin typeface="Times New Roman"/>
                <a:cs typeface="Times New Roman"/>
              </a:rPr>
              <a:t> omni- </a:t>
            </a:r>
            <a:r>
              <a:rPr sz="2400" dirty="0">
                <a:latin typeface="Times New Roman"/>
                <a:cs typeface="Times New Roman"/>
              </a:rPr>
              <a:t>directional</a:t>
            </a:r>
            <a:r>
              <a:rPr sz="2400" spc="-50" dirty="0">
                <a:latin typeface="Times New Roman"/>
                <a:cs typeface="Times New Roman"/>
              </a:rPr>
              <a:t> </a:t>
            </a:r>
            <a:r>
              <a:rPr sz="2400" dirty="0">
                <a:latin typeface="Times New Roman"/>
                <a:cs typeface="Times New Roman"/>
              </a:rPr>
              <a:t>radio</a:t>
            </a:r>
            <a:r>
              <a:rPr sz="2400" spc="-15" dirty="0">
                <a:latin typeface="Times New Roman"/>
                <a:cs typeface="Times New Roman"/>
              </a:rPr>
              <a:t> </a:t>
            </a:r>
            <a:r>
              <a:rPr sz="2400" dirty="0">
                <a:latin typeface="Times New Roman"/>
                <a:cs typeface="Times New Roman"/>
              </a:rPr>
              <a:t>patterns</a:t>
            </a:r>
            <a:r>
              <a:rPr sz="2400" spc="-40" dirty="0">
                <a:latin typeface="Times New Roman"/>
                <a:cs typeface="Times New Roman"/>
              </a:rPr>
              <a:t> </a:t>
            </a:r>
            <a:r>
              <a:rPr sz="2400" dirty="0">
                <a:latin typeface="Times New Roman"/>
                <a:cs typeface="Times New Roman"/>
              </a:rPr>
              <a:t>achieved</a:t>
            </a:r>
            <a:r>
              <a:rPr sz="2400" spc="-4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spc="-10" dirty="0">
                <a:latin typeface="Times New Roman"/>
                <a:cs typeface="Times New Roman"/>
              </a:rPr>
              <a:t>practice.</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It</a:t>
            </a:r>
            <a:r>
              <a:rPr sz="2400" spc="-30"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more</a:t>
            </a:r>
            <a:r>
              <a:rPr sz="2400" spc="5" dirty="0">
                <a:latin typeface="Times New Roman"/>
                <a:cs typeface="Times New Roman"/>
              </a:rPr>
              <a:t> </a:t>
            </a:r>
            <a:r>
              <a:rPr sz="2400" dirty="0">
                <a:latin typeface="Times New Roman"/>
                <a:cs typeface="Times New Roman"/>
              </a:rPr>
              <a:t>economical</a:t>
            </a:r>
            <a:r>
              <a:rPr sz="2400" spc="-3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use</a:t>
            </a:r>
            <a:r>
              <a:rPr sz="2400" spc="-15" dirty="0">
                <a:latin typeface="Times New Roman"/>
                <a:cs typeface="Times New Roman"/>
              </a:rPr>
              <a:t> </a:t>
            </a:r>
            <a:r>
              <a:rPr sz="2400" dirty="0">
                <a:latin typeface="Times New Roman"/>
                <a:cs typeface="Times New Roman"/>
              </a:rPr>
              <a:t>since</a:t>
            </a:r>
            <a:r>
              <a:rPr sz="2400" spc="-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hexagonal</a:t>
            </a:r>
            <a:r>
              <a:rPr sz="2400" spc="-30" dirty="0">
                <a:latin typeface="Times New Roman"/>
                <a:cs typeface="Times New Roman"/>
              </a:rPr>
              <a:t> </a:t>
            </a:r>
            <a:r>
              <a:rPr sz="2400" dirty="0">
                <a:latin typeface="Times New Roman"/>
                <a:cs typeface="Times New Roman"/>
              </a:rPr>
              <a:t>layout</a:t>
            </a:r>
            <a:r>
              <a:rPr sz="2400" spc="-25" dirty="0">
                <a:latin typeface="Times New Roman"/>
                <a:cs typeface="Times New Roman"/>
              </a:rPr>
              <a:t> </a:t>
            </a:r>
            <a:r>
              <a:rPr sz="2400" spc="-10" dirty="0">
                <a:latin typeface="Times New Roman"/>
                <a:cs typeface="Times New Roman"/>
              </a:rPr>
              <a:t>requires</a:t>
            </a:r>
            <a:endParaRPr sz="2400">
              <a:latin typeface="Times New Roman"/>
              <a:cs typeface="Times New Roman"/>
            </a:endParaRPr>
          </a:p>
          <a:p>
            <a:pPr marL="355600">
              <a:lnSpc>
                <a:spcPct val="100000"/>
              </a:lnSpc>
            </a:pPr>
            <a:r>
              <a:rPr sz="2400" dirty="0">
                <a:latin typeface="Times New Roman"/>
                <a:cs typeface="Times New Roman"/>
              </a:rPr>
              <a:t>fewer</a:t>
            </a:r>
            <a:r>
              <a:rPr sz="2400" spc="-20" dirty="0">
                <a:latin typeface="Times New Roman"/>
                <a:cs typeface="Times New Roman"/>
              </a:rPr>
              <a:t> </a:t>
            </a:r>
            <a:r>
              <a:rPr sz="2400" dirty="0">
                <a:latin typeface="Times New Roman"/>
                <a:cs typeface="Times New Roman"/>
              </a:rPr>
              <a:t>cells</a:t>
            </a:r>
            <a:r>
              <a:rPr sz="2400" spc="-3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hence</a:t>
            </a:r>
            <a:r>
              <a:rPr sz="2400" spc="-25" dirty="0">
                <a:latin typeface="Times New Roman"/>
                <a:cs typeface="Times New Roman"/>
              </a:rPr>
              <a:t> </a:t>
            </a:r>
            <a:r>
              <a:rPr sz="2400" dirty="0">
                <a:latin typeface="Times New Roman"/>
                <a:cs typeface="Times New Roman"/>
              </a:rPr>
              <a:t>fewer</a:t>
            </a:r>
            <a:r>
              <a:rPr sz="2400" spc="-20" dirty="0">
                <a:latin typeface="Times New Roman"/>
                <a:cs typeface="Times New Roman"/>
              </a:rPr>
              <a:t> </a:t>
            </a:r>
            <a:r>
              <a:rPr sz="2400" spc="-10" dirty="0">
                <a:latin typeface="Times New Roman"/>
                <a:cs typeface="Times New Roman"/>
              </a:rPr>
              <a:t>stations.</a:t>
            </a:r>
            <a:endParaRPr sz="2400">
              <a:latin typeface="Times New Roman"/>
              <a:cs typeface="Times New Roman"/>
            </a:endParaRPr>
          </a:p>
          <a:p>
            <a:pPr marL="355600" marR="138430" indent="-342900">
              <a:lnSpc>
                <a:spcPct val="100000"/>
              </a:lnSpc>
              <a:spcBef>
                <a:spcPts val="575"/>
              </a:spcBef>
              <a:buClr>
                <a:srgbClr val="0F1141"/>
              </a:buClr>
              <a:buFont typeface="Arial MT"/>
              <a:buChar char="•"/>
              <a:tabLst>
                <a:tab pos="355600" algn="l"/>
              </a:tabLst>
            </a:pPr>
            <a:r>
              <a:rPr sz="2400" dirty="0">
                <a:latin typeface="Times New Roman"/>
                <a:cs typeface="Times New Roman"/>
              </a:rPr>
              <a:t>It</a:t>
            </a:r>
            <a:r>
              <a:rPr sz="2400" spc="-25" dirty="0">
                <a:latin typeface="Times New Roman"/>
                <a:cs typeface="Times New Roman"/>
              </a:rPr>
              <a:t> </a:t>
            </a:r>
            <a:r>
              <a:rPr sz="2400" dirty="0">
                <a:latin typeface="Times New Roman"/>
                <a:cs typeface="Times New Roman"/>
              </a:rPr>
              <a:t>combines</a:t>
            </a:r>
            <a:r>
              <a:rPr sz="2400" spc="-25" dirty="0">
                <a:latin typeface="Times New Roman"/>
                <a:cs typeface="Times New Roman"/>
              </a:rPr>
              <a:t> </a:t>
            </a:r>
            <a:r>
              <a:rPr sz="2400" dirty="0">
                <a:latin typeface="Times New Roman"/>
                <a:cs typeface="Times New Roman"/>
              </a:rPr>
              <a:t>ease</a:t>
            </a:r>
            <a:r>
              <a:rPr sz="2400" spc="-2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geometry</a:t>
            </a:r>
            <a:r>
              <a:rPr sz="2400" spc="-15" dirty="0">
                <a:latin typeface="Times New Roman"/>
                <a:cs typeface="Times New Roman"/>
              </a:rPr>
              <a:t> </a:t>
            </a:r>
            <a:r>
              <a:rPr sz="2400" dirty="0">
                <a:latin typeface="Times New Roman"/>
                <a:cs typeface="Times New Roman"/>
              </a:rPr>
              <a:t>with</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practical</a:t>
            </a:r>
            <a:r>
              <a:rPr sz="2400" spc="-50" dirty="0">
                <a:latin typeface="Times New Roman"/>
                <a:cs typeface="Times New Roman"/>
              </a:rPr>
              <a:t> </a:t>
            </a:r>
            <a:r>
              <a:rPr sz="2400" dirty="0">
                <a:latin typeface="Times New Roman"/>
                <a:cs typeface="Times New Roman"/>
              </a:rPr>
              <a:t>realization</a:t>
            </a:r>
            <a:r>
              <a:rPr sz="2400" spc="-55" dirty="0">
                <a:latin typeface="Times New Roman"/>
                <a:cs typeface="Times New Roman"/>
              </a:rPr>
              <a:t> </a:t>
            </a:r>
            <a:r>
              <a:rPr sz="2400" spc="-25" dirty="0">
                <a:latin typeface="Times New Roman"/>
                <a:cs typeface="Times New Roman"/>
              </a:rPr>
              <a:t>of </a:t>
            </a:r>
            <a:r>
              <a:rPr sz="2400" dirty="0">
                <a:latin typeface="Times New Roman"/>
                <a:cs typeface="Times New Roman"/>
              </a:rPr>
              <a:t>overlapping</a:t>
            </a:r>
            <a:r>
              <a:rPr sz="2400" spc="-35" dirty="0">
                <a:latin typeface="Times New Roman"/>
                <a:cs typeface="Times New Roman"/>
              </a:rPr>
              <a:t> </a:t>
            </a:r>
            <a:r>
              <a:rPr sz="2400" spc="-10" dirty="0">
                <a:latin typeface="Times New Roman"/>
                <a:cs typeface="Times New Roman"/>
              </a:rPr>
              <a:t>circles.</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For a given</a:t>
            </a:r>
            <a:r>
              <a:rPr sz="2400" spc="-25" dirty="0">
                <a:latin typeface="Times New Roman"/>
                <a:cs typeface="Times New Roman"/>
              </a:rPr>
              <a:t> </a:t>
            </a:r>
            <a:r>
              <a:rPr sz="2400" dirty="0">
                <a:latin typeface="Times New Roman"/>
                <a:cs typeface="Times New Roman"/>
              </a:rPr>
              <a:t>distance</a:t>
            </a:r>
            <a:r>
              <a:rPr sz="2400" spc="-25" dirty="0">
                <a:latin typeface="Times New Roman"/>
                <a:cs typeface="Times New Roman"/>
              </a:rPr>
              <a:t> </a:t>
            </a:r>
            <a:r>
              <a:rPr sz="2400" dirty="0">
                <a:latin typeface="Times New Roman"/>
                <a:cs typeface="Times New Roman"/>
              </a:rPr>
              <a:t>between</a:t>
            </a:r>
            <a:r>
              <a:rPr sz="2400" spc="-3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centre</a:t>
            </a:r>
            <a:r>
              <a:rPr sz="2400" spc="-30" dirty="0">
                <a:latin typeface="Times New Roman"/>
                <a:cs typeface="Times New Roman"/>
              </a:rPr>
              <a:t> </a:t>
            </a:r>
            <a:r>
              <a:rPr sz="2400" dirty="0">
                <a:latin typeface="Times New Roman"/>
                <a:cs typeface="Times New Roman"/>
              </a:rPr>
              <a:t>of a polygon</a:t>
            </a:r>
            <a:r>
              <a:rPr sz="2400" spc="-1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spc="-25" dirty="0">
                <a:latin typeface="Times New Roman"/>
                <a:cs typeface="Times New Roman"/>
              </a:rPr>
              <a:t>its </a:t>
            </a:r>
            <a:r>
              <a:rPr sz="2400" dirty="0">
                <a:latin typeface="Times New Roman"/>
                <a:cs typeface="Times New Roman"/>
              </a:rPr>
              <a:t>farthest</a:t>
            </a:r>
            <a:r>
              <a:rPr sz="2400" spc="-35" dirty="0">
                <a:latin typeface="Times New Roman"/>
                <a:cs typeface="Times New Roman"/>
              </a:rPr>
              <a:t> </a:t>
            </a:r>
            <a:r>
              <a:rPr sz="2400" dirty="0">
                <a:latin typeface="Times New Roman"/>
                <a:cs typeface="Times New Roman"/>
              </a:rPr>
              <a:t>perimeter</a:t>
            </a:r>
            <a:r>
              <a:rPr sz="2400" spc="-30" dirty="0">
                <a:latin typeface="Times New Roman"/>
                <a:cs typeface="Times New Roman"/>
              </a:rPr>
              <a:t> </a:t>
            </a:r>
            <a:r>
              <a:rPr sz="2400" dirty="0">
                <a:latin typeface="Times New Roman"/>
                <a:cs typeface="Times New Roman"/>
              </a:rPr>
              <a:t>points,</a:t>
            </a:r>
            <a:r>
              <a:rPr sz="2400" spc="-3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hexagon</a:t>
            </a:r>
            <a:r>
              <a:rPr sz="2400" spc="-20" dirty="0">
                <a:latin typeface="Times New Roman"/>
                <a:cs typeface="Times New Roman"/>
              </a:rPr>
              <a:t> </a:t>
            </a:r>
            <a:r>
              <a:rPr sz="2400" dirty="0">
                <a:latin typeface="Times New Roman"/>
                <a:cs typeface="Times New Roman"/>
              </a:rPr>
              <a:t>has</a:t>
            </a:r>
            <a:r>
              <a:rPr sz="2400" spc="-1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largest</a:t>
            </a:r>
            <a:r>
              <a:rPr sz="2400" spc="-30" dirty="0">
                <a:latin typeface="Times New Roman"/>
                <a:cs typeface="Times New Roman"/>
              </a:rPr>
              <a:t> </a:t>
            </a:r>
            <a:r>
              <a:rPr sz="2400" dirty="0">
                <a:latin typeface="Times New Roman"/>
                <a:cs typeface="Times New Roman"/>
              </a:rPr>
              <a:t>area,</a:t>
            </a:r>
            <a:r>
              <a:rPr sz="2400" spc="-35" dirty="0">
                <a:latin typeface="Times New Roman"/>
                <a:cs typeface="Times New Roman"/>
              </a:rPr>
              <a:t> </a:t>
            </a:r>
            <a:r>
              <a:rPr sz="2400" spc="-25" dirty="0">
                <a:latin typeface="Times New Roman"/>
                <a:cs typeface="Times New Roman"/>
              </a:rPr>
              <a:t>and </a:t>
            </a:r>
            <a:r>
              <a:rPr sz="2400" dirty="0">
                <a:latin typeface="Times New Roman"/>
                <a:cs typeface="Times New Roman"/>
              </a:rPr>
              <a:t>it</a:t>
            </a:r>
            <a:r>
              <a:rPr sz="2400" spc="-30" dirty="0">
                <a:latin typeface="Times New Roman"/>
                <a:cs typeface="Times New Roman"/>
              </a:rPr>
              <a:t> </a:t>
            </a:r>
            <a:r>
              <a:rPr sz="2400" dirty="0">
                <a:latin typeface="Times New Roman"/>
                <a:cs typeface="Times New Roman"/>
              </a:rPr>
              <a:t>almost</a:t>
            </a:r>
            <a:r>
              <a:rPr sz="2400" spc="-10" dirty="0">
                <a:latin typeface="Times New Roman"/>
                <a:cs typeface="Times New Roman"/>
              </a:rPr>
              <a:t> </a:t>
            </a:r>
            <a:r>
              <a:rPr sz="2400" dirty="0">
                <a:latin typeface="Times New Roman"/>
                <a:cs typeface="Times New Roman"/>
              </a:rPr>
              <a:t>approximates</a:t>
            </a:r>
            <a:r>
              <a:rPr sz="2400" spc="-3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circular</a:t>
            </a:r>
            <a:r>
              <a:rPr sz="2400" spc="-45" dirty="0">
                <a:latin typeface="Times New Roman"/>
                <a:cs typeface="Times New Roman"/>
              </a:rPr>
              <a:t> </a:t>
            </a:r>
            <a:r>
              <a:rPr sz="2400" dirty="0">
                <a:latin typeface="Times New Roman"/>
                <a:cs typeface="Times New Roman"/>
              </a:rPr>
              <a:t>radiation</a:t>
            </a:r>
            <a:r>
              <a:rPr sz="2400" spc="-50" dirty="0">
                <a:latin typeface="Times New Roman"/>
                <a:cs typeface="Times New Roman"/>
              </a:rPr>
              <a:t> </a:t>
            </a:r>
            <a:r>
              <a:rPr sz="2400" spc="-10" dirty="0">
                <a:latin typeface="Times New Roman"/>
                <a:cs typeface="Times New Roman"/>
              </a:rPr>
              <a:t>pattern.</a:t>
            </a:r>
            <a:endParaRPr sz="2400">
              <a:latin typeface="Times New Roman"/>
              <a:cs typeface="Times New Roman"/>
            </a:endParaRPr>
          </a:p>
        </p:txBody>
      </p:sp>
      <p:sp>
        <p:nvSpPr>
          <p:cNvPr id="4" name="object 4"/>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85" dirty="0">
                <a:latin typeface="Arial MT"/>
                <a:cs typeface="Arial MT"/>
              </a:rPr>
              <a:t>Ce</a:t>
            </a:r>
            <a:r>
              <a:rPr b="0" spc="-505" dirty="0">
                <a:latin typeface="Arial MT"/>
                <a:cs typeface="Arial MT"/>
              </a:rPr>
              <a:t> </a:t>
            </a:r>
            <a:r>
              <a:rPr spc="-200" dirty="0"/>
              <a:t>l</a:t>
            </a:r>
            <a:r>
              <a:rPr spc="-290" dirty="0"/>
              <a:t> </a:t>
            </a:r>
            <a:r>
              <a:rPr b="0" spc="-125" dirty="0">
                <a:latin typeface="Arial MT"/>
                <a:cs typeface="Arial MT"/>
              </a:rPr>
              <a:t>Shapes</a:t>
            </a:r>
          </a:p>
        </p:txBody>
      </p:sp>
      <p:sp>
        <p:nvSpPr>
          <p:cNvPr id="5" name="object 5"/>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12</a:t>
            </a:r>
            <a:endParaRPr sz="12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13</a:t>
            </a:r>
            <a:endParaRPr sz="1200">
              <a:latin typeface="Arial MT"/>
              <a:cs typeface="Arial MT"/>
            </a:endParaRPr>
          </a:p>
        </p:txBody>
      </p:sp>
      <p:grpSp>
        <p:nvGrpSpPr>
          <p:cNvPr id="3" name="object 3"/>
          <p:cNvGrpSpPr/>
          <p:nvPr/>
        </p:nvGrpSpPr>
        <p:grpSpPr>
          <a:xfrm>
            <a:off x="76200" y="0"/>
            <a:ext cx="7696200" cy="6858000"/>
            <a:chOff x="76200" y="0"/>
            <a:chExt cx="7696200" cy="6858000"/>
          </a:xfrm>
        </p:grpSpPr>
        <p:pic>
          <p:nvPicPr>
            <p:cNvPr id="4" name="object 4"/>
            <p:cNvPicPr/>
            <p:nvPr/>
          </p:nvPicPr>
          <p:blipFill>
            <a:blip r:embed="rId2" cstate="print"/>
            <a:stretch>
              <a:fillRect/>
            </a:stretch>
          </p:blipFill>
          <p:spPr>
            <a:xfrm>
              <a:off x="76200" y="0"/>
              <a:ext cx="4324350" cy="1304925"/>
            </a:xfrm>
            <a:prstGeom prst="rect">
              <a:avLst/>
            </a:prstGeom>
          </p:spPr>
        </p:pic>
        <p:pic>
          <p:nvPicPr>
            <p:cNvPr id="5" name="object 5"/>
            <p:cNvPicPr/>
            <p:nvPr/>
          </p:nvPicPr>
          <p:blipFill>
            <a:blip r:embed="rId3" cstate="print"/>
            <a:stretch>
              <a:fillRect/>
            </a:stretch>
          </p:blipFill>
          <p:spPr>
            <a:xfrm>
              <a:off x="914400" y="1314449"/>
              <a:ext cx="6858000" cy="5543550"/>
            </a:xfrm>
            <a:prstGeom prst="rect">
              <a:avLst/>
            </a:prstGeom>
          </p:spPr>
        </p:pic>
      </p:gr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14</a:t>
            </a:r>
            <a:endParaRPr sz="1200">
              <a:latin typeface="Arial MT"/>
              <a:cs typeface="Arial MT"/>
            </a:endParaRPr>
          </a:p>
        </p:txBody>
      </p:sp>
      <p:pic>
        <p:nvPicPr>
          <p:cNvPr id="3" name="object 3"/>
          <p:cNvPicPr/>
          <p:nvPr/>
        </p:nvPicPr>
        <p:blipFill>
          <a:blip r:embed="rId2" cstate="print"/>
          <a:stretch>
            <a:fillRect/>
          </a:stretch>
        </p:blipFill>
        <p:spPr>
          <a:xfrm>
            <a:off x="216458" y="1701939"/>
            <a:ext cx="8670509" cy="1876529"/>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979409" cy="3464560"/>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concept</a:t>
            </a:r>
            <a:r>
              <a:rPr sz="2400" spc="-30" dirty="0">
                <a:latin typeface="Times New Roman"/>
                <a:cs typeface="Times New Roman"/>
              </a:rPr>
              <a:t> </a:t>
            </a:r>
            <a:r>
              <a:rPr sz="2400" dirty="0">
                <a:latin typeface="Times New Roman"/>
                <a:cs typeface="Times New Roman"/>
              </a:rPr>
              <a:t>was</a:t>
            </a:r>
            <a:r>
              <a:rPr sz="2400" spc="-10" dirty="0">
                <a:latin typeface="Times New Roman"/>
                <a:cs typeface="Times New Roman"/>
              </a:rPr>
              <a:t> </a:t>
            </a:r>
            <a:r>
              <a:rPr sz="2400" dirty="0">
                <a:latin typeface="Times New Roman"/>
                <a:cs typeface="Times New Roman"/>
              </a:rPr>
              <a:t>developed</a:t>
            </a:r>
            <a:r>
              <a:rPr sz="2400" spc="-4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response</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limitations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conventional</a:t>
            </a:r>
            <a:r>
              <a:rPr sz="2400" spc="-50" dirty="0">
                <a:latin typeface="Times New Roman"/>
                <a:cs typeface="Times New Roman"/>
              </a:rPr>
              <a:t> </a:t>
            </a:r>
            <a:r>
              <a:rPr sz="2400" dirty="0">
                <a:latin typeface="Times New Roman"/>
                <a:cs typeface="Times New Roman"/>
              </a:rPr>
              <a:t>mobile</a:t>
            </a:r>
            <a:r>
              <a:rPr sz="2400" spc="-20" dirty="0">
                <a:latin typeface="Times New Roman"/>
                <a:cs typeface="Times New Roman"/>
              </a:rPr>
              <a:t> </a:t>
            </a:r>
            <a:r>
              <a:rPr sz="2400" dirty="0">
                <a:latin typeface="Times New Roman"/>
                <a:cs typeface="Times New Roman"/>
              </a:rPr>
              <a:t>radio</a:t>
            </a:r>
            <a:r>
              <a:rPr sz="2400" spc="-15" dirty="0">
                <a:latin typeface="Times New Roman"/>
                <a:cs typeface="Times New Roman"/>
              </a:rPr>
              <a:t> </a:t>
            </a:r>
            <a:r>
              <a:rPr sz="2400" spc="-10" dirty="0">
                <a:latin typeface="Times New Roman"/>
                <a:cs typeface="Times New Roman"/>
              </a:rPr>
              <a:t>services.</a:t>
            </a:r>
            <a:endParaRPr sz="2400">
              <a:latin typeface="Times New Roman"/>
              <a:cs typeface="Times New Roman"/>
            </a:endParaRPr>
          </a:p>
          <a:p>
            <a:pPr marL="12700" marR="634365">
              <a:lnSpc>
                <a:spcPct val="120000"/>
              </a:lnSpc>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main</a:t>
            </a:r>
            <a:r>
              <a:rPr sz="2400" spc="-15" dirty="0">
                <a:latin typeface="Times New Roman"/>
                <a:cs typeface="Times New Roman"/>
              </a:rPr>
              <a:t> </a:t>
            </a:r>
            <a:r>
              <a:rPr sz="2400" dirty="0">
                <a:latin typeface="Times New Roman"/>
                <a:cs typeface="Times New Roman"/>
              </a:rPr>
              <a:t>limitations</a:t>
            </a:r>
            <a:r>
              <a:rPr sz="2400" spc="-4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previous</a:t>
            </a:r>
            <a:r>
              <a:rPr sz="2400" spc="-35" dirty="0">
                <a:latin typeface="Times New Roman"/>
                <a:cs typeface="Times New Roman"/>
              </a:rPr>
              <a:t> </a:t>
            </a:r>
            <a:r>
              <a:rPr sz="2400" dirty="0">
                <a:latin typeface="Times New Roman"/>
                <a:cs typeface="Times New Roman"/>
              </a:rPr>
              <a:t>mobile</a:t>
            </a:r>
            <a:r>
              <a:rPr sz="2400" spc="-15" dirty="0">
                <a:latin typeface="Times New Roman"/>
                <a:cs typeface="Times New Roman"/>
              </a:rPr>
              <a:t> </a:t>
            </a:r>
            <a:r>
              <a:rPr sz="2400" spc="-10" dirty="0">
                <a:latin typeface="Times New Roman"/>
                <a:cs typeface="Times New Roman"/>
              </a:rPr>
              <a:t>communication </a:t>
            </a:r>
            <a:r>
              <a:rPr sz="2400" dirty="0">
                <a:latin typeface="Times New Roman"/>
                <a:cs typeface="Times New Roman"/>
              </a:rPr>
              <a:t>systems</a:t>
            </a:r>
            <a:r>
              <a:rPr sz="2400" spc="-30"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dirty="0">
                <a:latin typeface="Times New Roman"/>
                <a:cs typeface="Times New Roman"/>
              </a:rPr>
              <a:t>as</a:t>
            </a:r>
            <a:r>
              <a:rPr sz="2400" spc="-25" dirty="0">
                <a:latin typeface="Times New Roman"/>
                <a:cs typeface="Times New Roman"/>
              </a:rPr>
              <a:t> </a:t>
            </a:r>
            <a:r>
              <a:rPr sz="2400" spc="-10" dirty="0">
                <a:latin typeface="Times New Roman"/>
                <a:cs typeface="Times New Roman"/>
              </a:rPr>
              <a:t>follows:</a:t>
            </a:r>
            <a:endParaRPr sz="2400">
              <a:latin typeface="Times New Roman"/>
              <a:cs typeface="Times New Roman"/>
            </a:endParaRPr>
          </a:p>
          <a:p>
            <a:pPr marL="469265" indent="-456565">
              <a:lnSpc>
                <a:spcPct val="100000"/>
              </a:lnSpc>
              <a:spcBef>
                <a:spcPts val="575"/>
              </a:spcBef>
              <a:buClr>
                <a:srgbClr val="0F1141"/>
              </a:buClr>
              <a:buAutoNum type="arabicPeriod"/>
              <a:tabLst>
                <a:tab pos="469265" algn="l"/>
              </a:tabLst>
            </a:pPr>
            <a:r>
              <a:rPr sz="2400" spc="-10" dirty="0">
                <a:latin typeface="Times New Roman"/>
                <a:cs typeface="Times New Roman"/>
              </a:rPr>
              <a:t>High-</a:t>
            </a:r>
            <a:r>
              <a:rPr sz="2400" dirty="0">
                <a:latin typeface="Times New Roman"/>
                <a:cs typeface="Times New Roman"/>
              </a:rPr>
              <a:t>power</a:t>
            </a:r>
            <a:r>
              <a:rPr sz="2400" spc="-20" dirty="0">
                <a:latin typeface="Times New Roman"/>
                <a:cs typeface="Times New Roman"/>
              </a:rPr>
              <a:t> </a:t>
            </a:r>
            <a:r>
              <a:rPr sz="2400" dirty="0">
                <a:latin typeface="Times New Roman"/>
                <a:cs typeface="Times New Roman"/>
              </a:rPr>
              <a:t>transmitters</a:t>
            </a:r>
            <a:r>
              <a:rPr sz="2400" spc="-60" dirty="0">
                <a:latin typeface="Times New Roman"/>
                <a:cs typeface="Times New Roman"/>
              </a:rPr>
              <a:t> </a:t>
            </a:r>
            <a:r>
              <a:rPr sz="2400" dirty="0">
                <a:latin typeface="Times New Roman"/>
                <a:cs typeface="Times New Roman"/>
              </a:rPr>
              <a:t>were</a:t>
            </a:r>
            <a:r>
              <a:rPr sz="2400" spc="-15" dirty="0">
                <a:latin typeface="Times New Roman"/>
                <a:cs typeface="Times New Roman"/>
              </a:rPr>
              <a:t> </a:t>
            </a:r>
            <a:r>
              <a:rPr sz="2400" dirty="0">
                <a:latin typeface="Times New Roman"/>
                <a:cs typeface="Times New Roman"/>
              </a:rPr>
              <a:t>used</a:t>
            </a:r>
            <a:r>
              <a:rPr sz="2400" spc="-1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cover</a:t>
            </a:r>
            <a:r>
              <a:rPr sz="2400" spc="-20" dirty="0">
                <a:latin typeface="Times New Roman"/>
                <a:cs typeface="Times New Roman"/>
              </a:rPr>
              <a:t> </a:t>
            </a:r>
            <a:r>
              <a:rPr sz="2400" dirty="0">
                <a:latin typeface="Times New Roman"/>
                <a:cs typeface="Times New Roman"/>
              </a:rPr>
              <a:t>very</a:t>
            </a:r>
            <a:r>
              <a:rPr sz="2400" spc="-30" dirty="0">
                <a:latin typeface="Times New Roman"/>
                <a:cs typeface="Times New Roman"/>
              </a:rPr>
              <a:t> </a:t>
            </a:r>
            <a:r>
              <a:rPr sz="2400" dirty="0">
                <a:latin typeface="Times New Roman"/>
                <a:cs typeface="Times New Roman"/>
              </a:rPr>
              <a:t>large</a:t>
            </a:r>
            <a:r>
              <a:rPr sz="2400" spc="-40" dirty="0">
                <a:latin typeface="Times New Roman"/>
                <a:cs typeface="Times New Roman"/>
              </a:rPr>
              <a:t> </a:t>
            </a:r>
            <a:r>
              <a:rPr sz="2400" spc="-10" dirty="0">
                <a:latin typeface="Times New Roman"/>
                <a:cs typeface="Times New Roman"/>
              </a:rPr>
              <a:t>area.</a:t>
            </a:r>
            <a:endParaRPr sz="2400">
              <a:latin typeface="Times New Roman"/>
              <a:cs typeface="Times New Roman"/>
            </a:endParaRPr>
          </a:p>
          <a:p>
            <a:pPr marL="469265" indent="-456565">
              <a:lnSpc>
                <a:spcPct val="100000"/>
              </a:lnSpc>
              <a:spcBef>
                <a:spcPts val="580"/>
              </a:spcBef>
              <a:buClr>
                <a:srgbClr val="0F1141"/>
              </a:buClr>
              <a:buAutoNum type="arabicPeriod"/>
              <a:tabLst>
                <a:tab pos="469265" algn="l"/>
              </a:tabLst>
            </a:pPr>
            <a:r>
              <a:rPr sz="2400" dirty="0">
                <a:latin typeface="Times New Roman"/>
                <a:cs typeface="Times New Roman"/>
              </a:rPr>
              <a:t>Inefficient</a:t>
            </a:r>
            <a:r>
              <a:rPr sz="2400" spc="-45" dirty="0">
                <a:latin typeface="Times New Roman"/>
                <a:cs typeface="Times New Roman"/>
              </a:rPr>
              <a:t> </a:t>
            </a:r>
            <a:r>
              <a:rPr sz="2400" dirty="0">
                <a:latin typeface="Times New Roman"/>
                <a:cs typeface="Times New Roman"/>
              </a:rPr>
              <a:t>use</a:t>
            </a:r>
            <a:r>
              <a:rPr sz="2400" spc="-2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allocated</a:t>
            </a:r>
            <a:r>
              <a:rPr sz="2400" spc="-55" dirty="0">
                <a:latin typeface="Times New Roman"/>
                <a:cs typeface="Times New Roman"/>
              </a:rPr>
              <a:t> </a:t>
            </a:r>
            <a:r>
              <a:rPr sz="2400" dirty="0">
                <a:latin typeface="Times New Roman"/>
                <a:cs typeface="Times New Roman"/>
              </a:rPr>
              <a:t>radio</a:t>
            </a:r>
            <a:r>
              <a:rPr sz="2400" spc="-40" dirty="0">
                <a:latin typeface="Times New Roman"/>
                <a:cs typeface="Times New Roman"/>
              </a:rPr>
              <a:t> </a:t>
            </a:r>
            <a:r>
              <a:rPr sz="2400" spc="-10" dirty="0">
                <a:latin typeface="Times New Roman"/>
                <a:cs typeface="Times New Roman"/>
              </a:rPr>
              <a:t>spectrum.</a:t>
            </a:r>
            <a:endParaRPr sz="2400">
              <a:latin typeface="Times New Roman"/>
              <a:cs typeface="Times New Roman"/>
            </a:endParaRPr>
          </a:p>
          <a:p>
            <a:pPr marL="469900" marR="355600" indent="-457200">
              <a:lnSpc>
                <a:spcPct val="100000"/>
              </a:lnSpc>
              <a:spcBef>
                <a:spcPts val="575"/>
              </a:spcBef>
              <a:buClr>
                <a:srgbClr val="0F1141"/>
              </a:buClr>
              <a:buAutoNum type="arabicPeriod"/>
              <a:tabLst>
                <a:tab pos="469900" algn="l"/>
              </a:tabLst>
            </a:pPr>
            <a:r>
              <a:rPr sz="2400" dirty="0">
                <a:latin typeface="Times New Roman"/>
                <a:cs typeface="Times New Roman"/>
              </a:rPr>
              <a:t>If</a:t>
            </a:r>
            <a:r>
              <a:rPr sz="2400" spc="-1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user</a:t>
            </a:r>
            <a:r>
              <a:rPr sz="2400" spc="-10" dirty="0">
                <a:latin typeface="Times New Roman"/>
                <a:cs typeface="Times New Roman"/>
              </a:rPr>
              <a:t> </a:t>
            </a:r>
            <a:r>
              <a:rPr sz="2400" dirty="0">
                <a:latin typeface="Times New Roman"/>
                <a:cs typeface="Times New Roman"/>
              </a:rPr>
              <a:t>leaves</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coverage</a:t>
            </a:r>
            <a:r>
              <a:rPr sz="2400" spc="-30" dirty="0">
                <a:latin typeface="Times New Roman"/>
                <a:cs typeface="Times New Roman"/>
              </a:rPr>
              <a:t> </a:t>
            </a:r>
            <a:r>
              <a:rPr sz="2400" dirty="0">
                <a:latin typeface="Times New Roman"/>
                <a:cs typeface="Times New Roman"/>
              </a:rPr>
              <a:t>area,</a:t>
            </a:r>
            <a:r>
              <a:rPr sz="2400" spc="-25" dirty="0">
                <a:latin typeface="Times New Roman"/>
                <a:cs typeface="Times New Roman"/>
              </a:rPr>
              <a:t> </a:t>
            </a:r>
            <a:r>
              <a:rPr sz="2400" dirty="0">
                <a:latin typeface="Times New Roman"/>
                <a:cs typeface="Times New Roman"/>
              </a:rPr>
              <a:t>they</a:t>
            </a:r>
            <a:r>
              <a:rPr sz="2400" spc="-20" dirty="0">
                <a:latin typeface="Times New Roman"/>
                <a:cs typeface="Times New Roman"/>
              </a:rPr>
              <a:t> </a:t>
            </a:r>
            <a:r>
              <a:rPr sz="2400" dirty="0">
                <a:latin typeface="Times New Roman"/>
                <a:cs typeface="Times New Roman"/>
              </a:rPr>
              <a:t>had</a:t>
            </a:r>
            <a:r>
              <a:rPr sz="2400" spc="-1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reinitiate</a:t>
            </a:r>
            <a:r>
              <a:rPr sz="2400" spc="-50" dirty="0">
                <a:latin typeface="Times New Roman"/>
                <a:cs typeface="Times New Roman"/>
              </a:rPr>
              <a:t> </a:t>
            </a:r>
            <a:r>
              <a:rPr sz="2400" spc="-25" dirty="0">
                <a:latin typeface="Times New Roman"/>
                <a:cs typeface="Times New Roman"/>
              </a:rPr>
              <a:t>the </a:t>
            </a:r>
            <a:r>
              <a:rPr sz="2400" dirty="0">
                <a:latin typeface="Times New Roman"/>
                <a:cs typeface="Times New Roman"/>
              </a:rPr>
              <a:t>call</a:t>
            </a:r>
            <a:r>
              <a:rPr sz="2400" spc="-50" dirty="0">
                <a:latin typeface="Times New Roman"/>
                <a:cs typeface="Times New Roman"/>
              </a:rPr>
              <a:t> </a:t>
            </a:r>
            <a:r>
              <a:rPr sz="2400" dirty="0">
                <a:latin typeface="Times New Roman"/>
                <a:cs typeface="Times New Roman"/>
              </a:rPr>
              <a:t>on</a:t>
            </a:r>
            <a:r>
              <a:rPr sz="2400" spc="-1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different</a:t>
            </a:r>
            <a:r>
              <a:rPr sz="2400" spc="-25" dirty="0">
                <a:latin typeface="Times New Roman"/>
                <a:cs typeface="Times New Roman"/>
              </a:rPr>
              <a:t> </a:t>
            </a:r>
            <a:r>
              <a:rPr sz="2400" dirty="0">
                <a:latin typeface="Times New Roman"/>
                <a:cs typeface="Times New Roman"/>
              </a:rPr>
              <a:t>frequency</a:t>
            </a:r>
            <a:r>
              <a:rPr sz="2400" spc="-20" dirty="0">
                <a:latin typeface="Times New Roman"/>
                <a:cs typeface="Times New Roman"/>
              </a:rPr>
              <a:t> </a:t>
            </a:r>
            <a:r>
              <a:rPr sz="2400" spc="-10" dirty="0">
                <a:latin typeface="Times New Roman"/>
                <a:cs typeface="Times New Roman"/>
              </a:rPr>
              <a:t>channel.</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155" dirty="0">
                <a:latin typeface="Arial MT"/>
                <a:cs typeface="Arial MT"/>
              </a:rPr>
              <a:t>Introduction</a:t>
            </a:r>
            <a:r>
              <a:rPr b="0" spc="-210" dirty="0">
                <a:latin typeface="Arial MT"/>
                <a:cs typeface="Arial MT"/>
              </a:rPr>
              <a:t> </a:t>
            </a:r>
            <a:r>
              <a:rPr b="0" spc="-90" dirty="0">
                <a:latin typeface="Arial MT"/>
                <a:cs typeface="Arial MT"/>
              </a:rPr>
              <a:t>to</a:t>
            </a:r>
            <a:r>
              <a:rPr b="0" spc="-270" dirty="0">
                <a:latin typeface="Arial MT"/>
                <a:cs typeface="Arial MT"/>
              </a:rPr>
              <a:t> </a:t>
            </a:r>
            <a:r>
              <a:rPr b="0" spc="-80" dirty="0">
                <a:latin typeface="Arial MT"/>
                <a:cs typeface="Arial MT"/>
              </a:rPr>
              <a:t>ce</a:t>
            </a:r>
            <a:r>
              <a:rPr b="0" spc="-484" dirty="0">
                <a:latin typeface="Arial MT"/>
                <a:cs typeface="Arial MT"/>
              </a:rPr>
              <a:t> </a:t>
            </a:r>
            <a:r>
              <a:rPr spc="-175" dirty="0"/>
              <a:t>l</a:t>
            </a:r>
            <a:r>
              <a:rPr b="0" spc="-175" dirty="0">
                <a:latin typeface="Arial MT"/>
                <a:cs typeface="Arial MT"/>
              </a:rPr>
              <a:t>ular</a:t>
            </a:r>
            <a:r>
              <a:rPr b="0" spc="-245" dirty="0">
                <a:latin typeface="Arial MT"/>
                <a:cs typeface="Arial MT"/>
              </a:rPr>
              <a:t> </a:t>
            </a:r>
            <a:r>
              <a:rPr b="0" spc="-114" dirty="0">
                <a:latin typeface="Arial MT"/>
                <a:cs typeface="Arial MT"/>
              </a:rPr>
              <a:t>concept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95401"/>
            <a:ext cx="9144000" cy="5308600"/>
            <a:chOff x="0" y="1295401"/>
            <a:chExt cx="9144000" cy="5308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2" name="object 12"/>
            <p:cNvPicPr/>
            <p:nvPr/>
          </p:nvPicPr>
          <p:blipFill>
            <a:blip r:embed="rId2" cstate="print"/>
            <a:stretch>
              <a:fillRect/>
            </a:stretch>
          </p:blipFill>
          <p:spPr>
            <a:xfrm>
              <a:off x="381000" y="1366900"/>
              <a:ext cx="8077200" cy="5196713"/>
            </a:xfrm>
            <a:prstGeom prst="rect">
              <a:avLst/>
            </a:prstGeom>
          </p:spPr>
        </p:pic>
      </p:grpSp>
      <p:pic>
        <p:nvPicPr>
          <p:cNvPr id="13" name="object 13"/>
          <p:cNvPicPr/>
          <p:nvPr/>
        </p:nvPicPr>
        <p:blipFill>
          <a:blip r:embed="rId3" cstate="print"/>
          <a:stretch>
            <a:fillRect/>
          </a:stretch>
        </p:blipFill>
        <p:spPr>
          <a:xfrm>
            <a:off x="6629400" y="0"/>
            <a:ext cx="2193163" cy="692658"/>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a:t>
            </a:fld>
            <a:endParaRPr spc="-25" dirty="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2633" y="1470073"/>
            <a:ext cx="8765362" cy="4361688"/>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67675" cy="3537585"/>
          </a:xfrm>
          <a:prstGeom prst="rect">
            <a:avLst/>
          </a:prstGeom>
        </p:spPr>
        <p:txBody>
          <a:bodyPr vert="horz" wrap="square" lIns="0" tIns="12700" rIns="0" bIns="0" rtlCol="0">
            <a:spAutoFit/>
          </a:bodyPr>
          <a:lstStyle/>
          <a:p>
            <a:pPr marL="12700" marR="5080">
              <a:lnSpc>
                <a:spcPct val="120000"/>
              </a:lnSpc>
              <a:spcBef>
                <a:spcPts val="100"/>
              </a:spcBef>
            </a:pPr>
            <a:r>
              <a:rPr sz="2400" i="1" dirty="0">
                <a:latin typeface="Times New Roman"/>
                <a:cs typeface="Times New Roman"/>
              </a:rPr>
              <a:t>Frequency</a:t>
            </a:r>
            <a:r>
              <a:rPr sz="2400" i="1" spc="-35" dirty="0">
                <a:latin typeface="Times New Roman"/>
                <a:cs typeface="Times New Roman"/>
              </a:rPr>
              <a:t> </a:t>
            </a:r>
            <a:r>
              <a:rPr sz="2400" i="1" spc="-10" dirty="0">
                <a:latin typeface="Times New Roman"/>
                <a:cs typeface="Times New Roman"/>
              </a:rPr>
              <a:t>reuse</a:t>
            </a:r>
            <a:r>
              <a:rPr sz="2400" spc="-10" dirty="0">
                <a:latin typeface="Times New Roman"/>
                <a:cs typeface="Times New Roman"/>
              </a:rPr>
              <a:t>:</a:t>
            </a:r>
            <a:r>
              <a:rPr sz="2400" spc="-85" dirty="0">
                <a:latin typeface="Times New Roman"/>
                <a:cs typeface="Times New Roman"/>
              </a:rPr>
              <a:t> </a:t>
            </a:r>
            <a:r>
              <a:rPr sz="2400" dirty="0">
                <a:latin typeface="Times New Roman"/>
                <a:cs typeface="Times New Roman"/>
              </a:rPr>
              <a:t>This</a:t>
            </a:r>
            <a:r>
              <a:rPr sz="2400" spc="-2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process</a:t>
            </a:r>
            <a:r>
              <a:rPr sz="2400" spc="-2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which</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same</a:t>
            </a:r>
            <a:r>
              <a:rPr sz="2400" spc="-15" dirty="0">
                <a:latin typeface="Times New Roman"/>
                <a:cs typeface="Times New Roman"/>
              </a:rPr>
              <a:t> </a:t>
            </a:r>
            <a:r>
              <a:rPr sz="2400" dirty="0">
                <a:latin typeface="Times New Roman"/>
                <a:cs typeface="Times New Roman"/>
              </a:rPr>
              <a:t>set</a:t>
            </a:r>
            <a:r>
              <a:rPr sz="2400" spc="-20" dirty="0">
                <a:latin typeface="Times New Roman"/>
                <a:cs typeface="Times New Roman"/>
              </a:rPr>
              <a:t> </a:t>
            </a:r>
            <a:r>
              <a:rPr sz="2400" spc="-25" dirty="0">
                <a:latin typeface="Times New Roman"/>
                <a:cs typeface="Times New Roman"/>
              </a:rPr>
              <a:t>of </a:t>
            </a:r>
            <a:r>
              <a:rPr sz="2400" dirty="0">
                <a:latin typeface="Times New Roman"/>
                <a:cs typeface="Times New Roman"/>
              </a:rPr>
              <a:t>frequencies</a:t>
            </a:r>
            <a:r>
              <a:rPr sz="2400" spc="-20" dirty="0">
                <a:latin typeface="Times New Roman"/>
                <a:cs typeface="Times New Roman"/>
              </a:rPr>
              <a:t> </a:t>
            </a:r>
            <a:r>
              <a:rPr sz="2400" dirty="0">
                <a:latin typeface="Times New Roman"/>
                <a:cs typeface="Times New Roman"/>
              </a:rPr>
              <a:t>(channels)</a:t>
            </a:r>
            <a:r>
              <a:rPr sz="2400" spc="-25" dirty="0">
                <a:latin typeface="Times New Roman"/>
                <a:cs typeface="Times New Roman"/>
              </a:rPr>
              <a:t> </a:t>
            </a:r>
            <a:r>
              <a:rPr sz="2400" dirty="0">
                <a:latin typeface="Times New Roman"/>
                <a:cs typeface="Times New Roman"/>
              </a:rPr>
              <a:t>can</a:t>
            </a:r>
            <a:r>
              <a:rPr sz="2400" spc="-20" dirty="0">
                <a:latin typeface="Times New Roman"/>
                <a:cs typeface="Times New Roman"/>
              </a:rPr>
              <a:t> </a:t>
            </a:r>
            <a:r>
              <a:rPr sz="2400" dirty="0">
                <a:latin typeface="Times New Roman"/>
                <a:cs typeface="Times New Roman"/>
              </a:rPr>
              <a:t>be</a:t>
            </a:r>
            <a:r>
              <a:rPr sz="2400" spc="-5" dirty="0">
                <a:latin typeface="Times New Roman"/>
                <a:cs typeface="Times New Roman"/>
              </a:rPr>
              <a:t> </a:t>
            </a:r>
            <a:r>
              <a:rPr sz="2400" dirty="0">
                <a:latin typeface="Times New Roman"/>
                <a:cs typeface="Times New Roman"/>
              </a:rPr>
              <a:t>allocated</a:t>
            </a:r>
            <a:r>
              <a:rPr sz="2400" spc="-3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more</a:t>
            </a:r>
            <a:r>
              <a:rPr sz="2400" spc="5" dirty="0">
                <a:latin typeface="Times New Roman"/>
                <a:cs typeface="Times New Roman"/>
              </a:rPr>
              <a:t> </a:t>
            </a:r>
            <a:r>
              <a:rPr sz="2400" dirty="0">
                <a:latin typeface="Times New Roman"/>
                <a:cs typeface="Times New Roman"/>
              </a:rPr>
              <a:t>than</a:t>
            </a:r>
            <a:r>
              <a:rPr sz="2400" spc="-15" dirty="0">
                <a:latin typeface="Times New Roman"/>
                <a:cs typeface="Times New Roman"/>
              </a:rPr>
              <a:t> </a:t>
            </a:r>
            <a:r>
              <a:rPr sz="2400" dirty="0">
                <a:latin typeface="Times New Roman"/>
                <a:cs typeface="Times New Roman"/>
              </a:rPr>
              <a:t>one</a:t>
            </a:r>
            <a:r>
              <a:rPr sz="2400" spc="-15" dirty="0">
                <a:latin typeface="Times New Roman"/>
                <a:cs typeface="Times New Roman"/>
              </a:rPr>
              <a:t> </a:t>
            </a:r>
            <a:r>
              <a:rPr sz="2400" dirty="0">
                <a:latin typeface="Times New Roman"/>
                <a:cs typeface="Times New Roman"/>
              </a:rPr>
              <a:t>cell</a:t>
            </a:r>
            <a:r>
              <a:rPr sz="2400" spc="-25" dirty="0">
                <a:latin typeface="Times New Roman"/>
                <a:cs typeface="Times New Roman"/>
              </a:rPr>
              <a:t> to </a:t>
            </a:r>
            <a:r>
              <a:rPr sz="2400" dirty="0">
                <a:latin typeface="Times New Roman"/>
                <a:cs typeface="Times New Roman"/>
              </a:rPr>
              <a:t>increase</a:t>
            </a:r>
            <a:r>
              <a:rPr sz="2400" spc="-4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spc="-10" dirty="0">
                <a:latin typeface="Times New Roman"/>
                <a:cs typeface="Times New Roman"/>
              </a:rPr>
              <a:t>capacity.</a:t>
            </a:r>
            <a:r>
              <a:rPr sz="2400" spc="-55" dirty="0">
                <a:latin typeface="Times New Roman"/>
                <a:cs typeface="Times New Roman"/>
              </a:rPr>
              <a:t> </a:t>
            </a:r>
            <a:r>
              <a:rPr sz="2400" dirty="0">
                <a:latin typeface="Times New Roman"/>
                <a:cs typeface="Times New Roman"/>
              </a:rPr>
              <a:t>Instead</a:t>
            </a:r>
            <a:r>
              <a:rPr sz="2400" spc="-3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deploying</a:t>
            </a:r>
            <a:r>
              <a:rPr sz="2400" spc="-4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powerful</a:t>
            </a:r>
            <a:r>
              <a:rPr sz="2400" spc="-15" dirty="0">
                <a:latin typeface="Times New Roman"/>
                <a:cs typeface="Times New Roman"/>
              </a:rPr>
              <a:t> </a:t>
            </a:r>
            <a:r>
              <a:rPr sz="2400" spc="-25" dirty="0">
                <a:latin typeface="Times New Roman"/>
                <a:cs typeface="Times New Roman"/>
              </a:rPr>
              <a:t>BS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large</a:t>
            </a:r>
            <a:r>
              <a:rPr sz="2400" spc="-25" dirty="0">
                <a:latin typeface="Times New Roman"/>
                <a:cs typeface="Times New Roman"/>
              </a:rPr>
              <a:t> </a:t>
            </a:r>
            <a:r>
              <a:rPr sz="2400" dirty="0">
                <a:latin typeface="Times New Roman"/>
                <a:cs typeface="Times New Roman"/>
              </a:rPr>
              <a:t>coverage</a:t>
            </a:r>
            <a:r>
              <a:rPr sz="2400" spc="-25" dirty="0">
                <a:latin typeface="Times New Roman"/>
                <a:cs typeface="Times New Roman"/>
              </a:rPr>
              <a:t> </a:t>
            </a:r>
            <a:r>
              <a:rPr sz="2400" dirty="0">
                <a:latin typeface="Times New Roman"/>
                <a:cs typeface="Times New Roman"/>
              </a:rPr>
              <a:t>area,</a:t>
            </a:r>
            <a:r>
              <a:rPr sz="2400" spc="-2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area</a:t>
            </a:r>
            <a:r>
              <a:rPr sz="2400" spc="-25" dirty="0">
                <a:latin typeface="Times New Roman"/>
                <a:cs typeface="Times New Roman"/>
              </a:rPr>
              <a:t> </a:t>
            </a:r>
            <a:r>
              <a:rPr sz="2400" dirty="0">
                <a:latin typeface="Times New Roman"/>
                <a:cs typeface="Times New Roman"/>
              </a:rPr>
              <a:t>is divided</a:t>
            </a:r>
            <a:r>
              <a:rPr sz="2400" spc="-25" dirty="0">
                <a:latin typeface="Times New Roman"/>
                <a:cs typeface="Times New Roman"/>
              </a:rPr>
              <a:t> </a:t>
            </a:r>
            <a:r>
              <a:rPr sz="2400" dirty="0">
                <a:latin typeface="Times New Roman"/>
                <a:cs typeface="Times New Roman"/>
              </a:rPr>
              <a:t>into</a:t>
            </a:r>
            <a:r>
              <a:rPr sz="2400" spc="-30" dirty="0">
                <a:latin typeface="Times New Roman"/>
                <a:cs typeface="Times New Roman"/>
              </a:rPr>
              <a:t> </a:t>
            </a:r>
            <a:r>
              <a:rPr sz="2400" dirty="0">
                <a:latin typeface="Times New Roman"/>
                <a:cs typeface="Times New Roman"/>
              </a:rPr>
              <a:t>multiple</a:t>
            </a:r>
            <a:r>
              <a:rPr sz="2400" spc="-20" dirty="0">
                <a:latin typeface="Times New Roman"/>
                <a:cs typeface="Times New Roman"/>
              </a:rPr>
              <a:t> </a:t>
            </a:r>
            <a:r>
              <a:rPr sz="2400" spc="-10" dirty="0">
                <a:latin typeface="Times New Roman"/>
                <a:cs typeface="Times New Roman"/>
              </a:rPr>
              <a:t>smaller </a:t>
            </a:r>
            <a:r>
              <a:rPr sz="2400" dirty="0">
                <a:latin typeface="Times New Roman"/>
                <a:cs typeface="Times New Roman"/>
              </a:rPr>
              <a:t>cells</a:t>
            </a:r>
            <a:r>
              <a:rPr sz="2400" spc="-2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BS deployed</a:t>
            </a:r>
            <a:r>
              <a:rPr sz="2400" spc="-3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each</a:t>
            </a:r>
            <a:r>
              <a:rPr sz="2400" spc="-25" dirty="0">
                <a:latin typeface="Times New Roman"/>
                <a:cs typeface="Times New Roman"/>
              </a:rPr>
              <a:t> </a:t>
            </a:r>
            <a:r>
              <a:rPr sz="2400" dirty="0">
                <a:latin typeface="Times New Roman"/>
                <a:cs typeface="Times New Roman"/>
              </a:rPr>
              <a:t>cell</a:t>
            </a:r>
            <a:r>
              <a:rPr sz="2400" spc="-35"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use</a:t>
            </a:r>
            <a:r>
              <a:rPr sz="2400" spc="-10" dirty="0">
                <a:latin typeface="Times New Roman"/>
                <a:cs typeface="Times New Roman"/>
              </a:rPr>
              <a:t> </a:t>
            </a:r>
            <a:r>
              <a:rPr sz="2400" dirty="0">
                <a:latin typeface="Times New Roman"/>
                <a:cs typeface="Times New Roman"/>
              </a:rPr>
              <a:t>smaller</a:t>
            </a:r>
            <a:r>
              <a:rPr sz="2400" spc="-20" dirty="0">
                <a:latin typeface="Times New Roman"/>
                <a:cs typeface="Times New Roman"/>
              </a:rPr>
              <a:t> </a:t>
            </a:r>
            <a:r>
              <a:rPr sz="2400" spc="-10" dirty="0">
                <a:latin typeface="Times New Roman"/>
                <a:cs typeface="Times New Roman"/>
              </a:rPr>
              <a:t>transmit </a:t>
            </a:r>
            <a:r>
              <a:rPr sz="2400" spc="-20" dirty="0">
                <a:latin typeface="Times New Roman"/>
                <a:cs typeface="Times New Roman"/>
              </a:rPr>
              <a:t>power.</a:t>
            </a:r>
            <a:r>
              <a:rPr sz="2400" spc="-70" dirty="0">
                <a:latin typeface="Times New Roman"/>
                <a:cs typeface="Times New Roman"/>
              </a:rPr>
              <a:t> </a:t>
            </a:r>
            <a:r>
              <a:rPr sz="2400" dirty="0">
                <a:latin typeface="Times New Roman"/>
                <a:cs typeface="Times New Roman"/>
              </a:rPr>
              <a:t>Thus,</a:t>
            </a:r>
            <a:r>
              <a:rPr sz="2400" spc="-25" dirty="0">
                <a:latin typeface="Times New Roman"/>
                <a:cs typeface="Times New Roman"/>
              </a:rPr>
              <a:t> </a:t>
            </a:r>
            <a:r>
              <a:rPr sz="2400" dirty="0">
                <a:latin typeface="Times New Roman"/>
                <a:cs typeface="Times New Roman"/>
              </a:rPr>
              <a:t>two</a:t>
            </a:r>
            <a:r>
              <a:rPr sz="2400" spc="-20" dirty="0">
                <a:latin typeface="Times New Roman"/>
                <a:cs typeface="Times New Roman"/>
              </a:rPr>
              <a:t> </a:t>
            </a:r>
            <a:r>
              <a:rPr sz="2400" dirty="0">
                <a:latin typeface="Times New Roman"/>
                <a:cs typeface="Times New Roman"/>
              </a:rPr>
              <a:t>transmissions</a:t>
            </a:r>
            <a:r>
              <a:rPr sz="2400" spc="-35"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employ</a:t>
            </a:r>
            <a:r>
              <a:rPr sz="2400" spc="-1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same</a:t>
            </a:r>
            <a:r>
              <a:rPr sz="2400" spc="-15" dirty="0">
                <a:latin typeface="Times New Roman"/>
                <a:cs typeface="Times New Roman"/>
              </a:rPr>
              <a:t> </a:t>
            </a:r>
            <a:r>
              <a:rPr sz="2400" dirty="0">
                <a:latin typeface="Times New Roman"/>
                <a:cs typeface="Times New Roman"/>
              </a:rPr>
              <a:t>frequency</a:t>
            </a:r>
            <a:r>
              <a:rPr sz="2400" spc="-30" dirty="0">
                <a:latin typeface="Times New Roman"/>
                <a:cs typeface="Times New Roman"/>
              </a:rPr>
              <a:t> </a:t>
            </a:r>
            <a:r>
              <a:rPr sz="2400" spc="-25" dirty="0">
                <a:latin typeface="Times New Roman"/>
                <a:cs typeface="Times New Roman"/>
              </a:rPr>
              <a:t>if </a:t>
            </a:r>
            <a:r>
              <a:rPr sz="2400" dirty="0">
                <a:latin typeface="Times New Roman"/>
                <a:cs typeface="Times New Roman"/>
              </a:rPr>
              <a:t>they</a:t>
            </a:r>
            <a:r>
              <a:rPr sz="2400" spc="-20"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far</a:t>
            </a:r>
            <a:r>
              <a:rPr sz="2400" spc="-10" dirty="0">
                <a:latin typeface="Times New Roman"/>
                <a:cs typeface="Times New Roman"/>
              </a:rPr>
              <a:t> </a:t>
            </a:r>
            <a:r>
              <a:rPr sz="2400" dirty="0">
                <a:latin typeface="Times New Roman"/>
                <a:cs typeface="Times New Roman"/>
              </a:rPr>
              <a:t>away</a:t>
            </a:r>
            <a:r>
              <a:rPr sz="2400" spc="-5" dirty="0">
                <a:latin typeface="Times New Roman"/>
                <a:cs typeface="Times New Roman"/>
              </a:rPr>
              <a:t> </a:t>
            </a:r>
            <a:r>
              <a:rPr sz="2400" dirty="0">
                <a:latin typeface="Times New Roman"/>
                <a:cs typeface="Times New Roman"/>
              </a:rPr>
              <a:t>enough such</a:t>
            </a:r>
            <a:r>
              <a:rPr sz="2400" spc="-20"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CCI</a:t>
            </a:r>
            <a:r>
              <a:rPr sz="2400" spc="10" dirty="0">
                <a:latin typeface="Times New Roman"/>
                <a:cs typeface="Times New Roman"/>
              </a:rPr>
              <a:t> </a:t>
            </a:r>
            <a:r>
              <a:rPr sz="2400" dirty="0">
                <a:latin typeface="Times New Roman"/>
                <a:cs typeface="Times New Roman"/>
              </a:rPr>
              <a:t>level</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below</a:t>
            </a:r>
            <a:r>
              <a:rPr sz="2400" spc="-5" dirty="0">
                <a:latin typeface="Times New Roman"/>
                <a:cs typeface="Times New Roman"/>
              </a:rPr>
              <a:t> </a:t>
            </a:r>
            <a:r>
              <a:rPr sz="2400" spc="-50" dirty="0">
                <a:latin typeface="Times New Roman"/>
                <a:cs typeface="Times New Roman"/>
              </a:rPr>
              <a:t>a </a:t>
            </a:r>
            <a:r>
              <a:rPr sz="2400" dirty="0">
                <a:latin typeface="Times New Roman"/>
                <a:cs typeface="Times New Roman"/>
              </a:rPr>
              <a:t>desired</a:t>
            </a:r>
            <a:r>
              <a:rPr sz="2400" spc="-15" dirty="0">
                <a:latin typeface="Times New Roman"/>
                <a:cs typeface="Times New Roman"/>
              </a:rPr>
              <a:t> </a:t>
            </a:r>
            <a:r>
              <a:rPr sz="2400" spc="-10" dirty="0">
                <a:latin typeface="Times New Roman"/>
                <a:cs typeface="Times New Roman"/>
              </a:rPr>
              <a:t>threshold.</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10</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1203" y="0"/>
            <a:ext cx="8956675" cy="6771005"/>
            <a:chOff x="111203" y="0"/>
            <a:chExt cx="8956675" cy="6771005"/>
          </a:xfrm>
        </p:grpSpPr>
        <p:pic>
          <p:nvPicPr>
            <p:cNvPr id="3" name="object 3"/>
            <p:cNvPicPr/>
            <p:nvPr/>
          </p:nvPicPr>
          <p:blipFill>
            <a:blip r:embed="rId2" cstate="print"/>
            <a:stretch>
              <a:fillRect/>
            </a:stretch>
          </p:blipFill>
          <p:spPr>
            <a:xfrm>
              <a:off x="111203" y="0"/>
              <a:ext cx="8956548" cy="3657600"/>
            </a:xfrm>
            <a:prstGeom prst="rect">
              <a:avLst/>
            </a:prstGeom>
          </p:spPr>
        </p:pic>
        <p:pic>
          <p:nvPicPr>
            <p:cNvPr id="4" name="object 4"/>
            <p:cNvPicPr/>
            <p:nvPr/>
          </p:nvPicPr>
          <p:blipFill>
            <a:blip r:embed="rId3" cstate="print"/>
            <a:stretch>
              <a:fillRect/>
            </a:stretch>
          </p:blipFill>
          <p:spPr>
            <a:xfrm>
              <a:off x="2009775" y="3581422"/>
              <a:ext cx="3857625" cy="3189351"/>
            </a:xfrm>
            <a:prstGeom prst="rect">
              <a:avLst/>
            </a:prstGeom>
          </p:spPr>
        </p:pic>
      </p:gr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11</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6402"/>
            <a:ext cx="8027670" cy="1781810"/>
          </a:xfrm>
          <a:prstGeom prst="rect">
            <a:avLst/>
          </a:prstGeom>
        </p:spPr>
        <p:txBody>
          <a:bodyPr vert="horz" wrap="square" lIns="0" tIns="12700" rIns="0" bIns="0" rtlCol="0">
            <a:spAutoFit/>
          </a:bodyPr>
          <a:lstStyle/>
          <a:p>
            <a:pPr marL="12700" marR="5080">
              <a:lnSpc>
                <a:spcPct val="120000"/>
              </a:lnSpc>
              <a:spcBef>
                <a:spcPts val="100"/>
              </a:spcBef>
            </a:pPr>
            <a:r>
              <a:rPr sz="2400" b="0" dirty="0">
                <a:latin typeface="Arial MT"/>
                <a:cs typeface="Arial MT"/>
              </a:rPr>
              <a:t>EX:</a:t>
            </a:r>
            <a:r>
              <a:rPr sz="2400" b="0" spc="-120" dirty="0">
                <a:latin typeface="Arial MT"/>
                <a:cs typeface="Arial MT"/>
              </a:rPr>
              <a:t> </a:t>
            </a:r>
            <a:r>
              <a:rPr sz="2400" b="0" dirty="0">
                <a:latin typeface="Arial MT"/>
                <a:cs typeface="Arial MT"/>
              </a:rPr>
              <a:t>The</a:t>
            </a:r>
            <a:r>
              <a:rPr sz="2400" b="0" spc="-75" dirty="0">
                <a:latin typeface="Arial MT"/>
                <a:cs typeface="Arial MT"/>
              </a:rPr>
              <a:t> </a:t>
            </a:r>
            <a:r>
              <a:rPr sz="2400" b="0" dirty="0">
                <a:latin typeface="Arial MT"/>
                <a:cs typeface="Arial MT"/>
              </a:rPr>
              <a:t>bandwidth</a:t>
            </a:r>
            <a:r>
              <a:rPr sz="2400" b="0" spc="-35" dirty="0">
                <a:latin typeface="Arial MT"/>
                <a:cs typeface="Arial MT"/>
              </a:rPr>
              <a:t> </a:t>
            </a:r>
            <a:r>
              <a:rPr sz="2400" b="0" dirty="0">
                <a:latin typeface="Arial MT"/>
                <a:cs typeface="Arial MT"/>
              </a:rPr>
              <a:t>allocated</a:t>
            </a:r>
            <a:r>
              <a:rPr sz="2400" b="0" spc="-45" dirty="0">
                <a:latin typeface="Arial MT"/>
                <a:cs typeface="Arial MT"/>
              </a:rPr>
              <a:t> </a:t>
            </a:r>
            <a:r>
              <a:rPr sz="2400" b="0" dirty="0">
                <a:latin typeface="Arial MT"/>
                <a:cs typeface="Arial MT"/>
              </a:rPr>
              <a:t>to</a:t>
            </a:r>
            <a:r>
              <a:rPr sz="2400" b="0" spc="-90" dirty="0">
                <a:latin typeface="Arial MT"/>
                <a:cs typeface="Arial MT"/>
              </a:rPr>
              <a:t> </a:t>
            </a:r>
            <a:r>
              <a:rPr sz="2400" b="0" dirty="0">
                <a:latin typeface="Arial MT"/>
                <a:cs typeface="Arial MT"/>
              </a:rPr>
              <a:t>a</a:t>
            </a:r>
            <a:r>
              <a:rPr sz="2400" b="0" spc="-70" dirty="0">
                <a:latin typeface="Arial MT"/>
                <a:cs typeface="Arial MT"/>
              </a:rPr>
              <a:t> </a:t>
            </a:r>
            <a:r>
              <a:rPr sz="2400" b="0" dirty="0">
                <a:latin typeface="Arial MT"/>
                <a:cs typeface="Arial MT"/>
              </a:rPr>
              <a:t>particular</a:t>
            </a:r>
            <a:r>
              <a:rPr sz="2400" b="0" spc="-55" dirty="0">
                <a:latin typeface="Arial MT"/>
                <a:cs typeface="Arial MT"/>
              </a:rPr>
              <a:t> </a:t>
            </a:r>
            <a:r>
              <a:rPr sz="2400" b="0" dirty="0">
                <a:latin typeface="Arial MT"/>
                <a:cs typeface="Arial MT"/>
              </a:rPr>
              <a:t>FDD</a:t>
            </a:r>
            <a:r>
              <a:rPr sz="2400" b="0" spc="-70" dirty="0">
                <a:latin typeface="Arial MT"/>
                <a:cs typeface="Arial MT"/>
              </a:rPr>
              <a:t> </a:t>
            </a:r>
            <a:r>
              <a:rPr sz="2400" b="0" spc="-10" dirty="0">
                <a:latin typeface="Arial MT"/>
                <a:cs typeface="Arial MT"/>
              </a:rPr>
              <a:t>cellular </a:t>
            </a:r>
            <a:r>
              <a:rPr sz="2400" b="0" dirty="0">
                <a:latin typeface="Arial MT"/>
                <a:cs typeface="Arial MT"/>
              </a:rPr>
              <a:t>system</a:t>
            </a:r>
            <a:r>
              <a:rPr sz="2400" b="0" spc="-40" dirty="0">
                <a:latin typeface="Arial MT"/>
                <a:cs typeface="Arial MT"/>
              </a:rPr>
              <a:t> </a:t>
            </a:r>
            <a:r>
              <a:rPr sz="2400" b="0" dirty="0">
                <a:latin typeface="Arial MT"/>
                <a:cs typeface="Arial MT"/>
              </a:rPr>
              <a:t>is</a:t>
            </a:r>
            <a:r>
              <a:rPr sz="2400" b="0" spc="-45" dirty="0">
                <a:latin typeface="Arial MT"/>
                <a:cs typeface="Arial MT"/>
              </a:rPr>
              <a:t> </a:t>
            </a:r>
            <a:r>
              <a:rPr sz="2400" b="0" dirty="0">
                <a:latin typeface="Arial MT"/>
                <a:cs typeface="Arial MT"/>
              </a:rPr>
              <a:t>33</a:t>
            </a:r>
            <a:r>
              <a:rPr sz="2400" b="0" spc="-40" dirty="0">
                <a:latin typeface="Arial MT"/>
                <a:cs typeface="Arial MT"/>
              </a:rPr>
              <a:t> </a:t>
            </a:r>
            <a:r>
              <a:rPr sz="2400" b="0" dirty="0">
                <a:latin typeface="Arial MT"/>
                <a:cs typeface="Arial MT"/>
              </a:rPr>
              <a:t>MHz.</a:t>
            </a:r>
            <a:r>
              <a:rPr sz="2400" b="0" spc="-45" dirty="0">
                <a:latin typeface="Arial MT"/>
                <a:cs typeface="Arial MT"/>
              </a:rPr>
              <a:t> </a:t>
            </a:r>
            <a:r>
              <a:rPr sz="2400" b="0" dirty="0">
                <a:latin typeface="Arial MT"/>
                <a:cs typeface="Arial MT"/>
              </a:rPr>
              <a:t>It</a:t>
            </a:r>
            <a:r>
              <a:rPr sz="2400" b="0" spc="-70" dirty="0">
                <a:latin typeface="Arial MT"/>
                <a:cs typeface="Arial MT"/>
              </a:rPr>
              <a:t> </a:t>
            </a:r>
            <a:r>
              <a:rPr sz="2400" b="0" dirty="0">
                <a:latin typeface="Arial MT"/>
                <a:cs typeface="Arial MT"/>
              </a:rPr>
              <a:t>uses</a:t>
            </a:r>
            <a:r>
              <a:rPr sz="2400" b="0" spc="-40" dirty="0">
                <a:latin typeface="Arial MT"/>
                <a:cs typeface="Arial MT"/>
              </a:rPr>
              <a:t> </a:t>
            </a:r>
            <a:r>
              <a:rPr sz="2400" b="0" dirty="0">
                <a:latin typeface="Arial MT"/>
                <a:cs typeface="Arial MT"/>
              </a:rPr>
              <a:t>two</a:t>
            </a:r>
            <a:r>
              <a:rPr sz="2400" b="0" spc="-45" dirty="0">
                <a:latin typeface="Arial MT"/>
                <a:cs typeface="Arial MT"/>
              </a:rPr>
              <a:t> </a:t>
            </a:r>
            <a:r>
              <a:rPr sz="2400" b="0" dirty="0">
                <a:latin typeface="Arial MT"/>
                <a:cs typeface="Arial MT"/>
              </a:rPr>
              <a:t>25</a:t>
            </a:r>
            <a:r>
              <a:rPr sz="2400" b="0" spc="-45" dirty="0">
                <a:latin typeface="Arial MT"/>
                <a:cs typeface="Arial MT"/>
              </a:rPr>
              <a:t> </a:t>
            </a:r>
            <a:r>
              <a:rPr sz="2400" b="0" dirty="0">
                <a:latin typeface="Arial MT"/>
                <a:cs typeface="Arial MT"/>
              </a:rPr>
              <a:t>kHz</a:t>
            </a:r>
            <a:r>
              <a:rPr sz="2400" b="0" spc="-45" dirty="0">
                <a:latin typeface="Arial MT"/>
                <a:cs typeface="Arial MT"/>
              </a:rPr>
              <a:t> </a:t>
            </a:r>
            <a:r>
              <a:rPr sz="2400" b="0" dirty="0">
                <a:latin typeface="Arial MT"/>
                <a:cs typeface="Arial MT"/>
              </a:rPr>
              <a:t>simplex</a:t>
            </a:r>
            <a:r>
              <a:rPr sz="2400" b="0" spc="-35" dirty="0">
                <a:latin typeface="Arial MT"/>
                <a:cs typeface="Arial MT"/>
              </a:rPr>
              <a:t> </a:t>
            </a:r>
            <a:r>
              <a:rPr sz="2400" b="0" dirty="0">
                <a:latin typeface="Arial MT"/>
                <a:cs typeface="Arial MT"/>
              </a:rPr>
              <a:t>channels</a:t>
            </a:r>
            <a:r>
              <a:rPr sz="2400" b="0" spc="-15" dirty="0">
                <a:latin typeface="Arial MT"/>
                <a:cs typeface="Arial MT"/>
              </a:rPr>
              <a:t> </a:t>
            </a:r>
            <a:r>
              <a:rPr sz="2400" b="0" spc="-25" dirty="0">
                <a:latin typeface="Arial MT"/>
                <a:cs typeface="Arial MT"/>
              </a:rPr>
              <a:t>to </a:t>
            </a:r>
            <a:r>
              <a:rPr sz="2400" b="0" dirty="0">
                <a:latin typeface="Arial MT"/>
                <a:cs typeface="Arial MT"/>
              </a:rPr>
              <a:t>provide</a:t>
            </a:r>
            <a:r>
              <a:rPr sz="2400" b="0" spc="-90" dirty="0">
                <a:latin typeface="Arial MT"/>
                <a:cs typeface="Arial MT"/>
              </a:rPr>
              <a:t> </a:t>
            </a:r>
            <a:r>
              <a:rPr sz="2400" b="0" dirty="0">
                <a:latin typeface="Arial MT"/>
                <a:cs typeface="Arial MT"/>
              </a:rPr>
              <a:t>full</a:t>
            </a:r>
            <a:r>
              <a:rPr sz="2400" b="0" spc="-80" dirty="0">
                <a:latin typeface="Arial MT"/>
                <a:cs typeface="Arial MT"/>
              </a:rPr>
              <a:t> </a:t>
            </a:r>
            <a:r>
              <a:rPr sz="2400" b="0" dirty="0">
                <a:latin typeface="Arial MT"/>
                <a:cs typeface="Arial MT"/>
              </a:rPr>
              <a:t>duplex</a:t>
            </a:r>
            <a:r>
              <a:rPr sz="2400" b="0" spc="-70" dirty="0">
                <a:latin typeface="Arial MT"/>
                <a:cs typeface="Arial MT"/>
              </a:rPr>
              <a:t> </a:t>
            </a:r>
            <a:r>
              <a:rPr sz="2400" b="0" dirty="0">
                <a:latin typeface="Arial MT"/>
                <a:cs typeface="Arial MT"/>
              </a:rPr>
              <a:t>voice</a:t>
            </a:r>
            <a:r>
              <a:rPr sz="2400" b="0" spc="-75" dirty="0">
                <a:latin typeface="Arial MT"/>
                <a:cs typeface="Arial MT"/>
              </a:rPr>
              <a:t> </a:t>
            </a:r>
            <a:r>
              <a:rPr sz="2400" b="0" dirty="0">
                <a:latin typeface="Arial MT"/>
                <a:cs typeface="Arial MT"/>
              </a:rPr>
              <a:t>and</a:t>
            </a:r>
            <a:r>
              <a:rPr sz="2400" b="0" spc="-95" dirty="0">
                <a:latin typeface="Arial MT"/>
                <a:cs typeface="Arial MT"/>
              </a:rPr>
              <a:t> </a:t>
            </a:r>
            <a:r>
              <a:rPr sz="2400" b="0" dirty="0">
                <a:latin typeface="Arial MT"/>
                <a:cs typeface="Arial MT"/>
              </a:rPr>
              <a:t>control</a:t>
            </a:r>
            <a:r>
              <a:rPr sz="2400" b="0" spc="-85" dirty="0">
                <a:latin typeface="Arial MT"/>
                <a:cs typeface="Arial MT"/>
              </a:rPr>
              <a:t> </a:t>
            </a:r>
            <a:r>
              <a:rPr sz="2400" b="0" dirty="0">
                <a:latin typeface="Arial MT"/>
                <a:cs typeface="Arial MT"/>
              </a:rPr>
              <a:t>channels,</a:t>
            </a:r>
            <a:r>
              <a:rPr sz="2400" b="0" spc="-75" dirty="0">
                <a:latin typeface="Arial MT"/>
                <a:cs typeface="Arial MT"/>
              </a:rPr>
              <a:t> </a:t>
            </a:r>
            <a:r>
              <a:rPr sz="2400" b="0" dirty="0">
                <a:latin typeface="Arial MT"/>
                <a:cs typeface="Arial MT"/>
              </a:rPr>
              <a:t>compute</a:t>
            </a:r>
            <a:r>
              <a:rPr sz="2400" b="0" spc="-85" dirty="0">
                <a:latin typeface="Arial MT"/>
                <a:cs typeface="Arial MT"/>
              </a:rPr>
              <a:t> </a:t>
            </a:r>
            <a:r>
              <a:rPr sz="2400" b="0" spc="-25" dirty="0">
                <a:latin typeface="Arial MT"/>
                <a:cs typeface="Arial MT"/>
              </a:rPr>
              <a:t>the </a:t>
            </a:r>
            <a:r>
              <a:rPr sz="2400" b="0" dirty="0">
                <a:latin typeface="Arial MT"/>
                <a:cs typeface="Arial MT"/>
              </a:rPr>
              <a:t>number</a:t>
            </a:r>
            <a:r>
              <a:rPr sz="2400" b="0" spc="-50" dirty="0">
                <a:latin typeface="Arial MT"/>
                <a:cs typeface="Arial MT"/>
              </a:rPr>
              <a:t> </a:t>
            </a:r>
            <a:r>
              <a:rPr sz="2400" b="0" dirty="0">
                <a:latin typeface="Arial MT"/>
                <a:cs typeface="Arial MT"/>
              </a:rPr>
              <a:t>of</a:t>
            </a:r>
            <a:r>
              <a:rPr sz="2400" b="0" spc="-45" dirty="0">
                <a:latin typeface="Arial MT"/>
                <a:cs typeface="Arial MT"/>
              </a:rPr>
              <a:t> </a:t>
            </a:r>
            <a:r>
              <a:rPr sz="2400" b="0" dirty="0">
                <a:latin typeface="Arial MT"/>
                <a:cs typeface="Arial MT"/>
              </a:rPr>
              <a:t>channels</a:t>
            </a:r>
            <a:r>
              <a:rPr sz="2400" b="0" spc="-20" dirty="0">
                <a:latin typeface="Arial MT"/>
                <a:cs typeface="Arial MT"/>
              </a:rPr>
              <a:t> </a:t>
            </a:r>
            <a:r>
              <a:rPr sz="2400" b="0" dirty="0">
                <a:latin typeface="Arial MT"/>
                <a:cs typeface="Arial MT"/>
              </a:rPr>
              <a:t>available</a:t>
            </a:r>
            <a:r>
              <a:rPr sz="2400" b="0" spc="-25" dirty="0">
                <a:latin typeface="Arial MT"/>
                <a:cs typeface="Arial MT"/>
              </a:rPr>
              <a:t> </a:t>
            </a:r>
            <a:r>
              <a:rPr sz="2400" b="0" dirty="0">
                <a:latin typeface="Arial MT"/>
                <a:cs typeface="Arial MT"/>
              </a:rPr>
              <a:t>per</a:t>
            </a:r>
            <a:r>
              <a:rPr sz="2400" b="0" spc="-50" dirty="0">
                <a:latin typeface="Arial MT"/>
                <a:cs typeface="Arial MT"/>
              </a:rPr>
              <a:t> </a:t>
            </a:r>
            <a:r>
              <a:rPr sz="2400" b="0" dirty="0">
                <a:latin typeface="Arial MT"/>
                <a:cs typeface="Arial MT"/>
              </a:rPr>
              <a:t>cell</a:t>
            </a:r>
            <a:r>
              <a:rPr sz="2400" b="0" spc="-45" dirty="0">
                <a:latin typeface="Arial MT"/>
                <a:cs typeface="Arial MT"/>
              </a:rPr>
              <a:t> </a:t>
            </a:r>
            <a:r>
              <a:rPr sz="2400" b="0" dirty="0">
                <a:latin typeface="Arial MT"/>
                <a:cs typeface="Arial MT"/>
              </a:rPr>
              <a:t>if</a:t>
            </a:r>
            <a:r>
              <a:rPr sz="2400" b="0" spc="-45" dirty="0">
                <a:latin typeface="Arial MT"/>
                <a:cs typeface="Arial MT"/>
              </a:rPr>
              <a:t> </a:t>
            </a:r>
            <a:r>
              <a:rPr sz="2400" b="0" dirty="0">
                <a:latin typeface="Arial MT"/>
                <a:cs typeface="Arial MT"/>
              </a:rPr>
              <a:t>a</a:t>
            </a:r>
            <a:r>
              <a:rPr sz="2400" b="0" spc="-50" dirty="0">
                <a:latin typeface="Arial MT"/>
                <a:cs typeface="Arial MT"/>
              </a:rPr>
              <a:t> </a:t>
            </a:r>
            <a:r>
              <a:rPr sz="2400" b="0" dirty="0">
                <a:latin typeface="Arial MT"/>
                <a:cs typeface="Arial MT"/>
              </a:rPr>
              <a:t>system</a:t>
            </a:r>
            <a:r>
              <a:rPr sz="2400" b="0" spc="-50" dirty="0">
                <a:latin typeface="Arial MT"/>
                <a:cs typeface="Arial MT"/>
              </a:rPr>
              <a:t> </a:t>
            </a:r>
            <a:r>
              <a:rPr sz="2400" b="0" spc="-20" dirty="0">
                <a:latin typeface="Arial MT"/>
                <a:cs typeface="Arial MT"/>
              </a:rPr>
              <a:t>uses</a:t>
            </a:r>
            <a:endParaRPr sz="2400">
              <a:latin typeface="Arial MT"/>
              <a:cs typeface="Arial MT"/>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p:nvPr/>
        </p:nvSpPr>
        <p:spPr>
          <a:xfrm>
            <a:off x="383540" y="3275457"/>
            <a:ext cx="473646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(a)</a:t>
            </a:r>
            <a:r>
              <a:rPr sz="2400" spc="-35" dirty="0">
                <a:latin typeface="Arial MT"/>
                <a:cs typeface="Arial MT"/>
              </a:rPr>
              <a:t> </a:t>
            </a:r>
            <a:r>
              <a:rPr sz="2400" dirty="0">
                <a:latin typeface="Arial MT"/>
                <a:cs typeface="Arial MT"/>
              </a:rPr>
              <a:t>4</a:t>
            </a:r>
            <a:r>
              <a:rPr sz="2400" spc="-50" dirty="0">
                <a:latin typeface="Arial MT"/>
                <a:cs typeface="Arial MT"/>
              </a:rPr>
              <a:t> </a:t>
            </a:r>
            <a:r>
              <a:rPr sz="2400" dirty="0">
                <a:latin typeface="Arial MT"/>
                <a:cs typeface="Arial MT"/>
              </a:rPr>
              <a:t>cell</a:t>
            </a:r>
            <a:r>
              <a:rPr sz="2400" spc="-35" dirty="0">
                <a:latin typeface="Arial MT"/>
                <a:cs typeface="Arial MT"/>
              </a:rPr>
              <a:t> </a:t>
            </a:r>
            <a:r>
              <a:rPr sz="2400" dirty="0">
                <a:latin typeface="Arial MT"/>
                <a:cs typeface="Arial MT"/>
              </a:rPr>
              <a:t>reuse</a:t>
            </a:r>
            <a:r>
              <a:rPr sz="2400" spc="-40" dirty="0">
                <a:latin typeface="Arial MT"/>
                <a:cs typeface="Arial MT"/>
              </a:rPr>
              <a:t> </a:t>
            </a:r>
            <a:r>
              <a:rPr sz="2400" dirty="0">
                <a:latin typeface="Arial MT"/>
                <a:cs typeface="Arial MT"/>
              </a:rPr>
              <a:t>and</a:t>
            </a:r>
            <a:r>
              <a:rPr sz="2400" spc="-30" dirty="0">
                <a:latin typeface="Arial MT"/>
                <a:cs typeface="Arial MT"/>
              </a:rPr>
              <a:t> </a:t>
            </a:r>
            <a:r>
              <a:rPr sz="2400" dirty="0">
                <a:latin typeface="Arial MT"/>
                <a:cs typeface="Arial MT"/>
              </a:rPr>
              <a:t>(b)</a:t>
            </a:r>
            <a:r>
              <a:rPr sz="2400" spc="-35" dirty="0">
                <a:latin typeface="Arial MT"/>
                <a:cs typeface="Arial MT"/>
              </a:rPr>
              <a:t> </a:t>
            </a:r>
            <a:r>
              <a:rPr sz="2400" dirty="0">
                <a:latin typeface="Arial MT"/>
                <a:cs typeface="Arial MT"/>
              </a:rPr>
              <a:t>7</a:t>
            </a:r>
            <a:r>
              <a:rPr sz="2400" spc="-50" dirty="0">
                <a:latin typeface="Arial MT"/>
                <a:cs typeface="Arial MT"/>
              </a:rPr>
              <a:t> </a:t>
            </a:r>
            <a:r>
              <a:rPr sz="2400" dirty="0">
                <a:latin typeface="Arial MT"/>
                <a:cs typeface="Arial MT"/>
              </a:rPr>
              <a:t>cell</a:t>
            </a:r>
            <a:r>
              <a:rPr sz="2400" spc="-30" dirty="0">
                <a:latin typeface="Arial MT"/>
                <a:cs typeface="Arial MT"/>
              </a:rPr>
              <a:t> </a:t>
            </a:r>
            <a:r>
              <a:rPr sz="2400" spc="-10" dirty="0">
                <a:latin typeface="Arial MT"/>
                <a:cs typeface="Arial MT"/>
              </a:rPr>
              <a:t>reuse</a:t>
            </a:r>
            <a:endParaRPr sz="24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21955" cy="37572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Solution</a:t>
            </a:r>
            <a:endParaRPr sz="2400">
              <a:latin typeface="Times New Roman"/>
              <a:cs typeface="Times New Roman"/>
            </a:endParaRPr>
          </a:p>
          <a:p>
            <a:pPr marL="355600" marR="362585">
              <a:lnSpc>
                <a:spcPct val="100000"/>
              </a:lnSpc>
            </a:pPr>
            <a:r>
              <a:rPr sz="2400" spc="-20" dirty="0">
                <a:latin typeface="Times New Roman"/>
                <a:cs typeface="Times New Roman"/>
              </a:rPr>
              <a:t>Total</a:t>
            </a:r>
            <a:r>
              <a:rPr sz="2400" spc="-40" dirty="0">
                <a:latin typeface="Times New Roman"/>
                <a:cs typeface="Times New Roman"/>
              </a:rPr>
              <a:t> </a:t>
            </a:r>
            <a:r>
              <a:rPr sz="2400" dirty="0">
                <a:latin typeface="Times New Roman"/>
                <a:cs typeface="Times New Roman"/>
              </a:rPr>
              <a:t>bandwidth</a:t>
            </a:r>
            <a:r>
              <a:rPr sz="2400" spc="-30" dirty="0">
                <a:latin typeface="Times New Roman"/>
                <a:cs typeface="Times New Roman"/>
              </a:rPr>
              <a:t> </a:t>
            </a:r>
            <a:r>
              <a:rPr sz="2400" dirty="0">
                <a:latin typeface="Times New Roman"/>
                <a:cs typeface="Times New Roman"/>
              </a:rPr>
              <a:t>allocated</a:t>
            </a:r>
            <a:r>
              <a:rPr sz="2400" spc="-5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system</a:t>
            </a:r>
            <a:r>
              <a:rPr sz="2400" spc="-35" dirty="0">
                <a:latin typeface="Times New Roman"/>
                <a:cs typeface="Times New Roman"/>
              </a:rPr>
              <a:t> </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33</a:t>
            </a:r>
            <a:r>
              <a:rPr sz="2400" spc="-15" dirty="0">
                <a:latin typeface="Times New Roman"/>
                <a:cs typeface="Times New Roman"/>
              </a:rPr>
              <a:t> </a:t>
            </a:r>
            <a:r>
              <a:rPr sz="2400" spc="-25" dirty="0">
                <a:latin typeface="Times New Roman"/>
                <a:cs typeface="Times New Roman"/>
              </a:rPr>
              <a:t>MHz </a:t>
            </a:r>
            <a:r>
              <a:rPr sz="2400" dirty="0">
                <a:latin typeface="Times New Roman"/>
                <a:cs typeface="Times New Roman"/>
              </a:rPr>
              <a:t>Channel</a:t>
            </a:r>
            <a:r>
              <a:rPr sz="2400" spc="-15" dirty="0">
                <a:latin typeface="Times New Roman"/>
                <a:cs typeface="Times New Roman"/>
              </a:rPr>
              <a:t> </a:t>
            </a:r>
            <a:r>
              <a:rPr sz="2400" dirty="0">
                <a:latin typeface="Times New Roman"/>
                <a:cs typeface="Times New Roman"/>
              </a:rPr>
              <a:t>bandwidth</a:t>
            </a:r>
            <a:r>
              <a:rPr sz="2400" spc="-30" dirty="0">
                <a:latin typeface="Times New Roman"/>
                <a:cs typeface="Times New Roman"/>
              </a:rPr>
              <a:t> </a:t>
            </a:r>
            <a:r>
              <a:rPr sz="2400" dirty="0">
                <a:latin typeface="Times New Roman"/>
                <a:cs typeface="Times New Roman"/>
              </a:rPr>
              <a:t>required</a:t>
            </a:r>
            <a:r>
              <a:rPr sz="2400" spc="-25"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duplex channel</a:t>
            </a:r>
            <a:r>
              <a:rPr sz="2400" spc="-25" dirty="0">
                <a:latin typeface="Times New Roman"/>
                <a:cs typeface="Times New Roman"/>
              </a:rPr>
              <a:t> </a:t>
            </a:r>
            <a:r>
              <a:rPr sz="2400" dirty="0">
                <a:latin typeface="Times New Roman"/>
                <a:cs typeface="Times New Roman"/>
              </a:rPr>
              <a:t>(uplink</a:t>
            </a:r>
            <a:r>
              <a:rPr sz="2400" spc="-20" dirty="0">
                <a:latin typeface="Times New Roman"/>
                <a:cs typeface="Times New Roman"/>
              </a:rPr>
              <a:t> </a:t>
            </a:r>
            <a:r>
              <a:rPr sz="2400" spc="-25" dirty="0">
                <a:latin typeface="Times New Roman"/>
                <a:cs typeface="Times New Roman"/>
              </a:rPr>
              <a:t>and </a:t>
            </a:r>
            <a:r>
              <a:rPr sz="2400" dirty="0">
                <a:latin typeface="Times New Roman"/>
                <a:cs typeface="Times New Roman"/>
              </a:rPr>
              <a:t>downlink)</a:t>
            </a:r>
            <a:r>
              <a:rPr sz="2400" spc="-10"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25</a:t>
            </a:r>
            <a:r>
              <a:rPr sz="2400" spc="-5" dirty="0">
                <a:latin typeface="Times New Roman"/>
                <a:cs typeface="Times New Roman"/>
              </a:rPr>
              <a:t> </a:t>
            </a:r>
            <a:r>
              <a:rPr sz="2400" dirty="0">
                <a:latin typeface="Times New Roman"/>
                <a:cs typeface="Times New Roman"/>
              </a:rPr>
              <a:t>kHz</a:t>
            </a:r>
            <a:r>
              <a:rPr sz="2400" spc="10"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2</a:t>
            </a:r>
            <a:r>
              <a:rPr sz="2400" spc="-5" dirty="0">
                <a:latin typeface="Times New Roman"/>
                <a:cs typeface="Times New Roman"/>
              </a:rPr>
              <a:t> </a:t>
            </a:r>
            <a:r>
              <a:rPr sz="2400" dirty="0">
                <a:latin typeface="Times New Roman"/>
                <a:cs typeface="Times New Roman"/>
              </a:rPr>
              <a:t>=</a:t>
            </a:r>
            <a:r>
              <a:rPr sz="2400" spc="-5" dirty="0">
                <a:latin typeface="Times New Roman"/>
                <a:cs typeface="Times New Roman"/>
              </a:rPr>
              <a:t> </a:t>
            </a:r>
            <a:r>
              <a:rPr sz="2400" dirty="0">
                <a:latin typeface="Times New Roman"/>
                <a:cs typeface="Times New Roman"/>
              </a:rPr>
              <a:t>50</a:t>
            </a:r>
            <a:r>
              <a:rPr sz="2400" spc="-5" dirty="0">
                <a:latin typeface="Times New Roman"/>
                <a:cs typeface="Times New Roman"/>
              </a:rPr>
              <a:t> </a:t>
            </a:r>
            <a:r>
              <a:rPr sz="2400" spc="-25" dirty="0">
                <a:latin typeface="Times New Roman"/>
                <a:cs typeface="Times New Roman"/>
              </a:rPr>
              <a:t>kHz</a:t>
            </a:r>
            <a:endParaRPr sz="2400">
              <a:latin typeface="Times New Roman"/>
              <a:cs typeface="Times New Roman"/>
            </a:endParaRPr>
          </a:p>
          <a:p>
            <a:pPr>
              <a:lnSpc>
                <a:spcPct val="100000"/>
              </a:lnSpc>
              <a:spcBef>
                <a:spcPts val="695"/>
              </a:spcBef>
            </a:pPr>
            <a:endParaRPr sz="2400">
              <a:latin typeface="Times New Roman"/>
              <a:cs typeface="Times New Roman"/>
            </a:endParaRPr>
          </a:p>
          <a:p>
            <a:pPr marL="12700">
              <a:lnSpc>
                <a:spcPct val="100000"/>
              </a:lnSpc>
            </a:pPr>
            <a:r>
              <a:rPr sz="2400" spc="-20" dirty="0">
                <a:latin typeface="Times New Roman"/>
                <a:cs typeface="Times New Roman"/>
              </a:rPr>
              <a:t>Total</a:t>
            </a:r>
            <a:r>
              <a:rPr sz="2400" spc="-40" dirty="0">
                <a:latin typeface="Times New Roman"/>
                <a:cs typeface="Times New Roman"/>
              </a:rPr>
              <a:t> </a:t>
            </a:r>
            <a:r>
              <a:rPr sz="2400" dirty="0">
                <a:latin typeface="Times New Roman"/>
                <a:cs typeface="Times New Roman"/>
              </a:rPr>
              <a:t>number</a:t>
            </a:r>
            <a:r>
              <a:rPr sz="2400" spc="-1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available</a:t>
            </a:r>
            <a:r>
              <a:rPr sz="2400" spc="-50" dirty="0">
                <a:latin typeface="Times New Roman"/>
                <a:cs typeface="Times New Roman"/>
              </a:rPr>
              <a:t> </a:t>
            </a:r>
            <a:r>
              <a:rPr sz="2400" dirty="0">
                <a:latin typeface="Times New Roman"/>
                <a:cs typeface="Times New Roman"/>
              </a:rPr>
              <a:t>channels</a:t>
            </a:r>
            <a:r>
              <a:rPr sz="2400" spc="-35" dirty="0">
                <a:latin typeface="Times New Roman"/>
                <a:cs typeface="Times New Roman"/>
              </a:rPr>
              <a:t> </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33,000,000/50,000</a:t>
            </a:r>
            <a:r>
              <a:rPr sz="2400" spc="-1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spc="-25" dirty="0">
                <a:latin typeface="Times New Roman"/>
                <a:cs typeface="Times New Roman"/>
              </a:rPr>
              <a:t>660</a:t>
            </a:r>
            <a:endParaRPr sz="2400">
              <a:latin typeface="Times New Roman"/>
              <a:cs typeface="Times New Roman"/>
            </a:endParaRPr>
          </a:p>
          <a:p>
            <a:pPr marL="666750" indent="-311150">
              <a:lnSpc>
                <a:spcPct val="100000"/>
              </a:lnSpc>
              <a:spcBef>
                <a:spcPts val="5"/>
              </a:spcBef>
              <a:buAutoNum type="alphaLcParenR"/>
              <a:tabLst>
                <a:tab pos="666750" algn="l"/>
              </a:tabLst>
            </a:pP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cluster</a:t>
            </a:r>
            <a:r>
              <a:rPr sz="2400" spc="-25" dirty="0">
                <a:latin typeface="Times New Roman"/>
                <a:cs typeface="Times New Roman"/>
              </a:rPr>
              <a:t> </a:t>
            </a:r>
            <a:r>
              <a:rPr sz="2400" dirty="0">
                <a:latin typeface="Times New Roman"/>
                <a:cs typeface="Times New Roman"/>
              </a:rPr>
              <a:t>size</a:t>
            </a:r>
            <a:r>
              <a:rPr sz="2400" spc="-20" dirty="0">
                <a:latin typeface="Times New Roman"/>
                <a:cs typeface="Times New Roman"/>
              </a:rPr>
              <a:t> </a:t>
            </a:r>
            <a:r>
              <a:rPr sz="2400" i="1" dirty="0">
                <a:latin typeface="Times New Roman"/>
                <a:cs typeface="Times New Roman"/>
              </a:rPr>
              <a:t>N</a:t>
            </a:r>
            <a:r>
              <a:rPr sz="2400" i="1" spc="-10" dirty="0">
                <a:latin typeface="Times New Roman"/>
                <a:cs typeface="Times New Roman"/>
              </a:rPr>
              <a:t> </a:t>
            </a:r>
            <a:r>
              <a:rPr sz="2400" dirty="0">
                <a:latin typeface="Times New Roman"/>
                <a:cs typeface="Times New Roman"/>
              </a:rPr>
              <a:t>=</a:t>
            </a:r>
            <a:r>
              <a:rPr sz="2400" spc="-5" dirty="0">
                <a:latin typeface="Times New Roman"/>
                <a:cs typeface="Times New Roman"/>
              </a:rPr>
              <a:t> </a:t>
            </a:r>
            <a:r>
              <a:rPr sz="2400" dirty="0">
                <a:latin typeface="Times New Roman"/>
                <a:cs typeface="Times New Roman"/>
              </a:rPr>
              <a:t>4,</a:t>
            </a:r>
            <a:r>
              <a:rPr sz="2400" spc="-10" dirty="0">
                <a:latin typeface="Times New Roman"/>
                <a:cs typeface="Times New Roman"/>
              </a:rPr>
              <a:t> </a:t>
            </a:r>
            <a:r>
              <a:rPr sz="2400" dirty="0">
                <a:latin typeface="Times New Roman"/>
                <a:cs typeface="Times New Roman"/>
              </a:rPr>
              <a:t>number</a:t>
            </a:r>
            <a:r>
              <a:rPr sz="2400" spc="-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channels</a:t>
            </a:r>
            <a:r>
              <a:rPr sz="2400" spc="-30" dirty="0">
                <a:latin typeface="Times New Roman"/>
                <a:cs typeface="Times New Roman"/>
              </a:rPr>
              <a:t> </a:t>
            </a:r>
            <a:r>
              <a:rPr sz="2400" dirty="0">
                <a:latin typeface="Times New Roman"/>
                <a:cs typeface="Times New Roman"/>
              </a:rPr>
              <a:t>available</a:t>
            </a:r>
            <a:r>
              <a:rPr sz="2400" spc="-40" dirty="0">
                <a:latin typeface="Times New Roman"/>
                <a:cs typeface="Times New Roman"/>
              </a:rPr>
              <a:t> </a:t>
            </a:r>
            <a:r>
              <a:rPr sz="2400" dirty="0">
                <a:latin typeface="Times New Roman"/>
                <a:cs typeface="Times New Roman"/>
              </a:rPr>
              <a:t>per</a:t>
            </a:r>
            <a:r>
              <a:rPr sz="2400" spc="-20" dirty="0">
                <a:latin typeface="Times New Roman"/>
                <a:cs typeface="Times New Roman"/>
              </a:rPr>
              <a:t> cell</a:t>
            </a:r>
            <a:endParaRPr sz="2400">
              <a:latin typeface="Times New Roman"/>
              <a:cs typeface="Times New Roman"/>
            </a:endParaRPr>
          </a:p>
          <a:p>
            <a:pPr marL="355600">
              <a:lnSpc>
                <a:spcPct val="100000"/>
              </a:lnSpc>
            </a:pP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660/4 =</a:t>
            </a:r>
            <a:r>
              <a:rPr sz="2400" spc="-10" dirty="0">
                <a:latin typeface="Times New Roman"/>
                <a:cs typeface="Times New Roman"/>
              </a:rPr>
              <a:t> </a:t>
            </a:r>
            <a:r>
              <a:rPr sz="2400" spc="-25" dirty="0">
                <a:latin typeface="Times New Roman"/>
                <a:cs typeface="Times New Roman"/>
              </a:rPr>
              <a:t>165</a:t>
            </a:r>
            <a:endParaRPr sz="2400">
              <a:latin typeface="Times New Roman"/>
              <a:cs typeface="Times New Roman"/>
            </a:endParaRPr>
          </a:p>
          <a:p>
            <a:pPr marL="685165" indent="-329565">
              <a:lnSpc>
                <a:spcPct val="100000"/>
              </a:lnSpc>
              <a:buAutoNum type="alphaLcParenR" startAt="2"/>
              <a:tabLst>
                <a:tab pos="685165" algn="l"/>
              </a:tabLst>
            </a:pP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cluster</a:t>
            </a:r>
            <a:r>
              <a:rPr sz="2400" spc="-40" dirty="0">
                <a:latin typeface="Times New Roman"/>
                <a:cs typeface="Times New Roman"/>
              </a:rPr>
              <a:t> </a:t>
            </a:r>
            <a:r>
              <a:rPr sz="2400" dirty="0">
                <a:latin typeface="Times New Roman"/>
                <a:cs typeface="Times New Roman"/>
              </a:rPr>
              <a:t>size</a:t>
            </a:r>
            <a:r>
              <a:rPr sz="2400" spc="-5" dirty="0">
                <a:latin typeface="Times New Roman"/>
                <a:cs typeface="Times New Roman"/>
              </a:rPr>
              <a:t> </a:t>
            </a:r>
            <a:r>
              <a:rPr sz="2400" i="1" dirty="0">
                <a:latin typeface="Times New Roman"/>
                <a:cs typeface="Times New Roman"/>
              </a:rPr>
              <a:t>N</a:t>
            </a:r>
            <a:r>
              <a:rPr sz="2400" i="1" spc="-1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7,</a:t>
            </a:r>
            <a:r>
              <a:rPr sz="2400" spc="-5" dirty="0">
                <a:latin typeface="Times New Roman"/>
                <a:cs typeface="Times New Roman"/>
              </a:rPr>
              <a:t> </a:t>
            </a:r>
            <a:r>
              <a:rPr sz="2400" dirty="0">
                <a:latin typeface="Times New Roman"/>
                <a:cs typeface="Times New Roman"/>
              </a:rPr>
              <a:t>number of</a:t>
            </a:r>
            <a:r>
              <a:rPr sz="2400" spc="-15" dirty="0">
                <a:latin typeface="Times New Roman"/>
                <a:cs typeface="Times New Roman"/>
              </a:rPr>
              <a:t> </a:t>
            </a:r>
            <a:r>
              <a:rPr sz="2400" dirty="0">
                <a:latin typeface="Times New Roman"/>
                <a:cs typeface="Times New Roman"/>
              </a:rPr>
              <a:t>channels</a:t>
            </a:r>
            <a:r>
              <a:rPr sz="2400" spc="-30" dirty="0">
                <a:latin typeface="Times New Roman"/>
                <a:cs typeface="Times New Roman"/>
              </a:rPr>
              <a:t> </a:t>
            </a:r>
            <a:r>
              <a:rPr sz="2400" dirty="0">
                <a:latin typeface="Times New Roman"/>
                <a:cs typeface="Times New Roman"/>
              </a:rPr>
              <a:t>available</a:t>
            </a:r>
            <a:r>
              <a:rPr sz="2400" spc="-50" dirty="0">
                <a:latin typeface="Times New Roman"/>
                <a:cs typeface="Times New Roman"/>
              </a:rPr>
              <a:t> </a:t>
            </a:r>
            <a:r>
              <a:rPr sz="2400" dirty="0">
                <a:latin typeface="Times New Roman"/>
                <a:cs typeface="Times New Roman"/>
              </a:rPr>
              <a:t>per</a:t>
            </a:r>
            <a:r>
              <a:rPr sz="2400" spc="-20" dirty="0">
                <a:latin typeface="Times New Roman"/>
                <a:cs typeface="Times New Roman"/>
              </a:rPr>
              <a:t> cell</a:t>
            </a:r>
            <a:endParaRPr sz="2400">
              <a:latin typeface="Times New Roman"/>
              <a:cs typeface="Times New Roman"/>
            </a:endParaRPr>
          </a:p>
          <a:p>
            <a:pPr marL="355600">
              <a:lnSpc>
                <a:spcPct val="100000"/>
              </a:lnSpc>
            </a:pP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660/7 =</a:t>
            </a:r>
            <a:r>
              <a:rPr sz="2400" spc="-10" dirty="0">
                <a:latin typeface="Times New Roman"/>
                <a:cs typeface="Times New Roman"/>
              </a:rPr>
              <a:t> </a:t>
            </a:r>
            <a:r>
              <a:rPr sz="2400" spc="-35" dirty="0">
                <a:latin typeface="Times New Roman"/>
                <a:cs typeface="Times New Roman"/>
              </a:rPr>
              <a:t>95</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13</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3355"/>
            <a:ext cx="7985759" cy="1342390"/>
          </a:xfrm>
          <a:prstGeom prst="rect">
            <a:avLst/>
          </a:prstGeom>
        </p:spPr>
        <p:txBody>
          <a:bodyPr vert="horz" wrap="square" lIns="0" tIns="85725" rIns="0" bIns="0" rtlCol="0">
            <a:spAutoFit/>
          </a:bodyPr>
          <a:lstStyle/>
          <a:p>
            <a:pPr marL="12700">
              <a:lnSpc>
                <a:spcPct val="100000"/>
              </a:lnSpc>
              <a:spcBef>
                <a:spcPts val="675"/>
              </a:spcBef>
            </a:pPr>
            <a:r>
              <a:rPr sz="2400" b="0" spc="-30" dirty="0">
                <a:latin typeface="Times New Roman"/>
                <a:cs typeface="Times New Roman"/>
              </a:rPr>
              <a:t>To </a:t>
            </a:r>
            <a:r>
              <a:rPr sz="2400" b="0" dirty="0">
                <a:latin typeface="Times New Roman"/>
                <a:cs typeface="Times New Roman"/>
              </a:rPr>
              <a:t>understand</a:t>
            </a:r>
            <a:r>
              <a:rPr sz="2400" b="0" spc="-55" dirty="0">
                <a:latin typeface="Times New Roman"/>
                <a:cs typeface="Times New Roman"/>
              </a:rPr>
              <a:t> </a:t>
            </a:r>
            <a:r>
              <a:rPr sz="2400" b="0" dirty="0">
                <a:latin typeface="Times New Roman"/>
                <a:cs typeface="Times New Roman"/>
              </a:rPr>
              <a:t>the</a:t>
            </a:r>
            <a:r>
              <a:rPr sz="2400" b="0" spc="-35" dirty="0">
                <a:latin typeface="Times New Roman"/>
                <a:cs typeface="Times New Roman"/>
              </a:rPr>
              <a:t> </a:t>
            </a:r>
            <a:r>
              <a:rPr sz="2400" b="0" dirty="0">
                <a:latin typeface="Times New Roman"/>
                <a:cs typeface="Times New Roman"/>
              </a:rPr>
              <a:t>frequency</a:t>
            </a:r>
            <a:r>
              <a:rPr sz="2400" b="0" spc="-40" dirty="0">
                <a:latin typeface="Times New Roman"/>
                <a:cs typeface="Times New Roman"/>
              </a:rPr>
              <a:t> </a:t>
            </a:r>
            <a:r>
              <a:rPr sz="2400" b="0" dirty="0">
                <a:latin typeface="Times New Roman"/>
                <a:cs typeface="Times New Roman"/>
              </a:rPr>
              <a:t>reuse</a:t>
            </a:r>
            <a:r>
              <a:rPr sz="2400" b="0" spc="-30" dirty="0">
                <a:latin typeface="Times New Roman"/>
                <a:cs typeface="Times New Roman"/>
              </a:rPr>
              <a:t> </a:t>
            </a:r>
            <a:r>
              <a:rPr sz="2400" b="0" spc="-10" dirty="0">
                <a:latin typeface="Times New Roman"/>
                <a:cs typeface="Times New Roman"/>
              </a:rPr>
              <a:t>concept,</a:t>
            </a:r>
            <a:endParaRPr sz="2400">
              <a:latin typeface="Times New Roman"/>
              <a:cs typeface="Times New Roman"/>
            </a:endParaRPr>
          </a:p>
          <a:p>
            <a:pPr marL="12700" marR="5080">
              <a:lnSpc>
                <a:spcPts val="3460"/>
              </a:lnSpc>
              <a:spcBef>
                <a:spcPts val="95"/>
              </a:spcBef>
            </a:pPr>
            <a:r>
              <a:rPr sz="2400" b="0" dirty="0">
                <a:latin typeface="Times New Roman"/>
                <a:cs typeface="Times New Roman"/>
              </a:rPr>
              <a:t>Consider</a:t>
            </a:r>
            <a:r>
              <a:rPr sz="2400" b="0" spc="-15" dirty="0">
                <a:latin typeface="Times New Roman"/>
                <a:cs typeface="Times New Roman"/>
              </a:rPr>
              <a:t> </a:t>
            </a:r>
            <a:r>
              <a:rPr sz="2400" b="0" dirty="0">
                <a:latin typeface="Times New Roman"/>
                <a:cs typeface="Times New Roman"/>
              </a:rPr>
              <a:t>a</a:t>
            </a:r>
            <a:r>
              <a:rPr sz="2400" b="0" spc="-15" dirty="0">
                <a:latin typeface="Times New Roman"/>
                <a:cs typeface="Times New Roman"/>
              </a:rPr>
              <a:t> </a:t>
            </a:r>
            <a:r>
              <a:rPr sz="2400" b="0" dirty="0">
                <a:latin typeface="Times New Roman"/>
                <a:cs typeface="Times New Roman"/>
              </a:rPr>
              <a:t>cellular</a:t>
            </a:r>
            <a:r>
              <a:rPr sz="2400" b="0" spc="-50" dirty="0">
                <a:latin typeface="Times New Roman"/>
                <a:cs typeface="Times New Roman"/>
              </a:rPr>
              <a:t> </a:t>
            </a:r>
            <a:r>
              <a:rPr sz="2400" b="0" dirty="0">
                <a:latin typeface="Times New Roman"/>
                <a:cs typeface="Times New Roman"/>
              </a:rPr>
              <a:t>system</a:t>
            </a:r>
            <a:r>
              <a:rPr sz="2400" b="0" spc="-15" dirty="0">
                <a:latin typeface="Times New Roman"/>
                <a:cs typeface="Times New Roman"/>
              </a:rPr>
              <a:t> </a:t>
            </a:r>
            <a:r>
              <a:rPr sz="2400" b="0" dirty="0">
                <a:latin typeface="Times New Roman"/>
                <a:cs typeface="Times New Roman"/>
              </a:rPr>
              <a:t>which</a:t>
            </a:r>
            <a:r>
              <a:rPr sz="2400" b="0" spc="-20" dirty="0">
                <a:latin typeface="Times New Roman"/>
                <a:cs typeface="Times New Roman"/>
              </a:rPr>
              <a:t> </a:t>
            </a:r>
            <a:r>
              <a:rPr sz="2400" b="0" dirty="0">
                <a:latin typeface="Times New Roman"/>
                <a:cs typeface="Times New Roman"/>
              </a:rPr>
              <a:t>has</a:t>
            </a:r>
            <a:r>
              <a:rPr sz="2400" b="0" spc="-5" dirty="0">
                <a:latin typeface="Times New Roman"/>
                <a:cs typeface="Times New Roman"/>
              </a:rPr>
              <a:t> </a:t>
            </a:r>
            <a:r>
              <a:rPr sz="2400" b="0" dirty="0">
                <a:latin typeface="Times New Roman"/>
                <a:cs typeface="Times New Roman"/>
              </a:rPr>
              <a:t>a</a:t>
            </a:r>
            <a:r>
              <a:rPr sz="2400" b="0" spc="-15" dirty="0">
                <a:latin typeface="Times New Roman"/>
                <a:cs typeface="Times New Roman"/>
              </a:rPr>
              <a:t> </a:t>
            </a:r>
            <a:r>
              <a:rPr sz="2400" b="0" dirty="0">
                <a:latin typeface="Times New Roman"/>
                <a:cs typeface="Times New Roman"/>
              </a:rPr>
              <a:t>total</a:t>
            </a:r>
            <a:r>
              <a:rPr sz="2400" b="0" spc="-40" dirty="0">
                <a:latin typeface="Times New Roman"/>
                <a:cs typeface="Times New Roman"/>
              </a:rPr>
              <a:t> </a:t>
            </a:r>
            <a:r>
              <a:rPr sz="2400" b="0" dirty="0">
                <a:latin typeface="Times New Roman"/>
                <a:cs typeface="Times New Roman"/>
              </a:rPr>
              <a:t>of</a:t>
            </a:r>
            <a:r>
              <a:rPr sz="2400" b="0" spc="25" dirty="0">
                <a:latin typeface="Times New Roman"/>
                <a:cs typeface="Times New Roman"/>
              </a:rPr>
              <a:t> </a:t>
            </a:r>
            <a:r>
              <a:rPr sz="2400" b="0" i="1" dirty="0">
                <a:latin typeface="Times New Roman"/>
                <a:cs typeface="Times New Roman"/>
              </a:rPr>
              <a:t>S</a:t>
            </a:r>
            <a:r>
              <a:rPr sz="2400" b="0" i="1" spc="-5" dirty="0">
                <a:latin typeface="Times New Roman"/>
                <a:cs typeface="Times New Roman"/>
              </a:rPr>
              <a:t> </a:t>
            </a:r>
            <a:r>
              <a:rPr sz="2400" b="0" dirty="0">
                <a:latin typeface="Times New Roman"/>
                <a:cs typeface="Times New Roman"/>
              </a:rPr>
              <a:t>duplex</a:t>
            </a:r>
            <a:r>
              <a:rPr sz="2400" b="0" spc="-5" dirty="0">
                <a:latin typeface="Times New Roman"/>
                <a:cs typeface="Times New Roman"/>
              </a:rPr>
              <a:t> </a:t>
            </a:r>
            <a:r>
              <a:rPr sz="2400" b="0" spc="-10" dirty="0">
                <a:latin typeface="Times New Roman"/>
                <a:cs typeface="Times New Roman"/>
              </a:rPr>
              <a:t>channels </a:t>
            </a:r>
            <a:r>
              <a:rPr sz="2400" b="0" dirty="0">
                <a:latin typeface="Times New Roman"/>
                <a:cs typeface="Times New Roman"/>
              </a:rPr>
              <a:t>available</a:t>
            </a:r>
            <a:r>
              <a:rPr sz="2400" b="0" spc="-50" dirty="0">
                <a:latin typeface="Times New Roman"/>
                <a:cs typeface="Times New Roman"/>
              </a:rPr>
              <a:t> </a:t>
            </a:r>
            <a:r>
              <a:rPr sz="2400" b="0" dirty="0">
                <a:latin typeface="Times New Roman"/>
                <a:cs typeface="Times New Roman"/>
              </a:rPr>
              <a:t>for</a:t>
            </a:r>
            <a:r>
              <a:rPr sz="2400" b="0" spc="-15" dirty="0">
                <a:latin typeface="Times New Roman"/>
                <a:cs typeface="Times New Roman"/>
              </a:rPr>
              <a:t> </a:t>
            </a:r>
            <a:r>
              <a:rPr sz="2400" b="0" dirty="0">
                <a:latin typeface="Times New Roman"/>
                <a:cs typeface="Times New Roman"/>
              </a:rPr>
              <a:t>use</a:t>
            </a:r>
            <a:r>
              <a:rPr sz="2400" b="0" spc="-10" dirty="0">
                <a:latin typeface="Times New Roman"/>
                <a:cs typeface="Times New Roman"/>
              </a:rPr>
              <a:t> </a:t>
            </a:r>
            <a:r>
              <a:rPr sz="2400" b="0" dirty="0">
                <a:latin typeface="Times New Roman"/>
                <a:cs typeface="Times New Roman"/>
              </a:rPr>
              <a:t>in</a:t>
            </a:r>
            <a:r>
              <a:rPr sz="2400" b="0" spc="-30" dirty="0">
                <a:latin typeface="Times New Roman"/>
                <a:cs typeface="Times New Roman"/>
              </a:rPr>
              <a:t> </a:t>
            </a:r>
            <a:r>
              <a:rPr sz="2400" b="0" dirty="0">
                <a:latin typeface="Times New Roman"/>
                <a:cs typeface="Times New Roman"/>
              </a:rPr>
              <a:t>a</a:t>
            </a:r>
            <a:r>
              <a:rPr sz="2400" b="0" spc="-10" dirty="0">
                <a:latin typeface="Times New Roman"/>
                <a:cs typeface="Times New Roman"/>
              </a:rPr>
              <a:t> cluster</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14</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p:nvPr/>
        </p:nvSpPr>
        <p:spPr>
          <a:xfrm>
            <a:off x="383540" y="2760344"/>
            <a:ext cx="7934959" cy="2147570"/>
          </a:xfrm>
          <a:prstGeom prst="rect">
            <a:avLst/>
          </a:prstGeom>
        </p:spPr>
        <p:txBody>
          <a:bodyPr vert="horz" wrap="square" lIns="0" tIns="12700" rIns="0" bIns="0" rtlCol="0">
            <a:spAutoFit/>
          </a:bodyPr>
          <a:lstStyle/>
          <a:p>
            <a:pPr marL="12700" marR="946785">
              <a:lnSpc>
                <a:spcPct val="120000"/>
              </a:lnSpc>
              <a:spcBef>
                <a:spcPts val="100"/>
              </a:spcBef>
            </a:pPr>
            <a:r>
              <a:rPr sz="2400" dirty="0">
                <a:latin typeface="Times New Roman"/>
                <a:cs typeface="Times New Roman"/>
              </a:rPr>
              <a:t>If</a:t>
            </a:r>
            <a:r>
              <a:rPr sz="2400" spc="-5" dirty="0">
                <a:latin typeface="Times New Roman"/>
                <a:cs typeface="Times New Roman"/>
              </a:rPr>
              <a:t> </a:t>
            </a:r>
            <a:r>
              <a:rPr sz="2400" dirty="0">
                <a:latin typeface="Times New Roman"/>
                <a:cs typeface="Times New Roman"/>
              </a:rPr>
              <a:t>each</a:t>
            </a:r>
            <a:r>
              <a:rPr sz="2400" spc="-10" dirty="0">
                <a:latin typeface="Times New Roman"/>
                <a:cs typeface="Times New Roman"/>
              </a:rPr>
              <a:t> </a:t>
            </a:r>
            <a:r>
              <a:rPr sz="2400" dirty="0">
                <a:latin typeface="Times New Roman"/>
                <a:cs typeface="Times New Roman"/>
              </a:rPr>
              <a:t>cell</a:t>
            </a:r>
            <a:r>
              <a:rPr sz="2400" spc="-40" dirty="0">
                <a:latin typeface="Times New Roman"/>
                <a:cs typeface="Times New Roman"/>
              </a:rPr>
              <a:t> </a:t>
            </a:r>
            <a:r>
              <a:rPr sz="2400" dirty="0">
                <a:latin typeface="Times New Roman"/>
                <a:cs typeface="Times New Roman"/>
              </a:rPr>
              <a:t>is allocated</a:t>
            </a:r>
            <a:r>
              <a:rPr sz="2400" spc="-4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set</a:t>
            </a:r>
            <a:r>
              <a:rPr sz="2400" spc="-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i="1" dirty="0">
                <a:latin typeface="Times New Roman"/>
                <a:cs typeface="Times New Roman"/>
              </a:rPr>
              <a:t>k</a:t>
            </a:r>
            <a:r>
              <a:rPr sz="2400" i="1" spc="-10" dirty="0">
                <a:latin typeface="Times New Roman"/>
                <a:cs typeface="Times New Roman"/>
              </a:rPr>
              <a:t> </a:t>
            </a:r>
            <a:r>
              <a:rPr sz="2400" dirty="0">
                <a:latin typeface="Times New Roman"/>
                <a:cs typeface="Times New Roman"/>
              </a:rPr>
              <a:t>channels</a:t>
            </a:r>
            <a:r>
              <a:rPr sz="2400" spc="-20" dirty="0">
                <a:latin typeface="Times New Roman"/>
                <a:cs typeface="Times New Roman"/>
              </a:rPr>
              <a:t> </a:t>
            </a:r>
            <a:r>
              <a:rPr sz="2400" dirty="0">
                <a:latin typeface="Times New Roman"/>
                <a:cs typeface="Times New Roman"/>
              </a:rPr>
              <a:t>(</a:t>
            </a:r>
            <a:r>
              <a:rPr sz="2400" i="1" dirty="0">
                <a:latin typeface="Times New Roman"/>
                <a:cs typeface="Times New Roman"/>
              </a:rPr>
              <a:t>k</a:t>
            </a:r>
            <a:r>
              <a:rPr sz="2400" i="1" spc="-15" dirty="0">
                <a:latin typeface="Times New Roman"/>
                <a:cs typeface="Times New Roman"/>
              </a:rPr>
              <a:t> </a:t>
            </a:r>
            <a:r>
              <a:rPr sz="2400" dirty="0">
                <a:latin typeface="Times New Roman"/>
                <a:cs typeface="Times New Roman"/>
              </a:rPr>
              <a:t>&lt; </a:t>
            </a:r>
            <a:r>
              <a:rPr sz="2400" i="1" dirty="0">
                <a:latin typeface="Times New Roman"/>
                <a:cs typeface="Times New Roman"/>
              </a:rPr>
              <a:t>S</a:t>
            </a:r>
            <a:r>
              <a:rPr sz="2400" dirty="0">
                <a:latin typeface="Times New Roman"/>
                <a:cs typeface="Times New Roman"/>
              </a:rPr>
              <a:t>)</a:t>
            </a:r>
            <a:r>
              <a:rPr sz="2400" spc="-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25" dirty="0">
                <a:latin typeface="Times New Roman"/>
                <a:cs typeface="Times New Roman"/>
              </a:rPr>
              <a:t>the </a:t>
            </a:r>
            <a:r>
              <a:rPr sz="2400" dirty="0">
                <a:latin typeface="Times New Roman"/>
                <a:cs typeface="Times New Roman"/>
              </a:rPr>
              <a:t>cluster</a:t>
            </a:r>
            <a:r>
              <a:rPr sz="2400" spc="-35" dirty="0">
                <a:latin typeface="Times New Roman"/>
                <a:cs typeface="Times New Roman"/>
              </a:rPr>
              <a:t> </a:t>
            </a:r>
            <a:r>
              <a:rPr sz="2400" dirty="0">
                <a:latin typeface="Times New Roman"/>
                <a:cs typeface="Times New Roman"/>
              </a:rPr>
              <a:t>size</a:t>
            </a:r>
            <a:r>
              <a:rPr sz="2400" spc="-10"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i="1" spc="-50" dirty="0">
                <a:latin typeface="Times New Roman"/>
                <a:cs typeface="Times New Roman"/>
              </a:rPr>
              <a:t>N</a:t>
            </a:r>
            <a:endParaRPr sz="2400">
              <a:latin typeface="Times New Roman"/>
              <a:cs typeface="Times New Roman"/>
            </a:endParaRPr>
          </a:p>
          <a:p>
            <a:pPr marL="12700">
              <a:lnSpc>
                <a:spcPct val="100000"/>
              </a:lnSpc>
              <a:spcBef>
                <a:spcPts val="580"/>
              </a:spcBef>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total</a:t>
            </a:r>
            <a:r>
              <a:rPr sz="2400" spc="-25" dirty="0">
                <a:latin typeface="Times New Roman"/>
                <a:cs typeface="Times New Roman"/>
              </a:rPr>
              <a:t> </a:t>
            </a:r>
            <a:r>
              <a:rPr sz="2400" dirty="0">
                <a:latin typeface="Times New Roman"/>
                <a:cs typeface="Times New Roman"/>
              </a:rPr>
              <a:t>number of</a:t>
            </a:r>
            <a:r>
              <a:rPr sz="2400" spc="-5" dirty="0">
                <a:latin typeface="Times New Roman"/>
                <a:cs typeface="Times New Roman"/>
              </a:rPr>
              <a:t> </a:t>
            </a:r>
            <a:r>
              <a:rPr sz="2400" dirty="0">
                <a:latin typeface="Times New Roman"/>
                <a:cs typeface="Times New Roman"/>
              </a:rPr>
              <a:t>available</a:t>
            </a:r>
            <a:r>
              <a:rPr sz="2400" spc="-50" dirty="0">
                <a:latin typeface="Times New Roman"/>
                <a:cs typeface="Times New Roman"/>
              </a:rPr>
              <a:t> </a:t>
            </a:r>
            <a:r>
              <a:rPr sz="2400" dirty="0">
                <a:latin typeface="Times New Roman"/>
                <a:cs typeface="Times New Roman"/>
              </a:rPr>
              <a:t>radio</a:t>
            </a:r>
            <a:r>
              <a:rPr sz="2400" spc="-15" dirty="0">
                <a:latin typeface="Times New Roman"/>
                <a:cs typeface="Times New Roman"/>
              </a:rPr>
              <a:t> </a:t>
            </a:r>
            <a:r>
              <a:rPr sz="2400" dirty="0">
                <a:latin typeface="Times New Roman"/>
                <a:cs typeface="Times New Roman"/>
              </a:rPr>
              <a:t>channels</a:t>
            </a:r>
            <a:r>
              <a:rPr sz="2400" spc="-25"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expressed</a:t>
            </a:r>
            <a:r>
              <a:rPr sz="2400" spc="-15" dirty="0">
                <a:latin typeface="Times New Roman"/>
                <a:cs typeface="Times New Roman"/>
              </a:rPr>
              <a:t> </a:t>
            </a:r>
            <a:r>
              <a:rPr sz="2400" spc="-25" dirty="0">
                <a:latin typeface="Times New Roman"/>
                <a:cs typeface="Times New Roman"/>
              </a:rPr>
              <a:t>as</a:t>
            </a:r>
            <a:endParaRPr sz="2400">
              <a:latin typeface="Times New Roman"/>
              <a:cs typeface="Times New Roman"/>
            </a:endParaRPr>
          </a:p>
          <a:p>
            <a:pPr>
              <a:lnSpc>
                <a:spcPct val="100000"/>
              </a:lnSpc>
              <a:spcBef>
                <a:spcPts val="695"/>
              </a:spcBef>
            </a:pPr>
            <a:endParaRPr sz="2400">
              <a:latin typeface="Times New Roman"/>
              <a:cs typeface="Times New Roman"/>
            </a:endParaRPr>
          </a:p>
          <a:p>
            <a:pPr marR="1598930" algn="ctr">
              <a:lnSpc>
                <a:spcPct val="100000"/>
              </a:lnSpc>
            </a:pPr>
            <a:r>
              <a:rPr sz="2400" i="1" dirty="0">
                <a:latin typeface="Times New Roman"/>
                <a:cs typeface="Times New Roman"/>
              </a:rPr>
              <a:t>S </a:t>
            </a:r>
            <a:r>
              <a:rPr sz="2400" dirty="0">
                <a:latin typeface="Times New Roman"/>
                <a:cs typeface="Times New Roman"/>
              </a:rPr>
              <a:t>=</a:t>
            </a:r>
            <a:r>
              <a:rPr sz="2400" spc="-10" dirty="0">
                <a:latin typeface="Times New Roman"/>
                <a:cs typeface="Times New Roman"/>
              </a:rPr>
              <a:t> </a:t>
            </a:r>
            <a:r>
              <a:rPr sz="2400" i="1" spc="-25" dirty="0">
                <a:latin typeface="Times New Roman"/>
                <a:cs typeface="Times New Roman"/>
              </a:rPr>
              <a:t>kN</a:t>
            </a:r>
            <a:endParaRPr sz="2400">
              <a:latin typeface="Times New Roman"/>
              <a:cs typeface="Times New Roman"/>
            </a:endParaRPr>
          </a:p>
        </p:txBody>
      </p:sp>
      <p:sp>
        <p:nvSpPr>
          <p:cNvPr id="4" name="object 4"/>
          <p:cNvSpPr txBox="1"/>
          <p:nvPr/>
        </p:nvSpPr>
        <p:spPr>
          <a:xfrm>
            <a:off x="383540" y="-38252"/>
            <a:ext cx="5781040" cy="940435"/>
          </a:xfrm>
          <a:prstGeom prst="rect">
            <a:avLst/>
          </a:prstGeom>
        </p:spPr>
        <p:txBody>
          <a:bodyPr vert="horz" wrap="square" lIns="0" tIns="12065" rIns="0" bIns="0" rtlCol="0">
            <a:spAutoFit/>
          </a:bodyPr>
          <a:lstStyle/>
          <a:p>
            <a:pPr marL="12700" marR="5080">
              <a:lnSpc>
                <a:spcPct val="150100"/>
              </a:lnSpc>
              <a:spcBef>
                <a:spcPts val="95"/>
              </a:spcBef>
            </a:pPr>
            <a:r>
              <a:rPr sz="2000" b="1" spc="-145" dirty="0">
                <a:latin typeface="Times New Roman"/>
                <a:cs typeface="Times New Roman"/>
              </a:rPr>
              <a:t>Cellular</a:t>
            </a:r>
            <a:r>
              <a:rPr sz="2000" b="1" spc="-295" dirty="0">
                <a:latin typeface="Times New Roman"/>
                <a:cs typeface="Times New Roman"/>
              </a:rPr>
              <a:t> </a:t>
            </a:r>
            <a:r>
              <a:rPr sz="2000" b="1" spc="-140" dirty="0">
                <a:latin typeface="Times New Roman"/>
                <a:cs typeface="Times New Roman"/>
              </a:rPr>
              <a:t>system</a:t>
            </a:r>
            <a:r>
              <a:rPr sz="2000" b="1" spc="-260" dirty="0">
                <a:latin typeface="Times New Roman"/>
                <a:cs typeface="Times New Roman"/>
              </a:rPr>
              <a:t> </a:t>
            </a:r>
            <a:r>
              <a:rPr sz="2000" b="1" spc="-145" dirty="0">
                <a:latin typeface="Times New Roman"/>
                <a:cs typeface="Times New Roman"/>
              </a:rPr>
              <a:t>capacity</a:t>
            </a:r>
            <a:r>
              <a:rPr sz="2000" b="1" spc="-250" dirty="0">
                <a:latin typeface="Times New Roman"/>
                <a:cs typeface="Times New Roman"/>
              </a:rPr>
              <a:t> </a:t>
            </a:r>
            <a:r>
              <a:rPr sz="2000" b="1" spc="-110" dirty="0">
                <a:latin typeface="Times New Roman"/>
                <a:cs typeface="Times New Roman"/>
              </a:rPr>
              <a:t>and</a:t>
            </a:r>
            <a:r>
              <a:rPr sz="2000" b="1" spc="-275" dirty="0">
                <a:latin typeface="Times New Roman"/>
                <a:cs typeface="Times New Roman"/>
              </a:rPr>
              <a:t> </a:t>
            </a:r>
            <a:r>
              <a:rPr sz="2000" b="1" spc="-150" dirty="0">
                <a:latin typeface="Times New Roman"/>
                <a:cs typeface="Times New Roman"/>
              </a:rPr>
              <a:t>frequency</a:t>
            </a:r>
            <a:r>
              <a:rPr sz="2000" b="1" spc="-240" dirty="0">
                <a:latin typeface="Times New Roman"/>
                <a:cs typeface="Times New Roman"/>
              </a:rPr>
              <a:t> </a:t>
            </a:r>
            <a:r>
              <a:rPr sz="2000" b="1" spc="-140" dirty="0">
                <a:latin typeface="Times New Roman"/>
                <a:cs typeface="Times New Roman"/>
              </a:rPr>
              <a:t>reuse</a:t>
            </a:r>
            <a:r>
              <a:rPr sz="2000" b="1" spc="-250" dirty="0">
                <a:latin typeface="Times New Roman"/>
                <a:cs typeface="Times New Roman"/>
              </a:rPr>
              <a:t> </a:t>
            </a:r>
            <a:r>
              <a:rPr sz="2000" b="1" spc="-110" dirty="0">
                <a:latin typeface="Times New Roman"/>
                <a:cs typeface="Times New Roman"/>
              </a:rPr>
              <a:t>for</a:t>
            </a:r>
            <a:r>
              <a:rPr sz="2000" b="1" spc="-320" dirty="0">
                <a:latin typeface="Times New Roman"/>
                <a:cs typeface="Times New Roman"/>
              </a:rPr>
              <a:t> </a:t>
            </a:r>
            <a:r>
              <a:rPr sz="2000" b="1" dirty="0">
                <a:latin typeface="Times New Roman"/>
                <a:cs typeface="Times New Roman"/>
              </a:rPr>
              <a:t>a</a:t>
            </a:r>
            <a:r>
              <a:rPr sz="2000" b="1" spc="-270" dirty="0">
                <a:latin typeface="Times New Roman"/>
                <a:cs typeface="Times New Roman"/>
              </a:rPr>
              <a:t> </a:t>
            </a:r>
            <a:r>
              <a:rPr sz="2000" b="1" spc="-145" dirty="0">
                <a:latin typeface="Times New Roman"/>
                <a:cs typeface="Times New Roman"/>
              </a:rPr>
              <a:t>cluster</a:t>
            </a:r>
            <a:r>
              <a:rPr sz="2000" b="1" spc="-290" dirty="0">
                <a:latin typeface="Times New Roman"/>
                <a:cs typeface="Times New Roman"/>
              </a:rPr>
              <a:t> </a:t>
            </a:r>
            <a:r>
              <a:rPr sz="2000" b="1" spc="-130" dirty="0">
                <a:latin typeface="Times New Roman"/>
                <a:cs typeface="Times New Roman"/>
              </a:rPr>
              <a:t>size</a:t>
            </a:r>
            <a:r>
              <a:rPr sz="2000" b="1" spc="-235" dirty="0">
                <a:latin typeface="Times New Roman"/>
                <a:cs typeface="Times New Roman"/>
              </a:rPr>
              <a:t> </a:t>
            </a:r>
            <a:r>
              <a:rPr sz="2000" b="1" spc="-25" dirty="0">
                <a:latin typeface="Times New Roman"/>
                <a:cs typeface="Times New Roman"/>
              </a:rPr>
              <a:t>of </a:t>
            </a:r>
            <a:r>
              <a:rPr sz="2000" b="1" spc="-114" dirty="0">
                <a:latin typeface="Times New Roman"/>
                <a:cs typeface="Times New Roman"/>
              </a:rPr>
              <a:t>“N”</a:t>
            </a:r>
            <a:r>
              <a:rPr sz="2000" b="1" spc="-280" dirty="0">
                <a:latin typeface="Times New Roman"/>
                <a:cs typeface="Times New Roman"/>
              </a:rPr>
              <a:t> </a:t>
            </a:r>
            <a:r>
              <a:rPr sz="2000" b="1" spc="-130" dirty="0">
                <a:latin typeface="Times New Roman"/>
                <a:cs typeface="Times New Roman"/>
              </a:rPr>
              <a:t>with</a:t>
            </a:r>
            <a:r>
              <a:rPr sz="2000" b="1" spc="-260" dirty="0">
                <a:latin typeface="Times New Roman"/>
                <a:cs typeface="Times New Roman"/>
              </a:rPr>
              <a:t> </a:t>
            </a:r>
            <a:r>
              <a:rPr sz="2000" b="1" spc="-125" dirty="0">
                <a:latin typeface="Times New Roman"/>
                <a:cs typeface="Times New Roman"/>
              </a:rPr>
              <a:t>each</a:t>
            </a:r>
            <a:r>
              <a:rPr sz="2000" b="1" spc="-265" dirty="0">
                <a:latin typeface="Times New Roman"/>
                <a:cs typeface="Times New Roman"/>
              </a:rPr>
              <a:t> </a:t>
            </a:r>
            <a:r>
              <a:rPr sz="2000" b="1" spc="-125" dirty="0">
                <a:latin typeface="Times New Roman"/>
                <a:cs typeface="Times New Roman"/>
              </a:rPr>
              <a:t>cell</a:t>
            </a:r>
            <a:r>
              <a:rPr sz="2000" b="1" spc="-265" dirty="0">
                <a:latin typeface="Times New Roman"/>
                <a:cs typeface="Times New Roman"/>
              </a:rPr>
              <a:t> </a:t>
            </a:r>
            <a:r>
              <a:rPr sz="2000" b="1" spc="-145" dirty="0">
                <a:latin typeface="Times New Roman"/>
                <a:cs typeface="Times New Roman"/>
              </a:rPr>
              <a:t>allocated</a:t>
            </a:r>
            <a:r>
              <a:rPr sz="2000" b="1" spc="-265" dirty="0">
                <a:latin typeface="Times New Roman"/>
                <a:cs typeface="Times New Roman"/>
              </a:rPr>
              <a:t> </a:t>
            </a:r>
            <a:r>
              <a:rPr sz="2000" b="1" dirty="0">
                <a:latin typeface="Times New Roman"/>
                <a:cs typeface="Times New Roman"/>
              </a:rPr>
              <a:t>a</a:t>
            </a:r>
            <a:r>
              <a:rPr sz="2000" b="1" spc="-280" dirty="0">
                <a:latin typeface="Times New Roman"/>
                <a:cs typeface="Times New Roman"/>
              </a:rPr>
              <a:t> </a:t>
            </a:r>
            <a:r>
              <a:rPr sz="2000" b="1" spc="-140" dirty="0">
                <a:latin typeface="Times New Roman"/>
                <a:cs typeface="Times New Roman"/>
              </a:rPr>
              <a:t>group</a:t>
            </a:r>
            <a:r>
              <a:rPr sz="2000" b="1" spc="-270" dirty="0">
                <a:latin typeface="Times New Roman"/>
                <a:cs typeface="Times New Roman"/>
              </a:rPr>
              <a:t> </a:t>
            </a:r>
            <a:r>
              <a:rPr sz="2000" b="1" spc="-85" dirty="0">
                <a:latin typeface="Times New Roman"/>
                <a:cs typeface="Times New Roman"/>
              </a:rPr>
              <a:t>of</a:t>
            </a:r>
            <a:r>
              <a:rPr sz="2000" b="1" spc="-295" dirty="0">
                <a:latin typeface="Times New Roman"/>
                <a:cs typeface="Times New Roman"/>
              </a:rPr>
              <a:t> </a:t>
            </a:r>
            <a:r>
              <a:rPr sz="2000" b="1" spc="-110" dirty="0">
                <a:latin typeface="Times New Roman"/>
                <a:cs typeface="Times New Roman"/>
              </a:rPr>
              <a:t>“K”</a:t>
            </a:r>
            <a:r>
              <a:rPr sz="2000" b="1" spc="-280" dirty="0">
                <a:latin typeface="Times New Roman"/>
                <a:cs typeface="Times New Roman"/>
              </a:rPr>
              <a:t> </a:t>
            </a:r>
            <a:r>
              <a:rPr sz="2000" b="1" spc="-10" dirty="0">
                <a:latin typeface="Times New Roman"/>
                <a:cs typeface="Times New Roman"/>
              </a:rPr>
              <a:t>channels</a:t>
            </a:r>
            <a:endParaRPr sz="20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57515" cy="3976370"/>
          </a:xfrm>
          <a:prstGeom prst="rect">
            <a:avLst/>
          </a:prstGeom>
        </p:spPr>
        <p:txBody>
          <a:bodyPr vert="horz" wrap="square" lIns="0" tIns="12700" rIns="0" bIns="0" rtlCol="0">
            <a:spAutoFit/>
          </a:bodyPr>
          <a:lstStyle/>
          <a:p>
            <a:pPr marL="12700" marR="296545">
              <a:lnSpc>
                <a:spcPct val="110000"/>
              </a:lnSpc>
              <a:spcBef>
                <a:spcPts val="100"/>
              </a:spcBef>
            </a:pPr>
            <a:r>
              <a:rPr sz="2400" dirty="0">
                <a:latin typeface="Times New Roman"/>
                <a:cs typeface="Times New Roman"/>
              </a:rPr>
              <a:t>The</a:t>
            </a:r>
            <a:r>
              <a:rPr sz="2400" spc="-25" dirty="0">
                <a:latin typeface="Times New Roman"/>
                <a:cs typeface="Times New Roman"/>
              </a:rPr>
              <a:t> </a:t>
            </a:r>
            <a:r>
              <a:rPr sz="2400" i="1" dirty="0">
                <a:latin typeface="Times New Roman"/>
                <a:cs typeface="Times New Roman"/>
              </a:rPr>
              <a:t>N </a:t>
            </a:r>
            <a:r>
              <a:rPr sz="2400" dirty="0">
                <a:latin typeface="Times New Roman"/>
                <a:cs typeface="Times New Roman"/>
              </a:rPr>
              <a:t>cells</a:t>
            </a:r>
            <a:r>
              <a:rPr sz="2400" spc="-40" dirty="0">
                <a:latin typeface="Times New Roman"/>
                <a:cs typeface="Times New Roman"/>
              </a:rPr>
              <a:t> </a:t>
            </a:r>
            <a:r>
              <a:rPr sz="2400" dirty="0">
                <a:latin typeface="Times New Roman"/>
                <a:cs typeface="Times New Roman"/>
              </a:rPr>
              <a:t>which</a:t>
            </a:r>
            <a:r>
              <a:rPr sz="2400" spc="-5" dirty="0">
                <a:latin typeface="Times New Roman"/>
                <a:cs typeface="Times New Roman"/>
              </a:rPr>
              <a:t> </a:t>
            </a:r>
            <a:r>
              <a:rPr sz="2400" dirty="0">
                <a:latin typeface="Times New Roman"/>
                <a:cs typeface="Times New Roman"/>
              </a:rPr>
              <a:t>collectively</a:t>
            </a:r>
            <a:r>
              <a:rPr sz="2400" spc="-55" dirty="0">
                <a:latin typeface="Times New Roman"/>
                <a:cs typeface="Times New Roman"/>
              </a:rPr>
              <a:t> </a:t>
            </a:r>
            <a:r>
              <a:rPr sz="2400" dirty="0">
                <a:latin typeface="Times New Roman"/>
                <a:cs typeface="Times New Roman"/>
              </a:rPr>
              <a:t>use</a:t>
            </a:r>
            <a:r>
              <a:rPr sz="2400" spc="-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complete</a:t>
            </a:r>
            <a:r>
              <a:rPr sz="2400" spc="-25" dirty="0">
                <a:latin typeface="Times New Roman"/>
                <a:cs typeface="Times New Roman"/>
              </a:rPr>
              <a:t> </a:t>
            </a:r>
            <a:r>
              <a:rPr sz="2400" dirty="0">
                <a:latin typeface="Times New Roman"/>
                <a:cs typeface="Times New Roman"/>
              </a:rPr>
              <a:t>set</a:t>
            </a:r>
            <a:r>
              <a:rPr sz="2400" spc="-1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spc="-10" dirty="0">
                <a:latin typeface="Times New Roman"/>
                <a:cs typeface="Times New Roman"/>
              </a:rPr>
              <a:t>available </a:t>
            </a:r>
            <a:r>
              <a:rPr sz="2400" dirty="0">
                <a:latin typeface="Times New Roman"/>
                <a:cs typeface="Times New Roman"/>
              </a:rPr>
              <a:t>frequencies</a:t>
            </a:r>
            <a:r>
              <a:rPr sz="2400" spc="-35" dirty="0">
                <a:latin typeface="Times New Roman"/>
                <a:cs typeface="Times New Roman"/>
              </a:rPr>
              <a:t> </a:t>
            </a:r>
            <a:r>
              <a:rPr sz="2400" dirty="0">
                <a:latin typeface="Times New Roman"/>
                <a:cs typeface="Times New Roman"/>
              </a:rPr>
              <a:t>is called</a:t>
            </a:r>
            <a:r>
              <a:rPr sz="2400" spc="-4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i="1" spc="-10" dirty="0">
                <a:latin typeface="Times New Roman"/>
                <a:cs typeface="Times New Roman"/>
              </a:rPr>
              <a:t>cluster.</a:t>
            </a:r>
            <a:endParaRPr sz="2400">
              <a:latin typeface="Times New Roman"/>
              <a:cs typeface="Times New Roman"/>
            </a:endParaRPr>
          </a:p>
          <a:p>
            <a:pPr marL="12700">
              <a:lnSpc>
                <a:spcPct val="100000"/>
              </a:lnSpc>
              <a:spcBef>
                <a:spcPts val="290"/>
              </a:spcBef>
              <a:tabLst>
                <a:tab pos="4086860" algn="l"/>
              </a:tabLst>
            </a:pPr>
            <a:r>
              <a:rPr sz="2400" dirty="0">
                <a:latin typeface="Times New Roman"/>
                <a:cs typeface="Times New Roman"/>
              </a:rPr>
              <a:t>If</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cluster</a:t>
            </a:r>
            <a:r>
              <a:rPr sz="2400" spc="-4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replicated</a:t>
            </a:r>
            <a:r>
              <a:rPr sz="2400" spc="-30" dirty="0">
                <a:latin typeface="Times New Roman"/>
                <a:cs typeface="Times New Roman"/>
              </a:rPr>
              <a:t> </a:t>
            </a:r>
            <a:r>
              <a:rPr sz="2400" i="1" dirty="0">
                <a:latin typeface="Times New Roman"/>
                <a:cs typeface="Times New Roman"/>
              </a:rPr>
              <a:t>M</a:t>
            </a:r>
            <a:r>
              <a:rPr sz="2400" i="1" spc="-10" dirty="0">
                <a:latin typeface="Times New Roman"/>
                <a:cs typeface="Times New Roman"/>
              </a:rPr>
              <a:t> </a:t>
            </a:r>
            <a:r>
              <a:rPr sz="2400" spc="-10" dirty="0">
                <a:latin typeface="Times New Roman"/>
                <a:cs typeface="Times New Roman"/>
              </a:rPr>
              <a:t>times</a:t>
            </a:r>
            <a:r>
              <a:rPr sz="2400" dirty="0">
                <a:latin typeface="Times New Roman"/>
                <a:cs typeface="Times New Roman"/>
              </a:rPr>
              <a:t>	with</a:t>
            </a:r>
            <a:r>
              <a:rPr sz="2400" spc="-2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marL="12700" marR="5080">
              <a:lnSpc>
                <a:spcPct val="110000"/>
              </a:lnSpc>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total</a:t>
            </a:r>
            <a:r>
              <a:rPr sz="2400" spc="-25" dirty="0">
                <a:latin typeface="Times New Roman"/>
                <a:cs typeface="Times New Roman"/>
              </a:rPr>
              <a:t> </a:t>
            </a:r>
            <a:r>
              <a:rPr sz="2400" dirty="0">
                <a:latin typeface="Times New Roman"/>
                <a:cs typeface="Times New Roman"/>
              </a:rPr>
              <a:t>number</a:t>
            </a:r>
            <a:r>
              <a:rPr sz="2400" spc="-10"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duplex</a:t>
            </a:r>
            <a:r>
              <a:rPr sz="2400" spc="-30" dirty="0">
                <a:latin typeface="Times New Roman"/>
                <a:cs typeface="Times New Roman"/>
              </a:rPr>
              <a:t> </a:t>
            </a:r>
            <a:r>
              <a:rPr sz="2400" dirty="0">
                <a:latin typeface="Times New Roman"/>
                <a:cs typeface="Times New Roman"/>
              </a:rPr>
              <a:t>channels,</a:t>
            </a:r>
            <a:r>
              <a:rPr sz="2400" spc="-5" dirty="0">
                <a:latin typeface="Times New Roman"/>
                <a:cs typeface="Times New Roman"/>
              </a:rPr>
              <a:t> </a:t>
            </a:r>
            <a:r>
              <a:rPr sz="2400" i="1" dirty="0">
                <a:latin typeface="Times New Roman"/>
                <a:cs typeface="Times New Roman"/>
              </a:rPr>
              <a:t>C,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be</a:t>
            </a:r>
            <a:r>
              <a:rPr sz="2400" spc="-25" dirty="0">
                <a:latin typeface="Times New Roman"/>
                <a:cs typeface="Times New Roman"/>
              </a:rPr>
              <a:t> </a:t>
            </a:r>
            <a:r>
              <a:rPr sz="2400" dirty="0">
                <a:latin typeface="Times New Roman"/>
                <a:cs typeface="Times New Roman"/>
              </a:rPr>
              <a:t>used</a:t>
            </a:r>
            <a:r>
              <a:rPr sz="2400" spc="-5"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10" dirty="0">
                <a:latin typeface="Times New Roman"/>
                <a:cs typeface="Times New Roman"/>
              </a:rPr>
              <a:t>measure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capacity</a:t>
            </a:r>
            <a:r>
              <a:rPr sz="2400" spc="-5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given</a:t>
            </a:r>
            <a:r>
              <a:rPr sz="2400" spc="-20" dirty="0">
                <a:latin typeface="Times New Roman"/>
                <a:cs typeface="Times New Roman"/>
              </a:rPr>
              <a:t> </a:t>
            </a:r>
            <a:r>
              <a:rPr sz="2400" spc="-25" dirty="0">
                <a:latin typeface="Times New Roman"/>
                <a:cs typeface="Times New Roman"/>
              </a:rPr>
              <a:t>by</a:t>
            </a:r>
            <a:endParaRPr sz="2400">
              <a:latin typeface="Times New Roman"/>
              <a:cs typeface="Times New Roman"/>
            </a:endParaRPr>
          </a:p>
          <a:p>
            <a:pPr>
              <a:lnSpc>
                <a:spcPct val="100000"/>
              </a:lnSpc>
              <a:spcBef>
                <a:spcPts val="120"/>
              </a:spcBef>
            </a:pPr>
            <a:endParaRPr sz="2400">
              <a:latin typeface="Times New Roman"/>
              <a:cs typeface="Times New Roman"/>
            </a:endParaRPr>
          </a:p>
          <a:p>
            <a:pPr marR="685800" algn="ctr">
              <a:lnSpc>
                <a:spcPct val="100000"/>
              </a:lnSpc>
            </a:pPr>
            <a:r>
              <a:rPr sz="2400" i="1" dirty="0">
                <a:latin typeface="Times New Roman"/>
                <a:cs typeface="Times New Roman"/>
              </a:rPr>
              <a:t>C</a:t>
            </a:r>
            <a:r>
              <a:rPr sz="2400" i="1" spc="-5" dirty="0">
                <a:latin typeface="Times New Roman"/>
                <a:cs typeface="Times New Roman"/>
              </a:rPr>
              <a:t> </a:t>
            </a:r>
            <a:r>
              <a:rPr sz="2400" dirty="0">
                <a:latin typeface="Times New Roman"/>
                <a:cs typeface="Times New Roman"/>
              </a:rPr>
              <a:t>= </a:t>
            </a:r>
            <a:r>
              <a:rPr sz="2400" i="1" dirty="0">
                <a:latin typeface="Times New Roman"/>
                <a:cs typeface="Times New Roman"/>
              </a:rPr>
              <a:t>MkN</a:t>
            </a:r>
            <a:r>
              <a:rPr sz="2400" i="1" spc="-15" dirty="0">
                <a:latin typeface="Times New Roman"/>
                <a:cs typeface="Times New Roman"/>
              </a:rPr>
              <a:t> </a:t>
            </a:r>
            <a:r>
              <a:rPr sz="2400" dirty="0">
                <a:latin typeface="Times New Roman"/>
                <a:cs typeface="Times New Roman"/>
              </a:rPr>
              <a:t>= </a:t>
            </a:r>
            <a:r>
              <a:rPr sz="2400" i="1" spc="-25" dirty="0">
                <a:latin typeface="Times New Roman"/>
                <a:cs typeface="Times New Roman"/>
              </a:rPr>
              <a:t>MS</a:t>
            </a:r>
            <a:endParaRPr sz="2400">
              <a:latin typeface="Times New Roman"/>
              <a:cs typeface="Times New Roman"/>
            </a:endParaRPr>
          </a:p>
          <a:p>
            <a:pPr>
              <a:lnSpc>
                <a:spcPct val="100000"/>
              </a:lnSpc>
              <a:spcBef>
                <a:spcPts val="695"/>
              </a:spcBef>
            </a:pPr>
            <a:endParaRPr sz="2400">
              <a:latin typeface="Times New Roman"/>
              <a:cs typeface="Times New Roman"/>
            </a:endParaRPr>
          </a:p>
          <a:p>
            <a:pPr marL="12700">
              <a:lnSpc>
                <a:spcPct val="100000"/>
              </a:lnSpc>
              <a:spcBef>
                <a:spcPts val="5"/>
              </a:spcBef>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capacity</a:t>
            </a:r>
            <a:r>
              <a:rPr sz="2400" spc="-5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cellular</a:t>
            </a:r>
            <a:r>
              <a:rPr sz="2400" spc="-55"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directly</a:t>
            </a:r>
            <a:r>
              <a:rPr sz="2400" spc="-50" dirty="0">
                <a:latin typeface="Times New Roman"/>
                <a:cs typeface="Times New Roman"/>
              </a:rPr>
              <a:t> </a:t>
            </a:r>
            <a:r>
              <a:rPr sz="2400" dirty="0">
                <a:latin typeface="Times New Roman"/>
                <a:cs typeface="Times New Roman"/>
              </a:rPr>
              <a:t>proportional</a:t>
            </a:r>
            <a:r>
              <a:rPr sz="2400" spc="-50" dirty="0">
                <a:latin typeface="Times New Roman"/>
                <a:cs typeface="Times New Roman"/>
              </a:rPr>
              <a:t> </a:t>
            </a:r>
            <a:r>
              <a:rPr sz="2400" spc="-25" dirty="0">
                <a:latin typeface="Times New Roman"/>
                <a:cs typeface="Times New Roman"/>
              </a:rPr>
              <a:t>to</a:t>
            </a:r>
            <a:endParaRPr sz="2400">
              <a:latin typeface="Times New Roman"/>
              <a:cs typeface="Times New Roman"/>
            </a:endParaRPr>
          </a:p>
          <a:p>
            <a:pPr marL="12700">
              <a:lnSpc>
                <a:spcPct val="100000"/>
              </a:lnSpc>
              <a:spcBef>
                <a:spcPts val="285"/>
              </a:spcBef>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number</a:t>
            </a:r>
            <a:r>
              <a:rPr sz="2400" spc="-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times</a:t>
            </a:r>
            <a:r>
              <a:rPr sz="2400" spc="-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cluster</a:t>
            </a:r>
            <a:r>
              <a:rPr sz="2400" spc="-40"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replicated</a:t>
            </a:r>
            <a:r>
              <a:rPr sz="2400" spc="-4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fixed</a:t>
            </a:r>
            <a:r>
              <a:rPr sz="2400" spc="-20" dirty="0">
                <a:latin typeface="Times New Roman"/>
                <a:cs typeface="Times New Roman"/>
              </a:rPr>
              <a:t> </a:t>
            </a:r>
            <a:r>
              <a:rPr sz="2400" dirty="0">
                <a:latin typeface="Times New Roman"/>
                <a:cs typeface="Times New Roman"/>
              </a:rPr>
              <a:t>service</a:t>
            </a:r>
            <a:r>
              <a:rPr sz="2400" spc="-30" dirty="0">
                <a:latin typeface="Times New Roman"/>
                <a:cs typeface="Times New Roman"/>
              </a:rPr>
              <a:t> </a:t>
            </a:r>
            <a:r>
              <a:rPr sz="2400" spc="-10" dirty="0">
                <a:latin typeface="Times New Roman"/>
                <a:cs typeface="Times New Roman"/>
              </a:rPr>
              <a:t>area.</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15</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4139" y="1364107"/>
            <a:ext cx="8512810" cy="4854575"/>
          </a:xfrm>
          <a:prstGeom prst="rect">
            <a:avLst/>
          </a:prstGeom>
        </p:spPr>
        <p:txBody>
          <a:bodyPr vert="horz" wrap="square" lIns="0" tIns="12700" rIns="0" bIns="0" rtlCol="0">
            <a:spAutoFit/>
          </a:bodyPr>
          <a:lstStyle/>
          <a:p>
            <a:pPr marL="406400" marR="269240" indent="-342900">
              <a:lnSpc>
                <a:spcPct val="100000"/>
              </a:lnSpc>
              <a:spcBef>
                <a:spcPts val="100"/>
              </a:spcBef>
              <a:buClr>
                <a:srgbClr val="0F1141"/>
              </a:buClr>
              <a:buFont typeface="Arial MT"/>
              <a:buChar char="•"/>
              <a:tabLst>
                <a:tab pos="4064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factor</a:t>
            </a:r>
            <a:r>
              <a:rPr sz="2400" spc="-10"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N is</a:t>
            </a:r>
            <a:r>
              <a:rPr sz="2400" spc="-5" dirty="0">
                <a:latin typeface="Times New Roman"/>
                <a:cs typeface="Times New Roman"/>
              </a:rPr>
              <a:t> </a:t>
            </a:r>
            <a:r>
              <a:rPr sz="2400" dirty="0">
                <a:latin typeface="Times New Roman"/>
                <a:cs typeface="Times New Roman"/>
              </a:rPr>
              <a:t>called</a:t>
            </a:r>
            <a:r>
              <a:rPr sz="2400" spc="-3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cluster</a:t>
            </a:r>
            <a:r>
              <a:rPr sz="2400" spc="-35" dirty="0">
                <a:latin typeface="Times New Roman"/>
                <a:cs typeface="Times New Roman"/>
              </a:rPr>
              <a:t> </a:t>
            </a:r>
            <a:r>
              <a:rPr sz="2400" dirty="0">
                <a:latin typeface="Times New Roman"/>
                <a:cs typeface="Times New Roman"/>
              </a:rPr>
              <a:t>size</a:t>
            </a:r>
            <a:r>
              <a:rPr sz="2400" spc="-30" dirty="0">
                <a:latin typeface="Times New Roman"/>
                <a:cs typeface="Times New Roman"/>
              </a:rPr>
              <a:t> </a:t>
            </a:r>
            <a:r>
              <a:rPr sz="2400" dirty="0">
                <a:latin typeface="Times New Roman"/>
                <a:cs typeface="Times New Roman"/>
              </a:rPr>
              <a:t>and is</a:t>
            </a:r>
            <a:r>
              <a:rPr sz="2400" spc="-15" dirty="0">
                <a:latin typeface="Times New Roman"/>
                <a:cs typeface="Times New Roman"/>
              </a:rPr>
              <a:t> </a:t>
            </a:r>
            <a:r>
              <a:rPr sz="2400" dirty="0">
                <a:latin typeface="Times New Roman"/>
                <a:cs typeface="Times New Roman"/>
              </a:rPr>
              <a:t>typically</a:t>
            </a:r>
            <a:r>
              <a:rPr sz="2400" spc="-45" dirty="0">
                <a:latin typeface="Times New Roman"/>
                <a:cs typeface="Times New Roman"/>
              </a:rPr>
              <a:t> </a:t>
            </a:r>
            <a:r>
              <a:rPr sz="2400" dirty="0">
                <a:latin typeface="Times New Roman"/>
                <a:cs typeface="Times New Roman"/>
              </a:rPr>
              <a:t>equal</a:t>
            </a:r>
            <a:r>
              <a:rPr sz="2400" spc="-20" dirty="0">
                <a:latin typeface="Times New Roman"/>
                <a:cs typeface="Times New Roman"/>
              </a:rPr>
              <a:t> </a:t>
            </a:r>
            <a:r>
              <a:rPr sz="2400" spc="-25" dirty="0">
                <a:latin typeface="Times New Roman"/>
                <a:cs typeface="Times New Roman"/>
              </a:rPr>
              <a:t>to </a:t>
            </a:r>
            <a:r>
              <a:rPr sz="2400" dirty="0">
                <a:latin typeface="Times New Roman"/>
                <a:cs typeface="Times New Roman"/>
              </a:rPr>
              <a:t>4,</a:t>
            </a:r>
            <a:r>
              <a:rPr sz="2400" spc="-10" dirty="0">
                <a:latin typeface="Times New Roman"/>
                <a:cs typeface="Times New Roman"/>
              </a:rPr>
              <a:t> </a:t>
            </a:r>
            <a:r>
              <a:rPr sz="2400" dirty="0">
                <a:latin typeface="Times New Roman"/>
                <a:cs typeface="Times New Roman"/>
              </a:rPr>
              <a:t>7,</a:t>
            </a:r>
            <a:r>
              <a:rPr sz="2400" spc="-5" dirty="0">
                <a:latin typeface="Times New Roman"/>
                <a:cs typeface="Times New Roman"/>
              </a:rPr>
              <a:t> </a:t>
            </a:r>
            <a:r>
              <a:rPr sz="2400" dirty="0">
                <a:latin typeface="Times New Roman"/>
                <a:cs typeface="Times New Roman"/>
              </a:rPr>
              <a:t>or</a:t>
            </a:r>
            <a:r>
              <a:rPr sz="2400" spc="-5" dirty="0">
                <a:latin typeface="Times New Roman"/>
                <a:cs typeface="Times New Roman"/>
              </a:rPr>
              <a:t> </a:t>
            </a:r>
            <a:r>
              <a:rPr sz="2400" spc="-25" dirty="0">
                <a:latin typeface="Times New Roman"/>
                <a:cs typeface="Times New Roman"/>
              </a:rPr>
              <a:t>12.</a:t>
            </a:r>
            <a:endParaRPr sz="2400">
              <a:latin typeface="Times New Roman"/>
              <a:cs typeface="Times New Roman"/>
            </a:endParaRPr>
          </a:p>
          <a:p>
            <a:pPr marL="405765" indent="-342265">
              <a:lnSpc>
                <a:spcPct val="100000"/>
              </a:lnSpc>
              <a:spcBef>
                <a:spcPts val="575"/>
              </a:spcBef>
              <a:buClr>
                <a:srgbClr val="0F1141"/>
              </a:buClr>
              <a:buFont typeface="Arial MT"/>
              <a:buChar char="•"/>
              <a:tabLst>
                <a:tab pos="405765" algn="l"/>
              </a:tabLst>
            </a:pPr>
            <a:r>
              <a:rPr sz="2400" i="1" dirty="0">
                <a:latin typeface="Times New Roman"/>
                <a:cs typeface="Times New Roman"/>
              </a:rPr>
              <a:t>For</a:t>
            </a:r>
            <a:r>
              <a:rPr sz="2400" i="1" spc="-15" dirty="0">
                <a:latin typeface="Times New Roman"/>
                <a:cs typeface="Times New Roman"/>
              </a:rPr>
              <a:t> </a:t>
            </a:r>
            <a:r>
              <a:rPr sz="2400" i="1" dirty="0">
                <a:latin typeface="Times New Roman"/>
                <a:cs typeface="Times New Roman"/>
              </a:rPr>
              <a:t>the</a:t>
            </a:r>
            <a:r>
              <a:rPr sz="2400" i="1" spc="-30" dirty="0">
                <a:latin typeface="Times New Roman"/>
                <a:cs typeface="Times New Roman"/>
              </a:rPr>
              <a:t> </a:t>
            </a:r>
            <a:r>
              <a:rPr sz="2400" i="1" dirty="0">
                <a:latin typeface="Times New Roman"/>
                <a:cs typeface="Times New Roman"/>
              </a:rPr>
              <a:t>same</a:t>
            </a:r>
            <a:r>
              <a:rPr sz="2400" i="1" spc="-15" dirty="0">
                <a:latin typeface="Times New Roman"/>
                <a:cs typeface="Times New Roman"/>
              </a:rPr>
              <a:t> </a:t>
            </a:r>
            <a:r>
              <a:rPr sz="2400" i="1" dirty="0">
                <a:latin typeface="Times New Roman"/>
                <a:cs typeface="Times New Roman"/>
              </a:rPr>
              <a:t>cell</a:t>
            </a:r>
            <a:r>
              <a:rPr sz="2400" i="1" spc="-35" dirty="0">
                <a:latin typeface="Times New Roman"/>
                <a:cs typeface="Times New Roman"/>
              </a:rPr>
              <a:t> </a:t>
            </a:r>
            <a:r>
              <a:rPr sz="2400" i="1" dirty="0">
                <a:latin typeface="Times New Roman"/>
                <a:cs typeface="Times New Roman"/>
              </a:rPr>
              <a:t>size</a:t>
            </a:r>
            <a:r>
              <a:rPr sz="2400" i="1" spc="-25" dirty="0">
                <a:latin typeface="Times New Roman"/>
                <a:cs typeface="Times New Roman"/>
              </a:rPr>
              <a:t> </a:t>
            </a:r>
            <a:r>
              <a:rPr sz="2400" i="1" dirty="0">
                <a:latin typeface="Times New Roman"/>
                <a:cs typeface="Times New Roman"/>
              </a:rPr>
              <a:t>at</a:t>
            </a:r>
            <a:r>
              <a:rPr sz="2400" i="1" spc="-25" dirty="0">
                <a:latin typeface="Times New Roman"/>
                <a:cs typeface="Times New Roman"/>
              </a:rPr>
              <a:t> </a:t>
            </a:r>
            <a:r>
              <a:rPr sz="2400" i="1" dirty="0">
                <a:latin typeface="Times New Roman"/>
                <a:cs typeface="Times New Roman"/>
              </a:rPr>
              <a:t>a</a:t>
            </a:r>
            <a:r>
              <a:rPr sz="2400" i="1" spc="-15" dirty="0">
                <a:latin typeface="Times New Roman"/>
                <a:cs typeface="Times New Roman"/>
              </a:rPr>
              <a:t> </a:t>
            </a:r>
            <a:r>
              <a:rPr sz="2400" i="1" dirty="0">
                <a:latin typeface="Times New Roman"/>
                <a:cs typeface="Times New Roman"/>
              </a:rPr>
              <a:t>given</a:t>
            </a:r>
            <a:r>
              <a:rPr sz="2400" i="1" spc="-35" dirty="0">
                <a:latin typeface="Times New Roman"/>
                <a:cs typeface="Times New Roman"/>
              </a:rPr>
              <a:t> </a:t>
            </a:r>
            <a:r>
              <a:rPr sz="2400" i="1" dirty="0">
                <a:latin typeface="Times New Roman"/>
                <a:cs typeface="Times New Roman"/>
              </a:rPr>
              <a:t>area,</a:t>
            </a:r>
            <a:r>
              <a:rPr sz="2400" i="1" spc="-30" dirty="0">
                <a:latin typeface="Times New Roman"/>
                <a:cs typeface="Times New Roman"/>
              </a:rPr>
              <a:t> </a:t>
            </a:r>
            <a:r>
              <a:rPr sz="2400" i="1" dirty="0">
                <a:latin typeface="Times New Roman"/>
                <a:cs typeface="Times New Roman"/>
              </a:rPr>
              <a:t>N</a:t>
            </a:r>
            <a:r>
              <a:rPr sz="2400" i="1" spc="-15" dirty="0">
                <a:latin typeface="Times New Roman"/>
                <a:cs typeface="Times New Roman"/>
              </a:rPr>
              <a:t> </a:t>
            </a:r>
            <a:r>
              <a:rPr sz="2400" i="1" dirty="0">
                <a:latin typeface="Times New Roman"/>
                <a:cs typeface="Times New Roman"/>
              </a:rPr>
              <a:t>decreases</a:t>
            </a:r>
            <a:r>
              <a:rPr sz="2400" i="1" spc="-25" dirty="0">
                <a:latin typeface="Times New Roman"/>
                <a:cs typeface="Times New Roman"/>
              </a:rPr>
              <a:t> </a:t>
            </a:r>
            <a:r>
              <a:rPr sz="2400" dirty="0">
                <a:latin typeface="Cambria Math"/>
                <a:cs typeface="Cambria Math"/>
              </a:rPr>
              <a:t>⇒</a:t>
            </a:r>
            <a:r>
              <a:rPr sz="2400" spc="50" dirty="0">
                <a:latin typeface="Cambria Math"/>
                <a:cs typeface="Cambria Math"/>
              </a:rPr>
              <a:t> </a:t>
            </a:r>
            <a:r>
              <a:rPr sz="2400" i="1" dirty="0">
                <a:latin typeface="Times New Roman"/>
                <a:cs typeface="Times New Roman"/>
              </a:rPr>
              <a:t>M</a:t>
            </a:r>
            <a:r>
              <a:rPr sz="2400" i="1" spc="-15" dirty="0">
                <a:latin typeface="Times New Roman"/>
                <a:cs typeface="Times New Roman"/>
              </a:rPr>
              <a:t> </a:t>
            </a:r>
            <a:r>
              <a:rPr sz="2400" i="1" spc="-10" dirty="0">
                <a:latin typeface="Times New Roman"/>
                <a:cs typeface="Times New Roman"/>
              </a:rPr>
              <a:t>increases</a:t>
            </a:r>
            <a:endParaRPr sz="2400">
              <a:latin typeface="Times New Roman"/>
              <a:cs typeface="Times New Roman"/>
            </a:endParaRPr>
          </a:p>
          <a:p>
            <a:pPr marL="406400">
              <a:lnSpc>
                <a:spcPct val="100000"/>
              </a:lnSpc>
            </a:pPr>
            <a:r>
              <a:rPr sz="2400" dirty="0">
                <a:latin typeface="Cambria Math"/>
                <a:cs typeface="Cambria Math"/>
              </a:rPr>
              <a:t>⇒</a:t>
            </a:r>
            <a:r>
              <a:rPr sz="2400" spc="65" dirty="0">
                <a:latin typeface="Cambria Math"/>
                <a:cs typeface="Cambria Math"/>
              </a:rPr>
              <a:t> </a:t>
            </a:r>
            <a:r>
              <a:rPr sz="2400" i="1" dirty="0">
                <a:latin typeface="Times New Roman"/>
                <a:cs typeface="Times New Roman"/>
              </a:rPr>
              <a:t>C </a:t>
            </a:r>
            <a:r>
              <a:rPr sz="2400" i="1" spc="-10" dirty="0">
                <a:latin typeface="Times New Roman"/>
                <a:cs typeface="Times New Roman"/>
              </a:rPr>
              <a:t>increases.</a:t>
            </a:r>
            <a:endParaRPr sz="2400">
              <a:latin typeface="Times New Roman"/>
              <a:cs typeface="Times New Roman"/>
            </a:endParaRPr>
          </a:p>
          <a:p>
            <a:pPr>
              <a:lnSpc>
                <a:spcPct val="100000"/>
              </a:lnSpc>
              <a:spcBef>
                <a:spcPts val="695"/>
              </a:spcBef>
            </a:pPr>
            <a:endParaRPr sz="2400">
              <a:latin typeface="Times New Roman"/>
              <a:cs typeface="Times New Roman"/>
            </a:endParaRPr>
          </a:p>
          <a:p>
            <a:pPr marL="405765" indent="-342265">
              <a:lnSpc>
                <a:spcPct val="100000"/>
              </a:lnSpc>
              <a:spcBef>
                <a:spcPts val="5"/>
              </a:spcBef>
              <a:buClr>
                <a:srgbClr val="0F1141"/>
              </a:buClr>
              <a:buFont typeface="Arial MT"/>
              <a:buChar char="•"/>
              <a:tabLst>
                <a:tab pos="405765" algn="l"/>
              </a:tabLst>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frequency</a:t>
            </a:r>
            <a:r>
              <a:rPr sz="2400" spc="-20" dirty="0">
                <a:latin typeface="Times New Roman"/>
                <a:cs typeface="Times New Roman"/>
              </a:rPr>
              <a:t> </a:t>
            </a:r>
            <a:r>
              <a:rPr sz="2400" dirty="0">
                <a:latin typeface="Times New Roman"/>
                <a:cs typeface="Times New Roman"/>
              </a:rPr>
              <a:t>reuse</a:t>
            </a:r>
            <a:r>
              <a:rPr sz="2400" spc="-10" dirty="0">
                <a:latin typeface="Times New Roman"/>
                <a:cs typeface="Times New Roman"/>
              </a:rPr>
              <a:t> </a:t>
            </a:r>
            <a:r>
              <a:rPr sz="2400" dirty="0">
                <a:latin typeface="Times New Roman"/>
                <a:cs typeface="Times New Roman"/>
              </a:rPr>
              <a:t>factor</a:t>
            </a:r>
            <a:r>
              <a:rPr sz="2400" spc="-2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cellular</a:t>
            </a:r>
            <a:r>
              <a:rPr sz="2400" spc="-45" dirty="0">
                <a:latin typeface="Times New Roman"/>
                <a:cs typeface="Times New Roman"/>
              </a:rPr>
              <a:t> </a:t>
            </a:r>
            <a:r>
              <a:rPr sz="2400" dirty="0">
                <a:latin typeface="Times New Roman"/>
                <a:cs typeface="Times New Roman"/>
              </a:rPr>
              <a:t>system</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given</a:t>
            </a:r>
            <a:r>
              <a:rPr sz="2400" spc="-35" dirty="0">
                <a:latin typeface="Times New Roman"/>
                <a:cs typeface="Times New Roman"/>
              </a:rPr>
              <a:t> </a:t>
            </a:r>
            <a:r>
              <a:rPr sz="2400" dirty="0">
                <a:latin typeface="Times New Roman"/>
                <a:cs typeface="Times New Roman"/>
              </a:rPr>
              <a:t>by</a:t>
            </a:r>
            <a:r>
              <a:rPr sz="2400" spc="-15" dirty="0">
                <a:latin typeface="Times New Roman"/>
                <a:cs typeface="Times New Roman"/>
              </a:rPr>
              <a:t> </a:t>
            </a:r>
            <a:r>
              <a:rPr sz="2400" spc="-20" dirty="0">
                <a:latin typeface="Times New Roman"/>
                <a:cs typeface="Times New Roman"/>
              </a:rPr>
              <a:t>1/N.</a:t>
            </a:r>
            <a:endParaRPr sz="2400">
              <a:latin typeface="Times New Roman"/>
              <a:cs typeface="Times New Roman"/>
            </a:endParaRPr>
          </a:p>
          <a:p>
            <a:pPr marL="405765" indent="-342265">
              <a:lnSpc>
                <a:spcPct val="100000"/>
              </a:lnSpc>
              <a:spcBef>
                <a:spcPts val="575"/>
              </a:spcBef>
              <a:buClr>
                <a:srgbClr val="0F1141"/>
              </a:buClr>
              <a:buFont typeface="Arial MT"/>
              <a:buChar char="•"/>
              <a:tabLst>
                <a:tab pos="405765" algn="l"/>
              </a:tabLst>
            </a:pPr>
            <a:r>
              <a:rPr sz="2400" dirty="0">
                <a:latin typeface="Times New Roman"/>
                <a:cs typeface="Times New Roman"/>
              </a:rPr>
              <a:t>N</a:t>
            </a:r>
            <a:r>
              <a:rPr sz="2400" spc="-1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only</a:t>
            </a:r>
            <a:r>
              <a:rPr sz="2400" spc="-25" dirty="0">
                <a:latin typeface="Times New Roman"/>
                <a:cs typeface="Times New Roman"/>
              </a:rPr>
              <a:t> </a:t>
            </a:r>
            <a:r>
              <a:rPr sz="2400" dirty="0">
                <a:latin typeface="Times New Roman"/>
                <a:cs typeface="Times New Roman"/>
              </a:rPr>
              <a:t>have</a:t>
            </a:r>
            <a:r>
              <a:rPr sz="2400" spc="-25" dirty="0">
                <a:latin typeface="Times New Roman"/>
                <a:cs typeface="Times New Roman"/>
              </a:rPr>
              <a:t> </a:t>
            </a:r>
            <a:r>
              <a:rPr sz="2400" dirty="0">
                <a:latin typeface="Times New Roman"/>
                <a:cs typeface="Times New Roman"/>
              </a:rPr>
              <a:t>values</a:t>
            </a:r>
            <a:r>
              <a:rPr sz="2400" spc="-10" dirty="0">
                <a:latin typeface="Times New Roman"/>
                <a:cs typeface="Times New Roman"/>
              </a:rPr>
              <a:t> </a:t>
            </a:r>
            <a:r>
              <a:rPr sz="2400" dirty="0">
                <a:latin typeface="Times New Roman"/>
                <a:cs typeface="Times New Roman"/>
              </a:rPr>
              <a:t>which</a:t>
            </a:r>
            <a:r>
              <a:rPr sz="2400" spc="-20" dirty="0">
                <a:latin typeface="Times New Roman"/>
                <a:cs typeface="Times New Roman"/>
              </a:rPr>
              <a:t> </a:t>
            </a:r>
            <a:r>
              <a:rPr sz="2400" dirty="0">
                <a:latin typeface="Times New Roman"/>
                <a:cs typeface="Times New Roman"/>
              </a:rPr>
              <a:t>satisfy</a:t>
            </a:r>
            <a:r>
              <a:rPr sz="2400" spc="-30" dirty="0">
                <a:latin typeface="Times New Roman"/>
                <a:cs typeface="Times New Roman"/>
              </a:rPr>
              <a:t> </a:t>
            </a:r>
            <a:r>
              <a:rPr sz="2400" spc="-10" dirty="0">
                <a:latin typeface="Times New Roman"/>
                <a:cs typeface="Times New Roman"/>
              </a:rPr>
              <a:t>Equation</a:t>
            </a:r>
            <a:endParaRPr sz="2400">
              <a:latin typeface="Times New Roman"/>
              <a:cs typeface="Times New Roman"/>
            </a:endParaRPr>
          </a:p>
          <a:p>
            <a:pPr marL="28575" algn="ctr">
              <a:lnSpc>
                <a:spcPct val="100000"/>
              </a:lnSpc>
            </a:pPr>
            <a:r>
              <a:rPr sz="2400" dirty="0">
                <a:latin typeface="Cambria Math"/>
                <a:cs typeface="Cambria Math"/>
              </a:rPr>
              <a:t>𝑁</a:t>
            </a:r>
            <a:r>
              <a:rPr sz="2400" spc="200" dirty="0">
                <a:latin typeface="Cambria Math"/>
                <a:cs typeface="Cambria Math"/>
              </a:rPr>
              <a:t> </a:t>
            </a:r>
            <a:r>
              <a:rPr sz="2400" dirty="0">
                <a:latin typeface="Cambria Math"/>
                <a:cs typeface="Cambria Math"/>
              </a:rPr>
              <a:t>=</a:t>
            </a:r>
            <a:r>
              <a:rPr sz="2400" spc="120" dirty="0">
                <a:latin typeface="Cambria Math"/>
                <a:cs typeface="Cambria Math"/>
              </a:rPr>
              <a:t> </a:t>
            </a:r>
            <a:r>
              <a:rPr sz="2400" spc="65" dirty="0">
                <a:latin typeface="Cambria Math"/>
                <a:cs typeface="Cambria Math"/>
              </a:rPr>
              <a:t>𝑖</a:t>
            </a:r>
            <a:r>
              <a:rPr sz="2625" spc="97" baseline="28571" dirty="0">
                <a:latin typeface="Cambria Math"/>
                <a:cs typeface="Cambria Math"/>
              </a:rPr>
              <a:t>2</a:t>
            </a:r>
            <a:r>
              <a:rPr sz="2625" spc="375" baseline="28571" dirty="0">
                <a:latin typeface="Cambria Math"/>
                <a:cs typeface="Cambria Math"/>
              </a:rPr>
              <a:t> </a:t>
            </a:r>
            <a:r>
              <a:rPr sz="2400" dirty="0">
                <a:latin typeface="Cambria Math"/>
                <a:cs typeface="Cambria Math"/>
              </a:rPr>
              <a:t>+</a:t>
            </a:r>
            <a:r>
              <a:rPr sz="2400" spc="-15" dirty="0">
                <a:latin typeface="Cambria Math"/>
                <a:cs typeface="Cambria Math"/>
              </a:rPr>
              <a:t> </a:t>
            </a:r>
            <a:r>
              <a:rPr sz="2400" dirty="0">
                <a:latin typeface="Cambria Math"/>
                <a:cs typeface="Cambria Math"/>
              </a:rPr>
              <a:t>𝑖𝑗</a:t>
            </a:r>
            <a:r>
              <a:rPr sz="2400" spc="60" dirty="0">
                <a:latin typeface="Cambria Math"/>
                <a:cs typeface="Cambria Math"/>
              </a:rPr>
              <a:t> </a:t>
            </a:r>
            <a:r>
              <a:rPr sz="2400" dirty="0">
                <a:latin typeface="Cambria Math"/>
                <a:cs typeface="Cambria Math"/>
              </a:rPr>
              <a:t>+</a:t>
            </a:r>
            <a:r>
              <a:rPr sz="2400" spc="-10" dirty="0">
                <a:latin typeface="Cambria Math"/>
                <a:cs typeface="Cambria Math"/>
              </a:rPr>
              <a:t> </a:t>
            </a:r>
            <a:r>
              <a:rPr sz="2400" spc="40" dirty="0">
                <a:latin typeface="Cambria Math"/>
                <a:cs typeface="Cambria Math"/>
              </a:rPr>
              <a:t>𝑗</a:t>
            </a:r>
            <a:r>
              <a:rPr sz="2625" spc="60" baseline="28571" dirty="0">
                <a:latin typeface="Cambria Math"/>
                <a:cs typeface="Cambria Math"/>
              </a:rPr>
              <a:t>2</a:t>
            </a:r>
            <a:endParaRPr sz="2625" baseline="28571">
              <a:latin typeface="Cambria Math"/>
              <a:cs typeface="Cambria Math"/>
            </a:endParaRPr>
          </a:p>
          <a:p>
            <a:pPr marL="63500" marR="487680">
              <a:lnSpc>
                <a:spcPct val="100000"/>
              </a:lnSpc>
              <a:spcBef>
                <a:spcPts val="580"/>
              </a:spcBef>
            </a:pPr>
            <a:r>
              <a:rPr sz="2400" dirty="0">
                <a:latin typeface="Times New Roman"/>
                <a:cs typeface="Times New Roman"/>
              </a:rPr>
              <a:t>where</a:t>
            </a:r>
            <a:r>
              <a:rPr sz="2400" spc="-5" dirty="0">
                <a:latin typeface="Times New Roman"/>
                <a:cs typeface="Times New Roman"/>
              </a:rPr>
              <a:t> </a:t>
            </a:r>
            <a:r>
              <a:rPr sz="2400" i="1" dirty="0">
                <a:latin typeface="Times New Roman"/>
                <a:cs typeface="Times New Roman"/>
              </a:rPr>
              <a:t>i</a:t>
            </a:r>
            <a:r>
              <a:rPr sz="2400" i="1" spc="-1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i="1" dirty="0">
                <a:latin typeface="Times New Roman"/>
                <a:cs typeface="Times New Roman"/>
              </a:rPr>
              <a:t>j </a:t>
            </a:r>
            <a:r>
              <a:rPr sz="2400" dirty="0">
                <a:latin typeface="Times New Roman"/>
                <a:cs typeface="Times New Roman"/>
              </a:rPr>
              <a:t>are</a:t>
            </a:r>
            <a:r>
              <a:rPr sz="2400" spc="-35" dirty="0">
                <a:latin typeface="Times New Roman"/>
                <a:cs typeface="Times New Roman"/>
              </a:rPr>
              <a:t> </a:t>
            </a:r>
            <a:r>
              <a:rPr sz="2400" spc="-10" dirty="0">
                <a:latin typeface="Times New Roman"/>
                <a:cs typeface="Times New Roman"/>
              </a:rPr>
              <a:t>non-</a:t>
            </a:r>
            <a:r>
              <a:rPr sz="2400" dirty="0">
                <a:latin typeface="Times New Roman"/>
                <a:cs typeface="Times New Roman"/>
              </a:rPr>
              <a:t>negative</a:t>
            </a:r>
            <a:r>
              <a:rPr sz="2400" spc="-40" dirty="0">
                <a:latin typeface="Times New Roman"/>
                <a:cs typeface="Times New Roman"/>
              </a:rPr>
              <a:t> </a:t>
            </a:r>
            <a:r>
              <a:rPr sz="2400" dirty="0">
                <a:latin typeface="Times New Roman"/>
                <a:cs typeface="Times New Roman"/>
              </a:rPr>
              <a:t>integers.</a:t>
            </a:r>
            <a:r>
              <a:rPr sz="2400" spc="-75" dirty="0">
                <a:latin typeface="Times New Roman"/>
                <a:cs typeface="Times New Roman"/>
              </a:rPr>
              <a:t> </a:t>
            </a:r>
            <a:r>
              <a:rPr sz="2400" spc="-30" dirty="0">
                <a:latin typeface="Times New Roman"/>
                <a:cs typeface="Times New Roman"/>
              </a:rPr>
              <a:t>To</a:t>
            </a:r>
            <a:r>
              <a:rPr sz="2400" spc="-10" dirty="0">
                <a:latin typeface="Times New Roman"/>
                <a:cs typeface="Times New Roman"/>
              </a:rPr>
              <a:t> </a:t>
            </a:r>
            <a:r>
              <a:rPr sz="2400" dirty="0">
                <a:latin typeface="Times New Roman"/>
                <a:cs typeface="Times New Roman"/>
              </a:rPr>
              <a:t>find</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nearest</a:t>
            </a:r>
            <a:r>
              <a:rPr sz="2400" spc="-25" dirty="0">
                <a:latin typeface="Times New Roman"/>
                <a:cs typeface="Times New Roman"/>
              </a:rPr>
              <a:t> co- </a:t>
            </a:r>
            <a:r>
              <a:rPr sz="2400" dirty="0">
                <a:latin typeface="Times New Roman"/>
                <a:cs typeface="Times New Roman"/>
              </a:rPr>
              <a:t>channel</a:t>
            </a:r>
            <a:r>
              <a:rPr sz="2400" spc="-30" dirty="0">
                <a:latin typeface="Times New Roman"/>
                <a:cs typeface="Times New Roman"/>
              </a:rPr>
              <a:t> </a:t>
            </a:r>
            <a:r>
              <a:rPr sz="2400" dirty="0">
                <a:latin typeface="Times New Roman"/>
                <a:cs typeface="Times New Roman"/>
              </a:rPr>
              <a:t>neighbors</a:t>
            </a:r>
            <a:r>
              <a:rPr sz="2400" spc="-3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particular</a:t>
            </a:r>
            <a:r>
              <a:rPr sz="2400" spc="-55" dirty="0">
                <a:latin typeface="Times New Roman"/>
                <a:cs typeface="Times New Roman"/>
              </a:rPr>
              <a:t> </a:t>
            </a:r>
            <a:r>
              <a:rPr sz="2400" dirty="0">
                <a:latin typeface="Times New Roman"/>
                <a:cs typeface="Times New Roman"/>
              </a:rPr>
              <a:t>cell,</a:t>
            </a:r>
            <a:r>
              <a:rPr sz="2400" spc="-30" dirty="0">
                <a:latin typeface="Times New Roman"/>
                <a:cs typeface="Times New Roman"/>
              </a:rPr>
              <a:t> </a:t>
            </a:r>
            <a:r>
              <a:rPr sz="2400" dirty="0">
                <a:latin typeface="Times New Roman"/>
                <a:cs typeface="Times New Roman"/>
              </a:rPr>
              <a:t>one</a:t>
            </a:r>
            <a:r>
              <a:rPr sz="2400" spc="-20" dirty="0">
                <a:latin typeface="Times New Roman"/>
                <a:cs typeface="Times New Roman"/>
              </a:rPr>
              <a:t> </a:t>
            </a:r>
            <a:r>
              <a:rPr sz="2400" dirty="0">
                <a:latin typeface="Times New Roman"/>
                <a:cs typeface="Times New Roman"/>
              </a:rPr>
              <a:t>must</a:t>
            </a:r>
            <a:r>
              <a:rPr sz="2400" spc="5" dirty="0">
                <a:latin typeface="Times New Roman"/>
                <a:cs typeface="Times New Roman"/>
              </a:rPr>
              <a:t> </a:t>
            </a:r>
            <a:r>
              <a:rPr sz="2400" dirty="0">
                <a:latin typeface="Times New Roman"/>
                <a:cs typeface="Times New Roman"/>
              </a:rPr>
              <a:t>do</a:t>
            </a:r>
            <a:r>
              <a:rPr sz="2400" spc="-1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following:</a:t>
            </a:r>
            <a:endParaRPr sz="2400">
              <a:latin typeface="Times New Roman"/>
              <a:cs typeface="Times New Roman"/>
            </a:endParaRPr>
          </a:p>
          <a:p>
            <a:pPr marL="520065" indent="-456565">
              <a:lnSpc>
                <a:spcPct val="100000"/>
              </a:lnSpc>
              <a:spcBef>
                <a:spcPts val="575"/>
              </a:spcBef>
              <a:buClr>
                <a:srgbClr val="0F1141"/>
              </a:buClr>
              <a:buAutoNum type="arabicParenBoth"/>
              <a:tabLst>
                <a:tab pos="520065" algn="l"/>
              </a:tabLst>
            </a:pPr>
            <a:r>
              <a:rPr sz="2400" dirty="0">
                <a:latin typeface="Times New Roman"/>
                <a:cs typeface="Times New Roman"/>
              </a:rPr>
              <a:t>move</a:t>
            </a:r>
            <a:r>
              <a:rPr sz="2400" spc="10" dirty="0">
                <a:latin typeface="Times New Roman"/>
                <a:cs typeface="Times New Roman"/>
              </a:rPr>
              <a:t> </a:t>
            </a:r>
            <a:r>
              <a:rPr sz="2400" i="1" dirty="0">
                <a:latin typeface="Times New Roman"/>
                <a:cs typeface="Times New Roman"/>
              </a:rPr>
              <a:t>i</a:t>
            </a:r>
            <a:r>
              <a:rPr sz="2400" i="1" spc="-15" dirty="0">
                <a:latin typeface="Times New Roman"/>
                <a:cs typeface="Times New Roman"/>
              </a:rPr>
              <a:t> </a:t>
            </a:r>
            <a:r>
              <a:rPr sz="2400" dirty="0">
                <a:latin typeface="Times New Roman"/>
                <a:cs typeface="Times New Roman"/>
              </a:rPr>
              <a:t>cells</a:t>
            </a:r>
            <a:r>
              <a:rPr sz="2400" spc="-25" dirty="0">
                <a:latin typeface="Times New Roman"/>
                <a:cs typeface="Times New Roman"/>
              </a:rPr>
              <a:t> </a:t>
            </a:r>
            <a:r>
              <a:rPr sz="2400" dirty="0">
                <a:latin typeface="Times New Roman"/>
                <a:cs typeface="Times New Roman"/>
              </a:rPr>
              <a:t>along</a:t>
            </a:r>
            <a:r>
              <a:rPr sz="2400" spc="-30" dirty="0">
                <a:latin typeface="Times New Roman"/>
                <a:cs typeface="Times New Roman"/>
              </a:rPr>
              <a:t> </a:t>
            </a:r>
            <a:r>
              <a:rPr sz="2400" dirty="0">
                <a:latin typeface="Times New Roman"/>
                <a:cs typeface="Times New Roman"/>
              </a:rPr>
              <a:t>any</a:t>
            </a:r>
            <a:r>
              <a:rPr sz="2400" spc="-5" dirty="0">
                <a:latin typeface="Times New Roman"/>
                <a:cs typeface="Times New Roman"/>
              </a:rPr>
              <a:t> </a:t>
            </a:r>
            <a:r>
              <a:rPr sz="2400" dirty="0">
                <a:latin typeface="Times New Roman"/>
                <a:cs typeface="Times New Roman"/>
              </a:rPr>
              <a:t>chain</a:t>
            </a:r>
            <a:r>
              <a:rPr sz="2400" spc="-2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hexagons </a:t>
            </a:r>
            <a:r>
              <a:rPr sz="2400" spc="-25" dirty="0">
                <a:latin typeface="Times New Roman"/>
                <a:cs typeface="Times New Roman"/>
              </a:rPr>
              <a:t>and</a:t>
            </a:r>
            <a:endParaRPr sz="2400">
              <a:latin typeface="Times New Roman"/>
              <a:cs typeface="Times New Roman"/>
            </a:endParaRPr>
          </a:p>
          <a:p>
            <a:pPr marL="520065" indent="-456565">
              <a:lnSpc>
                <a:spcPct val="100000"/>
              </a:lnSpc>
              <a:spcBef>
                <a:spcPts val="575"/>
              </a:spcBef>
              <a:buClr>
                <a:srgbClr val="0F1141"/>
              </a:buClr>
              <a:buAutoNum type="arabicParenBoth"/>
              <a:tabLst>
                <a:tab pos="520065" algn="l"/>
              </a:tabLst>
            </a:pPr>
            <a:r>
              <a:rPr sz="2400" dirty="0">
                <a:latin typeface="Times New Roman"/>
                <a:cs typeface="Times New Roman"/>
              </a:rPr>
              <a:t>Turn</a:t>
            </a:r>
            <a:r>
              <a:rPr sz="2400" spc="-30" dirty="0">
                <a:latin typeface="Times New Roman"/>
                <a:cs typeface="Times New Roman"/>
              </a:rPr>
              <a:t> </a:t>
            </a:r>
            <a:r>
              <a:rPr sz="2400" dirty="0">
                <a:latin typeface="Times New Roman"/>
                <a:cs typeface="Times New Roman"/>
              </a:rPr>
              <a:t>60</a:t>
            </a:r>
            <a:r>
              <a:rPr sz="2400" spc="-15" dirty="0">
                <a:latin typeface="Times New Roman"/>
                <a:cs typeface="Times New Roman"/>
              </a:rPr>
              <a:t> </a:t>
            </a:r>
            <a:r>
              <a:rPr sz="2400" dirty="0">
                <a:latin typeface="Times New Roman"/>
                <a:cs typeface="Times New Roman"/>
              </a:rPr>
              <a:t>degrees</a:t>
            </a:r>
            <a:r>
              <a:rPr sz="2400" spc="-30" dirty="0">
                <a:latin typeface="Times New Roman"/>
                <a:cs typeface="Times New Roman"/>
              </a:rPr>
              <a:t> </a:t>
            </a:r>
            <a:r>
              <a:rPr sz="2400" spc="-10" dirty="0">
                <a:latin typeface="Times New Roman"/>
                <a:cs typeface="Times New Roman"/>
              </a:rPr>
              <a:t>counter-</a:t>
            </a:r>
            <a:r>
              <a:rPr sz="2400" dirty="0">
                <a:latin typeface="Times New Roman"/>
                <a:cs typeface="Times New Roman"/>
              </a:rPr>
              <a:t>clockwise</a:t>
            </a:r>
            <a:r>
              <a:rPr sz="2400" spc="-4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move</a:t>
            </a:r>
            <a:r>
              <a:rPr sz="2400" spc="5" dirty="0">
                <a:latin typeface="Times New Roman"/>
                <a:cs typeface="Times New Roman"/>
              </a:rPr>
              <a:t> </a:t>
            </a:r>
            <a:r>
              <a:rPr sz="2400" i="1" dirty="0">
                <a:latin typeface="Times New Roman"/>
                <a:cs typeface="Times New Roman"/>
              </a:rPr>
              <a:t>j</a:t>
            </a:r>
            <a:r>
              <a:rPr sz="2400" i="1" spc="-25" dirty="0">
                <a:latin typeface="Times New Roman"/>
                <a:cs typeface="Times New Roman"/>
              </a:rPr>
              <a:t> </a:t>
            </a:r>
            <a:r>
              <a:rPr sz="2400" spc="-10" dirty="0">
                <a:latin typeface="Times New Roman"/>
                <a:cs typeface="Times New Roman"/>
              </a:rPr>
              <a:t>cells.</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16</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6915" y="1604082"/>
            <a:ext cx="2194259" cy="2338417"/>
          </a:xfrm>
          <a:prstGeom prst="rect">
            <a:avLst/>
          </a:prstGeom>
        </p:spPr>
      </p:pic>
      <p:pic>
        <p:nvPicPr>
          <p:cNvPr id="3" name="object 3"/>
          <p:cNvPicPr/>
          <p:nvPr/>
        </p:nvPicPr>
        <p:blipFill>
          <a:blip r:embed="rId3" cstate="print"/>
          <a:stretch>
            <a:fillRect/>
          </a:stretch>
        </p:blipFill>
        <p:spPr>
          <a:xfrm>
            <a:off x="3902765" y="1523667"/>
            <a:ext cx="3632752" cy="3767887"/>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51076" y="3959605"/>
            <a:ext cx="165100" cy="20320"/>
          </a:xfrm>
          <a:custGeom>
            <a:avLst/>
            <a:gdLst/>
            <a:ahLst/>
            <a:cxnLst/>
            <a:rect l="l" t="t" r="r" b="b"/>
            <a:pathLst>
              <a:path w="165100" h="20320">
                <a:moveTo>
                  <a:pt x="164592" y="0"/>
                </a:moveTo>
                <a:lnTo>
                  <a:pt x="0" y="0"/>
                </a:lnTo>
                <a:lnTo>
                  <a:pt x="0" y="19812"/>
                </a:lnTo>
                <a:lnTo>
                  <a:pt x="164592" y="19812"/>
                </a:lnTo>
                <a:lnTo>
                  <a:pt x="164592" y="0"/>
                </a:lnTo>
                <a:close/>
              </a:path>
            </a:pathLst>
          </a:custGeom>
          <a:solidFill>
            <a:srgbClr val="000000"/>
          </a:solidFill>
        </p:spPr>
        <p:txBody>
          <a:bodyPr wrap="square" lIns="0" tIns="0" rIns="0" bIns="0" rtlCol="0"/>
          <a:lstStyle/>
          <a:p>
            <a:endParaRPr/>
          </a:p>
        </p:txBody>
      </p:sp>
      <p:sp>
        <p:nvSpPr>
          <p:cNvPr id="3" name="object 3"/>
          <p:cNvSpPr/>
          <p:nvPr/>
        </p:nvSpPr>
        <p:spPr>
          <a:xfrm>
            <a:off x="2317114" y="3788664"/>
            <a:ext cx="362585" cy="293370"/>
          </a:xfrm>
          <a:custGeom>
            <a:avLst/>
            <a:gdLst/>
            <a:ahLst/>
            <a:cxnLst/>
            <a:rect l="l" t="t" r="r" b="b"/>
            <a:pathLst>
              <a:path w="362585" h="293370">
                <a:moveTo>
                  <a:pt x="212852" y="0"/>
                </a:moveTo>
                <a:lnTo>
                  <a:pt x="174879" y="0"/>
                </a:lnTo>
                <a:lnTo>
                  <a:pt x="101346" y="254127"/>
                </a:lnTo>
                <a:lnTo>
                  <a:pt x="48768" y="138556"/>
                </a:lnTo>
                <a:lnTo>
                  <a:pt x="0" y="160909"/>
                </a:lnTo>
                <a:lnTo>
                  <a:pt x="4572" y="172085"/>
                </a:lnTo>
                <a:lnTo>
                  <a:pt x="29718" y="160909"/>
                </a:lnTo>
                <a:lnTo>
                  <a:pt x="91440" y="293369"/>
                </a:lnTo>
                <a:lnTo>
                  <a:pt x="105791" y="293369"/>
                </a:lnTo>
                <a:lnTo>
                  <a:pt x="185928" y="19812"/>
                </a:lnTo>
                <a:lnTo>
                  <a:pt x="194437" y="19812"/>
                </a:lnTo>
                <a:lnTo>
                  <a:pt x="194437" y="20066"/>
                </a:lnTo>
                <a:lnTo>
                  <a:pt x="362077" y="20066"/>
                </a:lnTo>
                <a:lnTo>
                  <a:pt x="362077" y="254"/>
                </a:lnTo>
                <a:lnTo>
                  <a:pt x="212852" y="254"/>
                </a:lnTo>
                <a:lnTo>
                  <a:pt x="212852" y="0"/>
                </a:lnTo>
                <a:close/>
              </a:path>
            </a:pathLst>
          </a:custGeom>
          <a:solidFill>
            <a:srgbClr val="000000"/>
          </a:solidFill>
        </p:spPr>
        <p:txBody>
          <a:bodyPr wrap="square" lIns="0" tIns="0" rIns="0" bIns="0" rtlCol="0"/>
          <a:lstStyle/>
          <a:p>
            <a:endParaRPr/>
          </a:p>
        </p:txBody>
      </p:sp>
      <p:sp>
        <p:nvSpPr>
          <p:cNvPr id="4" name="object 4"/>
          <p:cNvSpPr txBox="1"/>
          <p:nvPr/>
        </p:nvSpPr>
        <p:spPr>
          <a:xfrm>
            <a:off x="345440" y="1443355"/>
            <a:ext cx="8144509" cy="4086860"/>
          </a:xfrm>
          <a:prstGeom prst="rect">
            <a:avLst/>
          </a:prstGeom>
        </p:spPr>
        <p:txBody>
          <a:bodyPr vert="horz" wrap="square" lIns="0" tIns="85725" rIns="0" bIns="0" rtlCol="0">
            <a:spAutoFit/>
          </a:bodyPr>
          <a:lstStyle/>
          <a:p>
            <a:pPr marL="393065" indent="-342265">
              <a:lnSpc>
                <a:spcPct val="100000"/>
              </a:lnSpc>
              <a:spcBef>
                <a:spcPts val="675"/>
              </a:spcBef>
              <a:buClr>
                <a:srgbClr val="0F1141"/>
              </a:buClr>
              <a:buFont typeface="Arial MT"/>
              <a:buChar char="•"/>
              <a:tabLst>
                <a:tab pos="393065" algn="l"/>
              </a:tabLst>
            </a:pPr>
            <a:r>
              <a:rPr sz="2400" dirty="0">
                <a:latin typeface="Times New Roman"/>
                <a:cs typeface="Times New Roman"/>
              </a:rPr>
              <a:t>Interference</a:t>
            </a:r>
            <a:r>
              <a:rPr sz="2400" spc="-30" dirty="0">
                <a:latin typeface="Times New Roman"/>
                <a:cs typeface="Times New Roman"/>
              </a:rPr>
              <a:t> </a:t>
            </a:r>
            <a:r>
              <a:rPr sz="2400" dirty="0">
                <a:latin typeface="Times New Roman"/>
                <a:cs typeface="Times New Roman"/>
              </a:rPr>
              <a:t>between</a:t>
            </a:r>
            <a:r>
              <a:rPr sz="2400" spc="-20" dirty="0">
                <a:latin typeface="Times New Roman"/>
                <a:cs typeface="Times New Roman"/>
              </a:rPr>
              <a:t> </a:t>
            </a:r>
            <a:r>
              <a:rPr sz="2400" dirty="0">
                <a:latin typeface="Times New Roman"/>
                <a:cs typeface="Times New Roman"/>
              </a:rPr>
              <a:t>signals</a:t>
            </a:r>
            <a:r>
              <a:rPr sz="2400" spc="-10" dirty="0">
                <a:latin typeface="Times New Roman"/>
                <a:cs typeface="Times New Roman"/>
              </a:rPr>
              <a:t> </a:t>
            </a:r>
            <a:r>
              <a:rPr sz="2400" dirty="0">
                <a:latin typeface="Times New Roman"/>
                <a:cs typeface="Times New Roman"/>
              </a:rPr>
              <a:t>from</a:t>
            </a:r>
            <a:r>
              <a:rPr sz="2400" spc="5" dirty="0">
                <a:latin typeface="Times New Roman"/>
                <a:cs typeface="Times New Roman"/>
              </a:rPr>
              <a:t> </a:t>
            </a:r>
            <a:r>
              <a:rPr sz="2400" dirty="0">
                <a:latin typeface="Times New Roman"/>
                <a:cs typeface="Times New Roman"/>
              </a:rPr>
              <a:t>co-</a:t>
            </a:r>
            <a:r>
              <a:rPr sz="2400" spc="-10" dirty="0">
                <a:latin typeface="Times New Roman"/>
                <a:cs typeface="Times New Roman"/>
              </a:rPr>
              <a:t>channels</a:t>
            </a:r>
            <a:endParaRPr sz="2400">
              <a:latin typeface="Times New Roman"/>
              <a:cs typeface="Times New Roman"/>
            </a:endParaRPr>
          </a:p>
          <a:p>
            <a:pPr marL="393700" marR="43180" indent="-342900">
              <a:lnSpc>
                <a:spcPct val="100000"/>
              </a:lnSpc>
              <a:spcBef>
                <a:spcPts val="575"/>
              </a:spcBef>
              <a:buClr>
                <a:srgbClr val="0F1141"/>
              </a:buClr>
              <a:buFont typeface="Arial MT"/>
              <a:buChar char="•"/>
              <a:tabLst>
                <a:tab pos="393700" algn="l"/>
              </a:tabLst>
            </a:pPr>
            <a:r>
              <a:rPr sz="2400" dirty="0">
                <a:latin typeface="Times New Roman"/>
                <a:cs typeface="Times New Roman"/>
              </a:rPr>
              <a:t>Increasing</a:t>
            </a:r>
            <a:r>
              <a:rPr sz="2400" spc="-5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signal-</a:t>
            </a:r>
            <a:r>
              <a:rPr sz="2400" spc="-10" dirty="0">
                <a:latin typeface="Times New Roman"/>
                <a:cs typeface="Times New Roman"/>
              </a:rPr>
              <a:t>to-</a:t>
            </a:r>
            <a:r>
              <a:rPr sz="2400" dirty="0">
                <a:latin typeface="Times New Roman"/>
                <a:cs typeface="Times New Roman"/>
              </a:rPr>
              <a:t>noise</a:t>
            </a:r>
            <a:r>
              <a:rPr sz="2400" spc="-45" dirty="0">
                <a:latin typeface="Times New Roman"/>
                <a:cs typeface="Times New Roman"/>
              </a:rPr>
              <a:t> </a:t>
            </a:r>
            <a:r>
              <a:rPr sz="2400" dirty="0">
                <a:latin typeface="Times New Roman"/>
                <a:cs typeface="Times New Roman"/>
              </a:rPr>
              <a:t>ratio</a:t>
            </a:r>
            <a:r>
              <a:rPr sz="2400" spc="-50" dirty="0">
                <a:latin typeface="Times New Roman"/>
                <a:cs typeface="Times New Roman"/>
              </a:rPr>
              <a:t> </a:t>
            </a:r>
            <a:r>
              <a:rPr sz="2400" dirty="0">
                <a:latin typeface="Times New Roman"/>
                <a:cs typeface="Times New Roman"/>
              </a:rPr>
              <a:t>(SNR) to</a:t>
            </a:r>
            <a:r>
              <a:rPr sz="2400" spc="-20" dirty="0">
                <a:latin typeface="Times New Roman"/>
                <a:cs typeface="Times New Roman"/>
              </a:rPr>
              <a:t> </a:t>
            </a:r>
            <a:r>
              <a:rPr sz="2400" dirty="0">
                <a:latin typeface="Times New Roman"/>
                <a:cs typeface="Times New Roman"/>
              </a:rPr>
              <a:t>overcome</a:t>
            </a:r>
            <a:r>
              <a:rPr sz="2400" spc="-10" dirty="0">
                <a:latin typeface="Times New Roman"/>
                <a:cs typeface="Times New Roman"/>
              </a:rPr>
              <a:t> thermal </a:t>
            </a:r>
            <a:r>
              <a:rPr sz="2400" dirty="0">
                <a:latin typeface="Times New Roman"/>
                <a:cs typeface="Times New Roman"/>
              </a:rPr>
              <a:t>noise</a:t>
            </a:r>
            <a:r>
              <a:rPr sz="2400" spc="-20" dirty="0">
                <a:latin typeface="Times New Roman"/>
                <a:cs typeface="Times New Roman"/>
              </a:rPr>
              <a:t> </a:t>
            </a:r>
            <a:r>
              <a:rPr sz="2400" dirty="0">
                <a:latin typeface="Times New Roman"/>
                <a:cs typeface="Times New Roman"/>
              </a:rPr>
              <a:t>does</a:t>
            </a:r>
            <a:r>
              <a:rPr sz="2400" spc="-15" dirty="0">
                <a:latin typeface="Times New Roman"/>
                <a:cs typeface="Times New Roman"/>
              </a:rPr>
              <a:t> </a:t>
            </a:r>
            <a:r>
              <a:rPr sz="2400" dirty="0">
                <a:latin typeface="Times New Roman"/>
                <a:cs typeface="Times New Roman"/>
              </a:rPr>
              <a:t>not</a:t>
            </a:r>
            <a:r>
              <a:rPr sz="2400" spc="-20" dirty="0">
                <a:latin typeface="Times New Roman"/>
                <a:cs typeface="Times New Roman"/>
              </a:rPr>
              <a:t> work</a:t>
            </a:r>
            <a:endParaRPr sz="2400">
              <a:latin typeface="Times New Roman"/>
              <a:cs typeface="Times New Roman"/>
            </a:endParaRPr>
          </a:p>
          <a:p>
            <a:pPr marL="393065" indent="-342265">
              <a:lnSpc>
                <a:spcPct val="100000"/>
              </a:lnSpc>
              <a:spcBef>
                <a:spcPts val="580"/>
              </a:spcBef>
              <a:buClr>
                <a:srgbClr val="0F1141"/>
              </a:buClr>
              <a:buFont typeface="Arial MT"/>
              <a:buChar char="•"/>
              <a:tabLst>
                <a:tab pos="393065" algn="l"/>
              </a:tabLst>
            </a:pPr>
            <a:r>
              <a:rPr sz="2400" dirty="0">
                <a:latin typeface="Times New Roman"/>
                <a:cs typeface="Times New Roman"/>
              </a:rPr>
              <a:t>Physically</a:t>
            </a:r>
            <a:r>
              <a:rPr sz="2400" spc="-35" dirty="0">
                <a:latin typeface="Times New Roman"/>
                <a:cs typeface="Times New Roman"/>
              </a:rPr>
              <a:t> </a:t>
            </a:r>
            <a:r>
              <a:rPr sz="2400" dirty="0">
                <a:latin typeface="Times New Roman"/>
                <a:cs typeface="Times New Roman"/>
              </a:rPr>
              <a:t>separate</a:t>
            </a:r>
            <a:r>
              <a:rPr sz="2400" spc="-30" dirty="0">
                <a:latin typeface="Times New Roman"/>
                <a:cs typeface="Times New Roman"/>
              </a:rPr>
              <a:t> </a:t>
            </a:r>
            <a:r>
              <a:rPr sz="2400" dirty="0">
                <a:latin typeface="Times New Roman"/>
                <a:cs typeface="Times New Roman"/>
              </a:rPr>
              <a:t>co-channel</a:t>
            </a:r>
            <a:r>
              <a:rPr sz="2400" spc="-15" dirty="0">
                <a:latin typeface="Times New Roman"/>
                <a:cs typeface="Times New Roman"/>
              </a:rPr>
              <a:t> </a:t>
            </a:r>
            <a:r>
              <a:rPr sz="2400" spc="-10" dirty="0">
                <a:latin typeface="Times New Roman"/>
                <a:cs typeface="Times New Roman"/>
              </a:rPr>
              <a:t>cells</a:t>
            </a:r>
            <a:endParaRPr sz="2400">
              <a:latin typeface="Times New Roman"/>
              <a:cs typeface="Times New Roman"/>
            </a:endParaRPr>
          </a:p>
          <a:p>
            <a:pPr marL="393065" indent="-342265">
              <a:lnSpc>
                <a:spcPct val="100000"/>
              </a:lnSpc>
              <a:spcBef>
                <a:spcPts val="575"/>
              </a:spcBef>
              <a:buClr>
                <a:srgbClr val="0F1141"/>
              </a:buClr>
              <a:buFont typeface="Arial MT"/>
              <a:buChar char="•"/>
              <a:tabLst>
                <a:tab pos="393065" algn="l"/>
              </a:tabLst>
            </a:pPr>
            <a:r>
              <a:rPr sz="2400" spc="-10" dirty="0">
                <a:latin typeface="Times New Roman"/>
                <a:cs typeface="Times New Roman"/>
              </a:rPr>
              <a:t>Co-</a:t>
            </a:r>
            <a:r>
              <a:rPr sz="2400" dirty="0">
                <a:latin typeface="Times New Roman"/>
                <a:cs typeface="Times New Roman"/>
              </a:rPr>
              <a:t>channel</a:t>
            </a:r>
            <a:r>
              <a:rPr sz="2400" spc="-30" dirty="0">
                <a:latin typeface="Times New Roman"/>
                <a:cs typeface="Times New Roman"/>
              </a:rPr>
              <a:t> </a:t>
            </a:r>
            <a:r>
              <a:rPr sz="2400" dirty="0">
                <a:latin typeface="Times New Roman"/>
                <a:cs typeface="Times New Roman"/>
              </a:rPr>
              <a:t>reuse</a:t>
            </a:r>
            <a:r>
              <a:rPr sz="2400" spc="-5" dirty="0">
                <a:latin typeface="Times New Roman"/>
                <a:cs typeface="Times New Roman"/>
              </a:rPr>
              <a:t> </a:t>
            </a:r>
            <a:r>
              <a:rPr sz="2400" spc="-10" dirty="0">
                <a:latin typeface="Times New Roman"/>
                <a:cs typeface="Times New Roman"/>
              </a:rPr>
              <a:t>ratio</a:t>
            </a:r>
            <a:endParaRPr sz="2400">
              <a:latin typeface="Times New Roman"/>
              <a:cs typeface="Times New Roman"/>
            </a:endParaRPr>
          </a:p>
          <a:p>
            <a:pPr marL="794385" lvl="1" indent="-286385">
              <a:lnSpc>
                <a:spcPts val="2370"/>
              </a:lnSpc>
              <a:spcBef>
                <a:spcPts val="1370"/>
              </a:spcBef>
              <a:buFont typeface="Arial MT"/>
              <a:buChar char="•"/>
              <a:tabLst>
                <a:tab pos="794385" algn="l"/>
                <a:tab pos="2165985" algn="l"/>
              </a:tabLst>
            </a:pPr>
            <a:r>
              <a:rPr sz="2400" dirty="0">
                <a:latin typeface="Cambria Math"/>
                <a:cs typeface="Cambria Math"/>
              </a:rPr>
              <a:t>𝑄</a:t>
            </a:r>
            <a:r>
              <a:rPr sz="2400" spc="200" dirty="0">
                <a:latin typeface="Cambria Math"/>
                <a:cs typeface="Cambria Math"/>
              </a:rPr>
              <a:t> </a:t>
            </a:r>
            <a:r>
              <a:rPr sz="2400" dirty="0">
                <a:latin typeface="Cambria Math"/>
                <a:cs typeface="Cambria Math"/>
              </a:rPr>
              <a:t>=</a:t>
            </a:r>
            <a:r>
              <a:rPr sz="2400" spc="140" dirty="0">
                <a:latin typeface="Cambria Math"/>
                <a:cs typeface="Cambria Math"/>
              </a:rPr>
              <a:t> </a:t>
            </a:r>
            <a:r>
              <a:rPr sz="2625" baseline="44444" dirty="0">
                <a:latin typeface="Cambria Math"/>
                <a:cs typeface="Cambria Math"/>
              </a:rPr>
              <a:t>𝐷</a:t>
            </a:r>
            <a:r>
              <a:rPr sz="2625" spc="480" baseline="44444" dirty="0">
                <a:latin typeface="Cambria Math"/>
                <a:cs typeface="Cambria Math"/>
              </a:rPr>
              <a:t> </a:t>
            </a:r>
            <a:r>
              <a:rPr sz="2400" spc="-50" dirty="0">
                <a:latin typeface="Cambria Math"/>
                <a:cs typeface="Cambria Math"/>
              </a:rPr>
              <a:t>=</a:t>
            </a:r>
            <a:r>
              <a:rPr sz="2400" dirty="0">
                <a:latin typeface="Cambria Math"/>
                <a:cs typeface="Cambria Math"/>
              </a:rPr>
              <a:t>	</a:t>
            </a:r>
            <a:r>
              <a:rPr sz="2400" spc="-25" dirty="0">
                <a:latin typeface="Cambria Math"/>
                <a:cs typeface="Cambria Math"/>
              </a:rPr>
              <a:t>3𝑁</a:t>
            </a:r>
            <a:endParaRPr sz="2400">
              <a:latin typeface="Cambria Math"/>
              <a:cs typeface="Cambria Math"/>
            </a:endParaRPr>
          </a:p>
          <a:p>
            <a:pPr marL="1411605">
              <a:lnSpc>
                <a:spcPts val="1590"/>
              </a:lnSpc>
            </a:pPr>
            <a:r>
              <a:rPr sz="1750" spc="-50" dirty="0">
                <a:latin typeface="Cambria Math"/>
                <a:cs typeface="Cambria Math"/>
              </a:rPr>
              <a:t>𝑅</a:t>
            </a:r>
            <a:endParaRPr sz="1750">
              <a:latin typeface="Cambria Math"/>
              <a:cs typeface="Cambria Math"/>
            </a:endParaRPr>
          </a:p>
          <a:p>
            <a:pPr marL="794385" lvl="1" indent="-286385">
              <a:lnSpc>
                <a:spcPct val="100000"/>
              </a:lnSpc>
              <a:spcBef>
                <a:spcPts val="145"/>
              </a:spcBef>
              <a:buFont typeface="Arial MT"/>
              <a:buChar char="•"/>
              <a:tabLst>
                <a:tab pos="794385" algn="l"/>
              </a:tabLst>
            </a:pPr>
            <a:r>
              <a:rPr sz="2400" dirty="0">
                <a:latin typeface="Times New Roman"/>
                <a:cs typeface="Times New Roman"/>
              </a:rPr>
              <a:t>Condition:</a:t>
            </a:r>
            <a:r>
              <a:rPr sz="2400" spc="-45" dirty="0">
                <a:latin typeface="Times New Roman"/>
                <a:cs typeface="Times New Roman"/>
              </a:rPr>
              <a:t> </a:t>
            </a:r>
            <a:r>
              <a:rPr sz="2400" dirty="0">
                <a:latin typeface="Times New Roman"/>
                <a:cs typeface="Times New Roman"/>
              </a:rPr>
              <a:t>same</a:t>
            </a:r>
            <a:r>
              <a:rPr sz="2400" spc="5" dirty="0">
                <a:latin typeface="Times New Roman"/>
                <a:cs typeface="Times New Roman"/>
              </a:rPr>
              <a:t> </a:t>
            </a:r>
            <a:r>
              <a:rPr sz="2400" dirty="0">
                <a:latin typeface="Times New Roman"/>
                <a:cs typeface="Times New Roman"/>
              </a:rPr>
              <a:t>cell</a:t>
            </a:r>
            <a:r>
              <a:rPr sz="2400" spc="-40" dirty="0">
                <a:latin typeface="Times New Roman"/>
                <a:cs typeface="Times New Roman"/>
              </a:rPr>
              <a:t> </a:t>
            </a:r>
            <a:r>
              <a:rPr sz="2400" dirty="0">
                <a:latin typeface="Times New Roman"/>
                <a:cs typeface="Times New Roman"/>
              </a:rPr>
              <a:t>size,</a:t>
            </a:r>
            <a:r>
              <a:rPr sz="2400" spc="-20" dirty="0">
                <a:latin typeface="Times New Roman"/>
                <a:cs typeface="Times New Roman"/>
              </a:rPr>
              <a:t> </a:t>
            </a:r>
            <a:r>
              <a:rPr sz="2400" dirty="0">
                <a:latin typeface="Times New Roman"/>
                <a:cs typeface="Times New Roman"/>
              </a:rPr>
              <a:t>same</a:t>
            </a:r>
            <a:r>
              <a:rPr sz="2400" spc="-5" dirty="0">
                <a:latin typeface="Times New Roman"/>
                <a:cs typeface="Times New Roman"/>
              </a:rPr>
              <a:t> </a:t>
            </a:r>
            <a:r>
              <a:rPr sz="2400" dirty="0">
                <a:latin typeface="Times New Roman"/>
                <a:cs typeface="Times New Roman"/>
              </a:rPr>
              <a:t>transmitter</a:t>
            </a:r>
            <a:r>
              <a:rPr sz="2400" spc="-40" dirty="0">
                <a:latin typeface="Times New Roman"/>
                <a:cs typeface="Times New Roman"/>
              </a:rPr>
              <a:t> </a:t>
            </a:r>
            <a:r>
              <a:rPr sz="2400" spc="-10" dirty="0">
                <a:latin typeface="Times New Roman"/>
                <a:cs typeface="Times New Roman"/>
              </a:rPr>
              <a:t>power</a:t>
            </a:r>
            <a:endParaRPr sz="2400">
              <a:latin typeface="Times New Roman"/>
              <a:cs typeface="Times New Roman"/>
            </a:endParaRPr>
          </a:p>
          <a:p>
            <a:pPr marL="870585" lvl="1" indent="-362585">
              <a:lnSpc>
                <a:spcPct val="100000"/>
              </a:lnSpc>
              <a:spcBef>
                <a:spcPts val="575"/>
              </a:spcBef>
              <a:buFont typeface="Arial MT"/>
              <a:buChar char="•"/>
              <a:tabLst>
                <a:tab pos="870585" algn="l"/>
              </a:tabLst>
            </a:pPr>
            <a:r>
              <a:rPr sz="2400" dirty="0">
                <a:latin typeface="Times New Roman"/>
                <a:cs typeface="Times New Roman"/>
              </a:rPr>
              <a:t>R:</a:t>
            </a:r>
            <a:r>
              <a:rPr sz="2400" spc="-10" dirty="0">
                <a:latin typeface="Times New Roman"/>
                <a:cs typeface="Times New Roman"/>
              </a:rPr>
              <a:t> </a:t>
            </a:r>
            <a:r>
              <a:rPr sz="2400" dirty="0">
                <a:latin typeface="Times New Roman"/>
                <a:cs typeface="Times New Roman"/>
              </a:rPr>
              <a:t>radius</a:t>
            </a:r>
            <a:r>
              <a:rPr sz="2400" spc="-20"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20" dirty="0">
                <a:latin typeface="Times New Roman"/>
                <a:cs typeface="Times New Roman"/>
              </a:rPr>
              <a:t>cell</a:t>
            </a:r>
            <a:endParaRPr sz="2400">
              <a:latin typeface="Times New Roman"/>
              <a:cs typeface="Times New Roman"/>
            </a:endParaRPr>
          </a:p>
          <a:p>
            <a:pPr marL="794385" lvl="1" indent="-286385">
              <a:lnSpc>
                <a:spcPct val="100000"/>
              </a:lnSpc>
              <a:spcBef>
                <a:spcPts val="575"/>
              </a:spcBef>
              <a:buFont typeface="Arial MT"/>
              <a:buChar char="•"/>
              <a:tabLst>
                <a:tab pos="794385" algn="l"/>
              </a:tabLst>
            </a:pPr>
            <a:r>
              <a:rPr sz="2400" dirty="0">
                <a:latin typeface="Times New Roman"/>
                <a:cs typeface="Times New Roman"/>
              </a:rPr>
              <a:t>D: distance</a:t>
            </a:r>
            <a:r>
              <a:rPr sz="2400" spc="-35" dirty="0">
                <a:latin typeface="Times New Roman"/>
                <a:cs typeface="Times New Roman"/>
              </a:rPr>
              <a:t> </a:t>
            </a:r>
            <a:r>
              <a:rPr sz="2400" dirty="0">
                <a:latin typeface="Times New Roman"/>
                <a:cs typeface="Times New Roman"/>
              </a:rPr>
              <a:t>between</a:t>
            </a:r>
            <a:r>
              <a:rPr sz="2400" spc="-10" dirty="0">
                <a:latin typeface="Times New Roman"/>
                <a:cs typeface="Times New Roman"/>
              </a:rPr>
              <a:t> </a:t>
            </a:r>
            <a:r>
              <a:rPr sz="2400" dirty="0">
                <a:latin typeface="Times New Roman"/>
                <a:cs typeface="Times New Roman"/>
              </a:rPr>
              <a:t>centers</a:t>
            </a:r>
            <a:r>
              <a:rPr sz="2400" spc="-40" dirty="0">
                <a:latin typeface="Times New Roman"/>
                <a:cs typeface="Times New Roman"/>
              </a:rPr>
              <a:t> </a:t>
            </a:r>
            <a:r>
              <a:rPr sz="2400" dirty="0">
                <a:latin typeface="Times New Roman"/>
                <a:cs typeface="Times New Roman"/>
              </a:rPr>
              <a:t>of the</a:t>
            </a:r>
            <a:r>
              <a:rPr sz="2400" spc="-5" dirty="0">
                <a:latin typeface="Times New Roman"/>
                <a:cs typeface="Times New Roman"/>
              </a:rPr>
              <a:t> </a:t>
            </a:r>
            <a:r>
              <a:rPr sz="2400" dirty="0">
                <a:latin typeface="Times New Roman"/>
                <a:cs typeface="Times New Roman"/>
              </a:rPr>
              <a:t>nearest</a:t>
            </a:r>
            <a:r>
              <a:rPr sz="2400" spc="-35" dirty="0">
                <a:latin typeface="Times New Roman"/>
                <a:cs typeface="Times New Roman"/>
              </a:rPr>
              <a:t> </a:t>
            </a:r>
            <a:r>
              <a:rPr sz="2400" dirty="0">
                <a:latin typeface="Times New Roman"/>
                <a:cs typeface="Times New Roman"/>
              </a:rPr>
              <a:t>co-channel</a:t>
            </a:r>
            <a:r>
              <a:rPr sz="2400" spc="-15" dirty="0">
                <a:latin typeface="Times New Roman"/>
                <a:cs typeface="Times New Roman"/>
              </a:rPr>
              <a:t> </a:t>
            </a:r>
            <a:r>
              <a:rPr sz="2400" spc="-10" dirty="0">
                <a:latin typeface="Times New Roman"/>
                <a:cs typeface="Times New Roman"/>
              </a:rPr>
              <a:t>cells</a:t>
            </a:r>
            <a:endParaRPr sz="2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18</a:t>
            </a:fld>
            <a:endParaRPr spc="-25"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object 5"/>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spc="-170" dirty="0"/>
              <a:t>Co-</a:t>
            </a:r>
            <a:r>
              <a:rPr spc="-145" dirty="0"/>
              <a:t>channel</a:t>
            </a:r>
            <a:r>
              <a:rPr spc="-180" dirty="0"/>
              <a:t> </a:t>
            </a:r>
            <a:r>
              <a:rPr spc="-140" dirty="0"/>
              <a:t>Interference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83942" y="6550673"/>
            <a:ext cx="7060565" cy="53340"/>
            <a:chOff x="2083942" y="6550673"/>
            <a:chExt cx="7060565" cy="53340"/>
          </a:xfrm>
        </p:grpSpPr>
        <p:sp>
          <p:nvSpPr>
            <p:cNvPr id="3" name="object 3"/>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9" name="object 9"/>
          <p:cNvPicPr/>
          <p:nvPr/>
        </p:nvPicPr>
        <p:blipFill>
          <a:blip r:embed="rId2" cstate="print"/>
          <a:stretch>
            <a:fillRect/>
          </a:stretch>
        </p:blipFill>
        <p:spPr>
          <a:xfrm>
            <a:off x="6629400" y="0"/>
            <a:ext cx="2193163" cy="692658"/>
          </a:xfrm>
          <a:prstGeom prst="rect">
            <a:avLst/>
          </a:prstGeom>
        </p:spPr>
      </p:pic>
      <p:grpSp>
        <p:nvGrpSpPr>
          <p:cNvPr id="10" name="object 10"/>
          <p:cNvGrpSpPr/>
          <p:nvPr/>
        </p:nvGrpSpPr>
        <p:grpSpPr>
          <a:xfrm>
            <a:off x="0" y="1219200"/>
            <a:ext cx="7010400" cy="4924425"/>
            <a:chOff x="0" y="1219200"/>
            <a:chExt cx="7010400" cy="4924425"/>
          </a:xfrm>
        </p:grpSpPr>
        <p:sp>
          <p:nvSpPr>
            <p:cNvPr id="11" name="object 11"/>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2" name="object 12"/>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3" name="object 13"/>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4" name="object 14"/>
            <p:cNvPicPr/>
            <p:nvPr/>
          </p:nvPicPr>
          <p:blipFill>
            <a:blip r:embed="rId3" cstate="print"/>
            <a:stretch>
              <a:fillRect/>
            </a:stretch>
          </p:blipFill>
          <p:spPr>
            <a:xfrm>
              <a:off x="1828800" y="1219200"/>
              <a:ext cx="5153025" cy="4924425"/>
            </a:xfrm>
            <a:prstGeom prst="rect">
              <a:avLst/>
            </a:prstGeom>
          </p:spPr>
        </p:pic>
      </p:grpSp>
      <p:sp>
        <p:nvSpPr>
          <p:cNvPr id="15" name="object 15"/>
          <p:cNvSpPr txBox="1">
            <a:spLocks noGrp="1"/>
          </p:cNvSpPr>
          <p:nvPr>
            <p:ph type="title"/>
          </p:nvPr>
        </p:nvSpPr>
        <p:spPr>
          <a:xfrm>
            <a:off x="383540" y="-27797"/>
            <a:ext cx="5765800" cy="940435"/>
          </a:xfrm>
          <a:prstGeom prst="rect">
            <a:avLst/>
          </a:prstGeom>
        </p:spPr>
        <p:txBody>
          <a:bodyPr vert="horz" wrap="square" lIns="0" tIns="12065" rIns="0" bIns="0" rtlCol="0">
            <a:spAutoFit/>
          </a:bodyPr>
          <a:lstStyle/>
          <a:p>
            <a:pPr marL="12700" marR="5080">
              <a:lnSpc>
                <a:spcPct val="125099"/>
              </a:lnSpc>
              <a:spcBef>
                <a:spcPts val="95"/>
              </a:spcBef>
            </a:pPr>
            <a:r>
              <a:rPr sz="2400" b="0" spc="-150" dirty="0">
                <a:latin typeface="Times New Roman"/>
                <a:cs typeface="Times New Roman"/>
              </a:rPr>
              <a:t>Relationship</a:t>
            </a:r>
            <a:r>
              <a:rPr sz="2400" b="0" spc="-235" dirty="0">
                <a:latin typeface="Times New Roman"/>
                <a:cs typeface="Times New Roman"/>
              </a:rPr>
              <a:t> </a:t>
            </a:r>
            <a:r>
              <a:rPr sz="2400" b="0" spc="-145" dirty="0">
                <a:latin typeface="Times New Roman"/>
                <a:cs typeface="Times New Roman"/>
              </a:rPr>
              <a:t>between</a:t>
            </a:r>
            <a:r>
              <a:rPr sz="2400" b="0" spc="-229" dirty="0">
                <a:latin typeface="Times New Roman"/>
                <a:cs typeface="Times New Roman"/>
              </a:rPr>
              <a:t> </a:t>
            </a:r>
            <a:r>
              <a:rPr sz="2400" b="0" spc="-150" dirty="0">
                <a:latin typeface="Times New Roman"/>
                <a:cs typeface="Times New Roman"/>
              </a:rPr>
              <a:t>frequency</a:t>
            </a:r>
            <a:r>
              <a:rPr sz="2400" b="0" spc="-229" dirty="0">
                <a:latin typeface="Times New Roman"/>
                <a:cs typeface="Times New Roman"/>
              </a:rPr>
              <a:t> </a:t>
            </a:r>
            <a:r>
              <a:rPr sz="2400" b="0" spc="-135" dirty="0">
                <a:latin typeface="Times New Roman"/>
                <a:cs typeface="Times New Roman"/>
              </a:rPr>
              <a:t>reuse</a:t>
            </a:r>
            <a:r>
              <a:rPr sz="2400" b="0" spc="-245" dirty="0">
                <a:latin typeface="Times New Roman"/>
                <a:cs typeface="Times New Roman"/>
              </a:rPr>
              <a:t> </a:t>
            </a:r>
            <a:r>
              <a:rPr sz="2400" b="0" spc="-140" dirty="0">
                <a:latin typeface="Times New Roman"/>
                <a:cs typeface="Times New Roman"/>
              </a:rPr>
              <a:t>factor</a:t>
            </a:r>
            <a:r>
              <a:rPr sz="2400" b="0" spc="-235" dirty="0">
                <a:latin typeface="Times New Roman"/>
                <a:cs typeface="Times New Roman"/>
              </a:rPr>
              <a:t> </a:t>
            </a:r>
            <a:r>
              <a:rPr sz="2400" b="0" spc="-140" dirty="0">
                <a:latin typeface="Times New Roman"/>
                <a:cs typeface="Times New Roman"/>
              </a:rPr>
              <a:t>(</a:t>
            </a:r>
            <a:r>
              <a:rPr sz="2400" i="1" spc="-140" dirty="0">
                <a:latin typeface="Times New Roman"/>
                <a:cs typeface="Times New Roman"/>
              </a:rPr>
              <a:t>D</a:t>
            </a:r>
            <a:r>
              <a:rPr sz="2400" b="0" spc="-140" dirty="0">
                <a:latin typeface="Times New Roman"/>
                <a:cs typeface="Times New Roman"/>
              </a:rPr>
              <a:t>/</a:t>
            </a:r>
            <a:r>
              <a:rPr sz="2400" i="1" spc="-140" dirty="0">
                <a:latin typeface="Times New Roman"/>
                <a:cs typeface="Times New Roman"/>
              </a:rPr>
              <a:t>R</a:t>
            </a:r>
            <a:r>
              <a:rPr sz="2400" b="0" spc="-140" dirty="0">
                <a:latin typeface="Times New Roman"/>
                <a:cs typeface="Times New Roman"/>
              </a:rPr>
              <a:t>)</a:t>
            </a:r>
            <a:r>
              <a:rPr sz="2400" b="0" spc="-225" dirty="0">
                <a:latin typeface="Times New Roman"/>
                <a:cs typeface="Times New Roman"/>
              </a:rPr>
              <a:t> </a:t>
            </a:r>
            <a:r>
              <a:rPr sz="2400" b="0" spc="-30" dirty="0">
                <a:latin typeface="Times New Roman"/>
                <a:cs typeface="Times New Roman"/>
              </a:rPr>
              <a:t>and </a:t>
            </a:r>
            <a:r>
              <a:rPr sz="2400" b="0" spc="-140" dirty="0">
                <a:latin typeface="Times New Roman"/>
                <a:cs typeface="Times New Roman"/>
              </a:rPr>
              <a:t>cluster</a:t>
            </a:r>
            <a:r>
              <a:rPr sz="2400" b="0" spc="-265" dirty="0">
                <a:latin typeface="Times New Roman"/>
                <a:cs typeface="Times New Roman"/>
              </a:rPr>
              <a:t> </a:t>
            </a:r>
            <a:r>
              <a:rPr sz="2400" b="0" spc="-125" dirty="0">
                <a:latin typeface="Times New Roman"/>
                <a:cs typeface="Times New Roman"/>
              </a:rPr>
              <a:t>size</a:t>
            </a:r>
            <a:r>
              <a:rPr sz="2400" b="0" spc="-270" dirty="0">
                <a:latin typeface="Times New Roman"/>
                <a:cs typeface="Times New Roman"/>
              </a:rPr>
              <a:t> </a:t>
            </a:r>
            <a:r>
              <a:rPr sz="2400" b="0" spc="-25" dirty="0">
                <a:latin typeface="Times New Roman"/>
                <a:cs typeface="Times New Roman"/>
              </a:rPr>
              <a:t>(</a:t>
            </a:r>
            <a:r>
              <a:rPr sz="2400" i="1" spc="-25" dirty="0">
                <a:latin typeface="Times New Roman"/>
                <a:cs typeface="Times New Roman"/>
              </a:rPr>
              <a:t>N</a:t>
            </a:r>
            <a:r>
              <a:rPr sz="2400" b="0" spc="-25" dirty="0">
                <a:latin typeface="Times New Roman"/>
                <a:cs typeface="Times New Roman"/>
              </a:rPr>
              <a:t>)</a:t>
            </a:r>
            <a:endParaRPr sz="24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19</a:t>
            </a:fld>
            <a:endParaRPr spc="-25" dirty="0"/>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255005" y="4910582"/>
            <a:ext cx="332105" cy="269240"/>
          </a:xfrm>
          <a:custGeom>
            <a:avLst/>
            <a:gdLst/>
            <a:ahLst/>
            <a:cxnLst/>
            <a:rect l="l" t="t" r="r" b="b"/>
            <a:pathLst>
              <a:path w="332104" h="269239">
                <a:moveTo>
                  <a:pt x="331978" y="0"/>
                </a:moveTo>
                <a:lnTo>
                  <a:pt x="178054" y="0"/>
                </a:lnTo>
                <a:lnTo>
                  <a:pt x="178054" y="762"/>
                </a:lnTo>
                <a:lnTo>
                  <a:pt x="159893" y="762"/>
                </a:lnTo>
                <a:lnTo>
                  <a:pt x="92710" y="233299"/>
                </a:lnTo>
                <a:lnTo>
                  <a:pt x="44577" y="127508"/>
                </a:lnTo>
                <a:lnTo>
                  <a:pt x="0" y="147955"/>
                </a:lnTo>
                <a:lnTo>
                  <a:pt x="4191" y="158242"/>
                </a:lnTo>
                <a:lnTo>
                  <a:pt x="27178" y="147955"/>
                </a:lnTo>
                <a:lnTo>
                  <a:pt x="83566" y="269240"/>
                </a:lnTo>
                <a:lnTo>
                  <a:pt x="96774" y="269240"/>
                </a:lnTo>
                <a:lnTo>
                  <a:pt x="170053" y="18923"/>
                </a:lnTo>
                <a:lnTo>
                  <a:pt x="194691" y="18923"/>
                </a:lnTo>
                <a:lnTo>
                  <a:pt x="194691" y="18288"/>
                </a:lnTo>
                <a:lnTo>
                  <a:pt x="331978" y="18288"/>
                </a:lnTo>
                <a:lnTo>
                  <a:pt x="331978" y="0"/>
                </a:lnTo>
                <a:close/>
              </a:path>
            </a:pathLst>
          </a:custGeom>
          <a:solidFill>
            <a:srgbClr val="000000"/>
          </a:solidFill>
        </p:spPr>
        <p:txBody>
          <a:bodyPr wrap="square" lIns="0" tIns="0" rIns="0" bIns="0" rtlCol="0"/>
          <a:lstStyle/>
          <a:p>
            <a:endParaRPr/>
          </a:p>
        </p:txBody>
      </p:sp>
      <p:sp>
        <p:nvSpPr>
          <p:cNvPr id="3" name="object 3"/>
          <p:cNvSpPr txBox="1"/>
          <p:nvPr/>
        </p:nvSpPr>
        <p:spPr>
          <a:xfrm>
            <a:off x="383540" y="1450365"/>
            <a:ext cx="7844790" cy="4145915"/>
          </a:xfrm>
          <a:prstGeom prst="rect">
            <a:avLst/>
          </a:prstGeom>
        </p:spPr>
        <p:txBody>
          <a:bodyPr vert="horz" wrap="square" lIns="0" tIns="12700" rIns="0" bIns="0" rtlCol="0">
            <a:spAutoFit/>
          </a:bodyPr>
          <a:lstStyle/>
          <a:p>
            <a:pPr marL="12700" marR="800735">
              <a:lnSpc>
                <a:spcPct val="110000"/>
              </a:lnSpc>
              <a:spcBef>
                <a:spcPts val="100"/>
              </a:spcBef>
            </a:pPr>
            <a:r>
              <a:rPr sz="2200" dirty="0">
                <a:latin typeface="Times New Roman"/>
                <a:cs typeface="Times New Roman"/>
              </a:rPr>
              <a:t>Determination</a:t>
            </a:r>
            <a:r>
              <a:rPr sz="2200" spc="-45" dirty="0">
                <a:latin typeface="Times New Roman"/>
                <a:cs typeface="Times New Roman"/>
              </a:rPr>
              <a:t> </a:t>
            </a:r>
            <a:r>
              <a:rPr sz="2200" dirty="0">
                <a:latin typeface="Times New Roman"/>
                <a:cs typeface="Times New Roman"/>
              </a:rPr>
              <a:t>of</a:t>
            </a:r>
            <a:r>
              <a:rPr sz="2200" spc="-70" dirty="0">
                <a:latin typeface="Times New Roman"/>
                <a:cs typeface="Times New Roman"/>
              </a:rPr>
              <a:t> </a:t>
            </a:r>
            <a:r>
              <a:rPr sz="2200" dirty="0">
                <a:latin typeface="Times New Roman"/>
                <a:cs typeface="Times New Roman"/>
              </a:rPr>
              <a:t>relation</a:t>
            </a:r>
            <a:r>
              <a:rPr sz="2200" spc="-60" dirty="0">
                <a:latin typeface="Times New Roman"/>
                <a:cs typeface="Times New Roman"/>
              </a:rPr>
              <a:t> </a:t>
            </a:r>
            <a:r>
              <a:rPr sz="2200" dirty="0">
                <a:latin typeface="Times New Roman"/>
                <a:cs typeface="Times New Roman"/>
              </a:rPr>
              <a:t>between</a:t>
            </a:r>
            <a:r>
              <a:rPr sz="2200" spc="-60" dirty="0">
                <a:latin typeface="Times New Roman"/>
                <a:cs typeface="Times New Roman"/>
              </a:rPr>
              <a:t> </a:t>
            </a:r>
            <a:r>
              <a:rPr sz="2200" dirty="0">
                <a:latin typeface="Times New Roman"/>
                <a:cs typeface="Times New Roman"/>
              </a:rPr>
              <a:t>frequency</a:t>
            </a:r>
            <a:r>
              <a:rPr sz="2200" spc="-65" dirty="0">
                <a:latin typeface="Times New Roman"/>
                <a:cs typeface="Times New Roman"/>
              </a:rPr>
              <a:t> </a:t>
            </a:r>
            <a:r>
              <a:rPr sz="2200" dirty="0">
                <a:latin typeface="Times New Roman"/>
                <a:cs typeface="Times New Roman"/>
              </a:rPr>
              <a:t>reuse</a:t>
            </a:r>
            <a:r>
              <a:rPr sz="2200" spc="-75" dirty="0">
                <a:latin typeface="Times New Roman"/>
                <a:cs typeface="Times New Roman"/>
              </a:rPr>
              <a:t> </a:t>
            </a:r>
            <a:r>
              <a:rPr sz="2200" dirty="0">
                <a:latin typeface="Times New Roman"/>
                <a:cs typeface="Times New Roman"/>
              </a:rPr>
              <a:t>factor</a:t>
            </a:r>
            <a:r>
              <a:rPr sz="2200" spc="-55" dirty="0">
                <a:latin typeface="Times New Roman"/>
                <a:cs typeface="Times New Roman"/>
              </a:rPr>
              <a:t> </a:t>
            </a:r>
            <a:r>
              <a:rPr sz="2200" spc="-20" dirty="0">
                <a:latin typeface="Times New Roman"/>
                <a:cs typeface="Times New Roman"/>
              </a:rPr>
              <a:t>(</a:t>
            </a:r>
            <a:r>
              <a:rPr sz="2200" i="1" spc="-20" dirty="0">
                <a:latin typeface="Times New Roman"/>
                <a:cs typeface="Times New Roman"/>
              </a:rPr>
              <a:t>D</a:t>
            </a:r>
            <a:r>
              <a:rPr sz="2200" spc="-20" dirty="0">
                <a:latin typeface="Times New Roman"/>
                <a:cs typeface="Times New Roman"/>
              </a:rPr>
              <a:t>/</a:t>
            </a:r>
            <a:r>
              <a:rPr sz="2200" i="1" spc="-20" dirty="0">
                <a:latin typeface="Times New Roman"/>
                <a:cs typeface="Times New Roman"/>
              </a:rPr>
              <a:t>R </a:t>
            </a:r>
            <a:r>
              <a:rPr sz="2200" dirty="0">
                <a:latin typeface="Times New Roman"/>
                <a:cs typeface="Times New Roman"/>
              </a:rPr>
              <a:t>ratio)</a:t>
            </a:r>
            <a:r>
              <a:rPr sz="2200" spc="-30" dirty="0">
                <a:latin typeface="Times New Roman"/>
                <a:cs typeface="Times New Roman"/>
              </a:rPr>
              <a:t> </a:t>
            </a:r>
            <a:r>
              <a:rPr sz="2200" dirty="0">
                <a:latin typeface="Times New Roman"/>
                <a:cs typeface="Times New Roman"/>
              </a:rPr>
              <a:t>and</a:t>
            </a:r>
            <a:r>
              <a:rPr sz="2200" spc="-40" dirty="0">
                <a:latin typeface="Times New Roman"/>
                <a:cs typeface="Times New Roman"/>
              </a:rPr>
              <a:t> </a:t>
            </a:r>
            <a:r>
              <a:rPr sz="2200" dirty="0">
                <a:latin typeface="Times New Roman"/>
                <a:cs typeface="Times New Roman"/>
              </a:rPr>
              <a:t>the</a:t>
            </a:r>
            <a:r>
              <a:rPr sz="2200" spc="-40" dirty="0">
                <a:latin typeface="Times New Roman"/>
                <a:cs typeface="Times New Roman"/>
              </a:rPr>
              <a:t> </a:t>
            </a:r>
            <a:r>
              <a:rPr sz="2200" dirty="0">
                <a:latin typeface="Times New Roman"/>
                <a:cs typeface="Times New Roman"/>
              </a:rPr>
              <a:t>cluster</a:t>
            </a:r>
            <a:r>
              <a:rPr sz="2200" spc="-40" dirty="0">
                <a:latin typeface="Times New Roman"/>
                <a:cs typeface="Times New Roman"/>
              </a:rPr>
              <a:t> </a:t>
            </a:r>
            <a:r>
              <a:rPr sz="2200" dirty="0">
                <a:latin typeface="Times New Roman"/>
                <a:cs typeface="Times New Roman"/>
              </a:rPr>
              <a:t>size</a:t>
            </a:r>
            <a:r>
              <a:rPr sz="2200" spc="-30" dirty="0">
                <a:latin typeface="Times New Roman"/>
                <a:cs typeface="Times New Roman"/>
              </a:rPr>
              <a:t> </a:t>
            </a:r>
            <a:r>
              <a:rPr sz="2200" dirty="0">
                <a:latin typeface="Times New Roman"/>
                <a:cs typeface="Times New Roman"/>
              </a:rPr>
              <a:t>(</a:t>
            </a:r>
            <a:r>
              <a:rPr sz="2200" i="1" dirty="0">
                <a:latin typeface="Times New Roman"/>
                <a:cs typeface="Times New Roman"/>
              </a:rPr>
              <a:t>N</a:t>
            </a:r>
            <a:r>
              <a:rPr sz="2200" dirty="0">
                <a:latin typeface="Times New Roman"/>
                <a:cs typeface="Times New Roman"/>
              </a:rPr>
              <a:t>)</a:t>
            </a:r>
            <a:r>
              <a:rPr sz="2200" spc="-40" dirty="0">
                <a:latin typeface="Times New Roman"/>
                <a:cs typeface="Times New Roman"/>
              </a:rPr>
              <a:t> </a:t>
            </a:r>
            <a:r>
              <a:rPr sz="2200" dirty="0">
                <a:latin typeface="Times New Roman"/>
                <a:cs typeface="Times New Roman"/>
              </a:rPr>
              <a:t>involves</a:t>
            </a:r>
            <a:r>
              <a:rPr sz="2200" spc="-50" dirty="0">
                <a:latin typeface="Times New Roman"/>
                <a:cs typeface="Times New Roman"/>
              </a:rPr>
              <a:t> </a:t>
            </a:r>
            <a:r>
              <a:rPr sz="2200" dirty="0">
                <a:latin typeface="Times New Roman"/>
                <a:cs typeface="Times New Roman"/>
              </a:rPr>
              <a:t>mainly</a:t>
            </a:r>
            <a:r>
              <a:rPr sz="2200" spc="-15" dirty="0">
                <a:latin typeface="Times New Roman"/>
                <a:cs typeface="Times New Roman"/>
              </a:rPr>
              <a:t> </a:t>
            </a:r>
            <a:r>
              <a:rPr sz="2200" dirty="0">
                <a:latin typeface="Times New Roman"/>
                <a:cs typeface="Times New Roman"/>
              </a:rPr>
              <a:t>two</a:t>
            </a:r>
            <a:r>
              <a:rPr sz="2200" spc="-35" dirty="0">
                <a:latin typeface="Times New Roman"/>
                <a:cs typeface="Times New Roman"/>
              </a:rPr>
              <a:t> </a:t>
            </a:r>
            <a:r>
              <a:rPr sz="2200" spc="-10" dirty="0">
                <a:latin typeface="Times New Roman"/>
                <a:cs typeface="Times New Roman"/>
              </a:rPr>
              <a:t>steps:</a:t>
            </a:r>
            <a:endParaRPr sz="2200">
              <a:latin typeface="Times New Roman"/>
              <a:cs typeface="Times New Roman"/>
            </a:endParaRPr>
          </a:p>
          <a:p>
            <a:pPr marL="469265" indent="-456565">
              <a:lnSpc>
                <a:spcPts val="2510"/>
              </a:lnSpc>
              <a:spcBef>
                <a:spcPts val="265"/>
              </a:spcBef>
              <a:buClr>
                <a:srgbClr val="0F1141"/>
              </a:buClr>
              <a:buAutoNum type="arabicPeriod"/>
              <a:tabLst>
                <a:tab pos="469265" algn="l"/>
              </a:tabLst>
            </a:pPr>
            <a:r>
              <a:rPr sz="2200" dirty="0">
                <a:latin typeface="Times New Roman"/>
                <a:cs typeface="Times New Roman"/>
              </a:rPr>
              <a:t>finding</a:t>
            </a:r>
            <a:r>
              <a:rPr sz="2200" spc="-45" dirty="0">
                <a:latin typeface="Times New Roman"/>
                <a:cs typeface="Times New Roman"/>
              </a:rPr>
              <a:t> </a:t>
            </a:r>
            <a:r>
              <a:rPr sz="2200" dirty="0">
                <a:latin typeface="Times New Roman"/>
                <a:cs typeface="Times New Roman"/>
              </a:rPr>
              <a:t>the</a:t>
            </a:r>
            <a:r>
              <a:rPr sz="2200" spc="-40" dirty="0">
                <a:latin typeface="Times New Roman"/>
                <a:cs typeface="Times New Roman"/>
              </a:rPr>
              <a:t> </a:t>
            </a:r>
            <a:r>
              <a:rPr sz="2200" dirty="0">
                <a:latin typeface="Times New Roman"/>
                <a:cs typeface="Times New Roman"/>
              </a:rPr>
              <a:t>relation</a:t>
            </a:r>
            <a:r>
              <a:rPr sz="2200" spc="-35" dirty="0">
                <a:latin typeface="Times New Roman"/>
                <a:cs typeface="Times New Roman"/>
              </a:rPr>
              <a:t> </a:t>
            </a:r>
            <a:r>
              <a:rPr sz="2200" dirty="0">
                <a:latin typeface="Times New Roman"/>
                <a:cs typeface="Times New Roman"/>
              </a:rPr>
              <a:t>between</a:t>
            </a:r>
            <a:r>
              <a:rPr sz="2200" spc="-50" dirty="0">
                <a:latin typeface="Times New Roman"/>
                <a:cs typeface="Times New Roman"/>
              </a:rPr>
              <a:t> </a:t>
            </a:r>
            <a:r>
              <a:rPr sz="2200" dirty="0">
                <a:latin typeface="Times New Roman"/>
                <a:cs typeface="Times New Roman"/>
              </a:rPr>
              <a:t>the</a:t>
            </a:r>
            <a:r>
              <a:rPr sz="2200" spc="-45" dirty="0">
                <a:latin typeface="Times New Roman"/>
                <a:cs typeface="Times New Roman"/>
              </a:rPr>
              <a:t> </a:t>
            </a:r>
            <a:r>
              <a:rPr sz="2200" dirty="0">
                <a:latin typeface="Times New Roman"/>
                <a:cs typeface="Times New Roman"/>
              </a:rPr>
              <a:t>distance</a:t>
            </a:r>
            <a:r>
              <a:rPr sz="2200" spc="-20" dirty="0">
                <a:latin typeface="Times New Roman"/>
                <a:cs typeface="Times New Roman"/>
              </a:rPr>
              <a:t> </a:t>
            </a:r>
            <a:r>
              <a:rPr sz="2200" i="1" dirty="0">
                <a:latin typeface="Times New Roman"/>
                <a:cs typeface="Times New Roman"/>
              </a:rPr>
              <a:t>D</a:t>
            </a:r>
            <a:r>
              <a:rPr sz="2200" i="1" spc="-45" dirty="0">
                <a:latin typeface="Times New Roman"/>
                <a:cs typeface="Times New Roman"/>
              </a:rPr>
              <a:t> </a:t>
            </a:r>
            <a:r>
              <a:rPr sz="2200" dirty="0">
                <a:latin typeface="Times New Roman"/>
                <a:cs typeface="Times New Roman"/>
              </a:rPr>
              <a:t>(two</a:t>
            </a:r>
            <a:r>
              <a:rPr sz="2200" spc="-40" dirty="0">
                <a:latin typeface="Times New Roman"/>
                <a:cs typeface="Times New Roman"/>
              </a:rPr>
              <a:t> </a:t>
            </a:r>
            <a:r>
              <a:rPr sz="2200" spc="-10" dirty="0">
                <a:latin typeface="Times New Roman"/>
                <a:cs typeface="Times New Roman"/>
              </a:rPr>
              <a:t>co-</a:t>
            </a:r>
            <a:r>
              <a:rPr sz="2200" dirty="0">
                <a:latin typeface="Times New Roman"/>
                <a:cs typeface="Times New Roman"/>
              </a:rPr>
              <a:t>channel</a:t>
            </a:r>
            <a:r>
              <a:rPr sz="2200" spc="-40" dirty="0">
                <a:latin typeface="Times New Roman"/>
                <a:cs typeface="Times New Roman"/>
              </a:rPr>
              <a:t> </a:t>
            </a:r>
            <a:r>
              <a:rPr sz="2200" spc="-10" dirty="0">
                <a:latin typeface="Times New Roman"/>
                <a:cs typeface="Times New Roman"/>
              </a:rPr>
              <a:t>cells)</a:t>
            </a:r>
            <a:endParaRPr sz="2200">
              <a:latin typeface="Times New Roman"/>
              <a:cs typeface="Times New Roman"/>
            </a:endParaRPr>
          </a:p>
          <a:p>
            <a:pPr marL="469900">
              <a:lnSpc>
                <a:spcPts val="2510"/>
              </a:lnSpc>
            </a:pPr>
            <a:r>
              <a:rPr sz="2200" dirty="0">
                <a:latin typeface="Times New Roman"/>
                <a:cs typeface="Times New Roman"/>
              </a:rPr>
              <a:t>and</a:t>
            </a:r>
            <a:r>
              <a:rPr sz="2200" spc="-35" dirty="0">
                <a:latin typeface="Times New Roman"/>
                <a:cs typeface="Times New Roman"/>
              </a:rPr>
              <a:t> </a:t>
            </a:r>
            <a:r>
              <a:rPr sz="2200" i="1" spc="-50" dirty="0">
                <a:latin typeface="Times New Roman"/>
                <a:cs typeface="Times New Roman"/>
              </a:rPr>
              <a:t>R</a:t>
            </a:r>
            <a:endParaRPr sz="2200">
              <a:latin typeface="Times New Roman"/>
              <a:cs typeface="Times New Roman"/>
            </a:endParaRPr>
          </a:p>
          <a:p>
            <a:pPr marL="469265" indent="-456565">
              <a:lnSpc>
                <a:spcPct val="100000"/>
              </a:lnSpc>
              <a:spcBef>
                <a:spcPts val="265"/>
              </a:spcBef>
              <a:buClr>
                <a:srgbClr val="0F1141"/>
              </a:buClr>
              <a:buAutoNum type="arabicPeriod" startAt="2"/>
              <a:tabLst>
                <a:tab pos="469265" algn="l"/>
              </a:tabLst>
            </a:pPr>
            <a:r>
              <a:rPr sz="2200" dirty="0">
                <a:latin typeface="Times New Roman"/>
                <a:cs typeface="Times New Roman"/>
              </a:rPr>
              <a:t>locating</a:t>
            </a:r>
            <a:r>
              <a:rPr sz="2200" spc="-55" dirty="0">
                <a:latin typeface="Times New Roman"/>
                <a:cs typeface="Times New Roman"/>
              </a:rPr>
              <a:t> </a:t>
            </a:r>
            <a:r>
              <a:rPr sz="2200" dirty="0">
                <a:latin typeface="Times New Roman"/>
                <a:cs typeface="Times New Roman"/>
              </a:rPr>
              <a:t>the</a:t>
            </a:r>
            <a:r>
              <a:rPr sz="2200" spc="-55" dirty="0">
                <a:latin typeface="Times New Roman"/>
                <a:cs typeface="Times New Roman"/>
              </a:rPr>
              <a:t> </a:t>
            </a:r>
            <a:r>
              <a:rPr sz="2200" spc="-10" dirty="0">
                <a:latin typeface="Times New Roman"/>
                <a:cs typeface="Times New Roman"/>
              </a:rPr>
              <a:t>co-</a:t>
            </a:r>
            <a:r>
              <a:rPr sz="2200" dirty="0">
                <a:latin typeface="Times New Roman"/>
                <a:cs typeface="Times New Roman"/>
              </a:rPr>
              <a:t>channel</a:t>
            </a:r>
            <a:r>
              <a:rPr sz="2200" spc="-50" dirty="0">
                <a:latin typeface="Times New Roman"/>
                <a:cs typeface="Times New Roman"/>
              </a:rPr>
              <a:t> </a:t>
            </a:r>
            <a:r>
              <a:rPr sz="2200" spc="-10" dirty="0">
                <a:latin typeface="Times New Roman"/>
                <a:cs typeface="Times New Roman"/>
              </a:rPr>
              <a:t>cells.</a:t>
            </a:r>
            <a:endParaRPr sz="2200">
              <a:latin typeface="Times New Roman"/>
              <a:cs typeface="Times New Roman"/>
            </a:endParaRPr>
          </a:p>
          <a:p>
            <a:pPr>
              <a:lnSpc>
                <a:spcPct val="100000"/>
              </a:lnSpc>
              <a:spcBef>
                <a:spcPts val="640"/>
              </a:spcBef>
            </a:pPr>
            <a:endParaRPr sz="2200">
              <a:latin typeface="Times New Roman"/>
              <a:cs typeface="Times New Roman"/>
            </a:endParaRPr>
          </a:p>
          <a:p>
            <a:pPr marL="12700">
              <a:lnSpc>
                <a:spcPts val="2510"/>
              </a:lnSpc>
            </a:pPr>
            <a:r>
              <a:rPr sz="2200" dirty="0">
                <a:latin typeface="Times New Roman"/>
                <a:cs typeface="Times New Roman"/>
              </a:rPr>
              <a:t>First</a:t>
            </a:r>
            <a:r>
              <a:rPr sz="2200" spc="-50" dirty="0">
                <a:latin typeface="Times New Roman"/>
                <a:cs typeface="Times New Roman"/>
              </a:rPr>
              <a:t> </a:t>
            </a:r>
            <a:r>
              <a:rPr sz="2200" dirty="0">
                <a:latin typeface="Times New Roman"/>
                <a:cs typeface="Times New Roman"/>
              </a:rPr>
              <a:t>let</a:t>
            </a:r>
            <a:r>
              <a:rPr sz="2200" spc="-35" dirty="0">
                <a:latin typeface="Times New Roman"/>
                <a:cs typeface="Times New Roman"/>
              </a:rPr>
              <a:t> </a:t>
            </a:r>
            <a:r>
              <a:rPr sz="2200" dirty="0">
                <a:latin typeface="Times New Roman"/>
                <a:cs typeface="Times New Roman"/>
              </a:rPr>
              <a:t>us</a:t>
            </a:r>
            <a:r>
              <a:rPr sz="2200" spc="-40" dirty="0">
                <a:latin typeface="Times New Roman"/>
                <a:cs typeface="Times New Roman"/>
              </a:rPr>
              <a:t> </a:t>
            </a:r>
            <a:r>
              <a:rPr sz="2200" dirty="0">
                <a:latin typeface="Times New Roman"/>
                <a:cs typeface="Times New Roman"/>
              </a:rPr>
              <a:t>derive</a:t>
            </a:r>
            <a:r>
              <a:rPr sz="2200" spc="-35" dirty="0">
                <a:latin typeface="Times New Roman"/>
                <a:cs typeface="Times New Roman"/>
              </a:rPr>
              <a:t> </a:t>
            </a:r>
            <a:r>
              <a:rPr sz="2200" dirty="0">
                <a:latin typeface="Times New Roman"/>
                <a:cs typeface="Times New Roman"/>
              </a:rPr>
              <a:t>the</a:t>
            </a:r>
            <a:r>
              <a:rPr sz="2200" spc="-35" dirty="0">
                <a:latin typeface="Times New Roman"/>
                <a:cs typeface="Times New Roman"/>
              </a:rPr>
              <a:t> </a:t>
            </a:r>
            <a:r>
              <a:rPr sz="2200" dirty="0">
                <a:latin typeface="Times New Roman"/>
                <a:cs typeface="Times New Roman"/>
              </a:rPr>
              <a:t>relation</a:t>
            </a:r>
            <a:r>
              <a:rPr sz="2200" spc="-30" dirty="0">
                <a:latin typeface="Times New Roman"/>
                <a:cs typeface="Times New Roman"/>
              </a:rPr>
              <a:t> </a:t>
            </a:r>
            <a:r>
              <a:rPr sz="2200" dirty="0">
                <a:latin typeface="Times New Roman"/>
                <a:cs typeface="Times New Roman"/>
              </a:rPr>
              <a:t>between</a:t>
            </a:r>
            <a:r>
              <a:rPr sz="2200" spc="-45" dirty="0">
                <a:latin typeface="Times New Roman"/>
                <a:cs typeface="Times New Roman"/>
              </a:rPr>
              <a:t> </a:t>
            </a:r>
            <a:r>
              <a:rPr sz="2200" dirty="0">
                <a:latin typeface="Times New Roman"/>
                <a:cs typeface="Times New Roman"/>
              </a:rPr>
              <a:t>distance</a:t>
            </a:r>
            <a:r>
              <a:rPr sz="2200" spc="-45" dirty="0">
                <a:latin typeface="Times New Roman"/>
                <a:cs typeface="Times New Roman"/>
              </a:rPr>
              <a:t> </a:t>
            </a:r>
            <a:r>
              <a:rPr sz="2200" dirty="0">
                <a:latin typeface="Times New Roman"/>
                <a:cs typeface="Times New Roman"/>
              </a:rPr>
              <a:t>(</a:t>
            </a:r>
            <a:r>
              <a:rPr sz="2200" i="1" dirty="0">
                <a:latin typeface="Times New Roman"/>
                <a:cs typeface="Times New Roman"/>
              </a:rPr>
              <a:t>D</a:t>
            </a:r>
            <a:r>
              <a:rPr sz="2200" dirty="0">
                <a:latin typeface="Times New Roman"/>
                <a:cs typeface="Times New Roman"/>
              </a:rPr>
              <a:t>)</a:t>
            </a:r>
            <a:r>
              <a:rPr sz="2200" spc="-20" dirty="0">
                <a:latin typeface="Times New Roman"/>
                <a:cs typeface="Times New Roman"/>
              </a:rPr>
              <a:t> </a:t>
            </a:r>
            <a:r>
              <a:rPr sz="2200" dirty="0">
                <a:latin typeface="Times New Roman"/>
                <a:cs typeface="Times New Roman"/>
              </a:rPr>
              <a:t>(two</a:t>
            </a:r>
            <a:r>
              <a:rPr sz="2200" spc="-35" dirty="0">
                <a:latin typeface="Times New Roman"/>
                <a:cs typeface="Times New Roman"/>
              </a:rPr>
              <a:t> </a:t>
            </a:r>
            <a:r>
              <a:rPr sz="2200" spc="-10" dirty="0">
                <a:latin typeface="Times New Roman"/>
                <a:cs typeface="Times New Roman"/>
              </a:rPr>
              <a:t>co-channel</a:t>
            </a:r>
            <a:endParaRPr sz="2200">
              <a:latin typeface="Times New Roman"/>
              <a:cs typeface="Times New Roman"/>
            </a:endParaRPr>
          </a:p>
          <a:p>
            <a:pPr marL="12700">
              <a:lnSpc>
                <a:spcPts val="2375"/>
              </a:lnSpc>
            </a:pPr>
            <a:r>
              <a:rPr sz="2200" dirty="0">
                <a:latin typeface="Times New Roman"/>
                <a:cs typeface="Times New Roman"/>
              </a:rPr>
              <a:t>cells)</a:t>
            </a:r>
            <a:r>
              <a:rPr sz="2200" spc="-30" dirty="0">
                <a:latin typeface="Times New Roman"/>
                <a:cs typeface="Times New Roman"/>
              </a:rPr>
              <a:t> </a:t>
            </a:r>
            <a:r>
              <a:rPr sz="2200" dirty="0">
                <a:latin typeface="Times New Roman"/>
                <a:cs typeface="Times New Roman"/>
              </a:rPr>
              <a:t>and</a:t>
            </a:r>
            <a:r>
              <a:rPr sz="2200" spc="-35" dirty="0">
                <a:latin typeface="Times New Roman"/>
                <a:cs typeface="Times New Roman"/>
              </a:rPr>
              <a:t> </a:t>
            </a:r>
            <a:r>
              <a:rPr sz="2200" i="1" dirty="0">
                <a:latin typeface="Times New Roman"/>
                <a:cs typeface="Times New Roman"/>
              </a:rPr>
              <a:t>R</a:t>
            </a:r>
            <a:r>
              <a:rPr sz="2200" i="1" spc="-35" dirty="0">
                <a:latin typeface="Times New Roman"/>
                <a:cs typeface="Times New Roman"/>
              </a:rPr>
              <a:t> </a:t>
            </a:r>
            <a:r>
              <a:rPr sz="2200" dirty="0">
                <a:latin typeface="Times New Roman"/>
                <a:cs typeface="Times New Roman"/>
              </a:rPr>
              <a:t>in</a:t>
            </a:r>
            <a:r>
              <a:rPr sz="2200" spc="-30" dirty="0">
                <a:latin typeface="Times New Roman"/>
                <a:cs typeface="Times New Roman"/>
              </a:rPr>
              <a:t> </a:t>
            </a:r>
            <a:r>
              <a:rPr sz="2200" dirty="0">
                <a:latin typeface="Times New Roman"/>
                <a:cs typeface="Times New Roman"/>
              </a:rPr>
              <a:t>a</a:t>
            </a:r>
            <a:r>
              <a:rPr sz="2200" spc="-40" dirty="0">
                <a:latin typeface="Times New Roman"/>
                <a:cs typeface="Times New Roman"/>
              </a:rPr>
              <a:t> </a:t>
            </a:r>
            <a:r>
              <a:rPr sz="2200" dirty="0">
                <a:latin typeface="Times New Roman"/>
                <a:cs typeface="Times New Roman"/>
              </a:rPr>
              <a:t>hexagonal</a:t>
            </a:r>
            <a:r>
              <a:rPr sz="2200" spc="-40" dirty="0">
                <a:latin typeface="Times New Roman"/>
                <a:cs typeface="Times New Roman"/>
              </a:rPr>
              <a:t> </a:t>
            </a:r>
            <a:r>
              <a:rPr sz="2200" spc="-10" dirty="0">
                <a:latin typeface="Times New Roman"/>
                <a:cs typeface="Times New Roman"/>
              </a:rPr>
              <a:t>geometry</a:t>
            </a:r>
            <a:endParaRPr sz="2200">
              <a:latin typeface="Times New Roman"/>
              <a:cs typeface="Times New Roman"/>
            </a:endParaRPr>
          </a:p>
          <a:p>
            <a:pPr marL="12700" marR="122555">
              <a:lnSpc>
                <a:spcPts val="2380"/>
              </a:lnSpc>
              <a:spcBef>
                <a:spcPts val="165"/>
              </a:spcBef>
            </a:pPr>
            <a:r>
              <a:rPr sz="2200" dirty="0">
                <a:latin typeface="Times New Roman"/>
                <a:cs typeface="Times New Roman"/>
              </a:rPr>
              <a:t>The</a:t>
            </a:r>
            <a:r>
              <a:rPr sz="2200" spc="-60" dirty="0">
                <a:latin typeface="Times New Roman"/>
                <a:cs typeface="Times New Roman"/>
              </a:rPr>
              <a:t> </a:t>
            </a:r>
            <a:r>
              <a:rPr sz="2200" dirty="0">
                <a:latin typeface="Times New Roman"/>
                <a:cs typeface="Times New Roman"/>
              </a:rPr>
              <a:t>actual</a:t>
            </a:r>
            <a:r>
              <a:rPr sz="2200" spc="-35" dirty="0">
                <a:latin typeface="Times New Roman"/>
                <a:cs typeface="Times New Roman"/>
              </a:rPr>
              <a:t> </a:t>
            </a:r>
            <a:r>
              <a:rPr sz="2200" spc="-10" dirty="0">
                <a:latin typeface="Times New Roman"/>
                <a:cs typeface="Times New Roman"/>
              </a:rPr>
              <a:t>centre-to-</a:t>
            </a:r>
            <a:r>
              <a:rPr sz="2200" dirty="0">
                <a:latin typeface="Times New Roman"/>
                <a:cs typeface="Times New Roman"/>
              </a:rPr>
              <a:t>centre</a:t>
            </a:r>
            <a:r>
              <a:rPr sz="2200" spc="-30" dirty="0">
                <a:latin typeface="Times New Roman"/>
                <a:cs typeface="Times New Roman"/>
              </a:rPr>
              <a:t> </a:t>
            </a:r>
            <a:r>
              <a:rPr sz="2200" dirty="0">
                <a:latin typeface="Times New Roman"/>
                <a:cs typeface="Times New Roman"/>
              </a:rPr>
              <a:t>distance</a:t>
            </a:r>
            <a:r>
              <a:rPr sz="2200" spc="-55" dirty="0">
                <a:latin typeface="Times New Roman"/>
                <a:cs typeface="Times New Roman"/>
              </a:rPr>
              <a:t> </a:t>
            </a:r>
            <a:r>
              <a:rPr sz="2200" dirty="0">
                <a:latin typeface="Times New Roman"/>
                <a:cs typeface="Times New Roman"/>
              </a:rPr>
              <a:t>between</a:t>
            </a:r>
            <a:r>
              <a:rPr sz="2200" spc="-55" dirty="0">
                <a:latin typeface="Times New Roman"/>
                <a:cs typeface="Times New Roman"/>
              </a:rPr>
              <a:t> </a:t>
            </a:r>
            <a:r>
              <a:rPr sz="2200" dirty="0">
                <a:latin typeface="Times New Roman"/>
                <a:cs typeface="Times New Roman"/>
              </a:rPr>
              <a:t>two</a:t>
            </a:r>
            <a:r>
              <a:rPr sz="2200" spc="-55" dirty="0">
                <a:latin typeface="Times New Roman"/>
                <a:cs typeface="Times New Roman"/>
              </a:rPr>
              <a:t> </a:t>
            </a:r>
            <a:r>
              <a:rPr sz="2200" dirty="0">
                <a:latin typeface="Times New Roman"/>
                <a:cs typeface="Times New Roman"/>
              </a:rPr>
              <a:t>adjacent</a:t>
            </a:r>
            <a:r>
              <a:rPr sz="2200" spc="-55" dirty="0">
                <a:latin typeface="Times New Roman"/>
                <a:cs typeface="Times New Roman"/>
              </a:rPr>
              <a:t> </a:t>
            </a:r>
            <a:r>
              <a:rPr sz="2200" spc="-10" dirty="0">
                <a:latin typeface="Times New Roman"/>
                <a:cs typeface="Times New Roman"/>
              </a:rPr>
              <a:t>hexagonal </a:t>
            </a:r>
            <a:r>
              <a:rPr sz="2200" dirty="0">
                <a:latin typeface="Times New Roman"/>
                <a:cs typeface="Times New Roman"/>
              </a:rPr>
              <a:t>cells</a:t>
            </a:r>
            <a:r>
              <a:rPr sz="2200" spc="-50" dirty="0">
                <a:latin typeface="Times New Roman"/>
                <a:cs typeface="Times New Roman"/>
              </a:rPr>
              <a:t> </a:t>
            </a:r>
            <a:r>
              <a:rPr sz="2200" spc="-25" dirty="0">
                <a:latin typeface="Times New Roman"/>
                <a:cs typeface="Times New Roman"/>
              </a:rPr>
              <a:t>is</a:t>
            </a:r>
            <a:endParaRPr sz="2200">
              <a:latin typeface="Times New Roman"/>
              <a:cs typeface="Times New Roman"/>
            </a:endParaRPr>
          </a:p>
          <a:p>
            <a:pPr marL="293370" algn="ctr">
              <a:lnSpc>
                <a:spcPts val="2565"/>
              </a:lnSpc>
              <a:tabLst>
                <a:tab pos="2101215" algn="l"/>
                <a:tab pos="2587625" algn="l"/>
              </a:tabLst>
            </a:pPr>
            <a:r>
              <a:rPr sz="2200" dirty="0">
                <a:latin typeface="Cambria Math"/>
                <a:cs typeface="Cambria Math"/>
              </a:rPr>
              <a:t>𝑑</a:t>
            </a:r>
            <a:r>
              <a:rPr sz="2200" spc="180" dirty="0">
                <a:latin typeface="Cambria Math"/>
                <a:cs typeface="Cambria Math"/>
              </a:rPr>
              <a:t> </a:t>
            </a:r>
            <a:r>
              <a:rPr sz="2200" dirty="0">
                <a:latin typeface="Cambria Math"/>
                <a:cs typeface="Cambria Math"/>
              </a:rPr>
              <a:t>=</a:t>
            </a:r>
            <a:r>
              <a:rPr sz="2200" spc="105" dirty="0">
                <a:latin typeface="Cambria Math"/>
                <a:cs typeface="Cambria Math"/>
              </a:rPr>
              <a:t> </a:t>
            </a:r>
            <a:r>
              <a:rPr sz="2200" dirty="0">
                <a:latin typeface="Cambria Math"/>
                <a:cs typeface="Cambria Math"/>
              </a:rPr>
              <a:t>2𝑅</a:t>
            </a:r>
            <a:r>
              <a:rPr sz="2200" spc="-55" dirty="0">
                <a:latin typeface="Cambria Math"/>
                <a:cs typeface="Cambria Math"/>
              </a:rPr>
              <a:t> </a:t>
            </a:r>
            <a:r>
              <a:rPr sz="2200" spc="-10" dirty="0">
                <a:latin typeface="Cambria Math"/>
                <a:cs typeface="Cambria Math"/>
              </a:rPr>
              <a:t>cos</a:t>
            </a:r>
            <a:r>
              <a:rPr sz="2200" spc="-110" dirty="0">
                <a:latin typeface="Cambria Math"/>
                <a:cs typeface="Cambria Math"/>
              </a:rPr>
              <a:t> </a:t>
            </a:r>
            <a:r>
              <a:rPr sz="2200" spc="-25" dirty="0">
                <a:latin typeface="Cambria Math"/>
                <a:cs typeface="Cambria Math"/>
              </a:rPr>
              <a:t>30</a:t>
            </a:r>
            <a:r>
              <a:rPr sz="2200" dirty="0">
                <a:latin typeface="Cambria Math"/>
                <a:cs typeface="Cambria Math"/>
              </a:rPr>
              <a:t>	</a:t>
            </a:r>
            <a:r>
              <a:rPr sz="2200" spc="-25" dirty="0">
                <a:latin typeface="Times New Roman"/>
                <a:cs typeface="Times New Roman"/>
              </a:rPr>
              <a:t>or</a:t>
            </a:r>
            <a:r>
              <a:rPr sz="2200" dirty="0">
                <a:latin typeface="Times New Roman"/>
                <a:cs typeface="Times New Roman"/>
              </a:rPr>
              <a:t>	</a:t>
            </a:r>
            <a:r>
              <a:rPr sz="2200" spc="-25" dirty="0">
                <a:latin typeface="Cambria Math"/>
                <a:cs typeface="Cambria Math"/>
              </a:rPr>
              <a:t>3𝑅</a:t>
            </a:r>
            <a:endParaRPr sz="2200">
              <a:latin typeface="Cambria Math"/>
              <a:cs typeface="Cambria Math"/>
            </a:endParaRPr>
          </a:p>
          <a:p>
            <a:pPr marL="12700">
              <a:lnSpc>
                <a:spcPct val="100000"/>
              </a:lnSpc>
              <a:spcBef>
                <a:spcPts val="265"/>
              </a:spcBef>
            </a:pPr>
            <a:r>
              <a:rPr sz="2200" dirty="0">
                <a:latin typeface="Times New Roman"/>
                <a:cs typeface="Times New Roman"/>
              </a:rPr>
              <a:t>where</a:t>
            </a:r>
            <a:r>
              <a:rPr sz="2200" spc="-25" dirty="0">
                <a:latin typeface="Times New Roman"/>
                <a:cs typeface="Times New Roman"/>
              </a:rPr>
              <a:t> </a:t>
            </a:r>
            <a:r>
              <a:rPr sz="2200" dirty="0">
                <a:latin typeface="Times New Roman"/>
                <a:cs typeface="Times New Roman"/>
              </a:rPr>
              <a:t>R</a:t>
            </a:r>
            <a:r>
              <a:rPr sz="2200" spc="-45" dirty="0">
                <a:latin typeface="Times New Roman"/>
                <a:cs typeface="Times New Roman"/>
              </a:rPr>
              <a:t> </a:t>
            </a:r>
            <a:r>
              <a:rPr sz="2200" dirty="0">
                <a:latin typeface="Times New Roman"/>
                <a:cs typeface="Times New Roman"/>
              </a:rPr>
              <a:t>is</a:t>
            </a:r>
            <a:r>
              <a:rPr sz="2200" spc="-30" dirty="0">
                <a:latin typeface="Times New Roman"/>
                <a:cs typeface="Times New Roman"/>
              </a:rPr>
              <a:t> </a:t>
            </a:r>
            <a:r>
              <a:rPr sz="2200" dirty="0">
                <a:latin typeface="Times New Roman"/>
                <a:cs typeface="Times New Roman"/>
              </a:rPr>
              <a:t>the</a:t>
            </a:r>
            <a:r>
              <a:rPr sz="2200" spc="-25" dirty="0">
                <a:latin typeface="Times New Roman"/>
                <a:cs typeface="Times New Roman"/>
              </a:rPr>
              <a:t> </a:t>
            </a:r>
            <a:r>
              <a:rPr sz="2200" dirty="0">
                <a:latin typeface="Times New Roman"/>
                <a:cs typeface="Times New Roman"/>
              </a:rPr>
              <a:t>centre</a:t>
            </a:r>
            <a:r>
              <a:rPr sz="2200" spc="-15" dirty="0">
                <a:latin typeface="Times New Roman"/>
                <a:cs typeface="Times New Roman"/>
              </a:rPr>
              <a:t> </a:t>
            </a:r>
            <a:r>
              <a:rPr sz="2200" dirty="0">
                <a:latin typeface="Times New Roman"/>
                <a:cs typeface="Times New Roman"/>
              </a:rPr>
              <a:t>to</a:t>
            </a:r>
            <a:r>
              <a:rPr sz="2200" spc="-30" dirty="0">
                <a:latin typeface="Times New Roman"/>
                <a:cs typeface="Times New Roman"/>
              </a:rPr>
              <a:t> </a:t>
            </a:r>
            <a:r>
              <a:rPr sz="2200" dirty="0">
                <a:latin typeface="Times New Roman"/>
                <a:cs typeface="Times New Roman"/>
              </a:rPr>
              <a:t>vertex</a:t>
            </a:r>
            <a:r>
              <a:rPr sz="2200" spc="-35" dirty="0">
                <a:latin typeface="Times New Roman"/>
                <a:cs typeface="Times New Roman"/>
              </a:rPr>
              <a:t> </a:t>
            </a:r>
            <a:r>
              <a:rPr sz="2200" spc="-10" dirty="0">
                <a:latin typeface="Times New Roman"/>
                <a:cs typeface="Times New Roman"/>
              </a:rPr>
              <a:t>distance</a:t>
            </a:r>
            <a:endParaRPr sz="2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83" y="0"/>
            <a:ext cx="8695817" cy="4267200"/>
          </a:xfrm>
          <a:prstGeom prst="rect">
            <a:avLst/>
          </a:prstGeom>
        </p:spPr>
      </p:pic>
      <p:sp>
        <p:nvSpPr>
          <p:cNvPr id="3" name="object 3"/>
          <p:cNvSpPr txBox="1"/>
          <p:nvPr/>
        </p:nvSpPr>
        <p:spPr>
          <a:xfrm>
            <a:off x="86664" y="4314901"/>
            <a:ext cx="6466205" cy="757555"/>
          </a:xfrm>
          <a:prstGeom prst="rect">
            <a:avLst/>
          </a:prstGeom>
        </p:spPr>
        <p:txBody>
          <a:bodyPr vert="horz" wrap="square" lIns="0" tIns="12700" rIns="0" bIns="0" rtlCol="0">
            <a:spAutoFit/>
          </a:bodyPr>
          <a:lstStyle/>
          <a:p>
            <a:pPr marL="12700">
              <a:lnSpc>
                <a:spcPct val="100000"/>
              </a:lnSpc>
              <a:spcBef>
                <a:spcPts val="100"/>
              </a:spcBef>
            </a:pPr>
            <a:r>
              <a:rPr sz="2400" i="1" dirty="0">
                <a:latin typeface="Times New Roman"/>
                <a:cs typeface="Times New Roman"/>
              </a:rPr>
              <a:t>OA</a:t>
            </a:r>
            <a:r>
              <a:rPr sz="2400" i="1" spc="-55" dirty="0">
                <a:latin typeface="Times New Roman"/>
                <a:cs typeface="Times New Roman"/>
              </a:rPr>
              <a:t> </a:t>
            </a:r>
            <a:r>
              <a:rPr sz="2400" dirty="0">
                <a:latin typeface="Times New Roman"/>
                <a:cs typeface="Times New Roman"/>
              </a:rPr>
              <a:t>= R,</a:t>
            </a:r>
            <a:r>
              <a:rPr sz="2400" spc="-15" dirty="0">
                <a:latin typeface="Times New Roman"/>
                <a:cs typeface="Times New Roman"/>
              </a:rPr>
              <a:t> </a:t>
            </a:r>
            <a:r>
              <a:rPr sz="2400" i="1" dirty="0">
                <a:latin typeface="Times New Roman"/>
                <a:cs typeface="Times New Roman"/>
              </a:rPr>
              <a:t>AB</a:t>
            </a:r>
            <a:r>
              <a:rPr sz="2400" i="1" spc="-5" dirty="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i="1" dirty="0">
                <a:latin typeface="Times New Roman"/>
                <a:cs typeface="Times New Roman"/>
              </a:rPr>
              <a:t>R</a:t>
            </a:r>
            <a:r>
              <a:rPr sz="2400" dirty="0">
                <a:latin typeface="Times New Roman"/>
                <a:cs typeface="Times New Roman"/>
              </a:rPr>
              <a:t>/2</a:t>
            </a:r>
            <a:r>
              <a:rPr sz="2400" spc="-1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i="1" dirty="0">
                <a:latin typeface="Times New Roman"/>
                <a:cs typeface="Times New Roman"/>
              </a:rPr>
              <a:t>OAP</a:t>
            </a:r>
            <a:r>
              <a:rPr sz="2400" i="1" spc="-4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a right-angled</a:t>
            </a:r>
            <a:r>
              <a:rPr sz="2400" spc="-40" dirty="0">
                <a:latin typeface="Times New Roman"/>
                <a:cs typeface="Times New Roman"/>
              </a:rPr>
              <a:t> </a:t>
            </a:r>
            <a:r>
              <a:rPr sz="2400" spc="-10" dirty="0">
                <a:latin typeface="Times New Roman"/>
                <a:cs typeface="Times New Roman"/>
              </a:rPr>
              <a:t>triangle</a:t>
            </a:r>
            <a:endParaRPr sz="2400">
              <a:latin typeface="Times New Roman"/>
              <a:cs typeface="Times New Roman"/>
            </a:endParaRPr>
          </a:p>
          <a:p>
            <a:pPr marL="12700">
              <a:lnSpc>
                <a:spcPct val="100000"/>
              </a:lnSpc>
            </a:pP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i="1" dirty="0">
                <a:latin typeface="Times New Roman"/>
                <a:cs typeface="Times New Roman"/>
              </a:rPr>
              <a:t>OAP</a:t>
            </a:r>
            <a:r>
              <a:rPr sz="2400" i="1" spc="-60" dirty="0">
                <a:latin typeface="Times New Roman"/>
                <a:cs typeface="Times New Roman"/>
              </a:rPr>
              <a:t> </a:t>
            </a:r>
            <a:r>
              <a:rPr sz="2400" dirty="0">
                <a:latin typeface="Times New Roman"/>
                <a:cs typeface="Times New Roman"/>
              </a:rPr>
              <a:t>triangle,</a:t>
            </a:r>
            <a:r>
              <a:rPr sz="2400" spc="-30" dirty="0">
                <a:latin typeface="Times New Roman"/>
                <a:cs typeface="Times New Roman"/>
              </a:rPr>
              <a:t> </a:t>
            </a:r>
            <a:r>
              <a:rPr sz="2400" i="1" dirty="0">
                <a:latin typeface="Times New Roman"/>
                <a:cs typeface="Times New Roman"/>
              </a:rPr>
              <a:t>OP</a:t>
            </a:r>
            <a:r>
              <a:rPr sz="2400" i="1" spc="-5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i="1" dirty="0">
                <a:latin typeface="Times New Roman"/>
                <a:cs typeface="Times New Roman"/>
              </a:rPr>
              <a:t>OA</a:t>
            </a:r>
            <a:r>
              <a:rPr sz="2400" i="1" spc="-50" dirty="0">
                <a:latin typeface="Times New Roman"/>
                <a:cs typeface="Times New Roman"/>
              </a:rPr>
              <a:t> </a:t>
            </a:r>
            <a:r>
              <a:rPr sz="2400" dirty="0">
                <a:latin typeface="Times New Roman"/>
                <a:cs typeface="Times New Roman"/>
              </a:rPr>
              <a:t>Sin</a:t>
            </a:r>
            <a:r>
              <a:rPr sz="2400" spc="-10" dirty="0">
                <a:latin typeface="Times New Roman"/>
                <a:cs typeface="Times New Roman"/>
              </a:rPr>
              <a:t> </a:t>
            </a:r>
            <a:r>
              <a:rPr sz="2400" dirty="0">
                <a:latin typeface="Times New Roman"/>
                <a:cs typeface="Times New Roman"/>
              </a:rPr>
              <a:t>60°</a:t>
            </a:r>
            <a:r>
              <a:rPr sz="2400" spc="-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(√3/2)</a:t>
            </a:r>
            <a:r>
              <a:rPr sz="2400" spc="-20" dirty="0">
                <a:latin typeface="Times New Roman"/>
                <a:cs typeface="Times New Roman"/>
              </a:rPr>
              <a:t> </a:t>
            </a:r>
            <a:r>
              <a:rPr sz="2400" i="1" spc="-25" dirty="0">
                <a:latin typeface="Times New Roman"/>
                <a:cs typeface="Times New Roman"/>
              </a:rPr>
              <a:t>R.</a:t>
            </a:r>
            <a:endParaRPr sz="2400">
              <a:latin typeface="Times New Roman"/>
              <a:cs typeface="Times New Roman"/>
            </a:endParaRPr>
          </a:p>
        </p:txBody>
      </p:sp>
      <p:sp>
        <p:nvSpPr>
          <p:cNvPr id="4" name="object 4"/>
          <p:cNvSpPr txBox="1"/>
          <p:nvPr/>
        </p:nvSpPr>
        <p:spPr>
          <a:xfrm>
            <a:off x="86664" y="5180838"/>
            <a:ext cx="3335020" cy="391160"/>
          </a:xfrm>
          <a:prstGeom prst="rect">
            <a:avLst/>
          </a:prstGeom>
        </p:spPr>
        <p:txBody>
          <a:bodyPr vert="horz" wrap="square" lIns="0" tIns="12700" rIns="0" bIns="0" rtlCol="0">
            <a:spAutoFit/>
          </a:bodyPr>
          <a:lstStyle/>
          <a:p>
            <a:pPr marL="12700">
              <a:lnSpc>
                <a:spcPct val="100000"/>
              </a:lnSpc>
              <a:spcBef>
                <a:spcPts val="100"/>
              </a:spcBef>
              <a:tabLst>
                <a:tab pos="2824480" algn="l"/>
              </a:tabLst>
            </a:pPr>
            <a:r>
              <a:rPr sz="2400" i="1" dirty="0">
                <a:latin typeface="Calibri"/>
                <a:cs typeface="Calibri"/>
              </a:rPr>
              <a:t>OQ</a:t>
            </a:r>
            <a:r>
              <a:rPr sz="2400" i="1" spc="-30" dirty="0">
                <a:latin typeface="Calibri"/>
                <a:cs typeface="Calibri"/>
              </a:rPr>
              <a:t> </a:t>
            </a:r>
            <a:r>
              <a:rPr sz="2400" dirty="0">
                <a:latin typeface="Calibri"/>
                <a:cs typeface="Calibri"/>
              </a:rPr>
              <a:t>=</a:t>
            </a:r>
            <a:r>
              <a:rPr sz="2400" spc="-20" dirty="0">
                <a:latin typeface="Calibri"/>
                <a:cs typeface="Calibri"/>
              </a:rPr>
              <a:t> </a:t>
            </a:r>
            <a:r>
              <a:rPr sz="2400" i="1" dirty="0">
                <a:latin typeface="Calibri"/>
                <a:cs typeface="Calibri"/>
              </a:rPr>
              <a:t>OP</a:t>
            </a:r>
            <a:r>
              <a:rPr sz="2400" i="1" spc="-30" dirty="0">
                <a:latin typeface="Calibri"/>
                <a:cs typeface="Calibri"/>
              </a:rPr>
              <a:t> </a:t>
            </a:r>
            <a:r>
              <a:rPr sz="2400" dirty="0">
                <a:latin typeface="Calibri"/>
                <a:cs typeface="Calibri"/>
              </a:rPr>
              <a:t>+</a:t>
            </a:r>
            <a:r>
              <a:rPr sz="2400" spc="-20" dirty="0">
                <a:latin typeface="Calibri"/>
                <a:cs typeface="Calibri"/>
              </a:rPr>
              <a:t> </a:t>
            </a:r>
            <a:r>
              <a:rPr sz="2400" i="1" spc="-25" dirty="0">
                <a:latin typeface="Calibri"/>
                <a:cs typeface="Calibri"/>
              </a:rPr>
              <a:t>PQ</a:t>
            </a:r>
            <a:r>
              <a:rPr sz="2400" i="1" dirty="0">
                <a:latin typeface="Calibri"/>
                <a:cs typeface="Calibri"/>
              </a:rPr>
              <a:t>	</a:t>
            </a:r>
            <a:r>
              <a:rPr sz="2400" dirty="0">
                <a:latin typeface="Cambria Math"/>
                <a:cs typeface="Cambria Math"/>
              </a:rPr>
              <a:t>𝑑</a:t>
            </a:r>
            <a:r>
              <a:rPr sz="2400" spc="190" dirty="0">
                <a:latin typeface="Cambria Math"/>
                <a:cs typeface="Cambria Math"/>
              </a:rPr>
              <a:t> </a:t>
            </a:r>
            <a:r>
              <a:rPr sz="2400" spc="-50" dirty="0">
                <a:latin typeface="Cambria Math"/>
                <a:cs typeface="Cambria Math"/>
              </a:rPr>
              <a:t>=</a:t>
            </a:r>
            <a:endParaRPr sz="2400">
              <a:latin typeface="Cambria Math"/>
              <a:cs typeface="Cambria Math"/>
            </a:endParaRPr>
          </a:p>
        </p:txBody>
      </p:sp>
      <p:sp>
        <p:nvSpPr>
          <p:cNvPr id="5" name="object 5"/>
          <p:cNvSpPr/>
          <p:nvPr/>
        </p:nvSpPr>
        <p:spPr>
          <a:xfrm>
            <a:off x="3519297" y="5129276"/>
            <a:ext cx="520700" cy="532130"/>
          </a:xfrm>
          <a:custGeom>
            <a:avLst/>
            <a:gdLst/>
            <a:ahLst/>
            <a:cxnLst/>
            <a:rect l="l" t="t" r="r" b="b"/>
            <a:pathLst>
              <a:path w="520700" h="532129">
                <a:moveTo>
                  <a:pt x="113411" y="41275"/>
                </a:moveTo>
                <a:lnTo>
                  <a:pt x="63919" y="65239"/>
                </a:lnTo>
                <a:lnTo>
                  <a:pt x="29464" y="122174"/>
                </a:lnTo>
                <a:lnTo>
                  <a:pt x="7340" y="195605"/>
                </a:lnTo>
                <a:lnTo>
                  <a:pt x="1828" y="236639"/>
                </a:lnTo>
                <a:lnTo>
                  <a:pt x="0" y="280543"/>
                </a:lnTo>
                <a:lnTo>
                  <a:pt x="1778" y="322973"/>
                </a:lnTo>
                <a:lnTo>
                  <a:pt x="1828" y="324294"/>
                </a:lnTo>
                <a:lnTo>
                  <a:pt x="7340" y="365252"/>
                </a:lnTo>
                <a:lnTo>
                  <a:pt x="16548" y="403453"/>
                </a:lnTo>
                <a:lnTo>
                  <a:pt x="45415" y="470319"/>
                </a:lnTo>
                <a:lnTo>
                  <a:pt x="84988" y="516902"/>
                </a:lnTo>
                <a:lnTo>
                  <a:pt x="108585" y="532104"/>
                </a:lnTo>
                <a:lnTo>
                  <a:pt x="113411" y="520192"/>
                </a:lnTo>
                <a:lnTo>
                  <a:pt x="94500" y="504926"/>
                </a:lnTo>
                <a:lnTo>
                  <a:pt x="77787" y="485000"/>
                </a:lnTo>
                <a:lnTo>
                  <a:pt x="50927" y="431165"/>
                </a:lnTo>
                <a:lnTo>
                  <a:pt x="34061" y="362051"/>
                </a:lnTo>
                <a:lnTo>
                  <a:pt x="29845" y="322973"/>
                </a:lnTo>
                <a:lnTo>
                  <a:pt x="28448" y="280924"/>
                </a:lnTo>
                <a:lnTo>
                  <a:pt x="29870" y="238112"/>
                </a:lnTo>
                <a:lnTo>
                  <a:pt x="34137" y="198615"/>
                </a:lnTo>
                <a:lnTo>
                  <a:pt x="51181" y="129540"/>
                </a:lnTo>
                <a:lnTo>
                  <a:pt x="78054" y="76314"/>
                </a:lnTo>
                <a:lnTo>
                  <a:pt x="94665" y="56515"/>
                </a:lnTo>
                <a:lnTo>
                  <a:pt x="113411" y="41275"/>
                </a:lnTo>
                <a:close/>
              </a:path>
              <a:path w="520700" h="532129">
                <a:moveTo>
                  <a:pt x="397510" y="271907"/>
                </a:moveTo>
                <a:lnTo>
                  <a:pt x="123190" y="271907"/>
                </a:lnTo>
                <a:lnTo>
                  <a:pt x="123190" y="291719"/>
                </a:lnTo>
                <a:lnTo>
                  <a:pt x="397510" y="291719"/>
                </a:lnTo>
                <a:lnTo>
                  <a:pt x="397510" y="271907"/>
                </a:lnTo>
                <a:close/>
              </a:path>
              <a:path w="520700" h="532129">
                <a:moveTo>
                  <a:pt x="397510" y="635"/>
                </a:moveTo>
                <a:lnTo>
                  <a:pt x="282321" y="635"/>
                </a:lnTo>
                <a:lnTo>
                  <a:pt x="282321" y="0"/>
                </a:lnTo>
                <a:lnTo>
                  <a:pt x="254635" y="0"/>
                </a:lnTo>
                <a:lnTo>
                  <a:pt x="201041" y="185420"/>
                </a:lnTo>
                <a:lnTo>
                  <a:pt x="162687" y="101092"/>
                </a:lnTo>
                <a:lnTo>
                  <a:pt x="127000" y="117475"/>
                </a:lnTo>
                <a:lnTo>
                  <a:pt x="130302" y="125603"/>
                </a:lnTo>
                <a:lnTo>
                  <a:pt x="148717" y="117475"/>
                </a:lnTo>
                <a:lnTo>
                  <a:pt x="193675" y="214122"/>
                </a:lnTo>
                <a:lnTo>
                  <a:pt x="204216" y="214122"/>
                </a:lnTo>
                <a:lnTo>
                  <a:pt x="262636" y="14478"/>
                </a:lnTo>
                <a:lnTo>
                  <a:pt x="397510" y="14351"/>
                </a:lnTo>
                <a:lnTo>
                  <a:pt x="397510" y="635"/>
                </a:lnTo>
                <a:close/>
              </a:path>
              <a:path w="520700" h="532129">
                <a:moveTo>
                  <a:pt x="520700" y="280543"/>
                </a:moveTo>
                <a:lnTo>
                  <a:pt x="518922" y="238112"/>
                </a:lnTo>
                <a:lnTo>
                  <a:pt x="513359" y="195605"/>
                </a:lnTo>
                <a:lnTo>
                  <a:pt x="504190" y="157441"/>
                </a:lnTo>
                <a:lnTo>
                  <a:pt x="475399" y="91084"/>
                </a:lnTo>
                <a:lnTo>
                  <a:pt x="435775" y="44653"/>
                </a:lnTo>
                <a:lnTo>
                  <a:pt x="412115" y="29337"/>
                </a:lnTo>
                <a:lnTo>
                  <a:pt x="407289" y="41275"/>
                </a:lnTo>
                <a:lnTo>
                  <a:pt x="426046" y="56515"/>
                </a:lnTo>
                <a:lnTo>
                  <a:pt x="442696" y="76314"/>
                </a:lnTo>
                <a:lnTo>
                  <a:pt x="469646" y="129540"/>
                </a:lnTo>
                <a:lnTo>
                  <a:pt x="486676" y="198615"/>
                </a:lnTo>
                <a:lnTo>
                  <a:pt x="490943" y="238112"/>
                </a:lnTo>
                <a:lnTo>
                  <a:pt x="492366" y="280543"/>
                </a:lnTo>
                <a:lnTo>
                  <a:pt x="492379" y="280924"/>
                </a:lnTo>
                <a:lnTo>
                  <a:pt x="490943" y="322973"/>
                </a:lnTo>
                <a:lnTo>
                  <a:pt x="486689" y="362051"/>
                </a:lnTo>
                <a:lnTo>
                  <a:pt x="469773" y="431165"/>
                </a:lnTo>
                <a:lnTo>
                  <a:pt x="442912" y="485000"/>
                </a:lnTo>
                <a:lnTo>
                  <a:pt x="407289" y="520192"/>
                </a:lnTo>
                <a:lnTo>
                  <a:pt x="412115" y="532104"/>
                </a:lnTo>
                <a:lnTo>
                  <a:pt x="456882" y="496316"/>
                </a:lnTo>
                <a:lnTo>
                  <a:pt x="491363" y="438912"/>
                </a:lnTo>
                <a:lnTo>
                  <a:pt x="513359" y="365252"/>
                </a:lnTo>
                <a:lnTo>
                  <a:pt x="518858" y="324294"/>
                </a:lnTo>
                <a:lnTo>
                  <a:pt x="520674" y="280924"/>
                </a:lnTo>
                <a:lnTo>
                  <a:pt x="520700" y="280543"/>
                </a:lnTo>
                <a:close/>
              </a:path>
            </a:pathLst>
          </a:custGeom>
          <a:solidFill>
            <a:srgbClr val="000000"/>
          </a:solidFill>
        </p:spPr>
        <p:txBody>
          <a:bodyPr wrap="square" lIns="0" tIns="0" rIns="0" bIns="0" rtlCol="0"/>
          <a:lstStyle/>
          <a:p>
            <a:endParaRPr/>
          </a:p>
        </p:txBody>
      </p:sp>
      <p:sp>
        <p:nvSpPr>
          <p:cNvPr id="6" name="object 6"/>
          <p:cNvSpPr/>
          <p:nvPr/>
        </p:nvSpPr>
        <p:spPr>
          <a:xfrm>
            <a:off x="4708017" y="5129276"/>
            <a:ext cx="522605" cy="532130"/>
          </a:xfrm>
          <a:custGeom>
            <a:avLst/>
            <a:gdLst/>
            <a:ahLst/>
            <a:cxnLst/>
            <a:rect l="l" t="t" r="r" b="b"/>
            <a:pathLst>
              <a:path w="522604" h="532129">
                <a:moveTo>
                  <a:pt x="113411" y="41275"/>
                </a:moveTo>
                <a:lnTo>
                  <a:pt x="63919" y="65239"/>
                </a:lnTo>
                <a:lnTo>
                  <a:pt x="29464" y="122174"/>
                </a:lnTo>
                <a:lnTo>
                  <a:pt x="7340" y="195605"/>
                </a:lnTo>
                <a:lnTo>
                  <a:pt x="1828" y="236639"/>
                </a:lnTo>
                <a:lnTo>
                  <a:pt x="0" y="280543"/>
                </a:lnTo>
                <a:lnTo>
                  <a:pt x="1778" y="322973"/>
                </a:lnTo>
                <a:lnTo>
                  <a:pt x="1828" y="324294"/>
                </a:lnTo>
                <a:lnTo>
                  <a:pt x="7340" y="365252"/>
                </a:lnTo>
                <a:lnTo>
                  <a:pt x="16548" y="403453"/>
                </a:lnTo>
                <a:lnTo>
                  <a:pt x="45415" y="470319"/>
                </a:lnTo>
                <a:lnTo>
                  <a:pt x="84988" y="516902"/>
                </a:lnTo>
                <a:lnTo>
                  <a:pt x="108585" y="532104"/>
                </a:lnTo>
                <a:lnTo>
                  <a:pt x="113411" y="520192"/>
                </a:lnTo>
                <a:lnTo>
                  <a:pt x="94500" y="504926"/>
                </a:lnTo>
                <a:lnTo>
                  <a:pt x="77787" y="485000"/>
                </a:lnTo>
                <a:lnTo>
                  <a:pt x="50927" y="431165"/>
                </a:lnTo>
                <a:lnTo>
                  <a:pt x="34061" y="362051"/>
                </a:lnTo>
                <a:lnTo>
                  <a:pt x="29845" y="322973"/>
                </a:lnTo>
                <a:lnTo>
                  <a:pt x="28448" y="280924"/>
                </a:lnTo>
                <a:lnTo>
                  <a:pt x="29870" y="238112"/>
                </a:lnTo>
                <a:lnTo>
                  <a:pt x="34137" y="198615"/>
                </a:lnTo>
                <a:lnTo>
                  <a:pt x="51181" y="129540"/>
                </a:lnTo>
                <a:lnTo>
                  <a:pt x="78054" y="76314"/>
                </a:lnTo>
                <a:lnTo>
                  <a:pt x="94665" y="56515"/>
                </a:lnTo>
                <a:lnTo>
                  <a:pt x="113411" y="41275"/>
                </a:lnTo>
                <a:close/>
              </a:path>
              <a:path w="522604" h="532129">
                <a:moveTo>
                  <a:pt x="397510" y="635"/>
                </a:moveTo>
                <a:lnTo>
                  <a:pt x="282321" y="635"/>
                </a:lnTo>
                <a:lnTo>
                  <a:pt x="282321" y="0"/>
                </a:lnTo>
                <a:lnTo>
                  <a:pt x="254635" y="0"/>
                </a:lnTo>
                <a:lnTo>
                  <a:pt x="201041" y="185420"/>
                </a:lnTo>
                <a:lnTo>
                  <a:pt x="162687" y="101092"/>
                </a:lnTo>
                <a:lnTo>
                  <a:pt x="127000" y="117475"/>
                </a:lnTo>
                <a:lnTo>
                  <a:pt x="130302" y="125603"/>
                </a:lnTo>
                <a:lnTo>
                  <a:pt x="148717" y="117475"/>
                </a:lnTo>
                <a:lnTo>
                  <a:pt x="193675" y="214122"/>
                </a:lnTo>
                <a:lnTo>
                  <a:pt x="204216" y="214122"/>
                </a:lnTo>
                <a:lnTo>
                  <a:pt x="262636" y="14478"/>
                </a:lnTo>
                <a:lnTo>
                  <a:pt x="397510" y="14351"/>
                </a:lnTo>
                <a:lnTo>
                  <a:pt x="397510" y="635"/>
                </a:lnTo>
                <a:close/>
              </a:path>
              <a:path w="522604" h="532129">
                <a:moveTo>
                  <a:pt x="522224" y="280543"/>
                </a:moveTo>
                <a:lnTo>
                  <a:pt x="520446" y="238112"/>
                </a:lnTo>
                <a:lnTo>
                  <a:pt x="514883" y="195605"/>
                </a:lnTo>
                <a:lnTo>
                  <a:pt x="505714" y="157441"/>
                </a:lnTo>
                <a:lnTo>
                  <a:pt x="476923" y="91084"/>
                </a:lnTo>
                <a:lnTo>
                  <a:pt x="437299" y="44653"/>
                </a:lnTo>
                <a:lnTo>
                  <a:pt x="413639" y="29337"/>
                </a:lnTo>
                <a:lnTo>
                  <a:pt x="408813" y="41275"/>
                </a:lnTo>
                <a:lnTo>
                  <a:pt x="427570" y="56515"/>
                </a:lnTo>
                <a:lnTo>
                  <a:pt x="444220" y="76314"/>
                </a:lnTo>
                <a:lnTo>
                  <a:pt x="471170" y="129540"/>
                </a:lnTo>
                <a:lnTo>
                  <a:pt x="488200" y="198615"/>
                </a:lnTo>
                <a:lnTo>
                  <a:pt x="492467" y="238112"/>
                </a:lnTo>
                <a:lnTo>
                  <a:pt x="493890" y="280543"/>
                </a:lnTo>
                <a:lnTo>
                  <a:pt x="493903" y="280924"/>
                </a:lnTo>
                <a:lnTo>
                  <a:pt x="492467" y="322973"/>
                </a:lnTo>
                <a:lnTo>
                  <a:pt x="488213" y="362051"/>
                </a:lnTo>
                <a:lnTo>
                  <a:pt x="471297" y="431165"/>
                </a:lnTo>
                <a:lnTo>
                  <a:pt x="444436" y="485000"/>
                </a:lnTo>
                <a:lnTo>
                  <a:pt x="408813" y="520192"/>
                </a:lnTo>
                <a:lnTo>
                  <a:pt x="413639" y="532104"/>
                </a:lnTo>
                <a:lnTo>
                  <a:pt x="458406" y="496316"/>
                </a:lnTo>
                <a:lnTo>
                  <a:pt x="492887" y="438912"/>
                </a:lnTo>
                <a:lnTo>
                  <a:pt x="514883" y="365252"/>
                </a:lnTo>
                <a:lnTo>
                  <a:pt x="520382" y="324294"/>
                </a:lnTo>
                <a:lnTo>
                  <a:pt x="522198" y="280924"/>
                </a:lnTo>
                <a:lnTo>
                  <a:pt x="522224" y="280543"/>
                </a:lnTo>
                <a:close/>
              </a:path>
            </a:pathLst>
          </a:custGeom>
          <a:solidFill>
            <a:srgbClr val="000000"/>
          </a:solidFill>
        </p:spPr>
        <p:txBody>
          <a:bodyPr wrap="square" lIns="0" tIns="0" rIns="0" bIns="0" rtlCol="0"/>
          <a:lstStyle/>
          <a:p>
            <a:endParaRPr/>
          </a:p>
        </p:txBody>
      </p:sp>
      <p:sp>
        <p:nvSpPr>
          <p:cNvPr id="7" name="object 7"/>
          <p:cNvSpPr txBox="1"/>
          <p:nvPr/>
        </p:nvSpPr>
        <p:spPr>
          <a:xfrm>
            <a:off x="3776598" y="5084826"/>
            <a:ext cx="1343660" cy="292735"/>
          </a:xfrm>
          <a:prstGeom prst="rect">
            <a:avLst/>
          </a:prstGeom>
        </p:spPr>
        <p:txBody>
          <a:bodyPr vert="horz" wrap="square" lIns="0" tIns="12700" rIns="0" bIns="0" rtlCol="0">
            <a:spAutoFit/>
          </a:bodyPr>
          <a:lstStyle/>
          <a:p>
            <a:pPr marL="12700">
              <a:lnSpc>
                <a:spcPct val="100000"/>
              </a:lnSpc>
              <a:spcBef>
                <a:spcPts val="100"/>
              </a:spcBef>
              <a:tabLst>
                <a:tab pos="1201420" algn="l"/>
              </a:tabLst>
            </a:pPr>
            <a:r>
              <a:rPr sz="1750" spc="-50" dirty="0">
                <a:latin typeface="Cambria Math"/>
                <a:cs typeface="Cambria Math"/>
              </a:rPr>
              <a:t>3</a:t>
            </a:r>
            <a:r>
              <a:rPr sz="1750" dirty="0">
                <a:latin typeface="Cambria Math"/>
                <a:cs typeface="Cambria Math"/>
              </a:rPr>
              <a:t>	</a:t>
            </a:r>
            <a:r>
              <a:rPr sz="1750" spc="-50" dirty="0">
                <a:latin typeface="Cambria Math"/>
                <a:cs typeface="Cambria Math"/>
              </a:rPr>
              <a:t>3</a:t>
            </a:r>
            <a:endParaRPr sz="1750">
              <a:latin typeface="Cambria Math"/>
              <a:cs typeface="Cambria Math"/>
            </a:endParaRPr>
          </a:p>
        </p:txBody>
      </p:sp>
      <p:sp>
        <p:nvSpPr>
          <p:cNvPr id="8" name="object 8"/>
          <p:cNvSpPr txBox="1"/>
          <p:nvPr/>
        </p:nvSpPr>
        <p:spPr>
          <a:xfrm>
            <a:off x="3703446" y="5417007"/>
            <a:ext cx="1343660" cy="292735"/>
          </a:xfrm>
          <a:prstGeom prst="rect">
            <a:avLst/>
          </a:prstGeom>
        </p:spPr>
        <p:txBody>
          <a:bodyPr vert="horz" wrap="square" lIns="0" tIns="12700" rIns="0" bIns="0" rtlCol="0">
            <a:spAutoFit/>
          </a:bodyPr>
          <a:lstStyle/>
          <a:p>
            <a:pPr marL="12700">
              <a:lnSpc>
                <a:spcPct val="100000"/>
              </a:lnSpc>
              <a:spcBef>
                <a:spcPts val="100"/>
              </a:spcBef>
              <a:tabLst>
                <a:tab pos="1201420" algn="l"/>
              </a:tabLst>
            </a:pPr>
            <a:r>
              <a:rPr sz="1750" spc="-50" dirty="0">
                <a:latin typeface="Cambria Math"/>
                <a:cs typeface="Cambria Math"/>
              </a:rPr>
              <a:t>2</a:t>
            </a:r>
            <a:r>
              <a:rPr sz="1750" dirty="0">
                <a:latin typeface="Cambria Math"/>
                <a:cs typeface="Cambria Math"/>
              </a:rPr>
              <a:t>	</a:t>
            </a:r>
            <a:r>
              <a:rPr sz="1750" spc="-50" dirty="0">
                <a:latin typeface="Cambria Math"/>
                <a:cs typeface="Cambria Math"/>
              </a:rPr>
              <a:t>2</a:t>
            </a:r>
            <a:endParaRPr sz="1750">
              <a:latin typeface="Cambria Math"/>
              <a:cs typeface="Cambria Math"/>
            </a:endParaRPr>
          </a:p>
        </p:txBody>
      </p:sp>
      <p:sp>
        <p:nvSpPr>
          <p:cNvPr id="9" name="object 9"/>
          <p:cNvSpPr/>
          <p:nvPr/>
        </p:nvSpPr>
        <p:spPr>
          <a:xfrm>
            <a:off x="4831207" y="5401183"/>
            <a:ext cx="274320" cy="20320"/>
          </a:xfrm>
          <a:custGeom>
            <a:avLst/>
            <a:gdLst/>
            <a:ahLst/>
            <a:cxnLst/>
            <a:rect l="l" t="t" r="r" b="b"/>
            <a:pathLst>
              <a:path w="274320" h="20320">
                <a:moveTo>
                  <a:pt x="274320" y="0"/>
                </a:moveTo>
                <a:lnTo>
                  <a:pt x="0" y="0"/>
                </a:lnTo>
                <a:lnTo>
                  <a:pt x="0" y="19812"/>
                </a:lnTo>
                <a:lnTo>
                  <a:pt x="274320" y="19812"/>
                </a:lnTo>
                <a:lnTo>
                  <a:pt x="274320" y="0"/>
                </a:lnTo>
                <a:close/>
              </a:path>
            </a:pathLst>
          </a:custGeom>
          <a:solidFill>
            <a:srgbClr val="000000"/>
          </a:solidFill>
        </p:spPr>
        <p:txBody>
          <a:bodyPr wrap="square" lIns="0" tIns="0" rIns="0" bIns="0" rtlCol="0"/>
          <a:lstStyle/>
          <a:p>
            <a:endParaRPr/>
          </a:p>
        </p:txBody>
      </p:sp>
      <p:sp>
        <p:nvSpPr>
          <p:cNvPr id="10" name="object 10"/>
          <p:cNvSpPr/>
          <p:nvPr/>
        </p:nvSpPr>
        <p:spPr>
          <a:xfrm>
            <a:off x="5910834" y="5230240"/>
            <a:ext cx="362585" cy="293370"/>
          </a:xfrm>
          <a:custGeom>
            <a:avLst/>
            <a:gdLst/>
            <a:ahLst/>
            <a:cxnLst/>
            <a:rect l="l" t="t" r="r" b="b"/>
            <a:pathLst>
              <a:path w="362585" h="293370">
                <a:moveTo>
                  <a:pt x="212851" y="0"/>
                </a:moveTo>
                <a:lnTo>
                  <a:pt x="174878" y="0"/>
                </a:lnTo>
                <a:lnTo>
                  <a:pt x="101345" y="253999"/>
                </a:lnTo>
                <a:lnTo>
                  <a:pt x="48767" y="138556"/>
                </a:lnTo>
                <a:lnTo>
                  <a:pt x="0" y="160908"/>
                </a:lnTo>
                <a:lnTo>
                  <a:pt x="4571" y="172084"/>
                </a:lnTo>
                <a:lnTo>
                  <a:pt x="29717" y="160908"/>
                </a:lnTo>
                <a:lnTo>
                  <a:pt x="91439" y="293369"/>
                </a:lnTo>
                <a:lnTo>
                  <a:pt x="105790" y="293369"/>
                </a:lnTo>
                <a:lnTo>
                  <a:pt x="185927" y="19811"/>
                </a:lnTo>
                <a:lnTo>
                  <a:pt x="194437" y="19811"/>
                </a:lnTo>
                <a:lnTo>
                  <a:pt x="194437" y="20065"/>
                </a:lnTo>
                <a:lnTo>
                  <a:pt x="362076" y="20065"/>
                </a:lnTo>
                <a:lnTo>
                  <a:pt x="362076" y="253"/>
                </a:lnTo>
                <a:lnTo>
                  <a:pt x="212851" y="253"/>
                </a:lnTo>
                <a:lnTo>
                  <a:pt x="212851" y="0"/>
                </a:lnTo>
                <a:close/>
              </a:path>
            </a:pathLst>
          </a:custGeom>
          <a:solidFill>
            <a:srgbClr val="000000"/>
          </a:solidFill>
        </p:spPr>
        <p:txBody>
          <a:bodyPr wrap="square" lIns="0" tIns="0" rIns="0" bIns="0" rtlCol="0"/>
          <a:lstStyle/>
          <a:p>
            <a:endParaRPr/>
          </a:p>
        </p:txBody>
      </p:sp>
      <p:sp>
        <p:nvSpPr>
          <p:cNvPr id="11" name="object 11"/>
          <p:cNvSpPr txBox="1"/>
          <p:nvPr/>
        </p:nvSpPr>
        <p:spPr>
          <a:xfrm>
            <a:off x="4104259" y="5180838"/>
            <a:ext cx="2378710" cy="391160"/>
          </a:xfrm>
          <a:prstGeom prst="rect">
            <a:avLst/>
          </a:prstGeom>
        </p:spPr>
        <p:txBody>
          <a:bodyPr vert="horz" wrap="square" lIns="0" tIns="12700" rIns="0" bIns="0" rtlCol="0">
            <a:spAutoFit/>
          </a:bodyPr>
          <a:lstStyle/>
          <a:p>
            <a:pPr marL="12700">
              <a:lnSpc>
                <a:spcPct val="100000"/>
              </a:lnSpc>
              <a:spcBef>
                <a:spcPts val="100"/>
              </a:spcBef>
              <a:tabLst>
                <a:tab pos="1202690" algn="l"/>
                <a:tab pos="2001520" algn="l"/>
              </a:tabLst>
            </a:pPr>
            <a:r>
              <a:rPr sz="2400" dirty="0">
                <a:latin typeface="Cambria Math"/>
                <a:cs typeface="Cambria Math"/>
              </a:rPr>
              <a:t>𝑅</a:t>
            </a:r>
            <a:r>
              <a:rPr sz="2400" spc="80" dirty="0">
                <a:latin typeface="Cambria Math"/>
                <a:cs typeface="Cambria Math"/>
              </a:rPr>
              <a:t> </a:t>
            </a:r>
            <a:r>
              <a:rPr sz="2400" spc="-50" dirty="0">
                <a:latin typeface="Cambria Math"/>
                <a:cs typeface="Cambria Math"/>
              </a:rPr>
              <a:t>+</a:t>
            </a:r>
            <a:r>
              <a:rPr sz="2400" dirty="0">
                <a:latin typeface="Cambria Math"/>
                <a:cs typeface="Cambria Math"/>
              </a:rPr>
              <a:t>	𝑅</a:t>
            </a:r>
            <a:r>
              <a:rPr sz="2400" spc="185" dirty="0">
                <a:latin typeface="Cambria Math"/>
                <a:cs typeface="Cambria Math"/>
              </a:rPr>
              <a:t> </a:t>
            </a:r>
            <a:r>
              <a:rPr sz="2400" spc="-50" dirty="0">
                <a:latin typeface="Cambria Math"/>
                <a:cs typeface="Cambria Math"/>
              </a:rPr>
              <a:t>=</a:t>
            </a:r>
            <a:r>
              <a:rPr sz="2400" dirty="0">
                <a:latin typeface="Cambria Math"/>
                <a:cs typeface="Cambria Math"/>
              </a:rPr>
              <a:t>	</a:t>
            </a:r>
            <a:r>
              <a:rPr sz="2400" spc="-25" dirty="0">
                <a:latin typeface="Cambria Math"/>
                <a:cs typeface="Cambria Math"/>
              </a:rPr>
              <a:t>3𝑅</a:t>
            </a:r>
            <a:endParaRPr sz="2400">
              <a:latin typeface="Cambria Math"/>
              <a:cs typeface="Cambria Math"/>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21</a:t>
            </a:fld>
            <a:endParaRPr spc="-25" dirty="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2" name="object 12"/>
          <p:cNvSpPr txBox="1"/>
          <p:nvPr/>
        </p:nvSpPr>
        <p:spPr>
          <a:xfrm>
            <a:off x="61264" y="5660847"/>
            <a:ext cx="8453120" cy="391160"/>
          </a:xfrm>
          <a:prstGeom prst="rect">
            <a:avLst/>
          </a:prstGeom>
        </p:spPr>
        <p:txBody>
          <a:bodyPr vert="horz" wrap="square" lIns="0" tIns="12700" rIns="0" bIns="0" rtlCol="0">
            <a:spAutoFit/>
          </a:bodyPr>
          <a:lstStyle/>
          <a:p>
            <a:pPr marL="38100">
              <a:lnSpc>
                <a:spcPct val="100000"/>
              </a:lnSpc>
              <a:spcBef>
                <a:spcPts val="100"/>
              </a:spcBef>
            </a:pPr>
            <a:r>
              <a:rPr sz="2400" dirty="0">
                <a:latin typeface="Calibri"/>
                <a:cs typeface="Calibri"/>
              </a:rPr>
              <a:t>Area</a:t>
            </a:r>
            <a:r>
              <a:rPr sz="2400" spc="-6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small</a:t>
            </a:r>
            <a:r>
              <a:rPr sz="2400" spc="-65" dirty="0">
                <a:latin typeface="Calibri"/>
                <a:cs typeface="Calibri"/>
              </a:rPr>
              <a:t> </a:t>
            </a:r>
            <a:r>
              <a:rPr sz="2400" dirty="0">
                <a:latin typeface="Calibri"/>
                <a:cs typeface="Calibri"/>
              </a:rPr>
              <a:t>hexagon</a:t>
            </a:r>
            <a:r>
              <a:rPr sz="2400" spc="-50" dirty="0">
                <a:latin typeface="Calibri"/>
                <a:cs typeface="Calibri"/>
              </a:rPr>
              <a:t> </a:t>
            </a:r>
            <a:r>
              <a:rPr sz="2400" dirty="0">
                <a:latin typeface="Calibri"/>
                <a:cs typeface="Calibri"/>
              </a:rPr>
              <a:t>with</a:t>
            </a:r>
            <a:r>
              <a:rPr sz="2400" spc="-70" dirty="0">
                <a:latin typeface="Calibri"/>
                <a:cs typeface="Calibri"/>
              </a:rPr>
              <a:t> </a:t>
            </a:r>
            <a:r>
              <a:rPr sz="2400" dirty="0">
                <a:latin typeface="Calibri"/>
                <a:cs typeface="Calibri"/>
              </a:rPr>
              <a:t>radius</a:t>
            </a:r>
            <a:r>
              <a:rPr sz="2400" spc="-50" dirty="0">
                <a:latin typeface="Calibri"/>
                <a:cs typeface="Calibri"/>
              </a:rPr>
              <a:t> </a:t>
            </a:r>
            <a:r>
              <a:rPr sz="2400" dirty="0">
                <a:latin typeface="Calibri"/>
                <a:cs typeface="Calibri"/>
              </a:rPr>
              <a:t>R=6xrR/2=((3√3)/2)</a:t>
            </a:r>
            <a:r>
              <a:rPr sz="2400" dirty="0">
                <a:latin typeface="Cambria Math"/>
                <a:cs typeface="Cambria Math"/>
              </a:rPr>
              <a:t>R</a:t>
            </a:r>
            <a:r>
              <a:rPr sz="2400" baseline="24305" dirty="0">
                <a:latin typeface="Cambria Math"/>
                <a:cs typeface="Cambria Math"/>
              </a:rPr>
              <a:t>2</a:t>
            </a:r>
            <a:r>
              <a:rPr sz="2400" spc="367" baseline="24305" dirty="0">
                <a:latin typeface="Cambria Math"/>
                <a:cs typeface="Cambria Math"/>
              </a:rPr>
              <a:t> </a:t>
            </a:r>
            <a:r>
              <a:rPr sz="2400" dirty="0">
                <a:latin typeface="Cambria Math"/>
                <a:cs typeface="Cambria Math"/>
              </a:rPr>
              <a:t>=</a:t>
            </a:r>
            <a:r>
              <a:rPr sz="2400" spc="75" dirty="0">
                <a:latin typeface="Cambria Math"/>
                <a:cs typeface="Cambria Math"/>
              </a:rPr>
              <a:t> </a:t>
            </a:r>
            <a:r>
              <a:rPr sz="2400" spc="-10" dirty="0">
                <a:latin typeface="Cambria Math"/>
                <a:cs typeface="Cambria Math"/>
              </a:rPr>
              <a:t>2√3𝑟</a:t>
            </a:r>
            <a:r>
              <a:rPr sz="2625" spc="-15" baseline="28571" dirty="0">
                <a:latin typeface="Cambria Math"/>
                <a:cs typeface="Cambria Math"/>
              </a:rPr>
              <a:t>2</a:t>
            </a:r>
            <a:endParaRPr sz="2625" baseline="28571">
              <a:latin typeface="Cambria Math"/>
              <a:cs typeface="Cambria Math"/>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41005" cy="3171825"/>
          </a:xfrm>
          <a:prstGeom prst="rect">
            <a:avLst/>
          </a:prstGeom>
        </p:spPr>
        <p:txBody>
          <a:bodyPr vert="horz" wrap="square" lIns="0" tIns="12700" rIns="0" bIns="0" rtlCol="0">
            <a:spAutoFit/>
          </a:bodyPr>
          <a:lstStyle/>
          <a:p>
            <a:pPr marL="355600" marR="38735" indent="-342900">
              <a:lnSpc>
                <a:spcPct val="100000"/>
              </a:lnSpc>
              <a:spcBef>
                <a:spcPts val="100"/>
              </a:spcBef>
              <a:buClr>
                <a:srgbClr val="0F1141"/>
              </a:buClr>
              <a:buFont typeface="Arial MT"/>
              <a:buChar char="•"/>
              <a:tabLst>
                <a:tab pos="355600" algn="l"/>
              </a:tabLst>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objectives</a:t>
            </a:r>
            <a:r>
              <a:rPr sz="2400" spc="-4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channel</a:t>
            </a:r>
            <a:r>
              <a:rPr sz="2400" spc="-25" dirty="0">
                <a:latin typeface="Times New Roman"/>
                <a:cs typeface="Times New Roman"/>
              </a:rPr>
              <a:t> </a:t>
            </a:r>
            <a:r>
              <a:rPr sz="2400" dirty="0">
                <a:latin typeface="Times New Roman"/>
                <a:cs typeface="Times New Roman"/>
              </a:rPr>
              <a:t>assignment</a:t>
            </a:r>
            <a:r>
              <a:rPr sz="2400" spc="-25" dirty="0">
                <a:latin typeface="Times New Roman"/>
                <a:cs typeface="Times New Roman"/>
              </a:rPr>
              <a:t> </a:t>
            </a:r>
            <a:r>
              <a:rPr sz="2400" dirty="0">
                <a:latin typeface="Times New Roman"/>
                <a:cs typeface="Times New Roman"/>
              </a:rPr>
              <a:t>strategies</a:t>
            </a:r>
            <a:r>
              <a:rPr sz="2400" spc="-4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10" dirty="0">
                <a:latin typeface="Times New Roman"/>
                <a:cs typeface="Times New Roman"/>
              </a:rPr>
              <a:t>increase </a:t>
            </a:r>
            <a:r>
              <a:rPr sz="2400" dirty="0">
                <a:latin typeface="Times New Roman"/>
                <a:cs typeface="Times New Roman"/>
              </a:rPr>
              <a:t>capacity</a:t>
            </a:r>
            <a:r>
              <a:rPr sz="2400" spc="-5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minimize</a:t>
            </a:r>
            <a:r>
              <a:rPr sz="2400" spc="-20" dirty="0">
                <a:latin typeface="Times New Roman"/>
                <a:cs typeface="Times New Roman"/>
              </a:rPr>
              <a:t> </a:t>
            </a:r>
            <a:r>
              <a:rPr sz="2400" spc="-10" dirty="0">
                <a:latin typeface="Times New Roman"/>
                <a:cs typeface="Times New Roman"/>
              </a:rPr>
              <a:t>interference.</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Channel</a:t>
            </a:r>
            <a:r>
              <a:rPr sz="2400" spc="-25" dirty="0">
                <a:latin typeface="Times New Roman"/>
                <a:cs typeface="Times New Roman"/>
              </a:rPr>
              <a:t> </a:t>
            </a:r>
            <a:r>
              <a:rPr sz="2400" dirty="0">
                <a:latin typeface="Times New Roman"/>
                <a:cs typeface="Times New Roman"/>
              </a:rPr>
              <a:t>assignment</a:t>
            </a:r>
            <a:r>
              <a:rPr sz="2400" spc="-20" dirty="0">
                <a:latin typeface="Times New Roman"/>
                <a:cs typeface="Times New Roman"/>
              </a:rPr>
              <a:t> </a:t>
            </a:r>
            <a:r>
              <a:rPr sz="2400" dirty="0">
                <a:latin typeface="Times New Roman"/>
                <a:cs typeface="Times New Roman"/>
              </a:rPr>
              <a:t>strategies</a:t>
            </a:r>
            <a:r>
              <a:rPr sz="2400" spc="-5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classified</a:t>
            </a:r>
            <a:r>
              <a:rPr sz="2400" spc="-50"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either</a:t>
            </a:r>
            <a:r>
              <a:rPr sz="2400" spc="-30" dirty="0">
                <a:latin typeface="Times New Roman"/>
                <a:cs typeface="Times New Roman"/>
              </a:rPr>
              <a:t> </a:t>
            </a:r>
            <a:r>
              <a:rPr sz="2400" dirty="0">
                <a:latin typeface="Times New Roman"/>
                <a:cs typeface="Times New Roman"/>
              </a:rPr>
              <a:t>fixed</a:t>
            </a:r>
            <a:r>
              <a:rPr sz="2400" spc="-30" dirty="0">
                <a:latin typeface="Times New Roman"/>
                <a:cs typeface="Times New Roman"/>
              </a:rPr>
              <a:t> </a:t>
            </a:r>
            <a:r>
              <a:rPr sz="2400" spc="-25" dirty="0">
                <a:latin typeface="Times New Roman"/>
                <a:cs typeface="Times New Roman"/>
              </a:rPr>
              <a:t>and </a:t>
            </a:r>
            <a:r>
              <a:rPr sz="2400" spc="-10" dirty="0">
                <a:latin typeface="Times New Roman"/>
                <a:cs typeface="Times New Roman"/>
              </a:rPr>
              <a:t>dynamic.</a:t>
            </a:r>
            <a:endParaRPr sz="2400">
              <a:latin typeface="Times New Roman"/>
              <a:cs typeface="Times New Roman"/>
            </a:endParaRPr>
          </a:p>
          <a:p>
            <a:pPr marL="355600" marR="137795"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fixed</a:t>
            </a:r>
            <a:r>
              <a:rPr sz="2400" spc="-15" dirty="0">
                <a:latin typeface="Times New Roman"/>
                <a:cs typeface="Times New Roman"/>
              </a:rPr>
              <a:t> </a:t>
            </a:r>
            <a:r>
              <a:rPr sz="2400" dirty="0">
                <a:latin typeface="Times New Roman"/>
                <a:cs typeface="Times New Roman"/>
              </a:rPr>
              <a:t>channel</a:t>
            </a:r>
            <a:r>
              <a:rPr sz="2400" spc="-40" dirty="0">
                <a:latin typeface="Times New Roman"/>
                <a:cs typeface="Times New Roman"/>
              </a:rPr>
              <a:t> </a:t>
            </a:r>
            <a:r>
              <a:rPr sz="2400" dirty="0">
                <a:latin typeface="Times New Roman"/>
                <a:cs typeface="Times New Roman"/>
              </a:rPr>
              <a:t>assignment</a:t>
            </a:r>
            <a:r>
              <a:rPr sz="2400" spc="-25" dirty="0">
                <a:latin typeface="Times New Roman"/>
                <a:cs typeface="Times New Roman"/>
              </a:rPr>
              <a:t> </a:t>
            </a:r>
            <a:r>
              <a:rPr sz="2400" spc="-10" dirty="0">
                <a:latin typeface="Times New Roman"/>
                <a:cs typeface="Times New Roman"/>
              </a:rPr>
              <a:t>strategy,</a:t>
            </a:r>
            <a:r>
              <a:rPr sz="2400" spc="-35" dirty="0">
                <a:latin typeface="Times New Roman"/>
                <a:cs typeface="Times New Roman"/>
              </a:rPr>
              <a:t> </a:t>
            </a:r>
            <a:r>
              <a:rPr sz="2400" dirty="0">
                <a:latin typeface="Times New Roman"/>
                <a:cs typeface="Times New Roman"/>
              </a:rPr>
              <a:t>each</a:t>
            </a:r>
            <a:r>
              <a:rPr sz="2400" spc="-35" dirty="0">
                <a:latin typeface="Times New Roman"/>
                <a:cs typeface="Times New Roman"/>
              </a:rPr>
              <a:t> </a:t>
            </a:r>
            <a:r>
              <a:rPr sz="2400" dirty="0">
                <a:latin typeface="Times New Roman"/>
                <a:cs typeface="Times New Roman"/>
              </a:rPr>
              <a:t>cell</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allocated</a:t>
            </a:r>
            <a:r>
              <a:rPr sz="2400" spc="-50" dirty="0">
                <a:latin typeface="Times New Roman"/>
                <a:cs typeface="Times New Roman"/>
              </a:rPr>
              <a:t> a </a:t>
            </a:r>
            <a:r>
              <a:rPr sz="2400" dirty="0">
                <a:latin typeface="Times New Roman"/>
                <a:cs typeface="Times New Roman"/>
              </a:rPr>
              <a:t>predetermined</a:t>
            </a:r>
            <a:r>
              <a:rPr sz="2400" spc="-40" dirty="0">
                <a:latin typeface="Times New Roman"/>
                <a:cs typeface="Times New Roman"/>
              </a:rPr>
              <a:t> </a:t>
            </a:r>
            <a:r>
              <a:rPr sz="2400" dirty="0">
                <a:latin typeface="Times New Roman"/>
                <a:cs typeface="Times New Roman"/>
              </a:rPr>
              <a:t>set</a:t>
            </a:r>
            <a:r>
              <a:rPr sz="2400" spc="-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voice</a:t>
            </a:r>
            <a:r>
              <a:rPr sz="2400" spc="-25" dirty="0">
                <a:latin typeface="Times New Roman"/>
                <a:cs typeface="Times New Roman"/>
              </a:rPr>
              <a:t> </a:t>
            </a:r>
            <a:r>
              <a:rPr sz="2400" spc="-10" dirty="0">
                <a:latin typeface="Times New Roman"/>
                <a:cs typeface="Times New Roman"/>
              </a:rPr>
              <a:t>channel.</a:t>
            </a:r>
            <a:endParaRPr sz="2400">
              <a:latin typeface="Times New Roman"/>
              <a:cs typeface="Times New Roman"/>
            </a:endParaRPr>
          </a:p>
          <a:p>
            <a:pPr marL="355600" marR="92710" indent="-342900">
              <a:lnSpc>
                <a:spcPct val="100000"/>
              </a:lnSpc>
              <a:spcBef>
                <a:spcPts val="580"/>
              </a:spcBef>
              <a:buClr>
                <a:srgbClr val="0F1141"/>
              </a:buClr>
              <a:buFont typeface="Arial MT"/>
              <a:buChar char="•"/>
              <a:tabLst>
                <a:tab pos="355600" algn="l"/>
              </a:tabLst>
            </a:pPr>
            <a:r>
              <a:rPr sz="2400" dirty="0">
                <a:latin typeface="Times New Roman"/>
                <a:cs typeface="Times New Roman"/>
              </a:rPr>
              <a:t>If</a:t>
            </a:r>
            <a:r>
              <a:rPr sz="2400" spc="-5" dirty="0">
                <a:latin typeface="Times New Roman"/>
                <a:cs typeface="Times New Roman"/>
              </a:rPr>
              <a:t> </a:t>
            </a:r>
            <a:r>
              <a:rPr sz="2400" dirty="0">
                <a:latin typeface="Times New Roman"/>
                <a:cs typeface="Times New Roman"/>
              </a:rPr>
              <a:t>all</a:t>
            </a:r>
            <a:r>
              <a:rPr sz="2400" spc="-2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channels</a:t>
            </a:r>
            <a:r>
              <a:rPr sz="2400" spc="-2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cell</a:t>
            </a:r>
            <a:r>
              <a:rPr sz="2400" spc="-20"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occupied,</a:t>
            </a:r>
            <a:r>
              <a:rPr sz="2400" spc="-2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call</a:t>
            </a:r>
            <a:r>
              <a:rPr sz="2400" spc="-20" dirty="0">
                <a:latin typeface="Times New Roman"/>
                <a:cs typeface="Times New Roman"/>
              </a:rPr>
              <a:t> </a:t>
            </a:r>
            <a:r>
              <a:rPr sz="2400" dirty="0">
                <a:latin typeface="Times New Roman"/>
                <a:cs typeface="Times New Roman"/>
              </a:rPr>
              <a:t>is </a:t>
            </a:r>
            <a:r>
              <a:rPr sz="2400" spc="-10" dirty="0">
                <a:latin typeface="Times New Roman"/>
                <a:cs typeface="Times New Roman"/>
              </a:rPr>
              <a:t>blocked. </a:t>
            </a:r>
            <a:r>
              <a:rPr sz="2400" dirty="0">
                <a:latin typeface="Times New Roman"/>
                <a:cs typeface="Times New Roman"/>
              </a:rPr>
              <a:t>A</a:t>
            </a:r>
            <a:r>
              <a:rPr sz="2400" spc="-140" dirty="0">
                <a:latin typeface="Times New Roman"/>
                <a:cs typeface="Times New Roman"/>
              </a:rPr>
              <a:t> </a:t>
            </a:r>
            <a:r>
              <a:rPr sz="2400" dirty="0">
                <a:latin typeface="Times New Roman"/>
                <a:cs typeface="Times New Roman"/>
              </a:rPr>
              <a:t>variation</a:t>
            </a:r>
            <a:r>
              <a:rPr sz="2400" spc="-5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borrowing</a:t>
            </a:r>
            <a:r>
              <a:rPr sz="2400" spc="-10" dirty="0">
                <a:latin typeface="Times New Roman"/>
                <a:cs typeface="Times New Roman"/>
              </a:rPr>
              <a:t> strategy.</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82305" rIns="0" bIns="0" rtlCol="0">
            <a:spAutoFit/>
          </a:bodyPr>
          <a:lstStyle/>
          <a:p>
            <a:pPr marL="12700" marR="5080">
              <a:lnSpc>
                <a:spcPts val="3600"/>
              </a:lnSpc>
              <a:spcBef>
                <a:spcPts val="819"/>
              </a:spcBef>
            </a:pPr>
            <a:r>
              <a:rPr spc="-155" dirty="0"/>
              <a:t>Channel</a:t>
            </a:r>
            <a:r>
              <a:rPr spc="-355" dirty="0"/>
              <a:t> </a:t>
            </a:r>
            <a:r>
              <a:rPr spc="-140" dirty="0"/>
              <a:t>Assignment </a:t>
            </a:r>
            <a:r>
              <a:rPr spc="-55" dirty="0"/>
              <a:t>Strategies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04809" cy="2660015"/>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dynamic</a:t>
            </a:r>
            <a:r>
              <a:rPr sz="2400" spc="-10" dirty="0">
                <a:latin typeface="Times New Roman"/>
                <a:cs typeface="Times New Roman"/>
              </a:rPr>
              <a:t> </a:t>
            </a:r>
            <a:r>
              <a:rPr sz="2400" dirty="0">
                <a:latin typeface="Times New Roman"/>
                <a:cs typeface="Times New Roman"/>
              </a:rPr>
              <a:t>channel</a:t>
            </a:r>
            <a:r>
              <a:rPr sz="2400" spc="-25" dirty="0">
                <a:latin typeface="Times New Roman"/>
                <a:cs typeface="Times New Roman"/>
              </a:rPr>
              <a:t> </a:t>
            </a:r>
            <a:r>
              <a:rPr sz="2400" spc="-10" dirty="0">
                <a:latin typeface="Times New Roman"/>
                <a:cs typeface="Times New Roman"/>
              </a:rPr>
              <a:t>strategy,</a:t>
            </a:r>
            <a:r>
              <a:rPr sz="2400" spc="-50" dirty="0">
                <a:latin typeface="Times New Roman"/>
                <a:cs typeface="Times New Roman"/>
              </a:rPr>
              <a:t> </a:t>
            </a:r>
            <a:r>
              <a:rPr sz="2400" dirty="0">
                <a:latin typeface="Times New Roman"/>
                <a:cs typeface="Times New Roman"/>
              </a:rPr>
              <a:t>voice</a:t>
            </a:r>
            <a:r>
              <a:rPr sz="2400" spc="-35" dirty="0">
                <a:latin typeface="Times New Roman"/>
                <a:cs typeface="Times New Roman"/>
              </a:rPr>
              <a:t> </a:t>
            </a:r>
            <a:r>
              <a:rPr sz="2400" dirty="0">
                <a:latin typeface="Times New Roman"/>
                <a:cs typeface="Times New Roman"/>
              </a:rPr>
              <a:t>channels</a:t>
            </a:r>
            <a:r>
              <a:rPr sz="2400" spc="-30"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not</a:t>
            </a:r>
            <a:r>
              <a:rPr sz="2400" spc="-20" dirty="0">
                <a:latin typeface="Times New Roman"/>
                <a:cs typeface="Times New Roman"/>
              </a:rPr>
              <a:t> </a:t>
            </a:r>
            <a:r>
              <a:rPr sz="2400" dirty="0">
                <a:latin typeface="Times New Roman"/>
                <a:cs typeface="Times New Roman"/>
              </a:rPr>
              <a:t>allocated</a:t>
            </a:r>
            <a:r>
              <a:rPr sz="2400" spc="-45" dirty="0">
                <a:latin typeface="Times New Roman"/>
                <a:cs typeface="Times New Roman"/>
              </a:rPr>
              <a:t> </a:t>
            </a:r>
            <a:r>
              <a:rPr sz="2400" spc="-25" dirty="0">
                <a:latin typeface="Times New Roman"/>
                <a:cs typeface="Times New Roman"/>
              </a:rPr>
              <a:t>to </a:t>
            </a:r>
            <a:r>
              <a:rPr sz="2400" dirty="0">
                <a:latin typeface="Times New Roman"/>
                <a:cs typeface="Times New Roman"/>
              </a:rPr>
              <a:t>different</a:t>
            </a:r>
            <a:r>
              <a:rPr sz="2400" spc="-40" dirty="0">
                <a:latin typeface="Times New Roman"/>
                <a:cs typeface="Times New Roman"/>
              </a:rPr>
              <a:t> </a:t>
            </a:r>
            <a:r>
              <a:rPr sz="2400" dirty="0">
                <a:latin typeface="Times New Roman"/>
                <a:cs typeface="Times New Roman"/>
              </a:rPr>
              <a:t>cells</a:t>
            </a:r>
            <a:r>
              <a:rPr sz="2400" spc="-40" dirty="0">
                <a:latin typeface="Times New Roman"/>
                <a:cs typeface="Times New Roman"/>
              </a:rPr>
              <a:t> </a:t>
            </a:r>
            <a:r>
              <a:rPr sz="2400" spc="-10" dirty="0">
                <a:latin typeface="Times New Roman"/>
                <a:cs typeface="Times New Roman"/>
              </a:rPr>
              <a:t>permanently.</a:t>
            </a:r>
            <a:endParaRPr sz="2400">
              <a:latin typeface="Times New Roman"/>
              <a:cs typeface="Times New Roman"/>
            </a:endParaRPr>
          </a:p>
          <a:p>
            <a:pPr marL="12700">
              <a:lnSpc>
                <a:spcPct val="100000"/>
              </a:lnSpc>
              <a:spcBef>
                <a:spcPts val="575"/>
              </a:spcBef>
            </a:pPr>
            <a:r>
              <a:rPr sz="2400" dirty="0">
                <a:latin typeface="Times New Roman"/>
                <a:cs typeface="Times New Roman"/>
              </a:rPr>
              <a:t>This</a:t>
            </a:r>
            <a:r>
              <a:rPr sz="2400" spc="-15" dirty="0">
                <a:latin typeface="Times New Roman"/>
                <a:cs typeface="Times New Roman"/>
              </a:rPr>
              <a:t> </a:t>
            </a:r>
            <a:r>
              <a:rPr sz="2400" dirty="0">
                <a:latin typeface="Times New Roman"/>
                <a:cs typeface="Times New Roman"/>
              </a:rPr>
              <a:t>strategy</a:t>
            </a:r>
            <a:r>
              <a:rPr sz="2400" spc="-30" dirty="0">
                <a:latin typeface="Times New Roman"/>
                <a:cs typeface="Times New Roman"/>
              </a:rPr>
              <a:t> </a:t>
            </a:r>
            <a:r>
              <a:rPr sz="2400" dirty="0">
                <a:latin typeface="Times New Roman"/>
                <a:cs typeface="Times New Roman"/>
              </a:rPr>
              <a:t>reduces</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likelihood</a:t>
            </a:r>
            <a:r>
              <a:rPr sz="2400" spc="-45" dirty="0">
                <a:latin typeface="Times New Roman"/>
                <a:cs typeface="Times New Roman"/>
              </a:rPr>
              <a:t> </a:t>
            </a:r>
            <a:r>
              <a:rPr sz="2400" dirty="0">
                <a:latin typeface="Times New Roman"/>
                <a:cs typeface="Times New Roman"/>
              </a:rPr>
              <a:t>of </a:t>
            </a:r>
            <a:r>
              <a:rPr sz="2400" spc="-10" dirty="0">
                <a:latin typeface="Times New Roman"/>
                <a:cs typeface="Times New Roman"/>
              </a:rPr>
              <a:t>blocking.</a:t>
            </a:r>
            <a:endParaRPr sz="2400">
              <a:latin typeface="Times New Roman"/>
              <a:cs typeface="Times New Roman"/>
            </a:endParaRPr>
          </a:p>
          <a:p>
            <a:pPr marL="12700" marR="156210">
              <a:lnSpc>
                <a:spcPct val="120000"/>
              </a:lnSpc>
            </a:pPr>
            <a:r>
              <a:rPr sz="2400" dirty="0">
                <a:latin typeface="Times New Roman"/>
                <a:cs typeface="Times New Roman"/>
              </a:rPr>
              <a:t>Mobile</a:t>
            </a:r>
            <a:r>
              <a:rPr sz="2400" spc="-30" dirty="0">
                <a:latin typeface="Times New Roman"/>
                <a:cs typeface="Times New Roman"/>
              </a:rPr>
              <a:t> </a:t>
            </a:r>
            <a:r>
              <a:rPr sz="2400" dirty="0">
                <a:latin typeface="Times New Roman"/>
                <a:cs typeface="Times New Roman"/>
              </a:rPr>
              <a:t>switching</a:t>
            </a:r>
            <a:r>
              <a:rPr sz="2400" spc="-30" dirty="0">
                <a:latin typeface="Times New Roman"/>
                <a:cs typeface="Times New Roman"/>
              </a:rPr>
              <a:t> </a:t>
            </a:r>
            <a:r>
              <a:rPr sz="2400" dirty="0">
                <a:latin typeface="Times New Roman"/>
                <a:cs typeface="Times New Roman"/>
              </a:rPr>
              <a:t>center</a:t>
            </a:r>
            <a:r>
              <a:rPr sz="2400" spc="-25" dirty="0">
                <a:latin typeface="Times New Roman"/>
                <a:cs typeface="Times New Roman"/>
              </a:rPr>
              <a:t> </a:t>
            </a:r>
            <a:r>
              <a:rPr sz="2400" dirty="0">
                <a:latin typeface="Times New Roman"/>
                <a:cs typeface="Times New Roman"/>
              </a:rPr>
              <a:t>(MSC)must</a:t>
            </a:r>
            <a:r>
              <a:rPr sz="2400" spc="-10" dirty="0">
                <a:latin typeface="Times New Roman"/>
                <a:cs typeface="Times New Roman"/>
              </a:rPr>
              <a:t> </a:t>
            </a:r>
            <a:r>
              <a:rPr sz="2400" dirty="0">
                <a:latin typeface="Times New Roman"/>
                <a:cs typeface="Times New Roman"/>
              </a:rPr>
              <a:t>collect</a:t>
            </a:r>
            <a:r>
              <a:rPr sz="2400" spc="-40" dirty="0">
                <a:latin typeface="Times New Roman"/>
                <a:cs typeface="Times New Roman"/>
              </a:rPr>
              <a:t> </a:t>
            </a:r>
            <a:r>
              <a:rPr sz="2400" dirty="0">
                <a:latin typeface="Times New Roman"/>
                <a:cs typeface="Times New Roman"/>
              </a:rPr>
              <a:t>real-time</a:t>
            </a:r>
            <a:r>
              <a:rPr sz="2400" spc="-30" dirty="0">
                <a:latin typeface="Times New Roman"/>
                <a:cs typeface="Times New Roman"/>
              </a:rPr>
              <a:t> </a:t>
            </a:r>
            <a:r>
              <a:rPr sz="2400" dirty="0">
                <a:latin typeface="Times New Roman"/>
                <a:cs typeface="Times New Roman"/>
              </a:rPr>
              <a:t>data</a:t>
            </a:r>
            <a:r>
              <a:rPr sz="2400" spc="-35" dirty="0">
                <a:latin typeface="Times New Roman"/>
                <a:cs typeface="Times New Roman"/>
              </a:rPr>
              <a:t> </a:t>
            </a:r>
            <a:r>
              <a:rPr sz="2400" spc="-25" dirty="0">
                <a:latin typeface="Times New Roman"/>
                <a:cs typeface="Times New Roman"/>
              </a:rPr>
              <a:t>on </a:t>
            </a:r>
            <a:r>
              <a:rPr sz="2400" dirty="0">
                <a:latin typeface="Times New Roman"/>
                <a:cs typeface="Times New Roman"/>
              </a:rPr>
              <a:t>channel</a:t>
            </a:r>
            <a:r>
              <a:rPr sz="2400" spc="-45" dirty="0">
                <a:latin typeface="Times New Roman"/>
                <a:cs typeface="Times New Roman"/>
              </a:rPr>
              <a:t> </a:t>
            </a:r>
            <a:r>
              <a:rPr sz="2400" spc="-10" dirty="0">
                <a:latin typeface="Times New Roman"/>
                <a:cs typeface="Times New Roman"/>
              </a:rPr>
              <a:t>occupancy,</a:t>
            </a:r>
            <a:r>
              <a:rPr sz="2400" spc="-40" dirty="0">
                <a:latin typeface="Times New Roman"/>
                <a:cs typeface="Times New Roman"/>
              </a:rPr>
              <a:t> </a:t>
            </a:r>
            <a:r>
              <a:rPr sz="2400" dirty="0">
                <a:latin typeface="Times New Roman"/>
                <a:cs typeface="Times New Roman"/>
              </a:rPr>
              <a:t>traffic</a:t>
            </a:r>
            <a:r>
              <a:rPr sz="2400" spc="-25" dirty="0">
                <a:latin typeface="Times New Roman"/>
                <a:cs typeface="Times New Roman"/>
              </a:rPr>
              <a:t> </a:t>
            </a:r>
            <a:r>
              <a:rPr sz="2400" dirty="0">
                <a:latin typeface="Times New Roman"/>
                <a:cs typeface="Times New Roman"/>
              </a:rPr>
              <a:t>distribution,</a:t>
            </a:r>
            <a:r>
              <a:rPr sz="2400" spc="-5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radio</a:t>
            </a:r>
            <a:r>
              <a:rPr sz="2400" spc="-25" dirty="0">
                <a:latin typeface="Times New Roman"/>
                <a:cs typeface="Times New Roman"/>
              </a:rPr>
              <a:t> </a:t>
            </a:r>
            <a:r>
              <a:rPr sz="2400" dirty="0">
                <a:latin typeface="Times New Roman"/>
                <a:cs typeface="Times New Roman"/>
              </a:rPr>
              <a:t>signal</a:t>
            </a:r>
            <a:r>
              <a:rPr sz="2400" spc="-30" dirty="0">
                <a:latin typeface="Times New Roman"/>
                <a:cs typeface="Times New Roman"/>
              </a:rPr>
              <a:t> </a:t>
            </a:r>
            <a:r>
              <a:rPr sz="2400" spc="-10" dirty="0">
                <a:latin typeface="Times New Roman"/>
                <a:cs typeface="Times New Roman"/>
              </a:rPr>
              <a:t>strength</a:t>
            </a:r>
            <a:endParaRPr sz="2400">
              <a:latin typeface="Times New Roman"/>
              <a:cs typeface="Times New Roman"/>
            </a:endParaRPr>
          </a:p>
          <a:p>
            <a:pPr marL="12700">
              <a:lnSpc>
                <a:spcPct val="100000"/>
              </a:lnSpc>
              <a:spcBef>
                <a:spcPts val="580"/>
              </a:spcBef>
            </a:pPr>
            <a:r>
              <a:rPr sz="2400" dirty="0">
                <a:latin typeface="Times New Roman"/>
                <a:cs typeface="Times New Roman"/>
              </a:rPr>
              <a:t>indications</a:t>
            </a:r>
            <a:r>
              <a:rPr sz="2400" spc="-50" dirty="0">
                <a:latin typeface="Times New Roman"/>
                <a:cs typeface="Times New Roman"/>
              </a:rPr>
              <a:t> </a:t>
            </a:r>
            <a:r>
              <a:rPr sz="2400" dirty="0">
                <a:latin typeface="Times New Roman"/>
                <a:cs typeface="Times New Roman"/>
              </a:rPr>
              <a:t>(RSSI)of all</a:t>
            </a:r>
            <a:r>
              <a:rPr sz="2400" spc="-20" dirty="0">
                <a:latin typeface="Times New Roman"/>
                <a:cs typeface="Times New Roman"/>
              </a:rPr>
              <a:t> </a:t>
            </a:r>
            <a:r>
              <a:rPr sz="2400" spc="-10" dirty="0">
                <a:latin typeface="Times New Roman"/>
                <a:cs typeface="Times New Roman"/>
              </a:rPr>
              <a:t>channels.</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23</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48625" cy="3537585"/>
          </a:xfrm>
          <a:prstGeom prst="rect">
            <a:avLst/>
          </a:prstGeom>
        </p:spPr>
        <p:txBody>
          <a:bodyPr vert="horz" wrap="square" lIns="0" tIns="12700" rIns="0" bIns="0" rtlCol="0">
            <a:spAutoFit/>
          </a:bodyPr>
          <a:lstStyle/>
          <a:p>
            <a:pPr marL="12700" marR="5080">
              <a:lnSpc>
                <a:spcPct val="120000"/>
              </a:lnSpc>
              <a:spcBef>
                <a:spcPts val="100"/>
              </a:spcBef>
            </a:pPr>
            <a:r>
              <a:rPr sz="2400" i="1" dirty="0">
                <a:latin typeface="Times New Roman"/>
                <a:cs typeface="Times New Roman"/>
              </a:rPr>
              <a:t>Handoff:</a:t>
            </a:r>
            <a:r>
              <a:rPr sz="2400" i="1" spc="-5" dirty="0">
                <a:latin typeface="Times New Roman"/>
                <a:cs typeface="Times New Roman"/>
              </a:rPr>
              <a:t> </a:t>
            </a:r>
            <a:r>
              <a:rPr sz="2400" dirty="0">
                <a:latin typeface="Times New Roman"/>
                <a:cs typeface="Times New Roman"/>
              </a:rPr>
              <a:t>A</a:t>
            </a:r>
            <a:r>
              <a:rPr sz="2400" spc="-135" dirty="0">
                <a:latin typeface="Times New Roman"/>
                <a:cs typeface="Times New Roman"/>
              </a:rPr>
              <a:t> </a:t>
            </a:r>
            <a:r>
              <a:rPr sz="2400" dirty="0">
                <a:latin typeface="Times New Roman"/>
                <a:cs typeface="Times New Roman"/>
              </a:rPr>
              <a:t>crucial</a:t>
            </a:r>
            <a:r>
              <a:rPr sz="2400" spc="-50" dirty="0">
                <a:latin typeface="Times New Roman"/>
                <a:cs typeface="Times New Roman"/>
              </a:rPr>
              <a:t> </a:t>
            </a:r>
            <a:r>
              <a:rPr sz="2400" dirty="0">
                <a:latin typeface="Times New Roman"/>
                <a:cs typeface="Times New Roman"/>
              </a:rPr>
              <a:t>component</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concept</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spc="-25" dirty="0">
                <a:latin typeface="Times New Roman"/>
                <a:cs typeface="Times New Roman"/>
              </a:rPr>
              <a:t>the</a:t>
            </a:r>
            <a:r>
              <a:rPr sz="2400" spc="600" dirty="0">
                <a:latin typeface="Times New Roman"/>
                <a:cs typeface="Times New Roman"/>
              </a:rPr>
              <a:t> </a:t>
            </a:r>
            <a:r>
              <a:rPr sz="2400" dirty="0">
                <a:latin typeface="Times New Roman"/>
                <a:cs typeface="Times New Roman"/>
              </a:rPr>
              <a:t>notion</a:t>
            </a:r>
            <a:r>
              <a:rPr sz="2400" spc="-6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handoffs.</a:t>
            </a:r>
            <a:r>
              <a:rPr sz="2400" spc="-40" dirty="0">
                <a:latin typeface="Times New Roman"/>
                <a:cs typeface="Times New Roman"/>
              </a:rPr>
              <a:t> </a:t>
            </a:r>
            <a:r>
              <a:rPr sz="2400" dirty="0">
                <a:latin typeface="Times New Roman"/>
                <a:cs typeface="Times New Roman"/>
              </a:rPr>
              <a:t>Handoff</a:t>
            </a:r>
            <a:r>
              <a:rPr sz="2400" spc="-15"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the</a:t>
            </a:r>
            <a:r>
              <a:rPr sz="2400" spc="-45" dirty="0">
                <a:latin typeface="Times New Roman"/>
                <a:cs typeface="Times New Roman"/>
              </a:rPr>
              <a:t> </a:t>
            </a:r>
            <a:r>
              <a:rPr sz="2400" dirty="0">
                <a:latin typeface="Times New Roman"/>
                <a:cs typeface="Times New Roman"/>
              </a:rPr>
              <a:t>process</a:t>
            </a:r>
            <a:r>
              <a:rPr sz="2400" spc="-50"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transferring</a:t>
            </a:r>
            <a:r>
              <a:rPr sz="2400" spc="-55" dirty="0">
                <a:latin typeface="Times New Roman"/>
                <a:cs typeface="Times New Roman"/>
              </a:rPr>
              <a:t> </a:t>
            </a:r>
            <a:r>
              <a:rPr sz="2400" spc="-25" dirty="0">
                <a:latin typeface="Times New Roman"/>
                <a:cs typeface="Times New Roman"/>
              </a:rPr>
              <a:t>an </a:t>
            </a:r>
            <a:r>
              <a:rPr sz="2400" dirty="0">
                <a:latin typeface="Times New Roman"/>
                <a:cs typeface="Times New Roman"/>
              </a:rPr>
              <a:t>active</a:t>
            </a:r>
            <a:r>
              <a:rPr sz="2400" spc="-45" dirty="0">
                <a:latin typeface="Times New Roman"/>
                <a:cs typeface="Times New Roman"/>
              </a:rPr>
              <a:t> </a:t>
            </a:r>
            <a:r>
              <a:rPr sz="2400" dirty="0">
                <a:latin typeface="Times New Roman"/>
                <a:cs typeface="Times New Roman"/>
              </a:rPr>
              <a:t>call</a:t>
            </a:r>
            <a:r>
              <a:rPr sz="2400" spc="-25" dirty="0">
                <a:latin typeface="Times New Roman"/>
                <a:cs typeface="Times New Roman"/>
              </a:rPr>
              <a:t> </a:t>
            </a:r>
            <a:r>
              <a:rPr sz="2400" dirty="0">
                <a:latin typeface="Times New Roman"/>
                <a:cs typeface="Times New Roman"/>
              </a:rPr>
              <a:t>from</a:t>
            </a:r>
            <a:r>
              <a:rPr sz="2400" spc="-25" dirty="0">
                <a:latin typeface="Times New Roman"/>
                <a:cs typeface="Times New Roman"/>
              </a:rPr>
              <a:t> </a:t>
            </a:r>
            <a:r>
              <a:rPr sz="2400" dirty="0">
                <a:latin typeface="Times New Roman"/>
                <a:cs typeface="Times New Roman"/>
              </a:rPr>
              <a:t>one</a:t>
            </a:r>
            <a:r>
              <a:rPr sz="2400" spc="-5" dirty="0">
                <a:latin typeface="Times New Roman"/>
                <a:cs typeface="Times New Roman"/>
              </a:rPr>
              <a:t> </a:t>
            </a:r>
            <a:r>
              <a:rPr sz="2400" dirty="0">
                <a:latin typeface="Times New Roman"/>
                <a:cs typeface="Times New Roman"/>
              </a:rPr>
              <a:t>cell</a:t>
            </a:r>
            <a:r>
              <a:rPr sz="2400" spc="-3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another</a:t>
            </a:r>
            <a:r>
              <a:rPr sz="2400" spc="-25"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mobile</a:t>
            </a:r>
            <a:r>
              <a:rPr sz="2400" spc="-15" dirty="0">
                <a:latin typeface="Times New Roman"/>
                <a:cs typeface="Times New Roman"/>
              </a:rPr>
              <a:t> </a:t>
            </a:r>
            <a:r>
              <a:rPr sz="2400" dirty="0">
                <a:latin typeface="Times New Roman"/>
                <a:cs typeface="Times New Roman"/>
              </a:rPr>
              <a:t>unit</a:t>
            </a:r>
            <a:r>
              <a:rPr sz="2400" spc="-30" dirty="0">
                <a:latin typeface="Times New Roman"/>
                <a:cs typeface="Times New Roman"/>
              </a:rPr>
              <a:t> </a:t>
            </a:r>
            <a:r>
              <a:rPr sz="2400" dirty="0">
                <a:latin typeface="Times New Roman"/>
                <a:cs typeface="Times New Roman"/>
              </a:rPr>
              <a:t>moves</a:t>
            </a:r>
            <a:r>
              <a:rPr sz="2400" spc="5" dirty="0">
                <a:latin typeface="Times New Roman"/>
                <a:cs typeface="Times New Roman"/>
              </a:rPr>
              <a:t> </a:t>
            </a:r>
            <a:r>
              <a:rPr sz="2400" spc="-20" dirty="0">
                <a:latin typeface="Times New Roman"/>
                <a:cs typeface="Times New Roman"/>
              </a:rPr>
              <a:t>from </a:t>
            </a:r>
            <a:r>
              <a:rPr sz="2400" dirty="0">
                <a:latin typeface="Times New Roman"/>
                <a:cs typeface="Times New Roman"/>
              </a:rPr>
              <a:t>one cell</a:t>
            </a:r>
            <a:r>
              <a:rPr sz="2400" spc="-3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other.</a:t>
            </a:r>
            <a:endParaRPr sz="2400">
              <a:latin typeface="Times New Roman"/>
              <a:cs typeface="Times New Roman"/>
            </a:endParaRPr>
          </a:p>
          <a:p>
            <a:pPr marL="12700" marR="4683125">
              <a:lnSpc>
                <a:spcPts val="3460"/>
              </a:lnSpc>
              <a:spcBef>
                <a:spcPts val="204"/>
              </a:spcBef>
            </a:pPr>
            <a:r>
              <a:rPr sz="2400" dirty="0">
                <a:latin typeface="Times New Roman"/>
                <a:cs typeface="Times New Roman"/>
              </a:rPr>
              <a:t>Handoff</a:t>
            </a:r>
            <a:r>
              <a:rPr sz="2400" spc="-75" dirty="0">
                <a:latin typeface="Times New Roman"/>
                <a:cs typeface="Times New Roman"/>
              </a:rPr>
              <a:t> </a:t>
            </a:r>
            <a:r>
              <a:rPr sz="2400" dirty="0">
                <a:latin typeface="Times New Roman"/>
                <a:cs typeface="Times New Roman"/>
              </a:rPr>
              <a:t>operation</a:t>
            </a:r>
            <a:r>
              <a:rPr sz="2400" spc="-100" dirty="0">
                <a:latin typeface="Times New Roman"/>
                <a:cs typeface="Times New Roman"/>
              </a:rPr>
              <a:t> </a:t>
            </a:r>
            <a:r>
              <a:rPr sz="2400" spc="-10" dirty="0">
                <a:latin typeface="Times New Roman"/>
                <a:cs typeface="Times New Roman"/>
              </a:rPr>
              <a:t>involves </a:t>
            </a:r>
            <a:r>
              <a:rPr sz="2400" dirty="0">
                <a:latin typeface="Times New Roman"/>
                <a:cs typeface="Times New Roman"/>
              </a:rPr>
              <a:t>identifying</a:t>
            </a:r>
            <a:r>
              <a:rPr sz="2400" spc="-5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new</a:t>
            </a:r>
            <a:r>
              <a:rPr sz="2400" spc="-5" dirty="0">
                <a:latin typeface="Times New Roman"/>
                <a:cs typeface="Times New Roman"/>
              </a:rPr>
              <a:t> </a:t>
            </a:r>
            <a:r>
              <a:rPr sz="2400" dirty="0">
                <a:latin typeface="Times New Roman"/>
                <a:cs typeface="Times New Roman"/>
              </a:rPr>
              <a:t>BS</a:t>
            </a:r>
            <a:r>
              <a:rPr sz="2400" spc="-5"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12700">
              <a:lnSpc>
                <a:spcPct val="100000"/>
              </a:lnSpc>
              <a:spcBef>
                <a:spcPts val="365"/>
              </a:spcBef>
            </a:pPr>
            <a:r>
              <a:rPr sz="2400" dirty="0">
                <a:latin typeface="Times New Roman"/>
                <a:cs typeface="Times New Roman"/>
              </a:rPr>
              <a:t>allocation</a:t>
            </a:r>
            <a:r>
              <a:rPr sz="2400" spc="-6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voice</a:t>
            </a:r>
            <a:r>
              <a:rPr sz="2400" spc="-35"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12700">
              <a:lnSpc>
                <a:spcPct val="100000"/>
              </a:lnSpc>
              <a:spcBef>
                <a:spcPts val="575"/>
              </a:spcBef>
            </a:pPr>
            <a:r>
              <a:rPr sz="2400" dirty="0">
                <a:latin typeface="Times New Roman"/>
                <a:cs typeface="Times New Roman"/>
              </a:rPr>
              <a:t>control</a:t>
            </a:r>
            <a:r>
              <a:rPr sz="2400" spc="-30" dirty="0">
                <a:latin typeface="Times New Roman"/>
                <a:cs typeface="Times New Roman"/>
              </a:rPr>
              <a:t> </a:t>
            </a:r>
            <a:r>
              <a:rPr sz="2400" dirty="0">
                <a:latin typeface="Times New Roman"/>
                <a:cs typeface="Times New Roman"/>
              </a:rPr>
              <a:t>signals</a:t>
            </a:r>
            <a:r>
              <a:rPr sz="2400" spc="-15" dirty="0">
                <a:latin typeface="Times New Roman"/>
                <a:cs typeface="Times New Roman"/>
              </a:rPr>
              <a:t> </a:t>
            </a:r>
            <a:r>
              <a:rPr sz="2400" spc="-10" dirty="0">
                <a:latin typeface="Times New Roman"/>
                <a:cs typeface="Times New Roman"/>
              </a:rPr>
              <a:t>associated.</a:t>
            </a:r>
            <a:endParaRPr sz="2400">
              <a:latin typeface="Times New Roman"/>
              <a:cs typeface="Times New Roman"/>
            </a:endParaRPr>
          </a:p>
        </p:txBody>
      </p:sp>
      <p:pic>
        <p:nvPicPr>
          <p:cNvPr id="3" name="object 3"/>
          <p:cNvPicPr/>
          <p:nvPr/>
        </p:nvPicPr>
        <p:blipFill>
          <a:blip r:embed="rId2" cstate="print"/>
          <a:stretch>
            <a:fillRect/>
          </a:stretch>
        </p:blipFill>
        <p:spPr>
          <a:xfrm>
            <a:off x="4152900" y="3018612"/>
            <a:ext cx="3933825" cy="341947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24</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5440" y="1446402"/>
            <a:ext cx="7853045" cy="3060700"/>
          </a:xfrm>
          <a:prstGeom prst="rect">
            <a:avLst/>
          </a:prstGeom>
        </p:spPr>
        <p:txBody>
          <a:bodyPr vert="horz" wrap="square" lIns="0" tIns="85725" rIns="0" bIns="0" rtlCol="0">
            <a:spAutoFit/>
          </a:bodyPr>
          <a:lstStyle/>
          <a:p>
            <a:pPr marL="50800">
              <a:lnSpc>
                <a:spcPct val="100000"/>
              </a:lnSpc>
              <a:spcBef>
                <a:spcPts val="675"/>
              </a:spcBef>
            </a:pPr>
            <a:r>
              <a:rPr sz="2400" dirty="0">
                <a:latin typeface="Arial MT"/>
                <a:cs typeface="Arial MT"/>
              </a:rPr>
              <a:t>Handoff</a:t>
            </a:r>
            <a:r>
              <a:rPr sz="2400" spc="-135" dirty="0">
                <a:latin typeface="Arial MT"/>
                <a:cs typeface="Arial MT"/>
              </a:rPr>
              <a:t> </a:t>
            </a:r>
            <a:r>
              <a:rPr sz="2400" spc="-50" dirty="0">
                <a:latin typeface="Arial MT"/>
                <a:cs typeface="Arial MT"/>
              </a:rPr>
              <a:t>–</a:t>
            </a:r>
            <a:endParaRPr sz="2400">
              <a:latin typeface="Arial MT"/>
              <a:cs typeface="Arial MT"/>
            </a:endParaRPr>
          </a:p>
          <a:p>
            <a:pPr marL="393065" indent="-342265">
              <a:lnSpc>
                <a:spcPct val="100000"/>
              </a:lnSpc>
              <a:spcBef>
                <a:spcPts val="575"/>
              </a:spcBef>
              <a:buClr>
                <a:srgbClr val="0F1141"/>
              </a:buClr>
              <a:buChar char="•"/>
              <a:tabLst>
                <a:tab pos="393065" algn="l"/>
              </a:tabLst>
            </a:pPr>
            <a:r>
              <a:rPr sz="2400" dirty="0">
                <a:latin typeface="Arial MT"/>
                <a:cs typeface="Arial MT"/>
              </a:rPr>
              <a:t>high</a:t>
            </a:r>
            <a:r>
              <a:rPr sz="2400" spc="-70" dirty="0">
                <a:latin typeface="Arial MT"/>
                <a:cs typeface="Arial MT"/>
              </a:rPr>
              <a:t> </a:t>
            </a:r>
            <a:r>
              <a:rPr sz="2400" dirty="0">
                <a:latin typeface="Arial MT"/>
                <a:cs typeface="Arial MT"/>
              </a:rPr>
              <a:t>priority</a:t>
            </a:r>
            <a:r>
              <a:rPr sz="2400" spc="-65" dirty="0">
                <a:latin typeface="Arial MT"/>
                <a:cs typeface="Arial MT"/>
              </a:rPr>
              <a:t> </a:t>
            </a:r>
            <a:r>
              <a:rPr sz="2400" dirty="0">
                <a:latin typeface="Arial MT"/>
                <a:cs typeface="Arial MT"/>
              </a:rPr>
              <a:t>over</a:t>
            </a:r>
            <a:r>
              <a:rPr sz="2400" spc="-85" dirty="0">
                <a:latin typeface="Arial MT"/>
                <a:cs typeface="Arial MT"/>
              </a:rPr>
              <a:t> </a:t>
            </a:r>
            <a:r>
              <a:rPr sz="2400" dirty="0">
                <a:latin typeface="Arial MT"/>
                <a:cs typeface="Arial MT"/>
              </a:rPr>
              <a:t>call</a:t>
            </a:r>
            <a:r>
              <a:rPr sz="2400" spc="-60" dirty="0">
                <a:latin typeface="Arial MT"/>
                <a:cs typeface="Arial MT"/>
              </a:rPr>
              <a:t> </a:t>
            </a:r>
            <a:r>
              <a:rPr sz="2400" dirty="0">
                <a:latin typeface="Arial MT"/>
                <a:cs typeface="Arial MT"/>
              </a:rPr>
              <a:t>initiation</a:t>
            </a:r>
            <a:r>
              <a:rPr sz="2400" spc="-55" dirty="0">
                <a:latin typeface="Arial MT"/>
                <a:cs typeface="Arial MT"/>
              </a:rPr>
              <a:t> </a:t>
            </a:r>
            <a:r>
              <a:rPr sz="2400" spc="-10" dirty="0">
                <a:latin typeface="Arial MT"/>
                <a:cs typeface="Arial MT"/>
              </a:rPr>
              <a:t>requests</a:t>
            </a:r>
            <a:endParaRPr sz="2400">
              <a:latin typeface="Arial MT"/>
              <a:cs typeface="Arial MT"/>
            </a:endParaRPr>
          </a:p>
          <a:p>
            <a:pPr marL="393065" indent="-342265">
              <a:lnSpc>
                <a:spcPct val="100000"/>
              </a:lnSpc>
              <a:spcBef>
                <a:spcPts val="580"/>
              </a:spcBef>
              <a:buClr>
                <a:srgbClr val="0F1141"/>
              </a:buClr>
              <a:buChar char="•"/>
              <a:tabLst>
                <a:tab pos="393065" algn="l"/>
              </a:tabLst>
            </a:pPr>
            <a:r>
              <a:rPr sz="2400" dirty="0">
                <a:latin typeface="Arial MT"/>
                <a:cs typeface="Arial MT"/>
              </a:rPr>
              <a:t>must</a:t>
            </a:r>
            <a:r>
              <a:rPr sz="2400" spc="-50"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performed</a:t>
            </a:r>
            <a:r>
              <a:rPr sz="2400" spc="-60" dirty="0">
                <a:latin typeface="Arial MT"/>
                <a:cs typeface="Arial MT"/>
              </a:rPr>
              <a:t> </a:t>
            </a:r>
            <a:r>
              <a:rPr sz="2400" spc="-10" dirty="0">
                <a:latin typeface="Arial MT"/>
                <a:cs typeface="Arial MT"/>
              </a:rPr>
              <a:t>successfully</a:t>
            </a:r>
            <a:endParaRPr sz="2400">
              <a:latin typeface="Arial MT"/>
              <a:cs typeface="Arial MT"/>
            </a:endParaRPr>
          </a:p>
          <a:p>
            <a:pPr marL="393065" indent="-342265">
              <a:lnSpc>
                <a:spcPct val="100000"/>
              </a:lnSpc>
              <a:spcBef>
                <a:spcPts val="575"/>
              </a:spcBef>
              <a:buClr>
                <a:srgbClr val="0F1141"/>
              </a:buClr>
              <a:buChar char="•"/>
              <a:tabLst>
                <a:tab pos="393065" algn="l"/>
              </a:tabLst>
            </a:pPr>
            <a:r>
              <a:rPr sz="2400" spc="-10" dirty="0">
                <a:latin typeface="Arial MT"/>
                <a:cs typeface="Arial MT"/>
              </a:rPr>
              <a:t>Infrequently</a:t>
            </a:r>
            <a:endParaRPr sz="2400">
              <a:latin typeface="Arial MT"/>
              <a:cs typeface="Arial MT"/>
            </a:endParaRPr>
          </a:p>
          <a:p>
            <a:pPr marL="393065" indent="-342265">
              <a:lnSpc>
                <a:spcPct val="100000"/>
              </a:lnSpc>
              <a:spcBef>
                <a:spcPts val="575"/>
              </a:spcBef>
              <a:buClr>
                <a:srgbClr val="0F1141"/>
              </a:buClr>
              <a:buChar char="•"/>
              <a:tabLst>
                <a:tab pos="393065" algn="l"/>
              </a:tabLst>
            </a:pPr>
            <a:r>
              <a:rPr sz="2400" dirty="0">
                <a:latin typeface="Arial MT"/>
                <a:cs typeface="Arial MT"/>
              </a:rPr>
              <a:t>be</a:t>
            </a:r>
            <a:r>
              <a:rPr sz="2400" spc="-35" dirty="0">
                <a:latin typeface="Arial MT"/>
                <a:cs typeface="Arial MT"/>
              </a:rPr>
              <a:t> </a:t>
            </a:r>
            <a:r>
              <a:rPr sz="2400" spc="-10" dirty="0">
                <a:latin typeface="Arial MT"/>
                <a:cs typeface="Arial MT"/>
              </a:rPr>
              <a:t>imperceptible.</a:t>
            </a:r>
            <a:endParaRPr sz="2400">
              <a:latin typeface="Arial MT"/>
              <a:cs typeface="Arial MT"/>
            </a:endParaRPr>
          </a:p>
          <a:p>
            <a:pPr marL="393065" indent="-342265">
              <a:lnSpc>
                <a:spcPct val="100000"/>
              </a:lnSpc>
              <a:spcBef>
                <a:spcPts val="580"/>
              </a:spcBef>
              <a:buClr>
                <a:srgbClr val="0F1141"/>
              </a:buClr>
              <a:buChar char="•"/>
              <a:tabLst>
                <a:tab pos="393065" algn="l"/>
              </a:tabLst>
            </a:pPr>
            <a:r>
              <a:rPr sz="2400" dirty="0">
                <a:latin typeface="Arial MT"/>
                <a:cs typeface="Arial MT"/>
              </a:rPr>
              <a:t>The</a:t>
            </a:r>
            <a:r>
              <a:rPr sz="2400" spc="-45" dirty="0">
                <a:latin typeface="Arial MT"/>
                <a:cs typeface="Arial MT"/>
              </a:rPr>
              <a:t> </a:t>
            </a:r>
            <a:r>
              <a:rPr sz="2400" dirty="0">
                <a:latin typeface="Arial MT"/>
                <a:cs typeface="Arial MT"/>
              </a:rPr>
              <a:t>margin</a:t>
            </a:r>
            <a:r>
              <a:rPr sz="2400" spc="-35" dirty="0">
                <a:latin typeface="Arial MT"/>
                <a:cs typeface="Arial MT"/>
              </a:rPr>
              <a:t> </a:t>
            </a:r>
            <a:r>
              <a:rPr sz="2400" dirty="0">
                <a:latin typeface="Cambria Math"/>
                <a:cs typeface="Cambria Math"/>
              </a:rPr>
              <a:t>∆=</a:t>
            </a:r>
            <a:r>
              <a:rPr sz="2400" spc="80" dirty="0">
                <a:latin typeface="Cambria Math"/>
                <a:cs typeface="Cambria Math"/>
              </a:rPr>
              <a:t> </a:t>
            </a:r>
            <a:r>
              <a:rPr sz="2400" spc="-30" dirty="0">
                <a:latin typeface="Cambria Math"/>
                <a:cs typeface="Cambria Math"/>
              </a:rPr>
              <a:t>𝑃</a:t>
            </a:r>
            <a:r>
              <a:rPr sz="2625" spc="-44" baseline="-15873" dirty="0">
                <a:latin typeface="Cambria Math"/>
                <a:cs typeface="Cambria Math"/>
              </a:rPr>
              <a:t>𝑟</a:t>
            </a:r>
            <a:r>
              <a:rPr sz="2625" spc="22" baseline="-15873" dirty="0">
                <a:latin typeface="Cambria Math"/>
                <a:cs typeface="Cambria Math"/>
              </a:rPr>
              <a:t> </a:t>
            </a:r>
            <a:r>
              <a:rPr sz="2625" spc="150" baseline="-15873" dirty="0">
                <a:latin typeface="Cambria Math"/>
                <a:cs typeface="Cambria Math"/>
              </a:rPr>
              <a:t>ℎ𝑎𝑛𝑑𝑜𝑓𝑓</a:t>
            </a:r>
            <a:r>
              <a:rPr sz="2625" spc="382" baseline="-15873" dirty="0">
                <a:latin typeface="Cambria Math"/>
                <a:cs typeface="Cambria Math"/>
              </a:rPr>
              <a:t> </a:t>
            </a:r>
            <a:r>
              <a:rPr sz="2400" dirty="0">
                <a:latin typeface="Cambria Math"/>
                <a:cs typeface="Cambria Math"/>
              </a:rPr>
              <a:t>−</a:t>
            </a:r>
            <a:r>
              <a:rPr sz="2400" spc="-35" dirty="0">
                <a:latin typeface="Cambria Math"/>
                <a:cs typeface="Cambria Math"/>
              </a:rPr>
              <a:t> 𝑃</a:t>
            </a:r>
            <a:r>
              <a:rPr sz="2625" spc="-52" baseline="-15873" dirty="0">
                <a:latin typeface="Cambria Math"/>
                <a:cs typeface="Cambria Math"/>
              </a:rPr>
              <a:t>𝑟</a:t>
            </a:r>
            <a:r>
              <a:rPr sz="2625" spc="15" baseline="-15873" dirty="0">
                <a:latin typeface="Cambria Math"/>
                <a:cs typeface="Cambria Math"/>
              </a:rPr>
              <a:t> </a:t>
            </a:r>
            <a:r>
              <a:rPr sz="2625" spc="179" baseline="-15873" dirty="0">
                <a:latin typeface="Cambria Math"/>
                <a:cs typeface="Cambria Math"/>
              </a:rPr>
              <a:t>𝑚𝑖𝑛𝑖𝑚𝑢𝑚</a:t>
            </a:r>
            <a:r>
              <a:rPr sz="2625" spc="-15" baseline="-15873" dirty="0">
                <a:latin typeface="Cambria Math"/>
                <a:cs typeface="Cambria Math"/>
              </a:rPr>
              <a:t> </a:t>
            </a:r>
            <a:r>
              <a:rPr sz="2625" spc="120" baseline="-15873" dirty="0">
                <a:latin typeface="Cambria Math"/>
                <a:cs typeface="Cambria Math"/>
              </a:rPr>
              <a:t>𝑢𝑠𝑎𝑏𝑙𝑒</a:t>
            </a:r>
            <a:r>
              <a:rPr sz="2625" spc="382" baseline="-15873" dirty="0">
                <a:latin typeface="Cambria Math"/>
                <a:cs typeface="Cambria Math"/>
              </a:rPr>
              <a:t> </a:t>
            </a:r>
            <a:r>
              <a:rPr sz="2400" dirty="0">
                <a:latin typeface="Arial MT"/>
                <a:cs typeface="Arial MT"/>
              </a:rPr>
              <a:t>cannot</a:t>
            </a:r>
            <a:r>
              <a:rPr sz="2400" spc="-35" dirty="0">
                <a:latin typeface="Arial MT"/>
                <a:cs typeface="Arial MT"/>
              </a:rPr>
              <a:t> </a:t>
            </a:r>
            <a:r>
              <a:rPr sz="2400" spc="-25" dirty="0">
                <a:latin typeface="Arial MT"/>
                <a:cs typeface="Arial MT"/>
              </a:rPr>
              <a:t>be</a:t>
            </a:r>
            <a:endParaRPr sz="2400">
              <a:latin typeface="Arial MT"/>
              <a:cs typeface="Arial MT"/>
            </a:endParaRPr>
          </a:p>
          <a:p>
            <a:pPr marL="393700">
              <a:lnSpc>
                <a:spcPct val="100000"/>
              </a:lnSpc>
              <a:spcBef>
                <a:spcPts val="275"/>
              </a:spcBef>
            </a:pPr>
            <a:r>
              <a:rPr sz="2400" dirty="0">
                <a:latin typeface="Arial MT"/>
                <a:cs typeface="Arial MT"/>
              </a:rPr>
              <a:t>too</a:t>
            </a:r>
            <a:r>
              <a:rPr sz="2400" spc="-55" dirty="0">
                <a:latin typeface="Arial MT"/>
                <a:cs typeface="Arial MT"/>
              </a:rPr>
              <a:t> </a:t>
            </a:r>
            <a:r>
              <a:rPr sz="2400" dirty="0">
                <a:latin typeface="Arial MT"/>
                <a:cs typeface="Arial MT"/>
              </a:rPr>
              <a:t>large</a:t>
            </a:r>
            <a:r>
              <a:rPr sz="2400" spc="-30" dirty="0">
                <a:latin typeface="Arial MT"/>
                <a:cs typeface="Arial MT"/>
              </a:rPr>
              <a:t> </a:t>
            </a:r>
            <a:r>
              <a:rPr sz="2400" dirty="0">
                <a:latin typeface="Arial MT"/>
                <a:cs typeface="Arial MT"/>
              </a:rPr>
              <a:t>or</a:t>
            </a:r>
            <a:r>
              <a:rPr sz="2400" spc="-40" dirty="0">
                <a:latin typeface="Arial MT"/>
                <a:cs typeface="Arial MT"/>
              </a:rPr>
              <a:t> </a:t>
            </a:r>
            <a:r>
              <a:rPr sz="2400" dirty="0">
                <a:latin typeface="Arial MT"/>
                <a:cs typeface="Arial MT"/>
              </a:rPr>
              <a:t>too</a:t>
            </a:r>
            <a:r>
              <a:rPr sz="2400" spc="-55" dirty="0">
                <a:latin typeface="Arial MT"/>
                <a:cs typeface="Arial MT"/>
              </a:rPr>
              <a:t> </a:t>
            </a:r>
            <a:r>
              <a:rPr sz="2400" spc="-10" dirty="0">
                <a:latin typeface="Arial MT"/>
                <a:cs typeface="Arial MT"/>
              </a:rPr>
              <a:t>small.</a:t>
            </a:r>
            <a:endParaRPr sz="24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25</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705600"/>
            <a:chOff x="0" y="0"/>
            <a:chExt cx="9144000" cy="6705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p:cNvPicPr/>
            <p:nvPr/>
          </p:nvPicPr>
          <p:blipFill>
            <a:blip r:embed="rId2" cstate="print"/>
            <a:stretch>
              <a:fillRect/>
            </a:stretch>
          </p:blipFill>
          <p:spPr>
            <a:xfrm>
              <a:off x="6629400" y="0"/>
              <a:ext cx="2193163" cy="692658"/>
            </a:xfrm>
            <a:prstGeom prst="rect">
              <a:avLst/>
            </a:prstGeom>
          </p:spPr>
        </p:pic>
        <p:sp>
          <p:nvSpPr>
            <p:cNvPr id="7" name="object 7"/>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3" name="object 13"/>
            <p:cNvPicPr/>
            <p:nvPr/>
          </p:nvPicPr>
          <p:blipFill>
            <a:blip r:embed="rId3" cstate="print"/>
            <a:stretch>
              <a:fillRect/>
            </a:stretch>
          </p:blipFill>
          <p:spPr>
            <a:xfrm>
              <a:off x="228600" y="0"/>
              <a:ext cx="6814566" cy="6705600"/>
            </a:xfrm>
            <a:prstGeom prst="rect">
              <a:avLst/>
            </a:prstGeom>
          </p:spPr>
        </p:pic>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26</a:t>
            </a:fld>
            <a:endParaRPr spc="-25" dirty="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34630" cy="3537585"/>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deciding</a:t>
            </a:r>
            <a:r>
              <a:rPr sz="2400" spc="-50" dirty="0">
                <a:latin typeface="Times New Roman"/>
                <a:cs typeface="Times New Roman"/>
              </a:rPr>
              <a:t> </a:t>
            </a:r>
            <a:r>
              <a:rPr sz="2400" dirty="0">
                <a:latin typeface="Times New Roman"/>
                <a:cs typeface="Times New Roman"/>
              </a:rPr>
              <a:t>when</a:t>
            </a:r>
            <a:r>
              <a:rPr sz="2400" spc="-1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handoff,</a:t>
            </a:r>
            <a:r>
              <a:rPr sz="2400" spc="-15" dirty="0">
                <a:latin typeface="Times New Roman"/>
                <a:cs typeface="Times New Roman"/>
              </a:rPr>
              <a:t> </a:t>
            </a:r>
            <a:r>
              <a:rPr sz="2400" dirty="0">
                <a:latin typeface="Times New Roman"/>
                <a:cs typeface="Times New Roman"/>
              </a:rPr>
              <a:t>it</a:t>
            </a:r>
            <a:r>
              <a:rPr sz="2400" spc="-4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important</a:t>
            </a:r>
            <a:r>
              <a:rPr sz="2400" spc="-4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ensure</a:t>
            </a:r>
            <a:r>
              <a:rPr sz="2400" spc="-30"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spc="-25" dirty="0">
                <a:latin typeface="Times New Roman"/>
                <a:cs typeface="Times New Roman"/>
              </a:rPr>
              <a:t>the </a:t>
            </a:r>
            <a:r>
              <a:rPr sz="2400" dirty="0">
                <a:latin typeface="Times New Roman"/>
                <a:cs typeface="Times New Roman"/>
              </a:rPr>
              <a:t>drop</a:t>
            </a:r>
            <a:r>
              <a:rPr sz="2400" spc="-1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measured</a:t>
            </a:r>
            <a:r>
              <a:rPr sz="2400" spc="-20" dirty="0">
                <a:latin typeface="Times New Roman"/>
                <a:cs typeface="Times New Roman"/>
              </a:rPr>
              <a:t> </a:t>
            </a:r>
            <a:r>
              <a:rPr sz="2400" dirty="0">
                <a:latin typeface="Times New Roman"/>
                <a:cs typeface="Times New Roman"/>
              </a:rPr>
              <a:t>signal</a:t>
            </a:r>
            <a:r>
              <a:rPr sz="2400" spc="-25" dirty="0">
                <a:latin typeface="Times New Roman"/>
                <a:cs typeface="Times New Roman"/>
              </a:rPr>
              <a:t> </a:t>
            </a:r>
            <a:r>
              <a:rPr sz="2400" dirty="0">
                <a:latin typeface="Times New Roman"/>
                <a:cs typeface="Times New Roman"/>
              </a:rPr>
              <a:t>level</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not</a:t>
            </a:r>
            <a:r>
              <a:rPr sz="2400" spc="-20" dirty="0">
                <a:latin typeface="Times New Roman"/>
                <a:cs typeface="Times New Roman"/>
              </a:rPr>
              <a:t> </a:t>
            </a:r>
            <a:r>
              <a:rPr sz="2400" dirty="0">
                <a:latin typeface="Times New Roman"/>
                <a:cs typeface="Times New Roman"/>
              </a:rPr>
              <a:t>due</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10" dirty="0">
                <a:latin typeface="Times New Roman"/>
                <a:cs typeface="Times New Roman"/>
              </a:rPr>
              <a:t>momentary fading.</a:t>
            </a:r>
            <a:endParaRPr sz="2400">
              <a:latin typeface="Times New Roman"/>
              <a:cs typeface="Times New Roman"/>
            </a:endParaRPr>
          </a:p>
          <a:p>
            <a:pPr marL="355600" marR="664845"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about</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vehicle</a:t>
            </a:r>
            <a:r>
              <a:rPr sz="2400" spc="-40" dirty="0">
                <a:latin typeface="Times New Roman"/>
                <a:cs typeface="Times New Roman"/>
              </a:rPr>
              <a:t> </a:t>
            </a:r>
            <a:r>
              <a:rPr sz="2400" dirty="0">
                <a:latin typeface="Times New Roman"/>
                <a:cs typeface="Times New Roman"/>
              </a:rPr>
              <a:t>speed</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useful</a:t>
            </a:r>
            <a:r>
              <a:rPr sz="2400" spc="-1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spc="-10" dirty="0">
                <a:latin typeface="Times New Roman"/>
                <a:cs typeface="Times New Roman"/>
              </a:rPr>
              <a:t>handoff decisions.</a:t>
            </a:r>
            <a:endParaRPr sz="2400">
              <a:latin typeface="Times New Roman"/>
              <a:cs typeface="Times New Roman"/>
            </a:endParaRPr>
          </a:p>
          <a:p>
            <a:pPr marL="355600" marR="238125" indent="-342900">
              <a:lnSpc>
                <a:spcPct val="100000"/>
              </a:lnSpc>
              <a:spcBef>
                <a:spcPts val="575"/>
              </a:spcBef>
              <a:buClr>
                <a:srgbClr val="0F1141"/>
              </a:buClr>
              <a:buFont typeface="Arial MT"/>
              <a:buChar char="•"/>
              <a:tabLst>
                <a:tab pos="355600" algn="l"/>
              </a:tabLst>
            </a:pPr>
            <a:r>
              <a:rPr sz="2400" dirty="0">
                <a:latin typeface="Times New Roman"/>
                <a:cs typeface="Times New Roman"/>
              </a:rPr>
              <a:t>Dwell</a:t>
            </a:r>
            <a:r>
              <a:rPr sz="2400" spc="-10" dirty="0">
                <a:latin typeface="Times New Roman"/>
                <a:cs typeface="Times New Roman"/>
              </a:rPr>
              <a:t> </a:t>
            </a:r>
            <a:r>
              <a:rPr sz="2400" dirty="0">
                <a:latin typeface="Times New Roman"/>
                <a:cs typeface="Times New Roman"/>
              </a:rPr>
              <a:t>time</a:t>
            </a:r>
            <a:r>
              <a:rPr sz="2400" spc="-1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time</a:t>
            </a:r>
            <a:r>
              <a:rPr sz="2400" spc="-20" dirty="0">
                <a:latin typeface="Times New Roman"/>
                <a:cs typeface="Times New Roman"/>
              </a:rPr>
              <a:t> </a:t>
            </a:r>
            <a:r>
              <a:rPr sz="2400" dirty="0">
                <a:latin typeface="Times New Roman"/>
                <a:cs typeface="Times New Roman"/>
              </a:rPr>
              <a:t>over</a:t>
            </a:r>
            <a:r>
              <a:rPr sz="2400" spc="-5" dirty="0">
                <a:latin typeface="Times New Roman"/>
                <a:cs typeface="Times New Roman"/>
              </a:rPr>
              <a:t> </a:t>
            </a:r>
            <a:r>
              <a:rPr sz="2400" dirty="0">
                <a:latin typeface="Times New Roman"/>
                <a:cs typeface="Times New Roman"/>
              </a:rPr>
              <a:t>which</a:t>
            </a:r>
            <a:r>
              <a:rPr sz="2400" spc="-2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call</a:t>
            </a:r>
            <a:r>
              <a:rPr sz="2400" spc="-40" dirty="0">
                <a:latin typeface="Times New Roman"/>
                <a:cs typeface="Times New Roman"/>
              </a:rPr>
              <a:t> </a:t>
            </a:r>
            <a:r>
              <a:rPr sz="2400" dirty="0">
                <a:latin typeface="Times New Roman"/>
                <a:cs typeface="Times New Roman"/>
              </a:rPr>
              <a:t>may be</a:t>
            </a:r>
            <a:r>
              <a:rPr sz="2400" spc="-15" dirty="0">
                <a:latin typeface="Times New Roman"/>
                <a:cs typeface="Times New Roman"/>
              </a:rPr>
              <a:t> </a:t>
            </a:r>
            <a:r>
              <a:rPr sz="2400" spc="-10" dirty="0">
                <a:latin typeface="Times New Roman"/>
                <a:cs typeface="Times New Roman"/>
              </a:rPr>
              <a:t>maintained </a:t>
            </a:r>
            <a:r>
              <a:rPr sz="2400" dirty="0">
                <a:latin typeface="Times New Roman"/>
                <a:cs typeface="Times New Roman"/>
              </a:rPr>
              <a:t>within</a:t>
            </a:r>
            <a:r>
              <a:rPr sz="2400" spc="-25" dirty="0">
                <a:latin typeface="Times New Roman"/>
                <a:cs typeface="Times New Roman"/>
              </a:rPr>
              <a:t> </a:t>
            </a:r>
            <a:r>
              <a:rPr sz="2400" dirty="0">
                <a:latin typeface="Times New Roman"/>
                <a:cs typeface="Times New Roman"/>
              </a:rPr>
              <a:t>a cell</a:t>
            </a:r>
            <a:r>
              <a:rPr sz="2400" spc="-30" dirty="0">
                <a:latin typeface="Times New Roman"/>
                <a:cs typeface="Times New Roman"/>
              </a:rPr>
              <a:t> </a:t>
            </a:r>
            <a:r>
              <a:rPr sz="2400" dirty="0">
                <a:latin typeface="Times New Roman"/>
                <a:cs typeface="Times New Roman"/>
              </a:rPr>
              <a:t>without </a:t>
            </a:r>
            <a:r>
              <a:rPr sz="2400" spc="-10" dirty="0">
                <a:latin typeface="Times New Roman"/>
                <a:cs typeface="Times New Roman"/>
              </a:rPr>
              <a:t>handoff.</a:t>
            </a:r>
            <a:endParaRPr sz="2400">
              <a:latin typeface="Times New Roman"/>
              <a:cs typeface="Times New Roman"/>
            </a:endParaRPr>
          </a:p>
          <a:p>
            <a:pPr marL="355600" marR="585470" indent="-342900">
              <a:lnSpc>
                <a:spcPct val="100000"/>
              </a:lnSpc>
              <a:spcBef>
                <a:spcPts val="580"/>
              </a:spcBef>
              <a:buClr>
                <a:srgbClr val="0F1141"/>
              </a:buClr>
              <a:buFont typeface="Arial MT"/>
              <a:buChar char="•"/>
              <a:tabLst>
                <a:tab pos="3556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statistics</a:t>
            </a:r>
            <a:r>
              <a:rPr sz="2400" spc="-40" dirty="0">
                <a:latin typeface="Times New Roman"/>
                <a:cs typeface="Times New Roman"/>
              </a:rPr>
              <a:t> </a:t>
            </a:r>
            <a:r>
              <a:rPr sz="2400" dirty="0">
                <a:latin typeface="Times New Roman"/>
                <a:cs typeface="Times New Roman"/>
              </a:rPr>
              <a:t>of dwell</a:t>
            </a:r>
            <a:r>
              <a:rPr sz="2400" spc="-25" dirty="0">
                <a:latin typeface="Times New Roman"/>
                <a:cs typeface="Times New Roman"/>
              </a:rPr>
              <a:t> </a:t>
            </a:r>
            <a:r>
              <a:rPr sz="2400" dirty="0">
                <a:latin typeface="Times New Roman"/>
                <a:cs typeface="Times New Roman"/>
              </a:rPr>
              <a:t>time are</a:t>
            </a:r>
            <a:r>
              <a:rPr sz="2400" spc="-30" dirty="0">
                <a:latin typeface="Times New Roman"/>
                <a:cs typeface="Times New Roman"/>
              </a:rPr>
              <a:t> </a:t>
            </a:r>
            <a:r>
              <a:rPr sz="2400" dirty="0">
                <a:latin typeface="Times New Roman"/>
                <a:cs typeface="Times New Roman"/>
              </a:rPr>
              <a:t>important</a:t>
            </a:r>
            <a:r>
              <a:rPr sz="2400" spc="-2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practical </a:t>
            </a:r>
            <a:r>
              <a:rPr sz="2400" dirty="0">
                <a:latin typeface="Times New Roman"/>
                <a:cs typeface="Times New Roman"/>
              </a:rPr>
              <a:t>design</a:t>
            </a:r>
            <a:r>
              <a:rPr sz="2400" spc="-4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handoff</a:t>
            </a:r>
            <a:r>
              <a:rPr sz="2400" spc="-25" dirty="0">
                <a:latin typeface="Times New Roman"/>
                <a:cs typeface="Times New Roman"/>
              </a:rPr>
              <a:t> </a:t>
            </a:r>
            <a:r>
              <a:rPr sz="2400" spc="-10" dirty="0">
                <a:latin typeface="Times New Roman"/>
                <a:cs typeface="Times New Roman"/>
              </a:rPr>
              <a:t>algorithm.</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27</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47330" cy="2000885"/>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first</a:t>
            </a:r>
            <a:r>
              <a:rPr sz="2400" spc="-10" dirty="0">
                <a:latin typeface="Times New Roman"/>
                <a:cs typeface="Times New Roman"/>
              </a:rPr>
              <a:t> </a:t>
            </a:r>
            <a:r>
              <a:rPr sz="2400" dirty="0">
                <a:latin typeface="Times New Roman"/>
                <a:cs typeface="Times New Roman"/>
              </a:rPr>
              <a:t>generation</a:t>
            </a:r>
            <a:r>
              <a:rPr sz="2400" spc="-50" dirty="0">
                <a:latin typeface="Times New Roman"/>
                <a:cs typeface="Times New Roman"/>
              </a:rPr>
              <a:t> </a:t>
            </a:r>
            <a:r>
              <a:rPr sz="2400" dirty="0">
                <a:latin typeface="Times New Roman"/>
                <a:cs typeface="Times New Roman"/>
              </a:rPr>
              <a:t>analog</a:t>
            </a:r>
            <a:r>
              <a:rPr sz="2400" spc="-25" dirty="0">
                <a:latin typeface="Times New Roman"/>
                <a:cs typeface="Times New Roman"/>
              </a:rPr>
              <a:t> </a:t>
            </a:r>
            <a:r>
              <a:rPr sz="2400" dirty="0">
                <a:latin typeface="Times New Roman"/>
                <a:cs typeface="Times New Roman"/>
              </a:rPr>
              <a:t>cellular</a:t>
            </a:r>
            <a:r>
              <a:rPr sz="2400" spc="-55" dirty="0">
                <a:latin typeface="Times New Roman"/>
                <a:cs typeface="Times New Roman"/>
              </a:rPr>
              <a:t> </a:t>
            </a:r>
            <a:r>
              <a:rPr sz="2400" dirty="0">
                <a:latin typeface="Times New Roman"/>
                <a:cs typeface="Times New Roman"/>
              </a:rPr>
              <a:t>system,</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locator</a:t>
            </a:r>
            <a:r>
              <a:rPr sz="2400" spc="-30" dirty="0">
                <a:latin typeface="Times New Roman"/>
                <a:cs typeface="Times New Roman"/>
              </a:rPr>
              <a:t> </a:t>
            </a:r>
            <a:r>
              <a:rPr sz="2400" spc="-10" dirty="0">
                <a:latin typeface="Times New Roman"/>
                <a:cs typeface="Times New Roman"/>
              </a:rPr>
              <a:t>receiver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for</a:t>
            </a:r>
            <a:r>
              <a:rPr sz="2400" spc="-30" dirty="0">
                <a:latin typeface="Times New Roman"/>
                <a:cs typeface="Times New Roman"/>
              </a:rPr>
              <a:t> </a:t>
            </a:r>
            <a:r>
              <a:rPr sz="2400" spc="-10" dirty="0">
                <a:latin typeface="Times New Roman"/>
                <a:cs typeface="Times New Roman"/>
              </a:rPr>
              <a:t>handoff.</a:t>
            </a:r>
            <a:endParaRPr sz="2400">
              <a:latin typeface="Times New Roman"/>
              <a:cs typeface="Times New Roman"/>
            </a:endParaRPr>
          </a:p>
          <a:p>
            <a:pPr marL="355600" marR="353060"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second</a:t>
            </a:r>
            <a:r>
              <a:rPr sz="2400" spc="-25" dirty="0">
                <a:latin typeface="Times New Roman"/>
                <a:cs typeface="Times New Roman"/>
              </a:rPr>
              <a:t> </a:t>
            </a:r>
            <a:r>
              <a:rPr sz="2400" dirty="0">
                <a:latin typeface="Times New Roman"/>
                <a:cs typeface="Times New Roman"/>
              </a:rPr>
              <a:t>generation</a:t>
            </a:r>
            <a:r>
              <a:rPr sz="2400" spc="-65"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dirty="0">
                <a:latin typeface="Times New Roman"/>
                <a:cs typeface="Times New Roman"/>
              </a:rPr>
              <a:t>handoff</a:t>
            </a:r>
            <a:r>
              <a:rPr sz="2400" spc="-30" dirty="0">
                <a:latin typeface="Times New Roman"/>
                <a:cs typeface="Times New Roman"/>
              </a:rPr>
              <a:t> </a:t>
            </a:r>
            <a:r>
              <a:rPr sz="2400" dirty="0">
                <a:latin typeface="Times New Roman"/>
                <a:cs typeface="Times New Roman"/>
              </a:rPr>
              <a:t>decisions</a:t>
            </a:r>
            <a:r>
              <a:rPr sz="2400" spc="-45"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spc="-10" dirty="0">
                <a:latin typeface="Times New Roman"/>
                <a:cs typeface="Times New Roman"/>
              </a:rPr>
              <a:t>mobile </a:t>
            </a:r>
            <a:r>
              <a:rPr sz="2400" dirty="0">
                <a:latin typeface="Times New Roman"/>
                <a:cs typeface="Times New Roman"/>
              </a:rPr>
              <a:t>assisted</a:t>
            </a:r>
            <a:r>
              <a:rPr sz="2400" spc="-50" dirty="0">
                <a:latin typeface="Times New Roman"/>
                <a:cs typeface="Times New Roman"/>
              </a:rPr>
              <a:t> </a:t>
            </a:r>
            <a:r>
              <a:rPr sz="2400" dirty="0">
                <a:latin typeface="Times New Roman"/>
                <a:cs typeface="Times New Roman"/>
              </a:rPr>
              <a:t>–mobile</a:t>
            </a:r>
            <a:r>
              <a:rPr sz="2400" spc="-40" dirty="0">
                <a:latin typeface="Times New Roman"/>
                <a:cs typeface="Times New Roman"/>
              </a:rPr>
              <a:t> </a:t>
            </a:r>
            <a:r>
              <a:rPr sz="2400" dirty="0">
                <a:latin typeface="Times New Roman"/>
                <a:cs typeface="Times New Roman"/>
              </a:rPr>
              <a:t>assisted</a:t>
            </a:r>
            <a:r>
              <a:rPr sz="2400" spc="-55" dirty="0">
                <a:latin typeface="Times New Roman"/>
                <a:cs typeface="Times New Roman"/>
              </a:rPr>
              <a:t> </a:t>
            </a:r>
            <a:r>
              <a:rPr sz="2400" dirty="0">
                <a:latin typeface="Times New Roman"/>
                <a:cs typeface="Times New Roman"/>
              </a:rPr>
              <a:t>handoff</a:t>
            </a:r>
            <a:r>
              <a:rPr sz="2400" spc="-35" dirty="0">
                <a:latin typeface="Times New Roman"/>
                <a:cs typeface="Times New Roman"/>
              </a:rPr>
              <a:t> </a:t>
            </a:r>
            <a:r>
              <a:rPr sz="2400" spc="-10" dirty="0">
                <a:latin typeface="Times New Roman"/>
                <a:cs typeface="Times New Roman"/>
              </a:rPr>
              <a:t>(MAHO).</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Intersystem</a:t>
            </a:r>
            <a:r>
              <a:rPr sz="2400" spc="-85" dirty="0">
                <a:latin typeface="Times New Roman"/>
                <a:cs typeface="Times New Roman"/>
              </a:rPr>
              <a:t> </a:t>
            </a:r>
            <a:r>
              <a:rPr sz="2400" dirty="0">
                <a:latin typeface="Times New Roman"/>
                <a:cs typeface="Times New Roman"/>
              </a:rPr>
              <a:t>handoff</a:t>
            </a:r>
            <a:r>
              <a:rPr sz="2400" spc="-10" dirty="0">
                <a:latin typeface="Times New Roman"/>
                <a:cs typeface="Times New Roman"/>
              </a:rPr>
              <a:t> </a:t>
            </a:r>
            <a:r>
              <a:rPr sz="2400" dirty="0">
                <a:latin typeface="Times New Roman"/>
                <a:cs typeface="Times New Roman"/>
              </a:rPr>
              <a:t>–different</a:t>
            </a:r>
            <a:r>
              <a:rPr sz="2400" spc="-60" dirty="0">
                <a:latin typeface="Times New Roman"/>
                <a:cs typeface="Times New Roman"/>
              </a:rPr>
              <a:t> </a:t>
            </a:r>
            <a:r>
              <a:rPr sz="2400" dirty="0">
                <a:latin typeface="Times New Roman"/>
                <a:cs typeface="Times New Roman"/>
              </a:rPr>
              <a:t>cellular</a:t>
            </a:r>
            <a:r>
              <a:rPr sz="2400" spc="-85" dirty="0">
                <a:latin typeface="Times New Roman"/>
                <a:cs typeface="Times New Roman"/>
              </a:rPr>
              <a:t> </a:t>
            </a:r>
            <a:r>
              <a:rPr sz="2400" dirty="0">
                <a:latin typeface="Times New Roman"/>
                <a:cs typeface="Times New Roman"/>
              </a:rPr>
              <a:t>systems</a:t>
            </a:r>
            <a:r>
              <a:rPr sz="2400" spc="-15" dirty="0">
                <a:latin typeface="Times New Roman"/>
                <a:cs typeface="Times New Roman"/>
              </a:rPr>
              <a:t> </a:t>
            </a:r>
            <a:r>
              <a:rPr sz="2400" spc="-10" dirty="0">
                <a:latin typeface="Times New Roman"/>
                <a:cs typeface="Times New Roman"/>
              </a:rPr>
              <a:t>–roamer.</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28</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73390" cy="1927860"/>
          </a:xfrm>
          <a:prstGeom prst="rect">
            <a:avLst/>
          </a:prstGeom>
        </p:spPr>
        <p:txBody>
          <a:bodyPr vert="horz" wrap="square" lIns="0" tIns="12700" rIns="0" bIns="0" rtlCol="0">
            <a:spAutoFit/>
          </a:bodyPr>
          <a:lstStyle/>
          <a:p>
            <a:pPr marL="353060" marR="5715" indent="-340360" algn="just">
              <a:lnSpc>
                <a:spcPct val="100000"/>
              </a:lnSpc>
              <a:spcBef>
                <a:spcPts val="100"/>
              </a:spcBef>
              <a:buClr>
                <a:srgbClr val="0F1141"/>
              </a:buClr>
              <a:buFont typeface="Arial MT"/>
              <a:buChar char="•"/>
              <a:tabLst>
                <a:tab pos="355600" algn="l"/>
              </a:tabLst>
            </a:pPr>
            <a:r>
              <a:rPr sz="2400" dirty="0">
                <a:latin typeface="Times New Roman"/>
                <a:cs typeface="Times New Roman"/>
              </a:rPr>
              <a:t>Guard</a:t>
            </a:r>
            <a:r>
              <a:rPr sz="2400" spc="455" dirty="0">
                <a:latin typeface="Times New Roman"/>
                <a:cs typeface="Times New Roman"/>
              </a:rPr>
              <a:t> </a:t>
            </a:r>
            <a:r>
              <a:rPr sz="2400" dirty="0">
                <a:latin typeface="Times New Roman"/>
                <a:cs typeface="Times New Roman"/>
              </a:rPr>
              <a:t>channel</a:t>
            </a:r>
            <a:r>
              <a:rPr sz="2400" spc="445" dirty="0">
                <a:latin typeface="Times New Roman"/>
                <a:cs typeface="Times New Roman"/>
              </a:rPr>
              <a:t> </a:t>
            </a:r>
            <a:r>
              <a:rPr sz="2400" dirty="0">
                <a:latin typeface="Times New Roman"/>
                <a:cs typeface="Times New Roman"/>
              </a:rPr>
              <a:t>concept</a:t>
            </a:r>
            <a:r>
              <a:rPr sz="2400" spc="455" dirty="0">
                <a:latin typeface="Times New Roman"/>
                <a:cs typeface="Times New Roman"/>
              </a:rPr>
              <a:t> </a:t>
            </a:r>
            <a:r>
              <a:rPr sz="2400" dirty="0">
                <a:latin typeface="Times New Roman"/>
                <a:cs typeface="Times New Roman"/>
              </a:rPr>
              <a:t>–can</a:t>
            </a:r>
            <a:r>
              <a:rPr sz="2400" spc="445" dirty="0">
                <a:latin typeface="Times New Roman"/>
                <a:cs typeface="Times New Roman"/>
              </a:rPr>
              <a:t> </a:t>
            </a:r>
            <a:r>
              <a:rPr sz="2400" dirty="0">
                <a:latin typeface="Times New Roman"/>
                <a:cs typeface="Times New Roman"/>
              </a:rPr>
              <a:t>be</a:t>
            </a:r>
            <a:r>
              <a:rPr sz="2400" spc="450" dirty="0">
                <a:latin typeface="Times New Roman"/>
                <a:cs typeface="Times New Roman"/>
              </a:rPr>
              <a:t> </a:t>
            </a:r>
            <a:r>
              <a:rPr sz="2400" dirty="0">
                <a:latin typeface="Times New Roman"/>
                <a:cs typeface="Times New Roman"/>
              </a:rPr>
              <a:t>used</a:t>
            </a:r>
            <a:r>
              <a:rPr sz="2400" spc="459" dirty="0">
                <a:latin typeface="Times New Roman"/>
                <a:cs typeface="Times New Roman"/>
              </a:rPr>
              <a:t> </a:t>
            </a:r>
            <a:r>
              <a:rPr sz="2400" dirty="0">
                <a:latin typeface="Times New Roman"/>
                <a:cs typeface="Times New Roman"/>
              </a:rPr>
              <a:t>with</a:t>
            </a:r>
            <a:r>
              <a:rPr sz="2400" spc="465" dirty="0">
                <a:latin typeface="Times New Roman"/>
                <a:cs typeface="Times New Roman"/>
              </a:rPr>
              <a:t> </a:t>
            </a:r>
            <a:r>
              <a:rPr sz="2400" dirty="0">
                <a:latin typeface="Times New Roman"/>
                <a:cs typeface="Times New Roman"/>
              </a:rPr>
              <a:t>dynamic</a:t>
            </a:r>
            <a:r>
              <a:rPr sz="2400" spc="470" dirty="0">
                <a:latin typeface="Times New Roman"/>
                <a:cs typeface="Times New Roman"/>
              </a:rPr>
              <a:t> </a:t>
            </a:r>
            <a:r>
              <a:rPr sz="2400" spc="-10" dirty="0">
                <a:latin typeface="Times New Roman"/>
                <a:cs typeface="Times New Roman"/>
              </a:rPr>
              <a:t>channel 	</a:t>
            </a:r>
            <a:r>
              <a:rPr sz="2400" dirty="0">
                <a:latin typeface="Times New Roman"/>
                <a:cs typeface="Times New Roman"/>
              </a:rPr>
              <a:t>assignment</a:t>
            </a:r>
            <a:r>
              <a:rPr sz="2400" spc="-10" dirty="0">
                <a:latin typeface="Times New Roman"/>
                <a:cs typeface="Times New Roman"/>
              </a:rPr>
              <a:t> </a:t>
            </a:r>
            <a:r>
              <a:rPr sz="2400" dirty="0">
                <a:latin typeface="Times New Roman"/>
                <a:cs typeface="Times New Roman"/>
              </a:rPr>
              <a:t>strategies</a:t>
            </a:r>
            <a:r>
              <a:rPr sz="2400" spc="-3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increase</a:t>
            </a:r>
            <a:r>
              <a:rPr sz="2400" spc="-20" dirty="0">
                <a:latin typeface="Times New Roman"/>
                <a:cs typeface="Times New Roman"/>
              </a:rPr>
              <a:t> </a:t>
            </a:r>
            <a:r>
              <a:rPr sz="2400" dirty="0">
                <a:latin typeface="Times New Roman"/>
                <a:cs typeface="Times New Roman"/>
              </a:rPr>
              <a:t>spectrum</a:t>
            </a:r>
            <a:r>
              <a:rPr sz="2400" spc="-30" dirty="0">
                <a:latin typeface="Times New Roman"/>
                <a:cs typeface="Times New Roman"/>
              </a:rPr>
              <a:t> </a:t>
            </a:r>
            <a:r>
              <a:rPr sz="2400" spc="-10" dirty="0">
                <a:latin typeface="Times New Roman"/>
                <a:cs typeface="Times New Roman"/>
              </a:rPr>
              <a:t>utilization.</a:t>
            </a:r>
            <a:endParaRPr sz="2400">
              <a:latin typeface="Times New Roman"/>
              <a:cs typeface="Times New Roman"/>
            </a:endParaRPr>
          </a:p>
          <a:p>
            <a:pPr marL="353060" marR="5080" indent="-340360" algn="just">
              <a:lnSpc>
                <a:spcPct val="100000"/>
              </a:lnSpc>
              <a:spcBef>
                <a:spcPts val="575"/>
              </a:spcBef>
              <a:buClr>
                <a:srgbClr val="0F1141"/>
              </a:buClr>
              <a:buFont typeface="Arial MT"/>
              <a:buChar char="•"/>
              <a:tabLst>
                <a:tab pos="355600" algn="l"/>
              </a:tabLst>
            </a:pPr>
            <a:r>
              <a:rPr sz="2400" dirty="0">
                <a:latin typeface="Times New Roman"/>
                <a:cs typeface="Times New Roman"/>
              </a:rPr>
              <a:t>Queuing</a:t>
            </a:r>
            <a:r>
              <a:rPr sz="2400" spc="390" dirty="0">
                <a:latin typeface="Times New Roman"/>
                <a:cs typeface="Times New Roman"/>
              </a:rPr>
              <a:t> </a:t>
            </a:r>
            <a:r>
              <a:rPr sz="2400" dirty="0">
                <a:latin typeface="Times New Roman"/>
                <a:cs typeface="Times New Roman"/>
              </a:rPr>
              <a:t>of</a:t>
            </a:r>
            <a:r>
              <a:rPr sz="2400" spc="370" dirty="0">
                <a:latin typeface="Times New Roman"/>
                <a:cs typeface="Times New Roman"/>
              </a:rPr>
              <a:t> </a:t>
            </a:r>
            <a:r>
              <a:rPr sz="2400" dirty="0">
                <a:latin typeface="Times New Roman"/>
                <a:cs typeface="Times New Roman"/>
              </a:rPr>
              <a:t>handoff</a:t>
            </a:r>
            <a:r>
              <a:rPr sz="2400" spc="385" dirty="0">
                <a:latin typeface="Times New Roman"/>
                <a:cs typeface="Times New Roman"/>
              </a:rPr>
              <a:t> </a:t>
            </a:r>
            <a:r>
              <a:rPr sz="2400" dirty="0">
                <a:latin typeface="Times New Roman"/>
                <a:cs typeface="Times New Roman"/>
              </a:rPr>
              <a:t>–possible</a:t>
            </a:r>
            <a:r>
              <a:rPr sz="2400" spc="400" dirty="0">
                <a:latin typeface="Times New Roman"/>
                <a:cs typeface="Times New Roman"/>
              </a:rPr>
              <a:t> </a:t>
            </a:r>
            <a:r>
              <a:rPr sz="2400" dirty="0">
                <a:latin typeface="Times New Roman"/>
                <a:cs typeface="Times New Roman"/>
              </a:rPr>
              <a:t>due</a:t>
            </a:r>
            <a:r>
              <a:rPr sz="2400" spc="380" dirty="0">
                <a:latin typeface="Times New Roman"/>
                <a:cs typeface="Times New Roman"/>
              </a:rPr>
              <a:t> </a:t>
            </a:r>
            <a:r>
              <a:rPr sz="2400" dirty="0">
                <a:latin typeface="Times New Roman"/>
                <a:cs typeface="Times New Roman"/>
              </a:rPr>
              <a:t>to</a:t>
            </a:r>
            <a:r>
              <a:rPr sz="2400" spc="390" dirty="0">
                <a:latin typeface="Times New Roman"/>
                <a:cs typeface="Times New Roman"/>
              </a:rPr>
              <a:t> </a:t>
            </a:r>
            <a:r>
              <a:rPr sz="2400" dirty="0">
                <a:latin typeface="Times New Roman"/>
                <a:cs typeface="Times New Roman"/>
              </a:rPr>
              <a:t>the</a:t>
            </a:r>
            <a:r>
              <a:rPr sz="2400" spc="395" dirty="0">
                <a:latin typeface="Times New Roman"/>
                <a:cs typeface="Times New Roman"/>
              </a:rPr>
              <a:t> </a:t>
            </a:r>
            <a:r>
              <a:rPr sz="2400" dirty="0">
                <a:latin typeface="Times New Roman"/>
                <a:cs typeface="Times New Roman"/>
              </a:rPr>
              <a:t>fact</a:t>
            </a:r>
            <a:r>
              <a:rPr sz="2400" spc="385" dirty="0">
                <a:latin typeface="Times New Roman"/>
                <a:cs typeface="Times New Roman"/>
              </a:rPr>
              <a:t> </a:t>
            </a:r>
            <a:r>
              <a:rPr sz="2400" dirty="0">
                <a:latin typeface="Times New Roman"/>
                <a:cs typeface="Times New Roman"/>
              </a:rPr>
              <a:t>that</a:t>
            </a:r>
            <a:r>
              <a:rPr sz="2400" spc="385" dirty="0">
                <a:latin typeface="Times New Roman"/>
                <a:cs typeface="Times New Roman"/>
              </a:rPr>
              <a:t> </a:t>
            </a:r>
            <a:r>
              <a:rPr sz="2400" dirty="0">
                <a:latin typeface="Times New Roman"/>
                <a:cs typeface="Times New Roman"/>
              </a:rPr>
              <a:t>there</a:t>
            </a:r>
            <a:r>
              <a:rPr sz="2400" spc="375" dirty="0">
                <a:latin typeface="Times New Roman"/>
                <a:cs typeface="Times New Roman"/>
              </a:rPr>
              <a:t> </a:t>
            </a:r>
            <a:r>
              <a:rPr sz="2400" dirty="0">
                <a:latin typeface="Times New Roman"/>
                <a:cs typeface="Times New Roman"/>
              </a:rPr>
              <a:t>is</a:t>
            </a:r>
            <a:r>
              <a:rPr sz="2400" spc="380" dirty="0">
                <a:latin typeface="Times New Roman"/>
                <a:cs typeface="Times New Roman"/>
              </a:rPr>
              <a:t> </a:t>
            </a:r>
            <a:r>
              <a:rPr sz="2400" spc="-50" dirty="0">
                <a:latin typeface="Times New Roman"/>
                <a:cs typeface="Times New Roman"/>
              </a:rPr>
              <a:t>a 	</a:t>
            </a:r>
            <a:r>
              <a:rPr sz="2400" dirty="0">
                <a:latin typeface="Times New Roman"/>
                <a:cs typeface="Times New Roman"/>
              </a:rPr>
              <a:t>finite</a:t>
            </a:r>
            <a:r>
              <a:rPr sz="2400" spc="340" dirty="0">
                <a:latin typeface="Times New Roman"/>
                <a:cs typeface="Times New Roman"/>
              </a:rPr>
              <a:t> </a:t>
            </a:r>
            <a:r>
              <a:rPr sz="2400" dirty="0">
                <a:latin typeface="Times New Roman"/>
                <a:cs typeface="Times New Roman"/>
              </a:rPr>
              <a:t>time</a:t>
            </a:r>
            <a:r>
              <a:rPr sz="2400" spc="330" dirty="0">
                <a:latin typeface="Times New Roman"/>
                <a:cs typeface="Times New Roman"/>
              </a:rPr>
              <a:t> </a:t>
            </a:r>
            <a:r>
              <a:rPr sz="2400" dirty="0">
                <a:latin typeface="Times New Roman"/>
                <a:cs typeface="Times New Roman"/>
              </a:rPr>
              <a:t>interval</a:t>
            </a:r>
            <a:r>
              <a:rPr sz="2400" spc="350" dirty="0">
                <a:latin typeface="Times New Roman"/>
                <a:cs typeface="Times New Roman"/>
              </a:rPr>
              <a:t> </a:t>
            </a:r>
            <a:r>
              <a:rPr sz="2400" dirty="0">
                <a:latin typeface="Times New Roman"/>
                <a:cs typeface="Times New Roman"/>
              </a:rPr>
              <a:t>between</a:t>
            </a:r>
            <a:r>
              <a:rPr sz="2400" spc="350" dirty="0">
                <a:latin typeface="Times New Roman"/>
                <a:cs typeface="Times New Roman"/>
              </a:rPr>
              <a:t> </a:t>
            </a:r>
            <a:r>
              <a:rPr sz="2400" dirty="0">
                <a:latin typeface="Times New Roman"/>
                <a:cs typeface="Times New Roman"/>
              </a:rPr>
              <a:t>handoff</a:t>
            </a:r>
            <a:r>
              <a:rPr sz="2400" spc="350" dirty="0">
                <a:latin typeface="Times New Roman"/>
                <a:cs typeface="Times New Roman"/>
              </a:rPr>
              <a:t> </a:t>
            </a:r>
            <a:r>
              <a:rPr sz="2400" dirty="0">
                <a:latin typeface="Times New Roman"/>
                <a:cs typeface="Times New Roman"/>
              </a:rPr>
              <a:t>threshold</a:t>
            </a:r>
            <a:r>
              <a:rPr sz="2400" spc="335" dirty="0">
                <a:latin typeface="Times New Roman"/>
                <a:cs typeface="Times New Roman"/>
              </a:rPr>
              <a:t> </a:t>
            </a:r>
            <a:r>
              <a:rPr sz="2400" dirty="0">
                <a:latin typeface="Times New Roman"/>
                <a:cs typeface="Times New Roman"/>
              </a:rPr>
              <a:t>time</a:t>
            </a:r>
            <a:r>
              <a:rPr sz="2400" spc="345" dirty="0">
                <a:latin typeface="Times New Roman"/>
                <a:cs typeface="Times New Roman"/>
              </a:rPr>
              <a:t> </a:t>
            </a:r>
            <a:r>
              <a:rPr sz="2400" dirty="0">
                <a:latin typeface="Times New Roman"/>
                <a:cs typeface="Times New Roman"/>
              </a:rPr>
              <a:t>and</a:t>
            </a:r>
            <a:r>
              <a:rPr sz="2400" spc="340" dirty="0">
                <a:latin typeface="Times New Roman"/>
                <a:cs typeface="Times New Roman"/>
              </a:rPr>
              <a:t> </a:t>
            </a:r>
            <a:r>
              <a:rPr sz="2400" spc="-10" dirty="0">
                <a:latin typeface="Times New Roman"/>
                <a:cs typeface="Times New Roman"/>
              </a:rPr>
              <a:t>call- 	</a:t>
            </a:r>
            <a:r>
              <a:rPr sz="2400" dirty="0">
                <a:latin typeface="Times New Roman"/>
                <a:cs typeface="Times New Roman"/>
              </a:rPr>
              <a:t>terminated</a:t>
            </a:r>
            <a:r>
              <a:rPr sz="2400" spc="-40" dirty="0">
                <a:latin typeface="Times New Roman"/>
                <a:cs typeface="Times New Roman"/>
              </a:rPr>
              <a:t> </a:t>
            </a:r>
            <a:r>
              <a:rPr sz="2400" spc="-20" dirty="0">
                <a:latin typeface="Times New Roman"/>
                <a:cs typeface="Times New Roman"/>
              </a:rPr>
              <a:t>time</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spc="-155" dirty="0"/>
              <a:t>Prioritizing</a:t>
            </a:r>
            <a:r>
              <a:rPr spc="-140" dirty="0"/>
              <a:t> </a:t>
            </a:r>
            <a:r>
              <a:rPr spc="-130" dirty="0"/>
              <a:t>Handoffs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73390" cy="1123315"/>
          </a:xfrm>
          <a:prstGeom prst="rect">
            <a:avLst/>
          </a:prstGeom>
        </p:spPr>
        <p:txBody>
          <a:bodyPr vert="horz" wrap="square" lIns="0" tIns="12700" rIns="0" bIns="0" rtlCol="0">
            <a:spAutoFit/>
          </a:bodyPr>
          <a:lstStyle/>
          <a:p>
            <a:pPr marL="353060" marR="5080" indent="-340360" algn="just">
              <a:lnSpc>
                <a:spcPct val="100000"/>
              </a:lnSpc>
              <a:spcBef>
                <a:spcPts val="100"/>
              </a:spcBef>
              <a:buClr>
                <a:srgbClr val="0F1141"/>
              </a:buClr>
              <a:buFont typeface="Arial MT"/>
              <a:buChar char="•"/>
              <a:tabLst>
                <a:tab pos="355600" algn="l"/>
              </a:tabLst>
            </a:pPr>
            <a:r>
              <a:rPr sz="2400" dirty="0">
                <a:latin typeface="Times New Roman"/>
                <a:cs typeface="Times New Roman"/>
              </a:rPr>
              <a:t>Several</a:t>
            </a:r>
            <a:r>
              <a:rPr sz="2400" spc="40" dirty="0">
                <a:latin typeface="Times New Roman"/>
                <a:cs typeface="Times New Roman"/>
              </a:rPr>
              <a:t>  </a:t>
            </a:r>
            <a:r>
              <a:rPr sz="2400" dirty="0">
                <a:latin typeface="Times New Roman"/>
                <a:cs typeface="Times New Roman"/>
              </a:rPr>
              <a:t>handoff</a:t>
            </a:r>
            <a:r>
              <a:rPr sz="2400" spc="35" dirty="0">
                <a:latin typeface="Times New Roman"/>
                <a:cs typeface="Times New Roman"/>
              </a:rPr>
              <a:t>  </a:t>
            </a:r>
            <a:r>
              <a:rPr sz="2400" dirty="0">
                <a:latin typeface="Times New Roman"/>
                <a:cs typeface="Times New Roman"/>
              </a:rPr>
              <a:t>schemes</a:t>
            </a:r>
            <a:r>
              <a:rPr sz="2400" spc="40" dirty="0">
                <a:latin typeface="Times New Roman"/>
                <a:cs typeface="Times New Roman"/>
              </a:rPr>
              <a:t>  </a:t>
            </a:r>
            <a:r>
              <a:rPr sz="2400" dirty="0">
                <a:latin typeface="Times New Roman"/>
                <a:cs typeface="Times New Roman"/>
              </a:rPr>
              <a:t>have</a:t>
            </a:r>
            <a:r>
              <a:rPr sz="2400" spc="40" dirty="0">
                <a:latin typeface="Times New Roman"/>
                <a:cs typeface="Times New Roman"/>
              </a:rPr>
              <a:t>  </a:t>
            </a:r>
            <a:r>
              <a:rPr sz="2400" dirty="0">
                <a:latin typeface="Times New Roman"/>
                <a:cs typeface="Times New Roman"/>
              </a:rPr>
              <a:t>been</a:t>
            </a:r>
            <a:r>
              <a:rPr sz="2400" spc="40" dirty="0">
                <a:latin typeface="Times New Roman"/>
                <a:cs typeface="Times New Roman"/>
              </a:rPr>
              <a:t>  </a:t>
            </a:r>
            <a:r>
              <a:rPr sz="2400" dirty="0">
                <a:latin typeface="Times New Roman"/>
                <a:cs typeface="Times New Roman"/>
              </a:rPr>
              <a:t>devised</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handle</a:t>
            </a:r>
            <a:r>
              <a:rPr sz="2400" spc="40" dirty="0">
                <a:latin typeface="Times New Roman"/>
                <a:cs typeface="Times New Roman"/>
              </a:rPr>
              <a:t>  </a:t>
            </a:r>
            <a:r>
              <a:rPr sz="2400" spc="-25" dirty="0">
                <a:latin typeface="Times New Roman"/>
                <a:cs typeface="Times New Roman"/>
              </a:rPr>
              <a:t>the 	</a:t>
            </a:r>
            <a:r>
              <a:rPr sz="2400" dirty="0">
                <a:latin typeface="Times New Roman"/>
                <a:cs typeface="Times New Roman"/>
              </a:rPr>
              <a:t>simultaneous</a:t>
            </a:r>
            <a:r>
              <a:rPr sz="2400" spc="45" dirty="0">
                <a:latin typeface="Times New Roman"/>
                <a:cs typeface="Times New Roman"/>
              </a:rPr>
              <a:t>  </a:t>
            </a:r>
            <a:r>
              <a:rPr sz="2400" dirty="0">
                <a:latin typeface="Times New Roman"/>
                <a:cs typeface="Times New Roman"/>
              </a:rPr>
              <a:t>traffic</a:t>
            </a:r>
            <a:r>
              <a:rPr sz="2400" spc="45"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high</a:t>
            </a:r>
            <a:r>
              <a:rPr sz="2400" spc="45" dirty="0">
                <a:latin typeface="Times New Roman"/>
                <a:cs typeface="Times New Roman"/>
              </a:rPr>
              <a:t>  </a:t>
            </a:r>
            <a:r>
              <a:rPr sz="2400" dirty="0">
                <a:latin typeface="Times New Roman"/>
                <a:cs typeface="Times New Roman"/>
              </a:rPr>
              <a:t>speed</a:t>
            </a:r>
            <a:r>
              <a:rPr sz="2400" spc="45"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low</a:t>
            </a:r>
            <a:r>
              <a:rPr sz="2400" spc="45" dirty="0">
                <a:latin typeface="Times New Roman"/>
                <a:cs typeface="Times New Roman"/>
              </a:rPr>
              <a:t>  </a:t>
            </a:r>
            <a:r>
              <a:rPr sz="2400" dirty="0">
                <a:latin typeface="Times New Roman"/>
                <a:cs typeface="Times New Roman"/>
              </a:rPr>
              <a:t>speed</a:t>
            </a:r>
            <a:r>
              <a:rPr sz="2400" spc="45" dirty="0">
                <a:latin typeface="Times New Roman"/>
                <a:cs typeface="Times New Roman"/>
              </a:rPr>
              <a:t>  </a:t>
            </a:r>
            <a:r>
              <a:rPr sz="2400" dirty="0">
                <a:latin typeface="Times New Roman"/>
                <a:cs typeface="Times New Roman"/>
              </a:rPr>
              <a:t>users</a:t>
            </a:r>
            <a:r>
              <a:rPr sz="2400" spc="45" dirty="0">
                <a:latin typeface="Times New Roman"/>
                <a:cs typeface="Times New Roman"/>
              </a:rPr>
              <a:t>  </a:t>
            </a:r>
            <a:r>
              <a:rPr sz="2400" spc="-50" dirty="0">
                <a:latin typeface="Times New Roman"/>
                <a:cs typeface="Times New Roman"/>
              </a:rPr>
              <a:t>– 	</a:t>
            </a:r>
            <a:r>
              <a:rPr sz="2400" dirty="0">
                <a:latin typeface="Times New Roman"/>
                <a:cs typeface="Times New Roman"/>
              </a:rPr>
              <a:t>minimizing</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handoff</a:t>
            </a:r>
            <a:r>
              <a:rPr sz="2400" spc="-10" dirty="0">
                <a:latin typeface="Times New Roman"/>
                <a:cs typeface="Times New Roman"/>
              </a:rPr>
              <a:t> </a:t>
            </a:r>
            <a:r>
              <a:rPr sz="2400" dirty="0">
                <a:latin typeface="Times New Roman"/>
                <a:cs typeface="Times New Roman"/>
              </a:rPr>
              <a:t>intervention</a:t>
            </a:r>
            <a:r>
              <a:rPr sz="2400" spc="-50" dirty="0">
                <a:latin typeface="Times New Roman"/>
                <a:cs typeface="Times New Roman"/>
              </a:rPr>
              <a:t> </a:t>
            </a:r>
            <a:r>
              <a:rPr sz="2400" dirty="0">
                <a:latin typeface="Times New Roman"/>
                <a:cs typeface="Times New Roman"/>
              </a:rPr>
              <a:t>from</a:t>
            </a:r>
            <a:r>
              <a:rPr sz="2400" spc="-15" dirty="0">
                <a:latin typeface="Times New Roman"/>
                <a:cs typeface="Times New Roman"/>
              </a:rPr>
              <a:t> </a:t>
            </a:r>
            <a:r>
              <a:rPr sz="2400" dirty="0">
                <a:latin typeface="Times New Roman"/>
                <a:cs typeface="Times New Roman"/>
              </a:rPr>
              <a:t>the</a:t>
            </a:r>
            <a:r>
              <a:rPr sz="2400" spc="-25" dirty="0">
                <a:latin typeface="Times New Roman"/>
                <a:cs typeface="Times New Roman"/>
              </a:rPr>
              <a:t> MSC</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150367"/>
            <a:ext cx="3474085" cy="1031875"/>
          </a:xfrm>
          <a:prstGeom prst="rect">
            <a:avLst/>
          </a:prstGeom>
        </p:spPr>
        <p:txBody>
          <a:bodyPr vert="horz" wrap="square" lIns="0" tIns="104139" rIns="0" bIns="0" rtlCol="0">
            <a:spAutoFit/>
          </a:bodyPr>
          <a:lstStyle/>
          <a:p>
            <a:pPr marL="12700" marR="5080">
              <a:lnSpc>
                <a:spcPts val="3600"/>
              </a:lnSpc>
              <a:spcBef>
                <a:spcPts val="819"/>
              </a:spcBef>
            </a:pPr>
            <a:r>
              <a:rPr spc="-150" dirty="0"/>
              <a:t>Practical</a:t>
            </a:r>
            <a:r>
              <a:rPr spc="-195" dirty="0"/>
              <a:t> </a:t>
            </a:r>
            <a:r>
              <a:rPr spc="-140" dirty="0"/>
              <a:t>Handoff </a:t>
            </a:r>
            <a:r>
              <a:rPr spc="-85" dirty="0"/>
              <a:t>Considerations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08861" y="1894585"/>
            <a:ext cx="497205" cy="245745"/>
          </a:xfrm>
          <a:custGeom>
            <a:avLst/>
            <a:gdLst/>
            <a:ahLst/>
            <a:cxnLst/>
            <a:rect l="l" t="t" r="r" b="b"/>
            <a:pathLst>
              <a:path w="497205" h="245744">
                <a:moveTo>
                  <a:pt x="497077" y="0"/>
                </a:moveTo>
                <a:lnTo>
                  <a:pt x="163322" y="0"/>
                </a:lnTo>
                <a:lnTo>
                  <a:pt x="163322" y="380"/>
                </a:lnTo>
                <a:lnTo>
                  <a:pt x="146050" y="380"/>
                </a:lnTo>
                <a:lnTo>
                  <a:pt x="84709" y="212471"/>
                </a:lnTo>
                <a:lnTo>
                  <a:pt x="40766" y="116077"/>
                </a:lnTo>
                <a:lnTo>
                  <a:pt x="0" y="134747"/>
                </a:lnTo>
                <a:lnTo>
                  <a:pt x="3937" y="144017"/>
                </a:lnTo>
                <a:lnTo>
                  <a:pt x="24891" y="134747"/>
                </a:lnTo>
                <a:lnTo>
                  <a:pt x="76326" y="245363"/>
                </a:lnTo>
                <a:lnTo>
                  <a:pt x="88391" y="245363"/>
                </a:lnTo>
                <a:lnTo>
                  <a:pt x="155194" y="16890"/>
                </a:lnTo>
                <a:lnTo>
                  <a:pt x="497077" y="16763"/>
                </a:lnTo>
                <a:lnTo>
                  <a:pt x="497077" y="0"/>
                </a:lnTo>
                <a:close/>
              </a:path>
            </a:pathLst>
          </a:custGeom>
          <a:solidFill>
            <a:srgbClr val="000000"/>
          </a:solidFill>
        </p:spPr>
        <p:txBody>
          <a:bodyPr wrap="square" lIns="0" tIns="0" rIns="0" bIns="0" rtlCol="0"/>
          <a:lstStyle/>
          <a:p>
            <a:endParaRPr/>
          </a:p>
        </p:txBody>
      </p:sp>
      <p:sp>
        <p:nvSpPr>
          <p:cNvPr id="3" name="object 3"/>
          <p:cNvSpPr txBox="1"/>
          <p:nvPr/>
        </p:nvSpPr>
        <p:spPr>
          <a:xfrm>
            <a:off x="345440" y="1489684"/>
            <a:ext cx="8460105" cy="3254375"/>
          </a:xfrm>
          <a:prstGeom prst="rect">
            <a:avLst/>
          </a:prstGeom>
        </p:spPr>
        <p:txBody>
          <a:bodyPr vert="horz" wrap="square" lIns="0" tIns="41275" rIns="0" bIns="0" rtlCol="0">
            <a:spAutoFit/>
          </a:bodyPr>
          <a:lstStyle/>
          <a:p>
            <a:pPr marL="431165" lvl="1" indent="-380365">
              <a:lnSpc>
                <a:spcPct val="100000"/>
              </a:lnSpc>
              <a:spcBef>
                <a:spcPts val="325"/>
              </a:spcBef>
              <a:buAutoNum type="arabicPeriod"/>
              <a:tabLst>
                <a:tab pos="431165" algn="l"/>
              </a:tabLst>
            </a:pPr>
            <a:r>
              <a:rPr sz="2000" dirty="0">
                <a:latin typeface="Times New Roman"/>
                <a:cs typeface="Times New Roman"/>
              </a:rPr>
              <a:t>Prove</a:t>
            </a:r>
            <a:r>
              <a:rPr sz="2000" spc="-40"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hexagonal</a:t>
            </a:r>
            <a:r>
              <a:rPr sz="2000" spc="-40" dirty="0">
                <a:latin typeface="Times New Roman"/>
                <a:cs typeface="Times New Roman"/>
              </a:rPr>
              <a:t> </a:t>
            </a:r>
            <a:r>
              <a:rPr sz="2000" spc="-10" dirty="0">
                <a:latin typeface="Times New Roman"/>
                <a:cs typeface="Times New Roman"/>
              </a:rPr>
              <a:t>geometry,</a:t>
            </a:r>
            <a:r>
              <a:rPr sz="2000" spc="-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co-channel</a:t>
            </a:r>
            <a:r>
              <a:rPr sz="2000" spc="-50" dirty="0">
                <a:latin typeface="Times New Roman"/>
                <a:cs typeface="Times New Roman"/>
              </a:rPr>
              <a:t> </a:t>
            </a:r>
            <a:r>
              <a:rPr sz="2000" dirty="0">
                <a:latin typeface="Times New Roman"/>
                <a:cs typeface="Times New Roman"/>
              </a:rPr>
              <a:t>reuse</a:t>
            </a:r>
            <a:r>
              <a:rPr sz="2000" spc="-30" dirty="0">
                <a:latin typeface="Times New Roman"/>
                <a:cs typeface="Times New Roman"/>
              </a:rPr>
              <a:t> </a:t>
            </a:r>
            <a:r>
              <a:rPr sz="2000" dirty="0">
                <a:latin typeface="Times New Roman"/>
                <a:cs typeface="Times New Roman"/>
              </a:rPr>
              <a:t>ratio</a:t>
            </a:r>
            <a:r>
              <a:rPr sz="2000" spc="-1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given</a:t>
            </a:r>
            <a:r>
              <a:rPr sz="2000" spc="-30" dirty="0">
                <a:latin typeface="Times New Roman"/>
                <a:cs typeface="Times New Roman"/>
              </a:rPr>
              <a:t> </a:t>
            </a:r>
            <a:r>
              <a:rPr sz="2000" spc="-25" dirty="0">
                <a:latin typeface="Times New Roman"/>
                <a:cs typeface="Times New Roman"/>
              </a:rPr>
              <a:t>by</a:t>
            </a:r>
            <a:endParaRPr sz="2000">
              <a:latin typeface="Times New Roman"/>
              <a:cs typeface="Times New Roman"/>
            </a:endParaRPr>
          </a:p>
          <a:p>
            <a:pPr marL="393700">
              <a:lnSpc>
                <a:spcPct val="100000"/>
              </a:lnSpc>
              <a:spcBef>
                <a:spcPts val="229"/>
              </a:spcBef>
              <a:tabLst>
                <a:tab pos="1126490" algn="l"/>
              </a:tabLst>
            </a:pPr>
            <a:r>
              <a:rPr sz="2000" dirty="0">
                <a:latin typeface="Cambria Math"/>
                <a:cs typeface="Cambria Math"/>
              </a:rPr>
              <a:t>𝑄</a:t>
            </a:r>
            <a:r>
              <a:rPr sz="2000" spc="170" dirty="0">
                <a:latin typeface="Cambria Math"/>
                <a:cs typeface="Cambria Math"/>
              </a:rPr>
              <a:t> </a:t>
            </a:r>
            <a:r>
              <a:rPr sz="2000" spc="-50" dirty="0">
                <a:latin typeface="Cambria Math"/>
                <a:cs typeface="Cambria Math"/>
              </a:rPr>
              <a:t>=</a:t>
            </a:r>
            <a:r>
              <a:rPr sz="2000" dirty="0">
                <a:latin typeface="Cambria Math"/>
                <a:cs typeface="Cambria Math"/>
              </a:rPr>
              <a:t>	3𝑁</a:t>
            </a:r>
            <a:r>
              <a:rPr sz="2000" spc="110" dirty="0">
                <a:latin typeface="Cambria Math"/>
                <a:cs typeface="Cambria Math"/>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where</a:t>
            </a:r>
            <a:r>
              <a:rPr sz="2000" spc="-25" dirty="0">
                <a:latin typeface="Times New Roman"/>
                <a:cs typeface="Times New Roman"/>
              </a:rPr>
              <a:t> </a:t>
            </a:r>
            <a:r>
              <a:rPr sz="2000" dirty="0">
                <a:latin typeface="Cambria Math"/>
                <a:cs typeface="Cambria Math"/>
              </a:rPr>
              <a:t>𝑁</a:t>
            </a:r>
            <a:r>
              <a:rPr sz="2000" spc="150" dirty="0">
                <a:latin typeface="Cambria Math"/>
                <a:cs typeface="Cambria Math"/>
              </a:rPr>
              <a:t> </a:t>
            </a:r>
            <a:r>
              <a:rPr sz="2000" dirty="0">
                <a:latin typeface="Cambria Math"/>
                <a:cs typeface="Cambria Math"/>
              </a:rPr>
              <a:t>=</a:t>
            </a:r>
            <a:r>
              <a:rPr sz="2000" spc="105" dirty="0">
                <a:latin typeface="Cambria Math"/>
                <a:cs typeface="Cambria Math"/>
              </a:rPr>
              <a:t> </a:t>
            </a:r>
            <a:r>
              <a:rPr sz="2000" spc="60" dirty="0">
                <a:latin typeface="Cambria Math"/>
                <a:cs typeface="Cambria Math"/>
              </a:rPr>
              <a:t>𝑖</a:t>
            </a:r>
            <a:r>
              <a:rPr sz="2175" spc="89" baseline="28735" dirty="0">
                <a:latin typeface="Cambria Math"/>
                <a:cs typeface="Cambria Math"/>
              </a:rPr>
              <a:t>2</a:t>
            </a:r>
            <a:r>
              <a:rPr sz="2175" spc="337" baseline="28735" dirty="0">
                <a:latin typeface="Cambria Math"/>
                <a:cs typeface="Cambria Math"/>
              </a:rPr>
              <a:t> </a:t>
            </a:r>
            <a:r>
              <a:rPr sz="2000" dirty="0">
                <a:latin typeface="Cambria Math"/>
                <a:cs typeface="Cambria Math"/>
              </a:rPr>
              <a:t>+ 𝑖𝑗</a:t>
            </a:r>
            <a:r>
              <a:rPr sz="2000" spc="35" dirty="0">
                <a:latin typeface="Cambria Math"/>
                <a:cs typeface="Cambria Math"/>
              </a:rPr>
              <a:t> </a:t>
            </a:r>
            <a:r>
              <a:rPr sz="2000" dirty="0">
                <a:latin typeface="Cambria Math"/>
                <a:cs typeface="Cambria Math"/>
              </a:rPr>
              <a:t>+ </a:t>
            </a:r>
            <a:r>
              <a:rPr sz="2000" spc="70" dirty="0">
                <a:latin typeface="Cambria Math"/>
                <a:cs typeface="Cambria Math"/>
              </a:rPr>
              <a:t>𝑗</a:t>
            </a:r>
            <a:r>
              <a:rPr sz="2175" spc="104" baseline="28735" dirty="0">
                <a:latin typeface="Cambria Math"/>
                <a:cs typeface="Cambria Math"/>
              </a:rPr>
              <a:t>2</a:t>
            </a:r>
            <a:r>
              <a:rPr sz="2000" i="1" spc="70" dirty="0">
                <a:latin typeface="Times New Roman"/>
                <a:cs typeface="Times New Roman"/>
              </a:rPr>
              <a:t>.</a:t>
            </a:r>
            <a:r>
              <a:rPr sz="2000" i="1" spc="-10" dirty="0">
                <a:latin typeface="Times New Roman"/>
                <a:cs typeface="Times New Roman"/>
              </a:rPr>
              <a:t> </a:t>
            </a:r>
            <a:r>
              <a:rPr sz="2000" dirty="0">
                <a:latin typeface="Times New Roman"/>
                <a:cs typeface="Times New Roman"/>
              </a:rPr>
              <a:t>Hint:</a:t>
            </a:r>
            <a:r>
              <a:rPr sz="2000" spc="-20" dirty="0">
                <a:latin typeface="Times New Roman"/>
                <a:cs typeface="Times New Roman"/>
              </a:rPr>
              <a:t> </a:t>
            </a:r>
            <a:r>
              <a:rPr sz="2000" dirty="0">
                <a:latin typeface="Times New Roman"/>
                <a:cs typeface="Times New Roman"/>
              </a:rPr>
              <a:t>Use</a:t>
            </a:r>
            <a:r>
              <a:rPr sz="2000" spc="-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cosine</a:t>
            </a:r>
            <a:r>
              <a:rPr sz="2000" spc="-25" dirty="0">
                <a:latin typeface="Times New Roman"/>
                <a:cs typeface="Times New Roman"/>
              </a:rPr>
              <a:t> </a:t>
            </a:r>
            <a:r>
              <a:rPr sz="2000" dirty="0">
                <a:latin typeface="Times New Roman"/>
                <a:cs typeface="Times New Roman"/>
              </a:rPr>
              <a:t>law</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93700">
              <a:lnSpc>
                <a:spcPct val="100000"/>
              </a:lnSpc>
            </a:pPr>
            <a:r>
              <a:rPr sz="2000" dirty="0">
                <a:latin typeface="Times New Roman"/>
                <a:cs typeface="Times New Roman"/>
              </a:rPr>
              <a:t>hexagonal</a:t>
            </a:r>
            <a:r>
              <a:rPr sz="2000" spc="-55" dirty="0">
                <a:latin typeface="Times New Roman"/>
                <a:cs typeface="Times New Roman"/>
              </a:rPr>
              <a:t> </a:t>
            </a:r>
            <a:r>
              <a:rPr sz="2000" dirty="0">
                <a:latin typeface="Times New Roman"/>
                <a:cs typeface="Times New Roman"/>
              </a:rPr>
              <a:t>cell</a:t>
            </a:r>
            <a:r>
              <a:rPr sz="2000" spc="-20" dirty="0">
                <a:latin typeface="Times New Roman"/>
                <a:cs typeface="Times New Roman"/>
              </a:rPr>
              <a:t> </a:t>
            </a:r>
            <a:r>
              <a:rPr sz="2000" spc="-10" dirty="0">
                <a:latin typeface="Times New Roman"/>
                <a:cs typeface="Times New Roman"/>
              </a:rPr>
              <a:t>geometry.</a:t>
            </a:r>
            <a:endParaRPr sz="2000">
              <a:latin typeface="Times New Roman"/>
              <a:cs typeface="Times New Roman"/>
            </a:endParaRPr>
          </a:p>
          <a:p>
            <a:pPr>
              <a:lnSpc>
                <a:spcPct val="100000"/>
              </a:lnSpc>
              <a:spcBef>
                <a:spcPts val="1060"/>
              </a:spcBef>
            </a:pPr>
            <a:endParaRPr sz="2000">
              <a:latin typeface="Times New Roman"/>
              <a:cs typeface="Times New Roman"/>
            </a:endParaRPr>
          </a:p>
          <a:p>
            <a:pPr marL="393700" marR="17780" lvl="1" indent="-342900">
              <a:lnSpc>
                <a:spcPct val="100000"/>
              </a:lnSpc>
              <a:buAutoNum type="arabicPeriod" startAt="2"/>
              <a:tabLst>
                <a:tab pos="393700" algn="l"/>
                <a:tab pos="431165" algn="l"/>
              </a:tabLst>
            </a:pPr>
            <a:r>
              <a:rPr sz="2000" dirty="0">
                <a:latin typeface="Times New Roman"/>
                <a:cs typeface="Times New Roman"/>
              </a:rPr>
              <a:t>	If</a:t>
            </a:r>
            <a:r>
              <a:rPr sz="2000" spc="-15" dirty="0">
                <a:latin typeface="Times New Roman"/>
                <a:cs typeface="Times New Roman"/>
              </a:rPr>
              <a:t> </a:t>
            </a:r>
            <a:r>
              <a:rPr sz="2000" dirty="0">
                <a:latin typeface="Times New Roman"/>
                <a:cs typeface="Times New Roman"/>
              </a:rPr>
              <a:t>two independent</a:t>
            </a:r>
            <a:r>
              <a:rPr sz="2000" spc="-40" dirty="0">
                <a:latin typeface="Times New Roman"/>
                <a:cs typeface="Times New Roman"/>
              </a:rPr>
              <a:t> </a:t>
            </a:r>
            <a:r>
              <a:rPr sz="2000" dirty="0">
                <a:latin typeface="Times New Roman"/>
                <a:cs typeface="Times New Roman"/>
              </a:rPr>
              <a:t>voltage</a:t>
            </a:r>
            <a:r>
              <a:rPr sz="2000" spc="-30" dirty="0">
                <a:latin typeface="Times New Roman"/>
                <a:cs typeface="Times New Roman"/>
              </a:rPr>
              <a:t> </a:t>
            </a:r>
            <a:r>
              <a:rPr sz="2000" dirty="0">
                <a:latin typeface="Times New Roman"/>
                <a:cs typeface="Times New Roman"/>
              </a:rPr>
              <a:t>signals,</a:t>
            </a:r>
            <a:r>
              <a:rPr sz="2000" spc="-30" dirty="0">
                <a:latin typeface="Times New Roman"/>
                <a:cs typeface="Times New Roman"/>
              </a:rPr>
              <a:t> </a:t>
            </a:r>
            <a:r>
              <a:rPr sz="2000" dirty="0">
                <a:latin typeface="Times New Roman"/>
                <a:cs typeface="Times New Roman"/>
              </a:rPr>
              <a:t>v1(t)</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v2(t),</a:t>
            </a:r>
            <a:r>
              <a:rPr sz="2000" spc="-35" dirty="0">
                <a:latin typeface="Times New Roman"/>
                <a:cs typeface="Times New Roman"/>
              </a:rPr>
              <a:t> </a:t>
            </a:r>
            <a:r>
              <a:rPr sz="2000" dirty="0">
                <a:latin typeface="Times New Roman"/>
                <a:cs typeface="Times New Roman"/>
              </a:rPr>
              <a:t>are</a:t>
            </a:r>
            <a:r>
              <a:rPr sz="2000" spc="-10" dirty="0">
                <a:latin typeface="Times New Roman"/>
                <a:cs typeface="Times New Roman"/>
              </a:rPr>
              <a:t> </a:t>
            </a:r>
            <a:r>
              <a:rPr sz="2000" dirty="0">
                <a:latin typeface="Times New Roman"/>
                <a:cs typeface="Times New Roman"/>
              </a:rPr>
              <a:t>added</a:t>
            </a:r>
            <a:r>
              <a:rPr sz="2000" spc="-15" dirty="0">
                <a:latin typeface="Times New Roman"/>
                <a:cs typeface="Times New Roman"/>
              </a:rPr>
              <a:t> </a:t>
            </a:r>
            <a:r>
              <a:rPr sz="2000" dirty="0">
                <a:latin typeface="Times New Roman"/>
                <a:cs typeface="Times New Roman"/>
              </a:rPr>
              <a:t>together</a:t>
            </a:r>
            <a:r>
              <a:rPr sz="2000" spc="-35" dirty="0">
                <a:latin typeface="Times New Roman"/>
                <a:cs typeface="Times New Roman"/>
              </a:rPr>
              <a:t> </a:t>
            </a:r>
            <a:r>
              <a:rPr sz="2000" spc="-25" dirty="0">
                <a:latin typeface="Times New Roman"/>
                <a:cs typeface="Times New Roman"/>
              </a:rPr>
              <a:t>to </a:t>
            </a:r>
            <a:r>
              <a:rPr sz="2000" dirty="0">
                <a:latin typeface="Times New Roman"/>
                <a:cs typeface="Times New Roman"/>
              </a:rPr>
              <a:t>provide</a:t>
            </a:r>
            <a:r>
              <a:rPr sz="2000" spc="-40" dirty="0">
                <a:latin typeface="Times New Roman"/>
                <a:cs typeface="Times New Roman"/>
              </a:rPr>
              <a:t> </a:t>
            </a:r>
            <a:r>
              <a:rPr sz="2000" dirty="0">
                <a:latin typeface="Times New Roman"/>
                <a:cs typeface="Times New Roman"/>
              </a:rPr>
              <a:t>a new</a:t>
            </a:r>
            <a:r>
              <a:rPr sz="2000" spc="-20" dirty="0">
                <a:latin typeface="Times New Roman"/>
                <a:cs typeface="Times New Roman"/>
              </a:rPr>
              <a:t> </a:t>
            </a:r>
            <a:r>
              <a:rPr sz="2000" dirty="0">
                <a:latin typeface="Times New Roman"/>
                <a:cs typeface="Times New Roman"/>
              </a:rPr>
              <a:t>resulting</a:t>
            </a:r>
            <a:r>
              <a:rPr sz="2000" spc="-40" dirty="0">
                <a:latin typeface="Times New Roman"/>
                <a:cs typeface="Times New Roman"/>
              </a:rPr>
              <a:t> </a:t>
            </a:r>
            <a:r>
              <a:rPr sz="2000" dirty="0">
                <a:latin typeface="Times New Roman"/>
                <a:cs typeface="Times New Roman"/>
              </a:rPr>
              <a:t>signal,</a:t>
            </a:r>
            <a:r>
              <a:rPr sz="2000" spc="-20" dirty="0">
                <a:latin typeface="Times New Roman"/>
                <a:cs typeface="Times New Roman"/>
              </a:rPr>
              <a:t> </a:t>
            </a:r>
            <a:r>
              <a:rPr sz="2000" dirty="0">
                <a:latin typeface="Times New Roman"/>
                <a:cs typeface="Times New Roman"/>
              </a:rPr>
              <a:t>prove</a:t>
            </a:r>
            <a:r>
              <a:rPr sz="2000" spc="-50"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under</a:t>
            </a:r>
            <a:r>
              <a:rPr sz="2000" spc="-35" dirty="0">
                <a:latin typeface="Times New Roman"/>
                <a:cs typeface="Times New Roman"/>
              </a:rPr>
              <a:t> </a:t>
            </a:r>
            <a:r>
              <a:rPr sz="2000" dirty="0">
                <a:latin typeface="Times New Roman"/>
                <a:cs typeface="Times New Roman"/>
              </a:rPr>
              <a:t>certain</a:t>
            </a:r>
            <a:r>
              <a:rPr sz="2000" spc="-15" dirty="0">
                <a:latin typeface="Times New Roman"/>
                <a:cs typeface="Times New Roman"/>
              </a:rPr>
              <a:t> </a:t>
            </a:r>
            <a:r>
              <a:rPr sz="2000" dirty="0">
                <a:latin typeface="Times New Roman"/>
                <a:cs typeface="Times New Roman"/>
              </a:rPr>
              <a:t>conditions</a:t>
            </a:r>
            <a:r>
              <a:rPr sz="2000" spc="-45" dirty="0">
                <a:latin typeface="Times New Roman"/>
                <a:cs typeface="Times New Roman"/>
              </a:rPr>
              <a:t> </a:t>
            </a:r>
            <a:r>
              <a:rPr sz="2000" dirty="0">
                <a:latin typeface="Times New Roman"/>
                <a:cs typeface="Times New Roman"/>
              </a:rPr>
              <a:t>the</a:t>
            </a:r>
            <a:r>
              <a:rPr sz="2000" spc="-10" dirty="0">
                <a:latin typeface="Times New Roman"/>
                <a:cs typeface="Times New Roman"/>
              </a:rPr>
              <a:t> resulting </a:t>
            </a:r>
            <a:r>
              <a:rPr sz="2000" dirty="0">
                <a:latin typeface="Times New Roman"/>
                <a:cs typeface="Times New Roman"/>
              </a:rPr>
              <a:t>signal</a:t>
            </a:r>
            <a:r>
              <a:rPr sz="2000" spc="-35" dirty="0">
                <a:latin typeface="Times New Roman"/>
                <a:cs typeface="Times New Roman"/>
              </a:rPr>
              <a:t> </a:t>
            </a:r>
            <a:r>
              <a:rPr sz="2000" dirty="0">
                <a:latin typeface="Times New Roman"/>
                <a:cs typeface="Times New Roman"/>
              </a:rPr>
              <a:t>has</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same</a:t>
            </a:r>
            <a:r>
              <a:rPr sz="2000" spc="-5" dirty="0">
                <a:latin typeface="Times New Roman"/>
                <a:cs typeface="Times New Roman"/>
              </a:rPr>
              <a:t> </a:t>
            </a:r>
            <a:r>
              <a:rPr sz="2000" spc="-20" dirty="0">
                <a:latin typeface="Times New Roman"/>
                <a:cs typeface="Times New Roman"/>
              </a:rPr>
              <a:t>power</a:t>
            </a:r>
            <a:endParaRPr sz="2000">
              <a:latin typeface="Times New Roman"/>
              <a:cs typeface="Times New Roman"/>
            </a:endParaRPr>
          </a:p>
          <a:p>
            <a:pPr marL="393700" marR="217804">
              <a:lnSpc>
                <a:spcPct val="100000"/>
              </a:lnSpc>
              <a:spcBef>
                <a:spcPts val="5"/>
              </a:spcBef>
            </a:pPr>
            <a:r>
              <a:rPr sz="2000" dirty="0">
                <a:latin typeface="Times New Roman"/>
                <a:cs typeface="Times New Roman"/>
              </a:rPr>
              <a:t>as</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sum</a:t>
            </a:r>
            <a:r>
              <a:rPr sz="2000" spc="-2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individual</a:t>
            </a:r>
            <a:r>
              <a:rPr sz="2000" spc="-55" dirty="0">
                <a:latin typeface="Times New Roman"/>
                <a:cs typeface="Times New Roman"/>
              </a:rPr>
              <a:t> </a:t>
            </a:r>
            <a:r>
              <a:rPr sz="2000" dirty="0">
                <a:latin typeface="Times New Roman"/>
                <a:cs typeface="Times New Roman"/>
              </a:rPr>
              <a:t>powers.</a:t>
            </a:r>
            <a:r>
              <a:rPr sz="2000" spc="-70"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are</a:t>
            </a:r>
            <a:r>
              <a:rPr sz="2000" spc="-5" dirty="0">
                <a:latin typeface="Times New Roman"/>
                <a:cs typeface="Times New Roman"/>
              </a:rPr>
              <a:t> </a:t>
            </a:r>
            <a:r>
              <a:rPr sz="2000" dirty="0">
                <a:latin typeface="Times New Roman"/>
                <a:cs typeface="Times New Roman"/>
              </a:rPr>
              <a:t>these</a:t>
            </a:r>
            <a:r>
              <a:rPr sz="2000" spc="-25" dirty="0">
                <a:latin typeface="Times New Roman"/>
                <a:cs typeface="Times New Roman"/>
              </a:rPr>
              <a:t> </a:t>
            </a:r>
            <a:r>
              <a:rPr sz="2000" dirty="0">
                <a:latin typeface="Times New Roman"/>
                <a:cs typeface="Times New Roman"/>
              </a:rPr>
              <a:t>conditions?</a:t>
            </a:r>
            <a:r>
              <a:rPr sz="2000" spc="-60" dirty="0">
                <a:latin typeface="Times New Roman"/>
                <a:cs typeface="Times New Roman"/>
              </a:rPr>
              <a:t> </a:t>
            </a:r>
            <a:r>
              <a:rPr sz="2000" dirty="0">
                <a:latin typeface="Times New Roman"/>
                <a:cs typeface="Times New Roman"/>
              </a:rPr>
              <a:t>What</a:t>
            </a:r>
            <a:r>
              <a:rPr sz="2000" spc="-30" dirty="0">
                <a:latin typeface="Times New Roman"/>
                <a:cs typeface="Times New Roman"/>
              </a:rPr>
              <a:t> </a:t>
            </a:r>
            <a:r>
              <a:rPr sz="2000" spc="-10" dirty="0">
                <a:latin typeface="Times New Roman"/>
                <a:cs typeface="Times New Roman"/>
              </a:rPr>
              <a:t>special </a:t>
            </a:r>
            <a:r>
              <a:rPr sz="2000" dirty="0">
                <a:latin typeface="Times New Roman"/>
                <a:cs typeface="Times New Roman"/>
              </a:rPr>
              <a:t>conditions</a:t>
            </a:r>
            <a:r>
              <a:rPr sz="2000" spc="-50" dirty="0">
                <a:latin typeface="Times New Roman"/>
                <a:cs typeface="Times New Roman"/>
              </a:rPr>
              <a:t> </a:t>
            </a:r>
            <a:r>
              <a:rPr sz="2000" dirty="0">
                <a:latin typeface="Times New Roman"/>
                <a:cs typeface="Times New Roman"/>
              </a:rPr>
              <a:t>must apply</a:t>
            </a:r>
            <a:r>
              <a:rPr sz="2000" spc="-40"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this</a:t>
            </a:r>
            <a:r>
              <a:rPr sz="2000" spc="-30" dirty="0">
                <a:latin typeface="Times New Roman"/>
                <a:cs typeface="Times New Roman"/>
              </a:rPr>
              <a:t> </a:t>
            </a:r>
            <a:r>
              <a:rPr sz="2000" dirty="0">
                <a:latin typeface="Times New Roman"/>
                <a:cs typeface="Times New Roman"/>
              </a:rPr>
              <a:t>result</a:t>
            </a:r>
            <a:r>
              <a:rPr sz="2000" spc="-30"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dirty="0">
                <a:latin typeface="Times New Roman"/>
                <a:cs typeface="Times New Roman"/>
              </a:rPr>
              <a:t>be valid</a:t>
            </a:r>
            <a:r>
              <a:rPr sz="2000" spc="-20" dirty="0">
                <a:latin typeface="Times New Roman"/>
                <a:cs typeface="Times New Roman"/>
              </a:rPr>
              <a:t> </a:t>
            </a:r>
            <a:r>
              <a:rPr sz="2000" dirty="0">
                <a:latin typeface="Times New Roman"/>
                <a:cs typeface="Times New Roman"/>
              </a:rPr>
              <a:t>when</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signals</a:t>
            </a:r>
            <a:r>
              <a:rPr sz="2000" spc="-35" dirty="0">
                <a:latin typeface="Times New Roman"/>
                <a:cs typeface="Times New Roman"/>
              </a:rPr>
              <a:t> </a:t>
            </a:r>
            <a:r>
              <a:rPr sz="2000" spc="-25" dirty="0">
                <a:latin typeface="Times New Roman"/>
                <a:cs typeface="Times New Roman"/>
              </a:rPr>
              <a:t>are </a:t>
            </a:r>
            <a:r>
              <a:rPr sz="2000" spc="-10" dirty="0">
                <a:latin typeface="Times New Roman"/>
                <a:cs typeface="Times New Roman"/>
              </a:rPr>
              <a:t>uncorrelated?</a:t>
            </a:r>
            <a:endParaRPr sz="2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31</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4" name="object 4"/>
          <p:cNvSpPr txBox="1">
            <a:spLocks noGrp="1"/>
          </p:cNvSpPr>
          <p:nvPr>
            <p:ph type="title"/>
          </p:nvPr>
        </p:nvSpPr>
        <p:spPr>
          <a:xfrm>
            <a:off x="2068448" y="378917"/>
            <a:ext cx="2817495" cy="574675"/>
          </a:xfrm>
          <a:prstGeom prst="rect">
            <a:avLst/>
          </a:prstGeom>
        </p:spPr>
        <p:txBody>
          <a:bodyPr vert="horz" wrap="square" lIns="0" tIns="12700" rIns="0" bIns="0" rtlCol="0">
            <a:spAutoFit/>
          </a:bodyPr>
          <a:lstStyle/>
          <a:p>
            <a:pPr marL="12700">
              <a:lnSpc>
                <a:spcPct val="100000"/>
              </a:lnSpc>
              <a:spcBef>
                <a:spcPts val="100"/>
              </a:spcBef>
            </a:pPr>
            <a:r>
              <a:rPr spc="-120" dirty="0"/>
              <a:t>HOME</a:t>
            </a:r>
            <a:r>
              <a:rPr spc="-285" dirty="0"/>
              <a:t> </a:t>
            </a:r>
            <a:r>
              <a:rPr spc="-110" dirty="0"/>
              <a:t>WORK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554"/>
            <a:ext cx="8074025" cy="2879090"/>
          </a:xfrm>
          <a:prstGeom prst="rect">
            <a:avLst/>
          </a:prstGeom>
        </p:spPr>
        <p:txBody>
          <a:bodyPr vert="horz" wrap="square" lIns="0" tIns="12700" rIns="0" bIns="0" rtlCol="0">
            <a:spAutoFit/>
          </a:bodyPr>
          <a:lstStyle/>
          <a:p>
            <a:pPr marL="355600" marR="5715" indent="-342900" algn="just">
              <a:lnSpc>
                <a:spcPct val="100000"/>
              </a:lnSpc>
              <a:spcBef>
                <a:spcPts val="100"/>
              </a:spcBef>
              <a:tabLst>
                <a:tab pos="4391660" algn="l"/>
                <a:tab pos="7780020" algn="l"/>
              </a:tabLst>
            </a:pPr>
            <a:r>
              <a:rPr sz="1800" dirty="0">
                <a:latin typeface="Times New Roman"/>
                <a:cs typeface="Times New Roman"/>
              </a:rPr>
              <a:t>3.3</a:t>
            </a:r>
            <a:r>
              <a:rPr sz="1800" spc="70" dirty="0">
                <a:latin typeface="Times New Roman"/>
                <a:cs typeface="Times New Roman"/>
              </a:rPr>
              <a:t> </a:t>
            </a:r>
            <a:r>
              <a:rPr sz="1800" dirty="0">
                <a:latin typeface="Times New Roman"/>
                <a:cs typeface="Times New Roman"/>
              </a:rPr>
              <a:t>Show</a:t>
            </a:r>
            <a:r>
              <a:rPr sz="1800" spc="65" dirty="0">
                <a:latin typeface="Times New Roman"/>
                <a:cs typeface="Times New Roman"/>
              </a:rPr>
              <a:t> </a:t>
            </a:r>
            <a:r>
              <a:rPr sz="1800" dirty="0">
                <a:latin typeface="Times New Roman"/>
                <a:cs typeface="Times New Roman"/>
              </a:rPr>
              <a:t>that</a:t>
            </a:r>
            <a:r>
              <a:rPr sz="1800" spc="60" dirty="0">
                <a:latin typeface="Times New Roman"/>
                <a:cs typeface="Times New Roman"/>
              </a:rPr>
              <a:t> </a:t>
            </a:r>
            <a:r>
              <a:rPr sz="1800" dirty="0">
                <a:latin typeface="Times New Roman"/>
                <a:cs typeface="Times New Roman"/>
              </a:rPr>
              <a:t>the</a:t>
            </a:r>
            <a:r>
              <a:rPr sz="1800" spc="80" dirty="0">
                <a:latin typeface="Times New Roman"/>
                <a:cs typeface="Times New Roman"/>
              </a:rPr>
              <a:t> </a:t>
            </a:r>
            <a:r>
              <a:rPr sz="1800" dirty="0">
                <a:latin typeface="Times New Roman"/>
                <a:cs typeface="Times New Roman"/>
              </a:rPr>
              <a:t>frequency</a:t>
            </a:r>
            <a:r>
              <a:rPr sz="1800" spc="85" dirty="0">
                <a:latin typeface="Times New Roman"/>
                <a:cs typeface="Times New Roman"/>
              </a:rPr>
              <a:t> </a:t>
            </a:r>
            <a:r>
              <a:rPr sz="1800" dirty="0">
                <a:latin typeface="Times New Roman"/>
                <a:cs typeface="Times New Roman"/>
              </a:rPr>
              <a:t>reuse</a:t>
            </a:r>
            <a:r>
              <a:rPr sz="1800" spc="80" dirty="0">
                <a:latin typeface="Times New Roman"/>
                <a:cs typeface="Times New Roman"/>
              </a:rPr>
              <a:t> </a:t>
            </a:r>
            <a:r>
              <a:rPr sz="1800" dirty="0">
                <a:latin typeface="Times New Roman"/>
                <a:cs typeface="Times New Roman"/>
              </a:rPr>
              <a:t>factor</a:t>
            </a:r>
            <a:r>
              <a:rPr sz="1800" spc="75" dirty="0">
                <a:latin typeface="Times New Roman"/>
                <a:cs typeface="Times New Roman"/>
              </a:rPr>
              <a:t> </a:t>
            </a:r>
            <a:r>
              <a:rPr sz="1800" dirty="0">
                <a:latin typeface="Times New Roman"/>
                <a:cs typeface="Times New Roman"/>
              </a:rPr>
              <a:t>for</a:t>
            </a:r>
            <a:r>
              <a:rPr sz="1800" spc="65" dirty="0">
                <a:latin typeface="Times New Roman"/>
                <a:cs typeface="Times New Roman"/>
              </a:rPr>
              <a:t> </a:t>
            </a:r>
            <a:r>
              <a:rPr sz="1800" dirty="0">
                <a:latin typeface="Times New Roman"/>
                <a:cs typeface="Times New Roman"/>
              </a:rPr>
              <a:t>a</a:t>
            </a:r>
            <a:r>
              <a:rPr sz="1800" spc="65" dirty="0">
                <a:latin typeface="Times New Roman"/>
                <a:cs typeface="Times New Roman"/>
              </a:rPr>
              <a:t> </a:t>
            </a:r>
            <a:r>
              <a:rPr sz="1800" dirty="0">
                <a:latin typeface="Times New Roman"/>
                <a:cs typeface="Times New Roman"/>
              </a:rPr>
              <a:t>cellular</a:t>
            </a:r>
            <a:r>
              <a:rPr sz="1800" spc="85" dirty="0">
                <a:latin typeface="Times New Roman"/>
                <a:cs typeface="Times New Roman"/>
              </a:rPr>
              <a:t> </a:t>
            </a:r>
            <a:r>
              <a:rPr sz="1800" dirty="0">
                <a:latin typeface="Times New Roman"/>
                <a:cs typeface="Times New Roman"/>
              </a:rPr>
              <a:t>system</a:t>
            </a:r>
            <a:r>
              <a:rPr sz="1800" spc="55" dirty="0">
                <a:latin typeface="Times New Roman"/>
                <a:cs typeface="Times New Roman"/>
              </a:rPr>
              <a:t> </a:t>
            </a:r>
            <a:r>
              <a:rPr sz="1800" dirty="0">
                <a:latin typeface="Times New Roman"/>
                <a:cs typeface="Times New Roman"/>
              </a:rPr>
              <a:t>is</a:t>
            </a:r>
            <a:r>
              <a:rPr sz="1800" spc="70" dirty="0">
                <a:latin typeface="Times New Roman"/>
                <a:cs typeface="Times New Roman"/>
              </a:rPr>
              <a:t> </a:t>
            </a:r>
            <a:r>
              <a:rPr sz="1800" dirty="0">
                <a:latin typeface="Times New Roman"/>
                <a:cs typeface="Times New Roman"/>
              </a:rPr>
              <a:t>given</a:t>
            </a:r>
            <a:r>
              <a:rPr sz="1800" spc="70" dirty="0">
                <a:latin typeface="Times New Roman"/>
                <a:cs typeface="Times New Roman"/>
              </a:rPr>
              <a:t> </a:t>
            </a:r>
            <a:r>
              <a:rPr sz="1800" dirty="0">
                <a:latin typeface="Times New Roman"/>
                <a:cs typeface="Times New Roman"/>
              </a:rPr>
              <a:t>by</a:t>
            </a:r>
            <a:r>
              <a:rPr sz="1800" spc="75" dirty="0">
                <a:latin typeface="Times New Roman"/>
                <a:cs typeface="Times New Roman"/>
              </a:rPr>
              <a:t> </a:t>
            </a:r>
            <a:r>
              <a:rPr sz="1800" i="1" dirty="0">
                <a:latin typeface="Times New Roman"/>
                <a:cs typeface="Times New Roman"/>
              </a:rPr>
              <a:t>k/S,</a:t>
            </a:r>
            <a:r>
              <a:rPr sz="1800" i="1" spc="80" dirty="0">
                <a:latin typeface="Times New Roman"/>
                <a:cs typeface="Times New Roman"/>
              </a:rPr>
              <a:t> </a:t>
            </a:r>
            <a:r>
              <a:rPr sz="1800" dirty="0">
                <a:latin typeface="Times New Roman"/>
                <a:cs typeface="Times New Roman"/>
              </a:rPr>
              <a:t>where</a:t>
            </a:r>
            <a:r>
              <a:rPr sz="1800" spc="80" dirty="0">
                <a:latin typeface="Times New Roman"/>
                <a:cs typeface="Times New Roman"/>
              </a:rPr>
              <a:t> </a:t>
            </a:r>
            <a:r>
              <a:rPr sz="1800" i="1" spc="-50" dirty="0">
                <a:latin typeface="Times New Roman"/>
                <a:cs typeface="Times New Roman"/>
              </a:rPr>
              <a:t>k </a:t>
            </a:r>
            <a:r>
              <a:rPr sz="1800" dirty="0">
                <a:latin typeface="Times New Roman"/>
                <a:cs typeface="Times New Roman"/>
              </a:rPr>
              <a:t>is</a:t>
            </a:r>
            <a:r>
              <a:rPr sz="1800" spc="190" dirty="0">
                <a:latin typeface="Times New Roman"/>
                <a:cs typeface="Times New Roman"/>
              </a:rPr>
              <a:t> </a:t>
            </a:r>
            <a:r>
              <a:rPr sz="1800" dirty="0">
                <a:latin typeface="Times New Roman"/>
                <a:cs typeface="Times New Roman"/>
              </a:rPr>
              <a:t>the</a:t>
            </a:r>
            <a:r>
              <a:rPr sz="1800" spc="204" dirty="0">
                <a:latin typeface="Times New Roman"/>
                <a:cs typeface="Times New Roman"/>
              </a:rPr>
              <a:t> </a:t>
            </a:r>
            <a:r>
              <a:rPr sz="1800" dirty="0">
                <a:latin typeface="Times New Roman"/>
                <a:cs typeface="Times New Roman"/>
              </a:rPr>
              <a:t>average</a:t>
            </a:r>
            <a:r>
              <a:rPr sz="1800" spc="190" dirty="0">
                <a:latin typeface="Times New Roman"/>
                <a:cs typeface="Times New Roman"/>
              </a:rPr>
              <a:t> </a:t>
            </a:r>
            <a:r>
              <a:rPr sz="1800" dirty="0">
                <a:latin typeface="Times New Roman"/>
                <a:cs typeface="Times New Roman"/>
              </a:rPr>
              <a:t>number</a:t>
            </a:r>
            <a:r>
              <a:rPr sz="1800" spc="200" dirty="0">
                <a:latin typeface="Times New Roman"/>
                <a:cs typeface="Times New Roman"/>
              </a:rPr>
              <a:t> </a:t>
            </a:r>
            <a:r>
              <a:rPr sz="1800" dirty="0">
                <a:latin typeface="Times New Roman"/>
                <a:cs typeface="Times New Roman"/>
              </a:rPr>
              <a:t>of</a:t>
            </a:r>
            <a:r>
              <a:rPr sz="1800" spc="200" dirty="0">
                <a:latin typeface="Times New Roman"/>
                <a:cs typeface="Times New Roman"/>
              </a:rPr>
              <a:t> </a:t>
            </a:r>
            <a:r>
              <a:rPr sz="1800" dirty="0">
                <a:latin typeface="Times New Roman"/>
                <a:cs typeface="Times New Roman"/>
              </a:rPr>
              <a:t>channels</a:t>
            </a:r>
            <a:r>
              <a:rPr sz="1800" spc="200" dirty="0">
                <a:latin typeface="Times New Roman"/>
                <a:cs typeface="Times New Roman"/>
              </a:rPr>
              <a:t> </a:t>
            </a:r>
            <a:r>
              <a:rPr sz="1800" dirty="0">
                <a:latin typeface="Times New Roman"/>
                <a:cs typeface="Times New Roman"/>
              </a:rPr>
              <a:t>per</a:t>
            </a:r>
            <a:r>
              <a:rPr sz="1800" spc="200" dirty="0">
                <a:latin typeface="Times New Roman"/>
                <a:cs typeface="Times New Roman"/>
              </a:rPr>
              <a:t> </a:t>
            </a:r>
            <a:r>
              <a:rPr sz="1800" dirty="0">
                <a:latin typeface="Times New Roman"/>
                <a:cs typeface="Times New Roman"/>
              </a:rPr>
              <a:t>cell</a:t>
            </a:r>
            <a:r>
              <a:rPr sz="1800" spc="190" dirty="0">
                <a:latin typeface="Times New Roman"/>
                <a:cs typeface="Times New Roman"/>
              </a:rPr>
              <a:t> </a:t>
            </a:r>
            <a:r>
              <a:rPr sz="1800" dirty="0">
                <a:latin typeface="Times New Roman"/>
                <a:cs typeface="Times New Roman"/>
              </a:rPr>
              <a:t>and</a:t>
            </a:r>
            <a:r>
              <a:rPr sz="1800" spc="190" dirty="0">
                <a:latin typeface="Times New Roman"/>
                <a:cs typeface="Times New Roman"/>
              </a:rPr>
              <a:t> </a:t>
            </a:r>
            <a:r>
              <a:rPr sz="1800" i="1" dirty="0">
                <a:latin typeface="Times New Roman"/>
                <a:cs typeface="Times New Roman"/>
              </a:rPr>
              <a:t>S</a:t>
            </a:r>
            <a:r>
              <a:rPr sz="1800" i="1" spc="195" dirty="0">
                <a:latin typeface="Times New Roman"/>
                <a:cs typeface="Times New Roman"/>
              </a:rPr>
              <a:t> </a:t>
            </a:r>
            <a:r>
              <a:rPr sz="1800" dirty="0">
                <a:latin typeface="Times New Roman"/>
                <a:cs typeface="Times New Roman"/>
              </a:rPr>
              <a:t>is</a:t>
            </a:r>
            <a:r>
              <a:rPr sz="1800" spc="190" dirty="0">
                <a:latin typeface="Times New Roman"/>
                <a:cs typeface="Times New Roman"/>
              </a:rPr>
              <a:t> </a:t>
            </a:r>
            <a:r>
              <a:rPr sz="1800" dirty="0">
                <a:latin typeface="Times New Roman"/>
                <a:cs typeface="Times New Roman"/>
              </a:rPr>
              <a:t>the</a:t>
            </a:r>
            <a:r>
              <a:rPr sz="1800" spc="195" dirty="0">
                <a:latin typeface="Times New Roman"/>
                <a:cs typeface="Times New Roman"/>
              </a:rPr>
              <a:t> </a:t>
            </a:r>
            <a:r>
              <a:rPr sz="1800" dirty="0">
                <a:latin typeface="Times New Roman"/>
                <a:cs typeface="Times New Roman"/>
              </a:rPr>
              <a:t>total</a:t>
            </a:r>
            <a:r>
              <a:rPr sz="1800" spc="200" dirty="0">
                <a:latin typeface="Times New Roman"/>
                <a:cs typeface="Times New Roman"/>
              </a:rPr>
              <a:t> </a:t>
            </a:r>
            <a:r>
              <a:rPr sz="1800" dirty="0">
                <a:latin typeface="Times New Roman"/>
                <a:cs typeface="Times New Roman"/>
              </a:rPr>
              <a:t>number</a:t>
            </a:r>
            <a:r>
              <a:rPr sz="1800" spc="204" dirty="0">
                <a:latin typeface="Times New Roman"/>
                <a:cs typeface="Times New Roman"/>
              </a:rPr>
              <a:t> </a:t>
            </a:r>
            <a:r>
              <a:rPr sz="1800" dirty="0">
                <a:latin typeface="Times New Roman"/>
                <a:cs typeface="Times New Roman"/>
              </a:rPr>
              <a:t>of</a:t>
            </a:r>
            <a:r>
              <a:rPr sz="1800" spc="195" dirty="0">
                <a:latin typeface="Times New Roman"/>
                <a:cs typeface="Times New Roman"/>
              </a:rPr>
              <a:t> </a:t>
            </a:r>
            <a:r>
              <a:rPr sz="1800" spc="-10" dirty="0">
                <a:latin typeface="Times New Roman"/>
                <a:cs typeface="Times New Roman"/>
              </a:rPr>
              <a:t>channels available</a:t>
            </a:r>
            <a:r>
              <a:rPr sz="1800" dirty="0">
                <a:latin typeface="Times New Roman"/>
                <a:cs typeface="Times New Roman"/>
              </a:rPr>
              <a:t>	</a:t>
            </a:r>
            <a:r>
              <a:rPr sz="1800" spc="-25" dirty="0">
                <a:latin typeface="Times New Roman"/>
                <a:cs typeface="Times New Roman"/>
              </a:rPr>
              <a:t>to</a:t>
            </a:r>
            <a:r>
              <a:rPr sz="1800" dirty="0">
                <a:latin typeface="Times New Roman"/>
                <a:cs typeface="Times New Roman"/>
              </a:rPr>
              <a:t>	</a:t>
            </a:r>
            <a:r>
              <a:rPr sz="1800" spc="-25" dirty="0">
                <a:latin typeface="Times New Roman"/>
                <a:cs typeface="Times New Roman"/>
              </a:rPr>
              <a:t>the </a:t>
            </a:r>
            <a:r>
              <a:rPr sz="1800" dirty="0">
                <a:latin typeface="Times New Roman"/>
                <a:cs typeface="Times New Roman"/>
              </a:rPr>
              <a:t>cellular</a:t>
            </a:r>
            <a:r>
              <a:rPr sz="1800" spc="-65" dirty="0">
                <a:latin typeface="Times New Roman"/>
                <a:cs typeface="Times New Roman"/>
              </a:rPr>
              <a:t> </a:t>
            </a:r>
            <a:r>
              <a:rPr sz="1800" dirty="0">
                <a:latin typeface="Times New Roman"/>
                <a:cs typeface="Times New Roman"/>
              </a:rPr>
              <a:t>service</a:t>
            </a:r>
            <a:r>
              <a:rPr sz="1800" spc="-35" dirty="0">
                <a:latin typeface="Times New Roman"/>
                <a:cs typeface="Times New Roman"/>
              </a:rPr>
              <a:t> </a:t>
            </a:r>
            <a:r>
              <a:rPr sz="1800" spc="-10" dirty="0">
                <a:latin typeface="Times New Roman"/>
                <a:cs typeface="Times New Roman"/>
              </a:rPr>
              <a:t>provider.</a:t>
            </a:r>
            <a:endParaRPr sz="1800">
              <a:latin typeface="Times New Roman"/>
              <a:cs typeface="Times New Roman"/>
            </a:endParaRPr>
          </a:p>
          <a:p>
            <a:pPr>
              <a:lnSpc>
                <a:spcPct val="100000"/>
              </a:lnSpc>
              <a:spcBef>
                <a:spcPts val="955"/>
              </a:spcBef>
            </a:pPr>
            <a:endParaRPr sz="1800">
              <a:latin typeface="Times New Roman"/>
              <a:cs typeface="Times New Roman"/>
            </a:endParaRPr>
          </a:p>
          <a:p>
            <a:pPr marL="355600" marR="5080" indent="-342900" algn="just">
              <a:lnSpc>
                <a:spcPct val="100000"/>
              </a:lnSpc>
            </a:pPr>
            <a:r>
              <a:rPr sz="1800" dirty="0">
                <a:solidFill>
                  <a:srgbClr val="221F1F"/>
                </a:solidFill>
                <a:latin typeface="Times New Roman"/>
                <a:cs typeface="Times New Roman"/>
              </a:rPr>
              <a:t>3.5</a:t>
            </a:r>
            <a:r>
              <a:rPr sz="1800" spc="380" dirty="0">
                <a:solidFill>
                  <a:srgbClr val="221F1F"/>
                </a:solidFill>
                <a:latin typeface="Times New Roman"/>
                <a:cs typeface="Times New Roman"/>
              </a:rPr>
              <a:t> </a:t>
            </a:r>
            <a:r>
              <a:rPr sz="1800" dirty="0">
                <a:solidFill>
                  <a:srgbClr val="221F1F"/>
                </a:solidFill>
                <a:latin typeface="Times New Roman"/>
                <a:cs typeface="Times New Roman"/>
              </a:rPr>
              <a:t>A</a:t>
            </a:r>
            <a:r>
              <a:rPr sz="1800" spc="290" dirty="0">
                <a:solidFill>
                  <a:srgbClr val="221F1F"/>
                </a:solidFill>
                <a:latin typeface="Times New Roman"/>
                <a:cs typeface="Times New Roman"/>
              </a:rPr>
              <a:t> </a:t>
            </a:r>
            <a:r>
              <a:rPr sz="1800" dirty="0">
                <a:solidFill>
                  <a:srgbClr val="221F1F"/>
                </a:solidFill>
                <a:latin typeface="Times New Roman"/>
                <a:cs typeface="Times New Roman"/>
              </a:rPr>
              <a:t>cellular</a:t>
            </a:r>
            <a:r>
              <a:rPr sz="1800" spc="385" dirty="0">
                <a:solidFill>
                  <a:srgbClr val="221F1F"/>
                </a:solidFill>
                <a:latin typeface="Times New Roman"/>
                <a:cs typeface="Times New Roman"/>
              </a:rPr>
              <a:t> </a:t>
            </a:r>
            <a:r>
              <a:rPr sz="1800" dirty="0">
                <a:solidFill>
                  <a:srgbClr val="221F1F"/>
                </a:solidFill>
                <a:latin typeface="Times New Roman"/>
                <a:cs typeface="Times New Roman"/>
              </a:rPr>
              <a:t>service</a:t>
            </a:r>
            <a:r>
              <a:rPr sz="1800" spc="380" dirty="0">
                <a:solidFill>
                  <a:srgbClr val="221F1F"/>
                </a:solidFill>
                <a:latin typeface="Times New Roman"/>
                <a:cs typeface="Times New Roman"/>
              </a:rPr>
              <a:t> </a:t>
            </a:r>
            <a:r>
              <a:rPr sz="1800" dirty="0">
                <a:solidFill>
                  <a:srgbClr val="221F1F"/>
                </a:solidFill>
                <a:latin typeface="Times New Roman"/>
                <a:cs typeface="Times New Roman"/>
              </a:rPr>
              <a:t>provider</a:t>
            </a:r>
            <a:r>
              <a:rPr sz="1800" spc="375" dirty="0">
                <a:solidFill>
                  <a:srgbClr val="221F1F"/>
                </a:solidFill>
                <a:latin typeface="Times New Roman"/>
                <a:cs typeface="Times New Roman"/>
              </a:rPr>
              <a:t> </a:t>
            </a:r>
            <a:r>
              <a:rPr sz="1800" dirty="0">
                <a:solidFill>
                  <a:srgbClr val="221F1F"/>
                </a:solidFill>
                <a:latin typeface="Times New Roman"/>
                <a:cs typeface="Times New Roman"/>
              </a:rPr>
              <a:t>decides</a:t>
            </a:r>
            <a:r>
              <a:rPr sz="1800" spc="370" dirty="0">
                <a:solidFill>
                  <a:srgbClr val="221F1F"/>
                </a:solidFill>
                <a:latin typeface="Times New Roman"/>
                <a:cs typeface="Times New Roman"/>
              </a:rPr>
              <a:t> </a:t>
            </a:r>
            <a:r>
              <a:rPr sz="1800" dirty="0">
                <a:solidFill>
                  <a:srgbClr val="221F1F"/>
                </a:solidFill>
                <a:latin typeface="Times New Roman"/>
                <a:cs typeface="Times New Roman"/>
              </a:rPr>
              <a:t>to</a:t>
            </a:r>
            <a:r>
              <a:rPr sz="1800" spc="385" dirty="0">
                <a:solidFill>
                  <a:srgbClr val="221F1F"/>
                </a:solidFill>
                <a:latin typeface="Times New Roman"/>
                <a:cs typeface="Times New Roman"/>
              </a:rPr>
              <a:t> </a:t>
            </a:r>
            <a:r>
              <a:rPr sz="1800" dirty="0">
                <a:solidFill>
                  <a:srgbClr val="221F1F"/>
                </a:solidFill>
                <a:latin typeface="Times New Roman"/>
                <a:cs typeface="Times New Roman"/>
              </a:rPr>
              <a:t>use</a:t>
            </a:r>
            <a:r>
              <a:rPr sz="1800" spc="370" dirty="0">
                <a:solidFill>
                  <a:srgbClr val="221F1F"/>
                </a:solidFill>
                <a:latin typeface="Times New Roman"/>
                <a:cs typeface="Times New Roman"/>
              </a:rPr>
              <a:t> </a:t>
            </a:r>
            <a:r>
              <a:rPr sz="1800" dirty="0">
                <a:solidFill>
                  <a:srgbClr val="221F1F"/>
                </a:solidFill>
                <a:latin typeface="Times New Roman"/>
                <a:cs typeface="Times New Roman"/>
              </a:rPr>
              <a:t>a</a:t>
            </a:r>
            <a:r>
              <a:rPr sz="1800" spc="390" dirty="0">
                <a:solidFill>
                  <a:srgbClr val="221F1F"/>
                </a:solidFill>
                <a:latin typeface="Times New Roman"/>
                <a:cs typeface="Times New Roman"/>
              </a:rPr>
              <a:t> </a:t>
            </a:r>
            <a:r>
              <a:rPr sz="1800" dirty="0">
                <a:solidFill>
                  <a:srgbClr val="221F1F"/>
                </a:solidFill>
                <a:latin typeface="Times New Roman"/>
                <a:cs typeface="Times New Roman"/>
              </a:rPr>
              <a:t>digital</a:t>
            </a:r>
            <a:r>
              <a:rPr sz="1800" spc="380" dirty="0">
                <a:solidFill>
                  <a:srgbClr val="221F1F"/>
                </a:solidFill>
                <a:latin typeface="Times New Roman"/>
                <a:cs typeface="Times New Roman"/>
              </a:rPr>
              <a:t> </a:t>
            </a:r>
            <a:r>
              <a:rPr sz="1800" dirty="0">
                <a:solidFill>
                  <a:srgbClr val="221F1F"/>
                </a:solidFill>
                <a:latin typeface="Times New Roman"/>
                <a:cs typeface="Times New Roman"/>
              </a:rPr>
              <a:t>TDMA</a:t>
            </a:r>
            <a:r>
              <a:rPr sz="1800" spc="285" dirty="0">
                <a:solidFill>
                  <a:srgbClr val="221F1F"/>
                </a:solidFill>
                <a:latin typeface="Times New Roman"/>
                <a:cs typeface="Times New Roman"/>
              </a:rPr>
              <a:t> </a:t>
            </a:r>
            <a:r>
              <a:rPr sz="1800" dirty="0">
                <a:solidFill>
                  <a:srgbClr val="221F1F"/>
                </a:solidFill>
                <a:latin typeface="Times New Roman"/>
                <a:cs typeface="Times New Roman"/>
              </a:rPr>
              <a:t>scheme</a:t>
            </a:r>
            <a:r>
              <a:rPr sz="1800" spc="395" dirty="0">
                <a:solidFill>
                  <a:srgbClr val="221F1F"/>
                </a:solidFill>
                <a:latin typeface="Times New Roman"/>
                <a:cs typeface="Times New Roman"/>
              </a:rPr>
              <a:t> </a:t>
            </a:r>
            <a:r>
              <a:rPr sz="1800" dirty="0">
                <a:solidFill>
                  <a:srgbClr val="221F1F"/>
                </a:solidFill>
                <a:latin typeface="Times New Roman"/>
                <a:cs typeface="Times New Roman"/>
              </a:rPr>
              <a:t>which</a:t>
            </a:r>
            <a:r>
              <a:rPr sz="1800" spc="385" dirty="0">
                <a:solidFill>
                  <a:srgbClr val="221F1F"/>
                </a:solidFill>
                <a:latin typeface="Times New Roman"/>
                <a:cs typeface="Times New Roman"/>
              </a:rPr>
              <a:t> </a:t>
            </a:r>
            <a:r>
              <a:rPr sz="1800" spc="-25" dirty="0">
                <a:solidFill>
                  <a:srgbClr val="221F1F"/>
                </a:solidFill>
                <a:latin typeface="Times New Roman"/>
                <a:cs typeface="Times New Roman"/>
              </a:rPr>
              <a:t>can </a:t>
            </a:r>
            <a:r>
              <a:rPr sz="1800" dirty="0">
                <a:solidFill>
                  <a:srgbClr val="221F1F"/>
                </a:solidFill>
                <a:latin typeface="Times New Roman"/>
                <a:cs typeface="Times New Roman"/>
              </a:rPr>
              <a:t>tolerate</a:t>
            </a:r>
            <a:r>
              <a:rPr sz="1800" spc="200" dirty="0">
                <a:solidFill>
                  <a:srgbClr val="221F1F"/>
                </a:solidFill>
                <a:latin typeface="Times New Roman"/>
                <a:cs typeface="Times New Roman"/>
              </a:rPr>
              <a:t> </a:t>
            </a:r>
            <a:r>
              <a:rPr sz="1800" dirty="0">
                <a:solidFill>
                  <a:srgbClr val="221F1F"/>
                </a:solidFill>
                <a:latin typeface="Times New Roman"/>
                <a:cs typeface="Times New Roman"/>
              </a:rPr>
              <a:t>a</a:t>
            </a:r>
            <a:r>
              <a:rPr sz="1800" spc="210" dirty="0">
                <a:solidFill>
                  <a:srgbClr val="221F1F"/>
                </a:solidFill>
                <a:latin typeface="Times New Roman"/>
                <a:cs typeface="Times New Roman"/>
              </a:rPr>
              <a:t> </a:t>
            </a:r>
            <a:r>
              <a:rPr sz="1800" spc="-10" dirty="0">
                <a:solidFill>
                  <a:srgbClr val="221F1F"/>
                </a:solidFill>
                <a:latin typeface="Times New Roman"/>
                <a:cs typeface="Times New Roman"/>
              </a:rPr>
              <a:t>signalto-</a:t>
            </a:r>
            <a:r>
              <a:rPr sz="1800" dirty="0">
                <a:solidFill>
                  <a:srgbClr val="221F1F"/>
                </a:solidFill>
                <a:latin typeface="Times New Roman"/>
                <a:cs typeface="Times New Roman"/>
              </a:rPr>
              <a:t>interference</a:t>
            </a:r>
            <a:r>
              <a:rPr sz="1800" spc="210" dirty="0">
                <a:solidFill>
                  <a:srgbClr val="221F1F"/>
                </a:solidFill>
                <a:latin typeface="Times New Roman"/>
                <a:cs typeface="Times New Roman"/>
              </a:rPr>
              <a:t> </a:t>
            </a:r>
            <a:r>
              <a:rPr sz="1800" dirty="0">
                <a:solidFill>
                  <a:srgbClr val="221F1F"/>
                </a:solidFill>
                <a:latin typeface="Times New Roman"/>
                <a:cs typeface="Times New Roman"/>
              </a:rPr>
              <a:t>ratio</a:t>
            </a:r>
            <a:r>
              <a:rPr sz="1800" spc="210" dirty="0">
                <a:solidFill>
                  <a:srgbClr val="221F1F"/>
                </a:solidFill>
                <a:latin typeface="Times New Roman"/>
                <a:cs typeface="Times New Roman"/>
              </a:rPr>
              <a:t> </a:t>
            </a:r>
            <a:r>
              <a:rPr sz="1800" dirty="0">
                <a:solidFill>
                  <a:srgbClr val="221F1F"/>
                </a:solidFill>
                <a:latin typeface="Times New Roman"/>
                <a:cs typeface="Times New Roman"/>
              </a:rPr>
              <a:t>of</a:t>
            </a:r>
            <a:r>
              <a:rPr sz="1800" spc="190" dirty="0">
                <a:solidFill>
                  <a:srgbClr val="221F1F"/>
                </a:solidFill>
                <a:latin typeface="Times New Roman"/>
                <a:cs typeface="Times New Roman"/>
              </a:rPr>
              <a:t> </a:t>
            </a:r>
            <a:r>
              <a:rPr sz="1800" dirty="0">
                <a:solidFill>
                  <a:srgbClr val="221F1F"/>
                </a:solidFill>
                <a:latin typeface="Times New Roman"/>
                <a:cs typeface="Times New Roman"/>
              </a:rPr>
              <a:t>15</a:t>
            </a:r>
            <a:r>
              <a:rPr sz="1800" spc="204" dirty="0">
                <a:solidFill>
                  <a:srgbClr val="221F1F"/>
                </a:solidFill>
                <a:latin typeface="Times New Roman"/>
                <a:cs typeface="Times New Roman"/>
              </a:rPr>
              <a:t> </a:t>
            </a:r>
            <a:r>
              <a:rPr sz="1800" dirty="0">
                <a:solidFill>
                  <a:srgbClr val="221F1F"/>
                </a:solidFill>
                <a:latin typeface="Times New Roman"/>
                <a:cs typeface="Times New Roman"/>
              </a:rPr>
              <a:t>dB</a:t>
            </a:r>
            <a:r>
              <a:rPr sz="1800" spc="200" dirty="0">
                <a:solidFill>
                  <a:srgbClr val="221F1F"/>
                </a:solidFill>
                <a:latin typeface="Times New Roman"/>
                <a:cs typeface="Times New Roman"/>
              </a:rPr>
              <a:t> </a:t>
            </a:r>
            <a:r>
              <a:rPr sz="1800" dirty="0">
                <a:solidFill>
                  <a:srgbClr val="221F1F"/>
                </a:solidFill>
                <a:latin typeface="Times New Roman"/>
                <a:cs typeface="Times New Roman"/>
              </a:rPr>
              <a:t>in</a:t>
            </a:r>
            <a:r>
              <a:rPr sz="1800" spc="195" dirty="0">
                <a:solidFill>
                  <a:srgbClr val="221F1F"/>
                </a:solidFill>
                <a:latin typeface="Times New Roman"/>
                <a:cs typeface="Times New Roman"/>
              </a:rPr>
              <a:t> </a:t>
            </a:r>
            <a:r>
              <a:rPr sz="1800" dirty="0">
                <a:solidFill>
                  <a:srgbClr val="221F1F"/>
                </a:solidFill>
                <a:latin typeface="Times New Roman"/>
                <a:cs typeface="Times New Roman"/>
              </a:rPr>
              <a:t>the</a:t>
            </a:r>
            <a:r>
              <a:rPr sz="1800" spc="215" dirty="0">
                <a:solidFill>
                  <a:srgbClr val="221F1F"/>
                </a:solidFill>
                <a:latin typeface="Times New Roman"/>
                <a:cs typeface="Times New Roman"/>
              </a:rPr>
              <a:t> </a:t>
            </a:r>
            <a:r>
              <a:rPr sz="1800" dirty="0">
                <a:solidFill>
                  <a:srgbClr val="221F1F"/>
                </a:solidFill>
                <a:latin typeface="Times New Roman"/>
                <a:cs typeface="Times New Roman"/>
              </a:rPr>
              <a:t>worst</a:t>
            </a:r>
            <a:r>
              <a:rPr sz="1800" spc="204" dirty="0">
                <a:solidFill>
                  <a:srgbClr val="221F1F"/>
                </a:solidFill>
                <a:latin typeface="Times New Roman"/>
                <a:cs typeface="Times New Roman"/>
              </a:rPr>
              <a:t> </a:t>
            </a:r>
            <a:r>
              <a:rPr sz="1800" dirty="0">
                <a:solidFill>
                  <a:srgbClr val="221F1F"/>
                </a:solidFill>
                <a:latin typeface="Times New Roman"/>
                <a:cs typeface="Times New Roman"/>
              </a:rPr>
              <a:t>case.</a:t>
            </a:r>
            <a:r>
              <a:rPr sz="1800" spc="200" dirty="0">
                <a:solidFill>
                  <a:srgbClr val="221F1F"/>
                </a:solidFill>
                <a:latin typeface="Times New Roman"/>
                <a:cs typeface="Times New Roman"/>
              </a:rPr>
              <a:t> </a:t>
            </a:r>
            <a:r>
              <a:rPr sz="1800" dirty="0">
                <a:solidFill>
                  <a:srgbClr val="221F1F"/>
                </a:solidFill>
                <a:latin typeface="Times New Roman"/>
                <a:cs typeface="Times New Roman"/>
              </a:rPr>
              <a:t>Find</a:t>
            </a:r>
            <a:r>
              <a:rPr sz="1800" spc="20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15" dirty="0">
                <a:solidFill>
                  <a:srgbClr val="221F1F"/>
                </a:solidFill>
                <a:latin typeface="Times New Roman"/>
                <a:cs typeface="Times New Roman"/>
              </a:rPr>
              <a:t> </a:t>
            </a:r>
            <a:r>
              <a:rPr sz="1800" spc="-10" dirty="0">
                <a:solidFill>
                  <a:srgbClr val="221F1F"/>
                </a:solidFill>
                <a:latin typeface="Times New Roman"/>
                <a:cs typeface="Times New Roman"/>
              </a:rPr>
              <a:t>optimal </a:t>
            </a:r>
            <a:r>
              <a:rPr sz="1800" dirty="0">
                <a:solidFill>
                  <a:srgbClr val="221F1F"/>
                </a:solidFill>
                <a:latin typeface="Times New Roman"/>
                <a:cs typeface="Times New Roman"/>
              </a:rPr>
              <a:t>value</a:t>
            </a:r>
            <a:r>
              <a:rPr sz="1800" spc="40" dirty="0">
                <a:solidFill>
                  <a:srgbClr val="221F1F"/>
                </a:solidFill>
                <a:latin typeface="Times New Roman"/>
                <a:cs typeface="Times New Roman"/>
              </a:rPr>
              <a:t>  </a:t>
            </a:r>
            <a:r>
              <a:rPr sz="1800" dirty="0">
                <a:solidFill>
                  <a:srgbClr val="221F1F"/>
                </a:solidFill>
                <a:latin typeface="Times New Roman"/>
                <a:cs typeface="Times New Roman"/>
              </a:rPr>
              <a:t>of</a:t>
            </a:r>
            <a:r>
              <a:rPr sz="1800" spc="3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35" dirty="0">
                <a:solidFill>
                  <a:srgbClr val="221F1F"/>
                </a:solidFill>
                <a:latin typeface="Times New Roman"/>
                <a:cs typeface="Times New Roman"/>
              </a:rPr>
              <a:t>  </a:t>
            </a:r>
            <a:r>
              <a:rPr sz="1800" dirty="0">
                <a:solidFill>
                  <a:srgbClr val="221F1F"/>
                </a:solidFill>
                <a:latin typeface="Times New Roman"/>
                <a:cs typeface="Times New Roman"/>
              </a:rPr>
              <a:t>for</a:t>
            </a:r>
            <a:r>
              <a:rPr sz="1800" spc="40" dirty="0">
                <a:solidFill>
                  <a:srgbClr val="221F1F"/>
                </a:solidFill>
                <a:latin typeface="Times New Roman"/>
                <a:cs typeface="Times New Roman"/>
              </a:rPr>
              <a:t>  </a:t>
            </a:r>
            <a:r>
              <a:rPr sz="1800" dirty="0">
                <a:solidFill>
                  <a:srgbClr val="221F1F"/>
                </a:solidFill>
                <a:latin typeface="Times New Roman"/>
                <a:cs typeface="Times New Roman"/>
              </a:rPr>
              <a:t>(a)</a:t>
            </a:r>
            <a:r>
              <a:rPr sz="1800" spc="40" dirty="0">
                <a:solidFill>
                  <a:srgbClr val="221F1F"/>
                </a:solidFill>
                <a:latin typeface="Times New Roman"/>
                <a:cs typeface="Times New Roman"/>
              </a:rPr>
              <a:t>  </a:t>
            </a:r>
            <a:r>
              <a:rPr sz="1800" dirty="0">
                <a:solidFill>
                  <a:srgbClr val="221F1F"/>
                </a:solidFill>
                <a:latin typeface="Times New Roman"/>
                <a:cs typeface="Times New Roman"/>
              </a:rPr>
              <a:t>omnidirectional</a:t>
            </a:r>
            <a:r>
              <a:rPr sz="1800" spc="40" dirty="0">
                <a:solidFill>
                  <a:srgbClr val="221F1F"/>
                </a:solidFill>
                <a:latin typeface="Times New Roman"/>
                <a:cs typeface="Times New Roman"/>
              </a:rPr>
              <a:t>  </a:t>
            </a:r>
            <a:r>
              <a:rPr sz="1800" dirty="0">
                <a:solidFill>
                  <a:srgbClr val="221F1F"/>
                </a:solidFill>
                <a:latin typeface="Times New Roman"/>
                <a:cs typeface="Times New Roman"/>
              </a:rPr>
              <a:t>antennas,</a:t>
            </a:r>
            <a:r>
              <a:rPr sz="1800" spc="45" dirty="0">
                <a:solidFill>
                  <a:srgbClr val="221F1F"/>
                </a:solidFill>
                <a:latin typeface="Times New Roman"/>
                <a:cs typeface="Times New Roman"/>
              </a:rPr>
              <a:t>  </a:t>
            </a:r>
            <a:r>
              <a:rPr sz="1800" dirty="0">
                <a:solidFill>
                  <a:srgbClr val="221F1F"/>
                </a:solidFill>
                <a:latin typeface="Times New Roman"/>
                <a:cs typeface="Times New Roman"/>
              </a:rPr>
              <a:t>(b)</a:t>
            </a:r>
            <a:r>
              <a:rPr sz="1800" spc="35" dirty="0">
                <a:solidFill>
                  <a:srgbClr val="221F1F"/>
                </a:solidFill>
                <a:latin typeface="Times New Roman"/>
                <a:cs typeface="Times New Roman"/>
              </a:rPr>
              <a:t>  </a:t>
            </a:r>
            <a:r>
              <a:rPr sz="1800" dirty="0">
                <a:solidFill>
                  <a:srgbClr val="221F1F"/>
                </a:solidFill>
                <a:latin typeface="Times New Roman"/>
                <a:cs typeface="Times New Roman"/>
              </a:rPr>
              <a:t>120°</a:t>
            </a:r>
            <a:r>
              <a:rPr sz="1800" spc="35" dirty="0">
                <a:solidFill>
                  <a:srgbClr val="221F1F"/>
                </a:solidFill>
                <a:latin typeface="Times New Roman"/>
                <a:cs typeface="Times New Roman"/>
              </a:rPr>
              <a:t>  </a:t>
            </a:r>
            <a:r>
              <a:rPr sz="1800" dirty="0">
                <a:solidFill>
                  <a:srgbClr val="221F1F"/>
                </a:solidFill>
                <a:latin typeface="Times New Roman"/>
                <a:cs typeface="Times New Roman"/>
              </a:rPr>
              <a:t>sectoring,</a:t>
            </a:r>
            <a:r>
              <a:rPr sz="1800" spc="45" dirty="0">
                <a:solidFill>
                  <a:srgbClr val="221F1F"/>
                </a:solidFill>
                <a:latin typeface="Times New Roman"/>
                <a:cs typeface="Times New Roman"/>
              </a:rPr>
              <a:t>  </a:t>
            </a:r>
            <a:r>
              <a:rPr sz="1800" dirty="0">
                <a:solidFill>
                  <a:srgbClr val="221F1F"/>
                </a:solidFill>
                <a:latin typeface="Times New Roman"/>
                <a:cs typeface="Times New Roman"/>
              </a:rPr>
              <a:t>and</a:t>
            </a:r>
            <a:r>
              <a:rPr sz="1800" spc="40" dirty="0">
                <a:solidFill>
                  <a:srgbClr val="221F1F"/>
                </a:solidFill>
                <a:latin typeface="Times New Roman"/>
                <a:cs typeface="Times New Roman"/>
              </a:rPr>
              <a:t>  </a:t>
            </a:r>
            <a:r>
              <a:rPr sz="1800" dirty="0">
                <a:solidFill>
                  <a:srgbClr val="221F1F"/>
                </a:solidFill>
                <a:latin typeface="Times New Roman"/>
                <a:cs typeface="Times New Roman"/>
              </a:rPr>
              <a:t>(c)</a:t>
            </a:r>
            <a:r>
              <a:rPr sz="1800" spc="40" dirty="0">
                <a:solidFill>
                  <a:srgbClr val="221F1F"/>
                </a:solidFill>
                <a:latin typeface="Times New Roman"/>
                <a:cs typeface="Times New Roman"/>
              </a:rPr>
              <a:t>  </a:t>
            </a:r>
            <a:r>
              <a:rPr sz="1800" spc="-25" dirty="0">
                <a:solidFill>
                  <a:srgbClr val="221F1F"/>
                </a:solidFill>
                <a:latin typeface="Times New Roman"/>
                <a:cs typeface="Times New Roman"/>
              </a:rPr>
              <a:t>60° </a:t>
            </a:r>
            <a:r>
              <a:rPr sz="1800" dirty="0">
                <a:solidFill>
                  <a:srgbClr val="221F1F"/>
                </a:solidFill>
                <a:latin typeface="Times New Roman"/>
                <a:cs typeface="Times New Roman"/>
              </a:rPr>
              <a:t>sectoring.</a:t>
            </a:r>
            <a:r>
              <a:rPr sz="1800" spc="315" dirty="0">
                <a:solidFill>
                  <a:srgbClr val="221F1F"/>
                </a:solidFill>
                <a:latin typeface="Times New Roman"/>
                <a:cs typeface="Times New Roman"/>
              </a:rPr>
              <a:t> </a:t>
            </a:r>
            <a:r>
              <a:rPr sz="1800" dirty="0">
                <a:solidFill>
                  <a:srgbClr val="221F1F"/>
                </a:solidFill>
                <a:latin typeface="Times New Roman"/>
                <a:cs typeface="Times New Roman"/>
              </a:rPr>
              <a:t>Should</a:t>
            </a:r>
            <a:r>
              <a:rPr sz="1800" spc="315" dirty="0">
                <a:solidFill>
                  <a:srgbClr val="221F1F"/>
                </a:solidFill>
                <a:latin typeface="Times New Roman"/>
                <a:cs typeface="Times New Roman"/>
              </a:rPr>
              <a:t> </a:t>
            </a:r>
            <a:r>
              <a:rPr sz="1800" dirty="0">
                <a:solidFill>
                  <a:srgbClr val="221F1F"/>
                </a:solidFill>
                <a:latin typeface="Times New Roman"/>
                <a:cs typeface="Times New Roman"/>
              </a:rPr>
              <a:t>sectoring</a:t>
            </a:r>
            <a:r>
              <a:rPr sz="1800" spc="325" dirty="0">
                <a:solidFill>
                  <a:srgbClr val="221F1F"/>
                </a:solidFill>
                <a:latin typeface="Times New Roman"/>
                <a:cs typeface="Times New Roman"/>
              </a:rPr>
              <a:t> </a:t>
            </a:r>
            <a:r>
              <a:rPr sz="1800" dirty="0">
                <a:solidFill>
                  <a:srgbClr val="221F1F"/>
                </a:solidFill>
                <a:latin typeface="Times New Roman"/>
                <a:cs typeface="Times New Roman"/>
              </a:rPr>
              <a:t>be</a:t>
            </a:r>
            <a:r>
              <a:rPr sz="1800" spc="310" dirty="0">
                <a:solidFill>
                  <a:srgbClr val="221F1F"/>
                </a:solidFill>
                <a:latin typeface="Times New Roman"/>
                <a:cs typeface="Times New Roman"/>
              </a:rPr>
              <a:t> </a:t>
            </a:r>
            <a:r>
              <a:rPr sz="1800" dirty="0">
                <a:solidFill>
                  <a:srgbClr val="221F1F"/>
                </a:solidFill>
                <a:latin typeface="Times New Roman"/>
                <a:cs typeface="Times New Roman"/>
              </a:rPr>
              <a:t>used?</a:t>
            </a:r>
            <a:r>
              <a:rPr sz="1800" spc="330" dirty="0">
                <a:solidFill>
                  <a:srgbClr val="221F1F"/>
                </a:solidFill>
                <a:latin typeface="Times New Roman"/>
                <a:cs typeface="Times New Roman"/>
              </a:rPr>
              <a:t> </a:t>
            </a:r>
            <a:r>
              <a:rPr sz="1800" dirty="0">
                <a:solidFill>
                  <a:srgbClr val="221F1F"/>
                </a:solidFill>
                <a:latin typeface="Times New Roman"/>
                <a:cs typeface="Times New Roman"/>
              </a:rPr>
              <a:t>If</a:t>
            </a:r>
            <a:r>
              <a:rPr sz="1800" spc="305" dirty="0">
                <a:solidFill>
                  <a:srgbClr val="221F1F"/>
                </a:solidFill>
                <a:latin typeface="Times New Roman"/>
                <a:cs typeface="Times New Roman"/>
              </a:rPr>
              <a:t> </a:t>
            </a:r>
            <a:r>
              <a:rPr sz="1800" dirty="0">
                <a:solidFill>
                  <a:srgbClr val="221F1F"/>
                </a:solidFill>
                <a:latin typeface="Times New Roman"/>
                <a:cs typeface="Times New Roman"/>
              </a:rPr>
              <a:t>so,</a:t>
            </a:r>
            <a:r>
              <a:rPr sz="1800" spc="315" dirty="0">
                <a:solidFill>
                  <a:srgbClr val="221F1F"/>
                </a:solidFill>
                <a:latin typeface="Times New Roman"/>
                <a:cs typeface="Times New Roman"/>
              </a:rPr>
              <a:t> </a:t>
            </a:r>
            <a:r>
              <a:rPr sz="1800" dirty="0">
                <a:solidFill>
                  <a:srgbClr val="221F1F"/>
                </a:solidFill>
                <a:latin typeface="Times New Roman"/>
                <a:cs typeface="Times New Roman"/>
              </a:rPr>
              <a:t>which</a:t>
            </a:r>
            <a:r>
              <a:rPr sz="1800" spc="305" dirty="0">
                <a:solidFill>
                  <a:srgbClr val="221F1F"/>
                </a:solidFill>
                <a:latin typeface="Times New Roman"/>
                <a:cs typeface="Times New Roman"/>
              </a:rPr>
              <a:t> </a:t>
            </a:r>
            <a:r>
              <a:rPr sz="1800" dirty="0">
                <a:solidFill>
                  <a:srgbClr val="221F1F"/>
                </a:solidFill>
                <a:latin typeface="Times New Roman"/>
                <a:cs typeface="Times New Roman"/>
              </a:rPr>
              <a:t>case</a:t>
            </a:r>
            <a:r>
              <a:rPr sz="1800" spc="305" dirty="0">
                <a:solidFill>
                  <a:srgbClr val="221F1F"/>
                </a:solidFill>
                <a:latin typeface="Times New Roman"/>
                <a:cs typeface="Times New Roman"/>
              </a:rPr>
              <a:t> </a:t>
            </a:r>
            <a:r>
              <a:rPr sz="1800" dirty="0">
                <a:solidFill>
                  <a:srgbClr val="221F1F"/>
                </a:solidFill>
                <a:latin typeface="Times New Roman"/>
                <a:cs typeface="Times New Roman"/>
              </a:rPr>
              <a:t>(60°</a:t>
            </a:r>
            <a:r>
              <a:rPr sz="1800" spc="325" dirty="0">
                <a:solidFill>
                  <a:srgbClr val="221F1F"/>
                </a:solidFill>
                <a:latin typeface="Times New Roman"/>
                <a:cs typeface="Times New Roman"/>
              </a:rPr>
              <a:t> </a:t>
            </a:r>
            <a:r>
              <a:rPr sz="1800" dirty="0">
                <a:solidFill>
                  <a:srgbClr val="221F1F"/>
                </a:solidFill>
                <a:latin typeface="Times New Roman"/>
                <a:cs typeface="Times New Roman"/>
              </a:rPr>
              <a:t>or</a:t>
            </a:r>
            <a:r>
              <a:rPr sz="1800" spc="305" dirty="0">
                <a:solidFill>
                  <a:srgbClr val="221F1F"/>
                </a:solidFill>
                <a:latin typeface="Times New Roman"/>
                <a:cs typeface="Times New Roman"/>
              </a:rPr>
              <a:t> </a:t>
            </a:r>
            <a:r>
              <a:rPr sz="1800" dirty="0">
                <a:solidFill>
                  <a:srgbClr val="221F1F"/>
                </a:solidFill>
                <a:latin typeface="Times New Roman"/>
                <a:cs typeface="Times New Roman"/>
              </a:rPr>
              <a:t>120°)</a:t>
            </a:r>
            <a:r>
              <a:rPr sz="1800" spc="315" dirty="0">
                <a:solidFill>
                  <a:srgbClr val="221F1F"/>
                </a:solidFill>
                <a:latin typeface="Times New Roman"/>
                <a:cs typeface="Times New Roman"/>
              </a:rPr>
              <a:t> </a:t>
            </a:r>
            <a:r>
              <a:rPr sz="1800" dirty="0">
                <a:solidFill>
                  <a:srgbClr val="221F1F"/>
                </a:solidFill>
                <a:latin typeface="Times New Roman"/>
                <a:cs typeface="Times New Roman"/>
              </a:rPr>
              <a:t>should</a:t>
            </a:r>
            <a:r>
              <a:rPr sz="1800" spc="315" dirty="0">
                <a:solidFill>
                  <a:srgbClr val="221F1F"/>
                </a:solidFill>
                <a:latin typeface="Times New Roman"/>
                <a:cs typeface="Times New Roman"/>
              </a:rPr>
              <a:t> </a:t>
            </a:r>
            <a:r>
              <a:rPr sz="1800" spc="-25" dirty="0">
                <a:solidFill>
                  <a:srgbClr val="221F1F"/>
                </a:solidFill>
                <a:latin typeface="Times New Roman"/>
                <a:cs typeface="Times New Roman"/>
              </a:rPr>
              <a:t>be </a:t>
            </a:r>
            <a:r>
              <a:rPr sz="1800" dirty="0">
                <a:solidFill>
                  <a:srgbClr val="221F1F"/>
                </a:solidFill>
                <a:latin typeface="Times New Roman"/>
                <a:cs typeface="Times New Roman"/>
              </a:rPr>
              <a:t>used?</a:t>
            </a:r>
            <a:r>
              <a:rPr sz="1800" spc="425" dirty="0">
                <a:solidFill>
                  <a:srgbClr val="221F1F"/>
                </a:solidFill>
                <a:latin typeface="Times New Roman"/>
                <a:cs typeface="Times New Roman"/>
              </a:rPr>
              <a:t> </a:t>
            </a:r>
            <a:r>
              <a:rPr sz="1800" dirty="0">
                <a:solidFill>
                  <a:srgbClr val="221F1F"/>
                </a:solidFill>
                <a:latin typeface="Times New Roman"/>
                <a:cs typeface="Times New Roman"/>
              </a:rPr>
              <a:t>(Assume</a:t>
            </a:r>
            <a:r>
              <a:rPr sz="1800" spc="400" dirty="0">
                <a:solidFill>
                  <a:srgbClr val="221F1F"/>
                </a:solidFill>
                <a:latin typeface="Times New Roman"/>
                <a:cs typeface="Times New Roman"/>
              </a:rPr>
              <a:t> </a:t>
            </a:r>
            <a:r>
              <a:rPr sz="1800" dirty="0">
                <a:solidFill>
                  <a:srgbClr val="221F1F"/>
                </a:solidFill>
                <a:latin typeface="Times New Roman"/>
                <a:cs typeface="Times New Roman"/>
              </a:rPr>
              <a:t>a</a:t>
            </a:r>
            <a:r>
              <a:rPr sz="1800" spc="400" dirty="0">
                <a:solidFill>
                  <a:srgbClr val="221F1F"/>
                </a:solidFill>
                <a:latin typeface="Times New Roman"/>
                <a:cs typeface="Times New Roman"/>
              </a:rPr>
              <a:t> </a:t>
            </a:r>
            <a:r>
              <a:rPr sz="1800" dirty="0">
                <a:solidFill>
                  <a:srgbClr val="221F1F"/>
                </a:solidFill>
                <a:latin typeface="Times New Roman"/>
                <a:cs typeface="Times New Roman"/>
              </a:rPr>
              <a:t>path</a:t>
            </a:r>
            <a:r>
              <a:rPr sz="1800" spc="400" dirty="0">
                <a:solidFill>
                  <a:srgbClr val="221F1F"/>
                </a:solidFill>
                <a:latin typeface="Times New Roman"/>
                <a:cs typeface="Times New Roman"/>
              </a:rPr>
              <a:t> </a:t>
            </a:r>
            <a:r>
              <a:rPr sz="1800" dirty="0">
                <a:solidFill>
                  <a:srgbClr val="221F1F"/>
                </a:solidFill>
                <a:latin typeface="Times New Roman"/>
                <a:cs typeface="Times New Roman"/>
              </a:rPr>
              <a:t>loss</a:t>
            </a:r>
            <a:r>
              <a:rPr sz="1800" spc="390"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409" dirty="0">
                <a:solidFill>
                  <a:srgbClr val="221F1F"/>
                </a:solidFill>
                <a:latin typeface="Times New Roman"/>
                <a:cs typeface="Times New Roman"/>
              </a:rPr>
              <a:t> </a:t>
            </a:r>
            <a:r>
              <a:rPr sz="1800" dirty="0">
                <a:solidFill>
                  <a:srgbClr val="221F1F"/>
                </a:solidFill>
                <a:latin typeface="Times New Roman"/>
                <a:cs typeface="Times New Roman"/>
              </a:rPr>
              <a:t>of</a:t>
            </a:r>
            <a:r>
              <a:rPr sz="1800" i="1" dirty="0">
                <a:solidFill>
                  <a:srgbClr val="221F1F"/>
                </a:solidFill>
                <a:latin typeface="Times New Roman"/>
                <a:cs typeface="Times New Roman"/>
              </a:rPr>
              <a:t>n</a:t>
            </a:r>
            <a:r>
              <a:rPr sz="1800" i="1" spc="395" dirty="0">
                <a:solidFill>
                  <a:srgbClr val="221F1F"/>
                </a:solidFill>
                <a:latin typeface="Times New Roman"/>
                <a:cs typeface="Times New Roman"/>
              </a:rPr>
              <a:t> </a:t>
            </a:r>
            <a:r>
              <a:rPr sz="1800" dirty="0">
                <a:solidFill>
                  <a:srgbClr val="221F1F"/>
                </a:solidFill>
                <a:latin typeface="Times New Roman"/>
                <a:cs typeface="Times New Roman"/>
              </a:rPr>
              <a:t>=4</a:t>
            </a:r>
            <a:r>
              <a:rPr sz="1800" spc="390" dirty="0">
                <a:solidFill>
                  <a:srgbClr val="221F1F"/>
                </a:solidFill>
                <a:latin typeface="Times New Roman"/>
                <a:cs typeface="Times New Roman"/>
              </a:rPr>
              <a:t> </a:t>
            </a:r>
            <a:r>
              <a:rPr sz="1800" dirty="0">
                <a:solidFill>
                  <a:srgbClr val="221F1F"/>
                </a:solidFill>
                <a:latin typeface="Times New Roman"/>
                <a:cs typeface="Times New Roman"/>
              </a:rPr>
              <a:t>and</a:t>
            </a:r>
            <a:r>
              <a:rPr sz="1800" spc="395" dirty="0">
                <a:solidFill>
                  <a:srgbClr val="221F1F"/>
                </a:solidFill>
                <a:latin typeface="Times New Roman"/>
                <a:cs typeface="Times New Roman"/>
              </a:rPr>
              <a:t> </a:t>
            </a:r>
            <a:r>
              <a:rPr sz="1800" dirty="0">
                <a:solidFill>
                  <a:srgbClr val="221F1F"/>
                </a:solidFill>
                <a:latin typeface="Times New Roman"/>
                <a:cs typeface="Times New Roman"/>
              </a:rPr>
              <a:t>consider</a:t>
            </a:r>
            <a:r>
              <a:rPr sz="1800" spc="395" dirty="0">
                <a:solidFill>
                  <a:srgbClr val="221F1F"/>
                </a:solidFill>
                <a:latin typeface="Times New Roman"/>
                <a:cs typeface="Times New Roman"/>
              </a:rPr>
              <a:t> </a:t>
            </a:r>
            <a:r>
              <a:rPr sz="1800" dirty="0">
                <a:solidFill>
                  <a:srgbClr val="221F1F"/>
                </a:solidFill>
                <a:latin typeface="Times New Roman"/>
                <a:cs typeface="Times New Roman"/>
              </a:rPr>
              <a:t>trunking</a:t>
            </a:r>
            <a:r>
              <a:rPr sz="1800" spc="405" dirty="0">
                <a:solidFill>
                  <a:srgbClr val="221F1F"/>
                </a:solidFill>
                <a:latin typeface="Times New Roman"/>
                <a:cs typeface="Times New Roman"/>
              </a:rPr>
              <a:t> </a:t>
            </a:r>
            <a:r>
              <a:rPr sz="1800" spc="-10" dirty="0">
                <a:solidFill>
                  <a:srgbClr val="221F1F"/>
                </a:solidFill>
                <a:latin typeface="Times New Roman"/>
                <a:cs typeface="Times New Roman"/>
              </a:rPr>
              <a:t>efficiency.)</a:t>
            </a:r>
            <a:endParaRPr sz="18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32</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86154"/>
            <a:ext cx="8073390" cy="5293360"/>
          </a:xfrm>
          <a:prstGeom prst="rect">
            <a:avLst/>
          </a:prstGeom>
        </p:spPr>
        <p:txBody>
          <a:bodyPr vert="horz" wrap="square" lIns="0" tIns="12700" rIns="0" bIns="0" rtlCol="0">
            <a:spAutoFit/>
          </a:bodyPr>
          <a:lstStyle/>
          <a:p>
            <a:pPr marL="355600" marR="5080" indent="-342900" algn="just">
              <a:lnSpc>
                <a:spcPct val="100000"/>
              </a:lnSpc>
              <a:spcBef>
                <a:spcPts val="100"/>
              </a:spcBef>
            </a:pPr>
            <a:r>
              <a:rPr sz="1800" dirty="0">
                <a:solidFill>
                  <a:srgbClr val="221F1F"/>
                </a:solidFill>
                <a:latin typeface="Times New Roman"/>
                <a:cs typeface="Times New Roman"/>
              </a:rPr>
              <a:t>3.6</a:t>
            </a:r>
            <a:r>
              <a:rPr sz="1800" spc="305" dirty="0">
                <a:solidFill>
                  <a:srgbClr val="221F1F"/>
                </a:solidFill>
                <a:latin typeface="Times New Roman"/>
                <a:cs typeface="Times New Roman"/>
              </a:rPr>
              <a:t> </a:t>
            </a:r>
            <a:r>
              <a:rPr sz="1800" dirty="0">
                <a:solidFill>
                  <a:srgbClr val="221F1F"/>
                </a:solidFill>
                <a:latin typeface="Times New Roman"/>
                <a:cs typeface="Times New Roman"/>
              </a:rPr>
              <a:t>You</a:t>
            </a:r>
            <a:r>
              <a:rPr sz="1800" spc="295" dirty="0">
                <a:solidFill>
                  <a:srgbClr val="221F1F"/>
                </a:solidFill>
                <a:latin typeface="Times New Roman"/>
                <a:cs typeface="Times New Roman"/>
              </a:rPr>
              <a:t> </a:t>
            </a:r>
            <a:r>
              <a:rPr sz="1800" dirty="0">
                <a:solidFill>
                  <a:srgbClr val="221F1F"/>
                </a:solidFill>
                <a:latin typeface="Times New Roman"/>
                <a:cs typeface="Times New Roman"/>
              </a:rPr>
              <a:t>are</a:t>
            </a:r>
            <a:r>
              <a:rPr sz="1800" spc="305" dirty="0">
                <a:solidFill>
                  <a:srgbClr val="221F1F"/>
                </a:solidFill>
                <a:latin typeface="Times New Roman"/>
                <a:cs typeface="Times New Roman"/>
              </a:rPr>
              <a:t> </a:t>
            </a:r>
            <a:r>
              <a:rPr sz="1800" dirty="0">
                <a:solidFill>
                  <a:srgbClr val="221F1F"/>
                </a:solidFill>
                <a:latin typeface="Times New Roman"/>
                <a:cs typeface="Times New Roman"/>
              </a:rPr>
              <a:t>asked</a:t>
            </a:r>
            <a:r>
              <a:rPr sz="1800" spc="310" dirty="0">
                <a:solidFill>
                  <a:srgbClr val="221F1F"/>
                </a:solidFill>
                <a:latin typeface="Times New Roman"/>
                <a:cs typeface="Times New Roman"/>
              </a:rPr>
              <a:t> </a:t>
            </a:r>
            <a:r>
              <a:rPr sz="1800" dirty="0">
                <a:solidFill>
                  <a:srgbClr val="221F1F"/>
                </a:solidFill>
                <a:latin typeface="Times New Roman"/>
                <a:cs typeface="Times New Roman"/>
              </a:rPr>
              <a:t>to</a:t>
            </a:r>
            <a:r>
              <a:rPr sz="1800" spc="295" dirty="0">
                <a:solidFill>
                  <a:srgbClr val="221F1F"/>
                </a:solidFill>
                <a:latin typeface="Times New Roman"/>
                <a:cs typeface="Times New Roman"/>
              </a:rPr>
              <a:t> </a:t>
            </a:r>
            <a:r>
              <a:rPr sz="1800" dirty="0">
                <a:solidFill>
                  <a:srgbClr val="221F1F"/>
                </a:solidFill>
                <a:latin typeface="Times New Roman"/>
                <a:cs typeface="Times New Roman"/>
              </a:rPr>
              <a:t>determine</a:t>
            </a:r>
            <a:r>
              <a:rPr sz="1800" spc="305" dirty="0">
                <a:solidFill>
                  <a:srgbClr val="221F1F"/>
                </a:solidFill>
                <a:latin typeface="Times New Roman"/>
                <a:cs typeface="Times New Roman"/>
              </a:rPr>
              <a:t> </a:t>
            </a:r>
            <a:r>
              <a:rPr sz="1800" dirty="0">
                <a:solidFill>
                  <a:srgbClr val="221F1F"/>
                </a:solidFill>
                <a:latin typeface="Times New Roman"/>
                <a:cs typeface="Times New Roman"/>
              </a:rPr>
              <a:t>the</a:t>
            </a:r>
            <a:r>
              <a:rPr sz="1800" spc="300" dirty="0">
                <a:solidFill>
                  <a:srgbClr val="221F1F"/>
                </a:solidFill>
                <a:latin typeface="Times New Roman"/>
                <a:cs typeface="Times New Roman"/>
              </a:rPr>
              <a:t> </a:t>
            </a:r>
            <a:r>
              <a:rPr sz="1800" spc="-10" dirty="0">
                <a:solidFill>
                  <a:srgbClr val="221F1F"/>
                </a:solidFill>
                <a:latin typeface="Times New Roman"/>
                <a:cs typeface="Times New Roman"/>
              </a:rPr>
              <a:t>signal-to-</a:t>
            </a:r>
            <a:r>
              <a:rPr sz="1800" dirty="0">
                <a:solidFill>
                  <a:srgbClr val="221F1F"/>
                </a:solidFill>
                <a:latin typeface="Times New Roman"/>
                <a:cs typeface="Times New Roman"/>
              </a:rPr>
              <a:t>interference</a:t>
            </a:r>
            <a:r>
              <a:rPr sz="1800" spc="315" dirty="0">
                <a:solidFill>
                  <a:srgbClr val="221F1F"/>
                </a:solidFill>
                <a:latin typeface="Times New Roman"/>
                <a:cs typeface="Times New Roman"/>
              </a:rPr>
              <a:t> </a:t>
            </a:r>
            <a:r>
              <a:rPr sz="1800" dirty="0">
                <a:solidFill>
                  <a:srgbClr val="221F1F"/>
                </a:solidFill>
                <a:latin typeface="Times New Roman"/>
                <a:cs typeface="Times New Roman"/>
              </a:rPr>
              <a:t>ratio</a:t>
            </a:r>
            <a:r>
              <a:rPr sz="1800" spc="290" dirty="0">
                <a:solidFill>
                  <a:srgbClr val="221F1F"/>
                </a:solidFill>
                <a:latin typeface="Times New Roman"/>
                <a:cs typeface="Times New Roman"/>
              </a:rPr>
              <a:t> </a:t>
            </a:r>
            <a:r>
              <a:rPr sz="1800" dirty="0">
                <a:solidFill>
                  <a:srgbClr val="221F1F"/>
                </a:solidFill>
                <a:latin typeface="Times New Roman"/>
                <a:cs typeface="Times New Roman"/>
              </a:rPr>
              <a:t>(SIR</a:t>
            </a:r>
            <a:r>
              <a:rPr sz="1800" spc="300" dirty="0">
                <a:solidFill>
                  <a:srgbClr val="221F1F"/>
                </a:solidFill>
                <a:latin typeface="Times New Roman"/>
                <a:cs typeface="Times New Roman"/>
              </a:rPr>
              <a:t> </a:t>
            </a:r>
            <a:r>
              <a:rPr sz="1800" dirty="0">
                <a:solidFill>
                  <a:srgbClr val="221F1F"/>
                </a:solidFill>
                <a:latin typeface="Times New Roman"/>
                <a:cs typeface="Times New Roman"/>
              </a:rPr>
              <a:t>or</a:t>
            </a:r>
            <a:r>
              <a:rPr sz="1800" spc="310" dirty="0">
                <a:solidFill>
                  <a:srgbClr val="221F1F"/>
                </a:solidFill>
                <a:latin typeface="Times New Roman"/>
                <a:cs typeface="Times New Roman"/>
              </a:rPr>
              <a:t> </a:t>
            </a:r>
            <a:r>
              <a:rPr sz="1800" dirty="0">
                <a:solidFill>
                  <a:srgbClr val="221F1F"/>
                </a:solidFill>
                <a:latin typeface="Times New Roman"/>
                <a:cs typeface="Times New Roman"/>
              </a:rPr>
              <a:t>C/1)</a:t>
            </a:r>
            <a:r>
              <a:rPr sz="1800" spc="305" dirty="0">
                <a:solidFill>
                  <a:srgbClr val="221F1F"/>
                </a:solidFill>
                <a:latin typeface="Times New Roman"/>
                <a:cs typeface="Times New Roman"/>
              </a:rPr>
              <a:t> </a:t>
            </a:r>
            <a:r>
              <a:rPr sz="1800" dirty="0">
                <a:solidFill>
                  <a:srgbClr val="221F1F"/>
                </a:solidFill>
                <a:latin typeface="Times New Roman"/>
                <a:cs typeface="Times New Roman"/>
              </a:rPr>
              <a:t>on</a:t>
            </a:r>
            <a:r>
              <a:rPr sz="1800" spc="295" dirty="0">
                <a:solidFill>
                  <a:srgbClr val="221F1F"/>
                </a:solidFill>
                <a:latin typeface="Times New Roman"/>
                <a:cs typeface="Times New Roman"/>
              </a:rPr>
              <a:t> </a:t>
            </a:r>
            <a:r>
              <a:rPr sz="1800" spc="-25" dirty="0">
                <a:solidFill>
                  <a:srgbClr val="221F1F"/>
                </a:solidFill>
                <a:latin typeface="Times New Roman"/>
                <a:cs typeface="Times New Roman"/>
              </a:rPr>
              <a:t>the </a:t>
            </a:r>
            <a:r>
              <a:rPr sz="1800" dirty="0">
                <a:solidFill>
                  <a:srgbClr val="221F1F"/>
                </a:solidFill>
                <a:latin typeface="Times New Roman"/>
                <a:cs typeface="Times New Roman"/>
              </a:rPr>
              <a:t>forward</a:t>
            </a:r>
            <a:r>
              <a:rPr sz="1800" spc="195" dirty="0">
                <a:solidFill>
                  <a:srgbClr val="221F1F"/>
                </a:solidFill>
                <a:latin typeface="Times New Roman"/>
                <a:cs typeface="Times New Roman"/>
              </a:rPr>
              <a:t> </a:t>
            </a:r>
            <a:r>
              <a:rPr sz="1800" dirty="0">
                <a:solidFill>
                  <a:srgbClr val="221F1F"/>
                </a:solidFill>
                <a:latin typeface="Times New Roman"/>
                <a:cs typeface="Times New Roman"/>
              </a:rPr>
              <a:t>link</a:t>
            </a:r>
            <a:r>
              <a:rPr sz="1800" spc="185" dirty="0">
                <a:solidFill>
                  <a:srgbClr val="221F1F"/>
                </a:solidFill>
                <a:latin typeface="Times New Roman"/>
                <a:cs typeface="Times New Roman"/>
              </a:rPr>
              <a:t> </a:t>
            </a:r>
            <a:r>
              <a:rPr sz="1800" dirty="0">
                <a:solidFill>
                  <a:srgbClr val="221F1F"/>
                </a:solidFill>
                <a:latin typeface="Times New Roman"/>
                <a:cs typeface="Times New Roman"/>
              </a:rPr>
              <a:t>of</a:t>
            </a:r>
            <a:r>
              <a:rPr sz="1800" spc="185" dirty="0">
                <a:solidFill>
                  <a:srgbClr val="221F1F"/>
                </a:solidFill>
                <a:latin typeface="Times New Roman"/>
                <a:cs typeface="Times New Roman"/>
              </a:rPr>
              <a:t> </a:t>
            </a:r>
            <a:r>
              <a:rPr sz="1800" dirty="0">
                <a:solidFill>
                  <a:srgbClr val="221F1F"/>
                </a:solidFill>
                <a:latin typeface="Times New Roman"/>
                <a:cs typeface="Times New Roman"/>
              </a:rPr>
              <a:t>a</a:t>
            </a:r>
            <a:r>
              <a:rPr sz="1800" spc="195" dirty="0">
                <a:solidFill>
                  <a:srgbClr val="221F1F"/>
                </a:solidFill>
                <a:latin typeface="Times New Roman"/>
                <a:cs typeface="Times New Roman"/>
              </a:rPr>
              <a:t> </a:t>
            </a:r>
            <a:r>
              <a:rPr sz="1800" dirty="0">
                <a:solidFill>
                  <a:srgbClr val="221F1F"/>
                </a:solidFill>
                <a:latin typeface="Times New Roman"/>
                <a:cs typeface="Times New Roman"/>
              </a:rPr>
              <a:t>cellular</a:t>
            </a:r>
            <a:r>
              <a:rPr sz="1800" spc="200" dirty="0">
                <a:solidFill>
                  <a:srgbClr val="221F1F"/>
                </a:solidFill>
                <a:latin typeface="Times New Roman"/>
                <a:cs typeface="Times New Roman"/>
              </a:rPr>
              <a:t> </a:t>
            </a:r>
            <a:r>
              <a:rPr sz="1800" dirty="0">
                <a:solidFill>
                  <a:srgbClr val="221F1F"/>
                </a:solidFill>
                <a:latin typeface="Times New Roman"/>
                <a:cs typeface="Times New Roman"/>
              </a:rPr>
              <a:t>system,</a:t>
            </a:r>
            <a:r>
              <a:rPr sz="1800" spc="200" dirty="0">
                <a:solidFill>
                  <a:srgbClr val="221F1F"/>
                </a:solidFill>
                <a:latin typeface="Times New Roman"/>
                <a:cs typeface="Times New Roman"/>
              </a:rPr>
              <a:t> </a:t>
            </a:r>
            <a:r>
              <a:rPr sz="1800" dirty="0">
                <a:solidFill>
                  <a:srgbClr val="221F1F"/>
                </a:solidFill>
                <a:latin typeface="Times New Roman"/>
                <a:cs typeface="Times New Roman"/>
              </a:rPr>
              <a:t>when</a:t>
            </a:r>
            <a:r>
              <a:rPr sz="1800" spc="19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85" dirty="0">
                <a:solidFill>
                  <a:srgbClr val="221F1F"/>
                </a:solidFill>
                <a:latin typeface="Times New Roman"/>
                <a:cs typeface="Times New Roman"/>
              </a:rPr>
              <a:t> </a:t>
            </a:r>
            <a:r>
              <a:rPr sz="1800" dirty="0">
                <a:solidFill>
                  <a:srgbClr val="221F1F"/>
                </a:solidFill>
                <a:latin typeface="Times New Roman"/>
                <a:cs typeface="Times New Roman"/>
              </a:rPr>
              <a:t>mobile</a:t>
            </a:r>
            <a:r>
              <a:rPr sz="1800" spc="195" dirty="0">
                <a:solidFill>
                  <a:srgbClr val="221F1F"/>
                </a:solidFill>
                <a:latin typeface="Times New Roman"/>
                <a:cs typeface="Times New Roman"/>
              </a:rPr>
              <a:t> </a:t>
            </a:r>
            <a:r>
              <a:rPr sz="1800" dirty="0">
                <a:solidFill>
                  <a:srgbClr val="221F1F"/>
                </a:solidFill>
                <a:latin typeface="Times New Roman"/>
                <a:cs typeface="Times New Roman"/>
              </a:rPr>
              <a:t>is</a:t>
            </a:r>
            <a:r>
              <a:rPr sz="1800" spc="190" dirty="0">
                <a:solidFill>
                  <a:srgbClr val="221F1F"/>
                </a:solidFill>
                <a:latin typeface="Times New Roman"/>
                <a:cs typeface="Times New Roman"/>
              </a:rPr>
              <a:t> </a:t>
            </a:r>
            <a:r>
              <a:rPr sz="1800" dirty="0">
                <a:solidFill>
                  <a:srgbClr val="221F1F"/>
                </a:solidFill>
                <a:latin typeface="Times New Roman"/>
                <a:cs typeface="Times New Roman"/>
              </a:rPr>
              <a:t>located</a:t>
            </a:r>
            <a:r>
              <a:rPr sz="1800" spc="200" dirty="0">
                <a:solidFill>
                  <a:srgbClr val="221F1F"/>
                </a:solidFill>
                <a:latin typeface="Times New Roman"/>
                <a:cs typeface="Times New Roman"/>
              </a:rPr>
              <a:t> </a:t>
            </a:r>
            <a:r>
              <a:rPr sz="1800" dirty="0">
                <a:solidFill>
                  <a:srgbClr val="221F1F"/>
                </a:solidFill>
                <a:latin typeface="Times New Roman"/>
                <a:cs typeface="Times New Roman"/>
              </a:rPr>
              <a:t>on</a:t>
            </a:r>
            <a:r>
              <a:rPr sz="1800" spc="19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95" dirty="0">
                <a:solidFill>
                  <a:srgbClr val="221F1F"/>
                </a:solidFill>
                <a:latin typeface="Times New Roman"/>
                <a:cs typeface="Times New Roman"/>
              </a:rPr>
              <a:t> </a:t>
            </a:r>
            <a:r>
              <a:rPr sz="1800" dirty="0">
                <a:solidFill>
                  <a:srgbClr val="221F1F"/>
                </a:solidFill>
                <a:latin typeface="Times New Roman"/>
                <a:cs typeface="Times New Roman"/>
              </a:rPr>
              <a:t>fringe</a:t>
            </a:r>
            <a:r>
              <a:rPr sz="1800" spc="195" dirty="0">
                <a:solidFill>
                  <a:srgbClr val="221F1F"/>
                </a:solidFill>
                <a:latin typeface="Times New Roman"/>
                <a:cs typeface="Times New Roman"/>
              </a:rPr>
              <a:t> </a:t>
            </a:r>
            <a:r>
              <a:rPr sz="1800" dirty="0">
                <a:solidFill>
                  <a:srgbClr val="221F1F"/>
                </a:solidFill>
                <a:latin typeface="Times New Roman"/>
                <a:cs typeface="Times New Roman"/>
              </a:rPr>
              <a:t>of</a:t>
            </a:r>
            <a:r>
              <a:rPr sz="1800" spc="190" dirty="0">
                <a:solidFill>
                  <a:srgbClr val="221F1F"/>
                </a:solidFill>
                <a:latin typeface="Times New Roman"/>
                <a:cs typeface="Times New Roman"/>
              </a:rPr>
              <a:t> </a:t>
            </a:r>
            <a:r>
              <a:rPr sz="1800" spc="-25" dirty="0">
                <a:solidFill>
                  <a:srgbClr val="221F1F"/>
                </a:solidFill>
                <a:latin typeface="Times New Roman"/>
                <a:cs typeface="Times New Roman"/>
              </a:rPr>
              <a:t>its </a:t>
            </a:r>
            <a:r>
              <a:rPr sz="1800" dirty="0">
                <a:solidFill>
                  <a:srgbClr val="221F1F"/>
                </a:solidFill>
                <a:latin typeface="Times New Roman"/>
                <a:cs typeface="Times New Roman"/>
              </a:rPr>
              <a:t>serving</a:t>
            </a:r>
            <a:r>
              <a:rPr sz="1800" spc="-25" dirty="0">
                <a:solidFill>
                  <a:srgbClr val="221F1F"/>
                </a:solidFill>
                <a:latin typeface="Times New Roman"/>
                <a:cs typeface="Times New Roman"/>
              </a:rPr>
              <a:t> </a:t>
            </a:r>
            <a:r>
              <a:rPr sz="1800" dirty="0">
                <a:solidFill>
                  <a:srgbClr val="221F1F"/>
                </a:solidFill>
                <a:latin typeface="Times New Roman"/>
                <a:cs typeface="Times New Roman"/>
              </a:rPr>
              <a:t>cell.</a:t>
            </a:r>
            <a:r>
              <a:rPr sz="1800" spc="-30" dirty="0">
                <a:solidFill>
                  <a:srgbClr val="221F1F"/>
                </a:solidFill>
                <a:latin typeface="Times New Roman"/>
                <a:cs typeface="Times New Roman"/>
              </a:rPr>
              <a:t> </a:t>
            </a:r>
            <a:r>
              <a:rPr sz="1800" dirty="0">
                <a:solidFill>
                  <a:srgbClr val="221F1F"/>
                </a:solidFill>
                <a:latin typeface="Times New Roman"/>
                <a:cs typeface="Times New Roman"/>
              </a:rPr>
              <a:t>Assume</a:t>
            </a:r>
            <a:r>
              <a:rPr sz="1800" spc="-25" dirty="0">
                <a:solidFill>
                  <a:srgbClr val="221F1F"/>
                </a:solidFill>
                <a:latin typeface="Times New Roman"/>
                <a:cs typeface="Times New Roman"/>
              </a:rPr>
              <a:t> </a:t>
            </a:r>
            <a:r>
              <a:rPr sz="1800" dirty="0">
                <a:solidFill>
                  <a:srgbClr val="221F1F"/>
                </a:solidFill>
                <a:latin typeface="Times New Roman"/>
                <a:cs typeface="Times New Roman"/>
              </a:rPr>
              <a:t>that</a:t>
            </a:r>
            <a:r>
              <a:rPr sz="1800" spc="-25" dirty="0">
                <a:solidFill>
                  <a:srgbClr val="221F1F"/>
                </a:solidFill>
                <a:latin typeface="Times New Roman"/>
                <a:cs typeface="Times New Roman"/>
              </a:rPr>
              <a:t> </a:t>
            </a:r>
            <a:r>
              <a:rPr sz="1800" dirty="0">
                <a:solidFill>
                  <a:srgbClr val="221F1F"/>
                </a:solidFill>
                <a:latin typeface="Times New Roman"/>
                <a:cs typeface="Times New Roman"/>
              </a:rPr>
              <a:t>all</a:t>
            </a:r>
            <a:r>
              <a:rPr sz="1800" spc="-30"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25" dirty="0">
                <a:solidFill>
                  <a:srgbClr val="221F1F"/>
                </a:solidFill>
                <a:latin typeface="Times New Roman"/>
                <a:cs typeface="Times New Roman"/>
              </a:rPr>
              <a:t> </a:t>
            </a:r>
            <a:r>
              <a:rPr sz="1800" dirty="0">
                <a:solidFill>
                  <a:srgbClr val="221F1F"/>
                </a:solidFill>
                <a:latin typeface="Times New Roman"/>
                <a:cs typeface="Times New Roman"/>
              </a:rPr>
              <a:t>have</a:t>
            </a:r>
            <a:r>
              <a:rPr sz="1800" spc="-20" dirty="0">
                <a:solidFill>
                  <a:srgbClr val="221F1F"/>
                </a:solidFill>
                <a:latin typeface="Times New Roman"/>
                <a:cs typeface="Times New Roman"/>
              </a:rPr>
              <a:t> </a:t>
            </a:r>
            <a:r>
              <a:rPr sz="1800" dirty="0">
                <a:solidFill>
                  <a:srgbClr val="221F1F"/>
                </a:solidFill>
                <a:latin typeface="Times New Roman"/>
                <a:cs typeface="Times New Roman"/>
              </a:rPr>
              <a:t>equal</a:t>
            </a:r>
            <a:r>
              <a:rPr sz="1800" spc="-15" dirty="0">
                <a:solidFill>
                  <a:srgbClr val="221F1F"/>
                </a:solidFill>
                <a:latin typeface="Times New Roman"/>
                <a:cs typeface="Times New Roman"/>
              </a:rPr>
              <a:t> </a:t>
            </a:r>
            <a:r>
              <a:rPr sz="1800" dirty="0">
                <a:solidFill>
                  <a:srgbClr val="221F1F"/>
                </a:solidFill>
                <a:latin typeface="Times New Roman"/>
                <a:cs typeface="Times New Roman"/>
              </a:rPr>
              <a:t>radii,</a:t>
            </a:r>
            <a:r>
              <a:rPr sz="1800" spc="-15" dirty="0">
                <a:solidFill>
                  <a:srgbClr val="221F1F"/>
                </a:solidFill>
                <a:latin typeface="Times New Roman"/>
                <a:cs typeface="Times New Roman"/>
              </a:rPr>
              <a:t> </a:t>
            </a:r>
            <a:r>
              <a:rPr sz="1800" dirty="0">
                <a:solidFill>
                  <a:srgbClr val="221F1F"/>
                </a:solidFill>
                <a:latin typeface="Times New Roman"/>
                <a:cs typeface="Times New Roman"/>
              </a:rPr>
              <a:t>and</a:t>
            </a:r>
            <a:r>
              <a:rPr sz="1800" spc="-40" dirty="0">
                <a:solidFill>
                  <a:srgbClr val="221F1F"/>
                </a:solidFill>
                <a:latin typeface="Times New Roman"/>
                <a:cs typeface="Times New Roman"/>
              </a:rPr>
              <a:t> </a:t>
            </a:r>
            <a:r>
              <a:rPr sz="1800" dirty="0">
                <a:solidFill>
                  <a:srgbClr val="221F1F"/>
                </a:solidFill>
                <a:latin typeface="Times New Roman"/>
                <a:cs typeface="Times New Roman"/>
              </a:rPr>
              <a:t>that</a:t>
            </a:r>
            <a:r>
              <a:rPr sz="1800" spc="-20" dirty="0">
                <a:solidFill>
                  <a:srgbClr val="221F1F"/>
                </a:solidFill>
                <a:latin typeface="Times New Roman"/>
                <a:cs typeface="Times New Roman"/>
              </a:rPr>
              <a:t> </a:t>
            </a:r>
            <a:r>
              <a:rPr sz="1800" dirty="0">
                <a:solidFill>
                  <a:srgbClr val="221F1F"/>
                </a:solidFill>
                <a:latin typeface="Times New Roman"/>
                <a:cs typeface="Times New Roman"/>
              </a:rPr>
              <a:t>base</a:t>
            </a:r>
            <a:r>
              <a:rPr sz="1800" spc="-20" dirty="0">
                <a:solidFill>
                  <a:srgbClr val="221F1F"/>
                </a:solidFill>
                <a:latin typeface="Times New Roman"/>
                <a:cs typeface="Times New Roman"/>
              </a:rPr>
              <a:t> </a:t>
            </a:r>
            <a:r>
              <a:rPr sz="1800" dirty="0">
                <a:solidFill>
                  <a:srgbClr val="221F1F"/>
                </a:solidFill>
                <a:latin typeface="Times New Roman"/>
                <a:cs typeface="Times New Roman"/>
              </a:rPr>
              <a:t>stations</a:t>
            </a:r>
            <a:r>
              <a:rPr sz="1800" spc="-25" dirty="0">
                <a:solidFill>
                  <a:srgbClr val="221F1F"/>
                </a:solidFill>
                <a:latin typeface="Times New Roman"/>
                <a:cs typeface="Times New Roman"/>
              </a:rPr>
              <a:t> </a:t>
            </a:r>
            <a:r>
              <a:rPr sz="1800" dirty="0">
                <a:solidFill>
                  <a:srgbClr val="221F1F"/>
                </a:solidFill>
                <a:latin typeface="Times New Roman"/>
                <a:cs typeface="Times New Roman"/>
              </a:rPr>
              <a:t>have</a:t>
            </a:r>
            <a:r>
              <a:rPr sz="1800" spc="-20" dirty="0">
                <a:solidFill>
                  <a:srgbClr val="221F1F"/>
                </a:solidFill>
                <a:latin typeface="Times New Roman"/>
                <a:cs typeface="Times New Roman"/>
              </a:rPr>
              <a:t> </a:t>
            </a:r>
            <a:r>
              <a:rPr sz="1800" spc="-10" dirty="0">
                <a:solidFill>
                  <a:srgbClr val="221F1F"/>
                </a:solidFill>
                <a:latin typeface="Times New Roman"/>
                <a:cs typeface="Times New Roman"/>
              </a:rPr>
              <a:t>equal </a:t>
            </a:r>
            <a:r>
              <a:rPr sz="1800" dirty="0">
                <a:solidFill>
                  <a:srgbClr val="221F1F"/>
                </a:solidFill>
                <a:latin typeface="Times New Roman"/>
                <a:cs typeface="Times New Roman"/>
              </a:rPr>
              <a:t>power</a:t>
            </a:r>
            <a:r>
              <a:rPr sz="1800" spc="400" dirty="0">
                <a:solidFill>
                  <a:srgbClr val="221F1F"/>
                </a:solidFill>
                <a:latin typeface="Times New Roman"/>
                <a:cs typeface="Times New Roman"/>
              </a:rPr>
              <a:t> </a:t>
            </a:r>
            <a:r>
              <a:rPr sz="1800" dirty="0">
                <a:solidFill>
                  <a:srgbClr val="221F1F"/>
                </a:solidFill>
                <a:latin typeface="Times New Roman"/>
                <a:cs typeface="Times New Roman"/>
              </a:rPr>
              <a:t>and</a:t>
            </a:r>
            <a:r>
              <a:rPr sz="1800" spc="405" dirty="0">
                <a:solidFill>
                  <a:srgbClr val="221F1F"/>
                </a:solidFill>
                <a:latin typeface="Times New Roman"/>
                <a:cs typeface="Times New Roman"/>
              </a:rPr>
              <a:t> </a:t>
            </a:r>
            <a:r>
              <a:rPr sz="1800" dirty="0">
                <a:solidFill>
                  <a:srgbClr val="221F1F"/>
                </a:solidFill>
                <a:latin typeface="Times New Roman"/>
                <a:cs typeface="Times New Roman"/>
              </a:rPr>
              <a:t>are</a:t>
            </a:r>
            <a:r>
              <a:rPr sz="1800" spc="400" dirty="0">
                <a:solidFill>
                  <a:srgbClr val="221F1F"/>
                </a:solidFill>
                <a:latin typeface="Times New Roman"/>
                <a:cs typeface="Times New Roman"/>
              </a:rPr>
              <a:t> </a:t>
            </a:r>
            <a:r>
              <a:rPr sz="1800" dirty="0">
                <a:solidFill>
                  <a:srgbClr val="221F1F"/>
                </a:solidFill>
                <a:latin typeface="Times New Roman"/>
                <a:cs typeface="Times New Roman"/>
              </a:rPr>
              <a:t>located</a:t>
            </a:r>
            <a:r>
              <a:rPr sz="1800" spc="400" dirty="0">
                <a:solidFill>
                  <a:srgbClr val="221F1F"/>
                </a:solidFill>
                <a:latin typeface="Times New Roman"/>
                <a:cs typeface="Times New Roman"/>
              </a:rPr>
              <a:t> </a:t>
            </a:r>
            <a:r>
              <a:rPr sz="1800" dirty="0">
                <a:solidFill>
                  <a:srgbClr val="221F1F"/>
                </a:solidFill>
                <a:latin typeface="Times New Roman"/>
                <a:cs typeface="Times New Roman"/>
              </a:rPr>
              <a:t>in</a:t>
            </a:r>
            <a:r>
              <a:rPr sz="1800" spc="395" dirty="0">
                <a:solidFill>
                  <a:srgbClr val="221F1F"/>
                </a:solidFill>
                <a:latin typeface="Times New Roman"/>
                <a:cs typeface="Times New Roman"/>
              </a:rPr>
              <a:t> </a:t>
            </a:r>
            <a:r>
              <a:rPr sz="1800" dirty="0">
                <a:solidFill>
                  <a:srgbClr val="221F1F"/>
                </a:solidFill>
                <a:latin typeface="Times New Roman"/>
                <a:cs typeface="Times New Roman"/>
              </a:rPr>
              <a:t>the</a:t>
            </a:r>
            <a:r>
              <a:rPr sz="1800" spc="409" dirty="0">
                <a:solidFill>
                  <a:srgbClr val="221F1F"/>
                </a:solidFill>
                <a:latin typeface="Times New Roman"/>
                <a:cs typeface="Times New Roman"/>
              </a:rPr>
              <a:t> </a:t>
            </a:r>
            <a:r>
              <a:rPr sz="1800" dirty="0">
                <a:solidFill>
                  <a:srgbClr val="221F1F"/>
                </a:solidFill>
                <a:latin typeface="Times New Roman"/>
                <a:cs typeface="Times New Roman"/>
              </a:rPr>
              <a:t>centers</a:t>
            </a:r>
            <a:r>
              <a:rPr sz="1800" spc="409" dirty="0">
                <a:solidFill>
                  <a:srgbClr val="221F1F"/>
                </a:solidFill>
                <a:latin typeface="Times New Roman"/>
                <a:cs typeface="Times New Roman"/>
              </a:rPr>
              <a:t> </a:t>
            </a:r>
            <a:r>
              <a:rPr sz="1800" dirty="0">
                <a:solidFill>
                  <a:srgbClr val="221F1F"/>
                </a:solidFill>
                <a:latin typeface="Times New Roman"/>
                <a:cs typeface="Times New Roman"/>
              </a:rPr>
              <a:t>of</a:t>
            </a:r>
            <a:r>
              <a:rPr sz="1800" spc="385" dirty="0">
                <a:solidFill>
                  <a:srgbClr val="221F1F"/>
                </a:solidFill>
                <a:latin typeface="Times New Roman"/>
                <a:cs typeface="Times New Roman"/>
              </a:rPr>
              <a:t> </a:t>
            </a:r>
            <a:r>
              <a:rPr sz="1800" dirty="0">
                <a:solidFill>
                  <a:srgbClr val="221F1F"/>
                </a:solidFill>
                <a:latin typeface="Times New Roman"/>
                <a:cs typeface="Times New Roman"/>
              </a:rPr>
              <a:t>each</a:t>
            </a:r>
            <a:r>
              <a:rPr sz="1800" spc="390" dirty="0">
                <a:solidFill>
                  <a:srgbClr val="221F1F"/>
                </a:solidFill>
                <a:latin typeface="Times New Roman"/>
                <a:cs typeface="Times New Roman"/>
              </a:rPr>
              <a:t> </a:t>
            </a:r>
            <a:r>
              <a:rPr sz="1800" dirty="0">
                <a:solidFill>
                  <a:srgbClr val="221F1F"/>
                </a:solidFill>
                <a:latin typeface="Times New Roman"/>
                <a:cs typeface="Times New Roman"/>
              </a:rPr>
              <a:t>cell.</a:t>
            </a:r>
            <a:r>
              <a:rPr sz="1800" spc="400" dirty="0">
                <a:solidFill>
                  <a:srgbClr val="221F1F"/>
                </a:solidFill>
                <a:latin typeface="Times New Roman"/>
                <a:cs typeface="Times New Roman"/>
              </a:rPr>
              <a:t> </a:t>
            </a:r>
            <a:r>
              <a:rPr sz="1800" dirty="0">
                <a:solidFill>
                  <a:srgbClr val="221F1F"/>
                </a:solidFill>
                <a:latin typeface="Times New Roman"/>
                <a:cs typeface="Times New Roman"/>
              </a:rPr>
              <a:t>Also</a:t>
            </a:r>
            <a:r>
              <a:rPr sz="1800" spc="405" dirty="0">
                <a:solidFill>
                  <a:srgbClr val="221F1F"/>
                </a:solidFill>
                <a:latin typeface="Times New Roman"/>
                <a:cs typeface="Times New Roman"/>
              </a:rPr>
              <a:t> </a:t>
            </a:r>
            <a:r>
              <a:rPr sz="1800" dirty="0">
                <a:solidFill>
                  <a:srgbClr val="221F1F"/>
                </a:solidFill>
                <a:latin typeface="Times New Roman"/>
                <a:cs typeface="Times New Roman"/>
              </a:rPr>
              <a:t>assume</a:t>
            </a:r>
            <a:r>
              <a:rPr sz="1800" spc="409" dirty="0">
                <a:solidFill>
                  <a:srgbClr val="221F1F"/>
                </a:solidFill>
                <a:latin typeface="Times New Roman"/>
                <a:cs typeface="Times New Roman"/>
              </a:rPr>
              <a:t> </a:t>
            </a:r>
            <a:r>
              <a:rPr sz="1800" dirty="0">
                <a:solidFill>
                  <a:srgbClr val="221F1F"/>
                </a:solidFill>
                <a:latin typeface="Times New Roman"/>
                <a:cs typeface="Times New Roman"/>
              </a:rPr>
              <a:t>that</a:t>
            </a:r>
            <a:r>
              <a:rPr sz="1800" spc="395" dirty="0">
                <a:solidFill>
                  <a:srgbClr val="221F1F"/>
                </a:solidFill>
                <a:latin typeface="Times New Roman"/>
                <a:cs typeface="Times New Roman"/>
              </a:rPr>
              <a:t> </a:t>
            </a:r>
            <a:r>
              <a:rPr sz="1800" dirty="0">
                <a:solidFill>
                  <a:srgbClr val="221F1F"/>
                </a:solidFill>
                <a:latin typeface="Times New Roman"/>
                <a:cs typeface="Times New Roman"/>
              </a:rPr>
              <a:t>each</a:t>
            </a:r>
            <a:r>
              <a:rPr sz="1800" spc="400" dirty="0">
                <a:solidFill>
                  <a:srgbClr val="221F1F"/>
                </a:solidFill>
                <a:latin typeface="Times New Roman"/>
                <a:cs typeface="Times New Roman"/>
              </a:rPr>
              <a:t> </a:t>
            </a:r>
            <a:r>
              <a:rPr sz="1800" spc="-20" dirty="0">
                <a:solidFill>
                  <a:srgbClr val="221F1F"/>
                </a:solidFill>
                <a:latin typeface="Times New Roman"/>
                <a:cs typeface="Times New Roman"/>
              </a:rPr>
              <a:t>cell </a:t>
            </a:r>
            <a:r>
              <a:rPr sz="1800" dirty="0">
                <a:solidFill>
                  <a:srgbClr val="221F1F"/>
                </a:solidFill>
                <a:latin typeface="Times New Roman"/>
                <a:cs typeface="Times New Roman"/>
              </a:rPr>
              <a:t>transmits</a:t>
            </a:r>
            <a:r>
              <a:rPr sz="1800" spc="100" dirty="0">
                <a:solidFill>
                  <a:srgbClr val="221F1F"/>
                </a:solidFill>
                <a:latin typeface="Times New Roman"/>
                <a:cs typeface="Times New Roman"/>
              </a:rPr>
              <a:t> </a:t>
            </a:r>
            <a:r>
              <a:rPr sz="1800" dirty="0">
                <a:solidFill>
                  <a:srgbClr val="221F1F"/>
                </a:solidFill>
                <a:latin typeface="Times New Roman"/>
                <a:cs typeface="Times New Roman"/>
              </a:rPr>
              <a:t>an</a:t>
            </a:r>
            <a:r>
              <a:rPr sz="1800" spc="85" dirty="0">
                <a:solidFill>
                  <a:srgbClr val="221F1F"/>
                </a:solidFill>
                <a:latin typeface="Times New Roman"/>
                <a:cs typeface="Times New Roman"/>
              </a:rPr>
              <a:t> </a:t>
            </a:r>
            <a:r>
              <a:rPr sz="1800" dirty="0">
                <a:solidFill>
                  <a:srgbClr val="221F1F"/>
                </a:solidFill>
                <a:latin typeface="Times New Roman"/>
                <a:cs typeface="Times New Roman"/>
              </a:rPr>
              <a:t>independent</a:t>
            </a:r>
            <a:r>
              <a:rPr sz="1800" spc="95" dirty="0">
                <a:solidFill>
                  <a:srgbClr val="221F1F"/>
                </a:solidFill>
                <a:latin typeface="Times New Roman"/>
                <a:cs typeface="Times New Roman"/>
              </a:rPr>
              <a:t> </a:t>
            </a:r>
            <a:r>
              <a:rPr sz="1800" dirty="0">
                <a:solidFill>
                  <a:srgbClr val="221F1F"/>
                </a:solidFill>
                <a:latin typeface="Times New Roman"/>
                <a:cs typeface="Times New Roman"/>
              </a:rPr>
              <a:t>signal,</a:t>
            </a:r>
            <a:r>
              <a:rPr sz="1800" spc="90" dirty="0">
                <a:solidFill>
                  <a:srgbClr val="221F1F"/>
                </a:solidFill>
                <a:latin typeface="Times New Roman"/>
                <a:cs typeface="Times New Roman"/>
              </a:rPr>
              <a:t> </a:t>
            </a:r>
            <a:r>
              <a:rPr sz="1800" dirty="0">
                <a:solidFill>
                  <a:srgbClr val="221F1F"/>
                </a:solidFill>
                <a:latin typeface="Times New Roman"/>
                <a:cs typeface="Times New Roman"/>
              </a:rPr>
              <a:t>such</a:t>
            </a:r>
            <a:r>
              <a:rPr sz="1800" spc="100" dirty="0">
                <a:solidFill>
                  <a:srgbClr val="221F1F"/>
                </a:solidFill>
                <a:latin typeface="Times New Roman"/>
                <a:cs typeface="Times New Roman"/>
              </a:rPr>
              <a:t> </a:t>
            </a:r>
            <a:r>
              <a:rPr sz="1800" dirty="0">
                <a:solidFill>
                  <a:srgbClr val="221F1F"/>
                </a:solidFill>
                <a:latin typeface="Times New Roman"/>
                <a:cs typeface="Times New Roman"/>
              </a:rPr>
              <a:t>that</a:t>
            </a:r>
            <a:r>
              <a:rPr sz="1800" spc="95" dirty="0">
                <a:solidFill>
                  <a:srgbClr val="221F1F"/>
                </a:solidFill>
                <a:latin typeface="Times New Roman"/>
                <a:cs typeface="Times New Roman"/>
              </a:rPr>
              <a:t> </a:t>
            </a:r>
            <a:r>
              <a:rPr sz="1800" dirty="0">
                <a:solidFill>
                  <a:srgbClr val="221F1F"/>
                </a:solidFill>
                <a:latin typeface="Times New Roman"/>
                <a:cs typeface="Times New Roman"/>
              </a:rPr>
              <a:t>interfering</a:t>
            </a:r>
            <a:r>
              <a:rPr sz="1800" spc="100" dirty="0">
                <a:solidFill>
                  <a:srgbClr val="221F1F"/>
                </a:solidFill>
                <a:latin typeface="Times New Roman"/>
                <a:cs typeface="Times New Roman"/>
              </a:rPr>
              <a:t> </a:t>
            </a:r>
            <a:r>
              <a:rPr sz="1800" dirty="0">
                <a:solidFill>
                  <a:srgbClr val="221F1F"/>
                </a:solidFill>
                <a:latin typeface="Times New Roman"/>
                <a:cs typeface="Times New Roman"/>
              </a:rPr>
              <a:t>signal</a:t>
            </a:r>
            <a:r>
              <a:rPr sz="1800" spc="100" dirty="0">
                <a:solidFill>
                  <a:srgbClr val="221F1F"/>
                </a:solidFill>
                <a:latin typeface="Times New Roman"/>
                <a:cs typeface="Times New Roman"/>
              </a:rPr>
              <a:t> </a:t>
            </a:r>
            <a:r>
              <a:rPr sz="1800" dirty="0">
                <a:solidFill>
                  <a:srgbClr val="221F1F"/>
                </a:solidFill>
                <a:latin typeface="Times New Roman"/>
                <a:cs typeface="Times New Roman"/>
              </a:rPr>
              <a:t>powers</a:t>
            </a:r>
            <a:r>
              <a:rPr sz="1800" spc="95" dirty="0">
                <a:solidFill>
                  <a:srgbClr val="221F1F"/>
                </a:solidFill>
                <a:latin typeface="Times New Roman"/>
                <a:cs typeface="Times New Roman"/>
              </a:rPr>
              <a:t> </a:t>
            </a:r>
            <a:r>
              <a:rPr sz="1800" dirty="0">
                <a:solidFill>
                  <a:srgbClr val="221F1F"/>
                </a:solidFill>
                <a:latin typeface="Times New Roman"/>
                <a:cs typeface="Times New Roman"/>
              </a:rPr>
              <a:t>may</a:t>
            </a:r>
            <a:r>
              <a:rPr sz="1800" spc="125" dirty="0">
                <a:solidFill>
                  <a:srgbClr val="221F1F"/>
                </a:solidFill>
                <a:latin typeface="Times New Roman"/>
                <a:cs typeface="Times New Roman"/>
              </a:rPr>
              <a:t> </a:t>
            </a:r>
            <a:r>
              <a:rPr sz="1800" dirty="0">
                <a:solidFill>
                  <a:srgbClr val="221F1F"/>
                </a:solidFill>
                <a:latin typeface="Times New Roman"/>
                <a:cs typeface="Times New Roman"/>
              </a:rPr>
              <a:t>be</a:t>
            </a:r>
            <a:r>
              <a:rPr sz="1800" spc="90" dirty="0">
                <a:solidFill>
                  <a:srgbClr val="221F1F"/>
                </a:solidFill>
                <a:latin typeface="Times New Roman"/>
                <a:cs typeface="Times New Roman"/>
              </a:rPr>
              <a:t> </a:t>
            </a:r>
            <a:r>
              <a:rPr sz="1800" spc="-10" dirty="0">
                <a:solidFill>
                  <a:srgbClr val="221F1F"/>
                </a:solidFill>
                <a:latin typeface="Times New Roman"/>
                <a:cs typeface="Times New Roman"/>
              </a:rPr>
              <a:t>added. </a:t>
            </a:r>
            <a:r>
              <a:rPr sz="1800" dirty="0">
                <a:solidFill>
                  <a:srgbClr val="221F1F"/>
                </a:solidFill>
                <a:latin typeface="Times New Roman"/>
                <a:cs typeface="Times New Roman"/>
              </a:rPr>
              <a:t>Let</a:t>
            </a:r>
            <a:r>
              <a:rPr sz="1800" spc="225" dirty="0">
                <a:solidFill>
                  <a:srgbClr val="221F1F"/>
                </a:solidFill>
                <a:latin typeface="Times New Roman"/>
                <a:cs typeface="Times New Roman"/>
              </a:rPr>
              <a:t> </a:t>
            </a:r>
            <a:r>
              <a:rPr sz="1800" dirty="0">
                <a:solidFill>
                  <a:srgbClr val="221F1F"/>
                </a:solidFill>
                <a:latin typeface="Times New Roman"/>
                <a:cs typeface="Times New Roman"/>
              </a:rPr>
              <a:t>us</a:t>
            </a:r>
            <a:r>
              <a:rPr sz="1800" spc="200" dirty="0">
                <a:solidFill>
                  <a:srgbClr val="221F1F"/>
                </a:solidFill>
                <a:latin typeface="Times New Roman"/>
                <a:cs typeface="Times New Roman"/>
              </a:rPr>
              <a:t> </a:t>
            </a:r>
            <a:r>
              <a:rPr sz="1800" dirty="0">
                <a:solidFill>
                  <a:srgbClr val="221F1F"/>
                </a:solidFill>
                <a:latin typeface="Times New Roman"/>
                <a:cs typeface="Times New Roman"/>
              </a:rPr>
              <a:t>define</a:t>
            </a:r>
            <a:r>
              <a:rPr sz="1800" spc="229" dirty="0">
                <a:solidFill>
                  <a:srgbClr val="221F1F"/>
                </a:solidFill>
                <a:latin typeface="Times New Roman"/>
                <a:cs typeface="Times New Roman"/>
              </a:rPr>
              <a:t> </a:t>
            </a:r>
            <a:r>
              <a:rPr sz="1800" dirty="0">
                <a:solidFill>
                  <a:srgbClr val="221F1F"/>
                </a:solidFill>
                <a:latin typeface="Times New Roman"/>
                <a:cs typeface="Times New Roman"/>
              </a:rPr>
              <a:t>a</a:t>
            </a:r>
            <a:r>
              <a:rPr sz="1800" spc="200" dirty="0">
                <a:solidFill>
                  <a:srgbClr val="221F1F"/>
                </a:solidFill>
                <a:latin typeface="Times New Roman"/>
                <a:cs typeface="Times New Roman"/>
              </a:rPr>
              <a:t> </a:t>
            </a:r>
            <a:r>
              <a:rPr sz="1800" dirty="0">
                <a:solidFill>
                  <a:srgbClr val="221F1F"/>
                </a:solidFill>
                <a:latin typeface="Times New Roman"/>
                <a:cs typeface="Times New Roman"/>
              </a:rPr>
              <a:t>''tier"</a:t>
            </a:r>
            <a:r>
              <a:rPr sz="1800" spc="220" dirty="0">
                <a:solidFill>
                  <a:srgbClr val="221F1F"/>
                </a:solidFill>
                <a:latin typeface="Times New Roman"/>
                <a:cs typeface="Times New Roman"/>
              </a:rPr>
              <a:t> </a:t>
            </a:r>
            <a:r>
              <a:rPr sz="1800" dirty="0">
                <a:solidFill>
                  <a:srgbClr val="221F1F"/>
                </a:solidFill>
                <a:latin typeface="Times New Roman"/>
                <a:cs typeface="Times New Roman"/>
              </a:rPr>
              <a:t>of</a:t>
            </a:r>
            <a:r>
              <a:rPr sz="1800" spc="215"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220" dirty="0">
                <a:solidFill>
                  <a:srgbClr val="221F1F"/>
                </a:solidFill>
                <a:latin typeface="Times New Roman"/>
                <a:cs typeface="Times New Roman"/>
              </a:rPr>
              <a:t> </a:t>
            </a:r>
            <a:r>
              <a:rPr sz="1800" dirty="0">
                <a:solidFill>
                  <a:srgbClr val="221F1F"/>
                </a:solidFill>
                <a:latin typeface="Times New Roman"/>
                <a:cs typeface="Times New Roman"/>
              </a:rPr>
              <a:t>as</a:t>
            </a:r>
            <a:r>
              <a:rPr sz="1800" spc="204" dirty="0">
                <a:solidFill>
                  <a:srgbClr val="221F1F"/>
                </a:solidFill>
                <a:latin typeface="Times New Roman"/>
                <a:cs typeface="Times New Roman"/>
              </a:rPr>
              <a:t> </a:t>
            </a:r>
            <a:r>
              <a:rPr sz="1800" dirty="0">
                <a:solidFill>
                  <a:srgbClr val="221F1F"/>
                </a:solidFill>
                <a:latin typeface="Times New Roman"/>
                <a:cs typeface="Times New Roman"/>
              </a:rPr>
              <a:t>being</a:t>
            </a:r>
            <a:r>
              <a:rPr sz="1800" spc="21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15" dirty="0">
                <a:solidFill>
                  <a:srgbClr val="221F1F"/>
                </a:solidFill>
                <a:latin typeface="Times New Roman"/>
                <a:cs typeface="Times New Roman"/>
              </a:rPr>
              <a:t> </a:t>
            </a:r>
            <a:r>
              <a:rPr sz="1800" dirty="0">
                <a:solidFill>
                  <a:srgbClr val="221F1F"/>
                </a:solidFill>
                <a:latin typeface="Times New Roman"/>
                <a:cs typeface="Times New Roman"/>
              </a:rPr>
              <a:t>collection</a:t>
            </a:r>
            <a:r>
              <a:rPr sz="1800" spc="229" dirty="0">
                <a:solidFill>
                  <a:srgbClr val="221F1F"/>
                </a:solidFill>
                <a:latin typeface="Times New Roman"/>
                <a:cs typeface="Times New Roman"/>
              </a:rPr>
              <a:t> </a:t>
            </a:r>
            <a:r>
              <a:rPr sz="1800" dirty="0">
                <a:solidFill>
                  <a:srgbClr val="221F1F"/>
                </a:solidFill>
                <a:latin typeface="Times New Roman"/>
                <a:cs typeface="Times New Roman"/>
              </a:rPr>
              <a:t>of</a:t>
            </a:r>
            <a:r>
              <a:rPr sz="1800" spc="204" dirty="0">
                <a:solidFill>
                  <a:srgbClr val="221F1F"/>
                </a:solidFill>
                <a:latin typeface="Times New Roman"/>
                <a:cs typeface="Times New Roman"/>
              </a:rPr>
              <a:t> </a:t>
            </a:r>
            <a:r>
              <a:rPr sz="1800" spc="-20" dirty="0">
                <a:solidFill>
                  <a:srgbClr val="221F1F"/>
                </a:solidFill>
                <a:latin typeface="Times New Roman"/>
                <a:cs typeface="Times New Roman"/>
              </a:rPr>
              <a:t>co-</a:t>
            </a:r>
            <a:r>
              <a:rPr sz="1800" dirty="0">
                <a:solidFill>
                  <a:srgbClr val="221F1F"/>
                </a:solidFill>
                <a:latin typeface="Times New Roman"/>
                <a:cs typeface="Times New Roman"/>
              </a:rPr>
              <a:t>channel</a:t>
            </a:r>
            <a:r>
              <a:rPr sz="1800" spc="235"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215" dirty="0">
                <a:solidFill>
                  <a:srgbClr val="221F1F"/>
                </a:solidFill>
                <a:latin typeface="Times New Roman"/>
                <a:cs typeface="Times New Roman"/>
              </a:rPr>
              <a:t> </a:t>
            </a:r>
            <a:r>
              <a:rPr sz="1800" dirty="0">
                <a:solidFill>
                  <a:srgbClr val="221F1F"/>
                </a:solidFill>
                <a:latin typeface="Times New Roman"/>
                <a:cs typeface="Times New Roman"/>
              </a:rPr>
              <a:t>that</a:t>
            </a:r>
            <a:r>
              <a:rPr sz="1800" spc="220" dirty="0">
                <a:solidFill>
                  <a:srgbClr val="221F1F"/>
                </a:solidFill>
                <a:latin typeface="Times New Roman"/>
                <a:cs typeface="Times New Roman"/>
              </a:rPr>
              <a:t> </a:t>
            </a:r>
            <a:r>
              <a:rPr sz="1800" spc="-25" dirty="0">
                <a:solidFill>
                  <a:srgbClr val="221F1F"/>
                </a:solidFill>
                <a:latin typeface="Times New Roman"/>
                <a:cs typeface="Times New Roman"/>
              </a:rPr>
              <a:t>are </a:t>
            </a:r>
            <a:r>
              <a:rPr sz="1800" spc="-10" dirty="0">
                <a:solidFill>
                  <a:srgbClr val="221F1F"/>
                </a:solidFill>
                <a:latin typeface="Times New Roman"/>
                <a:cs typeface="Times New Roman"/>
              </a:rPr>
              <a:t>more-</a:t>
            </a:r>
            <a:r>
              <a:rPr sz="1800" spc="-30" dirty="0">
                <a:solidFill>
                  <a:srgbClr val="221F1F"/>
                </a:solidFill>
                <a:latin typeface="Times New Roman"/>
                <a:cs typeface="Times New Roman"/>
              </a:rPr>
              <a:t>or-</a:t>
            </a:r>
            <a:r>
              <a:rPr sz="1800" dirty="0">
                <a:solidFill>
                  <a:srgbClr val="221F1F"/>
                </a:solidFill>
                <a:latin typeface="Times New Roman"/>
                <a:cs typeface="Times New Roman"/>
              </a:rPr>
              <a:t>less</a:t>
            </a:r>
            <a:r>
              <a:rPr sz="1800" spc="365" dirty="0">
                <a:solidFill>
                  <a:srgbClr val="221F1F"/>
                </a:solidFill>
                <a:latin typeface="Times New Roman"/>
                <a:cs typeface="Times New Roman"/>
              </a:rPr>
              <a:t> </a:t>
            </a:r>
            <a:r>
              <a:rPr sz="1800" dirty="0">
                <a:solidFill>
                  <a:srgbClr val="221F1F"/>
                </a:solidFill>
                <a:latin typeface="Times New Roman"/>
                <a:cs typeface="Times New Roman"/>
              </a:rPr>
              <a:t>the</a:t>
            </a:r>
            <a:r>
              <a:rPr sz="1800" spc="375" dirty="0">
                <a:solidFill>
                  <a:srgbClr val="221F1F"/>
                </a:solidFill>
                <a:latin typeface="Times New Roman"/>
                <a:cs typeface="Times New Roman"/>
              </a:rPr>
              <a:t> </a:t>
            </a:r>
            <a:r>
              <a:rPr sz="1800" dirty="0">
                <a:solidFill>
                  <a:srgbClr val="221F1F"/>
                </a:solidFill>
                <a:latin typeface="Times New Roman"/>
                <a:cs typeface="Times New Roman"/>
              </a:rPr>
              <a:t>same</a:t>
            </a:r>
            <a:r>
              <a:rPr sz="1800" spc="385" dirty="0">
                <a:solidFill>
                  <a:srgbClr val="221F1F"/>
                </a:solidFill>
                <a:latin typeface="Times New Roman"/>
                <a:cs typeface="Times New Roman"/>
              </a:rPr>
              <a:t> </a:t>
            </a:r>
            <a:r>
              <a:rPr sz="1800" dirty="0">
                <a:solidFill>
                  <a:srgbClr val="221F1F"/>
                </a:solidFill>
                <a:latin typeface="Times New Roman"/>
                <a:cs typeface="Times New Roman"/>
              </a:rPr>
              <a:t>distance</a:t>
            </a:r>
            <a:r>
              <a:rPr sz="1800" spc="365" dirty="0">
                <a:solidFill>
                  <a:srgbClr val="221F1F"/>
                </a:solidFill>
                <a:latin typeface="Times New Roman"/>
                <a:cs typeface="Times New Roman"/>
              </a:rPr>
              <a:t> </a:t>
            </a:r>
            <a:r>
              <a:rPr sz="1800" dirty="0">
                <a:solidFill>
                  <a:srgbClr val="221F1F"/>
                </a:solidFill>
                <a:latin typeface="Times New Roman"/>
                <a:cs typeface="Times New Roman"/>
              </a:rPr>
              <a:t>away</a:t>
            </a:r>
            <a:r>
              <a:rPr sz="1800" spc="390" dirty="0">
                <a:solidFill>
                  <a:srgbClr val="221F1F"/>
                </a:solidFill>
                <a:latin typeface="Times New Roman"/>
                <a:cs typeface="Times New Roman"/>
              </a:rPr>
              <a:t> </a:t>
            </a:r>
            <a:r>
              <a:rPr sz="1800" dirty="0">
                <a:solidFill>
                  <a:srgbClr val="221F1F"/>
                </a:solidFill>
                <a:latin typeface="Times New Roman"/>
                <a:cs typeface="Times New Roman"/>
              </a:rPr>
              <a:t>from</a:t>
            </a:r>
            <a:r>
              <a:rPr sz="1800" spc="365" dirty="0">
                <a:solidFill>
                  <a:srgbClr val="221F1F"/>
                </a:solidFill>
                <a:latin typeface="Times New Roman"/>
                <a:cs typeface="Times New Roman"/>
              </a:rPr>
              <a:t> </a:t>
            </a:r>
            <a:r>
              <a:rPr sz="1800" dirty="0">
                <a:solidFill>
                  <a:srgbClr val="221F1F"/>
                </a:solidFill>
                <a:latin typeface="Times New Roman"/>
                <a:cs typeface="Times New Roman"/>
              </a:rPr>
              <a:t>the</a:t>
            </a:r>
            <a:r>
              <a:rPr sz="1800" spc="375" dirty="0">
                <a:solidFill>
                  <a:srgbClr val="221F1F"/>
                </a:solidFill>
                <a:latin typeface="Times New Roman"/>
                <a:cs typeface="Times New Roman"/>
              </a:rPr>
              <a:t> </a:t>
            </a:r>
            <a:r>
              <a:rPr sz="1800" dirty="0">
                <a:solidFill>
                  <a:srgbClr val="221F1F"/>
                </a:solidFill>
                <a:latin typeface="Times New Roman"/>
                <a:cs typeface="Times New Roman"/>
              </a:rPr>
              <a:t>mobile</a:t>
            </a:r>
            <a:r>
              <a:rPr sz="1800" spc="390" dirty="0">
                <a:solidFill>
                  <a:srgbClr val="221F1F"/>
                </a:solidFill>
                <a:latin typeface="Times New Roman"/>
                <a:cs typeface="Times New Roman"/>
              </a:rPr>
              <a:t> </a:t>
            </a:r>
            <a:r>
              <a:rPr sz="1800" dirty="0">
                <a:solidFill>
                  <a:srgbClr val="221F1F"/>
                </a:solidFill>
                <a:latin typeface="Times New Roman"/>
                <a:cs typeface="Times New Roman"/>
              </a:rPr>
              <a:t>in</a:t>
            </a:r>
            <a:r>
              <a:rPr sz="1800" spc="370" dirty="0">
                <a:solidFill>
                  <a:srgbClr val="221F1F"/>
                </a:solidFill>
                <a:latin typeface="Times New Roman"/>
                <a:cs typeface="Times New Roman"/>
              </a:rPr>
              <a:t> </a:t>
            </a:r>
            <a:r>
              <a:rPr sz="1800" dirty="0">
                <a:solidFill>
                  <a:srgbClr val="221F1F"/>
                </a:solidFill>
                <a:latin typeface="Times New Roman"/>
                <a:cs typeface="Times New Roman"/>
              </a:rPr>
              <a:t>the</a:t>
            </a:r>
            <a:r>
              <a:rPr sz="1800" spc="380" dirty="0">
                <a:solidFill>
                  <a:srgbClr val="221F1F"/>
                </a:solidFill>
                <a:latin typeface="Times New Roman"/>
                <a:cs typeface="Times New Roman"/>
              </a:rPr>
              <a:t> </a:t>
            </a:r>
            <a:r>
              <a:rPr sz="1800" dirty="0">
                <a:solidFill>
                  <a:srgbClr val="221F1F"/>
                </a:solidFill>
                <a:latin typeface="Times New Roman"/>
                <a:cs typeface="Times New Roman"/>
              </a:rPr>
              <a:t>serving</a:t>
            </a:r>
            <a:r>
              <a:rPr sz="1800" spc="375" dirty="0">
                <a:solidFill>
                  <a:srgbClr val="221F1F"/>
                </a:solidFill>
                <a:latin typeface="Times New Roman"/>
                <a:cs typeface="Times New Roman"/>
              </a:rPr>
              <a:t> </a:t>
            </a:r>
            <a:r>
              <a:rPr sz="1800" dirty="0">
                <a:solidFill>
                  <a:srgbClr val="221F1F"/>
                </a:solidFill>
                <a:latin typeface="Times New Roman"/>
                <a:cs typeface="Times New Roman"/>
              </a:rPr>
              <a:t>cell.</a:t>
            </a:r>
            <a:r>
              <a:rPr sz="1800" spc="375" dirty="0">
                <a:solidFill>
                  <a:srgbClr val="221F1F"/>
                </a:solidFill>
                <a:latin typeface="Times New Roman"/>
                <a:cs typeface="Times New Roman"/>
              </a:rPr>
              <a:t> </a:t>
            </a:r>
            <a:r>
              <a:rPr sz="1800" spc="-20" dirty="0">
                <a:solidFill>
                  <a:srgbClr val="221F1F"/>
                </a:solidFill>
                <a:latin typeface="Times New Roman"/>
                <a:cs typeface="Times New Roman"/>
              </a:rPr>
              <a:t>This </a:t>
            </a:r>
            <a:r>
              <a:rPr sz="1800" dirty="0">
                <a:solidFill>
                  <a:srgbClr val="221F1F"/>
                </a:solidFill>
                <a:latin typeface="Times New Roman"/>
                <a:cs typeface="Times New Roman"/>
              </a:rPr>
              <a:t>problem</a:t>
            </a:r>
            <a:r>
              <a:rPr sz="1800" spc="65" dirty="0">
                <a:solidFill>
                  <a:srgbClr val="221F1F"/>
                </a:solidFill>
                <a:latin typeface="Times New Roman"/>
                <a:cs typeface="Times New Roman"/>
              </a:rPr>
              <a:t> </a:t>
            </a:r>
            <a:r>
              <a:rPr sz="1800" dirty="0">
                <a:solidFill>
                  <a:srgbClr val="221F1F"/>
                </a:solidFill>
                <a:latin typeface="Times New Roman"/>
                <a:cs typeface="Times New Roman"/>
              </a:rPr>
              <a:t>explores</a:t>
            </a:r>
            <a:r>
              <a:rPr sz="1800" spc="70" dirty="0">
                <a:solidFill>
                  <a:srgbClr val="221F1F"/>
                </a:solidFill>
                <a:latin typeface="Times New Roman"/>
                <a:cs typeface="Times New Roman"/>
              </a:rPr>
              <a:t> </a:t>
            </a:r>
            <a:r>
              <a:rPr sz="1800" dirty="0">
                <a:solidFill>
                  <a:srgbClr val="221F1F"/>
                </a:solidFill>
                <a:latin typeface="Times New Roman"/>
                <a:cs typeface="Times New Roman"/>
              </a:rPr>
              <a:t>the</a:t>
            </a:r>
            <a:r>
              <a:rPr sz="1800" spc="75" dirty="0">
                <a:solidFill>
                  <a:srgbClr val="221F1F"/>
                </a:solidFill>
                <a:latin typeface="Times New Roman"/>
                <a:cs typeface="Times New Roman"/>
              </a:rPr>
              <a:t> </a:t>
            </a:r>
            <a:r>
              <a:rPr sz="1800" dirty="0">
                <a:solidFill>
                  <a:srgbClr val="221F1F"/>
                </a:solidFill>
                <a:latin typeface="Times New Roman"/>
                <a:cs typeface="Times New Roman"/>
              </a:rPr>
              <a:t>impact</a:t>
            </a:r>
            <a:r>
              <a:rPr sz="1800" spc="80" dirty="0">
                <a:solidFill>
                  <a:srgbClr val="221F1F"/>
                </a:solidFill>
                <a:latin typeface="Times New Roman"/>
                <a:cs typeface="Times New Roman"/>
              </a:rPr>
              <a:t> </a:t>
            </a:r>
            <a:r>
              <a:rPr sz="1800" dirty="0">
                <a:solidFill>
                  <a:srgbClr val="221F1F"/>
                </a:solidFill>
                <a:latin typeface="Times New Roman"/>
                <a:cs typeface="Times New Roman"/>
              </a:rPr>
              <a:t>of</a:t>
            </a:r>
            <a:r>
              <a:rPr sz="1800" spc="60" dirty="0">
                <a:solidFill>
                  <a:srgbClr val="221F1F"/>
                </a:solidFill>
                <a:latin typeface="Times New Roman"/>
                <a:cs typeface="Times New Roman"/>
              </a:rPr>
              <a:t> </a:t>
            </a:r>
            <a:r>
              <a:rPr sz="1800" dirty="0">
                <a:solidFill>
                  <a:srgbClr val="221F1F"/>
                </a:solidFill>
                <a:latin typeface="Times New Roman"/>
                <a:cs typeface="Times New Roman"/>
              </a:rPr>
              <a:t>the</a:t>
            </a:r>
            <a:r>
              <a:rPr sz="1800" spc="75" dirty="0">
                <a:solidFill>
                  <a:srgbClr val="221F1F"/>
                </a:solidFill>
                <a:latin typeface="Times New Roman"/>
                <a:cs typeface="Times New Roman"/>
              </a:rPr>
              <a:t> </a:t>
            </a:r>
            <a:r>
              <a:rPr sz="1800" dirty="0">
                <a:solidFill>
                  <a:srgbClr val="221F1F"/>
                </a:solidFill>
                <a:latin typeface="Times New Roman"/>
                <a:cs typeface="Times New Roman"/>
              </a:rPr>
              <a:t>cluster</a:t>
            </a:r>
            <a:r>
              <a:rPr sz="1800" spc="65" dirty="0">
                <a:solidFill>
                  <a:srgbClr val="221F1F"/>
                </a:solidFill>
                <a:latin typeface="Times New Roman"/>
                <a:cs typeface="Times New Roman"/>
              </a:rPr>
              <a:t> </a:t>
            </a:r>
            <a:r>
              <a:rPr sz="1800" dirty="0">
                <a:solidFill>
                  <a:srgbClr val="221F1F"/>
                </a:solidFill>
                <a:latin typeface="Times New Roman"/>
                <a:cs typeface="Times New Roman"/>
              </a:rPr>
              <a:t>size</a:t>
            </a:r>
            <a:r>
              <a:rPr sz="1800" spc="80" dirty="0">
                <a:solidFill>
                  <a:srgbClr val="221F1F"/>
                </a:solidFill>
                <a:latin typeface="Times New Roman"/>
                <a:cs typeface="Times New Roman"/>
              </a:rPr>
              <a:t> </a:t>
            </a:r>
            <a:r>
              <a:rPr sz="1800" dirty="0">
                <a:solidFill>
                  <a:srgbClr val="221F1F"/>
                </a:solidFill>
                <a:latin typeface="Times New Roman"/>
                <a:cs typeface="Times New Roman"/>
              </a:rPr>
              <a:t>(i.e.,</a:t>
            </a:r>
            <a:r>
              <a:rPr sz="1800" spc="75" dirty="0">
                <a:solidFill>
                  <a:srgbClr val="221F1F"/>
                </a:solidFill>
                <a:latin typeface="Times New Roman"/>
                <a:cs typeface="Times New Roman"/>
              </a:rPr>
              <a:t> </a:t>
            </a:r>
            <a:r>
              <a:rPr sz="1800" dirty="0">
                <a:solidFill>
                  <a:srgbClr val="221F1F"/>
                </a:solidFill>
                <a:latin typeface="Times New Roman"/>
                <a:cs typeface="Times New Roman"/>
              </a:rPr>
              <a:t>frequency</a:t>
            </a:r>
            <a:r>
              <a:rPr sz="1800" spc="85" dirty="0">
                <a:solidFill>
                  <a:srgbClr val="221F1F"/>
                </a:solidFill>
                <a:latin typeface="Times New Roman"/>
                <a:cs typeface="Times New Roman"/>
              </a:rPr>
              <a:t> </a:t>
            </a:r>
            <a:r>
              <a:rPr sz="1800" dirty="0">
                <a:solidFill>
                  <a:srgbClr val="221F1F"/>
                </a:solidFill>
                <a:latin typeface="Times New Roman"/>
                <a:cs typeface="Times New Roman"/>
              </a:rPr>
              <a:t>reuse</a:t>
            </a:r>
            <a:r>
              <a:rPr sz="1800" spc="70" dirty="0">
                <a:solidFill>
                  <a:srgbClr val="221F1F"/>
                </a:solidFill>
                <a:latin typeface="Times New Roman"/>
                <a:cs typeface="Times New Roman"/>
              </a:rPr>
              <a:t> </a:t>
            </a:r>
            <a:r>
              <a:rPr sz="1800" dirty="0">
                <a:solidFill>
                  <a:srgbClr val="221F1F"/>
                </a:solidFill>
                <a:latin typeface="Times New Roman"/>
                <a:cs typeface="Times New Roman"/>
              </a:rPr>
              <a:t>distance),</a:t>
            </a:r>
            <a:r>
              <a:rPr sz="1800" spc="85" dirty="0">
                <a:solidFill>
                  <a:srgbClr val="221F1F"/>
                </a:solidFill>
                <a:latin typeface="Times New Roman"/>
                <a:cs typeface="Times New Roman"/>
              </a:rPr>
              <a:t> </a:t>
            </a:r>
            <a:r>
              <a:rPr sz="1800" spc="-25" dirty="0">
                <a:solidFill>
                  <a:srgbClr val="221F1F"/>
                </a:solidFill>
                <a:latin typeface="Times New Roman"/>
                <a:cs typeface="Times New Roman"/>
              </a:rPr>
              <a:t>the </a:t>
            </a:r>
            <a:r>
              <a:rPr sz="1800" dirty="0">
                <a:solidFill>
                  <a:srgbClr val="221F1F"/>
                </a:solidFill>
                <a:latin typeface="Times New Roman"/>
                <a:cs typeface="Times New Roman"/>
              </a:rPr>
              <a:t>number</a:t>
            </a:r>
            <a:r>
              <a:rPr sz="1800" spc="45" dirty="0">
                <a:solidFill>
                  <a:srgbClr val="221F1F"/>
                </a:solidFill>
                <a:latin typeface="Times New Roman"/>
                <a:cs typeface="Times New Roman"/>
              </a:rPr>
              <a:t> </a:t>
            </a:r>
            <a:r>
              <a:rPr sz="1800" dirty="0">
                <a:solidFill>
                  <a:srgbClr val="221F1F"/>
                </a:solidFill>
                <a:latin typeface="Times New Roman"/>
                <a:cs typeface="Times New Roman"/>
              </a:rPr>
              <a:t>of</a:t>
            </a:r>
            <a:r>
              <a:rPr sz="1800" spc="35" dirty="0">
                <a:solidFill>
                  <a:srgbClr val="221F1F"/>
                </a:solidFill>
                <a:latin typeface="Times New Roman"/>
                <a:cs typeface="Times New Roman"/>
              </a:rPr>
              <a:t> </a:t>
            </a:r>
            <a:r>
              <a:rPr sz="1800" dirty="0">
                <a:solidFill>
                  <a:srgbClr val="221F1F"/>
                </a:solidFill>
                <a:latin typeface="Times New Roman"/>
                <a:cs typeface="Times New Roman"/>
              </a:rPr>
              <a:t>tiers</a:t>
            </a:r>
            <a:r>
              <a:rPr sz="1800" spc="30" dirty="0">
                <a:solidFill>
                  <a:srgbClr val="221F1F"/>
                </a:solidFill>
                <a:latin typeface="Times New Roman"/>
                <a:cs typeface="Times New Roman"/>
              </a:rPr>
              <a:t> </a:t>
            </a:r>
            <a:r>
              <a:rPr sz="1800" dirty="0">
                <a:solidFill>
                  <a:srgbClr val="221F1F"/>
                </a:solidFill>
                <a:latin typeface="Times New Roman"/>
                <a:cs typeface="Times New Roman"/>
              </a:rPr>
              <a:t>used</a:t>
            </a:r>
            <a:r>
              <a:rPr sz="1800" spc="45" dirty="0">
                <a:solidFill>
                  <a:srgbClr val="221F1F"/>
                </a:solidFill>
                <a:latin typeface="Times New Roman"/>
                <a:cs typeface="Times New Roman"/>
              </a:rPr>
              <a:t> </a:t>
            </a:r>
            <a:r>
              <a:rPr sz="1800" dirty="0">
                <a:solidFill>
                  <a:srgbClr val="221F1F"/>
                </a:solidFill>
                <a:latin typeface="Times New Roman"/>
                <a:cs typeface="Times New Roman"/>
              </a:rPr>
              <a:t>in</a:t>
            </a:r>
            <a:r>
              <a:rPr sz="1800" spc="40" dirty="0">
                <a:solidFill>
                  <a:srgbClr val="221F1F"/>
                </a:solidFill>
                <a:latin typeface="Times New Roman"/>
                <a:cs typeface="Times New Roman"/>
              </a:rPr>
              <a:t> </a:t>
            </a:r>
            <a:r>
              <a:rPr sz="1800" dirty="0">
                <a:solidFill>
                  <a:srgbClr val="221F1F"/>
                </a:solidFill>
                <a:latin typeface="Times New Roman"/>
                <a:cs typeface="Times New Roman"/>
              </a:rPr>
              <a:t>the</a:t>
            </a:r>
            <a:r>
              <a:rPr sz="1800" spc="45" dirty="0">
                <a:solidFill>
                  <a:srgbClr val="221F1F"/>
                </a:solidFill>
                <a:latin typeface="Times New Roman"/>
                <a:cs typeface="Times New Roman"/>
              </a:rPr>
              <a:t> </a:t>
            </a:r>
            <a:r>
              <a:rPr sz="1800" dirty="0">
                <a:solidFill>
                  <a:srgbClr val="221F1F"/>
                </a:solidFill>
                <a:latin typeface="Times New Roman"/>
                <a:cs typeface="Times New Roman"/>
              </a:rPr>
              <a:t>calculation</a:t>
            </a:r>
            <a:r>
              <a:rPr sz="1800" spc="45" dirty="0">
                <a:solidFill>
                  <a:srgbClr val="221F1F"/>
                </a:solidFill>
                <a:latin typeface="Times New Roman"/>
                <a:cs typeface="Times New Roman"/>
              </a:rPr>
              <a:t> </a:t>
            </a:r>
            <a:r>
              <a:rPr sz="1800" dirty="0">
                <a:solidFill>
                  <a:srgbClr val="221F1F"/>
                </a:solidFill>
                <a:latin typeface="Times New Roman"/>
                <a:cs typeface="Times New Roman"/>
              </a:rPr>
              <a:t>of</a:t>
            </a:r>
            <a:r>
              <a:rPr sz="1800" spc="35" dirty="0">
                <a:solidFill>
                  <a:srgbClr val="221F1F"/>
                </a:solidFill>
                <a:latin typeface="Times New Roman"/>
                <a:cs typeface="Times New Roman"/>
              </a:rPr>
              <a:t> </a:t>
            </a:r>
            <a:r>
              <a:rPr sz="1800" dirty="0">
                <a:solidFill>
                  <a:srgbClr val="221F1F"/>
                </a:solidFill>
                <a:latin typeface="Times New Roman"/>
                <a:cs typeface="Times New Roman"/>
              </a:rPr>
              <a:t>Cll</a:t>
            </a:r>
            <a:r>
              <a:rPr sz="1800" spc="45" dirty="0">
                <a:solidFill>
                  <a:srgbClr val="221F1F"/>
                </a:solidFill>
                <a:latin typeface="Times New Roman"/>
                <a:cs typeface="Times New Roman"/>
              </a:rPr>
              <a:t> </a:t>
            </a:r>
            <a:r>
              <a:rPr sz="1800" dirty="0">
                <a:solidFill>
                  <a:srgbClr val="221F1F"/>
                </a:solidFill>
                <a:latin typeface="Times New Roman"/>
                <a:cs typeface="Times New Roman"/>
              </a:rPr>
              <a:t>and</a:t>
            </a:r>
            <a:r>
              <a:rPr sz="1800" spc="40" dirty="0">
                <a:solidFill>
                  <a:srgbClr val="221F1F"/>
                </a:solidFill>
                <a:latin typeface="Times New Roman"/>
                <a:cs typeface="Times New Roman"/>
              </a:rPr>
              <a:t> </a:t>
            </a:r>
            <a:r>
              <a:rPr sz="1800" dirty="0">
                <a:solidFill>
                  <a:srgbClr val="221F1F"/>
                </a:solidFill>
                <a:latin typeface="Times New Roman"/>
                <a:cs typeface="Times New Roman"/>
              </a:rPr>
              <a:t>the</a:t>
            </a:r>
            <a:r>
              <a:rPr sz="1800" spc="35" dirty="0">
                <a:solidFill>
                  <a:srgbClr val="221F1F"/>
                </a:solidFill>
                <a:latin typeface="Times New Roman"/>
                <a:cs typeface="Times New Roman"/>
              </a:rPr>
              <a:t> </a:t>
            </a:r>
            <a:r>
              <a:rPr sz="1800" dirty="0">
                <a:solidFill>
                  <a:srgbClr val="221F1F"/>
                </a:solidFill>
                <a:latin typeface="Times New Roman"/>
                <a:cs typeface="Times New Roman"/>
              </a:rPr>
              <a:t>effect</a:t>
            </a:r>
            <a:r>
              <a:rPr sz="1800" spc="45" dirty="0">
                <a:solidFill>
                  <a:srgbClr val="221F1F"/>
                </a:solidFill>
                <a:latin typeface="Times New Roman"/>
                <a:cs typeface="Times New Roman"/>
              </a:rPr>
              <a:t> </a:t>
            </a:r>
            <a:r>
              <a:rPr sz="1800" dirty="0">
                <a:solidFill>
                  <a:srgbClr val="221F1F"/>
                </a:solidFill>
                <a:latin typeface="Times New Roman"/>
                <a:cs typeface="Times New Roman"/>
              </a:rPr>
              <a:t>of</a:t>
            </a:r>
            <a:r>
              <a:rPr sz="1800" spc="40" dirty="0">
                <a:solidFill>
                  <a:srgbClr val="221F1F"/>
                </a:solidFill>
                <a:latin typeface="Times New Roman"/>
                <a:cs typeface="Times New Roman"/>
              </a:rPr>
              <a:t> </a:t>
            </a:r>
            <a:r>
              <a:rPr sz="1800" dirty="0">
                <a:solidFill>
                  <a:srgbClr val="221F1F"/>
                </a:solidFill>
                <a:latin typeface="Times New Roman"/>
                <a:cs typeface="Times New Roman"/>
              </a:rPr>
              <a:t>the</a:t>
            </a:r>
            <a:r>
              <a:rPr sz="1800" spc="45" dirty="0">
                <a:solidFill>
                  <a:srgbClr val="221F1F"/>
                </a:solidFill>
                <a:latin typeface="Times New Roman"/>
                <a:cs typeface="Times New Roman"/>
              </a:rPr>
              <a:t> </a:t>
            </a:r>
            <a:r>
              <a:rPr sz="1800" dirty="0">
                <a:solidFill>
                  <a:srgbClr val="221F1F"/>
                </a:solidFill>
                <a:latin typeface="Times New Roman"/>
                <a:cs typeface="Times New Roman"/>
              </a:rPr>
              <a:t>propagation</a:t>
            </a:r>
            <a:r>
              <a:rPr sz="1800" spc="45" dirty="0">
                <a:solidFill>
                  <a:srgbClr val="221F1F"/>
                </a:solidFill>
                <a:latin typeface="Times New Roman"/>
                <a:cs typeface="Times New Roman"/>
              </a:rPr>
              <a:t> </a:t>
            </a:r>
            <a:r>
              <a:rPr sz="1800" spc="-20" dirty="0">
                <a:solidFill>
                  <a:srgbClr val="221F1F"/>
                </a:solidFill>
                <a:latin typeface="Times New Roman"/>
                <a:cs typeface="Times New Roman"/>
              </a:rPr>
              <a:t>path </a:t>
            </a:r>
            <a:r>
              <a:rPr sz="1800" dirty="0">
                <a:solidFill>
                  <a:srgbClr val="221F1F"/>
                </a:solidFill>
                <a:latin typeface="Times New Roman"/>
                <a:cs typeface="Times New Roman"/>
              </a:rPr>
              <a:t>loss</a:t>
            </a:r>
            <a:r>
              <a:rPr sz="1800" spc="-20"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30" dirty="0">
                <a:solidFill>
                  <a:srgbClr val="221F1F"/>
                </a:solidFill>
                <a:latin typeface="Times New Roman"/>
                <a:cs typeface="Times New Roman"/>
              </a:rPr>
              <a:t> </a:t>
            </a:r>
            <a:r>
              <a:rPr sz="1800" dirty="0">
                <a:solidFill>
                  <a:srgbClr val="221F1F"/>
                </a:solidFill>
                <a:latin typeface="Times New Roman"/>
                <a:cs typeface="Times New Roman"/>
              </a:rPr>
              <a:t>on</a:t>
            </a:r>
            <a:r>
              <a:rPr sz="1800" spc="-10" dirty="0">
                <a:solidFill>
                  <a:srgbClr val="221F1F"/>
                </a:solidFill>
                <a:latin typeface="Times New Roman"/>
                <a:cs typeface="Times New Roman"/>
              </a:rPr>
              <a:t> </a:t>
            </a:r>
            <a:r>
              <a:rPr sz="1800" spc="-20" dirty="0">
                <a:solidFill>
                  <a:srgbClr val="221F1F"/>
                </a:solidFill>
                <a:latin typeface="Times New Roman"/>
                <a:cs typeface="Times New Roman"/>
              </a:rPr>
              <a:t>C/I.</a:t>
            </a:r>
            <a:endParaRPr sz="1800">
              <a:latin typeface="Times New Roman"/>
              <a:cs typeface="Times New Roman"/>
            </a:endParaRPr>
          </a:p>
          <a:p>
            <a:pPr marL="12700" marR="5715" indent="306070">
              <a:lnSpc>
                <a:spcPct val="120000"/>
              </a:lnSpc>
              <a:spcBef>
                <a:spcPts val="5"/>
              </a:spcBef>
              <a:buAutoNum type="alphaLcParenBoth"/>
              <a:tabLst>
                <a:tab pos="318770" algn="l"/>
              </a:tabLst>
            </a:pPr>
            <a:r>
              <a:rPr sz="1800" dirty="0">
                <a:solidFill>
                  <a:srgbClr val="221F1F"/>
                </a:solidFill>
                <a:latin typeface="Times New Roman"/>
                <a:cs typeface="Times New Roman"/>
              </a:rPr>
              <a:t>What</a:t>
            </a:r>
            <a:r>
              <a:rPr sz="1800" spc="5" dirty="0">
                <a:solidFill>
                  <a:srgbClr val="221F1F"/>
                </a:solidFill>
                <a:latin typeface="Times New Roman"/>
                <a:cs typeface="Times New Roman"/>
              </a:rPr>
              <a:t> </a:t>
            </a:r>
            <a:r>
              <a:rPr sz="1800" dirty="0">
                <a:solidFill>
                  <a:srgbClr val="221F1F"/>
                </a:solidFill>
                <a:latin typeface="Times New Roman"/>
                <a:cs typeface="Times New Roman"/>
              </a:rPr>
              <a:t>is</a:t>
            </a:r>
            <a:r>
              <a:rPr sz="1800" spc="-20" dirty="0">
                <a:solidFill>
                  <a:srgbClr val="221F1F"/>
                </a:solidFill>
                <a:latin typeface="Times New Roman"/>
                <a:cs typeface="Times New Roman"/>
              </a:rPr>
              <a:t> </a:t>
            </a:r>
            <a:r>
              <a:rPr sz="1800" dirty="0">
                <a:solidFill>
                  <a:srgbClr val="221F1F"/>
                </a:solidFill>
                <a:latin typeface="Times New Roman"/>
                <a:cs typeface="Times New Roman"/>
              </a:rPr>
              <a:t>the</a:t>
            </a:r>
            <a:r>
              <a:rPr sz="1800" spc="-5" dirty="0">
                <a:solidFill>
                  <a:srgbClr val="221F1F"/>
                </a:solidFill>
                <a:latin typeface="Times New Roman"/>
                <a:cs typeface="Times New Roman"/>
              </a:rPr>
              <a:t> </a:t>
            </a:r>
            <a:r>
              <a:rPr sz="1800" dirty="0">
                <a:solidFill>
                  <a:srgbClr val="221F1F"/>
                </a:solidFill>
                <a:latin typeface="Times New Roman"/>
                <a:cs typeface="Times New Roman"/>
              </a:rPr>
              <a:t>average</a:t>
            </a:r>
            <a:r>
              <a:rPr sz="1800" spc="-10" dirty="0">
                <a:solidFill>
                  <a:srgbClr val="221F1F"/>
                </a:solidFill>
                <a:latin typeface="Times New Roman"/>
                <a:cs typeface="Times New Roman"/>
              </a:rPr>
              <a:t> </a:t>
            </a:r>
            <a:r>
              <a:rPr sz="1800" dirty="0">
                <a:solidFill>
                  <a:srgbClr val="221F1F"/>
                </a:solidFill>
                <a:latin typeface="Times New Roman"/>
                <a:cs typeface="Times New Roman"/>
              </a:rPr>
              <a:t>distance</a:t>
            </a:r>
            <a:r>
              <a:rPr sz="1800" spc="-10" dirty="0">
                <a:solidFill>
                  <a:srgbClr val="221F1F"/>
                </a:solidFill>
                <a:latin typeface="Times New Roman"/>
                <a:cs typeface="Times New Roman"/>
              </a:rPr>
              <a:t> </a:t>
            </a:r>
            <a:r>
              <a:rPr sz="1800" dirty="0">
                <a:solidFill>
                  <a:srgbClr val="221F1F"/>
                </a:solidFill>
                <a:latin typeface="Times New Roman"/>
                <a:cs typeface="Times New Roman"/>
              </a:rPr>
              <a:t>(in</a:t>
            </a:r>
            <a:r>
              <a:rPr sz="1800" spc="-10" dirty="0">
                <a:solidFill>
                  <a:srgbClr val="221F1F"/>
                </a:solidFill>
                <a:latin typeface="Times New Roman"/>
                <a:cs typeface="Times New Roman"/>
              </a:rPr>
              <a:t> </a:t>
            </a:r>
            <a:r>
              <a:rPr sz="1800" dirty="0">
                <a:solidFill>
                  <a:srgbClr val="221F1F"/>
                </a:solidFill>
                <a:latin typeface="Times New Roman"/>
                <a:cs typeface="Times New Roman"/>
              </a:rPr>
              <a:t>terms</a:t>
            </a:r>
            <a:r>
              <a:rPr sz="1800" spc="-5" dirty="0">
                <a:solidFill>
                  <a:srgbClr val="221F1F"/>
                </a:solidFill>
                <a:latin typeface="Times New Roman"/>
                <a:cs typeface="Times New Roman"/>
              </a:rPr>
              <a:t> </a:t>
            </a:r>
            <a:r>
              <a:rPr sz="1800" dirty="0">
                <a:solidFill>
                  <a:srgbClr val="221F1F"/>
                </a:solidFill>
                <a:latin typeface="Times New Roman"/>
                <a:cs typeface="Times New Roman"/>
              </a:rPr>
              <a:t>of</a:t>
            </a:r>
            <a:r>
              <a:rPr sz="1800" spc="-10" dirty="0">
                <a:solidFill>
                  <a:srgbClr val="221F1F"/>
                </a:solidFill>
                <a:latin typeface="Times New Roman"/>
                <a:cs typeface="Times New Roman"/>
              </a:rPr>
              <a:t> </a:t>
            </a:r>
            <a:r>
              <a:rPr sz="1800" i="1" dirty="0">
                <a:solidFill>
                  <a:srgbClr val="221F1F"/>
                </a:solidFill>
                <a:latin typeface="Times New Roman"/>
                <a:cs typeface="Times New Roman"/>
              </a:rPr>
              <a:t>R)</a:t>
            </a:r>
            <a:r>
              <a:rPr sz="1800" i="1" spc="-15" dirty="0">
                <a:solidFill>
                  <a:srgbClr val="221F1F"/>
                </a:solidFill>
                <a:latin typeface="Times New Roman"/>
                <a:cs typeface="Times New Roman"/>
              </a:rPr>
              <a:t> </a:t>
            </a:r>
            <a:r>
              <a:rPr sz="1800" dirty="0">
                <a:solidFill>
                  <a:srgbClr val="221F1F"/>
                </a:solidFill>
                <a:latin typeface="Times New Roman"/>
                <a:cs typeface="Times New Roman"/>
              </a:rPr>
              <a:t>between</a:t>
            </a:r>
            <a:r>
              <a:rPr sz="1800" spc="-10" dirty="0">
                <a:solidFill>
                  <a:srgbClr val="221F1F"/>
                </a:solidFill>
                <a:latin typeface="Times New Roman"/>
                <a:cs typeface="Times New Roman"/>
              </a:rPr>
              <a:t> </a:t>
            </a:r>
            <a:r>
              <a:rPr sz="1800" dirty="0">
                <a:solidFill>
                  <a:srgbClr val="221F1F"/>
                </a:solidFill>
                <a:latin typeface="Times New Roman"/>
                <a:cs typeface="Times New Roman"/>
              </a:rPr>
              <a:t>the mobile</a:t>
            </a:r>
            <a:r>
              <a:rPr sz="1800" spc="-5" dirty="0">
                <a:solidFill>
                  <a:srgbClr val="221F1F"/>
                </a:solidFill>
                <a:latin typeface="Times New Roman"/>
                <a:cs typeface="Times New Roman"/>
              </a:rPr>
              <a:t> </a:t>
            </a:r>
            <a:r>
              <a:rPr sz="1800" dirty="0">
                <a:solidFill>
                  <a:srgbClr val="221F1F"/>
                </a:solidFill>
                <a:latin typeface="Times New Roman"/>
                <a:cs typeface="Times New Roman"/>
              </a:rPr>
              <a:t>on</a:t>
            </a:r>
            <a:r>
              <a:rPr sz="1800" spc="-15" dirty="0">
                <a:solidFill>
                  <a:srgbClr val="221F1F"/>
                </a:solidFill>
                <a:latin typeface="Times New Roman"/>
                <a:cs typeface="Times New Roman"/>
              </a:rPr>
              <a:t> </a:t>
            </a:r>
            <a:r>
              <a:rPr sz="1800" dirty="0">
                <a:solidFill>
                  <a:srgbClr val="221F1F"/>
                </a:solidFill>
                <a:latin typeface="Times New Roman"/>
                <a:cs typeface="Times New Roman"/>
              </a:rPr>
              <a:t>the</a:t>
            </a:r>
            <a:r>
              <a:rPr sz="1800" spc="-5" dirty="0">
                <a:solidFill>
                  <a:srgbClr val="221F1F"/>
                </a:solidFill>
                <a:latin typeface="Times New Roman"/>
                <a:cs typeface="Times New Roman"/>
              </a:rPr>
              <a:t> </a:t>
            </a:r>
            <a:r>
              <a:rPr sz="1800" dirty="0">
                <a:solidFill>
                  <a:srgbClr val="221F1F"/>
                </a:solidFill>
                <a:latin typeface="Times New Roman"/>
                <a:cs typeface="Times New Roman"/>
              </a:rPr>
              <a:t>fringe</a:t>
            </a:r>
            <a:r>
              <a:rPr sz="1800" spc="-5" dirty="0">
                <a:solidFill>
                  <a:srgbClr val="221F1F"/>
                </a:solidFill>
                <a:latin typeface="Times New Roman"/>
                <a:cs typeface="Times New Roman"/>
              </a:rPr>
              <a:t> </a:t>
            </a:r>
            <a:r>
              <a:rPr sz="1800" dirty="0">
                <a:solidFill>
                  <a:srgbClr val="221F1F"/>
                </a:solidFill>
                <a:latin typeface="Times New Roman"/>
                <a:cs typeface="Times New Roman"/>
              </a:rPr>
              <a:t>of</a:t>
            </a:r>
            <a:r>
              <a:rPr sz="1800" spc="-15" dirty="0">
                <a:solidFill>
                  <a:srgbClr val="221F1F"/>
                </a:solidFill>
                <a:latin typeface="Times New Roman"/>
                <a:cs typeface="Times New Roman"/>
              </a:rPr>
              <a:t> </a:t>
            </a:r>
            <a:r>
              <a:rPr sz="1800" spc="-25" dirty="0">
                <a:solidFill>
                  <a:srgbClr val="221F1F"/>
                </a:solidFill>
                <a:latin typeface="Times New Roman"/>
                <a:cs typeface="Times New Roman"/>
              </a:rPr>
              <a:t>the </a:t>
            </a:r>
            <a:r>
              <a:rPr sz="1800" dirty="0">
                <a:solidFill>
                  <a:srgbClr val="221F1F"/>
                </a:solidFill>
                <a:latin typeface="Times New Roman"/>
                <a:cs typeface="Times New Roman"/>
              </a:rPr>
              <a:t>serving</a:t>
            </a:r>
            <a:r>
              <a:rPr sz="1800" spc="-30" dirty="0">
                <a:solidFill>
                  <a:srgbClr val="221F1F"/>
                </a:solidFill>
                <a:latin typeface="Times New Roman"/>
                <a:cs typeface="Times New Roman"/>
              </a:rPr>
              <a:t> </a:t>
            </a:r>
            <a:r>
              <a:rPr sz="1800" dirty="0">
                <a:solidFill>
                  <a:srgbClr val="221F1F"/>
                </a:solidFill>
                <a:latin typeface="Times New Roman"/>
                <a:cs typeface="Times New Roman"/>
              </a:rPr>
              <a:t>cell</a:t>
            </a:r>
            <a:r>
              <a:rPr sz="1800" spc="-30" dirty="0">
                <a:solidFill>
                  <a:srgbClr val="221F1F"/>
                </a:solidFill>
                <a:latin typeface="Times New Roman"/>
                <a:cs typeface="Times New Roman"/>
              </a:rPr>
              <a:t> </a:t>
            </a:r>
            <a:r>
              <a:rPr sz="1800" dirty="0">
                <a:solidFill>
                  <a:srgbClr val="221F1F"/>
                </a:solidFill>
                <a:latin typeface="Times New Roman"/>
                <a:cs typeface="Times New Roman"/>
              </a:rPr>
              <a:t>and</a:t>
            </a:r>
            <a:r>
              <a:rPr sz="1800" spc="-3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5" dirty="0">
                <a:solidFill>
                  <a:srgbClr val="221F1F"/>
                </a:solidFill>
                <a:latin typeface="Times New Roman"/>
                <a:cs typeface="Times New Roman"/>
              </a:rPr>
              <a:t> </a:t>
            </a:r>
            <a:r>
              <a:rPr sz="1800" dirty="0">
                <a:solidFill>
                  <a:srgbClr val="221F1F"/>
                </a:solidFill>
                <a:latin typeface="Times New Roman"/>
                <a:cs typeface="Times New Roman"/>
              </a:rPr>
              <a:t>first</a:t>
            </a:r>
            <a:r>
              <a:rPr sz="1800" spc="-20" dirty="0">
                <a:solidFill>
                  <a:srgbClr val="221F1F"/>
                </a:solidFill>
                <a:latin typeface="Times New Roman"/>
                <a:cs typeface="Times New Roman"/>
              </a:rPr>
              <a:t> </a:t>
            </a:r>
            <a:r>
              <a:rPr sz="1800" dirty="0">
                <a:solidFill>
                  <a:srgbClr val="221F1F"/>
                </a:solidFill>
                <a:latin typeface="Times New Roman"/>
                <a:cs typeface="Times New Roman"/>
              </a:rPr>
              <a:t>tier</a:t>
            </a:r>
            <a:r>
              <a:rPr sz="1800" spc="-30" dirty="0">
                <a:solidFill>
                  <a:srgbClr val="221F1F"/>
                </a:solidFill>
                <a:latin typeface="Times New Roman"/>
                <a:cs typeface="Times New Roman"/>
              </a:rPr>
              <a:t> </a:t>
            </a:r>
            <a:r>
              <a:rPr sz="1800" dirty="0">
                <a:solidFill>
                  <a:srgbClr val="221F1F"/>
                </a:solidFill>
                <a:latin typeface="Times New Roman"/>
                <a:cs typeface="Times New Roman"/>
              </a:rPr>
              <a:t>of</a:t>
            </a:r>
            <a:r>
              <a:rPr sz="1800" spc="-25" dirty="0">
                <a:solidFill>
                  <a:srgbClr val="221F1F"/>
                </a:solidFill>
                <a:latin typeface="Times New Roman"/>
                <a:cs typeface="Times New Roman"/>
              </a:rPr>
              <a:t> </a:t>
            </a:r>
            <a:r>
              <a:rPr sz="1800" spc="-10" dirty="0">
                <a:solidFill>
                  <a:srgbClr val="221F1F"/>
                </a:solidFill>
                <a:latin typeface="Times New Roman"/>
                <a:cs typeface="Times New Roman"/>
              </a:rPr>
              <a:t>co-</a:t>
            </a:r>
            <a:r>
              <a:rPr sz="1800" dirty="0">
                <a:solidFill>
                  <a:srgbClr val="221F1F"/>
                </a:solidFill>
                <a:latin typeface="Times New Roman"/>
                <a:cs typeface="Times New Roman"/>
              </a:rPr>
              <a:t>channel</a:t>
            </a:r>
            <a:r>
              <a:rPr sz="1800" spc="-40"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30" dirty="0">
                <a:solidFill>
                  <a:srgbClr val="221F1F"/>
                </a:solidFill>
                <a:latin typeface="Times New Roman"/>
                <a:cs typeface="Times New Roman"/>
              </a:rPr>
              <a:t> </a:t>
            </a:r>
            <a:r>
              <a:rPr sz="1800" dirty="0">
                <a:solidFill>
                  <a:srgbClr val="221F1F"/>
                </a:solidFill>
                <a:latin typeface="Times New Roman"/>
                <a:cs typeface="Times New Roman"/>
              </a:rPr>
              <a:t>(These</a:t>
            </a:r>
            <a:r>
              <a:rPr sz="1800" spc="-40"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35" dirty="0">
                <a:solidFill>
                  <a:srgbClr val="221F1F"/>
                </a:solidFill>
                <a:latin typeface="Times New Roman"/>
                <a:cs typeface="Times New Roman"/>
              </a:rPr>
              <a:t> </a:t>
            </a:r>
            <a:r>
              <a:rPr sz="1800" dirty="0">
                <a:solidFill>
                  <a:srgbClr val="221F1F"/>
                </a:solidFill>
                <a:latin typeface="Times New Roman"/>
                <a:cs typeface="Times New Roman"/>
              </a:rPr>
              <a:t>are</a:t>
            </a:r>
            <a:r>
              <a:rPr sz="1800" spc="-25" dirty="0">
                <a:solidFill>
                  <a:srgbClr val="221F1F"/>
                </a:solidFill>
                <a:latin typeface="Times New Roman"/>
                <a:cs typeface="Times New Roman"/>
              </a:rPr>
              <a:t> </a:t>
            </a:r>
            <a:r>
              <a:rPr sz="1800" dirty="0">
                <a:solidFill>
                  <a:srgbClr val="221F1F"/>
                </a:solidFill>
                <a:latin typeface="Times New Roman"/>
                <a:cs typeface="Times New Roman"/>
              </a:rPr>
              <a:t>called</a:t>
            </a:r>
            <a:r>
              <a:rPr sz="1800" spc="-35" dirty="0">
                <a:solidFill>
                  <a:srgbClr val="221F1F"/>
                </a:solidFill>
                <a:latin typeface="Times New Roman"/>
                <a:cs typeface="Times New Roman"/>
              </a:rPr>
              <a:t> </a:t>
            </a:r>
            <a:r>
              <a:rPr sz="1800" dirty="0">
                <a:solidFill>
                  <a:srgbClr val="221F1F"/>
                </a:solidFill>
                <a:latin typeface="Times New Roman"/>
                <a:cs typeface="Times New Roman"/>
              </a:rPr>
              <a:t>the</a:t>
            </a:r>
            <a:r>
              <a:rPr sz="1800" spc="-35" dirty="0">
                <a:solidFill>
                  <a:srgbClr val="221F1F"/>
                </a:solidFill>
                <a:latin typeface="Times New Roman"/>
                <a:cs typeface="Times New Roman"/>
              </a:rPr>
              <a:t> </a:t>
            </a:r>
            <a:r>
              <a:rPr sz="1800" spc="-10" dirty="0">
                <a:solidFill>
                  <a:srgbClr val="221F1F"/>
                </a:solidFill>
                <a:latin typeface="Times New Roman"/>
                <a:cs typeface="Times New Roman"/>
              </a:rPr>
              <a:t>"nearest </a:t>
            </a:r>
            <a:r>
              <a:rPr sz="1800" dirty="0">
                <a:solidFill>
                  <a:srgbClr val="221F1F"/>
                </a:solidFill>
                <a:latin typeface="Times New Roman"/>
                <a:cs typeface="Times New Roman"/>
              </a:rPr>
              <a:t>neighbors.")</a:t>
            </a:r>
            <a:r>
              <a:rPr sz="1800" spc="105" dirty="0">
                <a:solidFill>
                  <a:srgbClr val="221F1F"/>
                </a:solidFill>
                <a:latin typeface="Times New Roman"/>
                <a:cs typeface="Times New Roman"/>
              </a:rPr>
              <a:t> </a:t>
            </a:r>
            <a:r>
              <a:rPr sz="1800" dirty="0">
                <a:solidFill>
                  <a:srgbClr val="221F1F"/>
                </a:solidFill>
                <a:latin typeface="Times New Roman"/>
                <a:cs typeface="Times New Roman"/>
              </a:rPr>
              <a:t>How</a:t>
            </a:r>
            <a:r>
              <a:rPr sz="1800" spc="105" dirty="0">
                <a:solidFill>
                  <a:srgbClr val="221F1F"/>
                </a:solidFill>
                <a:latin typeface="Times New Roman"/>
                <a:cs typeface="Times New Roman"/>
              </a:rPr>
              <a:t> </a:t>
            </a:r>
            <a:r>
              <a:rPr sz="1800" dirty="0">
                <a:solidFill>
                  <a:srgbClr val="221F1F"/>
                </a:solidFill>
                <a:latin typeface="Times New Roman"/>
                <a:cs typeface="Times New Roman"/>
              </a:rPr>
              <a:t>many</a:t>
            </a:r>
            <a:r>
              <a:rPr sz="1800" spc="130"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114" dirty="0">
                <a:solidFill>
                  <a:srgbClr val="221F1F"/>
                </a:solidFill>
                <a:latin typeface="Times New Roman"/>
                <a:cs typeface="Times New Roman"/>
              </a:rPr>
              <a:t> </a:t>
            </a:r>
            <a:r>
              <a:rPr sz="1800" dirty="0">
                <a:solidFill>
                  <a:srgbClr val="221F1F"/>
                </a:solidFill>
                <a:latin typeface="Times New Roman"/>
                <a:cs typeface="Times New Roman"/>
              </a:rPr>
              <a:t>are</a:t>
            </a:r>
            <a:r>
              <a:rPr sz="1800" spc="114" dirty="0">
                <a:solidFill>
                  <a:srgbClr val="221F1F"/>
                </a:solidFill>
                <a:latin typeface="Times New Roman"/>
                <a:cs typeface="Times New Roman"/>
              </a:rPr>
              <a:t> </a:t>
            </a:r>
            <a:r>
              <a:rPr sz="1800" dirty="0">
                <a:solidFill>
                  <a:srgbClr val="221F1F"/>
                </a:solidFill>
                <a:latin typeface="Times New Roman"/>
                <a:cs typeface="Times New Roman"/>
              </a:rPr>
              <a:t>located</a:t>
            </a:r>
            <a:r>
              <a:rPr sz="1800" spc="114" dirty="0">
                <a:solidFill>
                  <a:srgbClr val="221F1F"/>
                </a:solidFill>
                <a:latin typeface="Times New Roman"/>
                <a:cs typeface="Times New Roman"/>
              </a:rPr>
              <a:t> </a:t>
            </a:r>
            <a:r>
              <a:rPr sz="1800" dirty="0">
                <a:solidFill>
                  <a:srgbClr val="221F1F"/>
                </a:solidFill>
                <a:latin typeface="Times New Roman"/>
                <a:cs typeface="Times New Roman"/>
              </a:rPr>
              <a:t>in</a:t>
            </a:r>
            <a:r>
              <a:rPr sz="1800" spc="100" dirty="0">
                <a:solidFill>
                  <a:srgbClr val="221F1F"/>
                </a:solidFill>
                <a:latin typeface="Times New Roman"/>
                <a:cs typeface="Times New Roman"/>
              </a:rPr>
              <a:t> </a:t>
            </a:r>
            <a:r>
              <a:rPr sz="1800" dirty="0">
                <a:solidFill>
                  <a:srgbClr val="221F1F"/>
                </a:solidFill>
                <a:latin typeface="Times New Roman"/>
                <a:cs typeface="Times New Roman"/>
              </a:rPr>
              <a:t>the</a:t>
            </a:r>
            <a:r>
              <a:rPr sz="1800" spc="110" dirty="0">
                <a:solidFill>
                  <a:srgbClr val="221F1F"/>
                </a:solidFill>
                <a:latin typeface="Times New Roman"/>
                <a:cs typeface="Times New Roman"/>
              </a:rPr>
              <a:t> </a:t>
            </a:r>
            <a:r>
              <a:rPr sz="1800" dirty="0">
                <a:solidFill>
                  <a:srgbClr val="221F1F"/>
                </a:solidFill>
                <a:latin typeface="Times New Roman"/>
                <a:cs typeface="Times New Roman"/>
              </a:rPr>
              <a:t>first</a:t>
            </a:r>
            <a:r>
              <a:rPr sz="1800" spc="114" dirty="0">
                <a:solidFill>
                  <a:srgbClr val="221F1F"/>
                </a:solidFill>
                <a:latin typeface="Times New Roman"/>
                <a:cs typeface="Times New Roman"/>
              </a:rPr>
              <a:t> </a:t>
            </a:r>
            <a:r>
              <a:rPr sz="1800" dirty="0">
                <a:solidFill>
                  <a:srgbClr val="221F1F"/>
                </a:solidFill>
                <a:latin typeface="Times New Roman"/>
                <a:cs typeface="Times New Roman"/>
              </a:rPr>
              <a:t>tier?</a:t>
            </a:r>
            <a:r>
              <a:rPr sz="1800" spc="140" dirty="0">
                <a:solidFill>
                  <a:srgbClr val="221F1F"/>
                </a:solidFill>
                <a:latin typeface="Times New Roman"/>
                <a:cs typeface="Times New Roman"/>
              </a:rPr>
              <a:t> </a:t>
            </a:r>
            <a:r>
              <a:rPr sz="1800" dirty="0">
                <a:solidFill>
                  <a:srgbClr val="221F1F"/>
                </a:solidFill>
                <a:latin typeface="Times New Roman"/>
                <a:cs typeface="Times New Roman"/>
              </a:rPr>
              <a:t>Solve</a:t>
            </a:r>
            <a:r>
              <a:rPr sz="1800" spc="105" dirty="0">
                <a:solidFill>
                  <a:srgbClr val="221F1F"/>
                </a:solidFill>
                <a:latin typeface="Times New Roman"/>
                <a:cs typeface="Times New Roman"/>
              </a:rPr>
              <a:t> </a:t>
            </a:r>
            <a:r>
              <a:rPr sz="1800" dirty="0">
                <a:solidFill>
                  <a:srgbClr val="221F1F"/>
                </a:solidFill>
                <a:latin typeface="Times New Roman"/>
                <a:cs typeface="Times New Roman"/>
              </a:rPr>
              <a:t>for</a:t>
            </a:r>
            <a:r>
              <a:rPr sz="1800" spc="12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10" dirty="0">
                <a:solidFill>
                  <a:srgbClr val="221F1F"/>
                </a:solidFill>
                <a:latin typeface="Times New Roman"/>
                <a:cs typeface="Times New Roman"/>
              </a:rPr>
              <a:t> </a:t>
            </a:r>
            <a:r>
              <a:rPr sz="1800" dirty="0">
                <a:solidFill>
                  <a:srgbClr val="221F1F"/>
                </a:solidFill>
                <a:latin typeface="Times New Roman"/>
                <a:cs typeface="Times New Roman"/>
              </a:rPr>
              <a:t>case</a:t>
            </a:r>
            <a:r>
              <a:rPr sz="1800" spc="114" dirty="0">
                <a:solidFill>
                  <a:srgbClr val="221F1F"/>
                </a:solidFill>
                <a:latin typeface="Times New Roman"/>
                <a:cs typeface="Times New Roman"/>
              </a:rPr>
              <a:t> </a:t>
            </a:r>
            <a:r>
              <a:rPr sz="1800" dirty="0">
                <a:solidFill>
                  <a:srgbClr val="221F1F"/>
                </a:solidFill>
                <a:latin typeface="Times New Roman"/>
                <a:cs typeface="Times New Roman"/>
              </a:rPr>
              <a:t>of</a:t>
            </a:r>
            <a:r>
              <a:rPr sz="1800" spc="10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110" dirty="0">
                <a:solidFill>
                  <a:srgbClr val="221F1F"/>
                </a:solidFill>
                <a:latin typeface="Times New Roman"/>
                <a:cs typeface="Times New Roman"/>
              </a:rPr>
              <a:t> </a:t>
            </a:r>
            <a:r>
              <a:rPr sz="1800" dirty="0">
                <a:solidFill>
                  <a:srgbClr val="221F1F"/>
                </a:solidFill>
                <a:latin typeface="Times New Roman"/>
                <a:cs typeface="Times New Roman"/>
              </a:rPr>
              <a:t>=</a:t>
            </a:r>
            <a:r>
              <a:rPr sz="1800" spc="114" dirty="0">
                <a:solidFill>
                  <a:srgbClr val="221F1F"/>
                </a:solidFill>
                <a:latin typeface="Times New Roman"/>
                <a:cs typeface="Times New Roman"/>
              </a:rPr>
              <a:t> </a:t>
            </a:r>
            <a:r>
              <a:rPr sz="1800" spc="-25" dirty="0">
                <a:solidFill>
                  <a:srgbClr val="221F1F"/>
                </a:solidFill>
                <a:latin typeface="Times New Roman"/>
                <a:cs typeface="Times New Roman"/>
              </a:rPr>
              <a:t>1,</a:t>
            </a:r>
            <a:endParaRPr sz="1800">
              <a:latin typeface="Times New Roman"/>
              <a:cs typeface="Times New Roman"/>
            </a:endParaRPr>
          </a:p>
          <a:p>
            <a:pPr marL="355600" marR="6985">
              <a:lnSpc>
                <a:spcPct val="100000"/>
              </a:lnSpc>
            </a:pPr>
            <a:r>
              <a:rPr sz="1800" i="1" dirty="0">
                <a:solidFill>
                  <a:srgbClr val="221F1F"/>
                </a:solidFill>
                <a:latin typeface="Times New Roman"/>
                <a:cs typeface="Times New Roman"/>
              </a:rPr>
              <a:t>N</a:t>
            </a:r>
            <a:r>
              <a:rPr sz="1800" dirty="0">
                <a:solidFill>
                  <a:srgbClr val="221F1F"/>
                </a:solidFill>
                <a:latin typeface="Times New Roman"/>
                <a:cs typeface="Times New Roman"/>
              </a:rPr>
              <a:t>=3,</a:t>
            </a:r>
            <a:r>
              <a:rPr sz="1800" spc="5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45" dirty="0">
                <a:solidFill>
                  <a:srgbClr val="221F1F"/>
                </a:solidFill>
                <a:latin typeface="Times New Roman"/>
                <a:cs typeface="Times New Roman"/>
              </a:rPr>
              <a:t> </a:t>
            </a:r>
            <a:r>
              <a:rPr sz="1800" dirty="0">
                <a:solidFill>
                  <a:srgbClr val="221F1F"/>
                </a:solidFill>
                <a:latin typeface="Times New Roman"/>
                <a:cs typeface="Times New Roman"/>
              </a:rPr>
              <a:t>=4,</a:t>
            </a:r>
            <a:r>
              <a:rPr sz="1800" spc="6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55" dirty="0">
                <a:solidFill>
                  <a:srgbClr val="221F1F"/>
                </a:solidFill>
                <a:latin typeface="Times New Roman"/>
                <a:cs typeface="Times New Roman"/>
              </a:rPr>
              <a:t> </a:t>
            </a:r>
            <a:r>
              <a:rPr sz="1800" dirty="0">
                <a:solidFill>
                  <a:srgbClr val="221F1F"/>
                </a:solidFill>
                <a:latin typeface="Times New Roman"/>
                <a:cs typeface="Times New Roman"/>
              </a:rPr>
              <a:t>=7,</a:t>
            </a:r>
            <a:r>
              <a:rPr sz="1800" spc="60" dirty="0">
                <a:solidFill>
                  <a:srgbClr val="221F1F"/>
                </a:solidFill>
                <a:latin typeface="Times New Roman"/>
                <a:cs typeface="Times New Roman"/>
              </a:rPr>
              <a:t> </a:t>
            </a:r>
            <a:r>
              <a:rPr sz="1800" dirty="0">
                <a:solidFill>
                  <a:srgbClr val="221F1F"/>
                </a:solidFill>
                <a:latin typeface="Times New Roman"/>
                <a:cs typeface="Times New Roman"/>
              </a:rPr>
              <a:t>and</a:t>
            </a:r>
            <a:r>
              <a:rPr sz="1800" spc="6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45" dirty="0">
                <a:solidFill>
                  <a:srgbClr val="221F1F"/>
                </a:solidFill>
                <a:latin typeface="Times New Roman"/>
                <a:cs typeface="Times New Roman"/>
              </a:rPr>
              <a:t> </a:t>
            </a:r>
            <a:r>
              <a:rPr sz="1800" dirty="0">
                <a:solidFill>
                  <a:srgbClr val="221F1F"/>
                </a:solidFill>
                <a:latin typeface="Times New Roman"/>
                <a:cs typeface="Times New Roman"/>
              </a:rPr>
              <a:t>=12</a:t>
            </a:r>
            <a:r>
              <a:rPr sz="1800" spc="55" dirty="0">
                <a:solidFill>
                  <a:srgbClr val="221F1F"/>
                </a:solidFill>
                <a:latin typeface="Times New Roman"/>
                <a:cs typeface="Times New Roman"/>
              </a:rPr>
              <a:t> </a:t>
            </a:r>
            <a:r>
              <a:rPr sz="1800" dirty="0">
                <a:solidFill>
                  <a:srgbClr val="221F1F"/>
                </a:solidFill>
                <a:latin typeface="Times New Roman"/>
                <a:cs typeface="Times New Roman"/>
              </a:rPr>
              <a:t>cluster</a:t>
            </a:r>
            <a:r>
              <a:rPr sz="1800" spc="60" dirty="0">
                <a:solidFill>
                  <a:srgbClr val="221F1F"/>
                </a:solidFill>
                <a:latin typeface="Times New Roman"/>
                <a:cs typeface="Times New Roman"/>
              </a:rPr>
              <a:t> </a:t>
            </a:r>
            <a:r>
              <a:rPr sz="1800" dirty="0">
                <a:solidFill>
                  <a:srgbClr val="221F1F"/>
                </a:solidFill>
                <a:latin typeface="Times New Roman"/>
                <a:cs typeface="Times New Roman"/>
              </a:rPr>
              <a:t>sizes.</a:t>
            </a:r>
            <a:r>
              <a:rPr sz="1800" spc="60" dirty="0">
                <a:solidFill>
                  <a:srgbClr val="221F1F"/>
                </a:solidFill>
                <a:latin typeface="Times New Roman"/>
                <a:cs typeface="Times New Roman"/>
              </a:rPr>
              <a:t> </a:t>
            </a:r>
            <a:r>
              <a:rPr sz="1800" dirty="0">
                <a:solidFill>
                  <a:srgbClr val="221F1F"/>
                </a:solidFill>
                <a:latin typeface="Times New Roman"/>
                <a:cs typeface="Times New Roman"/>
              </a:rPr>
              <a:t>How</a:t>
            </a:r>
            <a:r>
              <a:rPr sz="1800" spc="40" dirty="0">
                <a:solidFill>
                  <a:srgbClr val="221F1F"/>
                </a:solidFill>
                <a:latin typeface="Times New Roman"/>
                <a:cs typeface="Times New Roman"/>
              </a:rPr>
              <a:t> </a:t>
            </a:r>
            <a:r>
              <a:rPr sz="1800" dirty="0">
                <a:solidFill>
                  <a:srgbClr val="221F1F"/>
                </a:solidFill>
                <a:latin typeface="Times New Roman"/>
                <a:cs typeface="Times New Roman"/>
              </a:rPr>
              <a:t>does</a:t>
            </a:r>
            <a:r>
              <a:rPr sz="1800" spc="55" dirty="0">
                <a:solidFill>
                  <a:srgbClr val="221F1F"/>
                </a:solidFill>
                <a:latin typeface="Times New Roman"/>
                <a:cs typeface="Times New Roman"/>
              </a:rPr>
              <a:t> </a:t>
            </a:r>
            <a:r>
              <a:rPr sz="1800" dirty="0">
                <a:solidFill>
                  <a:srgbClr val="221F1F"/>
                </a:solidFill>
                <a:latin typeface="Times New Roman"/>
                <a:cs typeface="Times New Roman"/>
              </a:rPr>
              <a:t>the</a:t>
            </a:r>
            <a:r>
              <a:rPr sz="1800" spc="65" dirty="0">
                <a:solidFill>
                  <a:srgbClr val="221F1F"/>
                </a:solidFill>
                <a:latin typeface="Times New Roman"/>
                <a:cs typeface="Times New Roman"/>
              </a:rPr>
              <a:t> </a:t>
            </a:r>
            <a:r>
              <a:rPr sz="1800" dirty="0">
                <a:solidFill>
                  <a:srgbClr val="221F1F"/>
                </a:solidFill>
                <a:latin typeface="Times New Roman"/>
                <a:cs typeface="Times New Roman"/>
              </a:rPr>
              <a:t>average</a:t>
            </a:r>
            <a:r>
              <a:rPr sz="1800" spc="50" dirty="0">
                <a:solidFill>
                  <a:srgbClr val="221F1F"/>
                </a:solidFill>
                <a:latin typeface="Times New Roman"/>
                <a:cs typeface="Times New Roman"/>
              </a:rPr>
              <a:t> </a:t>
            </a:r>
            <a:r>
              <a:rPr sz="1800" dirty="0">
                <a:solidFill>
                  <a:srgbClr val="221F1F"/>
                </a:solidFill>
                <a:latin typeface="Times New Roman"/>
                <a:cs typeface="Times New Roman"/>
              </a:rPr>
              <a:t>distance</a:t>
            </a:r>
            <a:r>
              <a:rPr sz="1800" spc="60" dirty="0">
                <a:solidFill>
                  <a:srgbClr val="221F1F"/>
                </a:solidFill>
                <a:latin typeface="Times New Roman"/>
                <a:cs typeface="Times New Roman"/>
              </a:rPr>
              <a:t> </a:t>
            </a:r>
            <a:r>
              <a:rPr sz="1800" spc="-10" dirty="0">
                <a:solidFill>
                  <a:srgbClr val="221F1F"/>
                </a:solidFill>
                <a:latin typeface="Times New Roman"/>
                <a:cs typeface="Times New Roman"/>
              </a:rPr>
              <a:t>compare </a:t>
            </a:r>
            <a:r>
              <a:rPr sz="1800" dirty="0">
                <a:solidFill>
                  <a:srgbClr val="221F1F"/>
                </a:solidFill>
                <a:latin typeface="Times New Roman"/>
                <a:cs typeface="Times New Roman"/>
              </a:rPr>
              <a:t>to</a:t>
            </a:r>
            <a:r>
              <a:rPr sz="1800" spc="-2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0" dirty="0">
                <a:solidFill>
                  <a:srgbClr val="221F1F"/>
                </a:solidFill>
                <a:latin typeface="Times New Roman"/>
                <a:cs typeface="Times New Roman"/>
              </a:rPr>
              <a:t> </a:t>
            </a:r>
            <a:r>
              <a:rPr sz="1800" dirty="0">
                <a:solidFill>
                  <a:srgbClr val="221F1F"/>
                </a:solidFill>
                <a:latin typeface="Times New Roman"/>
                <a:cs typeface="Times New Roman"/>
              </a:rPr>
              <a:t>value</a:t>
            </a:r>
            <a:r>
              <a:rPr sz="1800" spc="-30" dirty="0">
                <a:solidFill>
                  <a:srgbClr val="221F1F"/>
                </a:solidFill>
                <a:latin typeface="Times New Roman"/>
                <a:cs typeface="Times New Roman"/>
              </a:rPr>
              <a:t> </a:t>
            </a:r>
            <a:r>
              <a:rPr sz="1800" dirty="0">
                <a:solidFill>
                  <a:srgbClr val="221F1F"/>
                </a:solidFill>
                <a:latin typeface="Times New Roman"/>
                <a:cs typeface="Times New Roman"/>
              </a:rPr>
              <a:t>of</a:t>
            </a:r>
            <a:r>
              <a:rPr sz="1800" spc="-10" dirty="0">
                <a:solidFill>
                  <a:srgbClr val="221F1F"/>
                </a:solidFill>
                <a:latin typeface="Times New Roman"/>
                <a:cs typeface="Times New Roman"/>
              </a:rPr>
              <a:t> </a:t>
            </a:r>
            <a:r>
              <a:rPr sz="1800" i="1" dirty="0">
                <a:solidFill>
                  <a:srgbClr val="221F1F"/>
                </a:solidFill>
                <a:latin typeface="Times New Roman"/>
                <a:cs typeface="Times New Roman"/>
              </a:rPr>
              <a:t>D</a:t>
            </a:r>
            <a:r>
              <a:rPr sz="1800" i="1" spc="-15" dirty="0">
                <a:solidFill>
                  <a:srgbClr val="221F1F"/>
                </a:solidFill>
                <a:latin typeface="Times New Roman"/>
                <a:cs typeface="Times New Roman"/>
              </a:rPr>
              <a:t> </a:t>
            </a:r>
            <a:r>
              <a:rPr sz="1800" dirty="0">
                <a:solidFill>
                  <a:srgbClr val="221F1F"/>
                </a:solidFill>
                <a:latin typeface="Times New Roman"/>
                <a:cs typeface="Times New Roman"/>
              </a:rPr>
              <a:t>=</a:t>
            </a:r>
            <a:r>
              <a:rPr sz="1800" spc="-20" dirty="0">
                <a:solidFill>
                  <a:srgbClr val="221F1F"/>
                </a:solidFill>
                <a:latin typeface="Times New Roman"/>
                <a:cs typeface="Times New Roman"/>
              </a:rPr>
              <a:t> </a:t>
            </a:r>
            <a:r>
              <a:rPr sz="1800" i="1" dirty="0">
                <a:solidFill>
                  <a:srgbClr val="221F1F"/>
                </a:solidFill>
                <a:latin typeface="Times New Roman"/>
                <a:cs typeface="Times New Roman"/>
              </a:rPr>
              <a:t>QR,</a:t>
            </a:r>
            <a:r>
              <a:rPr sz="1800" i="1" spc="-15" dirty="0">
                <a:solidFill>
                  <a:srgbClr val="221F1F"/>
                </a:solidFill>
                <a:latin typeface="Times New Roman"/>
                <a:cs typeface="Times New Roman"/>
              </a:rPr>
              <a:t> </a:t>
            </a:r>
            <a:r>
              <a:rPr sz="1800" dirty="0">
                <a:solidFill>
                  <a:srgbClr val="221F1F"/>
                </a:solidFill>
                <a:latin typeface="Times New Roman"/>
                <a:cs typeface="Times New Roman"/>
              </a:rPr>
              <a:t>where</a:t>
            </a:r>
            <a:r>
              <a:rPr sz="1800" spc="-10" dirty="0">
                <a:solidFill>
                  <a:srgbClr val="221F1F"/>
                </a:solidFill>
                <a:latin typeface="Times New Roman"/>
                <a:cs typeface="Times New Roman"/>
              </a:rPr>
              <a:t> </a:t>
            </a:r>
            <a:r>
              <a:rPr sz="1800" i="1" dirty="0">
                <a:solidFill>
                  <a:srgbClr val="221F1F"/>
                </a:solidFill>
                <a:latin typeface="Times New Roman"/>
                <a:cs typeface="Times New Roman"/>
              </a:rPr>
              <a:t>Q</a:t>
            </a:r>
            <a:r>
              <a:rPr sz="1800" i="1" spc="-15" dirty="0">
                <a:solidFill>
                  <a:srgbClr val="221F1F"/>
                </a:solidFill>
                <a:latin typeface="Times New Roman"/>
                <a:cs typeface="Times New Roman"/>
              </a:rPr>
              <a:t> </a:t>
            </a:r>
            <a:r>
              <a:rPr sz="1800" dirty="0">
                <a:solidFill>
                  <a:srgbClr val="221F1F"/>
                </a:solidFill>
                <a:latin typeface="Times New Roman"/>
                <a:cs typeface="Times New Roman"/>
              </a:rPr>
              <a:t>=</a:t>
            </a:r>
            <a:r>
              <a:rPr sz="1800" spc="-20" dirty="0">
                <a:solidFill>
                  <a:srgbClr val="221F1F"/>
                </a:solidFill>
                <a:latin typeface="Times New Roman"/>
                <a:cs typeface="Times New Roman"/>
              </a:rPr>
              <a:t> </a:t>
            </a:r>
            <a:r>
              <a:rPr sz="1800" i="1" spc="-20" dirty="0">
                <a:solidFill>
                  <a:srgbClr val="221F1F"/>
                </a:solidFill>
                <a:latin typeface="Times New Roman"/>
                <a:cs typeface="Times New Roman"/>
              </a:rPr>
              <a:t>J3N?</a:t>
            </a:r>
            <a:endParaRPr sz="1800">
              <a:latin typeface="Times New Roman"/>
              <a:cs typeface="Times New Roman"/>
            </a:endParaRPr>
          </a:p>
          <a:p>
            <a:pPr marL="12700" marR="6985" indent="319405" algn="just">
              <a:lnSpc>
                <a:spcPct val="120000"/>
              </a:lnSpc>
              <a:buAutoNum type="alphaLcParenBoth" startAt="2"/>
              <a:tabLst>
                <a:tab pos="332105" algn="l"/>
              </a:tabLst>
            </a:pPr>
            <a:r>
              <a:rPr sz="1800" dirty="0">
                <a:solidFill>
                  <a:srgbClr val="221F1F"/>
                </a:solidFill>
                <a:latin typeface="Times New Roman"/>
                <a:cs typeface="Times New Roman"/>
              </a:rPr>
              <a:t>What</a:t>
            </a:r>
            <a:r>
              <a:rPr sz="1800" spc="-5" dirty="0">
                <a:solidFill>
                  <a:srgbClr val="221F1F"/>
                </a:solidFill>
                <a:latin typeface="Times New Roman"/>
                <a:cs typeface="Times New Roman"/>
              </a:rPr>
              <a:t> </a:t>
            </a:r>
            <a:r>
              <a:rPr sz="1800" dirty="0">
                <a:solidFill>
                  <a:srgbClr val="221F1F"/>
                </a:solidFill>
                <a:latin typeface="Times New Roman"/>
                <a:cs typeface="Times New Roman"/>
              </a:rPr>
              <a:t>is</a:t>
            </a:r>
            <a:r>
              <a:rPr sz="1800" spc="-5" dirty="0">
                <a:solidFill>
                  <a:srgbClr val="221F1F"/>
                </a:solidFill>
                <a:latin typeface="Times New Roman"/>
                <a:cs typeface="Times New Roman"/>
              </a:rPr>
              <a:t> </a:t>
            </a:r>
            <a:r>
              <a:rPr sz="1800" dirty="0">
                <a:solidFill>
                  <a:srgbClr val="221F1F"/>
                </a:solidFill>
                <a:latin typeface="Times New Roman"/>
                <a:cs typeface="Times New Roman"/>
              </a:rPr>
              <a:t>the</a:t>
            </a:r>
            <a:r>
              <a:rPr sz="1800" spc="-5" dirty="0">
                <a:solidFill>
                  <a:srgbClr val="221F1F"/>
                </a:solidFill>
                <a:latin typeface="Times New Roman"/>
                <a:cs typeface="Times New Roman"/>
              </a:rPr>
              <a:t> </a:t>
            </a:r>
            <a:r>
              <a:rPr sz="1800" dirty="0">
                <a:solidFill>
                  <a:srgbClr val="221F1F"/>
                </a:solidFill>
                <a:latin typeface="Times New Roman"/>
                <a:cs typeface="Times New Roman"/>
              </a:rPr>
              <a:t>average</a:t>
            </a:r>
            <a:r>
              <a:rPr sz="1800" spc="-15" dirty="0">
                <a:solidFill>
                  <a:srgbClr val="221F1F"/>
                </a:solidFill>
                <a:latin typeface="Times New Roman"/>
                <a:cs typeface="Times New Roman"/>
              </a:rPr>
              <a:t> </a:t>
            </a:r>
            <a:r>
              <a:rPr sz="1800" dirty="0">
                <a:solidFill>
                  <a:srgbClr val="221F1F"/>
                </a:solidFill>
                <a:latin typeface="Times New Roman"/>
                <a:cs typeface="Times New Roman"/>
              </a:rPr>
              <a:t>distance</a:t>
            </a:r>
            <a:r>
              <a:rPr sz="1800" spc="-15" dirty="0">
                <a:solidFill>
                  <a:srgbClr val="221F1F"/>
                </a:solidFill>
                <a:latin typeface="Times New Roman"/>
                <a:cs typeface="Times New Roman"/>
              </a:rPr>
              <a:t> </a:t>
            </a:r>
            <a:r>
              <a:rPr sz="1800" dirty="0">
                <a:solidFill>
                  <a:srgbClr val="221F1F"/>
                </a:solidFill>
                <a:latin typeface="Times New Roman"/>
                <a:cs typeface="Times New Roman"/>
              </a:rPr>
              <a:t>(in</a:t>
            </a:r>
            <a:r>
              <a:rPr sz="1800" spc="-10" dirty="0">
                <a:solidFill>
                  <a:srgbClr val="221F1F"/>
                </a:solidFill>
                <a:latin typeface="Times New Roman"/>
                <a:cs typeface="Times New Roman"/>
              </a:rPr>
              <a:t> </a:t>
            </a:r>
            <a:r>
              <a:rPr sz="1800" dirty="0">
                <a:solidFill>
                  <a:srgbClr val="221F1F"/>
                </a:solidFill>
                <a:latin typeface="Times New Roman"/>
                <a:cs typeface="Times New Roman"/>
              </a:rPr>
              <a:t>terms</a:t>
            </a:r>
            <a:r>
              <a:rPr sz="1800" spc="-5" dirty="0">
                <a:solidFill>
                  <a:srgbClr val="221F1F"/>
                </a:solidFill>
                <a:latin typeface="Times New Roman"/>
                <a:cs typeface="Times New Roman"/>
              </a:rPr>
              <a:t> </a:t>
            </a:r>
            <a:r>
              <a:rPr sz="1800" dirty="0">
                <a:solidFill>
                  <a:srgbClr val="221F1F"/>
                </a:solidFill>
                <a:latin typeface="Times New Roman"/>
                <a:cs typeface="Times New Roman"/>
              </a:rPr>
              <a:t>of</a:t>
            </a:r>
            <a:r>
              <a:rPr sz="1800" spc="-15" dirty="0">
                <a:solidFill>
                  <a:srgbClr val="221F1F"/>
                </a:solidFill>
                <a:latin typeface="Times New Roman"/>
                <a:cs typeface="Times New Roman"/>
              </a:rPr>
              <a:t> </a:t>
            </a:r>
            <a:r>
              <a:rPr sz="1800" dirty="0">
                <a:solidFill>
                  <a:srgbClr val="221F1F"/>
                </a:solidFill>
                <a:latin typeface="Times New Roman"/>
                <a:cs typeface="Times New Roman"/>
              </a:rPr>
              <a:t>R) between</a:t>
            </a:r>
            <a:r>
              <a:rPr sz="1800" spc="-15" dirty="0">
                <a:solidFill>
                  <a:srgbClr val="221F1F"/>
                </a:solidFill>
                <a:latin typeface="Times New Roman"/>
                <a:cs typeface="Times New Roman"/>
              </a:rPr>
              <a:t> </a:t>
            </a:r>
            <a:r>
              <a:rPr sz="1800" dirty="0">
                <a:solidFill>
                  <a:srgbClr val="221F1F"/>
                </a:solidFill>
                <a:latin typeface="Times New Roman"/>
                <a:cs typeface="Times New Roman"/>
              </a:rPr>
              <a:t>the</a:t>
            </a:r>
            <a:r>
              <a:rPr sz="1800" spc="-5" dirty="0">
                <a:solidFill>
                  <a:srgbClr val="221F1F"/>
                </a:solidFill>
                <a:latin typeface="Times New Roman"/>
                <a:cs typeface="Times New Roman"/>
              </a:rPr>
              <a:t> </a:t>
            </a:r>
            <a:r>
              <a:rPr sz="1800" dirty="0">
                <a:solidFill>
                  <a:srgbClr val="221F1F"/>
                </a:solidFill>
                <a:latin typeface="Times New Roman"/>
                <a:cs typeface="Times New Roman"/>
              </a:rPr>
              <a:t>mobile</a:t>
            </a:r>
            <a:r>
              <a:rPr sz="1800" spc="-5" dirty="0">
                <a:solidFill>
                  <a:srgbClr val="221F1F"/>
                </a:solidFill>
                <a:latin typeface="Times New Roman"/>
                <a:cs typeface="Times New Roman"/>
              </a:rPr>
              <a:t> </a:t>
            </a:r>
            <a:r>
              <a:rPr sz="1800" dirty="0">
                <a:solidFill>
                  <a:srgbClr val="221F1F"/>
                </a:solidFill>
                <a:latin typeface="Times New Roman"/>
                <a:cs typeface="Times New Roman"/>
              </a:rPr>
              <a:t>on</a:t>
            </a:r>
            <a:r>
              <a:rPr sz="1800" spc="-5" dirty="0">
                <a:solidFill>
                  <a:srgbClr val="221F1F"/>
                </a:solidFill>
                <a:latin typeface="Times New Roman"/>
                <a:cs typeface="Times New Roman"/>
              </a:rPr>
              <a:t> </a:t>
            </a:r>
            <a:r>
              <a:rPr sz="1800" dirty="0">
                <a:solidFill>
                  <a:srgbClr val="221F1F"/>
                </a:solidFill>
                <a:latin typeface="Times New Roman"/>
                <a:cs typeface="Times New Roman"/>
              </a:rPr>
              <a:t>the fringe</a:t>
            </a:r>
            <a:r>
              <a:rPr sz="1800" spc="-10" dirty="0">
                <a:solidFill>
                  <a:srgbClr val="221F1F"/>
                </a:solidFill>
                <a:latin typeface="Times New Roman"/>
                <a:cs typeface="Times New Roman"/>
              </a:rPr>
              <a:t> </a:t>
            </a:r>
            <a:r>
              <a:rPr sz="1800" dirty="0">
                <a:solidFill>
                  <a:srgbClr val="221F1F"/>
                </a:solidFill>
                <a:latin typeface="Times New Roman"/>
                <a:cs typeface="Times New Roman"/>
              </a:rPr>
              <a:t>of</a:t>
            </a:r>
            <a:r>
              <a:rPr sz="1800" spc="-15" dirty="0">
                <a:solidFill>
                  <a:srgbClr val="221F1F"/>
                </a:solidFill>
                <a:latin typeface="Times New Roman"/>
                <a:cs typeface="Times New Roman"/>
              </a:rPr>
              <a:t> </a:t>
            </a:r>
            <a:r>
              <a:rPr sz="1800" spc="-25" dirty="0">
                <a:solidFill>
                  <a:srgbClr val="221F1F"/>
                </a:solidFill>
                <a:latin typeface="Times New Roman"/>
                <a:cs typeface="Times New Roman"/>
              </a:rPr>
              <a:t>the </a:t>
            </a:r>
            <a:r>
              <a:rPr sz="1800" dirty="0">
                <a:solidFill>
                  <a:srgbClr val="221F1F"/>
                </a:solidFill>
                <a:latin typeface="Times New Roman"/>
                <a:cs typeface="Times New Roman"/>
              </a:rPr>
              <a:t>serving</a:t>
            </a:r>
            <a:r>
              <a:rPr sz="1800" spc="-35" dirty="0">
                <a:solidFill>
                  <a:srgbClr val="221F1F"/>
                </a:solidFill>
                <a:latin typeface="Times New Roman"/>
                <a:cs typeface="Times New Roman"/>
              </a:rPr>
              <a:t> </a:t>
            </a:r>
            <a:r>
              <a:rPr sz="1800" dirty="0">
                <a:solidFill>
                  <a:srgbClr val="221F1F"/>
                </a:solidFill>
                <a:latin typeface="Times New Roman"/>
                <a:cs typeface="Times New Roman"/>
              </a:rPr>
              <a:t>cell</a:t>
            </a:r>
            <a:r>
              <a:rPr sz="1800" spc="-30" dirty="0">
                <a:solidFill>
                  <a:srgbClr val="221F1F"/>
                </a:solidFill>
                <a:latin typeface="Times New Roman"/>
                <a:cs typeface="Times New Roman"/>
              </a:rPr>
              <a:t> </a:t>
            </a:r>
            <a:r>
              <a:rPr sz="1800" dirty="0">
                <a:solidFill>
                  <a:srgbClr val="221F1F"/>
                </a:solidFill>
                <a:latin typeface="Times New Roman"/>
                <a:cs typeface="Times New Roman"/>
              </a:rPr>
              <a:t>and</a:t>
            </a:r>
            <a:r>
              <a:rPr sz="1800" spc="-25" dirty="0">
                <a:solidFill>
                  <a:srgbClr val="221F1F"/>
                </a:solidFill>
                <a:latin typeface="Times New Roman"/>
                <a:cs typeface="Times New Roman"/>
              </a:rPr>
              <a:t> </a:t>
            </a:r>
            <a:r>
              <a:rPr sz="1800" dirty="0">
                <a:solidFill>
                  <a:srgbClr val="221F1F"/>
                </a:solidFill>
                <a:latin typeface="Times New Roman"/>
                <a:cs typeface="Times New Roman"/>
              </a:rPr>
              <a:t>the</a:t>
            </a:r>
            <a:r>
              <a:rPr sz="1800" spc="-20" dirty="0">
                <a:solidFill>
                  <a:srgbClr val="221F1F"/>
                </a:solidFill>
                <a:latin typeface="Times New Roman"/>
                <a:cs typeface="Times New Roman"/>
              </a:rPr>
              <a:t> </a:t>
            </a:r>
            <a:r>
              <a:rPr sz="1800" dirty="0">
                <a:solidFill>
                  <a:srgbClr val="221F1F"/>
                </a:solidFill>
                <a:latin typeface="Times New Roman"/>
                <a:cs typeface="Times New Roman"/>
              </a:rPr>
              <a:t>second</a:t>
            </a:r>
            <a:r>
              <a:rPr sz="1800" spc="-15" dirty="0">
                <a:solidFill>
                  <a:srgbClr val="221F1F"/>
                </a:solidFill>
                <a:latin typeface="Times New Roman"/>
                <a:cs typeface="Times New Roman"/>
              </a:rPr>
              <a:t> </a:t>
            </a:r>
            <a:r>
              <a:rPr sz="1800" dirty="0">
                <a:solidFill>
                  <a:srgbClr val="221F1F"/>
                </a:solidFill>
                <a:latin typeface="Times New Roman"/>
                <a:cs typeface="Times New Roman"/>
              </a:rPr>
              <a:t>and</a:t>
            </a:r>
            <a:r>
              <a:rPr sz="1800" spc="-25" dirty="0">
                <a:solidFill>
                  <a:srgbClr val="221F1F"/>
                </a:solidFill>
                <a:latin typeface="Times New Roman"/>
                <a:cs typeface="Times New Roman"/>
              </a:rPr>
              <a:t> </a:t>
            </a:r>
            <a:r>
              <a:rPr sz="1800" dirty="0">
                <a:solidFill>
                  <a:srgbClr val="221F1F"/>
                </a:solidFill>
                <a:latin typeface="Times New Roman"/>
                <a:cs typeface="Times New Roman"/>
              </a:rPr>
              <a:t>third</a:t>
            </a:r>
            <a:r>
              <a:rPr sz="1800" spc="-25" dirty="0">
                <a:solidFill>
                  <a:srgbClr val="221F1F"/>
                </a:solidFill>
                <a:latin typeface="Times New Roman"/>
                <a:cs typeface="Times New Roman"/>
              </a:rPr>
              <a:t> </a:t>
            </a:r>
            <a:r>
              <a:rPr sz="1800" dirty="0">
                <a:solidFill>
                  <a:srgbClr val="221F1F"/>
                </a:solidFill>
                <a:latin typeface="Times New Roman"/>
                <a:cs typeface="Times New Roman"/>
              </a:rPr>
              <a:t>tier</a:t>
            </a:r>
            <a:r>
              <a:rPr sz="1800" spc="-30" dirty="0">
                <a:solidFill>
                  <a:srgbClr val="221F1F"/>
                </a:solidFill>
                <a:latin typeface="Times New Roman"/>
                <a:cs typeface="Times New Roman"/>
              </a:rPr>
              <a:t> </a:t>
            </a:r>
            <a:r>
              <a:rPr sz="1800" dirty="0">
                <a:solidFill>
                  <a:srgbClr val="221F1F"/>
                </a:solidFill>
                <a:latin typeface="Times New Roman"/>
                <a:cs typeface="Times New Roman"/>
              </a:rPr>
              <a:t>of</a:t>
            </a:r>
            <a:r>
              <a:rPr sz="1800" spc="-15" dirty="0">
                <a:solidFill>
                  <a:srgbClr val="221F1F"/>
                </a:solidFill>
                <a:latin typeface="Times New Roman"/>
                <a:cs typeface="Times New Roman"/>
              </a:rPr>
              <a:t> </a:t>
            </a:r>
            <a:r>
              <a:rPr sz="1800" spc="-10" dirty="0">
                <a:solidFill>
                  <a:srgbClr val="221F1F"/>
                </a:solidFill>
                <a:latin typeface="Times New Roman"/>
                <a:cs typeface="Times New Roman"/>
              </a:rPr>
              <a:t>co-</a:t>
            </a:r>
            <a:r>
              <a:rPr sz="1800" dirty="0">
                <a:solidFill>
                  <a:srgbClr val="221F1F"/>
                </a:solidFill>
                <a:latin typeface="Times New Roman"/>
                <a:cs typeface="Times New Roman"/>
              </a:rPr>
              <a:t>channel</a:t>
            </a:r>
            <a:r>
              <a:rPr sz="1800" spc="-40"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35" dirty="0">
                <a:solidFill>
                  <a:srgbClr val="221F1F"/>
                </a:solidFill>
                <a:latin typeface="Times New Roman"/>
                <a:cs typeface="Times New Roman"/>
              </a:rPr>
              <a:t> </a:t>
            </a:r>
            <a:r>
              <a:rPr sz="1800" dirty="0">
                <a:solidFill>
                  <a:srgbClr val="221F1F"/>
                </a:solidFill>
                <a:latin typeface="Times New Roman"/>
                <a:cs typeface="Times New Roman"/>
              </a:rPr>
              <a:t>and</a:t>
            </a:r>
            <a:r>
              <a:rPr sz="1800" spc="-15" dirty="0">
                <a:solidFill>
                  <a:srgbClr val="221F1F"/>
                </a:solidFill>
                <a:latin typeface="Times New Roman"/>
                <a:cs typeface="Times New Roman"/>
              </a:rPr>
              <a:t> </a:t>
            </a:r>
            <a:r>
              <a:rPr sz="1800" dirty="0">
                <a:solidFill>
                  <a:srgbClr val="221F1F"/>
                </a:solidFill>
                <a:latin typeface="Times New Roman"/>
                <a:cs typeface="Times New Roman"/>
              </a:rPr>
              <a:t>how</a:t>
            </a:r>
            <a:r>
              <a:rPr sz="1800" spc="-30" dirty="0">
                <a:solidFill>
                  <a:srgbClr val="221F1F"/>
                </a:solidFill>
                <a:latin typeface="Times New Roman"/>
                <a:cs typeface="Times New Roman"/>
              </a:rPr>
              <a:t> </a:t>
            </a:r>
            <a:r>
              <a:rPr sz="1800" dirty="0">
                <a:solidFill>
                  <a:srgbClr val="221F1F"/>
                </a:solidFill>
                <a:latin typeface="Times New Roman"/>
                <a:cs typeface="Times New Roman"/>
              </a:rPr>
              <a:t>many</a:t>
            </a:r>
            <a:r>
              <a:rPr sz="1800" spc="-5"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30" dirty="0">
                <a:solidFill>
                  <a:srgbClr val="221F1F"/>
                </a:solidFill>
                <a:latin typeface="Times New Roman"/>
                <a:cs typeface="Times New Roman"/>
              </a:rPr>
              <a:t> </a:t>
            </a:r>
            <a:r>
              <a:rPr sz="1800" dirty="0">
                <a:solidFill>
                  <a:srgbClr val="221F1F"/>
                </a:solidFill>
                <a:latin typeface="Times New Roman"/>
                <a:cs typeface="Times New Roman"/>
              </a:rPr>
              <a:t>are</a:t>
            </a:r>
            <a:r>
              <a:rPr sz="1800" spc="-20" dirty="0">
                <a:solidFill>
                  <a:srgbClr val="221F1F"/>
                </a:solidFill>
                <a:latin typeface="Times New Roman"/>
                <a:cs typeface="Times New Roman"/>
              </a:rPr>
              <a:t> </a:t>
            </a:r>
            <a:r>
              <a:rPr sz="1800" spc="-25" dirty="0">
                <a:solidFill>
                  <a:srgbClr val="221F1F"/>
                </a:solidFill>
                <a:latin typeface="Times New Roman"/>
                <a:cs typeface="Times New Roman"/>
              </a:rPr>
              <a:t>in </a:t>
            </a:r>
            <a:r>
              <a:rPr sz="1800" dirty="0">
                <a:solidFill>
                  <a:srgbClr val="221F1F"/>
                </a:solidFill>
                <a:latin typeface="Times New Roman"/>
                <a:cs typeface="Times New Roman"/>
              </a:rPr>
              <a:t>the</a:t>
            </a:r>
            <a:r>
              <a:rPr sz="1800" spc="75" dirty="0">
                <a:solidFill>
                  <a:srgbClr val="221F1F"/>
                </a:solidFill>
                <a:latin typeface="Times New Roman"/>
                <a:cs typeface="Times New Roman"/>
              </a:rPr>
              <a:t> </a:t>
            </a:r>
            <a:r>
              <a:rPr sz="1800" dirty="0">
                <a:solidFill>
                  <a:srgbClr val="221F1F"/>
                </a:solidFill>
                <a:latin typeface="Times New Roman"/>
                <a:cs typeface="Times New Roman"/>
              </a:rPr>
              <a:t>second</a:t>
            </a:r>
            <a:r>
              <a:rPr sz="1800" spc="65" dirty="0">
                <a:solidFill>
                  <a:srgbClr val="221F1F"/>
                </a:solidFill>
                <a:latin typeface="Times New Roman"/>
                <a:cs typeface="Times New Roman"/>
              </a:rPr>
              <a:t> </a:t>
            </a:r>
            <a:r>
              <a:rPr sz="1800" dirty="0">
                <a:solidFill>
                  <a:srgbClr val="221F1F"/>
                </a:solidFill>
                <a:latin typeface="Times New Roman"/>
                <a:cs typeface="Times New Roman"/>
              </a:rPr>
              <a:t>and</a:t>
            </a:r>
            <a:r>
              <a:rPr sz="1800" spc="75" dirty="0">
                <a:solidFill>
                  <a:srgbClr val="221F1F"/>
                </a:solidFill>
                <a:latin typeface="Times New Roman"/>
                <a:cs typeface="Times New Roman"/>
              </a:rPr>
              <a:t> </a:t>
            </a:r>
            <a:r>
              <a:rPr sz="1800" dirty="0">
                <a:solidFill>
                  <a:srgbClr val="221F1F"/>
                </a:solidFill>
                <a:latin typeface="Times New Roman"/>
                <a:cs typeface="Times New Roman"/>
              </a:rPr>
              <a:t>third</a:t>
            </a:r>
            <a:r>
              <a:rPr sz="1800" spc="80" dirty="0">
                <a:solidFill>
                  <a:srgbClr val="221F1F"/>
                </a:solidFill>
                <a:latin typeface="Times New Roman"/>
                <a:cs typeface="Times New Roman"/>
              </a:rPr>
              <a:t> </a:t>
            </a:r>
            <a:r>
              <a:rPr sz="1800" dirty="0">
                <a:solidFill>
                  <a:srgbClr val="221F1F"/>
                </a:solidFill>
                <a:latin typeface="Times New Roman"/>
                <a:cs typeface="Times New Roman"/>
              </a:rPr>
              <a:t>tier</a:t>
            </a:r>
            <a:r>
              <a:rPr sz="1800" spc="60" dirty="0">
                <a:solidFill>
                  <a:srgbClr val="221F1F"/>
                </a:solidFill>
                <a:latin typeface="Times New Roman"/>
                <a:cs typeface="Times New Roman"/>
              </a:rPr>
              <a:t> </a:t>
            </a:r>
            <a:r>
              <a:rPr sz="1800" dirty="0">
                <a:solidFill>
                  <a:srgbClr val="221F1F"/>
                </a:solidFill>
                <a:latin typeface="Times New Roman"/>
                <a:cs typeface="Times New Roman"/>
              </a:rPr>
              <a:t>of</a:t>
            </a:r>
            <a:r>
              <a:rPr sz="1800" spc="75" dirty="0">
                <a:solidFill>
                  <a:srgbClr val="221F1F"/>
                </a:solidFill>
                <a:latin typeface="Times New Roman"/>
                <a:cs typeface="Times New Roman"/>
              </a:rPr>
              <a:t> </a:t>
            </a:r>
            <a:r>
              <a:rPr sz="1800" spc="-20" dirty="0">
                <a:solidFill>
                  <a:srgbClr val="221F1F"/>
                </a:solidFill>
                <a:latin typeface="Times New Roman"/>
                <a:cs typeface="Times New Roman"/>
              </a:rPr>
              <a:t>co-</a:t>
            </a:r>
            <a:r>
              <a:rPr sz="1800" dirty="0">
                <a:solidFill>
                  <a:srgbClr val="221F1F"/>
                </a:solidFill>
                <a:latin typeface="Times New Roman"/>
                <a:cs typeface="Times New Roman"/>
              </a:rPr>
              <a:t>channel</a:t>
            </a:r>
            <a:r>
              <a:rPr sz="1800" spc="65"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75" dirty="0">
                <a:solidFill>
                  <a:srgbClr val="221F1F"/>
                </a:solidFill>
                <a:latin typeface="Times New Roman"/>
                <a:cs typeface="Times New Roman"/>
              </a:rPr>
              <a:t> </a:t>
            </a:r>
            <a:r>
              <a:rPr sz="1800" dirty="0">
                <a:solidFill>
                  <a:srgbClr val="221F1F"/>
                </a:solidFill>
                <a:latin typeface="Times New Roman"/>
                <a:cs typeface="Times New Roman"/>
              </a:rPr>
              <a:t>for</a:t>
            </a:r>
            <a:r>
              <a:rPr sz="1800" spc="50" dirty="0">
                <a:solidFill>
                  <a:srgbClr val="221F1F"/>
                </a:solidFill>
                <a:latin typeface="Times New Roman"/>
                <a:cs typeface="Times New Roman"/>
              </a:rPr>
              <a:t> </a:t>
            </a:r>
            <a:r>
              <a:rPr sz="1800" dirty="0">
                <a:solidFill>
                  <a:srgbClr val="221F1F"/>
                </a:solidFill>
                <a:latin typeface="Times New Roman"/>
                <a:cs typeface="Times New Roman"/>
              </a:rPr>
              <a:t>the</a:t>
            </a:r>
            <a:r>
              <a:rPr sz="1800" spc="65" dirty="0">
                <a:solidFill>
                  <a:srgbClr val="221F1F"/>
                </a:solidFill>
                <a:latin typeface="Times New Roman"/>
                <a:cs typeface="Times New Roman"/>
              </a:rPr>
              <a:t> </a:t>
            </a:r>
            <a:r>
              <a:rPr sz="1800" dirty="0">
                <a:solidFill>
                  <a:srgbClr val="221F1F"/>
                </a:solidFill>
                <a:latin typeface="Times New Roman"/>
                <a:cs typeface="Times New Roman"/>
              </a:rPr>
              <a:t>cases</a:t>
            </a:r>
            <a:r>
              <a:rPr sz="1800" spc="65" dirty="0">
                <a:solidFill>
                  <a:srgbClr val="221F1F"/>
                </a:solidFill>
                <a:latin typeface="Times New Roman"/>
                <a:cs typeface="Times New Roman"/>
              </a:rPr>
              <a:t> </a:t>
            </a:r>
            <a:r>
              <a:rPr sz="1800" dirty="0">
                <a:solidFill>
                  <a:srgbClr val="221F1F"/>
                </a:solidFill>
                <a:latin typeface="Times New Roman"/>
                <a:cs typeface="Times New Roman"/>
              </a:rPr>
              <a:t>of</a:t>
            </a:r>
            <a:r>
              <a:rPr sz="1800" spc="5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60" dirty="0">
                <a:solidFill>
                  <a:srgbClr val="221F1F"/>
                </a:solidFill>
                <a:latin typeface="Times New Roman"/>
                <a:cs typeface="Times New Roman"/>
              </a:rPr>
              <a:t> </a:t>
            </a:r>
            <a:r>
              <a:rPr sz="1800" dirty="0">
                <a:solidFill>
                  <a:srgbClr val="221F1F"/>
                </a:solidFill>
                <a:latin typeface="Times New Roman"/>
                <a:cs typeface="Times New Roman"/>
              </a:rPr>
              <a:t>=</a:t>
            </a:r>
            <a:r>
              <a:rPr sz="1800" spc="65" dirty="0">
                <a:solidFill>
                  <a:srgbClr val="221F1F"/>
                </a:solidFill>
                <a:latin typeface="Times New Roman"/>
                <a:cs typeface="Times New Roman"/>
              </a:rPr>
              <a:t> </a:t>
            </a:r>
            <a:r>
              <a:rPr sz="1800" dirty="0">
                <a:solidFill>
                  <a:srgbClr val="221F1F"/>
                </a:solidFill>
                <a:latin typeface="Times New Roman"/>
                <a:cs typeface="Times New Roman"/>
              </a:rPr>
              <a:t>1,</a:t>
            </a:r>
            <a:r>
              <a:rPr sz="1800" spc="6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60" dirty="0">
                <a:solidFill>
                  <a:srgbClr val="221F1F"/>
                </a:solidFill>
                <a:latin typeface="Times New Roman"/>
                <a:cs typeface="Times New Roman"/>
              </a:rPr>
              <a:t> </a:t>
            </a:r>
            <a:r>
              <a:rPr sz="1800" dirty="0">
                <a:solidFill>
                  <a:srgbClr val="221F1F"/>
                </a:solidFill>
                <a:latin typeface="Times New Roman"/>
                <a:cs typeface="Times New Roman"/>
              </a:rPr>
              <a:t>=</a:t>
            </a:r>
            <a:r>
              <a:rPr sz="1800" spc="70" dirty="0">
                <a:solidFill>
                  <a:srgbClr val="221F1F"/>
                </a:solidFill>
                <a:latin typeface="Times New Roman"/>
                <a:cs typeface="Times New Roman"/>
              </a:rPr>
              <a:t> </a:t>
            </a:r>
            <a:r>
              <a:rPr sz="1800" dirty="0">
                <a:solidFill>
                  <a:srgbClr val="221F1F"/>
                </a:solidFill>
                <a:latin typeface="Times New Roman"/>
                <a:cs typeface="Times New Roman"/>
              </a:rPr>
              <a:t>3,</a:t>
            </a:r>
            <a:r>
              <a:rPr sz="1800" spc="8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50" dirty="0">
                <a:solidFill>
                  <a:srgbClr val="221F1F"/>
                </a:solidFill>
                <a:latin typeface="Times New Roman"/>
                <a:cs typeface="Times New Roman"/>
              </a:rPr>
              <a:t> </a:t>
            </a:r>
            <a:r>
              <a:rPr sz="1800" dirty="0">
                <a:solidFill>
                  <a:srgbClr val="221F1F"/>
                </a:solidFill>
                <a:latin typeface="Times New Roman"/>
                <a:cs typeface="Times New Roman"/>
              </a:rPr>
              <a:t>=4,</a:t>
            </a:r>
            <a:r>
              <a:rPr sz="1800" spc="5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70" dirty="0">
                <a:solidFill>
                  <a:srgbClr val="221F1F"/>
                </a:solidFill>
                <a:latin typeface="Times New Roman"/>
                <a:cs typeface="Times New Roman"/>
              </a:rPr>
              <a:t> </a:t>
            </a:r>
            <a:r>
              <a:rPr sz="1800" spc="-25" dirty="0">
                <a:solidFill>
                  <a:srgbClr val="221F1F"/>
                </a:solidFill>
                <a:latin typeface="Times New Roman"/>
                <a:cs typeface="Times New Roman"/>
              </a:rPr>
              <a:t>=7,</a:t>
            </a:r>
            <a:endParaRPr sz="18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33</a:t>
            </a:fld>
            <a:endParaRPr spc="-25" dirty="0"/>
          </a:p>
        </p:txBody>
      </p:sp>
      <p:sp>
        <p:nvSpPr>
          <p:cNvPr id="4" name="object 4"/>
          <p:cNvSpPr txBox="1"/>
          <p:nvPr/>
        </p:nvSpPr>
        <p:spPr>
          <a:xfrm>
            <a:off x="726440" y="6278879"/>
            <a:ext cx="2308860" cy="278765"/>
          </a:xfrm>
          <a:prstGeom prst="rect">
            <a:avLst/>
          </a:prstGeom>
        </p:spPr>
        <p:txBody>
          <a:bodyPr vert="horz" wrap="square" lIns="0" tIns="0" rIns="0" bIns="0" rtlCol="0">
            <a:spAutoFit/>
          </a:bodyPr>
          <a:lstStyle/>
          <a:p>
            <a:pPr marL="12700">
              <a:lnSpc>
                <a:spcPts val="2065"/>
              </a:lnSpc>
            </a:pPr>
            <a:r>
              <a:rPr sz="1800" dirty="0">
                <a:solidFill>
                  <a:srgbClr val="221F1F"/>
                </a:solidFill>
                <a:latin typeface="Times New Roman"/>
                <a:cs typeface="Times New Roman"/>
              </a:rPr>
              <a:t>and</a:t>
            </a:r>
            <a:r>
              <a:rPr sz="1800" spc="-1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10" dirty="0">
                <a:solidFill>
                  <a:srgbClr val="221F1F"/>
                </a:solidFill>
                <a:latin typeface="Times New Roman"/>
                <a:cs typeface="Times New Roman"/>
              </a:rPr>
              <a:t> </a:t>
            </a:r>
            <a:r>
              <a:rPr sz="1800" dirty="0">
                <a:solidFill>
                  <a:srgbClr val="221F1F"/>
                </a:solidFill>
                <a:latin typeface="Times New Roman"/>
                <a:cs typeface="Times New Roman"/>
              </a:rPr>
              <a:t>=</a:t>
            </a:r>
            <a:r>
              <a:rPr sz="1800" spc="-20" dirty="0">
                <a:solidFill>
                  <a:srgbClr val="221F1F"/>
                </a:solidFill>
                <a:latin typeface="Times New Roman"/>
                <a:cs typeface="Times New Roman"/>
              </a:rPr>
              <a:t> </a:t>
            </a:r>
            <a:r>
              <a:rPr sz="1800" dirty="0">
                <a:solidFill>
                  <a:srgbClr val="221F1F"/>
                </a:solidFill>
                <a:latin typeface="Times New Roman"/>
                <a:cs typeface="Times New Roman"/>
              </a:rPr>
              <a:t>12</a:t>
            </a:r>
            <a:r>
              <a:rPr sz="1800" spc="-25" dirty="0">
                <a:solidFill>
                  <a:srgbClr val="221F1F"/>
                </a:solidFill>
                <a:latin typeface="Times New Roman"/>
                <a:cs typeface="Times New Roman"/>
              </a:rPr>
              <a:t> </a:t>
            </a:r>
            <a:r>
              <a:rPr sz="1800" dirty="0">
                <a:solidFill>
                  <a:srgbClr val="221F1F"/>
                </a:solidFill>
                <a:latin typeface="Times New Roman"/>
                <a:cs typeface="Times New Roman"/>
              </a:rPr>
              <a:t>cluster</a:t>
            </a:r>
            <a:r>
              <a:rPr sz="1800" spc="-10" dirty="0">
                <a:solidFill>
                  <a:srgbClr val="221F1F"/>
                </a:solidFill>
                <a:latin typeface="Times New Roman"/>
                <a:cs typeface="Times New Roman"/>
              </a:rPr>
              <a:t> sizes?</a:t>
            </a:r>
            <a:endParaRPr sz="180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554"/>
            <a:ext cx="8073390" cy="2550160"/>
          </a:xfrm>
          <a:prstGeom prst="rect">
            <a:avLst/>
          </a:prstGeom>
        </p:spPr>
        <p:txBody>
          <a:bodyPr vert="horz" wrap="square" lIns="0" tIns="12700" rIns="0" bIns="0" rtlCol="0">
            <a:spAutoFit/>
          </a:bodyPr>
          <a:lstStyle/>
          <a:p>
            <a:pPr marL="325755" marR="5080" indent="-313055" algn="just">
              <a:lnSpc>
                <a:spcPct val="100000"/>
              </a:lnSpc>
              <a:spcBef>
                <a:spcPts val="100"/>
              </a:spcBef>
              <a:buAutoNum type="alphaLcParenBoth" startAt="3"/>
              <a:tabLst>
                <a:tab pos="355600" algn="l"/>
              </a:tabLst>
            </a:pPr>
            <a:r>
              <a:rPr sz="1800" dirty="0">
                <a:solidFill>
                  <a:srgbClr val="221F1F"/>
                </a:solidFill>
                <a:latin typeface="Times New Roman"/>
                <a:cs typeface="Times New Roman"/>
              </a:rPr>
              <a:t>Determine</a:t>
            </a:r>
            <a:r>
              <a:rPr sz="1800" spc="-1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5" dirty="0">
                <a:solidFill>
                  <a:srgbClr val="221F1F"/>
                </a:solidFill>
                <a:latin typeface="Times New Roman"/>
                <a:cs typeface="Times New Roman"/>
              </a:rPr>
              <a:t> </a:t>
            </a:r>
            <a:r>
              <a:rPr sz="1800" dirty="0">
                <a:solidFill>
                  <a:srgbClr val="221F1F"/>
                </a:solidFill>
                <a:latin typeface="Times New Roman"/>
                <a:cs typeface="Times New Roman"/>
              </a:rPr>
              <a:t>forward</a:t>
            </a:r>
            <a:r>
              <a:rPr sz="1800" spc="-20" dirty="0">
                <a:solidFill>
                  <a:srgbClr val="221F1F"/>
                </a:solidFill>
                <a:latin typeface="Times New Roman"/>
                <a:cs typeface="Times New Roman"/>
              </a:rPr>
              <a:t> </a:t>
            </a:r>
            <a:r>
              <a:rPr sz="1800" dirty="0">
                <a:solidFill>
                  <a:srgbClr val="221F1F"/>
                </a:solidFill>
                <a:latin typeface="Times New Roman"/>
                <a:cs typeface="Times New Roman"/>
              </a:rPr>
              <a:t>link</a:t>
            </a:r>
            <a:r>
              <a:rPr sz="1800" spc="-20" dirty="0">
                <a:solidFill>
                  <a:srgbClr val="221F1F"/>
                </a:solidFill>
                <a:latin typeface="Times New Roman"/>
                <a:cs typeface="Times New Roman"/>
              </a:rPr>
              <a:t> </a:t>
            </a:r>
            <a:r>
              <a:rPr sz="1800" dirty="0">
                <a:solidFill>
                  <a:srgbClr val="221F1F"/>
                </a:solidFill>
                <a:latin typeface="Times New Roman"/>
                <a:cs typeface="Times New Roman"/>
              </a:rPr>
              <a:t>Cll</a:t>
            </a:r>
            <a:r>
              <a:rPr sz="1800" spc="-5" dirty="0">
                <a:solidFill>
                  <a:srgbClr val="221F1F"/>
                </a:solidFill>
                <a:latin typeface="Times New Roman"/>
                <a:cs typeface="Times New Roman"/>
              </a:rPr>
              <a:t> </a:t>
            </a:r>
            <a:r>
              <a:rPr sz="1800" dirty="0">
                <a:solidFill>
                  <a:srgbClr val="221F1F"/>
                </a:solidFill>
                <a:latin typeface="Times New Roman"/>
                <a:cs typeface="Times New Roman"/>
              </a:rPr>
              <a:t>for</a:t>
            </a:r>
            <a:r>
              <a:rPr sz="1800" spc="-40" dirty="0">
                <a:solidFill>
                  <a:srgbClr val="221F1F"/>
                </a:solidFill>
                <a:latin typeface="Times New Roman"/>
                <a:cs typeface="Times New Roman"/>
              </a:rPr>
              <a:t> </a:t>
            </a:r>
            <a:r>
              <a:rPr sz="1800" dirty="0">
                <a:solidFill>
                  <a:srgbClr val="221F1F"/>
                </a:solidFill>
                <a:latin typeface="Times New Roman"/>
                <a:cs typeface="Times New Roman"/>
              </a:rPr>
              <a:t>the</a:t>
            </a:r>
            <a:r>
              <a:rPr sz="1800" spc="-15" dirty="0">
                <a:solidFill>
                  <a:srgbClr val="221F1F"/>
                </a:solidFill>
                <a:latin typeface="Times New Roman"/>
                <a:cs typeface="Times New Roman"/>
              </a:rPr>
              <a:t> </a:t>
            </a:r>
            <a:r>
              <a:rPr sz="1800" dirty="0">
                <a:solidFill>
                  <a:srgbClr val="221F1F"/>
                </a:solidFill>
                <a:latin typeface="Times New Roman"/>
                <a:cs typeface="Times New Roman"/>
              </a:rPr>
              <a:t>following</a:t>
            </a:r>
            <a:r>
              <a:rPr sz="1800" spc="-10" dirty="0">
                <a:solidFill>
                  <a:srgbClr val="221F1F"/>
                </a:solidFill>
                <a:latin typeface="Times New Roman"/>
                <a:cs typeface="Times New Roman"/>
              </a:rPr>
              <a:t> </a:t>
            </a:r>
            <a:r>
              <a:rPr sz="1800" dirty="0">
                <a:solidFill>
                  <a:srgbClr val="221F1F"/>
                </a:solidFill>
                <a:latin typeface="Times New Roman"/>
                <a:cs typeface="Times New Roman"/>
              </a:rPr>
              <a:t>frequency</a:t>
            </a:r>
            <a:r>
              <a:rPr sz="1800" spc="-10" dirty="0">
                <a:solidFill>
                  <a:srgbClr val="221F1F"/>
                </a:solidFill>
                <a:latin typeface="Times New Roman"/>
                <a:cs typeface="Times New Roman"/>
              </a:rPr>
              <a:t> </a:t>
            </a:r>
            <a:r>
              <a:rPr sz="1800" dirty="0">
                <a:solidFill>
                  <a:srgbClr val="221F1F"/>
                </a:solidFill>
                <a:latin typeface="Times New Roman"/>
                <a:cs typeface="Times New Roman"/>
              </a:rPr>
              <a:t>reuse</a:t>
            </a:r>
            <a:r>
              <a:rPr sz="1800" spc="-10" dirty="0">
                <a:solidFill>
                  <a:srgbClr val="221F1F"/>
                </a:solidFill>
                <a:latin typeface="Times New Roman"/>
                <a:cs typeface="Times New Roman"/>
              </a:rPr>
              <a:t> </a:t>
            </a:r>
            <a:r>
              <a:rPr sz="1800" dirty="0">
                <a:solidFill>
                  <a:srgbClr val="221F1F"/>
                </a:solidFill>
                <a:latin typeface="Times New Roman"/>
                <a:cs typeface="Times New Roman"/>
              </a:rPr>
              <a:t>designs:</a:t>
            </a:r>
            <a:r>
              <a:rPr sz="1800" spc="-2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25" dirty="0">
                <a:solidFill>
                  <a:srgbClr val="221F1F"/>
                </a:solidFill>
                <a:latin typeface="Times New Roman"/>
                <a:cs typeface="Times New Roman"/>
              </a:rPr>
              <a:t> </a:t>
            </a:r>
            <a:r>
              <a:rPr sz="1800" dirty="0">
                <a:solidFill>
                  <a:srgbClr val="221F1F"/>
                </a:solidFill>
                <a:latin typeface="Times New Roman"/>
                <a:cs typeface="Times New Roman"/>
              </a:rPr>
              <a:t>=1,</a:t>
            </a:r>
            <a:r>
              <a:rPr sz="1800" spc="-1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40" dirty="0">
                <a:solidFill>
                  <a:srgbClr val="221F1F"/>
                </a:solidFill>
                <a:latin typeface="Times New Roman"/>
                <a:cs typeface="Times New Roman"/>
              </a:rPr>
              <a:t> </a:t>
            </a:r>
            <a:r>
              <a:rPr sz="1800" spc="-50" dirty="0">
                <a:solidFill>
                  <a:srgbClr val="221F1F"/>
                </a:solidFill>
                <a:latin typeface="Times New Roman"/>
                <a:cs typeface="Times New Roman"/>
              </a:rPr>
              <a:t>= 	</a:t>
            </a:r>
            <a:r>
              <a:rPr sz="1800" dirty="0">
                <a:solidFill>
                  <a:srgbClr val="221F1F"/>
                </a:solidFill>
                <a:latin typeface="Times New Roman"/>
                <a:cs typeface="Times New Roman"/>
              </a:rPr>
              <a:t>3,</a:t>
            </a:r>
            <a:r>
              <a:rPr sz="1800" spc="2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15" dirty="0">
                <a:solidFill>
                  <a:srgbClr val="221F1F"/>
                </a:solidFill>
                <a:latin typeface="Times New Roman"/>
                <a:cs typeface="Times New Roman"/>
              </a:rPr>
              <a:t> </a:t>
            </a:r>
            <a:r>
              <a:rPr sz="1800" dirty="0">
                <a:solidFill>
                  <a:srgbClr val="221F1F"/>
                </a:solidFill>
                <a:latin typeface="Times New Roman"/>
                <a:cs typeface="Times New Roman"/>
              </a:rPr>
              <a:t>=4,</a:t>
            </a:r>
            <a:r>
              <a:rPr sz="1800" spc="30" dirty="0">
                <a:solidFill>
                  <a:srgbClr val="221F1F"/>
                </a:solidFill>
                <a:latin typeface="Times New Roman"/>
                <a:cs typeface="Times New Roman"/>
              </a:rPr>
              <a:t> </a:t>
            </a:r>
            <a:r>
              <a:rPr sz="1800" i="1" dirty="0">
                <a:solidFill>
                  <a:srgbClr val="221F1F"/>
                </a:solidFill>
                <a:latin typeface="Times New Roman"/>
                <a:cs typeface="Times New Roman"/>
              </a:rPr>
              <a:t>N </a:t>
            </a:r>
            <a:r>
              <a:rPr sz="1800" dirty="0">
                <a:solidFill>
                  <a:srgbClr val="221F1F"/>
                </a:solidFill>
                <a:latin typeface="Times New Roman"/>
                <a:cs typeface="Times New Roman"/>
              </a:rPr>
              <a:t>=</a:t>
            </a:r>
            <a:r>
              <a:rPr sz="1800" spc="30" dirty="0">
                <a:solidFill>
                  <a:srgbClr val="221F1F"/>
                </a:solidFill>
                <a:latin typeface="Times New Roman"/>
                <a:cs typeface="Times New Roman"/>
              </a:rPr>
              <a:t> </a:t>
            </a:r>
            <a:r>
              <a:rPr sz="1800" dirty="0">
                <a:solidFill>
                  <a:srgbClr val="221F1F"/>
                </a:solidFill>
                <a:latin typeface="Times New Roman"/>
                <a:cs typeface="Times New Roman"/>
              </a:rPr>
              <a:t>7,</a:t>
            </a:r>
            <a:r>
              <a:rPr sz="1800" spc="20" dirty="0">
                <a:solidFill>
                  <a:srgbClr val="221F1F"/>
                </a:solidFill>
                <a:latin typeface="Times New Roman"/>
                <a:cs typeface="Times New Roman"/>
              </a:rPr>
              <a:t> </a:t>
            </a:r>
            <a:r>
              <a:rPr sz="1800" dirty="0">
                <a:solidFill>
                  <a:srgbClr val="221F1F"/>
                </a:solidFill>
                <a:latin typeface="Times New Roman"/>
                <a:cs typeface="Times New Roman"/>
              </a:rPr>
              <a:t>and</a:t>
            </a:r>
            <a:r>
              <a:rPr sz="1800" spc="25"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10" dirty="0">
                <a:solidFill>
                  <a:srgbClr val="221F1F"/>
                </a:solidFill>
                <a:latin typeface="Times New Roman"/>
                <a:cs typeface="Times New Roman"/>
              </a:rPr>
              <a:t> </a:t>
            </a:r>
            <a:r>
              <a:rPr sz="1800" dirty="0">
                <a:solidFill>
                  <a:srgbClr val="221F1F"/>
                </a:solidFill>
                <a:latin typeface="Times New Roman"/>
                <a:cs typeface="Times New Roman"/>
              </a:rPr>
              <a:t>=</a:t>
            </a:r>
            <a:r>
              <a:rPr sz="1800" spc="25" dirty="0">
                <a:solidFill>
                  <a:srgbClr val="221F1F"/>
                </a:solidFill>
                <a:latin typeface="Times New Roman"/>
                <a:cs typeface="Times New Roman"/>
              </a:rPr>
              <a:t> </a:t>
            </a:r>
            <a:r>
              <a:rPr sz="1800" dirty="0">
                <a:solidFill>
                  <a:srgbClr val="221F1F"/>
                </a:solidFill>
                <a:latin typeface="Times New Roman"/>
                <a:cs typeface="Times New Roman"/>
              </a:rPr>
              <a:t>12.</a:t>
            </a:r>
            <a:r>
              <a:rPr sz="1800" spc="30" dirty="0">
                <a:solidFill>
                  <a:srgbClr val="221F1F"/>
                </a:solidFill>
                <a:latin typeface="Times New Roman"/>
                <a:cs typeface="Times New Roman"/>
              </a:rPr>
              <a:t> </a:t>
            </a:r>
            <a:r>
              <a:rPr sz="1800" dirty="0">
                <a:solidFill>
                  <a:srgbClr val="221F1F"/>
                </a:solidFill>
                <a:latin typeface="Times New Roman"/>
                <a:cs typeface="Times New Roman"/>
              </a:rPr>
              <a:t>Assume</a:t>
            </a:r>
            <a:r>
              <a:rPr sz="1800" spc="30" dirty="0">
                <a:solidFill>
                  <a:srgbClr val="221F1F"/>
                </a:solidFill>
                <a:latin typeface="Times New Roman"/>
                <a:cs typeface="Times New Roman"/>
              </a:rPr>
              <a:t> </a:t>
            </a:r>
            <a:r>
              <a:rPr sz="1800" dirty="0">
                <a:solidFill>
                  <a:srgbClr val="221F1F"/>
                </a:solidFill>
                <a:latin typeface="Times New Roman"/>
                <a:cs typeface="Times New Roman"/>
              </a:rPr>
              <a:t>that</a:t>
            </a:r>
            <a:r>
              <a:rPr sz="1800" spc="2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0" dirty="0">
                <a:solidFill>
                  <a:srgbClr val="221F1F"/>
                </a:solidFill>
                <a:latin typeface="Times New Roman"/>
                <a:cs typeface="Times New Roman"/>
              </a:rPr>
              <a:t> </a:t>
            </a:r>
            <a:r>
              <a:rPr sz="1800" dirty="0">
                <a:solidFill>
                  <a:srgbClr val="221F1F"/>
                </a:solidFill>
                <a:latin typeface="Times New Roman"/>
                <a:cs typeface="Times New Roman"/>
              </a:rPr>
              <a:t>propagation</a:t>
            </a:r>
            <a:r>
              <a:rPr sz="1800" spc="20" dirty="0">
                <a:solidFill>
                  <a:srgbClr val="221F1F"/>
                </a:solidFill>
                <a:latin typeface="Times New Roman"/>
                <a:cs typeface="Times New Roman"/>
              </a:rPr>
              <a:t> </a:t>
            </a:r>
            <a:r>
              <a:rPr sz="1800" dirty="0">
                <a:solidFill>
                  <a:srgbClr val="221F1F"/>
                </a:solidFill>
                <a:latin typeface="Times New Roman"/>
                <a:cs typeface="Times New Roman"/>
              </a:rPr>
              <a:t>path</a:t>
            </a:r>
            <a:r>
              <a:rPr sz="1800" spc="25" dirty="0">
                <a:solidFill>
                  <a:srgbClr val="221F1F"/>
                </a:solidFill>
                <a:latin typeface="Times New Roman"/>
                <a:cs typeface="Times New Roman"/>
              </a:rPr>
              <a:t> </a:t>
            </a:r>
            <a:r>
              <a:rPr sz="1800" dirty="0">
                <a:solidFill>
                  <a:srgbClr val="221F1F"/>
                </a:solidFill>
                <a:latin typeface="Times New Roman"/>
                <a:cs typeface="Times New Roman"/>
              </a:rPr>
              <a:t>loss</a:t>
            </a:r>
            <a:r>
              <a:rPr sz="1800" spc="5"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35" dirty="0">
                <a:solidFill>
                  <a:srgbClr val="221F1F"/>
                </a:solidFill>
                <a:latin typeface="Times New Roman"/>
                <a:cs typeface="Times New Roman"/>
              </a:rPr>
              <a:t> </a:t>
            </a:r>
            <a:r>
              <a:rPr sz="1800" dirty="0">
                <a:solidFill>
                  <a:srgbClr val="221F1F"/>
                </a:solidFill>
                <a:latin typeface="Times New Roman"/>
                <a:cs typeface="Times New Roman"/>
              </a:rPr>
              <a:t>is</a:t>
            </a:r>
            <a:r>
              <a:rPr sz="1800" spc="10" dirty="0">
                <a:solidFill>
                  <a:srgbClr val="221F1F"/>
                </a:solidFill>
                <a:latin typeface="Times New Roman"/>
                <a:cs typeface="Times New Roman"/>
              </a:rPr>
              <a:t> </a:t>
            </a:r>
            <a:r>
              <a:rPr sz="1800" spc="-10" dirty="0">
                <a:solidFill>
                  <a:srgbClr val="221F1F"/>
                </a:solidFill>
                <a:latin typeface="Times New Roman"/>
                <a:cs typeface="Times New Roman"/>
              </a:rPr>
              <a:t>four, 	</a:t>
            </a:r>
            <a:r>
              <a:rPr sz="1800" dirty="0">
                <a:solidFill>
                  <a:srgbClr val="221F1F"/>
                </a:solidFill>
                <a:latin typeface="Times New Roman"/>
                <a:cs typeface="Times New Roman"/>
              </a:rPr>
              <a:t>and</a:t>
            </a:r>
            <a:r>
              <a:rPr sz="1800" spc="60" dirty="0">
                <a:solidFill>
                  <a:srgbClr val="221F1F"/>
                </a:solidFill>
                <a:latin typeface="Times New Roman"/>
                <a:cs typeface="Times New Roman"/>
              </a:rPr>
              <a:t> </a:t>
            </a:r>
            <a:r>
              <a:rPr sz="1800" dirty="0">
                <a:solidFill>
                  <a:srgbClr val="221F1F"/>
                </a:solidFill>
                <a:latin typeface="Times New Roman"/>
                <a:cs typeface="Times New Roman"/>
              </a:rPr>
              <a:t>evaluate</a:t>
            </a:r>
            <a:r>
              <a:rPr sz="1800" spc="50" dirty="0">
                <a:solidFill>
                  <a:srgbClr val="221F1F"/>
                </a:solidFill>
                <a:latin typeface="Times New Roman"/>
                <a:cs typeface="Times New Roman"/>
              </a:rPr>
              <a:t> </a:t>
            </a:r>
            <a:r>
              <a:rPr sz="1800" dirty="0">
                <a:solidFill>
                  <a:srgbClr val="221F1F"/>
                </a:solidFill>
                <a:latin typeface="Times New Roman"/>
                <a:cs typeface="Times New Roman"/>
              </a:rPr>
              <a:t>the</a:t>
            </a:r>
            <a:r>
              <a:rPr sz="1800" spc="55" dirty="0">
                <a:solidFill>
                  <a:srgbClr val="221F1F"/>
                </a:solidFill>
                <a:latin typeface="Times New Roman"/>
                <a:cs typeface="Times New Roman"/>
              </a:rPr>
              <a:t> </a:t>
            </a:r>
            <a:r>
              <a:rPr sz="1800" dirty="0">
                <a:solidFill>
                  <a:srgbClr val="221F1F"/>
                </a:solidFill>
                <a:latin typeface="Times New Roman"/>
                <a:cs typeface="Times New Roman"/>
              </a:rPr>
              <a:t>S/1</a:t>
            </a:r>
            <a:r>
              <a:rPr sz="1800" spc="50" dirty="0">
                <a:solidFill>
                  <a:srgbClr val="221F1F"/>
                </a:solidFill>
                <a:latin typeface="Times New Roman"/>
                <a:cs typeface="Times New Roman"/>
              </a:rPr>
              <a:t> </a:t>
            </a:r>
            <a:r>
              <a:rPr sz="1800" dirty="0">
                <a:solidFill>
                  <a:srgbClr val="221F1F"/>
                </a:solidFill>
                <a:latin typeface="Times New Roman"/>
                <a:cs typeface="Times New Roman"/>
              </a:rPr>
              <a:t>contribution</a:t>
            </a:r>
            <a:r>
              <a:rPr sz="1800" spc="55" dirty="0">
                <a:solidFill>
                  <a:srgbClr val="221F1F"/>
                </a:solidFill>
                <a:latin typeface="Times New Roman"/>
                <a:cs typeface="Times New Roman"/>
              </a:rPr>
              <a:t> </a:t>
            </a:r>
            <a:r>
              <a:rPr sz="1800" dirty="0">
                <a:solidFill>
                  <a:srgbClr val="221F1F"/>
                </a:solidFill>
                <a:latin typeface="Times New Roman"/>
                <a:cs typeface="Times New Roman"/>
              </a:rPr>
              <a:t>due</a:t>
            </a:r>
            <a:r>
              <a:rPr sz="1800" spc="45" dirty="0">
                <a:solidFill>
                  <a:srgbClr val="221F1F"/>
                </a:solidFill>
                <a:latin typeface="Times New Roman"/>
                <a:cs typeface="Times New Roman"/>
              </a:rPr>
              <a:t> </a:t>
            </a:r>
            <a:r>
              <a:rPr sz="1800" dirty="0">
                <a:solidFill>
                  <a:srgbClr val="221F1F"/>
                </a:solidFill>
                <a:latin typeface="Times New Roman"/>
                <a:cs typeface="Times New Roman"/>
              </a:rPr>
              <a:t>to</a:t>
            </a:r>
            <a:r>
              <a:rPr sz="1800" spc="45" dirty="0">
                <a:solidFill>
                  <a:srgbClr val="221F1F"/>
                </a:solidFill>
                <a:latin typeface="Times New Roman"/>
                <a:cs typeface="Times New Roman"/>
              </a:rPr>
              <a:t> </a:t>
            </a:r>
            <a:r>
              <a:rPr sz="1800" dirty="0">
                <a:solidFill>
                  <a:srgbClr val="221F1F"/>
                </a:solidFill>
                <a:latin typeface="Times New Roman"/>
                <a:cs typeface="Times New Roman"/>
              </a:rPr>
              <a:t>just</a:t>
            </a:r>
            <a:r>
              <a:rPr sz="1800" spc="55" dirty="0">
                <a:solidFill>
                  <a:srgbClr val="221F1F"/>
                </a:solidFill>
                <a:latin typeface="Times New Roman"/>
                <a:cs typeface="Times New Roman"/>
              </a:rPr>
              <a:t> </a:t>
            </a:r>
            <a:r>
              <a:rPr sz="1800" dirty="0">
                <a:solidFill>
                  <a:srgbClr val="221F1F"/>
                </a:solidFill>
                <a:latin typeface="Times New Roman"/>
                <a:cs typeface="Times New Roman"/>
              </a:rPr>
              <a:t>the</a:t>
            </a:r>
            <a:r>
              <a:rPr sz="1800" spc="55" dirty="0">
                <a:solidFill>
                  <a:srgbClr val="221F1F"/>
                </a:solidFill>
                <a:latin typeface="Times New Roman"/>
                <a:cs typeface="Times New Roman"/>
              </a:rPr>
              <a:t> </a:t>
            </a:r>
            <a:r>
              <a:rPr sz="1800" dirty="0">
                <a:solidFill>
                  <a:srgbClr val="221F1F"/>
                </a:solidFill>
                <a:latin typeface="Times New Roman"/>
                <a:cs typeface="Times New Roman"/>
              </a:rPr>
              <a:t>first</a:t>
            </a:r>
            <a:r>
              <a:rPr sz="1800" spc="60" dirty="0">
                <a:solidFill>
                  <a:srgbClr val="221F1F"/>
                </a:solidFill>
                <a:latin typeface="Times New Roman"/>
                <a:cs typeface="Times New Roman"/>
              </a:rPr>
              <a:t> </a:t>
            </a:r>
            <a:r>
              <a:rPr sz="1800" dirty="0">
                <a:solidFill>
                  <a:srgbClr val="221F1F"/>
                </a:solidFill>
                <a:latin typeface="Times New Roman"/>
                <a:cs typeface="Times New Roman"/>
              </a:rPr>
              <a:t>tier</a:t>
            </a:r>
            <a:r>
              <a:rPr sz="1800" spc="45" dirty="0">
                <a:solidFill>
                  <a:srgbClr val="221F1F"/>
                </a:solidFill>
                <a:latin typeface="Times New Roman"/>
                <a:cs typeface="Times New Roman"/>
              </a:rPr>
              <a:t> </a:t>
            </a:r>
            <a:r>
              <a:rPr sz="1800" dirty="0">
                <a:solidFill>
                  <a:srgbClr val="221F1F"/>
                </a:solidFill>
                <a:latin typeface="Times New Roman"/>
                <a:cs typeface="Times New Roman"/>
              </a:rPr>
              <a:t>and</a:t>
            </a:r>
            <a:r>
              <a:rPr sz="1800" spc="50" dirty="0">
                <a:solidFill>
                  <a:srgbClr val="221F1F"/>
                </a:solidFill>
                <a:latin typeface="Times New Roman"/>
                <a:cs typeface="Times New Roman"/>
              </a:rPr>
              <a:t> </a:t>
            </a:r>
            <a:r>
              <a:rPr sz="1800" dirty="0">
                <a:solidFill>
                  <a:srgbClr val="221F1F"/>
                </a:solidFill>
                <a:latin typeface="Times New Roman"/>
                <a:cs typeface="Times New Roman"/>
              </a:rPr>
              <a:t>then</a:t>
            </a:r>
            <a:r>
              <a:rPr sz="1800" spc="45" dirty="0">
                <a:solidFill>
                  <a:srgbClr val="221F1F"/>
                </a:solidFill>
                <a:latin typeface="Times New Roman"/>
                <a:cs typeface="Times New Roman"/>
              </a:rPr>
              <a:t> </a:t>
            </a:r>
            <a:r>
              <a:rPr sz="1800" dirty="0">
                <a:solidFill>
                  <a:srgbClr val="221F1F"/>
                </a:solidFill>
                <a:latin typeface="Times New Roman"/>
                <a:cs typeface="Times New Roman"/>
              </a:rPr>
              <a:t>due</a:t>
            </a:r>
            <a:r>
              <a:rPr sz="1800" spc="55" dirty="0">
                <a:solidFill>
                  <a:srgbClr val="221F1F"/>
                </a:solidFill>
                <a:latin typeface="Times New Roman"/>
                <a:cs typeface="Times New Roman"/>
              </a:rPr>
              <a:t> </a:t>
            </a:r>
            <a:r>
              <a:rPr sz="1800" dirty="0">
                <a:solidFill>
                  <a:srgbClr val="221F1F"/>
                </a:solidFill>
                <a:latin typeface="Times New Roman"/>
                <a:cs typeface="Times New Roman"/>
              </a:rPr>
              <a:t>to</a:t>
            </a:r>
            <a:r>
              <a:rPr sz="1800" spc="40" dirty="0">
                <a:solidFill>
                  <a:srgbClr val="221F1F"/>
                </a:solidFill>
                <a:latin typeface="Times New Roman"/>
                <a:cs typeface="Times New Roman"/>
              </a:rPr>
              <a:t> </a:t>
            </a:r>
            <a:r>
              <a:rPr sz="1800" spc="-10" dirty="0">
                <a:solidFill>
                  <a:srgbClr val="221F1F"/>
                </a:solidFill>
                <a:latin typeface="Times New Roman"/>
                <a:cs typeface="Times New Roman"/>
              </a:rPr>
              <a:t>additional 	</a:t>
            </a:r>
            <a:r>
              <a:rPr sz="1800" dirty="0">
                <a:solidFill>
                  <a:srgbClr val="221F1F"/>
                </a:solidFill>
                <a:latin typeface="Times New Roman"/>
                <a:cs typeface="Times New Roman"/>
              </a:rPr>
              <a:t>outer</a:t>
            </a:r>
            <a:r>
              <a:rPr sz="1800" spc="385" dirty="0">
                <a:solidFill>
                  <a:srgbClr val="221F1F"/>
                </a:solidFill>
                <a:latin typeface="Times New Roman"/>
                <a:cs typeface="Times New Roman"/>
              </a:rPr>
              <a:t> </a:t>
            </a:r>
            <a:r>
              <a:rPr sz="1800" dirty="0">
                <a:solidFill>
                  <a:srgbClr val="221F1F"/>
                </a:solidFill>
                <a:latin typeface="Times New Roman"/>
                <a:cs typeface="Times New Roman"/>
              </a:rPr>
              <a:t>tiers</a:t>
            </a:r>
            <a:r>
              <a:rPr sz="1800" spc="385" dirty="0">
                <a:solidFill>
                  <a:srgbClr val="221F1F"/>
                </a:solidFill>
                <a:latin typeface="Times New Roman"/>
                <a:cs typeface="Times New Roman"/>
              </a:rPr>
              <a:t> </a:t>
            </a:r>
            <a:r>
              <a:rPr sz="1800" dirty="0">
                <a:solidFill>
                  <a:srgbClr val="221F1F"/>
                </a:solidFill>
                <a:latin typeface="Times New Roman"/>
                <a:cs typeface="Times New Roman"/>
              </a:rPr>
              <a:t>of</a:t>
            </a:r>
            <a:r>
              <a:rPr sz="1800" spc="400" dirty="0">
                <a:solidFill>
                  <a:srgbClr val="221F1F"/>
                </a:solidFill>
                <a:latin typeface="Times New Roman"/>
                <a:cs typeface="Times New Roman"/>
              </a:rPr>
              <a:t> </a:t>
            </a:r>
            <a:r>
              <a:rPr sz="1800" spc="-20" dirty="0">
                <a:solidFill>
                  <a:srgbClr val="221F1F"/>
                </a:solidFill>
                <a:latin typeface="Times New Roman"/>
                <a:cs typeface="Times New Roman"/>
              </a:rPr>
              <a:t>co-</a:t>
            </a:r>
            <a:r>
              <a:rPr sz="1800" dirty="0">
                <a:solidFill>
                  <a:srgbClr val="221F1F"/>
                </a:solidFill>
                <a:latin typeface="Times New Roman"/>
                <a:cs typeface="Times New Roman"/>
              </a:rPr>
              <a:t>channel</a:t>
            </a:r>
            <a:r>
              <a:rPr sz="1800" spc="395" dirty="0">
                <a:solidFill>
                  <a:srgbClr val="221F1F"/>
                </a:solidFill>
                <a:latin typeface="Times New Roman"/>
                <a:cs typeface="Times New Roman"/>
              </a:rPr>
              <a:t> </a:t>
            </a:r>
            <a:r>
              <a:rPr sz="1800" dirty="0">
                <a:solidFill>
                  <a:srgbClr val="221F1F"/>
                </a:solidFill>
                <a:latin typeface="Times New Roman"/>
                <a:cs typeface="Times New Roman"/>
              </a:rPr>
              <a:t>cells.</a:t>
            </a:r>
            <a:r>
              <a:rPr sz="1800" spc="390" dirty="0">
                <a:solidFill>
                  <a:srgbClr val="221F1F"/>
                </a:solidFill>
                <a:latin typeface="Times New Roman"/>
                <a:cs typeface="Times New Roman"/>
              </a:rPr>
              <a:t> </a:t>
            </a:r>
            <a:r>
              <a:rPr sz="1800" dirty="0">
                <a:solidFill>
                  <a:srgbClr val="221F1F"/>
                </a:solidFill>
                <a:latin typeface="Times New Roman"/>
                <a:cs typeface="Times New Roman"/>
              </a:rPr>
              <a:t>Indicate</a:t>
            </a:r>
            <a:r>
              <a:rPr sz="1800" spc="395" dirty="0">
                <a:solidFill>
                  <a:srgbClr val="221F1F"/>
                </a:solidFill>
                <a:latin typeface="Times New Roman"/>
                <a:cs typeface="Times New Roman"/>
              </a:rPr>
              <a:t> </a:t>
            </a:r>
            <a:r>
              <a:rPr sz="1800" dirty="0">
                <a:solidFill>
                  <a:srgbClr val="221F1F"/>
                </a:solidFill>
                <a:latin typeface="Times New Roman"/>
                <a:cs typeface="Times New Roman"/>
              </a:rPr>
              <a:t>the</a:t>
            </a:r>
            <a:r>
              <a:rPr sz="1800" spc="400" dirty="0">
                <a:solidFill>
                  <a:srgbClr val="221F1F"/>
                </a:solidFill>
                <a:latin typeface="Times New Roman"/>
                <a:cs typeface="Times New Roman"/>
              </a:rPr>
              <a:t> </a:t>
            </a:r>
            <a:r>
              <a:rPr sz="1800" dirty="0">
                <a:solidFill>
                  <a:srgbClr val="221F1F"/>
                </a:solidFill>
                <a:latin typeface="Times New Roman"/>
                <a:cs typeface="Times New Roman"/>
              </a:rPr>
              <a:t>number</a:t>
            </a:r>
            <a:r>
              <a:rPr sz="1800" spc="405" dirty="0">
                <a:solidFill>
                  <a:srgbClr val="221F1F"/>
                </a:solidFill>
                <a:latin typeface="Times New Roman"/>
                <a:cs typeface="Times New Roman"/>
              </a:rPr>
              <a:t> </a:t>
            </a:r>
            <a:r>
              <a:rPr sz="1800" dirty="0">
                <a:solidFill>
                  <a:srgbClr val="221F1F"/>
                </a:solidFill>
                <a:latin typeface="Times New Roman"/>
                <a:cs typeface="Times New Roman"/>
              </a:rPr>
              <a:t>oftiers</a:t>
            </a:r>
            <a:r>
              <a:rPr sz="1800" spc="390" dirty="0">
                <a:solidFill>
                  <a:srgbClr val="221F1F"/>
                </a:solidFill>
                <a:latin typeface="Times New Roman"/>
                <a:cs typeface="Times New Roman"/>
              </a:rPr>
              <a:t> </a:t>
            </a:r>
            <a:r>
              <a:rPr sz="1800" dirty="0">
                <a:solidFill>
                  <a:srgbClr val="221F1F"/>
                </a:solidFill>
                <a:latin typeface="Times New Roman"/>
                <a:cs typeface="Times New Roman"/>
              </a:rPr>
              <a:t>at</a:t>
            </a:r>
            <a:r>
              <a:rPr sz="1800" spc="385" dirty="0">
                <a:solidFill>
                  <a:srgbClr val="221F1F"/>
                </a:solidFill>
                <a:latin typeface="Times New Roman"/>
                <a:cs typeface="Times New Roman"/>
              </a:rPr>
              <a:t> </a:t>
            </a:r>
            <a:r>
              <a:rPr sz="1800" dirty="0">
                <a:solidFill>
                  <a:srgbClr val="221F1F"/>
                </a:solidFill>
                <a:latin typeface="Times New Roman"/>
                <a:cs typeface="Times New Roman"/>
              </a:rPr>
              <a:t>which</a:t>
            </a:r>
            <a:r>
              <a:rPr sz="1800" spc="390" dirty="0">
                <a:solidFill>
                  <a:srgbClr val="221F1F"/>
                </a:solidFill>
                <a:latin typeface="Times New Roman"/>
                <a:cs typeface="Times New Roman"/>
              </a:rPr>
              <a:t> </a:t>
            </a:r>
            <a:r>
              <a:rPr sz="1800" dirty="0">
                <a:solidFill>
                  <a:srgbClr val="221F1F"/>
                </a:solidFill>
                <a:latin typeface="Times New Roman"/>
                <a:cs typeface="Times New Roman"/>
              </a:rPr>
              <a:t>there</a:t>
            </a:r>
            <a:r>
              <a:rPr sz="1800" spc="395" dirty="0">
                <a:solidFill>
                  <a:srgbClr val="221F1F"/>
                </a:solidFill>
                <a:latin typeface="Times New Roman"/>
                <a:cs typeface="Times New Roman"/>
              </a:rPr>
              <a:t> </a:t>
            </a:r>
            <a:r>
              <a:rPr sz="1800" dirty="0">
                <a:solidFill>
                  <a:srgbClr val="221F1F"/>
                </a:solidFill>
                <a:latin typeface="Times New Roman"/>
                <a:cs typeface="Times New Roman"/>
              </a:rPr>
              <a:t>is</a:t>
            </a:r>
            <a:r>
              <a:rPr sz="1800" spc="365" dirty="0">
                <a:solidFill>
                  <a:srgbClr val="221F1F"/>
                </a:solidFill>
                <a:latin typeface="Times New Roman"/>
                <a:cs typeface="Times New Roman"/>
              </a:rPr>
              <a:t> </a:t>
            </a:r>
            <a:r>
              <a:rPr sz="1800" spc="-50" dirty="0">
                <a:solidFill>
                  <a:srgbClr val="221F1F"/>
                </a:solidFill>
                <a:latin typeface="Times New Roman"/>
                <a:cs typeface="Times New Roman"/>
              </a:rPr>
              <a:t>a 	</a:t>
            </a:r>
            <a:r>
              <a:rPr sz="1800" dirty="0">
                <a:solidFill>
                  <a:srgbClr val="221F1F"/>
                </a:solidFill>
                <a:latin typeface="Times New Roman"/>
                <a:cs typeface="Times New Roman"/>
              </a:rPr>
              <a:t>diminishing</a:t>
            </a:r>
            <a:r>
              <a:rPr sz="1800" spc="-30" dirty="0">
                <a:solidFill>
                  <a:srgbClr val="221F1F"/>
                </a:solidFill>
                <a:latin typeface="Times New Roman"/>
                <a:cs typeface="Times New Roman"/>
              </a:rPr>
              <a:t> </a:t>
            </a:r>
            <a:r>
              <a:rPr sz="1800" dirty="0">
                <a:solidFill>
                  <a:srgbClr val="221F1F"/>
                </a:solidFill>
                <a:latin typeface="Times New Roman"/>
                <a:cs typeface="Times New Roman"/>
              </a:rPr>
              <a:t>contribution</a:t>
            </a:r>
            <a:r>
              <a:rPr sz="1800" spc="-35" dirty="0">
                <a:solidFill>
                  <a:srgbClr val="221F1F"/>
                </a:solidFill>
                <a:latin typeface="Times New Roman"/>
                <a:cs typeface="Times New Roman"/>
              </a:rPr>
              <a:t> </a:t>
            </a:r>
            <a:r>
              <a:rPr sz="1800" dirty="0">
                <a:solidFill>
                  <a:srgbClr val="221F1F"/>
                </a:solidFill>
                <a:latin typeface="Times New Roman"/>
                <a:cs typeface="Times New Roman"/>
              </a:rPr>
              <a:t>to</a:t>
            </a:r>
            <a:r>
              <a:rPr sz="1800" spc="-3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5" dirty="0">
                <a:solidFill>
                  <a:srgbClr val="221F1F"/>
                </a:solidFill>
                <a:latin typeface="Times New Roman"/>
                <a:cs typeface="Times New Roman"/>
              </a:rPr>
              <a:t> </a:t>
            </a:r>
            <a:r>
              <a:rPr sz="1800" dirty="0">
                <a:solidFill>
                  <a:srgbClr val="221F1F"/>
                </a:solidFill>
                <a:latin typeface="Times New Roman"/>
                <a:cs typeface="Times New Roman"/>
              </a:rPr>
              <a:t>interference</a:t>
            </a:r>
            <a:r>
              <a:rPr sz="1800" spc="-40" dirty="0">
                <a:solidFill>
                  <a:srgbClr val="221F1F"/>
                </a:solidFill>
                <a:latin typeface="Times New Roman"/>
                <a:cs typeface="Times New Roman"/>
              </a:rPr>
              <a:t> </a:t>
            </a:r>
            <a:r>
              <a:rPr sz="1800" dirty="0">
                <a:solidFill>
                  <a:srgbClr val="221F1F"/>
                </a:solidFill>
                <a:latin typeface="Times New Roman"/>
                <a:cs typeface="Times New Roman"/>
              </a:rPr>
              <a:t>at</a:t>
            </a:r>
            <a:r>
              <a:rPr sz="1800" spc="-25" dirty="0">
                <a:solidFill>
                  <a:srgbClr val="221F1F"/>
                </a:solidFill>
                <a:latin typeface="Times New Roman"/>
                <a:cs typeface="Times New Roman"/>
              </a:rPr>
              <a:t> </a:t>
            </a:r>
            <a:r>
              <a:rPr sz="1800" dirty="0">
                <a:solidFill>
                  <a:srgbClr val="221F1F"/>
                </a:solidFill>
                <a:latin typeface="Times New Roman"/>
                <a:cs typeface="Times New Roman"/>
              </a:rPr>
              <a:t>the</a:t>
            </a:r>
            <a:r>
              <a:rPr sz="1800" spc="-20" dirty="0">
                <a:solidFill>
                  <a:srgbClr val="221F1F"/>
                </a:solidFill>
                <a:latin typeface="Times New Roman"/>
                <a:cs typeface="Times New Roman"/>
              </a:rPr>
              <a:t> </a:t>
            </a:r>
            <a:r>
              <a:rPr sz="1800" spc="-10" dirty="0">
                <a:solidFill>
                  <a:srgbClr val="221F1F"/>
                </a:solidFill>
                <a:latin typeface="Times New Roman"/>
                <a:cs typeface="Times New Roman"/>
              </a:rPr>
              <a:t>mobile.</a:t>
            </a:r>
            <a:endParaRPr sz="1800">
              <a:latin typeface="Times New Roman"/>
              <a:cs typeface="Times New Roman"/>
            </a:endParaRPr>
          </a:p>
          <a:p>
            <a:pPr marL="355600" marR="5080" indent="-342900" algn="just">
              <a:lnSpc>
                <a:spcPct val="100000"/>
              </a:lnSpc>
              <a:spcBef>
                <a:spcPts val="430"/>
              </a:spcBef>
              <a:buAutoNum type="alphaLcParenBoth" startAt="3"/>
              <a:tabLst>
                <a:tab pos="355600" algn="l"/>
                <a:tab pos="371475" algn="l"/>
              </a:tabLst>
            </a:pPr>
            <a:r>
              <a:rPr sz="1800" dirty="0">
                <a:solidFill>
                  <a:srgbClr val="221F1F"/>
                </a:solidFill>
                <a:latin typeface="Times New Roman"/>
                <a:cs typeface="Times New Roman"/>
              </a:rPr>
              <a:t>	Repeat</a:t>
            </a:r>
            <a:r>
              <a:rPr sz="1800" spc="250" dirty="0">
                <a:solidFill>
                  <a:srgbClr val="221F1F"/>
                </a:solidFill>
                <a:latin typeface="Times New Roman"/>
                <a:cs typeface="Times New Roman"/>
              </a:rPr>
              <a:t> </a:t>
            </a:r>
            <a:r>
              <a:rPr sz="1800" dirty="0">
                <a:solidFill>
                  <a:srgbClr val="221F1F"/>
                </a:solidFill>
                <a:latin typeface="Times New Roman"/>
                <a:cs typeface="Times New Roman"/>
              </a:rPr>
              <a:t>part</a:t>
            </a:r>
            <a:r>
              <a:rPr sz="1800" spc="240" dirty="0">
                <a:solidFill>
                  <a:srgbClr val="221F1F"/>
                </a:solidFill>
                <a:latin typeface="Times New Roman"/>
                <a:cs typeface="Times New Roman"/>
              </a:rPr>
              <a:t> </a:t>
            </a:r>
            <a:r>
              <a:rPr sz="1800" dirty="0">
                <a:solidFill>
                  <a:srgbClr val="221F1F"/>
                </a:solidFill>
                <a:latin typeface="Times New Roman"/>
                <a:cs typeface="Times New Roman"/>
              </a:rPr>
              <a:t>(c),</a:t>
            </a:r>
            <a:r>
              <a:rPr sz="1800" spc="250" dirty="0">
                <a:solidFill>
                  <a:srgbClr val="221F1F"/>
                </a:solidFill>
                <a:latin typeface="Times New Roman"/>
                <a:cs typeface="Times New Roman"/>
              </a:rPr>
              <a:t> </a:t>
            </a:r>
            <a:r>
              <a:rPr sz="1800" dirty="0">
                <a:solidFill>
                  <a:srgbClr val="221F1F"/>
                </a:solidFill>
                <a:latin typeface="Times New Roman"/>
                <a:cs typeface="Times New Roman"/>
              </a:rPr>
              <a:t>except</a:t>
            </a:r>
            <a:r>
              <a:rPr sz="1800" spc="254" dirty="0">
                <a:solidFill>
                  <a:srgbClr val="221F1F"/>
                </a:solidFill>
                <a:latin typeface="Times New Roman"/>
                <a:cs typeface="Times New Roman"/>
              </a:rPr>
              <a:t> </a:t>
            </a:r>
            <a:r>
              <a:rPr sz="1800" dirty="0">
                <a:solidFill>
                  <a:srgbClr val="221F1F"/>
                </a:solidFill>
                <a:latin typeface="Times New Roman"/>
                <a:cs typeface="Times New Roman"/>
              </a:rPr>
              <a:t>now</a:t>
            </a:r>
            <a:r>
              <a:rPr sz="1800" spc="254" dirty="0">
                <a:solidFill>
                  <a:srgbClr val="221F1F"/>
                </a:solidFill>
                <a:latin typeface="Times New Roman"/>
                <a:cs typeface="Times New Roman"/>
              </a:rPr>
              <a:t> </a:t>
            </a:r>
            <a:r>
              <a:rPr sz="1800" dirty="0">
                <a:solidFill>
                  <a:srgbClr val="221F1F"/>
                </a:solidFill>
                <a:latin typeface="Times New Roman"/>
                <a:cs typeface="Times New Roman"/>
              </a:rPr>
              <a:t>consider</a:t>
            </a:r>
            <a:r>
              <a:rPr sz="1800" spc="250" dirty="0">
                <a:solidFill>
                  <a:srgbClr val="221F1F"/>
                </a:solidFill>
                <a:latin typeface="Times New Roman"/>
                <a:cs typeface="Times New Roman"/>
              </a:rPr>
              <a:t> </a:t>
            </a:r>
            <a:r>
              <a:rPr sz="1800" dirty="0">
                <a:solidFill>
                  <a:srgbClr val="221F1F"/>
                </a:solidFill>
                <a:latin typeface="Times New Roman"/>
                <a:cs typeface="Times New Roman"/>
              </a:rPr>
              <a:t>a</a:t>
            </a:r>
            <a:r>
              <a:rPr sz="1800" spc="250" dirty="0">
                <a:solidFill>
                  <a:srgbClr val="221F1F"/>
                </a:solidFill>
                <a:latin typeface="Times New Roman"/>
                <a:cs typeface="Times New Roman"/>
              </a:rPr>
              <a:t> </a:t>
            </a:r>
            <a:r>
              <a:rPr sz="1800" spc="-10" dirty="0">
                <a:solidFill>
                  <a:srgbClr val="221F1F"/>
                </a:solidFill>
                <a:latin typeface="Times New Roman"/>
                <a:cs typeface="Times New Roman"/>
              </a:rPr>
              <a:t>line-of-</a:t>
            </a:r>
            <a:r>
              <a:rPr sz="1800" dirty="0">
                <a:solidFill>
                  <a:srgbClr val="221F1F"/>
                </a:solidFill>
                <a:latin typeface="Times New Roman"/>
                <a:cs typeface="Times New Roman"/>
              </a:rPr>
              <a:t>sight</a:t>
            </a:r>
            <a:r>
              <a:rPr sz="1800" spc="265" dirty="0">
                <a:solidFill>
                  <a:srgbClr val="221F1F"/>
                </a:solidFill>
                <a:latin typeface="Times New Roman"/>
                <a:cs typeface="Times New Roman"/>
              </a:rPr>
              <a:t> </a:t>
            </a:r>
            <a:r>
              <a:rPr sz="1800" dirty="0">
                <a:solidFill>
                  <a:srgbClr val="221F1F"/>
                </a:solidFill>
                <a:latin typeface="Times New Roman"/>
                <a:cs typeface="Times New Roman"/>
              </a:rPr>
              <a:t>path</a:t>
            </a:r>
            <a:r>
              <a:rPr sz="1800" spc="245" dirty="0">
                <a:solidFill>
                  <a:srgbClr val="221F1F"/>
                </a:solidFill>
                <a:latin typeface="Times New Roman"/>
                <a:cs typeface="Times New Roman"/>
              </a:rPr>
              <a:t> </a:t>
            </a:r>
            <a:r>
              <a:rPr sz="1800" dirty="0">
                <a:solidFill>
                  <a:srgbClr val="221F1F"/>
                </a:solidFill>
                <a:latin typeface="Times New Roman"/>
                <a:cs typeface="Times New Roman"/>
              </a:rPr>
              <a:t>loss</a:t>
            </a:r>
            <a:r>
              <a:rPr sz="1800" spc="250"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250" dirty="0">
                <a:solidFill>
                  <a:srgbClr val="221F1F"/>
                </a:solidFill>
                <a:latin typeface="Times New Roman"/>
                <a:cs typeface="Times New Roman"/>
              </a:rPr>
              <a:t> </a:t>
            </a:r>
            <a:r>
              <a:rPr sz="1800" dirty="0">
                <a:solidFill>
                  <a:srgbClr val="221F1F"/>
                </a:solidFill>
                <a:latin typeface="Times New Roman"/>
                <a:cs typeface="Times New Roman"/>
              </a:rPr>
              <a:t>of</a:t>
            </a:r>
            <a:r>
              <a:rPr sz="1800" spc="250" dirty="0">
                <a:solidFill>
                  <a:srgbClr val="221F1F"/>
                </a:solidFill>
                <a:latin typeface="Times New Roman"/>
                <a:cs typeface="Times New Roman"/>
              </a:rPr>
              <a:t> </a:t>
            </a:r>
            <a:r>
              <a:rPr sz="1800" i="1" dirty="0">
                <a:solidFill>
                  <a:srgbClr val="221F1F"/>
                </a:solidFill>
                <a:latin typeface="Times New Roman"/>
                <a:cs typeface="Times New Roman"/>
              </a:rPr>
              <a:t>n</a:t>
            </a:r>
            <a:r>
              <a:rPr sz="1800" i="1" spc="254" dirty="0">
                <a:solidFill>
                  <a:srgbClr val="221F1F"/>
                </a:solidFill>
                <a:latin typeface="Times New Roman"/>
                <a:cs typeface="Times New Roman"/>
              </a:rPr>
              <a:t> </a:t>
            </a:r>
            <a:r>
              <a:rPr sz="1800" spc="-25" dirty="0">
                <a:solidFill>
                  <a:srgbClr val="221F1F"/>
                </a:solidFill>
                <a:latin typeface="Times New Roman"/>
                <a:cs typeface="Times New Roman"/>
              </a:rPr>
              <a:t>=2. </a:t>
            </a:r>
            <a:r>
              <a:rPr sz="1800" dirty="0">
                <a:solidFill>
                  <a:srgbClr val="221F1F"/>
                </a:solidFill>
                <a:latin typeface="Times New Roman"/>
                <a:cs typeface="Times New Roman"/>
              </a:rPr>
              <a:t>Notice</a:t>
            </a:r>
            <a:r>
              <a:rPr sz="1800" spc="160" dirty="0">
                <a:solidFill>
                  <a:srgbClr val="221F1F"/>
                </a:solidFill>
                <a:latin typeface="Times New Roman"/>
                <a:cs typeface="Times New Roman"/>
              </a:rPr>
              <a:t> </a:t>
            </a:r>
            <a:r>
              <a:rPr sz="1800" dirty="0">
                <a:solidFill>
                  <a:srgbClr val="221F1F"/>
                </a:solidFill>
                <a:latin typeface="Times New Roman"/>
                <a:cs typeface="Times New Roman"/>
              </a:rPr>
              <a:t>the</a:t>
            </a:r>
            <a:r>
              <a:rPr sz="1800" spc="170" dirty="0">
                <a:solidFill>
                  <a:srgbClr val="221F1F"/>
                </a:solidFill>
                <a:latin typeface="Times New Roman"/>
                <a:cs typeface="Times New Roman"/>
              </a:rPr>
              <a:t> </a:t>
            </a:r>
            <a:r>
              <a:rPr sz="1800" dirty="0">
                <a:solidFill>
                  <a:srgbClr val="221F1F"/>
                </a:solidFill>
                <a:latin typeface="Times New Roman"/>
                <a:cs typeface="Times New Roman"/>
              </a:rPr>
              <a:t>huge</a:t>
            </a:r>
            <a:r>
              <a:rPr sz="1800" spc="165" dirty="0">
                <a:solidFill>
                  <a:srgbClr val="221F1F"/>
                </a:solidFill>
                <a:latin typeface="Times New Roman"/>
                <a:cs typeface="Times New Roman"/>
              </a:rPr>
              <a:t> </a:t>
            </a:r>
            <a:r>
              <a:rPr sz="1800" dirty="0">
                <a:solidFill>
                  <a:srgbClr val="221F1F"/>
                </a:solidFill>
                <a:latin typeface="Times New Roman"/>
                <a:cs typeface="Times New Roman"/>
              </a:rPr>
              <a:t>impact</a:t>
            </a:r>
            <a:r>
              <a:rPr sz="1800" spc="150" dirty="0">
                <a:solidFill>
                  <a:srgbClr val="221F1F"/>
                </a:solidFill>
                <a:latin typeface="Times New Roman"/>
                <a:cs typeface="Times New Roman"/>
              </a:rPr>
              <a:t> </a:t>
            </a:r>
            <a:r>
              <a:rPr sz="1800" dirty="0">
                <a:solidFill>
                  <a:srgbClr val="221F1F"/>
                </a:solidFill>
                <a:latin typeface="Times New Roman"/>
                <a:cs typeface="Times New Roman"/>
              </a:rPr>
              <a:t>that</a:t>
            </a:r>
            <a:r>
              <a:rPr sz="1800" spc="165" dirty="0">
                <a:solidFill>
                  <a:srgbClr val="221F1F"/>
                </a:solidFill>
                <a:latin typeface="Times New Roman"/>
                <a:cs typeface="Times New Roman"/>
              </a:rPr>
              <a:t> </a:t>
            </a:r>
            <a:r>
              <a:rPr sz="1800" dirty="0">
                <a:solidFill>
                  <a:srgbClr val="221F1F"/>
                </a:solidFill>
                <a:latin typeface="Times New Roman"/>
                <a:cs typeface="Times New Roman"/>
              </a:rPr>
              <a:t>the</a:t>
            </a:r>
            <a:r>
              <a:rPr sz="1800" spc="160" dirty="0">
                <a:solidFill>
                  <a:srgbClr val="221F1F"/>
                </a:solidFill>
                <a:latin typeface="Times New Roman"/>
                <a:cs typeface="Times New Roman"/>
              </a:rPr>
              <a:t> </a:t>
            </a:r>
            <a:r>
              <a:rPr sz="1800" dirty="0">
                <a:solidFill>
                  <a:srgbClr val="221F1F"/>
                </a:solidFill>
                <a:latin typeface="Times New Roman"/>
                <a:cs typeface="Times New Roman"/>
              </a:rPr>
              <a:t>propagation</a:t>
            </a:r>
            <a:r>
              <a:rPr sz="1800" spc="160" dirty="0">
                <a:solidFill>
                  <a:srgbClr val="221F1F"/>
                </a:solidFill>
                <a:latin typeface="Times New Roman"/>
                <a:cs typeface="Times New Roman"/>
              </a:rPr>
              <a:t> </a:t>
            </a:r>
            <a:r>
              <a:rPr sz="1800" dirty="0">
                <a:solidFill>
                  <a:srgbClr val="221F1F"/>
                </a:solidFill>
                <a:latin typeface="Times New Roman"/>
                <a:cs typeface="Times New Roman"/>
              </a:rPr>
              <a:t>path</a:t>
            </a:r>
            <a:r>
              <a:rPr sz="1800" spc="175" dirty="0">
                <a:solidFill>
                  <a:srgbClr val="221F1F"/>
                </a:solidFill>
                <a:latin typeface="Times New Roman"/>
                <a:cs typeface="Times New Roman"/>
              </a:rPr>
              <a:t> </a:t>
            </a:r>
            <a:r>
              <a:rPr sz="1800" dirty="0">
                <a:solidFill>
                  <a:srgbClr val="221F1F"/>
                </a:solidFill>
                <a:latin typeface="Times New Roman"/>
                <a:cs typeface="Times New Roman"/>
              </a:rPr>
              <a:t>loss</a:t>
            </a:r>
            <a:r>
              <a:rPr sz="1800" spc="150"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155" dirty="0">
                <a:solidFill>
                  <a:srgbClr val="221F1F"/>
                </a:solidFill>
                <a:latin typeface="Times New Roman"/>
                <a:cs typeface="Times New Roman"/>
              </a:rPr>
              <a:t> </a:t>
            </a:r>
            <a:r>
              <a:rPr sz="1800" dirty="0">
                <a:solidFill>
                  <a:srgbClr val="221F1F"/>
                </a:solidFill>
                <a:latin typeface="Times New Roman"/>
                <a:cs typeface="Times New Roman"/>
              </a:rPr>
              <a:t>has</a:t>
            </a:r>
            <a:r>
              <a:rPr sz="1800" spc="165" dirty="0">
                <a:solidFill>
                  <a:srgbClr val="221F1F"/>
                </a:solidFill>
                <a:latin typeface="Times New Roman"/>
                <a:cs typeface="Times New Roman"/>
              </a:rPr>
              <a:t> </a:t>
            </a:r>
            <a:r>
              <a:rPr sz="1800" dirty="0">
                <a:solidFill>
                  <a:srgbClr val="221F1F"/>
                </a:solidFill>
                <a:latin typeface="Times New Roman"/>
                <a:cs typeface="Times New Roman"/>
              </a:rPr>
              <a:t>on</a:t>
            </a:r>
            <a:r>
              <a:rPr sz="1800" spc="160" dirty="0">
                <a:solidFill>
                  <a:srgbClr val="221F1F"/>
                </a:solidFill>
                <a:latin typeface="Times New Roman"/>
                <a:cs typeface="Times New Roman"/>
              </a:rPr>
              <a:t> </a:t>
            </a:r>
            <a:r>
              <a:rPr sz="1800" i="1" dirty="0">
                <a:solidFill>
                  <a:srgbClr val="221F1F"/>
                </a:solidFill>
                <a:latin typeface="Times New Roman"/>
                <a:cs typeface="Times New Roman"/>
              </a:rPr>
              <a:t>CII.</a:t>
            </a:r>
            <a:r>
              <a:rPr sz="1800" i="1" spc="160" dirty="0">
                <a:solidFill>
                  <a:srgbClr val="221F1F"/>
                </a:solidFill>
                <a:latin typeface="Times New Roman"/>
                <a:cs typeface="Times New Roman"/>
              </a:rPr>
              <a:t> </a:t>
            </a:r>
            <a:r>
              <a:rPr sz="1800" spc="-20" dirty="0">
                <a:solidFill>
                  <a:srgbClr val="221F1F"/>
                </a:solidFill>
                <a:latin typeface="Times New Roman"/>
                <a:cs typeface="Times New Roman"/>
              </a:rPr>
              <a:t>What </a:t>
            </a:r>
            <a:r>
              <a:rPr sz="1800" dirty="0">
                <a:solidFill>
                  <a:srgbClr val="221F1F"/>
                </a:solidFill>
                <a:latin typeface="Times New Roman"/>
                <a:cs typeface="Times New Roman"/>
              </a:rPr>
              <a:t>can</a:t>
            </a:r>
            <a:r>
              <a:rPr sz="1800" spc="195" dirty="0">
                <a:solidFill>
                  <a:srgbClr val="221F1F"/>
                </a:solidFill>
                <a:latin typeface="Times New Roman"/>
                <a:cs typeface="Times New Roman"/>
              </a:rPr>
              <a:t> </a:t>
            </a:r>
            <a:r>
              <a:rPr sz="1800" dirty="0">
                <a:solidFill>
                  <a:srgbClr val="221F1F"/>
                </a:solidFill>
                <a:latin typeface="Times New Roman"/>
                <a:cs typeface="Times New Roman"/>
              </a:rPr>
              <a:t>you</a:t>
            </a:r>
            <a:r>
              <a:rPr sz="1800" spc="195" dirty="0">
                <a:solidFill>
                  <a:srgbClr val="221F1F"/>
                </a:solidFill>
                <a:latin typeface="Times New Roman"/>
                <a:cs typeface="Times New Roman"/>
              </a:rPr>
              <a:t> </a:t>
            </a:r>
            <a:r>
              <a:rPr sz="1800" dirty="0">
                <a:solidFill>
                  <a:srgbClr val="221F1F"/>
                </a:solidFill>
                <a:latin typeface="Times New Roman"/>
                <a:cs typeface="Times New Roman"/>
              </a:rPr>
              <a:t>say</a:t>
            </a:r>
            <a:r>
              <a:rPr sz="1800" spc="200" dirty="0">
                <a:solidFill>
                  <a:srgbClr val="221F1F"/>
                </a:solidFill>
                <a:latin typeface="Times New Roman"/>
                <a:cs typeface="Times New Roman"/>
              </a:rPr>
              <a:t> </a:t>
            </a:r>
            <a:r>
              <a:rPr sz="1800" dirty="0">
                <a:solidFill>
                  <a:srgbClr val="221F1F"/>
                </a:solidFill>
                <a:latin typeface="Times New Roman"/>
                <a:cs typeface="Times New Roman"/>
              </a:rPr>
              <a:t>about</a:t>
            </a:r>
            <a:r>
              <a:rPr sz="1800" spc="21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00" dirty="0">
                <a:solidFill>
                  <a:srgbClr val="221F1F"/>
                </a:solidFill>
                <a:latin typeface="Times New Roman"/>
                <a:cs typeface="Times New Roman"/>
              </a:rPr>
              <a:t> </a:t>
            </a:r>
            <a:r>
              <a:rPr sz="1800" dirty="0">
                <a:solidFill>
                  <a:srgbClr val="221F1F"/>
                </a:solidFill>
                <a:latin typeface="Times New Roman"/>
                <a:cs typeface="Times New Roman"/>
              </a:rPr>
              <a:t>cluster</a:t>
            </a:r>
            <a:r>
              <a:rPr sz="1800" spc="215" dirty="0">
                <a:solidFill>
                  <a:srgbClr val="221F1F"/>
                </a:solidFill>
                <a:latin typeface="Times New Roman"/>
                <a:cs typeface="Times New Roman"/>
              </a:rPr>
              <a:t> </a:t>
            </a:r>
            <a:r>
              <a:rPr sz="1800" dirty="0">
                <a:solidFill>
                  <a:srgbClr val="221F1F"/>
                </a:solidFill>
                <a:latin typeface="Times New Roman"/>
                <a:cs typeface="Times New Roman"/>
              </a:rPr>
              <a:t>size,</a:t>
            </a:r>
            <a:r>
              <a:rPr sz="1800" spc="204" dirty="0">
                <a:solidFill>
                  <a:srgbClr val="221F1F"/>
                </a:solidFill>
                <a:latin typeface="Times New Roman"/>
                <a:cs typeface="Times New Roman"/>
              </a:rPr>
              <a:t> </a:t>
            </a:r>
            <a:r>
              <a:rPr sz="1800" dirty="0">
                <a:solidFill>
                  <a:srgbClr val="221F1F"/>
                </a:solidFill>
                <a:latin typeface="Times New Roman"/>
                <a:cs typeface="Times New Roman"/>
              </a:rPr>
              <a:t>path</a:t>
            </a:r>
            <a:r>
              <a:rPr sz="1800" spc="200" dirty="0">
                <a:solidFill>
                  <a:srgbClr val="221F1F"/>
                </a:solidFill>
                <a:latin typeface="Times New Roman"/>
                <a:cs typeface="Times New Roman"/>
              </a:rPr>
              <a:t> </a:t>
            </a:r>
            <a:r>
              <a:rPr sz="1800" dirty="0">
                <a:solidFill>
                  <a:srgbClr val="221F1F"/>
                </a:solidFill>
                <a:latin typeface="Times New Roman"/>
                <a:cs typeface="Times New Roman"/>
              </a:rPr>
              <a:t>loss</a:t>
            </a:r>
            <a:r>
              <a:rPr sz="1800" spc="200" dirty="0">
                <a:solidFill>
                  <a:srgbClr val="221F1F"/>
                </a:solidFill>
                <a:latin typeface="Times New Roman"/>
                <a:cs typeface="Times New Roman"/>
              </a:rPr>
              <a:t> </a:t>
            </a:r>
            <a:r>
              <a:rPr sz="1800" dirty="0">
                <a:solidFill>
                  <a:srgbClr val="221F1F"/>
                </a:solidFill>
                <a:latin typeface="Times New Roman"/>
                <a:cs typeface="Times New Roman"/>
              </a:rPr>
              <a:t>exponent,</a:t>
            </a:r>
            <a:r>
              <a:rPr sz="1800" spc="204" dirty="0">
                <a:solidFill>
                  <a:srgbClr val="221F1F"/>
                </a:solidFill>
                <a:latin typeface="Times New Roman"/>
                <a:cs typeface="Times New Roman"/>
              </a:rPr>
              <a:t> </a:t>
            </a:r>
            <a:r>
              <a:rPr sz="1800" dirty="0">
                <a:solidFill>
                  <a:srgbClr val="221F1F"/>
                </a:solidFill>
                <a:latin typeface="Times New Roman"/>
                <a:cs typeface="Times New Roman"/>
              </a:rPr>
              <a:t>and</a:t>
            </a:r>
            <a:r>
              <a:rPr sz="1800" spc="200" dirty="0">
                <a:solidFill>
                  <a:srgbClr val="221F1F"/>
                </a:solidFill>
                <a:latin typeface="Times New Roman"/>
                <a:cs typeface="Times New Roman"/>
              </a:rPr>
              <a:t> </a:t>
            </a:r>
            <a:r>
              <a:rPr sz="1800" dirty="0">
                <a:solidFill>
                  <a:srgbClr val="221F1F"/>
                </a:solidFill>
                <a:latin typeface="Times New Roman"/>
                <a:cs typeface="Times New Roman"/>
              </a:rPr>
              <a:t>the</a:t>
            </a:r>
            <a:r>
              <a:rPr sz="1800" spc="200" dirty="0">
                <a:solidFill>
                  <a:srgbClr val="221F1F"/>
                </a:solidFill>
                <a:latin typeface="Times New Roman"/>
                <a:cs typeface="Times New Roman"/>
              </a:rPr>
              <a:t> </a:t>
            </a:r>
            <a:r>
              <a:rPr sz="1800" dirty="0">
                <a:solidFill>
                  <a:srgbClr val="221F1F"/>
                </a:solidFill>
                <a:latin typeface="Times New Roman"/>
                <a:cs typeface="Times New Roman"/>
              </a:rPr>
              <a:t>C/1</a:t>
            </a:r>
            <a:r>
              <a:rPr sz="1800" spc="210" dirty="0">
                <a:solidFill>
                  <a:srgbClr val="221F1F"/>
                </a:solidFill>
                <a:latin typeface="Times New Roman"/>
                <a:cs typeface="Times New Roman"/>
              </a:rPr>
              <a:t> </a:t>
            </a:r>
            <a:r>
              <a:rPr sz="1800" dirty="0">
                <a:solidFill>
                  <a:srgbClr val="221F1F"/>
                </a:solidFill>
                <a:latin typeface="Times New Roman"/>
                <a:cs typeface="Times New Roman"/>
              </a:rPr>
              <a:t>values</a:t>
            </a:r>
            <a:r>
              <a:rPr sz="1800" spc="190" dirty="0">
                <a:solidFill>
                  <a:srgbClr val="221F1F"/>
                </a:solidFill>
                <a:latin typeface="Times New Roman"/>
                <a:cs typeface="Times New Roman"/>
              </a:rPr>
              <a:t> </a:t>
            </a:r>
            <a:r>
              <a:rPr sz="1800" spc="-10" dirty="0">
                <a:solidFill>
                  <a:srgbClr val="221F1F"/>
                </a:solidFill>
                <a:latin typeface="Times New Roman"/>
                <a:cs typeface="Times New Roman"/>
              </a:rPr>
              <a:t>which </a:t>
            </a:r>
            <a:r>
              <a:rPr sz="1800" dirty="0">
                <a:solidFill>
                  <a:srgbClr val="221F1F"/>
                </a:solidFill>
                <a:latin typeface="Times New Roman"/>
                <a:cs typeface="Times New Roman"/>
              </a:rPr>
              <a:t>result?</a:t>
            </a:r>
            <a:r>
              <a:rPr sz="1800" spc="285" dirty="0">
                <a:solidFill>
                  <a:srgbClr val="221F1F"/>
                </a:solidFill>
                <a:latin typeface="Times New Roman"/>
                <a:cs typeface="Times New Roman"/>
              </a:rPr>
              <a:t>   </a:t>
            </a:r>
            <a:r>
              <a:rPr sz="1800" dirty="0">
                <a:solidFill>
                  <a:srgbClr val="221F1F"/>
                </a:solidFill>
                <a:latin typeface="Times New Roman"/>
                <a:cs typeface="Times New Roman"/>
              </a:rPr>
              <a:t>How</a:t>
            </a:r>
            <a:r>
              <a:rPr sz="1800" spc="275" dirty="0">
                <a:solidFill>
                  <a:srgbClr val="221F1F"/>
                </a:solidFill>
                <a:latin typeface="Times New Roman"/>
                <a:cs typeface="Times New Roman"/>
              </a:rPr>
              <a:t>   </a:t>
            </a:r>
            <a:r>
              <a:rPr sz="1800" dirty="0">
                <a:solidFill>
                  <a:srgbClr val="221F1F"/>
                </a:solidFill>
                <a:latin typeface="Times New Roman"/>
                <a:cs typeface="Times New Roman"/>
              </a:rPr>
              <a:t>would</a:t>
            </a:r>
            <a:r>
              <a:rPr sz="1800" spc="280" dirty="0">
                <a:solidFill>
                  <a:srgbClr val="221F1F"/>
                </a:solidFill>
                <a:latin typeface="Times New Roman"/>
                <a:cs typeface="Times New Roman"/>
              </a:rPr>
              <a:t>   </a:t>
            </a:r>
            <a:r>
              <a:rPr sz="1800" dirty="0">
                <a:solidFill>
                  <a:srgbClr val="221F1F"/>
                </a:solidFill>
                <a:latin typeface="Times New Roman"/>
                <a:cs typeface="Times New Roman"/>
              </a:rPr>
              <a:t>this</a:t>
            </a:r>
            <a:r>
              <a:rPr sz="1800" spc="280" dirty="0">
                <a:solidFill>
                  <a:srgbClr val="221F1F"/>
                </a:solidFill>
                <a:latin typeface="Times New Roman"/>
                <a:cs typeface="Times New Roman"/>
              </a:rPr>
              <a:t>   </a:t>
            </a:r>
            <a:r>
              <a:rPr sz="1800" dirty="0">
                <a:solidFill>
                  <a:srgbClr val="221F1F"/>
                </a:solidFill>
                <a:latin typeface="Times New Roman"/>
                <a:cs typeface="Times New Roman"/>
              </a:rPr>
              <a:t>impact</a:t>
            </a:r>
            <a:r>
              <a:rPr sz="1800" spc="280" dirty="0">
                <a:solidFill>
                  <a:srgbClr val="221F1F"/>
                </a:solidFill>
                <a:latin typeface="Times New Roman"/>
                <a:cs typeface="Times New Roman"/>
              </a:rPr>
              <a:t>   </a:t>
            </a:r>
            <a:r>
              <a:rPr sz="1800" dirty="0">
                <a:solidFill>
                  <a:srgbClr val="221F1F"/>
                </a:solidFill>
                <a:latin typeface="Times New Roman"/>
                <a:cs typeface="Times New Roman"/>
              </a:rPr>
              <a:t>practical</a:t>
            </a:r>
            <a:r>
              <a:rPr sz="1800" spc="285" dirty="0">
                <a:solidFill>
                  <a:srgbClr val="221F1F"/>
                </a:solidFill>
                <a:latin typeface="Times New Roman"/>
                <a:cs typeface="Times New Roman"/>
              </a:rPr>
              <a:t>   </a:t>
            </a:r>
            <a:r>
              <a:rPr sz="1800" dirty="0">
                <a:solidFill>
                  <a:srgbClr val="221F1F"/>
                </a:solidFill>
                <a:latin typeface="Times New Roman"/>
                <a:cs typeface="Times New Roman"/>
              </a:rPr>
              <a:t>wireless</a:t>
            </a:r>
            <a:r>
              <a:rPr sz="1800" spc="275" dirty="0">
                <a:solidFill>
                  <a:srgbClr val="221F1F"/>
                </a:solidFill>
                <a:latin typeface="Times New Roman"/>
                <a:cs typeface="Times New Roman"/>
              </a:rPr>
              <a:t>   </a:t>
            </a:r>
            <a:r>
              <a:rPr sz="1800" dirty="0">
                <a:solidFill>
                  <a:srgbClr val="221F1F"/>
                </a:solidFill>
                <a:latin typeface="Times New Roman"/>
                <a:cs typeface="Times New Roman"/>
              </a:rPr>
              <a:t>system</a:t>
            </a:r>
            <a:r>
              <a:rPr sz="1800" spc="280" dirty="0">
                <a:solidFill>
                  <a:srgbClr val="221F1F"/>
                </a:solidFill>
                <a:latin typeface="Times New Roman"/>
                <a:cs typeface="Times New Roman"/>
              </a:rPr>
              <a:t>   </a:t>
            </a:r>
            <a:r>
              <a:rPr sz="1800" spc="-10" dirty="0">
                <a:solidFill>
                  <a:srgbClr val="221F1F"/>
                </a:solidFill>
                <a:latin typeface="Times New Roman"/>
                <a:cs typeface="Times New Roman"/>
              </a:rPr>
              <a:t>design?</a:t>
            </a:r>
            <a:endParaRPr sz="18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2834</Words>
  <Application>Microsoft Office PowerPoint</Application>
  <PresentationFormat>On-screen Show (4:3)</PresentationFormat>
  <Paragraphs>226</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MT</vt:lpstr>
      <vt:lpstr>Calibri</vt:lpstr>
      <vt:lpstr>Cambria Math</vt:lpstr>
      <vt:lpstr>Times New Roman</vt:lpstr>
      <vt:lpstr>Office Theme</vt:lpstr>
      <vt:lpstr>Wireless communication systems</vt:lpstr>
      <vt:lpstr>Direction of Transmission (The duplex concept )</vt:lpstr>
      <vt:lpstr>Ce lular Geometry</vt:lpstr>
      <vt:lpstr>Ce l Shapes</vt:lpstr>
      <vt:lpstr>PowerPoint Presentation</vt:lpstr>
      <vt:lpstr>PowerPoint Presentation</vt:lpstr>
      <vt:lpstr>Introduction to ce lular concept</vt:lpstr>
      <vt:lpstr>PowerPoint Presentation</vt:lpstr>
      <vt:lpstr>PowerPoint Presentation</vt:lpstr>
      <vt:lpstr>PowerPoint Presentation</vt:lpstr>
      <vt:lpstr>PowerPoint Presentation</vt:lpstr>
      <vt:lpstr>EX: The bandwidth allocated to a particular FDD cellular system is 33 MHz. It uses two 25 kHz simplex channels to provide full duplex voice and control channels, compute the number of channels available per cell if a system uses</vt:lpstr>
      <vt:lpstr>PowerPoint Presentation</vt:lpstr>
      <vt:lpstr>To understand the frequency reuse concept, Consider a cellular system which has a total of S duplex channels available for use in a cluster</vt:lpstr>
      <vt:lpstr>PowerPoint Presentation</vt:lpstr>
      <vt:lpstr>PowerPoint Presentation</vt:lpstr>
      <vt:lpstr>PowerPoint Presentation</vt:lpstr>
      <vt:lpstr>Co-channel Interference</vt:lpstr>
      <vt:lpstr>Relationship between frequency reuse factor (D/R) and cluster size (N)</vt:lpstr>
      <vt:lpstr>PowerPoint Presentation</vt:lpstr>
      <vt:lpstr>PowerPoint Presentation</vt:lpstr>
      <vt:lpstr>Channel Assignment Strategies</vt:lpstr>
      <vt:lpstr>PowerPoint Presentation</vt:lpstr>
      <vt:lpstr>PowerPoint Presentation</vt:lpstr>
      <vt:lpstr>PowerPoint Presentation</vt:lpstr>
      <vt:lpstr>PowerPoint Presentation</vt:lpstr>
      <vt:lpstr>PowerPoint Presentation</vt:lpstr>
      <vt:lpstr>PowerPoint Presentation</vt:lpstr>
      <vt:lpstr>Prioritizing Handoffs</vt:lpstr>
      <vt:lpstr>Practical Handoff Considerations</vt:lpstr>
      <vt:lpstr>HOME WORK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Abid AK</cp:lastModifiedBy>
  <cp:revision>1</cp:revision>
  <dcterms:created xsi:type="dcterms:W3CDTF">2025-04-10T06:07:45Z</dcterms:created>
  <dcterms:modified xsi:type="dcterms:W3CDTF">2025-04-10T06:09:29Z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2024-03-08T00:00:00Z</vt:filetime>
  </property>
  <property fmtid="{D5CDD505-2E9C-101B-9397-08002B2CF9AE}" pid="3" name="Creator">
    <vt:lpwstr>Microsoft® PowerPoint® 2010</vt:lpwstr>
  </property>
  <property fmtid="{D5CDD505-2E9C-101B-9397-08002B2CF9AE}" pid="4" name="LastSaved">
    <vt:filetime>2025-04-10T00:00:00Z</vt:filetime>
  </property>
  <property fmtid="{D5CDD505-2E9C-101B-9397-08002B2CF9AE}" pid="5" name="Producer">
    <vt:lpwstr>Microsoft® PowerPoint® 2010</vt:lpwstr>
  </property>
</Properties>
</file>