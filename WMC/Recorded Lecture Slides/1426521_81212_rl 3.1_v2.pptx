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3"/>
  </p:notesMasterIdLst>
  <p:handoutMasterIdLst>
    <p:handoutMasterId r:id="rId14"/>
  </p:handout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391" r:id="rId12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Propagation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479" y="444263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Multipath Signal at Outdoor </a:t>
            </a:r>
          </a:p>
        </p:txBody>
      </p:sp>
      <p:sp>
        <p:nvSpPr>
          <p:cNvPr id="24" name="Flowchart: Process 23"/>
          <p:cNvSpPr/>
          <p:nvPr/>
        </p:nvSpPr>
        <p:spPr>
          <a:xfrm>
            <a:off x="5866362" y="2437565"/>
            <a:ext cx="1010093" cy="648586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219393" y="1225453"/>
            <a:ext cx="1690577" cy="137160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909970" y="1225453"/>
            <a:ext cx="2392326" cy="1307805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2219393" y="1693286"/>
            <a:ext cx="3179135" cy="946297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98528" y="1693286"/>
            <a:ext cx="925033" cy="818707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240659" y="2660849"/>
            <a:ext cx="4019107" cy="4253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219393" y="2703379"/>
            <a:ext cx="2147777" cy="1286539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377803" y="3011723"/>
            <a:ext cx="1924493" cy="988828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Connector 31"/>
          <p:cNvSpPr/>
          <p:nvPr/>
        </p:nvSpPr>
        <p:spPr>
          <a:xfrm>
            <a:off x="2091803" y="2607685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/>
          <p:cNvSpPr/>
          <p:nvPr/>
        </p:nvSpPr>
        <p:spPr>
          <a:xfrm>
            <a:off x="2084708" y="2611223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/>
          <p:cNvSpPr/>
          <p:nvPr/>
        </p:nvSpPr>
        <p:spPr>
          <a:xfrm>
            <a:off x="2095341" y="2611223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/>
          <p:cNvSpPr/>
          <p:nvPr/>
        </p:nvSpPr>
        <p:spPr>
          <a:xfrm>
            <a:off x="2084708" y="2611223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Smartphone_icon_-_Noun_Project_283536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065" y="2426933"/>
            <a:ext cx="701746" cy="701746"/>
          </a:xfrm>
          <a:prstGeom prst="rect">
            <a:avLst/>
          </a:prstGeom>
        </p:spPr>
      </p:pic>
      <p:pic>
        <p:nvPicPr>
          <p:cNvPr id="37" name="Picture 36" descr="Office_building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496" y="3181844"/>
            <a:ext cx="1405270" cy="1405270"/>
          </a:xfrm>
          <a:prstGeom prst="rect">
            <a:avLst/>
          </a:prstGeom>
        </p:spPr>
      </p:pic>
      <p:pic>
        <p:nvPicPr>
          <p:cNvPr id="38" name="Picture 37" descr="tower-31235_960_7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039" y="2363137"/>
            <a:ext cx="1143057" cy="1573616"/>
          </a:xfrm>
          <a:prstGeom prst="rect">
            <a:avLst/>
          </a:prstGeom>
        </p:spPr>
      </p:pic>
      <p:pic>
        <p:nvPicPr>
          <p:cNvPr id="39" name="Picture 38" descr="mountai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6203" y="774302"/>
            <a:ext cx="2037318" cy="771057"/>
          </a:xfrm>
          <a:prstGeom prst="rect">
            <a:avLst/>
          </a:prstGeom>
        </p:spPr>
      </p:pic>
      <p:pic>
        <p:nvPicPr>
          <p:cNvPr id="40" name="Picture 39" descr="home-1294564_960_7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389" y="1021088"/>
            <a:ext cx="724676" cy="72770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25497" y="1620025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Reflection from mountains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76102" y="3075518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Reflection from tall building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17778" y="1041106"/>
            <a:ext cx="1067784" cy="427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Diffraction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07485" y="2395609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Direct ray</a:t>
            </a:r>
          </a:p>
        </p:txBody>
      </p:sp>
    </p:spTree>
    <p:extLst>
      <p:ext uri="{BB962C8B-B14F-4D97-AF65-F5344CB8AC3E}">
        <p14:creationId xmlns:p14="http://schemas.microsoft.com/office/powerpoint/2010/main" val="257452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Propagation Mechanism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245444" y="69963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Reflection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/>
              <a:t>Reflection occurs when the Electromagnetic  waves impinge on objects which are much greater than the wavelength of the traveling wave.</a:t>
            </a:r>
          </a:p>
          <a:p>
            <a:pPr marL="0" indent="0">
              <a:buNone/>
            </a:pPr>
            <a:r>
              <a:rPr lang="en-US" sz="2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Reflection from Dielectrics</a:t>
            </a:r>
          </a:p>
          <a:p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  <a:p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  <a:p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2972" t="32292" r="39458" b="42708"/>
          <a:stretch/>
        </p:blipFill>
        <p:spPr>
          <a:xfrm>
            <a:off x="668956" y="2571882"/>
            <a:ext cx="4876800" cy="21021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69959" y="2571882"/>
            <a:ext cx="2438400" cy="92333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Ɛ – Permittivity</a:t>
            </a:r>
          </a:p>
          <a:p>
            <a:r>
              <a:rPr lang="el-GR" dirty="0"/>
              <a:t>σ</a:t>
            </a:r>
            <a:r>
              <a:rPr lang="en-IN" dirty="0"/>
              <a:t>- Conductance </a:t>
            </a:r>
          </a:p>
          <a:p>
            <a:r>
              <a:rPr lang="el-GR" dirty="0"/>
              <a:t>μ</a:t>
            </a:r>
            <a:r>
              <a:rPr lang="en-IN" dirty="0"/>
              <a:t>- Permeability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2253" y="4648868"/>
            <a:ext cx="1939631" cy="458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2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Propagation Mechanism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113414" y="887781"/>
            <a:ext cx="8229600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Brewster angle:</a:t>
            </a:r>
            <a:r>
              <a:rPr lang="en-US" b="1" dirty="0"/>
              <a:t> Brewster's angle</a:t>
            </a:r>
            <a:r>
              <a:rPr lang="en-US" dirty="0"/>
              <a:t> (also known as the </a:t>
            </a:r>
            <a:r>
              <a:rPr lang="en-US" b="1" dirty="0"/>
              <a:t>polarization angle</a:t>
            </a:r>
            <a:r>
              <a:rPr lang="en-US" dirty="0"/>
              <a:t>) is an angle of incidence at which wave  is perfectly transmitted through surface, with no reflection.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Sin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θ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)=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/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+ 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))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1/2</a:t>
            </a:r>
          </a:p>
          <a:p>
            <a:pPr marL="0" indent="0">
              <a:buNone/>
            </a:pPr>
            <a:r>
              <a:rPr lang="en-US" b="1" dirty="0"/>
              <a:t>    First medium is free space: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sin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θ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)=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-1)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1/2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-1)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1/2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70C0"/>
                </a:solidFill>
              </a:rPr>
              <a:t>Reflection from perfect conductors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</a:rPr>
              <a:t>	</a:t>
            </a:r>
            <a:r>
              <a:rPr lang="en-IN" b="1" dirty="0"/>
              <a:t>- EM energy cannot pass through perfect conductor</a:t>
            </a:r>
          </a:p>
          <a:p>
            <a:pPr marL="0" indent="0">
              <a:buNone/>
            </a:pPr>
            <a:r>
              <a:rPr lang="en-IN" b="1" dirty="0"/>
              <a:t>	- All of its energy is reflected</a:t>
            </a:r>
            <a:r>
              <a:rPr lang="en-IN" b="1" dirty="0">
                <a:solidFill>
                  <a:srgbClr val="0070C0"/>
                </a:solidFill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641" y="2795078"/>
            <a:ext cx="35857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Occurs only for Vertical polarization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5066414" y="2137144"/>
            <a:ext cx="6096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22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81648" y="318724"/>
            <a:ext cx="6537960" cy="582930"/>
          </a:xfrm>
        </p:spPr>
        <p:txBody>
          <a:bodyPr/>
          <a:lstStyle/>
          <a:p>
            <a:r>
              <a:rPr lang="en-US" dirty="0"/>
              <a:t>Example 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Calculate the Brewster angle for a wave impinging on the ground  with a permittivity of 7. Assume the frequency to 200MHz.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Solution: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sin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θ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)= 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-1)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1/2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/(</a:t>
            </a:r>
            <a:r>
              <a:rPr lang="el-G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en-US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-1)</a:t>
            </a:r>
            <a:r>
              <a:rPr lang="en-US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1/2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56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06685"/>
            <a:ext cx="6537960" cy="582930"/>
          </a:xfrm>
        </p:spPr>
        <p:txBody>
          <a:bodyPr/>
          <a:lstStyle/>
          <a:p>
            <a:r>
              <a:rPr lang="en-US" dirty="0"/>
              <a:t>Propagation Mechanism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74429" y="805961"/>
            <a:ext cx="8941980" cy="4467788"/>
          </a:xfrm>
        </p:spPr>
        <p:txBody>
          <a:bodyPr>
            <a:normAutofit fontScale="4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sz="4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Scattering</a:t>
            </a:r>
          </a:p>
          <a:p>
            <a:pPr marL="0" lvl="1" indent="0">
              <a:buClr>
                <a:srgbClr val="101141"/>
              </a:buClr>
              <a:buNone/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800" dirty="0"/>
              <a:t>This occurs when the size of the objects is less than the wavelength of the travelling wave. </a:t>
            </a:r>
          </a:p>
          <a:p>
            <a:pPr marL="0" lvl="1" indent="0">
              <a:buClr>
                <a:srgbClr val="101141"/>
              </a:buClr>
              <a:buNone/>
            </a:pPr>
            <a:r>
              <a:rPr lang="en-US" sz="3800" dirty="0"/>
              <a:t>	</a:t>
            </a:r>
          </a:p>
          <a:p>
            <a:pPr marL="0" lvl="1" indent="0">
              <a:buClr>
                <a:srgbClr val="101141"/>
              </a:buClr>
              <a:buNone/>
            </a:pPr>
            <a:r>
              <a:rPr lang="en-US" sz="3800" dirty="0"/>
              <a:t>             Occurs when a radio wave impinges on a rough surface, the reflected energy is spread out in all directions.</a:t>
            </a:r>
            <a:endParaRPr lang="en-IN" sz="3800" dirty="0"/>
          </a:p>
          <a:p>
            <a:pPr marL="0" lvl="1" indent="0">
              <a:buClr>
                <a:srgbClr val="101141"/>
              </a:buClr>
              <a:buNone/>
            </a:pPr>
            <a:r>
              <a:rPr lang="en-IN" sz="4500" dirty="0"/>
              <a:t>	</a:t>
            </a:r>
          </a:p>
          <a:p>
            <a:pPr marL="0" indent="0"/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>
              <a:buNone/>
            </a:pPr>
            <a:endParaRPr lang="en-US" dirty="0"/>
          </a:p>
          <a:p>
            <a:pPr marL="0" indent="0"/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3800" dirty="0"/>
              <a:t>Surface roughness is tested using Critical height h</a:t>
            </a:r>
            <a:r>
              <a:rPr lang="en-US" sz="3800" baseline="-25000" dirty="0"/>
              <a:t>c</a:t>
            </a:r>
            <a:r>
              <a:rPr lang="en-US" sz="3800" dirty="0"/>
              <a:t> of surface perturbance for a given angle of incidence </a:t>
            </a:r>
            <a:r>
              <a:rPr lang="el-GR" sz="3800" dirty="0"/>
              <a:t>θ</a:t>
            </a:r>
            <a:r>
              <a:rPr lang="en-US" sz="3800" dirty="0" err="1"/>
              <a:t>i</a:t>
            </a:r>
            <a:r>
              <a:rPr lang="en-US" sz="3800" dirty="0"/>
              <a:t>.</a:t>
            </a:r>
          </a:p>
          <a:p>
            <a:pPr marL="0" indent="0">
              <a:buNone/>
            </a:pPr>
            <a:r>
              <a:rPr lang="en-US" sz="3800" dirty="0"/>
              <a:t>			h</a:t>
            </a:r>
            <a:r>
              <a:rPr lang="en-US" sz="3800" baseline="-25000" dirty="0"/>
              <a:t>c</a:t>
            </a:r>
            <a:r>
              <a:rPr lang="en-US" sz="3800" dirty="0"/>
              <a:t>= </a:t>
            </a:r>
            <a:r>
              <a:rPr lang="el-GR" sz="3800" dirty="0"/>
              <a:t>λ</a:t>
            </a:r>
            <a:r>
              <a:rPr lang="en-US" sz="3800" dirty="0"/>
              <a:t>/8 sin</a:t>
            </a:r>
            <a:r>
              <a:rPr lang="el-GR" sz="3800" dirty="0"/>
              <a:t> θ</a:t>
            </a:r>
            <a:r>
              <a:rPr lang="en-US" sz="3800" baseline="-25000" dirty="0" err="1"/>
              <a:t>i</a:t>
            </a:r>
            <a:r>
              <a:rPr lang="en-US" sz="3800" dirty="0"/>
              <a:t>. </a:t>
            </a:r>
          </a:p>
          <a:p>
            <a:endParaRPr lang="en-US" sz="3800" dirty="0"/>
          </a:p>
          <a:p>
            <a:pPr>
              <a:buFont typeface="Arial" pitchFamily="34" charset="0"/>
              <a:buChar char="•"/>
            </a:pPr>
            <a:r>
              <a:rPr lang="en-US" sz="3800" dirty="0"/>
              <a:t>A surface is considered smooth if h &lt;h</a:t>
            </a:r>
            <a:r>
              <a:rPr lang="en-US" sz="3800" baseline="-25000" dirty="0"/>
              <a:t>c</a:t>
            </a:r>
            <a:r>
              <a:rPr lang="en-US" sz="3800" dirty="0"/>
              <a:t> and rough if h&gt;h</a:t>
            </a:r>
            <a:r>
              <a:rPr lang="en-US" sz="3800" baseline="-25000" dirty="0"/>
              <a:t>c</a:t>
            </a:r>
            <a:r>
              <a:rPr lang="en-US" sz="3800" dirty="0"/>
              <a:t>. </a:t>
            </a:r>
          </a:p>
          <a:p>
            <a:endParaRPr lang="en-US" sz="3800" dirty="0"/>
          </a:p>
        </p:txBody>
      </p:sp>
      <p:pic>
        <p:nvPicPr>
          <p:cNvPr id="5" name="Picture 6" descr="http://www.mike-willis.com/Images/scatter2.gif"/>
          <p:cNvPicPr>
            <a:picLocks noChangeAspect="1" noChangeArrowheads="1"/>
          </p:cNvPicPr>
          <p:nvPr/>
        </p:nvPicPr>
        <p:blipFill rotWithShape="1">
          <a:blip r:embed="rId2"/>
          <a:srcRect t="13077" r="27600" b="37232"/>
          <a:stretch/>
        </p:blipFill>
        <p:spPr bwMode="auto">
          <a:xfrm>
            <a:off x="1399482" y="2087185"/>
            <a:ext cx="3958323" cy="13560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960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32565"/>
            <a:ext cx="6537960" cy="582930"/>
          </a:xfrm>
        </p:spPr>
        <p:txBody>
          <a:bodyPr/>
          <a:lstStyle/>
          <a:p>
            <a:r>
              <a:rPr lang="en-US" sz="2400" dirty="0"/>
              <a:t>Propagation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</a:rPr>
              <a:t>Diffraction:</a:t>
            </a:r>
          </a:p>
          <a:p>
            <a:r>
              <a:rPr lang="en-IN" dirty="0"/>
              <a:t>Occurs when the radio path between the transmitter and the receiver is obstructed by a surface that has sharp irregularities.</a:t>
            </a:r>
          </a:p>
          <a:p>
            <a:r>
              <a:rPr lang="en-IN" dirty="0"/>
              <a:t>It results in bending of the waves around the object.</a:t>
            </a:r>
          </a:p>
          <a:p>
            <a:endParaRPr lang="en-IN" dirty="0"/>
          </a:p>
        </p:txBody>
      </p:sp>
      <p:sp>
        <p:nvSpPr>
          <p:cNvPr id="6" name="Flowchart: Process 5"/>
          <p:cNvSpPr/>
          <p:nvPr/>
        </p:nvSpPr>
        <p:spPr>
          <a:xfrm>
            <a:off x="6226580" y="3059671"/>
            <a:ext cx="1010093" cy="648586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579611" y="2203750"/>
            <a:ext cx="1676455" cy="1015409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59949" y="2184307"/>
            <a:ext cx="2402565" cy="971057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579611" y="2315392"/>
            <a:ext cx="3179135" cy="946297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58746" y="2315392"/>
            <a:ext cx="925033" cy="818707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600877" y="3282955"/>
            <a:ext cx="4019107" cy="4253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579611" y="3325485"/>
            <a:ext cx="2147777" cy="1286539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738021" y="3633829"/>
            <a:ext cx="1924493" cy="988828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Connector 13"/>
          <p:cNvSpPr/>
          <p:nvPr/>
        </p:nvSpPr>
        <p:spPr>
          <a:xfrm>
            <a:off x="2452021" y="3229791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/>
          <p:cNvSpPr/>
          <p:nvPr/>
        </p:nvSpPr>
        <p:spPr>
          <a:xfrm>
            <a:off x="2444926" y="3233329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/>
          <p:cNvSpPr/>
          <p:nvPr/>
        </p:nvSpPr>
        <p:spPr>
          <a:xfrm>
            <a:off x="2455559" y="3233329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/>
          <p:cNvSpPr/>
          <p:nvPr/>
        </p:nvSpPr>
        <p:spPr>
          <a:xfrm>
            <a:off x="2444926" y="3233329"/>
            <a:ext cx="106325" cy="106326"/>
          </a:xfrm>
          <a:prstGeom prst="flowChartConnector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Smartphone_icon_-_Noun_Project_283536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283" y="3049039"/>
            <a:ext cx="701746" cy="701746"/>
          </a:xfrm>
          <a:prstGeom prst="rect">
            <a:avLst/>
          </a:prstGeom>
        </p:spPr>
      </p:pic>
      <p:pic>
        <p:nvPicPr>
          <p:cNvPr id="19" name="Picture 18" descr="Office_building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153" y="3847111"/>
            <a:ext cx="1268195" cy="1268195"/>
          </a:xfrm>
          <a:prstGeom prst="rect">
            <a:avLst/>
          </a:prstGeom>
        </p:spPr>
      </p:pic>
      <p:pic>
        <p:nvPicPr>
          <p:cNvPr id="20" name="Picture 19" descr="tower-31235_960_7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257" y="2985243"/>
            <a:ext cx="1143057" cy="1573616"/>
          </a:xfrm>
          <a:prstGeom prst="rect">
            <a:avLst/>
          </a:prstGeom>
        </p:spPr>
      </p:pic>
      <p:pic>
        <p:nvPicPr>
          <p:cNvPr id="21" name="Picture 20" descr="mountai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1840" y="1970874"/>
            <a:ext cx="1127885" cy="426867"/>
          </a:xfrm>
          <a:prstGeom prst="rect">
            <a:avLst/>
          </a:prstGeom>
        </p:spPr>
      </p:pic>
      <p:pic>
        <p:nvPicPr>
          <p:cNvPr id="22" name="Picture 21" descr="home-1294564_960_7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494" y="1853496"/>
            <a:ext cx="724676" cy="7277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585715" y="2242131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Reflection from mountains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6320" y="3697624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Reflection from tall building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6092" y="1821552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Diffraction from roof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7703" y="3017715"/>
            <a:ext cx="1067784" cy="243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Direct ray</a:t>
            </a:r>
          </a:p>
        </p:txBody>
      </p:sp>
      <p:sp>
        <p:nvSpPr>
          <p:cNvPr id="5" name="Oval 4"/>
          <p:cNvSpPr/>
          <p:nvPr/>
        </p:nvSpPr>
        <p:spPr>
          <a:xfrm>
            <a:off x="5634760" y="1699581"/>
            <a:ext cx="1575863" cy="11946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2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Mobile Radio Propagation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247167" y="1185492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 VLF, LF, MF bands, radio waves follow the ground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609" y="2536293"/>
            <a:ext cx="87091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Area between the surface of the earth and the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ionosphere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for transmission.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Ground wave radio signal propagation is ideal for relatively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short distance 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propagation as the wave front of the ground wave travels along the Earth's surface it is attenuated.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Frequency of the radio signal is one of the major determining factor as losses rise with increasing frequency.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The type of antenna and its polarization has 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major effect on ground wave propagation. Vertical polarization is subject to considerably less attenuation than horizontally polarized signals.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Freeform 6"/>
          <p:cNvSpPr/>
          <p:nvPr/>
        </p:nvSpPr>
        <p:spPr>
          <a:xfrm>
            <a:off x="672353" y="1940388"/>
            <a:ext cx="4146794" cy="538081"/>
          </a:xfrm>
          <a:custGeom>
            <a:avLst/>
            <a:gdLst>
              <a:gd name="connsiteX0" fmla="*/ 0 w 4146794"/>
              <a:gd name="connsiteY0" fmla="*/ 470682 h 538081"/>
              <a:gd name="connsiteX1" fmla="*/ 1754841 w 4146794"/>
              <a:gd name="connsiteY1" fmla="*/ 35 h 538081"/>
              <a:gd name="connsiteX2" fmla="*/ 3926541 w 4146794"/>
              <a:gd name="connsiteY2" fmla="*/ 490853 h 538081"/>
              <a:gd name="connsiteX3" fmla="*/ 3960159 w 4146794"/>
              <a:gd name="connsiteY3" fmla="*/ 490853 h 53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6794" h="538081">
                <a:moveTo>
                  <a:pt x="0" y="470682"/>
                </a:moveTo>
                <a:cubicBezTo>
                  <a:pt x="550209" y="233677"/>
                  <a:pt x="1100418" y="-3327"/>
                  <a:pt x="1754841" y="35"/>
                </a:cubicBezTo>
                <a:cubicBezTo>
                  <a:pt x="2409265" y="3397"/>
                  <a:pt x="3558988" y="409050"/>
                  <a:pt x="3926541" y="490853"/>
                </a:cubicBezTo>
                <a:cubicBezTo>
                  <a:pt x="4294094" y="572656"/>
                  <a:pt x="4127126" y="531754"/>
                  <a:pt x="3960159" y="490853"/>
                </a:cubicBezTo>
              </a:path>
            </a:pathLst>
          </a:cu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 7"/>
          <p:cNvSpPr/>
          <p:nvPr/>
        </p:nvSpPr>
        <p:spPr>
          <a:xfrm>
            <a:off x="672353" y="1185492"/>
            <a:ext cx="4146794" cy="538081"/>
          </a:xfrm>
          <a:custGeom>
            <a:avLst/>
            <a:gdLst>
              <a:gd name="connsiteX0" fmla="*/ 0 w 4146794"/>
              <a:gd name="connsiteY0" fmla="*/ 470682 h 538081"/>
              <a:gd name="connsiteX1" fmla="*/ 1754841 w 4146794"/>
              <a:gd name="connsiteY1" fmla="*/ 35 h 538081"/>
              <a:gd name="connsiteX2" fmla="*/ 3926541 w 4146794"/>
              <a:gd name="connsiteY2" fmla="*/ 490853 h 538081"/>
              <a:gd name="connsiteX3" fmla="*/ 3960159 w 4146794"/>
              <a:gd name="connsiteY3" fmla="*/ 490853 h 538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6794" h="538081">
                <a:moveTo>
                  <a:pt x="0" y="470682"/>
                </a:moveTo>
                <a:cubicBezTo>
                  <a:pt x="550209" y="233677"/>
                  <a:pt x="1100418" y="-3327"/>
                  <a:pt x="1754841" y="35"/>
                </a:cubicBezTo>
                <a:cubicBezTo>
                  <a:pt x="2409265" y="3397"/>
                  <a:pt x="3558988" y="409050"/>
                  <a:pt x="3926541" y="490853"/>
                </a:cubicBezTo>
                <a:cubicBezTo>
                  <a:pt x="4294094" y="572656"/>
                  <a:pt x="4127126" y="531754"/>
                  <a:pt x="3960159" y="49085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0160" y="1702833"/>
            <a:ext cx="441816" cy="6082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762" y="1914848"/>
            <a:ext cx="472385" cy="472385"/>
          </a:xfrm>
          <a:prstGeom prst="rect">
            <a:avLst/>
          </a:prstGeom>
        </p:spPr>
      </p:pic>
      <p:sp>
        <p:nvSpPr>
          <p:cNvPr id="11" name="Arc 10"/>
          <p:cNvSpPr/>
          <p:nvPr/>
        </p:nvSpPr>
        <p:spPr>
          <a:xfrm rot="1050223">
            <a:off x="722426" y="1567342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c 11"/>
          <p:cNvSpPr/>
          <p:nvPr/>
        </p:nvSpPr>
        <p:spPr>
          <a:xfrm rot="1050223">
            <a:off x="936436" y="1491934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c 12"/>
          <p:cNvSpPr/>
          <p:nvPr/>
        </p:nvSpPr>
        <p:spPr>
          <a:xfrm rot="1050223">
            <a:off x="1174424" y="1415473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c 13"/>
          <p:cNvSpPr/>
          <p:nvPr/>
        </p:nvSpPr>
        <p:spPr>
          <a:xfrm rot="1050223">
            <a:off x="1415738" y="1354442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c 14"/>
          <p:cNvSpPr/>
          <p:nvPr/>
        </p:nvSpPr>
        <p:spPr>
          <a:xfrm rot="1050223">
            <a:off x="1642089" y="1310401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c 15"/>
          <p:cNvSpPr/>
          <p:nvPr/>
        </p:nvSpPr>
        <p:spPr>
          <a:xfrm rot="1050223">
            <a:off x="1888590" y="1275730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c 16"/>
          <p:cNvSpPr/>
          <p:nvPr/>
        </p:nvSpPr>
        <p:spPr>
          <a:xfrm rot="2235354">
            <a:off x="2163153" y="1280967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c 17"/>
          <p:cNvSpPr/>
          <p:nvPr/>
        </p:nvSpPr>
        <p:spPr>
          <a:xfrm rot="2235354">
            <a:off x="2459174" y="1311846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c 18"/>
          <p:cNvSpPr/>
          <p:nvPr/>
        </p:nvSpPr>
        <p:spPr>
          <a:xfrm rot="2235354">
            <a:off x="2763923" y="1376605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c 19"/>
          <p:cNvSpPr/>
          <p:nvPr/>
        </p:nvSpPr>
        <p:spPr>
          <a:xfrm rot="2940162">
            <a:off x="3019927" y="1436068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c 20"/>
          <p:cNvSpPr/>
          <p:nvPr/>
        </p:nvSpPr>
        <p:spPr>
          <a:xfrm rot="3321821">
            <a:off x="3292929" y="1490767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c 21"/>
          <p:cNvSpPr/>
          <p:nvPr/>
        </p:nvSpPr>
        <p:spPr>
          <a:xfrm rot="3321821">
            <a:off x="3552019" y="1562292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c 22"/>
          <p:cNvSpPr/>
          <p:nvPr/>
        </p:nvSpPr>
        <p:spPr>
          <a:xfrm rot="3321821">
            <a:off x="3787620" y="1615131"/>
            <a:ext cx="600104" cy="564919"/>
          </a:xfrm>
          <a:prstGeom prst="arc">
            <a:avLst>
              <a:gd name="adj1" fmla="val 15037222"/>
              <a:gd name="adj2" fmla="val 13434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926867" y="1981527"/>
            <a:ext cx="88489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Earth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6256" y="990690"/>
            <a:ext cx="972285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Atmosphere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6282" y="2117888"/>
            <a:ext cx="88489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5094" y="1919072"/>
            <a:ext cx="88489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Radio Tower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5606" y="2243377"/>
            <a:ext cx="221860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Ground Wave Propagation</a:t>
            </a:r>
          </a:p>
        </p:txBody>
      </p:sp>
    </p:spTree>
    <p:extLst>
      <p:ext uri="{BB962C8B-B14F-4D97-AF65-F5344CB8AC3E}">
        <p14:creationId xmlns:p14="http://schemas.microsoft.com/office/powerpoint/2010/main" val="93716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Ionospheric</a:t>
            </a:r>
            <a:r>
              <a:rPr lang="en-US" dirty="0"/>
              <a:t> Propagation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890977" y="1706953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HF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312" y="3637600"/>
            <a:ext cx="8305800" cy="130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 layer- Lowest layer  existing at an average height of 70Km.It reflects VLF , LF.</a:t>
            </a:r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layer- Exists at an average height of 100km. It reflects MF waves.</a:t>
            </a:r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F1 and F2 layer- Exists at a average height of 180 Km. Reflects HF waves. 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69782" y="2914969"/>
            <a:ext cx="3879477" cy="370430"/>
          </a:xfrm>
          <a:custGeom>
            <a:avLst/>
            <a:gdLst>
              <a:gd name="connsiteX0" fmla="*/ 0 w 3529853"/>
              <a:gd name="connsiteY0" fmla="*/ 437514 h 511473"/>
              <a:gd name="connsiteX1" fmla="*/ 1606923 w 3529853"/>
              <a:gd name="connsiteY1" fmla="*/ 485 h 511473"/>
              <a:gd name="connsiteX2" fmla="*/ 3529853 w 3529853"/>
              <a:gd name="connsiteY2" fmla="*/ 511473 h 511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29853" h="511473">
                <a:moveTo>
                  <a:pt x="0" y="437514"/>
                </a:moveTo>
                <a:cubicBezTo>
                  <a:pt x="509307" y="212836"/>
                  <a:pt x="1018614" y="-11841"/>
                  <a:pt x="1606923" y="485"/>
                </a:cubicBezTo>
                <a:cubicBezTo>
                  <a:pt x="2195232" y="12811"/>
                  <a:pt x="2862542" y="262142"/>
                  <a:pt x="3529853" y="5114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33124">
            <a:off x="545127" y="2764310"/>
            <a:ext cx="317874" cy="437608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943203" y="1867106"/>
            <a:ext cx="3476065" cy="406371"/>
          </a:xfrm>
          <a:custGeom>
            <a:avLst/>
            <a:gdLst>
              <a:gd name="connsiteX0" fmla="*/ 0 w 3476065"/>
              <a:gd name="connsiteY0" fmla="*/ 359307 h 406371"/>
              <a:gd name="connsiteX1" fmla="*/ 759759 w 3476065"/>
              <a:gd name="connsiteY1" fmla="*/ 50024 h 406371"/>
              <a:gd name="connsiteX2" fmla="*/ 2682689 w 3476065"/>
              <a:gd name="connsiteY2" fmla="*/ 36577 h 406371"/>
              <a:gd name="connsiteX3" fmla="*/ 3476065 w 3476065"/>
              <a:gd name="connsiteY3" fmla="*/ 406371 h 40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065" h="406371">
                <a:moveTo>
                  <a:pt x="0" y="359307"/>
                </a:moveTo>
                <a:cubicBezTo>
                  <a:pt x="156322" y="231559"/>
                  <a:pt x="312644" y="103812"/>
                  <a:pt x="759759" y="50024"/>
                </a:cubicBezTo>
                <a:cubicBezTo>
                  <a:pt x="1206874" y="-3764"/>
                  <a:pt x="2229971" y="-22814"/>
                  <a:pt x="2682689" y="36577"/>
                </a:cubicBezTo>
                <a:cubicBezTo>
                  <a:pt x="3135407" y="95968"/>
                  <a:pt x="3305736" y="251169"/>
                  <a:pt x="3476065" y="406371"/>
                </a:cubicBezTo>
              </a:path>
            </a:pathLst>
          </a:cu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943204" y="2103817"/>
            <a:ext cx="3476065" cy="406371"/>
          </a:xfrm>
          <a:custGeom>
            <a:avLst/>
            <a:gdLst>
              <a:gd name="connsiteX0" fmla="*/ 0 w 3476065"/>
              <a:gd name="connsiteY0" fmla="*/ 359307 h 406371"/>
              <a:gd name="connsiteX1" fmla="*/ 759759 w 3476065"/>
              <a:gd name="connsiteY1" fmla="*/ 50024 h 406371"/>
              <a:gd name="connsiteX2" fmla="*/ 2682689 w 3476065"/>
              <a:gd name="connsiteY2" fmla="*/ 36577 h 406371"/>
              <a:gd name="connsiteX3" fmla="*/ 3476065 w 3476065"/>
              <a:gd name="connsiteY3" fmla="*/ 406371 h 40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065" h="406371">
                <a:moveTo>
                  <a:pt x="0" y="359307"/>
                </a:moveTo>
                <a:cubicBezTo>
                  <a:pt x="156322" y="231559"/>
                  <a:pt x="312644" y="103812"/>
                  <a:pt x="759759" y="50024"/>
                </a:cubicBezTo>
                <a:cubicBezTo>
                  <a:pt x="1206874" y="-3764"/>
                  <a:pt x="2229971" y="-22814"/>
                  <a:pt x="2682689" y="36577"/>
                </a:cubicBezTo>
                <a:cubicBezTo>
                  <a:pt x="3135407" y="95968"/>
                  <a:pt x="3305736" y="251169"/>
                  <a:pt x="3476065" y="406371"/>
                </a:cubicBezTo>
              </a:path>
            </a:pathLst>
          </a:cu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10"/>
          <p:cNvSpPr/>
          <p:nvPr/>
        </p:nvSpPr>
        <p:spPr>
          <a:xfrm>
            <a:off x="871486" y="921768"/>
            <a:ext cx="3476065" cy="406371"/>
          </a:xfrm>
          <a:custGeom>
            <a:avLst/>
            <a:gdLst>
              <a:gd name="connsiteX0" fmla="*/ 0 w 3476065"/>
              <a:gd name="connsiteY0" fmla="*/ 359307 h 406371"/>
              <a:gd name="connsiteX1" fmla="*/ 759759 w 3476065"/>
              <a:gd name="connsiteY1" fmla="*/ 50024 h 406371"/>
              <a:gd name="connsiteX2" fmla="*/ 2682689 w 3476065"/>
              <a:gd name="connsiteY2" fmla="*/ 36577 h 406371"/>
              <a:gd name="connsiteX3" fmla="*/ 3476065 w 3476065"/>
              <a:gd name="connsiteY3" fmla="*/ 406371 h 40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065" h="406371">
                <a:moveTo>
                  <a:pt x="0" y="359307"/>
                </a:moveTo>
                <a:cubicBezTo>
                  <a:pt x="156322" y="231559"/>
                  <a:pt x="312644" y="103812"/>
                  <a:pt x="759759" y="50024"/>
                </a:cubicBezTo>
                <a:cubicBezTo>
                  <a:pt x="1206874" y="-3764"/>
                  <a:pt x="2229971" y="-22814"/>
                  <a:pt x="2682689" y="36577"/>
                </a:cubicBezTo>
                <a:cubicBezTo>
                  <a:pt x="3135407" y="95968"/>
                  <a:pt x="3305736" y="251169"/>
                  <a:pt x="3476065" y="406371"/>
                </a:cubicBezTo>
              </a:path>
            </a:pathLst>
          </a:cu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 11"/>
          <p:cNvSpPr/>
          <p:nvPr/>
        </p:nvSpPr>
        <p:spPr>
          <a:xfrm>
            <a:off x="871485" y="1166141"/>
            <a:ext cx="3476065" cy="406371"/>
          </a:xfrm>
          <a:custGeom>
            <a:avLst/>
            <a:gdLst>
              <a:gd name="connsiteX0" fmla="*/ 0 w 3476065"/>
              <a:gd name="connsiteY0" fmla="*/ 359307 h 406371"/>
              <a:gd name="connsiteX1" fmla="*/ 759759 w 3476065"/>
              <a:gd name="connsiteY1" fmla="*/ 50024 h 406371"/>
              <a:gd name="connsiteX2" fmla="*/ 2682689 w 3476065"/>
              <a:gd name="connsiteY2" fmla="*/ 36577 h 406371"/>
              <a:gd name="connsiteX3" fmla="*/ 3476065 w 3476065"/>
              <a:gd name="connsiteY3" fmla="*/ 406371 h 40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065" h="406371">
                <a:moveTo>
                  <a:pt x="0" y="359307"/>
                </a:moveTo>
                <a:cubicBezTo>
                  <a:pt x="156322" y="231559"/>
                  <a:pt x="312644" y="103812"/>
                  <a:pt x="759759" y="50024"/>
                </a:cubicBezTo>
                <a:cubicBezTo>
                  <a:pt x="1206874" y="-3764"/>
                  <a:pt x="2229971" y="-22814"/>
                  <a:pt x="2682689" y="36577"/>
                </a:cubicBezTo>
                <a:cubicBezTo>
                  <a:pt x="3135407" y="95968"/>
                  <a:pt x="3305736" y="251169"/>
                  <a:pt x="3476065" y="406371"/>
                </a:cubicBezTo>
              </a:path>
            </a:pathLst>
          </a:cu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 12"/>
          <p:cNvSpPr/>
          <p:nvPr/>
        </p:nvSpPr>
        <p:spPr>
          <a:xfrm>
            <a:off x="871486" y="1496705"/>
            <a:ext cx="3476065" cy="406371"/>
          </a:xfrm>
          <a:custGeom>
            <a:avLst/>
            <a:gdLst>
              <a:gd name="connsiteX0" fmla="*/ 0 w 3476065"/>
              <a:gd name="connsiteY0" fmla="*/ 359307 h 406371"/>
              <a:gd name="connsiteX1" fmla="*/ 759759 w 3476065"/>
              <a:gd name="connsiteY1" fmla="*/ 50024 h 406371"/>
              <a:gd name="connsiteX2" fmla="*/ 2682689 w 3476065"/>
              <a:gd name="connsiteY2" fmla="*/ 36577 h 406371"/>
              <a:gd name="connsiteX3" fmla="*/ 3476065 w 3476065"/>
              <a:gd name="connsiteY3" fmla="*/ 406371 h 40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6065" h="406371">
                <a:moveTo>
                  <a:pt x="0" y="359307"/>
                </a:moveTo>
                <a:cubicBezTo>
                  <a:pt x="156322" y="231559"/>
                  <a:pt x="312644" y="103812"/>
                  <a:pt x="759759" y="50024"/>
                </a:cubicBezTo>
                <a:cubicBezTo>
                  <a:pt x="1206874" y="-3764"/>
                  <a:pt x="2229971" y="-22814"/>
                  <a:pt x="2682689" y="36577"/>
                </a:cubicBezTo>
                <a:cubicBezTo>
                  <a:pt x="3135407" y="95968"/>
                  <a:pt x="3305736" y="251169"/>
                  <a:pt x="3476065" y="406371"/>
                </a:cubicBezTo>
              </a:path>
            </a:pathLst>
          </a:cu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 13"/>
          <p:cNvSpPr/>
          <p:nvPr/>
        </p:nvSpPr>
        <p:spPr>
          <a:xfrm>
            <a:off x="712694" y="840441"/>
            <a:ext cx="2279277" cy="1976718"/>
          </a:xfrm>
          <a:custGeom>
            <a:avLst/>
            <a:gdLst>
              <a:gd name="connsiteX0" fmla="*/ 0 w 2279277"/>
              <a:gd name="connsiteY0" fmla="*/ 1976718 h 1976718"/>
              <a:gd name="connsiteX1" fmla="*/ 719418 w 2279277"/>
              <a:gd name="connsiteY1" fmla="*/ 699247 h 1976718"/>
              <a:gd name="connsiteX2" fmla="*/ 2279277 w 2279277"/>
              <a:gd name="connsiteY2" fmla="*/ 0 h 1976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9277" h="1976718">
                <a:moveTo>
                  <a:pt x="0" y="1976718"/>
                </a:moveTo>
                <a:cubicBezTo>
                  <a:pt x="169769" y="1502709"/>
                  <a:pt x="339539" y="1028700"/>
                  <a:pt x="719418" y="699247"/>
                </a:cubicBezTo>
                <a:cubicBezTo>
                  <a:pt x="1099297" y="369794"/>
                  <a:pt x="1689287" y="184897"/>
                  <a:pt x="2279277" y="0"/>
                </a:cubicBez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 14"/>
          <p:cNvSpPr/>
          <p:nvPr/>
        </p:nvSpPr>
        <p:spPr>
          <a:xfrm>
            <a:off x="726141" y="820271"/>
            <a:ext cx="3133165" cy="2023782"/>
          </a:xfrm>
          <a:custGeom>
            <a:avLst/>
            <a:gdLst>
              <a:gd name="connsiteX0" fmla="*/ 0 w 3133165"/>
              <a:gd name="connsiteY0" fmla="*/ 2023782 h 2023782"/>
              <a:gd name="connsiteX1" fmla="*/ 53788 w 3133165"/>
              <a:gd name="connsiteY1" fmla="*/ 1969994 h 2023782"/>
              <a:gd name="connsiteX2" fmla="*/ 1055594 w 3133165"/>
              <a:gd name="connsiteY2" fmla="*/ 927847 h 2023782"/>
              <a:gd name="connsiteX3" fmla="*/ 3133165 w 3133165"/>
              <a:gd name="connsiteY3" fmla="*/ 0 h 202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3165" h="2023782">
                <a:moveTo>
                  <a:pt x="0" y="2023782"/>
                </a:moveTo>
                <a:lnTo>
                  <a:pt x="53788" y="1969994"/>
                </a:lnTo>
                <a:cubicBezTo>
                  <a:pt x="229720" y="1787338"/>
                  <a:pt x="542365" y="1256179"/>
                  <a:pt x="1055594" y="927847"/>
                </a:cubicBezTo>
                <a:cubicBezTo>
                  <a:pt x="1568824" y="599515"/>
                  <a:pt x="2350994" y="299757"/>
                  <a:pt x="3133165" y="0"/>
                </a:cubicBez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 15"/>
          <p:cNvSpPr/>
          <p:nvPr/>
        </p:nvSpPr>
        <p:spPr>
          <a:xfrm>
            <a:off x="726141" y="1719094"/>
            <a:ext cx="3328147" cy="1420794"/>
          </a:xfrm>
          <a:custGeom>
            <a:avLst/>
            <a:gdLst>
              <a:gd name="connsiteX0" fmla="*/ 0 w 3328147"/>
              <a:gd name="connsiteY0" fmla="*/ 1165300 h 1420794"/>
              <a:gd name="connsiteX1" fmla="*/ 1976718 w 3328147"/>
              <a:gd name="connsiteY1" fmla="*/ 2130 h 1420794"/>
              <a:gd name="connsiteX2" fmla="*/ 3328147 w 3328147"/>
              <a:gd name="connsiteY2" fmla="*/ 1420794 h 14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28147" h="1420794">
                <a:moveTo>
                  <a:pt x="0" y="1165300"/>
                </a:moveTo>
                <a:cubicBezTo>
                  <a:pt x="711013" y="562424"/>
                  <a:pt x="1422027" y="-40452"/>
                  <a:pt x="1976718" y="2130"/>
                </a:cubicBezTo>
                <a:cubicBezTo>
                  <a:pt x="2531409" y="44712"/>
                  <a:pt x="2929778" y="732753"/>
                  <a:pt x="3328147" y="1420794"/>
                </a:cubicBez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238935" y="1012510"/>
            <a:ext cx="235324" cy="69367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514424" y="863063"/>
            <a:ext cx="235324" cy="8996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748118" y="1947158"/>
            <a:ext cx="215153" cy="139313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741644" y="2621070"/>
            <a:ext cx="117662" cy="176051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91820" y="2875167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Earth Surface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64211" y="3237927"/>
            <a:ext cx="165200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Sky wave propagation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69216" y="1639172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err="1">
                <a:solidFill>
                  <a:schemeClr val="tx1"/>
                </a:solidFill>
              </a:rPr>
              <a:t>Ionospheric</a:t>
            </a:r>
            <a:r>
              <a:rPr lang="en-IN" sz="1200" dirty="0">
                <a:solidFill>
                  <a:schemeClr val="tx1"/>
                </a:solidFill>
              </a:rPr>
              <a:t>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463" y="2188576"/>
            <a:ext cx="271739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782" y="1913066"/>
            <a:ext cx="271739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93" y="1218163"/>
            <a:ext cx="33200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F</a:t>
            </a:r>
            <a:r>
              <a:rPr lang="en-IN" sz="12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331" y="1498483"/>
            <a:ext cx="332006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F</a:t>
            </a:r>
            <a:r>
              <a:rPr lang="en-IN" sz="1200" baseline="-25000" dirty="0">
                <a:solidFill>
                  <a:schemeClr val="tx1"/>
                </a:solidFill>
              </a:rPr>
              <a:t>1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6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Space Wave Propagation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699636"/>
            <a:ext cx="8983639" cy="247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radio waves having high frequencies are basically called as space waves. 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Occur within the lower 20 km of the atmosphere (troposphere), and are comprised of a direct and reflected wave(</a:t>
            </a:r>
            <a:r>
              <a:rPr lang="en-US" sz="20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Tropospherical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Propagation)</a:t>
            </a:r>
            <a:r>
              <a:rPr lang="en-US" sz="2000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Space waves can travel directly or can travel after reflecting from earth’s surface to the troposphere surface of earth.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7781" y="3560135"/>
            <a:ext cx="3078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Frequency Bands VHF, UHF, SHF, EHF use space wave propagation. </a:t>
            </a:r>
          </a:p>
        </p:txBody>
      </p:sp>
      <p:sp>
        <p:nvSpPr>
          <p:cNvPr id="7" name="Freeform 6"/>
          <p:cNvSpPr/>
          <p:nvPr/>
        </p:nvSpPr>
        <p:spPr>
          <a:xfrm>
            <a:off x="864764" y="4483465"/>
            <a:ext cx="3879477" cy="370430"/>
          </a:xfrm>
          <a:custGeom>
            <a:avLst/>
            <a:gdLst>
              <a:gd name="connsiteX0" fmla="*/ 0 w 3529853"/>
              <a:gd name="connsiteY0" fmla="*/ 437514 h 511473"/>
              <a:gd name="connsiteX1" fmla="*/ 1606923 w 3529853"/>
              <a:gd name="connsiteY1" fmla="*/ 485 h 511473"/>
              <a:gd name="connsiteX2" fmla="*/ 3529853 w 3529853"/>
              <a:gd name="connsiteY2" fmla="*/ 511473 h 511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29853" h="511473">
                <a:moveTo>
                  <a:pt x="0" y="437514"/>
                </a:moveTo>
                <a:cubicBezTo>
                  <a:pt x="509307" y="212836"/>
                  <a:pt x="1018614" y="-11841"/>
                  <a:pt x="1606923" y="485"/>
                </a:cubicBezTo>
                <a:cubicBezTo>
                  <a:pt x="2195232" y="12811"/>
                  <a:pt x="2862542" y="262142"/>
                  <a:pt x="3529853" y="5114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013696" y="4483465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Earth Surface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2824">
            <a:off x="544664" y="3590017"/>
            <a:ext cx="854682" cy="11766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6874">
            <a:off x="4229369" y="3653449"/>
            <a:ext cx="854682" cy="11766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474" y="3396392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Transmitter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2653" y="3462122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Receiver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324535" y="3755038"/>
            <a:ext cx="1253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578472" y="3755038"/>
            <a:ext cx="1670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24535" y="3755038"/>
            <a:ext cx="874059" cy="48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198594" y="4241406"/>
            <a:ext cx="417715" cy="2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1"/>
          </p:cNvCxnSpPr>
          <p:nvPr/>
        </p:nvCxnSpPr>
        <p:spPr>
          <a:xfrm flipV="1">
            <a:off x="2630849" y="4241406"/>
            <a:ext cx="562827" cy="24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169621" y="3755036"/>
            <a:ext cx="1068054" cy="494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10071" y="3502756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Direct wave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4333" y="4088698"/>
            <a:ext cx="1129553" cy="292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Reflected wave</a:t>
            </a:r>
          </a:p>
        </p:txBody>
      </p:sp>
    </p:spTree>
    <p:extLst>
      <p:ext uri="{BB962C8B-B14F-4D97-AF65-F5344CB8AC3E}">
        <p14:creationId xmlns:p14="http://schemas.microsoft.com/office/powerpoint/2010/main" val="3287369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Space wave Propagation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Limitations of space wave propagation</a:t>
            </a:r>
          </a:p>
          <a:p>
            <a:r>
              <a:rPr lang="en-US" dirty="0"/>
              <a:t>Space waves are limited to the curvature of the earth.</a:t>
            </a:r>
          </a:p>
          <a:p>
            <a:r>
              <a:rPr lang="en-US" dirty="0"/>
              <a:t>These waves have line of sight propagation, means their propagation is along the line of sight distance.</a:t>
            </a:r>
          </a:p>
          <a:p>
            <a:r>
              <a:rPr lang="en-US" dirty="0"/>
              <a:t>Increase the transmission distance can be done by simply extending the heights of both the sender as well as the receiver antenna. </a:t>
            </a:r>
          </a:p>
          <a:p>
            <a:r>
              <a:rPr lang="en-US" dirty="0"/>
              <a:t>This type of propagation is used basically in radar and television communication. </a:t>
            </a:r>
          </a:p>
          <a:p>
            <a:r>
              <a:rPr lang="en-US" dirty="0"/>
              <a:t>Directional antennas are used for space wave propagation.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1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IN" dirty="0"/>
              <a:t>The radio waves take multipath during the propagation</a:t>
            </a:r>
          </a:p>
          <a:p>
            <a:r>
              <a:rPr lang="en-IN" dirty="0"/>
              <a:t>Radio waves get reflected, diffracted, scattered before reaching the receiver</a:t>
            </a:r>
          </a:p>
          <a:p>
            <a:r>
              <a:rPr lang="en-IN" dirty="0"/>
              <a:t>Radio waves propagate through various  modes of propagation like ground wave, Ionosphere propagation and Space wave propagation.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3673</TotalTime>
  <Words>732</Words>
  <Application>Microsoft Office PowerPoint</Application>
  <PresentationFormat>On-screen Show (16:9)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252</cp:revision>
  <dcterms:created xsi:type="dcterms:W3CDTF">2015-06-09T08:31:04Z</dcterms:created>
  <dcterms:modified xsi:type="dcterms:W3CDTF">2025-04-17T13:02:01Z</dcterms:modified>
</cp:coreProperties>
</file>