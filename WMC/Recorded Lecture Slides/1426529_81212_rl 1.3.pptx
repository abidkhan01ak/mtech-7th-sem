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5" r:id="rId1"/>
  </p:sldMasterIdLst>
  <p:notesMasterIdLst>
    <p:notesMasterId r:id="rId18"/>
  </p:notesMasterIdLst>
  <p:handoutMasterIdLst>
    <p:handoutMasterId r:id="rId19"/>
  </p:handoutMasterIdLst>
  <p:sldIdLst>
    <p:sldId id="419" r:id="rId2"/>
    <p:sldId id="420" r:id="rId3"/>
    <p:sldId id="421" r:id="rId4"/>
    <p:sldId id="422" r:id="rId5"/>
    <p:sldId id="423" r:id="rId6"/>
    <p:sldId id="424" r:id="rId7"/>
    <p:sldId id="425" r:id="rId8"/>
    <p:sldId id="426" r:id="rId9"/>
    <p:sldId id="427" r:id="rId10"/>
    <p:sldId id="428" r:id="rId11"/>
    <p:sldId id="429" r:id="rId12"/>
    <p:sldId id="430" r:id="rId13"/>
    <p:sldId id="431" r:id="rId14"/>
    <p:sldId id="432" r:id="rId15"/>
    <p:sldId id="433" r:id="rId16"/>
    <p:sldId id="391" r:id="rId17"/>
  </p:sldIdLst>
  <p:sldSz cx="9144000" cy="5143500" type="screen16x9"/>
  <p:notesSz cx="6858000" cy="9144000"/>
  <p:custDataLst>
    <p:tags r:id="rId2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56" autoAdjust="0"/>
    <p:restoredTop sz="91562" autoAdjust="0"/>
  </p:normalViewPr>
  <p:slideViewPr>
    <p:cSldViewPr snapToGrid="0">
      <p:cViewPr varScale="1">
        <p:scale>
          <a:sx n="94" d="100"/>
          <a:sy n="94" d="100"/>
        </p:scale>
        <p:origin x="1123" y="77"/>
      </p:cViewPr>
      <p:guideLst>
        <p:guide orient="horz" pos="2160"/>
        <p:guide pos="2880"/>
        <p:guide orient="horz" pos="16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55" d="100"/>
          <a:sy n="55" d="100"/>
        </p:scale>
        <p:origin x="-2844" y="-10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394F4B-DBDD-4BF7-B613-78EDB047F2F9}" type="datetimeFigureOut">
              <a:rPr lang="en-US" smtClean="0"/>
              <a:pPr/>
              <a:t>4/17/2025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01AD7E-7F9D-4576-9772-0B1B702F1F5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50782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42289B-64AB-40F4-866F-7386DC470D15}" type="datetimeFigureOut">
              <a:rPr lang="en-US" smtClean="0"/>
              <a:pPr/>
              <a:t>4/17/2025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38DE6F-CB63-4507-A312-B89798DB40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56821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38DE6F-CB63-4507-A312-B89798DB40FF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6738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16"/>
          <p:cNvSpPr>
            <a:spLocks noGrp="1"/>
          </p:cNvSpPr>
          <p:nvPr>
            <p:ph sz="quarter" idx="10" hasCustomPrompt="1"/>
          </p:nvPr>
        </p:nvSpPr>
        <p:spPr>
          <a:xfrm>
            <a:off x="245444" y="116706"/>
            <a:ext cx="6537960" cy="58293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200" b="1" spc="225" baseline="0">
                <a:solidFill>
                  <a:srgbClr val="FF0000"/>
                </a:solidFill>
                <a:effectLst/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Topic name here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274320" y="754380"/>
            <a:ext cx="8503920" cy="4114800"/>
          </a:xfrm>
          <a:prstGeom prst="rect">
            <a:avLst/>
          </a:prstGeom>
        </p:spPr>
        <p:txBody>
          <a:bodyPr lIns="0" rIns="0"/>
          <a:lstStyle>
            <a:lvl1pPr marL="255985" marR="0" indent="-255985" algn="just" defTabSz="685800" rtl="0" eaLnBrk="1" fontAlgn="auto" latinLnBrk="0" hangingPunct="1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FF0000"/>
              </a:buClr>
              <a:buSzTx/>
              <a:buFont typeface="Arial" pitchFamily="34" charset="0"/>
              <a:buChar char="•"/>
              <a:tabLst/>
              <a:defRPr sz="1800">
                <a:latin typeface="Arial" pitchFamily="34" charset="0"/>
                <a:cs typeface="Arial" pitchFamily="34" charset="0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2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0" y="685801"/>
            <a:ext cx="7010400" cy="34289"/>
            <a:chOff x="1905000" y="6553200"/>
            <a:chExt cx="7010400" cy="45719"/>
          </a:xfrm>
        </p:grpSpPr>
        <p:sp>
          <p:nvSpPr>
            <p:cNvPr id="6" name="Rectangle 5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800" dirty="0">
                <a:solidFill>
                  <a:srgbClr val="FFFFFF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800" dirty="0">
                <a:solidFill>
                  <a:srgbClr val="FFFFFF"/>
                </a:solidFill>
              </a:endParaRPr>
            </a:p>
          </p:txBody>
        </p:sp>
        <p:sp>
          <p:nvSpPr>
            <p:cNvPr id="8" name="Rectangle 7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800" dirty="0">
                <a:solidFill>
                  <a:srgbClr val="FFFFFF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200152"/>
            <a:ext cx="8229600" cy="3394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8195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5pPr>
      <a:lvl6pPr marL="3429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6pPr>
      <a:lvl7pPr marL="6858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7pPr>
      <a:lvl8pPr marL="10287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8pPr>
      <a:lvl9pPr marL="13716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200" b="1" kern="1200">
          <a:solidFill>
            <a:schemeClr val="tx1"/>
          </a:solidFill>
          <a:effectLst/>
          <a:latin typeface="Arial" pitchFamily="34" charset="0"/>
          <a:ea typeface="+mn-ea"/>
          <a:cs typeface="Arial" pitchFamily="34" charset="0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Cellular Network- 1G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/>
            <a:r>
              <a:rPr lang="en-US" sz="2000" dirty="0"/>
              <a:t>Goal: To develop a working system that could provide basic </a:t>
            </a:r>
            <a:r>
              <a:rPr lang="en-US" sz="2000" dirty="0">
                <a:solidFill>
                  <a:schemeClr val="accent1"/>
                </a:solidFill>
              </a:rPr>
              <a:t>voice</a:t>
            </a:r>
            <a:r>
              <a:rPr lang="en-US" sz="2000" dirty="0"/>
              <a:t> service</a:t>
            </a:r>
          </a:p>
          <a:p>
            <a:pPr marL="457200" indent="-457200"/>
            <a:r>
              <a:rPr lang="en-US" sz="2000" dirty="0"/>
              <a:t>Time frame: 1980s </a:t>
            </a:r>
          </a:p>
          <a:p>
            <a:pPr marL="457200" indent="-457200"/>
            <a:r>
              <a:rPr lang="en-US" sz="2000" dirty="0"/>
              <a:t>Technology: FDMA/FDD</a:t>
            </a:r>
          </a:p>
          <a:p>
            <a:pPr marL="457200" indent="-457200"/>
            <a:r>
              <a:rPr lang="en-US" sz="2000" dirty="0"/>
              <a:t>Speed: 2.4Kbps</a:t>
            </a:r>
          </a:p>
          <a:p>
            <a:pPr marL="457200" indent="-457200"/>
            <a:r>
              <a:rPr lang="en-US" sz="2000" dirty="0"/>
              <a:t>1G network used Analog signal</a:t>
            </a:r>
          </a:p>
          <a:p>
            <a:pPr marL="457200" indent="-457200"/>
            <a:r>
              <a:rPr lang="en-US" sz="2000" dirty="0"/>
              <a:t>Example Systems: </a:t>
            </a:r>
          </a:p>
          <a:p>
            <a:pPr lvl="1"/>
            <a:r>
              <a:rPr lang="en-US" sz="1800" dirty="0"/>
              <a:t>Advanced Mobile Phone System (AMPS-USA)</a:t>
            </a:r>
          </a:p>
          <a:p>
            <a:pPr lvl="1"/>
            <a:r>
              <a:rPr lang="en-US" sz="1800" dirty="0"/>
              <a:t>Total Access Communication System (TACS-UK)</a:t>
            </a:r>
          </a:p>
          <a:p>
            <a:pPr lvl="1"/>
            <a:r>
              <a:rPr lang="en-US" sz="1800" dirty="0"/>
              <a:t>Nordic Mobile Telephone (NMT-Europe)</a:t>
            </a:r>
          </a:p>
          <a:p>
            <a:pPr marL="0" indent="0">
              <a:lnSpc>
                <a:spcPct val="90000"/>
              </a:lnSpc>
            </a:pPr>
            <a:endParaRPr lang="en-US" sz="2000" dirty="0"/>
          </a:p>
          <a:p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9093426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IN" dirty="0"/>
          </a:p>
          <a:p>
            <a:r>
              <a:rPr lang="en-IN" dirty="0"/>
              <a:t>Draw backs of 1G</a:t>
            </a:r>
          </a:p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5444" y="775646"/>
            <a:ext cx="8503920" cy="4114800"/>
          </a:xfrm>
        </p:spPr>
        <p:txBody>
          <a:bodyPr/>
          <a:lstStyle/>
          <a:p>
            <a:r>
              <a:rPr lang="en-IN" dirty="0"/>
              <a:t>Poor voice quality</a:t>
            </a:r>
          </a:p>
          <a:p>
            <a:pPr marL="0" indent="0"/>
            <a:endParaRPr lang="en-IN" dirty="0"/>
          </a:p>
          <a:p>
            <a:r>
              <a:rPr lang="en-IN" dirty="0"/>
              <a:t>Poor battery life</a:t>
            </a:r>
          </a:p>
          <a:p>
            <a:pPr marL="0" indent="0"/>
            <a:endParaRPr lang="en-IN" dirty="0"/>
          </a:p>
          <a:p>
            <a:r>
              <a:rPr lang="en-IN" dirty="0"/>
              <a:t>Large phone size</a:t>
            </a:r>
          </a:p>
          <a:p>
            <a:pPr marL="0" indent="0"/>
            <a:endParaRPr lang="en-IN" dirty="0"/>
          </a:p>
          <a:p>
            <a:r>
              <a:rPr lang="en-IN" dirty="0"/>
              <a:t>Limited capacity</a:t>
            </a:r>
          </a:p>
          <a:p>
            <a:pPr marL="0" indent="0"/>
            <a:endParaRPr lang="en-IN" dirty="0"/>
          </a:p>
          <a:p>
            <a:r>
              <a:rPr lang="en-IN" dirty="0"/>
              <a:t>Poor handoff reliability</a:t>
            </a:r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48829" t="43750" r="45314" b="36808"/>
          <a:stretch/>
        </p:blipFill>
        <p:spPr>
          <a:xfrm>
            <a:off x="4614530" y="1428307"/>
            <a:ext cx="1295400" cy="1943100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99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913293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Cellular Network-2G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/>
            <a:r>
              <a:rPr lang="en-US" sz="2000" dirty="0"/>
              <a:t>Goal: </a:t>
            </a:r>
            <a:r>
              <a:rPr lang="en-US" sz="2000" dirty="0">
                <a:solidFill>
                  <a:schemeClr val="accent1"/>
                </a:solidFill>
              </a:rPr>
              <a:t>Digital</a:t>
            </a:r>
            <a:r>
              <a:rPr lang="en-US" sz="2000" dirty="0"/>
              <a:t> voice service with improved quality and also provide better services</a:t>
            </a:r>
          </a:p>
          <a:p>
            <a:pPr marL="457200" indent="-457200"/>
            <a:r>
              <a:rPr lang="en-US" sz="2000" dirty="0"/>
              <a:t>Time Frame: Launched in Finland in 1991</a:t>
            </a:r>
          </a:p>
          <a:p>
            <a:pPr marL="457200" indent="-457200"/>
            <a:r>
              <a:rPr lang="en-US" sz="2000" dirty="0"/>
              <a:t>Used digital signals</a:t>
            </a:r>
          </a:p>
          <a:p>
            <a:pPr marL="457200" indent="-457200"/>
            <a:r>
              <a:rPr lang="en-US" sz="2000" dirty="0"/>
              <a:t>Digital modulation formats were introduced in this generation with the main technology as TDMA/FDD </a:t>
            </a:r>
          </a:p>
          <a:p>
            <a:pPr marL="457200" indent="-457200"/>
            <a:r>
              <a:rPr lang="en-US" sz="2000" dirty="0"/>
              <a:t>Data Speed: </a:t>
            </a:r>
            <a:r>
              <a:rPr lang="en-US" sz="2000" dirty="0" err="1"/>
              <a:t>upto</a:t>
            </a:r>
            <a:r>
              <a:rPr lang="en-US" sz="2000" dirty="0"/>
              <a:t> 64kbps</a:t>
            </a:r>
          </a:p>
          <a:p>
            <a:pPr marL="457200" indent="-457200"/>
            <a:r>
              <a:rPr lang="en-US" sz="2000" dirty="0"/>
              <a:t>Services like text message, picture message was included.</a:t>
            </a:r>
          </a:p>
          <a:p>
            <a:pPr marL="457200" indent="-457200"/>
            <a:r>
              <a:rPr lang="en-US" sz="2000" dirty="0"/>
              <a:t>Example Systems:</a:t>
            </a:r>
          </a:p>
          <a:p>
            <a:pPr lvl="1"/>
            <a:r>
              <a:rPr lang="en-US" sz="1800" dirty="0"/>
              <a:t>Global System for Mobile Communications (GSM) (TDMA and FDMA)</a:t>
            </a:r>
          </a:p>
          <a:p>
            <a:pPr lvl="1"/>
            <a:r>
              <a:rPr lang="en-US" sz="1800" dirty="0"/>
              <a:t>IS-95(Interim Standard) (CDMA)</a:t>
            </a:r>
            <a:endParaRPr lang="en-US" sz="1050" dirty="0"/>
          </a:p>
          <a:p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659302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Cellular Network- 2.5G</a:t>
            </a:r>
            <a:endParaRPr lang="en-IN" dirty="0"/>
          </a:p>
        </p:txBody>
      </p:sp>
      <p:sp>
        <p:nvSpPr>
          <p:cNvPr id="4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000" dirty="0">
                <a:latin typeface="+mj-lt"/>
              </a:rPr>
              <a:t>Goal: To provide better data rates and wider range of data services and it was </a:t>
            </a:r>
            <a:r>
              <a:rPr lang="en-US" sz="2000" dirty="0">
                <a:solidFill>
                  <a:schemeClr val="accent1"/>
                </a:solidFill>
                <a:latin typeface="+mj-lt"/>
              </a:rPr>
              <a:t>a transition  from 2G to 3G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000" dirty="0">
                <a:latin typeface="+mj-lt"/>
              </a:rPr>
              <a:t>Time frame: 2000-2002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000" dirty="0">
                <a:latin typeface="+mj-lt"/>
              </a:rPr>
              <a:t>Features</a:t>
            </a:r>
          </a:p>
          <a:p>
            <a:pPr marL="857250" lvl="1" indent="-457200">
              <a:buFont typeface="Arial" pitchFamily="34" charset="0"/>
              <a:buChar char="•"/>
            </a:pPr>
            <a:r>
              <a:rPr lang="en-US" sz="1600" dirty="0">
                <a:latin typeface="+mj-lt"/>
              </a:rPr>
              <a:t>Phone calls</a:t>
            </a:r>
          </a:p>
          <a:p>
            <a:pPr marL="857250" lvl="1" indent="-457200">
              <a:buFont typeface="Arial" pitchFamily="34" charset="0"/>
              <a:buChar char="•"/>
            </a:pPr>
            <a:r>
              <a:rPr lang="en-US" sz="1600" dirty="0">
                <a:latin typeface="+mj-lt"/>
              </a:rPr>
              <a:t>Send/receive e-mail</a:t>
            </a:r>
          </a:p>
          <a:p>
            <a:pPr marL="857250" lvl="1" indent="-457200">
              <a:buFont typeface="Arial" pitchFamily="34" charset="0"/>
              <a:buChar char="•"/>
            </a:pPr>
            <a:r>
              <a:rPr lang="en-US" sz="1600" dirty="0">
                <a:latin typeface="+mj-lt"/>
              </a:rPr>
              <a:t>Speed: 64-144kbps</a:t>
            </a:r>
          </a:p>
          <a:p>
            <a:pPr marL="857250" lvl="1" indent="-457200">
              <a:buFont typeface="Arial" pitchFamily="34" charset="0"/>
              <a:buChar char="•"/>
            </a:pPr>
            <a:r>
              <a:rPr lang="en-US" sz="1600" dirty="0">
                <a:latin typeface="+mj-lt"/>
              </a:rPr>
              <a:t>Camera phones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000" dirty="0">
                <a:latin typeface="+mj-lt"/>
              </a:rPr>
              <a:t>Example Systems:</a:t>
            </a:r>
          </a:p>
          <a:p>
            <a:pPr lvl="1"/>
            <a:r>
              <a:rPr lang="en-US" sz="1800" dirty="0">
                <a:latin typeface="+mj-lt"/>
              </a:rPr>
              <a:t>General Packet Radio Service (GPRS)</a:t>
            </a:r>
          </a:p>
          <a:p>
            <a:pPr lvl="1"/>
            <a:r>
              <a:rPr lang="en-US" sz="1800" dirty="0">
                <a:latin typeface="+mj-lt"/>
              </a:rPr>
              <a:t>Enhanced Data rates for GSM Evolution (EDGE)</a:t>
            </a:r>
          </a:p>
          <a:p>
            <a:endParaRPr lang="en-US" sz="1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786111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Drawbacks of 2G</a:t>
            </a:r>
            <a:endParaRPr lang="en-IN" dirty="0"/>
          </a:p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Requires strong digital signals to help mobile phones work. If there is no network coverage in any specific area, digital signals would be weak.</a:t>
            </a:r>
          </a:p>
          <a:p>
            <a:r>
              <a:rPr lang="en-IN" dirty="0"/>
              <a:t> 2G The GSM is a circuit switched, connection oriented technology, where the end systems are dedicated for the entire call session. This causes inefficiency in usage of bandwidth and resources.</a:t>
            </a:r>
          </a:p>
          <a:p>
            <a:r>
              <a:rPr lang="en-IN" dirty="0"/>
              <a:t>The GSM-enabled systems do not support high data rates.</a:t>
            </a:r>
          </a:p>
          <a:p>
            <a:r>
              <a:rPr lang="en-IN" dirty="0"/>
              <a:t>They are unable to handle complex data such as video.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293794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Cellular Network- 3G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lnSpc>
                <a:spcPct val="90000"/>
              </a:lnSpc>
            </a:pPr>
            <a:endParaRPr lang="en-US" dirty="0"/>
          </a:p>
          <a:p>
            <a:pPr marL="457200" indent="-457200">
              <a:lnSpc>
                <a:spcPct val="90000"/>
              </a:lnSpc>
            </a:pPr>
            <a:r>
              <a:rPr lang="en-US" dirty="0"/>
              <a:t>Goal: High speed wireless data access </a:t>
            </a:r>
          </a:p>
          <a:p>
            <a:pPr marL="457200" indent="-457200">
              <a:lnSpc>
                <a:spcPct val="90000"/>
              </a:lnSpc>
            </a:pPr>
            <a:r>
              <a:rPr lang="en-US" dirty="0"/>
              <a:t>3rd Generation Partnership Project (3GPP) is the standard</a:t>
            </a:r>
          </a:p>
          <a:p>
            <a:pPr marL="457200" indent="-457200">
              <a:lnSpc>
                <a:spcPct val="90000"/>
              </a:lnSpc>
            </a:pPr>
            <a:r>
              <a:rPr lang="en-US" dirty="0"/>
              <a:t>Technology used: TD- CDMA</a:t>
            </a:r>
          </a:p>
          <a:p>
            <a:pPr>
              <a:lnSpc>
                <a:spcPct val="90000"/>
              </a:lnSpc>
            </a:pPr>
            <a:r>
              <a:rPr lang="en-US" sz="1400" dirty="0"/>
              <a:t>    </a:t>
            </a:r>
            <a:r>
              <a:rPr lang="en-US" dirty="0"/>
              <a:t>Enhanced data rates of  2- 20Mpbs</a:t>
            </a:r>
          </a:p>
          <a:p>
            <a:pPr marL="457200" indent="-457200">
              <a:lnSpc>
                <a:spcPct val="90000"/>
              </a:lnSpc>
            </a:pPr>
            <a:r>
              <a:rPr lang="en-US" dirty="0"/>
              <a:t>Service flexibility</a:t>
            </a:r>
          </a:p>
          <a:p>
            <a:pPr marL="457200" indent="-457200">
              <a:lnSpc>
                <a:spcPct val="90000"/>
              </a:lnSpc>
            </a:pPr>
            <a:r>
              <a:rPr lang="en-US" dirty="0"/>
              <a:t>Global roaming across networks</a:t>
            </a:r>
          </a:p>
          <a:p>
            <a:pPr marL="457200" indent="-457200">
              <a:lnSpc>
                <a:spcPct val="90000"/>
              </a:lnSpc>
            </a:pPr>
            <a:r>
              <a:rPr lang="en-US" dirty="0"/>
              <a:t>Improved security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40149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3G Applications</a:t>
            </a:r>
            <a:endParaRPr lang="en-IN" dirty="0"/>
          </a:p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3G mobile is the major opportunity for business, commerce and consumers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Higher bandwidth enables a range of new applications</a:t>
            </a:r>
            <a:r>
              <a:rPr lang="en-IN" dirty="0"/>
              <a:t>.</a:t>
            </a:r>
          </a:p>
          <a:p>
            <a:pPr marL="0" indent="0">
              <a:buNone/>
            </a:pPr>
            <a:r>
              <a:rPr lang="en-IN" b="1" dirty="0">
                <a:solidFill>
                  <a:srgbClr val="0070C0"/>
                </a:solidFill>
              </a:rPr>
              <a:t>For the consumer </a:t>
            </a:r>
          </a:p>
          <a:p>
            <a:pPr marL="0" indent="0">
              <a:buNone/>
            </a:pPr>
            <a:r>
              <a:rPr lang="en-IN" dirty="0"/>
              <a:t> Video seamless roaming, TV broadcast </a:t>
            </a:r>
          </a:p>
          <a:p>
            <a:pPr marL="0" indent="0">
              <a:buNone/>
            </a:pPr>
            <a:r>
              <a:rPr lang="en-IN" dirty="0"/>
              <a:t> Video calls, video clips – news, music, sports </a:t>
            </a:r>
          </a:p>
          <a:p>
            <a:pPr marL="0" indent="0">
              <a:buNone/>
            </a:pPr>
            <a:r>
              <a:rPr lang="en-IN" dirty="0"/>
              <a:t> Enhanced gaming, chat, location services…</a:t>
            </a:r>
          </a:p>
          <a:p>
            <a:pPr marL="0" indent="0">
              <a:buNone/>
            </a:pPr>
            <a:r>
              <a:rPr lang="en-IN" dirty="0"/>
              <a:t> </a:t>
            </a:r>
            <a:r>
              <a:rPr lang="en-IN" b="1" dirty="0">
                <a:solidFill>
                  <a:srgbClr val="0070C0"/>
                </a:solidFill>
              </a:rPr>
              <a:t>For business </a:t>
            </a:r>
          </a:p>
          <a:p>
            <a:pPr marL="0" indent="0">
              <a:buNone/>
            </a:pPr>
            <a:r>
              <a:rPr lang="en-IN" dirty="0"/>
              <a:t> High speed teleworking / VPN access </a:t>
            </a:r>
          </a:p>
          <a:p>
            <a:pPr marL="0" indent="0">
              <a:buNone/>
            </a:pPr>
            <a:r>
              <a:rPr lang="en-IN" dirty="0"/>
              <a:t> Sales force automation </a:t>
            </a:r>
          </a:p>
          <a:p>
            <a:pPr marL="0" indent="0">
              <a:buNone/>
            </a:pPr>
            <a:r>
              <a:rPr lang="en-IN" dirty="0"/>
              <a:t> Video conferencing </a:t>
            </a:r>
          </a:p>
          <a:p>
            <a:pPr marL="0" indent="0">
              <a:buNone/>
            </a:pPr>
            <a:r>
              <a:rPr lang="en-IN" dirty="0"/>
              <a:t> Real-time financial information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36219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Cellular Network- 4G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90000"/>
              </a:lnSpc>
              <a:buNone/>
            </a:pPr>
            <a:endParaRPr lang="en-US" dirty="0"/>
          </a:p>
          <a:p>
            <a:pPr marL="0" indent="0">
              <a:lnSpc>
                <a:spcPct val="90000"/>
              </a:lnSpc>
              <a:buNone/>
            </a:pPr>
            <a:r>
              <a:rPr lang="en-US" dirty="0"/>
              <a:t>Goal: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High mobility, High data rate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dirty="0"/>
              <a:t>Frequency Band: 2 to 8 </a:t>
            </a:r>
            <a:r>
              <a:rPr lang="en-US" dirty="0" err="1"/>
              <a:t>Ghz</a:t>
            </a:r>
            <a:r>
              <a:rPr lang="en-US" dirty="0"/>
              <a:t>.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dirty="0"/>
              <a:t>Download speed is </a:t>
            </a:r>
            <a:r>
              <a:rPr lang="en-US" dirty="0" err="1"/>
              <a:t>upto</a:t>
            </a:r>
            <a:r>
              <a:rPr lang="en-US" dirty="0"/>
              <a:t> 100 Mbps for moving users and 1GPS for stationary users.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dirty="0"/>
              <a:t>LTE (Long Term Evolution)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ü"/>
            </a:pPr>
            <a:r>
              <a:rPr lang="en-US" altLang="zh-CN" sz="1800" dirty="0"/>
              <a:t>Uses Orthogonal Frequency Division Multiplexing (OFDM) 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ü"/>
            </a:pPr>
            <a:r>
              <a:rPr lang="en-US" altLang="zh-CN" sz="1800" dirty="0"/>
              <a:t>Uses Multi-input Multi-output(MIMO) for enhanced throughput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761513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Features of 4G</a:t>
            </a:r>
            <a:endParaRPr lang="en-IN" dirty="0"/>
          </a:p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Support for interactive multimedia, voice, streaming video, Internet, and other broadband services</a:t>
            </a:r>
          </a:p>
          <a:p>
            <a:r>
              <a:rPr lang="en-IN" dirty="0"/>
              <a:t>• Fully IP based mobile system</a:t>
            </a:r>
          </a:p>
          <a:p>
            <a:r>
              <a:rPr lang="en-IN" dirty="0"/>
              <a:t>• High speed, high capacity, and low cost‐per‐bit</a:t>
            </a:r>
          </a:p>
          <a:p>
            <a:r>
              <a:rPr lang="en-IN" dirty="0"/>
              <a:t>• Global access, service portability, and scalable mobile services</a:t>
            </a:r>
          </a:p>
          <a:p>
            <a:r>
              <a:rPr lang="en-IN" dirty="0"/>
              <a:t>• Seamless switching, and a variety of Quality of Service</a:t>
            </a:r>
          </a:p>
          <a:p>
            <a:r>
              <a:rPr lang="en-IN" dirty="0"/>
              <a:t>• Better scheduling and call‐admission‐control techniques</a:t>
            </a:r>
          </a:p>
          <a:p>
            <a:r>
              <a:rPr lang="en-IN" dirty="0"/>
              <a:t>• Better spectral efficiency</a:t>
            </a:r>
          </a:p>
          <a:p>
            <a:r>
              <a:rPr lang="en-IN" dirty="0"/>
              <a:t>• Interoperability with existing wireless standards</a:t>
            </a:r>
          </a:p>
          <a:p>
            <a:r>
              <a:rPr lang="en-IN" dirty="0"/>
              <a:t>• Packet switched network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55347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Advantages of 4G</a:t>
            </a:r>
            <a:endParaRPr lang="en-IN" dirty="0"/>
          </a:p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Affordable communication services.</a:t>
            </a:r>
          </a:p>
          <a:p>
            <a:r>
              <a:rPr lang="en-IN" dirty="0"/>
              <a:t>High speed, high capacity and low cost per bit.</a:t>
            </a:r>
          </a:p>
          <a:p>
            <a:r>
              <a:rPr lang="en-IN" dirty="0"/>
              <a:t>Support for interactive multimedia, voice , streaming video, Internet and other broadband services.</a:t>
            </a:r>
          </a:p>
          <a:p>
            <a:r>
              <a:rPr lang="en-IN" dirty="0"/>
              <a:t>Global access, Service portability and scalable mobile services and variety of quality of services provided.</a:t>
            </a:r>
          </a:p>
          <a:p>
            <a:r>
              <a:rPr lang="en-IN" dirty="0"/>
              <a:t>Better spectral efficiency.</a:t>
            </a:r>
          </a:p>
          <a:p>
            <a:r>
              <a:rPr lang="en-IN" dirty="0"/>
              <a:t>seamless network of multiple protocol and air interfaces.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44175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>
          <a:xfrm>
            <a:off x="274320" y="396066"/>
            <a:ext cx="8388193" cy="582930"/>
          </a:xfrm>
        </p:spPr>
        <p:txBody>
          <a:bodyPr/>
          <a:lstStyle/>
          <a:p>
            <a:r>
              <a:rPr kumimoji="1" lang="en-US" altLang="zh-TW" dirty="0"/>
              <a:t>Example of Wireless Communication- Cellular Telephone Systems</a:t>
            </a:r>
            <a:endParaRPr lang="en-US" dirty="0"/>
          </a:p>
          <a:p>
            <a:endParaRPr lang="en-US" dirty="0"/>
          </a:p>
          <a:p>
            <a:r>
              <a:rPr lang="en-IN" dirty="0"/>
              <a:t> </a:t>
            </a:r>
          </a:p>
        </p:txBody>
      </p:sp>
      <p:pic>
        <p:nvPicPr>
          <p:cNvPr id="4" name="Picture 5" descr="D:\mcchiu\course\mobile communications\ch1\1_5.gif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/>
          <a:srcRect b="666"/>
          <a:stretch/>
        </p:blipFill>
        <p:spPr bwMode="auto">
          <a:xfrm>
            <a:off x="1562985" y="1168732"/>
            <a:ext cx="5143673" cy="32737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/>
          <p:cNvSpPr/>
          <p:nvPr/>
        </p:nvSpPr>
        <p:spPr>
          <a:xfrm>
            <a:off x="4699591" y="4355848"/>
            <a:ext cx="2007067" cy="458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8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Courtesy to Theodore S. Rappaport       </a:t>
            </a:r>
            <a:endParaRPr lang="en-IN" sz="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8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©2002, 1996 Prentice Hall PTR</a:t>
            </a:r>
            <a:endParaRPr lang="en-IN" sz="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2260" y="3976577"/>
            <a:ext cx="2232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Fig: A cellular system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859402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kumimoji="1" lang="en-US" altLang="zh-TW" sz="2000" dirty="0"/>
              <a:t>Communication between the base station and mobiles is defined by the standard </a:t>
            </a:r>
            <a:r>
              <a:rPr kumimoji="1" lang="en-US" altLang="zh-TW" sz="2000" dirty="0">
                <a:solidFill>
                  <a:srgbClr val="0000FF"/>
                </a:solidFill>
              </a:rPr>
              <a:t>Common Air Interface (CAI)</a:t>
            </a:r>
          </a:p>
          <a:p>
            <a:pPr lvl="1">
              <a:buFontTx/>
              <a:buChar char="–"/>
            </a:pPr>
            <a:r>
              <a:rPr kumimoji="1" lang="en-US" altLang="zh-TW" sz="2000" dirty="0">
                <a:solidFill>
                  <a:srgbClr val="FF0000"/>
                </a:solidFill>
              </a:rPr>
              <a:t>forward voice channel (FVC): </a:t>
            </a:r>
            <a:r>
              <a:rPr kumimoji="1" lang="en-US" altLang="zh-TW" sz="2000" dirty="0"/>
              <a:t>voice transmission from base station to mobile</a:t>
            </a:r>
          </a:p>
          <a:p>
            <a:pPr lvl="1">
              <a:buFontTx/>
              <a:buChar char="–"/>
            </a:pPr>
            <a:r>
              <a:rPr kumimoji="1" lang="en-US" altLang="zh-TW" sz="2000" dirty="0">
                <a:solidFill>
                  <a:srgbClr val="FF0000"/>
                </a:solidFill>
              </a:rPr>
              <a:t>reverse voice channel (RVC):  </a:t>
            </a:r>
            <a:r>
              <a:rPr kumimoji="1" lang="en-US" altLang="zh-TW" sz="2000" dirty="0"/>
              <a:t>voice transmission from mobile to base station</a:t>
            </a:r>
          </a:p>
          <a:p>
            <a:pPr lvl="1">
              <a:buFontTx/>
              <a:buChar char="–"/>
            </a:pPr>
            <a:r>
              <a:rPr kumimoji="1" lang="en-US" altLang="zh-TW" sz="2000" dirty="0">
                <a:solidFill>
                  <a:srgbClr val="FF0000"/>
                </a:solidFill>
              </a:rPr>
              <a:t>forward control channels (FCC): </a:t>
            </a:r>
            <a:r>
              <a:rPr kumimoji="1" lang="en-US" altLang="zh-TW" sz="2000" dirty="0"/>
              <a:t>initiating mobile call from base station to mobile</a:t>
            </a:r>
          </a:p>
          <a:p>
            <a:pPr lvl="1">
              <a:buFontTx/>
              <a:buChar char="–"/>
            </a:pPr>
            <a:r>
              <a:rPr kumimoji="1" lang="en-US" altLang="zh-TW" sz="2000" dirty="0">
                <a:solidFill>
                  <a:srgbClr val="FF0000"/>
                </a:solidFill>
              </a:rPr>
              <a:t>reverse control channel (RCC):</a:t>
            </a:r>
            <a:r>
              <a:rPr kumimoji="1" lang="en-US" altLang="zh-TW" sz="2000" dirty="0"/>
              <a:t> initiating mobile call from mobile to base station</a:t>
            </a:r>
          </a:p>
          <a:p>
            <a:endParaRPr lang="en-IN" sz="1400" dirty="0"/>
          </a:p>
        </p:txBody>
      </p:sp>
      <p:sp>
        <p:nvSpPr>
          <p:cNvPr id="2" name="Rectangle 1"/>
          <p:cNvSpPr/>
          <p:nvPr/>
        </p:nvSpPr>
        <p:spPr>
          <a:xfrm>
            <a:off x="274319" y="0"/>
            <a:ext cx="8449733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TW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 of Wireless Communication- Cellular Telephone Systems</a:t>
            </a:r>
            <a:endParaRPr lang="en-US" sz="22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2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466006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How a Cellular Call is Made</a:t>
            </a:r>
          </a:p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§"/>
            </a:pPr>
            <a:r>
              <a:rPr lang="en-US" dirty="0"/>
              <a:t>A cell phone when turned on(even when it is not engaged with the call) , scans the group of Control Channels  to determine the one with the strongest signal.</a:t>
            </a:r>
          </a:p>
          <a:p>
            <a:pPr>
              <a:buFont typeface="Wingdings" pitchFamily="2" charset="2"/>
              <a:buChar char="§"/>
            </a:pPr>
            <a:endParaRPr lang="en-US" dirty="0"/>
          </a:p>
          <a:p>
            <a:pPr>
              <a:buFont typeface="Wingdings" pitchFamily="2" charset="2"/>
              <a:buChar char="§"/>
            </a:pPr>
            <a:r>
              <a:rPr lang="en-US" dirty="0"/>
              <a:t>Typically the control channels use up to 5% of the total number of channels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93252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Call initiated by Mobile</a:t>
            </a:r>
            <a:endParaRPr lang="en-IN" dirty="0"/>
          </a:p>
          <a:p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84209042"/>
              </p:ext>
            </p:extLst>
          </p:nvPr>
        </p:nvGraphicFramePr>
        <p:xfrm>
          <a:off x="132200" y="793215"/>
          <a:ext cx="8923664" cy="49832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39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339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22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26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6537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894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3894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9861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MSC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Receives call initiation request from base station and verifies mobile has valid MIN and ESN 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Instructs originating base station to allot voice channels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connects the mobile with the called party on PSTN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2132">
                <a:tc rowSpan="4">
                  <a:txBody>
                    <a:bodyPr/>
                    <a:lstStyle/>
                    <a:p>
                      <a:pPr algn="l" fontAlgn="ctr"/>
                      <a:r>
                        <a:rPr lang="en-IN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Base Station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FCC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Instruct mobile to move to voice channel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213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RCC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Receives call initiation request and MIN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449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FVC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Begin voice transmission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449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RVC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Begin voice reception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2132">
                <a:tc rowSpan="4">
                  <a:txBody>
                    <a:bodyPr/>
                    <a:lstStyle/>
                    <a:p>
                      <a:pPr algn="l" fontAlgn="ctr"/>
                      <a:r>
                        <a:rPr lang="en-IN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Mobile station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FCC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Receives instruction to move to voice channel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1817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RCC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Sends a call initiation request along with MIN and number of called party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3007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FVC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Begin voice reception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8408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RVC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Begin voice transmission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54501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94967156"/>
              </p:ext>
            </p:extLst>
          </p:nvPr>
        </p:nvGraphicFramePr>
        <p:xfrm>
          <a:off x="121183" y="88888"/>
          <a:ext cx="8923664" cy="49832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39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339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22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26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6537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894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3894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9861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MSC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Receives call initiation request from base station and verifies mobile has valid MIN and ESN 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Instructs originating base station to allot voice channels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connects the mobile with the called party on PSTN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2132">
                <a:tc rowSpan="4">
                  <a:txBody>
                    <a:bodyPr/>
                    <a:lstStyle/>
                    <a:p>
                      <a:pPr algn="l" fontAlgn="ctr"/>
                      <a:r>
                        <a:rPr lang="en-IN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Base Station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FCC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Instruct mobile to move to voice channel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213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RCC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Receives call initiation request and MIN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449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FVC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Begin voice transmission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449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RVC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Begin voice reception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2132">
                <a:tc rowSpan="4">
                  <a:txBody>
                    <a:bodyPr/>
                    <a:lstStyle/>
                    <a:p>
                      <a:pPr algn="l" fontAlgn="ctr"/>
                      <a:r>
                        <a:rPr lang="en-IN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Mobile station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FCC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Receives instruction to move to voice channel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1817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RCC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Sends a call initiation request along with MIN and number of called party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3007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FVC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Begin voice reception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8408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RVC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Begin voice transmission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7" marR="7427" marT="7427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00271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1G cellular network was developed to provide basic voice service. It was analog in nature.</a:t>
            </a:r>
          </a:p>
          <a:p>
            <a:r>
              <a:rPr lang="en-US" dirty="0"/>
              <a:t>2G was developed to provide digital voice service with improved quality.</a:t>
            </a:r>
          </a:p>
          <a:p>
            <a:r>
              <a:rPr lang="en-US" dirty="0"/>
              <a:t>To achieve high speed data access, 3G was developed. 3G mobile provided major opportunity for business, commerce and consumers</a:t>
            </a:r>
          </a:p>
          <a:p>
            <a:r>
              <a:rPr lang="en-US" dirty="0"/>
              <a:t>Next generation 4G was developed for very high data rates and </a:t>
            </a:r>
            <a:r>
              <a:rPr lang="en-IN" dirty="0"/>
              <a:t>Support for interactive multimedia, voice, streaming video, Internet, and other broadband services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8.0&quot;&gt;&lt;object type=&quot;1&quot; unique_id=&quot;10001&quot;&gt;&lt;object type=&quot;2&quot; unique_id=&quot;10016&quot;&gt;&lt;object type=&quot;3&quot; unique_id=&quot;10017&quot;&gt;&lt;property id=&quot;20148&quot; value=&quot;5&quot;/&gt;&lt;property id=&quot;20300&quot; value=&quot;Slide 1&quot;/&gt;&lt;property id=&quot;20307&quot; value=&quot;381&quot;/&gt;&lt;/object&gt;&lt;object type=&quot;3&quot; unique_id=&quot;10051&quot;&gt;&lt;property id=&quot;20148&quot; value=&quot;5&quot;/&gt;&lt;property id=&quot;20300&quot; value=&quot;Slide 2&quot;/&gt;&lt;property id=&quot;20307&quot; value=&quot;386&quot;/&gt;&lt;/object&gt;&lt;object type=&quot;3&quot; unique_id=&quot;10052&quot;&gt;&lt;property id=&quot;20148&quot; value=&quot;5&quot;/&gt;&lt;property id=&quot;20300&quot; value=&quot;Slide 3&quot;/&gt;&lt;property id=&quot;20307&quot; value=&quot;387&quot;/&gt;&lt;/object&gt;&lt;/object&gt;&lt;object type=&quot;8&quot; unique_id=&quot;10026&quot;&gt;&lt;/object&gt;&lt;/object&gt;&lt;/database&gt;"/>
  <p:tag name="SECTOMILLISECCONVERTED" val="1"/>
</p:tagLst>
</file>

<file path=ppt/theme/theme1.xml><?xml version="1.0" encoding="utf-8"?>
<a:theme xmlns:a="http://schemas.openxmlformats.org/drawingml/2006/main" name="BITS_PPT_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bits.thmx</Template>
  <TotalTime>3685</TotalTime>
  <Words>1134</Words>
  <Application>Microsoft Office PowerPoint</Application>
  <PresentationFormat>On-screen Show (16:9)</PresentationFormat>
  <Paragraphs>259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Wingdings</vt:lpstr>
      <vt:lpstr>BITS_PPT_template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Anil</dc:creator>
  <cp:lastModifiedBy>Abid AK</cp:lastModifiedBy>
  <cp:revision>269</cp:revision>
  <dcterms:created xsi:type="dcterms:W3CDTF">2015-06-09T08:31:04Z</dcterms:created>
  <dcterms:modified xsi:type="dcterms:W3CDTF">2025-04-17T12:46:15Z</dcterms:modified>
</cp:coreProperties>
</file>