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9"/>
  </p:notesMasterIdLst>
  <p:handoutMasterIdLst>
    <p:handoutMasterId r:id="rId10"/>
  </p:handoutMasterIdLst>
  <p:sldIdLst>
    <p:sldId id="401" r:id="rId2"/>
    <p:sldId id="402" r:id="rId3"/>
    <p:sldId id="403" r:id="rId4"/>
    <p:sldId id="404" r:id="rId5"/>
    <p:sldId id="406" r:id="rId6"/>
    <p:sldId id="405" r:id="rId7"/>
    <p:sldId id="391" r:id="rId8"/>
  </p:sldIdLst>
  <p:sldSz cx="9144000" cy="5143500" type="screen16x9"/>
  <p:notesSz cx="6858000" cy="9144000"/>
  <p:custDataLst>
    <p:tags r:id="rId1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56" autoAdjust="0"/>
    <p:restoredTop sz="94434" autoAdjust="0"/>
  </p:normalViewPr>
  <p:slideViewPr>
    <p:cSldViewPr snapToGrid="0">
      <p:cViewPr varScale="1">
        <p:scale>
          <a:sx n="97" d="100"/>
          <a:sy n="97" d="100"/>
        </p:scale>
        <p:origin x="1027" y="72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-284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94F4B-DBDD-4BF7-B613-78EDB047F2F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01AD7E-7F9D-4576-9772-0B1B702F1F5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7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2289B-64AB-40F4-866F-7386DC470D15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8DE6F-CB63-4507-A312-B89798DB40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568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245444" y="116706"/>
            <a:ext cx="6537960" cy="58293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 b="1" spc="225" baseline="0">
                <a:solidFill>
                  <a:srgbClr val="FF0000"/>
                </a:solidFill>
                <a:effectLst/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Topic name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74320" y="754380"/>
            <a:ext cx="8503920" cy="4114800"/>
          </a:xfrm>
          <a:prstGeom prst="rect">
            <a:avLst/>
          </a:prstGeom>
        </p:spPr>
        <p:txBody>
          <a:bodyPr lIns="0" rIns="0"/>
          <a:lstStyle>
            <a:lvl1pPr marL="255985" marR="0" indent="-255985" algn="just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FF0000"/>
              </a:buClr>
              <a:buSzTx/>
              <a:buFont typeface="Arial" pitchFamily="34" charset="0"/>
              <a:buChar char="•"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0" y="685801"/>
            <a:ext cx="7010400" cy="34289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8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819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itchFamily="34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200" b="1" kern="1200">
          <a:solidFill>
            <a:schemeClr val="tx1"/>
          </a:solidFill>
          <a:effectLst/>
          <a:latin typeface="Arial" pitchFamily="34" charset="0"/>
          <a:ea typeface="+mn-ea"/>
          <a:cs typeface="Arial" pitchFamily="34" charset="0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0"/>
          </p:nvPr>
        </p:nvSpPr>
        <p:spPr>
          <a:xfrm>
            <a:off x="245444" y="116706"/>
            <a:ext cx="8348140" cy="582930"/>
          </a:xfrm>
        </p:spPr>
        <p:txBody>
          <a:bodyPr/>
          <a:lstStyle/>
          <a:p>
            <a:r>
              <a:rPr lang="en-US" altLang="zh-TW" dirty="0"/>
              <a:t>Introduction to wireless communication systems</a:t>
            </a:r>
            <a:endParaRPr lang="en-US" cap="small" dirty="0"/>
          </a:p>
        </p:txBody>
      </p:sp>
      <p:sp>
        <p:nvSpPr>
          <p:cNvPr id="6" name="Rectangle 5"/>
          <p:cNvSpPr/>
          <p:nvPr/>
        </p:nvSpPr>
        <p:spPr>
          <a:xfrm>
            <a:off x="-482030" y="966627"/>
            <a:ext cx="9338354" cy="26104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73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is the Transfer of data between 2 points that aren’t connected by an electrical conductor. </a:t>
            </a:r>
          </a:p>
          <a:p>
            <a:pPr marL="12573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IN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They typically use electromagnetic waves.  </a:t>
            </a:r>
          </a:p>
          <a:p>
            <a:pPr marL="12573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Transmitting voice and data using electromagnetic waves in open space (atmosphere)</a:t>
            </a:r>
          </a:p>
          <a:p>
            <a:pPr marL="12573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information from the sender to the receiver is carried over a well-defined frequency band. </a:t>
            </a:r>
          </a:p>
          <a:p>
            <a:pPr marL="12573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Each Channel has a fixed bandwidth. Different channels can be used to transmit information in parallel and independently.</a:t>
            </a:r>
            <a:endParaRPr lang="en-IN" sz="1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070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Why Wireless Communication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</a:rPr>
              <a:t>Mobility</a:t>
            </a:r>
          </a:p>
          <a:p>
            <a:pPr marL="0" indent="0">
              <a:buNone/>
            </a:pPr>
            <a:r>
              <a:rPr lang="en-US" dirty="0"/>
              <a:t>	- </a:t>
            </a:r>
            <a:r>
              <a:rPr lang="en-IN" dirty="0"/>
              <a:t>Radio waves travel freely through the air, wireless modes of communication give  a great deal of mobility.</a:t>
            </a:r>
          </a:p>
          <a:p>
            <a:pPr marL="0" indent="0"/>
            <a:endParaRPr lang="en-IN" dirty="0"/>
          </a:p>
          <a:p>
            <a:r>
              <a:rPr lang="en-IN" dirty="0">
                <a:solidFill>
                  <a:srgbClr val="0070C0"/>
                </a:solidFill>
              </a:rPr>
              <a:t>Freedom from wires</a:t>
            </a:r>
          </a:p>
          <a:p>
            <a:pPr marL="0" indent="0">
              <a:buNone/>
            </a:pPr>
            <a:r>
              <a:rPr lang="en-US" dirty="0"/>
              <a:t>	-</a:t>
            </a:r>
            <a:r>
              <a:rPr lang="en-IN" dirty="0"/>
              <a:t>Wired networks can be inflexible in terms of mobility.  </a:t>
            </a:r>
          </a:p>
          <a:p>
            <a:pPr marL="0" indent="0">
              <a:buNone/>
            </a:pPr>
            <a:r>
              <a:rPr lang="en-IN" dirty="0"/>
              <a:t>	- Extra cables and switches to connect a device to the network and use in   </a:t>
            </a:r>
          </a:p>
          <a:p>
            <a:pPr marL="0" indent="0">
              <a:buNone/>
            </a:pPr>
            <a:r>
              <a:rPr lang="en-IN" dirty="0"/>
              <a:t>             different location</a:t>
            </a:r>
          </a:p>
          <a:p>
            <a:pPr marL="0" indent="0">
              <a:buNone/>
            </a:pPr>
            <a:r>
              <a:rPr lang="en-IN" dirty="0"/>
              <a:t>	-  Installation can be lengthy and complex </a:t>
            </a:r>
          </a:p>
          <a:p>
            <a:pPr marL="0" indent="0">
              <a:buNone/>
            </a:pPr>
            <a:r>
              <a:rPr lang="en-IN" dirty="0"/>
              <a:t>	- Maintenance  costly.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197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Why Wireless Communication</a:t>
            </a:r>
          </a:p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0070C0"/>
                </a:solidFill>
              </a:rPr>
              <a:t>Global Coverage</a:t>
            </a:r>
          </a:p>
          <a:p>
            <a:r>
              <a:rPr lang="en-US" dirty="0">
                <a:solidFill>
                  <a:srgbClr val="0070C0"/>
                </a:solidFill>
              </a:rPr>
              <a:t>Communication can reach where wiring is infeasible or costly(e.g. hazardous areas, long distances etc.).</a:t>
            </a:r>
            <a:endParaRPr lang="en-IN" dirty="0">
              <a:solidFill>
                <a:srgbClr val="0070C0"/>
              </a:solidFill>
            </a:endParaRPr>
          </a:p>
          <a:p>
            <a:r>
              <a:rPr lang="en-IN" dirty="0">
                <a:solidFill>
                  <a:srgbClr val="0070C0"/>
                </a:solidFill>
              </a:rPr>
              <a:t>Scalability</a:t>
            </a:r>
          </a:p>
          <a:p>
            <a:pPr marL="0" indent="0">
              <a:buNone/>
            </a:pPr>
            <a:r>
              <a:rPr lang="en-US" dirty="0"/>
              <a:t>	- P</a:t>
            </a:r>
            <a:r>
              <a:rPr lang="en-IN" dirty="0" err="1"/>
              <a:t>roblems</a:t>
            </a:r>
            <a:r>
              <a:rPr lang="en-IN" dirty="0"/>
              <a:t> with a wired network is coping with expansion and can be expensive. </a:t>
            </a:r>
          </a:p>
          <a:p>
            <a:pPr marL="0" indent="0">
              <a:buNone/>
            </a:pPr>
            <a:r>
              <a:rPr lang="en-IN" dirty="0"/>
              <a:t>	- Addition of new users is fast and relatively convenient in wireless communication.</a:t>
            </a:r>
          </a:p>
          <a:p>
            <a:r>
              <a:rPr lang="en-US" dirty="0">
                <a:solidFill>
                  <a:srgbClr val="0070C0"/>
                </a:solidFill>
              </a:rPr>
              <a:t>Stay Connected any where any time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424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sz="1800" dirty="0">
              <a:solidFill>
                <a:srgbClr val="FF0000"/>
              </a:solidFill>
            </a:endParaRPr>
          </a:p>
          <a:p>
            <a:pPr lvl="1"/>
            <a:r>
              <a:rPr lang="en-US" sz="1800" b="0" dirty="0">
                <a:solidFill>
                  <a:srgbClr val="FF0000"/>
                </a:solidFill>
              </a:rPr>
              <a:t>High costs for setting up the infrastructure </a:t>
            </a:r>
          </a:p>
          <a:p>
            <a:pPr lvl="1"/>
            <a:r>
              <a:rPr lang="en-US" sz="1800" b="0" dirty="0">
                <a:solidFill>
                  <a:srgbClr val="FF0000"/>
                </a:solidFill>
              </a:rPr>
              <a:t>Security vulnerabilities.</a:t>
            </a:r>
          </a:p>
          <a:p>
            <a:pPr lvl="1"/>
            <a:r>
              <a:rPr lang="en-US" sz="1800" b="0" dirty="0">
                <a:solidFill>
                  <a:srgbClr val="FF0000"/>
                </a:solidFill>
              </a:rPr>
              <a:t>Efficient use of Finite Radio Spectrum</a:t>
            </a:r>
          </a:p>
          <a:p>
            <a:pPr marL="857250" lvl="1" indent="-457200"/>
            <a:r>
              <a:rPr lang="en-US" sz="1800" b="0" dirty="0">
                <a:solidFill>
                  <a:srgbClr val="FF0000"/>
                </a:solidFill>
              </a:rPr>
              <a:t>Efficient Hardware</a:t>
            </a:r>
          </a:p>
          <a:p>
            <a:pPr lvl="2"/>
            <a:r>
              <a:rPr lang="en-US" i="1" dirty="0">
                <a:solidFill>
                  <a:schemeClr val="accent1"/>
                </a:solidFill>
              </a:rPr>
              <a:t>Low power  </a:t>
            </a:r>
            <a:r>
              <a:rPr lang="en-US" dirty="0">
                <a:solidFill>
                  <a:srgbClr val="FF0000"/>
                </a:solidFill>
              </a:rPr>
              <a:t>transmitter, receivers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	-</a:t>
            </a:r>
            <a:r>
              <a:rPr lang="en-US" dirty="0">
                <a:solidFill>
                  <a:srgbClr val="0070C0"/>
                </a:solidFill>
              </a:rPr>
              <a:t>Many devices are battery operated. We need to have low power transmitters and receivers</a:t>
            </a:r>
          </a:p>
          <a:p>
            <a:pPr lvl="2"/>
            <a:r>
              <a:rPr lang="en-US" i="1" dirty="0">
                <a:solidFill>
                  <a:schemeClr val="accent1"/>
                </a:solidFill>
              </a:rPr>
              <a:t>Low power </a:t>
            </a:r>
            <a:r>
              <a:rPr lang="en-US" dirty="0">
                <a:solidFill>
                  <a:srgbClr val="FF0000"/>
                </a:solidFill>
              </a:rPr>
              <a:t>signal processing tools</a:t>
            </a:r>
            <a:endParaRPr lang="en-US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245444" y="238894"/>
            <a:ext cx="79308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Challenges of wireless communication system</a:t>
            </a:r>
          </a:p>
        </p:txBody>
      </p:sp>
    </p:spTree>
    <p:extLst>
      <p:ext uri="{BB962C8B-B14F-4D97-AF65-F5344CB8AC3E}">
        <p14:creationId xmlns:p14="http://schemas.microsoft.com/office/powerpoint/2010/main" val="331617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4320" y="90010"/>
            <a:ext cx="8463550" cy="582930"/>
          </a:xfrm>
        </p:spPr>
        <p:txBody>
          <a:bodyPr/>
          <a:lstStyle/>
          <a:p>
            <a:r>
              <a:rPr lang="en-US" dirty="0"/>
              <a:t>Challenges of wireless communication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sz="2000" b="0" dirty="0">
              <a:solidFill>
                <a:srgbClr val="FF0000"/>
              </a:solidFill>
            </a:endParaRPr>
          </a:p>
          <a:p>
            <a:pPr lvl="1"/>
            <a:r>
              <a:rPr lang="en-US" sz="2000" b="0" dirty="0">
                <a:solidFill>
                  <a:srgbClr val="0070C0"/>
                </a:solidFill>
              </a:rPr>
              <a:t>Multipath propagation and fading</a:t>
            </a:r>
          </a:p>
          <a:p>
            <a:pPr marL="0" indent="0">
              <a:buNone/>
            </a:pPr>
            <a:r>
              <a:rPr lang="en-US" sz="1600" dirty="0"/>
              <a:t>	Fading is caused by destructive interference of two or more versions of the transmitted signal arriving at the receiver in different times with different amplitude and phases</a:t>
            </a:r>
          </a:p>
          <a:p>
            <a:pPr lvl="1"/>
            <a:endParaRPr lang="en-US" sz="2000" dirty="0">
              <a:solidFill>
                <a:srgbClr val="FF0000"/>
              </a:solidFill>
            </a:endParaRPr>
          </a:p>
          <a:p>
            <a:pPr lvl="1"/>
            <a:r>
              <a:rPr lang="en-US" sz="2000" b="0" dirty="0">
                <a:solidFill>
                  <a:srgbClr val="0070C0"/>
                </a:solidFill>
              </a:rPr>
              <a:t>Integrated services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600" dirty="0"/>
              <a:t>Voice, data, </a:t>
            </a:r>
            <a:r>
              <a:rPr lang="en-US" sz="1600" i="1" dirty="0"/>
              <a:t>multimedia</a:t>
            </a:r>
            <a:r>
              <a:rPr lang="en-US" sz="1600" dirty="0"/>
              <a:t> over a single network</a:t>
            </a:r>
          </a:p>
          <a:p>
            <a:endParaRPr lang="en-IN" sz="1600" dirty="0"/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51569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143584" y="171450"/>
            <a:ext cx="8765391" cy="582930"/>
          </a:xfrm>
        </p:spPr>
        <p:txBody>
          <a:bodyPr/>
          <a:lstStyle/>
          <a:p>
            <a:r>
              <a:rPr lang="en-US" sz="2000" dirty="0"/>
              <a:t>Challenges of wireless communication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rgbClr val="0070C0"/>
                </a:solidFill>
              </a:rPr>
              <a:t>wireless communication is influenced by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Physical obstructions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 climatic conditions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 Interference from other wireless devices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FF0000"/>
              </a:solidFill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0070C0"/>
                </a:solidFill>
              </a:rPr>
              <a:t>Maintaining quality of service over unreliable links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7949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Wireless communication is the  transmission of  voice and data in free space(atmosphere)</a:t>
            </a:r>
          </a:p>
          <a:p>
            <a:r>
              <a:rPr lang="en-US" dirty="0"/>
              <a:t>Stay connected any where any time, mobility, scalability, wide coverage are some of the advantages of wireless network and hence preferred.</a:t>
            </a:r>
          </a:p>
          <a:p>
            <a:r>
              <a:rPr lang="en-US" dirty="0"/>
              <a:t>Challenges of wireless communication in terms of security of the data transferred, setting up of the infrastructure, efficient use of radio spectrum </a:t>
            </a:r>
            <a:r>
              <a:rPr lang="en-US" dirty="0" err="1"/>
              <a:t>etc</a:t>
            </a:r>
            <a:r>
              <a:rPr lang="en-US" dirty="0"/>
              <a:t> need to be addressed.</a:t>
            </a:r>
          </a:p>
          <a:p>
            <a:pPr marL="0" indent="0">
              <a:buNone/>
            </a:pP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16&quot;&gt;&lt;object type=&quot;3&quot; unique_id=&quot;10017&quot;&gt;&lt;property id=&quot;20148&quot; value=&quot;5&quot;/&gt;&lt;property id=&quot;20300&quot; value=&quot;Slide 1&quot;/&gt;&lt;property id=&quot;20307&quot; value=&quot;381&quot;/&gt;&lt;/object&gt;&lt;object type=&quot;3&quot; unique_id=&quot;10051&quot;&gt;&lt;property id=&quot;20148&quot; value=&quot;5&quot;/&gt;&lt;property id=&quot;20300&quot; value=&quot;Slide 2&quot;/&gt;&lt;property id=&quot;20307&quot; value=&quot;386&quot;/&gt;&lt;/object&gt;&lt;object type=&quot;3&quot; unique_id=&quot;10052&quot;&gt;&lt;property id=&quot;20148&quot; value=&quot;5&quot;/&gt;&lt;property id=&quot;20300&quot; value=&quot;Slide 3&quot;/&gt;&lt;property id=&quot;20307&quot; value=&quot;387&quot;/&gt;&lt;/object&gt;&lt;/object&gt;&lt;object type=&quot;8&quot; unique_id=&quot;1002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BITS_PPT_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bits.thmx</Template>
  <TotalTime>3614</TotalTime>
  <Words>413</Words>
  <Application>Microsoft Office PowerPoint</Application>
  <PresentationFormat>On-screen Show (16:9)</PresentationFormat>
  <Paragraphs>55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BITS_PPT_template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Anil</dc:creator>
  <cp:lastModifiedBy>Abid AK</cp:lastModifiedBy>
  <cp:revision>253</cp:revision>
  <dcterms:created xsi:type="dcterms:W3CDTF">2015-06-09T08:31:04Z</dcterms:created>
  <dcterms:modified xsi:type="dcterms:W3CDTF">2025-04-17T12:43:25Z</dcterms:modified>
</cp:coreProperties>
</file>