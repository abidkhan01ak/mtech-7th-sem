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2"/>
  </p:notesMasterIdLst>
  <p:handoutMasterIdLst>
    <p:handoutMasterId r:id="rId13"/>
  </p:handoutMasterIdLst>
  <p:sldIdLst>
    <p:sldId id="409" r:id="rId2"/>
    <p:sldId id="410" r:id="rId3"/>
    <p:sldId id="411" r:id="rId4"/>
    <p:sldId id="412" r:id="rId5"/>
    <p:sldId id="413" r:id="rId6"/>
    <p:sldId id="414" r:id="rId7"/>
    <p:sldId id="415" r:id="rId8"/>
    <p:sldId id="416" r:id="rId9"/>
    <p:sldId id="417" r:id="rId10"/>
    <p:sldId id="391" r:id="rId11"/>
  </p:sldIdLst>
  <p:sldSz cx="9144000" cy="5143500" type="screen16x9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Trunking</a:t>
            </a:r>
            <a:r>
              <a:rPr lang="en-US" dirty="0"/>
              <a:t> &amp; Grade of Service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Cellular radio systems rely on </a:t>
            </a:r>
            <a:r>
              <a:rPr lang="en-US" sz="1600" dirty="0" err="1"/>
              <a:t>trunking</a:t>
            </a:r>
            <a:r>
              <a:rPr lang="en-US" sz="1600" dirty="0"/>
              <a:t> to accommodate a large number of users in a limited radio spectrum.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What is </a:t>
            </a:r>
            <a:r>
              <a:rPr lang="en-US" sz="1600" b="1" dirty="0" err="1">
                <a:solidFill>
                  <a:srgbClr val="FF0000"/>
                </a:solidFill>
              </a:rPr>
              <a:t>Trunking</a:t>
            </a:r>
            <a:r>
              <a:rPr lang="en-US" sz="1600" b="1" dirty="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1600" dirty="0"/>
              <a:t>	It is a technique that allows a large number of users to share a relatively small number of channels in a cell by providing access to each user, on demand from a pool of available channels.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In a trunked radio system(TRS) each user is allocated a channel on a per call basis, upon termination of the call, the previously occupied channel is immediately returned to the pool of available channels.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Grade Of Service(GOS) </a:t>
            </a:r>
          </a:p>
          <a:p>
            <a:pPr marL="0" indent="0">
              <a:buNone/>
            </a:pPr>
            <a:r>
              <a:rPr lang="en-US" sz="1600" dirty="0"/>
              <a:t>	It is a measure of ability of the user  to access a trunked system during the busiest hour.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2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Key Definitions</a:t>
            </a:r>
          </a:p>
          <a:p>
            <a:endParaRPr lang="en-IN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Set up time</a:t>
            </a:r>
            <a:r>
              <a:rPr lang="en-US" dirty="0"/>
              <a:t>: Time required to allocate a radio channel to a requesting user.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Blocked call: </a:t>
            </a:r>
            <a:r>
              <a:rPr lang="en-US" dirty="0"/>
              <a:t>A call which cannot be completed at the time of request, due to congestion(lost call).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Holding Time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dirty="0"/>
              <a:t>Average duration of a call. Denoted by H (in Seconds)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Request Rate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dirty="0"/>
              <a:t>The average number of calls request per unit time (</a:t>
            </a:r>
            <a:r>
              <a:rPr lang="el-GR" dirty="0"/>
              <a:t>λ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Traffic Intensity</a:t>
            </a:r>
            <a:r>
              <a:rPr lang="en-US" dirty="0"/>
              <a:t>: Measure of channel  time utilization or the average channel occupancy measured in </a:t>
            </a:r>
            <a:r>
              <a:rPr lang="en-US" dirty="0" err="1"/>
              <a:t>Erlangs</a:t>
            </a:r>
            <a:r>
              <a:rPr lang="en-US" dirty="0"/>
              <a:t>. Denoted by A.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Load:</a:t>
            </a:r>
            <a:r>
              <a:rPr lang="en-US" dirty="0"/>
              <a:t> Traffic intensity across the entire Trunked Radio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5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Trunking</a:t>
            </a:r>
            <a:r>
              <a:rPr lang="en-US" dirty="0"/>
              <a:t> and Grade Of Service</a:t>
            </a:r>
          </a:p>
          <a:p>
            <a:endParaRPr lang="en-IN" dirty="0"/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274320" y="754380"/>
            <a:ext cx="8503920" cy="429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Traffic Intensity offered by each user (Au</a:t>
            </a:r>
            <a:r>
              <a:rPr lang="en-IN" sz="2000" dirty="0"/>
              <a:t>): Average call arrival rate multiplied by the holding time</a:t>
            </a:r>
          </a:p>
          <a:p>
            <a:pPr marL="0" indent="0">
              <a:buNone/>
            </a:pPr>
            <a:r>
              <a:rPr lang="en-IN" sz="2000" dirty="0"/>
              <a:t>   Au= </a:t>
            </a:r>
            <a:r>
              <a:rPr lang="el-GR" sz="2000" dirty="0"/>
              <a:t>λ</a:t>
            </a:r>
            <a:r>
              <a:rPr lang="en-IN" sz="2000" dirty="0"/>
              <a:t>H (</a:t>
            </a:r>
            <a:r>
              <a:rPr lang="en-IN" sz="2000" dirty="0" err="1"/>
              <a:t>Erlangs</a:t>
            </a:r>
            <a:r>
              <a:rPr lang="en-IN" sz="2000" dirty="0"/>
              <a:t>)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Total Offered traffic intensity for a system of U users(A): </a:t>
            </a:r>
            <a:r>
              <a:rPr lang="en-IN" sz="2000" dirty="0"/>
              <a:t>Traffic intensity offered by each user multiplied by the total number of user expressed in </a:t>
            </a:r>
            <a:r>
              <a:rPr lang="en-IN" sz="2000" dirty="0" err="1"/>
              <a:t>Erlangs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 </a:t>
            </a:r>
          </a:p>
          <a:p>
            <a:pPr marL="0" indent="0">
              <a:buNone/>
            </a:pPr>
            <a:r>
              <a:rPr lang="en-IN" sz="2000" dirty="0"/>
              <a:t>A= U* Au (</a:t>
            </a:r>
            <a:r>
              <a:rPr lang="en-IN" sz="2000" dirty="0" err="1"/>
              <a:t>Erlangs</a:t>
            </a:r>
            <a:r>
              <a:rPr lang="en-IN" sz="2000" dirty="0"/>
              <a:t>)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Traffic Intensity per channel</a:t>
            </a:r>
            <a:r>
              <a:rPr lang="en-IN" sz="2000" dirty="0"/>
              <a:t>, in  a C channel trunked system is given by </a:t>
            </a:r>
          </a:p>
          <a:p>
            <a:pPr marL="0" indent="0">
              <a:buNone/>
            </a:pPr>
            <a:r>
              <a:rPr lang="en-IN" sz="2000" dirty="0"/>
              <a:t> Ac= U*Au/C (</a:t>
            </a:r>
            <a:r>
              <a:rPr lang="en-IN" sz="2000" dirty="0" err="1"/>
              <a:t>Erlangs</a:t>
            </a:r>
            <a:r>
              <a:rPr lang="en-IN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9880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Types of Trunked Systems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Blocked call cleared System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Blocked call delayed System</a:t>
            </a:r>
          </a:p>
          <a:p>
            <a:pPr marL="0" indent="0"/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853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Blocked Call Cleared System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a user request service, there is a minimal call set up time and the user is given immediate access to a channel if one is available.</a:t>
            </a:r>
          </a:p>
          <a:p>
            <a:pPr marL="0" indent="0">
              <a:buNone/>
            </a:pPr>
            <a:r>
              <a:rPr lang="en-US" dirty="0"/>
              <a:t>If the channels are already in use and no new channels are available, call is blocked with out access to the system.</a:t>
            </a:r>
          </a:p>
          <a:p>
            <a:pPr marL="0" indent="0">
              <a:buNone/>
            </a:pPr>
            <a:r>
              <a:rPr lang="en-US" dirty="0"/>
              <a:t>The user does not receive Service, but is free to try again.</a:t>
            </a:r>
          </a:p>
          <a:p>
            <a:pPr marL="0" indent="0">
              <a:buNone/>
            </a:pPr>
            <a:r>
              <a:rPr lang="en-US" dirty="0" err="1"/>
              <a:t>Erlang</a:t>
            </a:r>
            <a:r>
              <a:rPr lang="en-US" dirty="0"/>
              <a:t> B Formula determines the probability that a call is blocked is given by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rcRect l="31730" t="42182" r="50962" b="44727"/>
          <a:stretch>
            <a:fillRect/>
          </a:stretch>
        </p:blipFill>
        <p:spPr bwMode="auto">
          <a:xfrm>
            <a:off x="657546" y="3338173"/>
            <a:ext cx="3300060" cy="997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081923" y="3126803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 is the number of trunked Channels .</a:t>
            </a:r>
          </a:p>
          <a:p>
            <a:r>
              <a:rPr lang="en-US" b="1" dirty="0">
                <a:solidFill>
                  <a:srgbClr val="FF0000"/>
                </a:solidFill>
              </a:rPr>
              <a:t>A is the total traffic offered.</a:t>
            </a:r>
          </a:p>
        </p:txBody>
      </p:sp>
    </p:spTree>
    <p:extLst>
      <p:ext uri="{BB962C8B-B14F-4D97-AF65-F5344CB8AC3E}">
        <p14:creationId xmlns:p14="http://schemas.microsoft.com/office/powerpoint/2010/main" val="404076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Blocked Call Delayed System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Queues are used to hold call request that are initially blocked.</a:t>
            </a:r>
          </a:p>
          <a:p>
            <a:r>
              <a:rPr lang="en-US" dirty="0"/>
              <a:t>When a user attempts a call and a channel is not immediately available, the call request may be delayed until a channel becomes available.</a:t>
            </a:r>
          </a:p>
          <a:p>
            <a:r>
              <a:rPr lang="en-US" dirty="0"/>
              <a:t>If call cannot be assigned a channel, it is placed in a queue.</a:t>
            </a:r>
          </a:p>
          <a:p>
            <a:r>
              <a:rPr lang="en-US" dirty="0"/>
              <a:t>Each call is then serviced in the order of its arrival.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370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Blocked Call Delayed System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probability that the call not having the immediate access to a channel is determined by </a:t>
            </a:r>
            <a:r>
              <a:rPr lang="en-US" dirty="0" err="1"/>
              <a:t>Erlang</a:t>
            </a:r>
            <a:r>
              <a:rPr lang="en-US" dirty="0"/>
              <a:t> C formula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probability that the call is forced to wait for more than t seconds is given by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5608" t="23803" r="38943" b="64739"/>
          <a:stretch/>
        </p:blipFill>
        <p:spPr>
          <a:xfrm>
            <a:off x="1529137" y="1543678"/>
            <a:ext cx="3804863" cy="10071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9502" t="71875" r="40629" b="22917"/>
          <a:stretch/>
        </p:blipFill>
        <p:spPr>
          <a:xfrm>
            <a:off x="1529137" y="3472868"/>
            <a:ext cx="4402476" cy="571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65141" y="4164511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C is the number of trunked Channels .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A is the total traffic offered,  H – Holding time.</a:t>
            </a:r>
          </a:p>
        </p:txBody>
      </p:sp>
    </p:spTree>
    <p:extLst>
      <p:ext uri="{BB962C8B-B14F-4D97-AF65-F5344CB8AC3E}">
        <p14:creationId xmlns:p14="http://schemas.microsoft.com/office/powerpoint/2010/main" val="324998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Blocked Call Delayed System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average delay for all the calls in a queued system is 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1215" t="80208" r="44143" b="14584"/>
          <a:stretch/>
        </p:blipFill>
        <p:spPr>
          <a:xfrm>
            <a:off x="1119884" y="1657564"/>
            <a:ext cx="2706383" cy="45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6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Problems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394 cells in trunked radio system with 19 channels each</a:t>
            </a:r>
          </a:p>
          <a:p>
            <a:pPr marL="0" indent="0">
              <a:buNone/>
            </a:pPr>
            <a:r>
              <a:rPr lang="en-US" dirty="0"/>
              <a:t>Each user averages 2 calls per hour</a:t>
            </a:r>
          </a:p>
          <a:p>
            <a:pPr marL="0" indent="0">
              <a:buNone/>
            </a:pPr>
            <a:r>
              <a:rPr lang="en-US" dirty="0"/>
              <a:t>Average call duration 3 minutes</a:t>
            </a:r>
          </a:p>
          <a:p>
            <a:pPr marL="0" indent="0">
              <a:buNone/>
            </a:pPr>
            <a:r>
              <a:rPr lang="en-US" dirty="0"/>
              <a:t>Number of users supported at 2% blocking?</a:t>
            </a:r>
          </a:p>
          <a:p>
            <a:pPr marL="0" indent="0">
              <a:buNone/>
            </a:pPr>
            <a:r>
              <a:rPr lang="en-US" dirty="0"/>
              <a:t>Total number of users supported by system</a:t>
            </a:r>
          </a:p>
          <a:p>
            <a:pPr marL="0" indent="0">
              <a:buNone/>
            </a:pPr>
            <a:r>
              <a:rPr lang="en-US" dirty="0"/>
              <a:t>Solution: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Erlang</a:t>
            </a:r>
            <a:r>
              <a:rPr lang="en-US" dirty="0"/>
              <a:t> B chart,  Total traffic </a:t>
            </a:r>
            <a:r>
              <a:rPr lang="en-US" dirty="0" err="1"/>
              <a:t>carried,A</a:t>
            </a:r>
            <a:r>
              <a:rPr lang="en-US" dirty="0"/>
              <a:t>= 12.33</a:t>
            </a:r>
          </a:p>
          <a:p>
            <a:pPr marL="0" indent="0">
              <a:buNone/>
            </a:pPr>
            <a:r>
              <a:rPr lang="en-US" dirty="0"/>
              <a:t>Traffic intensity offered by each user : Au= </a:t>
            </a:r>
            <a:r>
              <a:rPr lang="el-GR" dirty="0"/>
              <a:t>λ</a:t>
            </a:r>
            <a:r>
              <a:rPr lang="en-US" dirty="0"/>
              <a:t>H = 2*(3/60) = 0.1 </a:t>
            </a:r>
            <a:r>
              <a:rPr lang="en-US" dirty="0" err="1"/>
              <a:t>erlang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U= A/Au= 12.33/0.1= 123.3</a:t>
            </a:r>
          </a:p>
          <a:p>
            <a:pPr marL="0" indent="0">
              <a:buNone/>
            </a:pPr>
            <a:r>
              <a:rPr lang="en-US" dirty="0"/>
              <a:t>There are 394 cells , the total number of subscribers that can be supported is 123.3*394 = 48580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3576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US" dirty="0" err="1"/>
              <a:t>Trunking</a:t>
            </a:r>
            <a:r>
              <a:rPr lang="en-US" dirty="0"/>
              <a:t> </a:t>
            </a:r>
            <a:r>
              <a:rPr lang="en-US"/>
              <a:t>is used to </a:t>
            </a:r>
            <a:r>
              <a:rPr lang="en-US" dirty="0"/>
              <a:t>accommodate a large number of users in a limited radio spectrum.</a:t>
            </a:r>
          </a:p>
          <a:p>
            <a:r>
              <a:rPr lang="en-US" dirty="0"/>
              <a:t>In a blocked call clear system, the probability that a call is blocked depend on the number of trunked channels and the total traffic offered.</a:t>
            </a:r>
          </a:p>
          <a:p>
            <a:r>
              <a:rPr lang="en-US" dirty="0"/>
              <a:t>In a block called delay system queues are used to hold call request that are initially blocked.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3585</TotalTime>
  <Words>748</Words>
  <Application>Microsoft Office PowerPoint</Application>
  <PresentationFormat>On-screen Show (16:9)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236</cp:revision>
  <dcterms:created xsi:type="dcterms:W3CDTF">2015-06-09T08:31:04Z</dcterms:created>
  <dcterms:modified xsi:type="dcterms:W3CDTF">2025-04-17T12:52:04Z</dcterms:modified>
</cp:coreProperties>
</file>