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8"/>
  </p:notesMasterIdLst>
  <p:handoutMasterIdLst>
    <p:handoutMasterId r:id="rId9"/>
  </p:handoutMasterIdLst>
  <p:sldIdLst>
    <p:sldId id="415" r:id="rId2"/>
    <p:sldId id="416" r:id="rId3"/>
    <p:sldId id="417" r:id="rId4"/>
    <p:sldId id="418" r:id="rId5"/>
    <p:sldId id="419" r:id="rId6"/>
    <p:sldId id="391" r:id="rId7"/>
  </p:sldIdLst>
  <p:sldSz cx="9144000" cy="5143500" type="screen16x9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Log-distance Path Loss Model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Path Loss models to estimate the received signal level as a function of distance, it is possible to predict the SNR for a mobile communication.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average signal power received decreases logarithmically with distance.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d- distance between the transmitter and receiver</a:t>
            </a:r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baseline="-25000" dirty="0"/>
              <a:t>0</a:t>
            </a:r>
            <a:r>
              <a:rPr lang="en-US" dirty="0"/>
              <a:t>-Close-in reference distance </a:t>
            </a:r>
          </a:p>
          <a:p>
            <a:pPr marL="0" indent="0">
              <a:buNone/>
            </a:pPr>
            <a:r>
              <a:rPr lang="en-US" dirty="0"/>
              <a:t>n- Path loss exponent which indicates rate at which the pass loss increases with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25623" y="2175028"/>
                <a:ext cx="3266983" cy="11008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     </a:t>
                </a:r>
                <a:r>
                  <a:rPr lang="en-US" dirty="0">
                    <a:solidFill>
                      <a:schemeClr val="tx1"/>
                    </a:solidFill>
                  </a:rPr>
                  <a:t>PL(d)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𝑑𝑜</m:t>
                            </m:r>
                          </m:den>
                        </m:f>
                      </m:e>
                    </m:d>
                    <m:r>
                      <m:rPr>
                        <m:nor/>
                      </m:rPr>
                      <a:rPr lang="en-US" baseline="30000" dirty="0">
                        <a:solidFill>
                          <a:schemeClr val="tx1"/>
                        </a:solidFill>
                      </a:rPr>
                      <m:t>n</m:t>
                    </m:r>
                  </m:oMath>
                </a14:m>
                <a:endParaRPr lang="en-US" baseline="3000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      PL(dB)= PL(d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US" dirty="0">
                    <a:solidFill>
                      <a:schemeClr val="tx1"/>
                    </a:solidFill>
                  </a:rPr>
                  <a:t>) +10 </a:t>
                </a:r>
                <a:r>
                  <a:rPr lang="en-US" dirty="0" err="1">
                    <a:solidFill>
                      <a:schemeClr val="tx1"/>
                    </a:solidFill>
                  </a:rPr>
                  <a:t>nlog</a:t>
                </a:r>
                <a:r>
                  <a:rPr lang="en-US" dirty="0">
                    <a:solidFill>
                      <a:schemeClr val="tx1"/>
                    </a:solidFill>
                  </a:rPr>
                  <a:t>(d/d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US" dirty="0">
                    <a:solidFill>
                      <a:schemeClr val="tx1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3" y="2175028"/>
                <a:ext cx="3266983" cy="1100831"/>
              </a:xfrm>
              <a:prstGeom prst="rect">
                <a:avLst/>
              </a:prstGeom>
              <a:blipFill rotWithShape="0">
                <a:blip r:embed="rId2"/>
                <a:stretch>
                  <a:fillRect r="-12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39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Value of n depends on propagation environment.</a:t>
            </a:r>
          </a:p>
          <a:p>
            <a:pPr marL="0" indent="0">
              <a:buNone/>
            </a:pPr>
            <a:r>
              <a:rPr lang="en-US" dirty="0"/>
              <a:t>n increases when obstructions are present.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Log-distance Path Loss Model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902459"/>
              </p:ext>
            </p:extLst>
          </p:nvPr>
        </p:nvGraphicFramePr>
        <p:xfrm>
          <a:off x="687404" y="1759258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Environment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Path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loss Exponent 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Free Space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Urban area cellular radio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 to 3.5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Shadowed urban area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to 5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 building Line of</a:t>
                      </a:r>
                      <a:r>
                        <a:rPr lang="en-US" baseline="0" dirty="0"/>
                        <a:t> sight 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 to 1.8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Obstructed</a:t>
                      </a:r>
                      <a:r>
                        <a:rPr lang="en-US" baseline="0" dirty="0"/>
                        <a:t> in building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to 6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Obstructed in factories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to</a:t>
                      </a:r>
                      <a:r>
                        <a:rPr lang="en-US" baseline="0" dirty="0"/>
                        <a:t> 3</a:t>
                      </a:r>
                      <a:endParaRPr lang="en-IN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9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Log-normal Shadowing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 distance does not consider the fact that surrounding environment clutter may be different at two different locations having same T-R distance.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Hence measured signals vary than the average value predicted.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Log-normal shadowing model used.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47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Shadowing</a:t>
            </a:r>
            <a:endParaRPr lang="en-IN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What is shadowing?</a:t>
            </a:r>
          </a:p>
          <a:p>
            <a:pPr marL="0" indent="0">
              <a:buNone/>
            </a:pPr>
            <a:r>
              <a:rPr lang="en-IN" b="1" dirty="0"/>
              <a:t>shadowing</a:t>
            </a:r>
            <a:r>
              <a:rPr lang="en-IN" dirty="0"/>
              <a:t> is deviation of the power of the received electromagnetic signal from an average value. 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Causes for Shadowing</a:t>
            </a:r>
          </a:p>
          <a:p>
            <a:pPr marL="0" indent="0">
              <a:buNone/>
            </a:pPr>
            <a:r>
              <a:rPr lang="en-IN" dirty="0"/>
              <a:t>Caused by obstacles affecting the wave propagation.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May vary with geographical position and/or radio frequency.</a:t>
            </a:r>
          </a:p>
          <a:p>
            <a:pPr marL="0" indent="0">
              <a:buNone/>
            </a:pPr>
            <a:r>
              <a:rPr lang="en-IN" dirty="0"/>
              <a:t>Usually modelled as a random process.</a:t>
            </a:r>
            <a:endParaRPr lang="en-IN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03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356403"/>
            <a:ext cx="6537960" cy="582930"/>
          </a:xfrm>
        </p:spPr>
        <p:txBody>
          <a:bodyPr/>
          <a:lstStyle/>
          <a:p>
            <a:r>
              <a:rPr lang="en-US" dirty="0"/>
              <a:t>Log-normal Shadowing </a:t>
            </a:r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Path loss at a particular location is random and distributed log-normal about the mean distance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𝑃𝐿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baseline="-25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aseline="-25000" dirty="0"/>
              </a:p>
              <a:p>
                <a:pPr marL="0" indent="0">
                  <a:buNone/>
                </a:pPr>
                <a:r>
                  <a:rPr lang="en-US" baseline="-25000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- Zero Mean Gaussian distributed random variable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l-GR" dirty="0"/>
                  <a:t>σ</a:t>
                </a:r>
                <a:r>
                  <a:rPr lang="en-US" dirty="0"/>
                  <a:t>- Standard deviation</a:t>
                </a:r>
              </a:p>
              <a:p>
                <a:endParaRPr lang="en-US" baseline="-25000" dirty="0"/>
              </a:p>
              <a:p>
                <a:endParaRPr lang="en-US" baseline="-25000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49" r="-16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29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Two path loss models considered for estimation of the received signal.</a:t>
            </a:r>
          </a:p>
          <a:p>
            <a:r>
              <a:rPr lang="en-US" dirty="0"/>
              <a:t>Log distance model does not take into consideration the surrounding environmental clutter at two different locations with same T-R distance.</a:t>
            </a:r>
          </a:p>
          <a:p>
            <a:r>
              <a:rPr lang="en-US" dirty="0"/>
              <a:t>Log-normal shadowing model, path loss at a particular location is random and is distributed log-normal about the mean distance.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3710</TotalTime>
  <Words>346</Words>
  <Application>Microsoft Office PowerPoint</Application>
  <PresentationFormat>On-screen Show (16:9)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282</cp:revision>
  <dcterms:created xsi:type="dcterms:W3CDTF">2015-06-09T08:31:04Z</dcterms:created>
  <dcterms:modified xsi:type="dcterms:W3CDTF">2025-04-17T13:03:57Z</dcterms:modified>
</cp:coreProperties>
</file>