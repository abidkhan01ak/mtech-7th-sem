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3"/>
  </p:notesMasterIdLst>
  <p:handoutMasterIdLst>
    <p:handoutMasterId r:id="rId14"/>
  </p:handout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391" r:id="rId12"/>
  </p:sldIdLst>
  <p:sldSz cx="9144000" cy="5143500" type="screen16x9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relesscommunication.nl/reference/chaptr03/antgain.htm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energy radiated by an 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omni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-directional antenna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spread over the surface of a sphere. Transmit antenna modelled as a point source. Transmit power is spread over the surface area of a hypothetical sphere. </a:t>
            </a:r>
            <a:r>
              <a:rPr lang="en-IN" dirty="0"/>
              <a:t>Electromagnetic Radiation implies that the energy radiates uniformly in all directions, at the speed of light (3×108 m/s or 3.3 µs/km) [1]. This may be viewed as a sphere, expanding in time and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38DE6F-CB63-4507-A312-B89798DB40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0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Antenna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gain:A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relative measure of an </a:t>
            </a:r>
            <a:r>
              <a:rPr lang="en-I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antenna's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ability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direct or concentrate radio frequency energy in a particular direction or pattern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38DE6F-CB63-4507-A312-B89798DB40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95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free space propagation model?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Predict received signal strength when the transmitter and receiver have a clear, unobstructed line-of-sight path between them.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Satellite communication systems and microwave line-of-sight radio links  undergo free space propagation.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90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274320" y="754380"/>
            <a:ext cx="8503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Equation for the Free space received power by a receiver antenna (Friis Free Space Equation)</a:t>
            </a:r>
          </a:p>
        </p:txBody>
      </p:sp>
      <p:pic>
        <p:nvPicPr>
          <p:cNvPr id="5" name="Picture 2" descr="friis transmission equa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0741" y="1704513"/>
            <a:ext cx="2835953" cy="1592563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528220" y="3427524"/>
            <a:ext cx="81363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power density p, flowing through the surface of a sphere of radius R centered at the transmitter</a:t>
            </a:r>
          </a:p>
          <a:p>
            <a:endParaRPr lang="en-US" dirty="0"/>
          </a:p>
        </p:txBody>
      </p:sp>
      <p:pic>
        <p:nvPicPr>
          <p:cNvPr id="7" name="Picture 10" descr="friis transmission formul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41359" y="4024102"/>
            <a:ext cx="1285782" cy="701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601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pic>
        <p:nvPicPr>
          <p:cNvPr id="5" name="Picture 2" descr="antenna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0969" y="1045761"/>
            <a:ext cx="1253231" cy="65168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673289" y="1953907"/>
            <a:ext cx="721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Power received the by the receiving antenna is </a:t>
            </a:r>
          </a:p>
        </p:txBody>
      </p:sp>
      <p:pic>
        <p:nvPicPr>
          <p:cNvPr id="7" name="Picture 4" descr="Frii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280" y="2372517"/>
            <a:ext cx="1586144" cy="793072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447580" y="3560202"/>
            <a:ext cx="8323557" cy="1494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Gain of antenna: Antenna’s ability to direct or concentrate radio frequency energy in a particular direction.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="1" baseline="-25000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  </a:t>
            </a:r>
            <a:r>
              <a:rPr lang="en-US" b="1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the antenna aperture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b="1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effective area</a:t>
            </a:r>
            <a:r>
              <a:rPr lang="en-US" dirty="0">
                <a:solidFill>
                  <a:srgbClr val="252525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which is a measure of how effective an antenna is at receiving the power of 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radio waves </a:t>
            </a:r>
            <a:endParaRPr lang="en-IN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14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effective aperture for any antenna can be expressed as</a:t>
            </a:r>
          </a:p>
        </p:txBody>
      </p:sp>
      <p:pic>
        <p:nvPicPr>
          <p:cNvPr id="6" name="Picture 2" descr="effective aper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8900" y="1314635"/>
            <a:ext cx="1367901" cy="73656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706515" y="2242120"/>
            <a:ext cx="662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 resulting received power can be written as:</a:t>
            </a:r>
          </a:p>
        </p:txBody>
      </p:sp>
      <p:pic>
        <p:nvPicPr>
          <p:cNvPr id="8" name="Picture 4" descr="received power from Friis Transmission Formul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8899" y="2893676"/>
            <a:ext cx="1367901" cy="720591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591379" y="3093984"/>
            <a:ext cx="3613599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Received power decays at the rate 20db/decade with distance</a:t>
            </a:r>
          </a:p>
        </p:txBody>
      </p:sp>
    </p:spTree>
    <p:extLst>
      <p:ext uri="{BB962C8B-B14F-4D97-AF65-F5344CB8AC3E}">
        <p14:creationId xmlns:p14="http://schemas.microsoft.com/office/powerpoint/2010/main" val="373240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isotropic antenna is an ideal antenna which radiates power with unit gain uniformly in all directions.</a:t>
            </a:r>
          </a:p>
          <a:p>
            <a:endParaRPr lang="en-IN" dirty="0"/>
          </a:p>
          <a:p>
            <a:r>
              <a:rPr lang="en-IN" dirty="0"/>
              <a:t>Effective isotropic radiated power is </a:t>
            </a:r>
          </a:p>
          <a:p>
            <a:pPr marL="0" indent="0">
              <a:buNone/>
            </a:pPr>
            <a:r>
              <a:rPr lang="en-IN" dirty="0"/>
              <a:t>	 EIRP = </a:t>
            </a:r>
            <a:r>
              <a:rPr lang="en-IN" dirty="0" err="1"/>
              <a:t>P</a:t>
            </a:r>
            <a:r>
              <a:rPr lang="en-IN" baseline="-25000" dirty="0" err="1"/>
              <a:t>t</a:t>
            </a:r>
            <a:r>
              <a:rPr lang="en-IN" dirty="0" err="1"/>
              <a:t>G</a:t>
            </a:r>
            <a:r>
              <a:rPr lang="en-IN" baseline="-25000" dirty="0" err="1"/>
              <a:t>t</a:t>
            </a:r>
            <a:endParaRPr lang="en-IN" baseline="-25000" dirty="0"/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Magnitude of the received E field</a:t>
            </a:r>
            <a:endParaRPr lang="en-IN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36847" y="3188564"/>
            <a:ext cx="4935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Ι</a:t>
            </a:r>
            <a:r>
              <a:rPr lang="en-US" dirty="0"/>
              <a:t>E</a:t>
            </a:r>
            <a:r>
              <a:rPr lang="el-GR" dirty="0"/>
              <a:t>Ι</a:t>
            </a:r>
            <a:r>
              <a:rPr lang="en-US" dirty="0"/>
              <a:t> = ( P</a:t>
            </a:r>
            <a:r>
              <a:rPr lang="en-US" baseline="-25000" dirty="0"/>
              <a:t>r</a:t>
            </a:r>
            <a:r>
              <a:rPr lang="en-US" dirty="0"/>
              <a:t>(d)120</a:t>
            </a:r>
            <a:r>
              <a:rPr lang="el-GR" dirty="0"/>
              <a:t>π</a:t>
            </a:r>
            <a:r>
              <a:rPr lang="en-US" dirty="0"/>
              <a:t>/A</a:t>
            </a:r>
            <a:r>
              <a:rPr lang="en-US" baseline="-25000" dirty="0"/>
              <a:t>e</a:t>
            </a:r>
            <a:r>
              <a:rPr lang="en-US" dirty="0"/>
              <a:t>)</a:t>
            </a:r>
            <a:r>
              <a:rPr lang="en-US" baseline="30000" dirty="0"/>
              <a:t>1/2</a:t>
            </a:r>
          </a:p>
        </p:txBody>
      </p:sp>
    </p:spTree>
    <p:extLst>
      <p:ext uri="{BB962C8B-B14F-4D97-AF65-F5344CB8AC3E}">
        <p14:creationId xmlns:p14="http://schemas.microsoft.com/office/powerpoint/2010/main" val="22240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loss represents the signal attenuation and is measured in </a:t>
            </a:r>
            <a:r>
              <a:rPr lang="en-US" dirty="0" err="1"/>
              <a:t>dB.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		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If unit gain antennas are considered , </a:t>
            </a:r>
          </a:p>
          <a:p>
            <a:pPr marL="0" indent="0"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7701" t="38542" r="40630" b="54167"/>
          <a:stretch/>
        </p:blipFill>
        <p:spPr>
          <a:xfrm>
            <a:off x="1571347" y="1384178"/>
            <a:ext cx="3389790" cy="6355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7701" t="52083" r="40630" b="41667"/>
          <a:stretch/>
        </p:blipFill>
        <p:spPr>
          <a:xfrm>
            <a:off x="1686757" y="3031944"/>
            <a:ext cx="3595456" cy="6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0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Fields of Antenna</a:t>
            </a:r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The fields of an antenna can broadly be classified in two regions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Far field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Near field 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Friis</a:t>
            </a:r>
            <a:r>
              <a:rPr lang="en-US" dirty="0"/>
              <a:t> free space model is only a valid for values of d which are in the far-field of the transmitting antenna. </a:t>
            </a:r>
            <a:endParaRPr lang="en-IN" dirty="0"/>
          </a:p>
          <a:p>
            <a:pPr marL="0" lvl="0" indent="0"/>
            <a:endParaRPr lang="en-US" dirty="0"/>
          </a:p>
          <a:p>
            <a:pPr marL="0" lvl="0" indent="0">
              <a:buNone/>
            </a:pPr>
            <a:r>
              <a:rPr lang="en-US" dirty="0"/>
              <a:t>It is in the far field that the propagating waves act as plane waves and the power decays inversely with distance.</a:t>
            </a:r>
            <a:endParaRPr lang="en-IN" dirty="0"/>
          </a:p>
          <a:p>
            <a:pPr lvl="0"/>
            <a:endParaRPr lang="en-US" dirty="0"/>
          </a:p>
          <a:p>
            <a:pPr marL="0" lvl="0" indent="0">
              <a:buNone/>
            </a:pPr>
            <a:r>
              <a:rPr lang="en-US" dirty="0"/>
              <a:t>The far field region is also termed as </a:t>
            </a:r>
            <a:r>
              <a:rPr lang="en-US" dirty="0">
                <a:solidFill>
                  <a:srgbClr val="FF0000"/>
                </a:solidFill>
              </a:rPr>
              <a:t>Fraunhofe</a:t>
            </a:r>
            <a:r>
              <a:rPr lang="en-US" dirty="0"/>
              <a:t>r region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97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Free Space Propagation Model</a:t>
            </a:r>
          </a:p>
          <a:p>
            <a:endParaRPr lang="en-IN" dirty="0"/>
          </a:p>
        </p:txBody>
      </p:sp>
      <p:sp>
        <p:nvSpPr>
          <p:cNvPr id="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Fraunhofer distance is given by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dirty="0" err="1"/>
              <a:t>df</a:t>
            </a:r>
            <a:r>
              <a:rPr lang="en-US" dirty="0"/>
              <a:t> = 2D</a:t>
            </a:r>
            <a:r>
              <a:rPr lang="en-US" baseline="30000" dirty="0"/>
              <a:t>2</a:t>
            </a:r>
            <a:r>
              <a:rPr lang="en-US" dirty="0"/>
              <a:t>/</a:t>
            </a:r>
            <a:r>
              <a:rPr lang="el-GR" dirty="0"/>
              <a:t>λ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D- largest physical linear dimension of the antenna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Large-scale propagation models use a close-in distance, d0, as a known received power reference point.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Received power in free space at a distance greater than d0 is given by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 l="33333" t="52137" r="35096" b="40171"/>
          <a:stretch>
            <a:fillRect/>
          </a:stretch>
        </p:blipFill>
        <p:spPr bwMode="auto">
          <a:xfrm>
            <a:off x="896644" y="3652448"/>
            <a:ext cx="4109621" cy="617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360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Two Ray Ground Reflection Model </a:t>
            </a:r>
          </a:p>
        </p:txBody>
      </p:sp>
      <p:pic>
        <p:nvPicPr>
          <p:cNvPr id="5" name="Picture 2" descr="https://upload.wikimedia.org/wikipedia/commons/b/bf/2-Ray_Ground_Reflection_Model_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10000"/>
          </a:blip>
          <a:srcRect t="20833"/>
          <a:stretch>
            <a:fillRect/>
          </a:stretch>
        </p:blipFill>
        <p:spPr bwMode="auto">
          <a:xfrm>
            <a:off x="1033688" y="1353037"/>
            <a:ext cx="5337553" cy="1789658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/>
          <a:srcRect l="31566" t="17701" r="44666" b="76304"/>
          <a:stretch>
            <a:fillRect/>
          </a:stretch>
        </p:blipFill>
        <p:spPr bwMode="auto">
          <a:xfrm>
            <a:off x="613300" y="3404586"/>
            <a:ext cx="4551286" cy="590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3"/>
          <a:srcRect l="39904" t="27066" r="52885" b="67521"/>
          <a:stretch>
            <a:fillRect/>
          </a:stretch>
        </p:blipFill>
        <p:spPr bwMode="auto">
          <a:xfrm>
            <a:off x="710955" y="4173069"/>
            <a:ext cx="1780714" cy="64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061839" y="4173069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 </a:t>
            </a:r>
            <a:r>
              <a:rPr lang="en-US" sz="2000" dirty="0"/>
              <a:t>if d&gt;&gt; </a:t>
            </a:r>
            <a:r>
              <a:rPr lang="en-US" sz="2000" dirty="0" err="1"/>
              <a:t>ht+hr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135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Two Ray Ground Reflection Model 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rcRect l="41506" t="53846" r="44231" b="25071"/>
          <a:stretch>
            <a:fillRect/>
          </a:stretch>
        </p:blipFill>
        <p:spPr bwMode="auto">
          <a:xfrm>
            <a:off x="1136342" y="1336357"/>
            <a:ext cx="3114120" cy="1468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 l="39825" t="41667" r="42020" b="50000"/>
          <a:stretch>
            <a:fillRect/>
          </a:stretch>
        </p:blipFill>
        <p:spPr bwMode="auto">
          <a:xfrm>
            <a:off x="1322772" y="3391477"/>
            <a:ext cx="2640367" cy="77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118369" y="291374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Received power at a distance d from the transmitting antenna is </a:t>
            </a:r>
          </a:p>
        </p:txBody>
      </p:sp>
    </p:spTree>
    <p:extLst>
      <p:ext uri="{BB962C8B-B14F-4D97-AF65-F5344CB8AC3E}">
        <p14:creationId xmlns:p14="http://schemas.microsoft.com/office/powerpoint/2010/main" val="37524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444" y="699636"/>
            <a:ext cx="8503920" cy="41148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Free space propagation model is used to predict received signal strength when the transmitter and receiver have a clear, unobstructed line-of-sight path between them</a:t>
            </a:r>
            <a:r>
              <a:rPr lang="en-IN" dirty="0"/>
              <a:t> .</a:t>
            </a:r>
          </a:p>
          <a:p>
            <a:r>
              <a:rPr lang="en-US" dirty="0"/>
              <a:t>The </a:t>
            </a:r>
            <a:r>
              <a:rPr lang="en-US" dirty="0" err="1"/>
              <a:t>Friis</a:t>
            </a:r>
            <a:r>
              <a:rPr lang="en-US" dirty="0"/>
              <a:t> free space model is only a valid for values of d which are in the far-field of the transmitting antenna. </a:t>
            </a:r>
          </a:p>
          <a:p>
            <a:r>
              <a:rPr lang="en-US" dirty="0"/>
              <a:t>The power received in a two way ground reflection model is dependent on the height of the transmitting and receiving antenna.</a:t>
            </a:r>
            <a:endParaRPr lang="en-IN" dirty="0"/>
          </a:p>
          <a:p>
            <a:pPr marL="0" lvl="0" indent="0"/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3667</TotalTime>
  <Words>586</Words>
  <Application>Microsoft Office PowerPoint</Application>
  <PresentationFormat>On-screen Show (16:9)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262</cp:revision>
  <dcterms:created xsi:type="dcterms:W3CDTF">2015-06-09T08:31:04Z</dcterms:created>
  <dcterms:modified xsi:type="dcterms:W3CDTF">2025-04-17T13:02:38Z</dcterms:modified>
</cp:coreProperties>
</file>