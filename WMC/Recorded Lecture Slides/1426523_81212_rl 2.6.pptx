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0"/>
  </p:notesMasterIdLst>
  <p:handoutMasterIdLst>
    <p:handoutMasterId r:id="rId11"/>
  </p:handoutMasterIdLst>
  <p:sldIdLst>
    <p:sldId id="418" r:id="rId2"/>
    <p:sldId id="419" r:id="rId3"/>
    <p:sldId id="420" r:id="rId4"/>
    <p:sldId id="421" r:id="rId5"/>
    <p:sldId id="422" r:id="rId6"/>
    <p:sldId id="423" r:id="rId7"/>
    <p:sldId id="424" r:id="rId8"/>
    <p:sldId id="391" r:id="rId9"/>
  </p:sldIdLst>
  <p:sldSz cx="9144000" cy="5143500" type="screen16x9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4434" autoAdjust="0"/>
  </p:normalViewPr>
  <p:slideViewPr>
    <p:cSldViewPr snapToGrid="0">
      <p:cViewPr varScale="1">
        <p:scale>
          <a:sx n="97" d="100"/>
          <a:sy n="97" d="100"/>
        </p:scale>
        <p:origin x="1027" y="72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84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94F4B-DBDD-4BF7-B613-78EDB047F2F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1AD7E-7F9D-4576-9772-0B1B702F1F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078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2289B-64AB-40F4-866F-7386DC470D15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8DE6F-CB63-4507-A312-B89798DB40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682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245444" y="116706"/>
            <a:ext cx="6537960" cy="5829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 b="1" spc="225" baseline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name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74320" y="754380"/>
            <a:ext cx="8503920" cy="4114800"/>
          </a:xfrm>
          <a:prstGeom prst="rect">
            <a:avLst/>
          </a:prstGeom>
        </p:spPr>
        <p:txBody>
          <a:bodyPr lIns="0" rIns="0"/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685801"/>
            <a:ext cx="7010400" cy="34289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19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b="1" kern="1200">
          <a:solidFill>
            <a:schemeClr val="tx1"/>
          </a:solidFill>
          <a:effectLst/>
          <a:latin typeface="Arial" pitchFamily="34" charset="0"/>
          <a:ea typeface="+mn-ea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Constantly there is a rise in demand for wireless service</a:t>
            </a:r>
          </a:p>
          <a:p>
            <a:pPr marL="0" indent="0">
              <a:buNone/>
            </a:pPr>
            <a:r>
              <a:rPr lang="en-IN" dirty="0"/>
              <a:t>Need to have more channels per coverage area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How do we do?</a:t>
            </a:r>
          </a:p>
          <a:p>
            <a:pPr marL="0" indent="0">
              <a:buNone/>
            </a:pPr>
            <a:r>
              <a:rPr lang="en-IN" dirty="0"/>
              <a:t>Use of techniques to expand the capacity of cellular systems</a:t>
            </a:r>
          </a:p>
          <a:p>
            <a:r>
              <a:rPr lang="en-IN" dirty="0"/>
              <a:t> Cell Splitting</a:t>
            </a:r>
          </a:p>
          <a:p>
            <a:r>
              <a:rPr lang="en-IN" dirty="0"/>
              <a:t>Cell Sectoring</a:t>
            </a:r>
          </a:p>
          <a:p>
            <a:r>
              <a:rPr lang="en-IN" dirty="0"/>
              <a:t>Microcell zone concept</a:t>
            </a:r>
          </a:p>
          <a:p>
            <a:pPr marL="0" indent="0"/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Improving coverage and capacity in cellular System</a:t>
            </a:r>
          </a:p>
        </p:txBody>
      </p:sp>
    </p:spTree>
    <p:extLst>
      <p:ext uri="{BB962C8B-B14F-4D97-AF65-F5344CB8AC3E}">
        <p14:creationId xmlns:p14="http://schemas.microsoft.com/office/powerpoint/2010/main" val="412171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59882" y="133350"/>
            <a:ext cx="8532796" cy="582930"/>
          </a:xfrm>
        </p:spPr>
        <p:txBody>
          <a:bodyPr/>
          <a:lstStyle/>
          <a:p>
            <a:r>
              <a:rPr lang="en-IN" sz="1800" dirty="0"/>
              <a:t>Improving coverage and capacity in cellular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Cell Splitting (re-scaling of the system)</a:t>
            </a:r>
          </a:p>
          <a:p>
            <a:r>
              <a:rPr lang="en-US" dirty="0"/>
              <a:t>Cell splitting is the process of subdividing a congested cell into smaller cells.</a:t>
            </a:r>
          </a:p>
          <a:p>
            <a:r>
              <a:rPr lang="en-US" dirty="0"/>
              <a:t>Cell splitting increases the capacity of a cellular system since it increases the number of times that channels are reused.</a:t>
            </a:r>
          </a:p>
          <a:p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 l="50641" t="22507" r="31090" b="48718"/>
          <a:stretch>
            <a:fillRect/>
          </a:stretch>
        </p:blipFill>
        <p:spPr bwMode="auto">
          <a:xfrm>
            <a:off x="1684961" y="2045413"/>
            <a:ext cx="4625939" cy="2937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 flipV="1">
            <a:off x="3958120" y="2121613"/>
            <a:ext cx="11430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29720" y="2045413"/>
            <a:ext cx="12192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Microcell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35541" y="4613416"/>
            <a:ext cx="4572000" cy="491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9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Courtesy to T G </a:t>
            </a:r>
            <a:r>
              <a:rPr lang="en-IN" sz="9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palanivelu</a:t>
            </a:r>
            <a:r>
              <a:rPr lang="en-IN" sz="9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R </a:t>
            </a:r>
            <a:r>
              <a:rPr lang="en-IN" sz="9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Nakkeeran</a:t>
            </a:r>
            <a:r>
              <a:rPr lang="en-IN" sz="9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endParaRPr lang="en-IN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9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©2009 PHI Learning </a:t>
            </a:r>
            <a:r>
              <a:rPr lang="en-IN" sz="900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Limited,Delhi</a:t>
            </a:r>
            <a:endParaRPr lang="en-IN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9881" y="4613416"/>
            <a:ext cx="3181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Illustration of cell splitting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3160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74320" y="171450"/>
            <a:ext cx="6537960" cy="58293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Cell Sectoring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co-channel interference may be decreased by replacing the single </a:t>
            </a:r>
            <a:r>
              <a:rPr lang="en-US" dirty="0" err="1"/>
              <a:t>omni</a:t>
            </a:r>
            <a:r>
              <a:rPr lang="en-US" dirty="0"/>
              <a:t> directional antenna by several directional antennas, each radiating with in a specified sector. A Cell has same coverage area space.</a:t>
            </a:r>
          </a:p>
          <a:p>
            <a:endParaRPr lang="en-US" dirty="0"/>
          </a:p>
          <a:p>
            <a:r>
              <a:rPr lang="en-US" dirty="0"/>
              <a:t>A cell is normally partitioned into three 120</a:t>
            </a:r>
            <a:r>
              <a:rPr lang="en-US" baseline="30000" dirty="0"/>
              <a:t>0</a:t>
            </a:r>
            <a:r>
              <a:rPr lang="en-US" dirty="0"/>
              <a:t> sectors or six 60</a:t>
            </a:r>
            <a:r>
              <a:rPr lang="en-US" baseline="30000" dirty="0"/>
              <a:t>0</a:t>
            </a:r>
            <a:r>
              <a:rPr lang="en-US" dirty="0"/>
              <a:t> sectors.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 l="24038" t="54986" r="48718" b="29629"/>
          <a:stretch>
            <a:fillRect/>
          </a:stretch>
        </p:blipFill>
        <p:spPr bwMode="auto">
          <a:xfrm>
            <a:off x="1325366" y="3015465"/>
            <a:ext cx="5046324" cy="1337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6221002" y="4530706"/>
            <a:ext cx="4572000" cy="451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Courtesy to Theodore S. Rappaport       </a:t>
            </a: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©2002, 1996 Prentice Hall PTR</a:t>
            </a:r>
            <a:endParaRPr lang="en-IN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73840" y="4499651"/>
            <a:ext cx="3349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Illustration of cell sectoring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8271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Cell Sectoring</a:t>
            </a:r>
          </a:p>
          <a:p>
            <a:endParaRPr lang="en-IN" dirty="0"/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Advantages: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Cells are divided into a number of wedge shaped sectors, each with their own set of channels.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Decrease in CCI.</a:t>
            </a:r>
          </a:p>
          <a:p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Disadvantages: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Each sector is limited to only using 1/3 or 1/6 of the available channels. Therefore decrease in </a:t>
            </a:r>
            <a:r>
              <a:rPr lang="en-US" dirty="0" err="1"/>
              <a:t>trunking</a:t>
            </a:r>
            <a:r>
              <a:rPr lang="en-US" dirty="0"/>
              <a:t> efficiency.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Increase in the number of required antenna.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Antennas are expensive , have to be maintained.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Increased number of Handoffs (sector to sector)</a:t>
            </a:r>
          </a:p>
        </p:txBody>
      </p:sp>
    </p:spTree>
    <p:extLst>
      <p:ext uri="{BB962C8B-B14F-4D97-AF65-F5344CB8AC3E}">
        <p14:creationId xmlns:p14="http://schemas.microsoft.com/office/powerpoint/2010/main" val="138853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74320" y="291366"/>
            <a:ext cx="6537960" cy="582930"/>
          </a:xfrm>
        </p:spPr>
        <p:txBody>
          <a:bodyPr/>
          <a:lstStyle/>
          <a:p>
            <a:r>
              <a:rPr lang="en-US" dirty="0"/>
              <a:t>Microcell Zone concept</a:t>
            </a:r>
          </a:p>
          <a:p>
            <a:endParaRPr lang="en-IN" dirty="0"/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A cell is divided into microcells or zones.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/>
              <a:t>Each microcell is connected to the same base station.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/>
              <a:t>Each zone uses a directional antenna.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/>
              <a:t>As a mobile travels from one zone to another, it retains the same channel. </a:t>
            </a:r>
            <a:r>
              <a:rPr lang="en-US" dirty="0" err="1"/>
              <a:t>i.e</a:t>
            </a:r>
            <a:r>
              <a:rPr lang="en-US" dirty="0"/>
              <a:t> no hand off.</a:t>
            </a:r>
          </a:p>
          <a:p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/>
              <a:t>MS is served by the strongest zone.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 marL="0" inden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965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Microcell Zone Concept</a:t>
            </a:r>
          </a:p>
          <a:p>
            <a:endParaRPr lang="en-IN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l="21795" t="38746" r="43910" b="21937"/>
          <a:stretch>
            <a:fillRect/>
          </a:stretch>
        </p:blipFill>
        <p:spPr bwMode="auto">
          <a:xfrm>
            <a:off x="811658" y="1373404"/>
            <a:ext cx="5946185" cy="3085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2095928" y="4602822"/>
            <a:ext cx="3226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The Microcell Concept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1537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Repeaters for Range Expansion</a:t>
            </a:r>
          </a:p>
          <a:p>
            <a:endParaRPr lang="en-IN" dirty="0"/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Radio Re-transmitters are called Repeaters.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/>
              <a:t>Used in hard to reach areas such as valleys, tunnels etc.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/>
              <a:t>A repeater consists of a radio receiver, an amplifier ,a transmitter. 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/>
              <a:t>Repeaters are bidirectional</a:t>
            </a:r>
          </a:p>
          <a:p>
            <a:pPr lvl="1">
              <a:buFont typeface="Wingdings" pitchFamily="2" charset="2"/>
              <a:buChar char="ü"/>
            </a:pPr>
            <a:r>
              <a:rPr lang="en-US" sz="1800" b="0" dirty="0"/>
              <a:t>Receive signals from the base station,</a:t>
            </a:r>
          </a:p>
          <a:p>
            <a:pPr lvl="1">
              <a:buFont typeface="Wingdings" pitchFamily="2" charset="2"/>
              <a:buChar char="ü"/>
            </a:pPr>
            <a:r>
              <a:rPr lang="en-US" sz="1800" b="0" dirty="0"/>
              <a:t>Amplify the signals and</a:t>
            </a:r>
          </a:p>
          <a:p>
            <a:pPr lvl="1">
              <a:buFont typeface="Wingdings" pitchFamily="2" charset="2"/>
              <a:buChar char="ü"/>
            </a:pPr>
            <a:r>
              <a:rPr lang="en-US" sz="1800" b="0" dirty="0"/>
              <a:t>Re-radiate the signals. </a:t>
            </a:r>
          </a:p>
        </p:txBody>
      </p:sp>
    </p:spTree>
    <p:extLst>
      <p:ext uri="{BB962C8B-B14F-4D97-AF65-F5344CB8AC3E}">
        <p14:creationId xmlns:p14="http://schemas.microsoft.com/office/powerpoint/2010/main" val="229409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In order to improve the coverage and capacity of the cellular systems many techniques sectoring, cell splitting and microcell zone concept .</a:t>
            </a:r>
          </a:p>
          <a:p>
            <a:r>
              <a:rPr lang="en-IN" dirty="0"/>
              <a:t>Repeaters are used in hard to reach areas and also for range extension 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16&quot;&gt;&lt;object type=&quot;3&quot; unique_id=&quot;10017&quot;&gt;&lt;property id=&quot;20148&quot; value=&quot;5&quot;/&gt;&lt;property id=&quot;20300&quot; value=&quot;Slide 1&quot;/&gt;&lt;property id=&quot;20307&quot; value=&quot;381&quot;/&gt;&lt;/object&gt;&lt;object type=&quot;3&quot; unique_id=&quot;10051&quot;&gt;&lt;property id=&quot;20148&quot; value=&quot;5&quot;/&gt;&lt;property id=&quot;20300&quot; value=&quot;Slide 2&quot;/&gt;&lt;property id=&quot;20307&quot; value=&quot;386&quot;/&gt;&lt;/object&gt;&lt;object type=&quot;3&quot; unique_id=&quot;10052&quot;&gt;&lt;property id=&quot;20148&quot; value=&quot;5&quot;/&gt;&lt;property id=&quot;20300&quot; value=&quot;Slide 3&quot;/&gt;&lt;property id=&quot;20307&quot; value=&quot;387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ITS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bits.thmx</Template>
  <TotalTime>3599</TotalTime>
  <Words>426</Words>
  <Application>Microsoft Office PowerPoint</Application>
  <PresentationFormat>On-screen Show (16:9)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BITS_PPT_template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</dc:creator>
  <cp:lastModifiedBy>Abid AK</cp:lastModifiedBy>
  <cp:revision>243</cp:revision>
  <dcterms:created xsi:type="dcterms:W3CDTF">2015-06-09T08:31:04Z</dcterms:created>
  <dcterms:modified xsi:type="dcterms:W3CDTF">2025-04-17T12:52:26Z</dcterms:modified>
</cp:coreProperties>
</file>