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4"/>
  </p:notesMasterIdLst>
  <p:handoutMasterIdLst>
    <p:handoutMasterId r:id="rId15"/>
  </p:handoutMasterIdLst>
  <p:sldIdLst>
    <p:sldId id="433" r:id="rId2"/>
    <p:sldId id="420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391" r:id="rId13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Propagation Models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Radio transmission takes place over a variety of irregular terrain.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terrain profile need to be taken into account for estimating the path loss.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Different Models have been developed to meet the needs of realizing the propagation behavior in different conditions.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Types of models for radio propagation include</a:t>
            </a:r>
          </a:p>
          <a:p>
            <a:endParaRPr lang="en-US" dirty="0"/>
          </a:p>
          <a:p>
            <a:r>
              <a:rPr lang="en-US" dirty="0"/>
              <a:t>Outdoor Propagation Model</a:t>
            </a:r>
          </a:p>
          <a:p>
            <a:r>
              <a:rPr lang="en-US" dirty="0"/>
              <a:t>Indoor Propagation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174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Outdoor Propagation Models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245444" y="88127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Types of outdoor Propagation model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Terrain Models</a:t>
            </a:r>
          </a:p>
          <a:p>
            <a:pPr marL="0" indent="0">
              <a:buNone/>
            </a:pPr>
            <a:r>
              <a:rPr lang="en-IN" dirty="0"/>
              <a:t>	- Longley Rice Model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Parametric Models</a:t>
            </a:r>
          </a:p>
          <a:p>
            <a:pPr marL="0" indent="0">
              <a:buNone/>
            </a:pPr>
            <a:r>
              <a:rPr lang="en-IN" dirty="0"/>
              <a:t>	- Okumura  Model</a:t>
            </a:r>
          </a:p>
          <a:p>
            <a:pPr marL="0" indent="0">
              <a:buNone/>
            </a:pPr>
            <a:r>
              <a:rPr lang="en-IN" dirty="0"/>
              <a:t>	- </a:t>
            </a:r>
            <a:r>
              <a:rPr lang="en-IN" dirty="0" err="1"/>
              <a:t>Hata</a:t>
            </a:r>
            <a:r>
              <a:rPr lang="en-IN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80583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Outdoor Propagation Models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90852"/>
            <a:ext cx="84582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Terrain Models</a:t>
            </a:r>
          </a:p>
          <a:p>
            <a:pPr lvl="1">
              <a:buFont typeface="Wingdings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Longley-Rice Model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- Also called as Irregular Terrain model.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-Applicable to point to point communication.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- Frequency range from 40MHz to 100GHz over         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various different kinds of terrain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- Applicable only for Irregular Terrain.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- It doesn’t take into account buildings or trees.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Modes of operation: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to point mode Prediction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Terrain path profile available, easy to determine path specific parameters.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Mode prediction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Terrain path profile not available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5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94055" y="418010"/>
            <a:ext cx="6537960" cy="582930"/>
          </a:xfrm>
        </p:spPr>
        <p:txBody>
          <a:bodyPr/>
          <a:lstStyle/>
          <a:p>
            <a:r>
              <a:rPr lang="en-US" dirty="0"/>
              <a:t>Okumura Model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79899" y="709475"/>
            <a:ext cx="88392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Widely used for signal prediction in urban areas. </a:t>
            </a:r>
          </a:p>
          <a:p>
            <a:pPr marL="0" indent="0">
              <a:buNone/>
            </a:pPr>
            <a:r>
              <a:rPr lang="en-US" sz="1600" b="1" dirty="0"/>
              <a:t>The Okumura model for urban areas</a:t>
            </a:r>
            <a:r>
              <a:rPr lang="en-US" sz="1600" dirty="0"/>
              <a:t> is a Radio propagation model that was built using the data collected in the city of Tokyo, Japan.</a:t>
            </a:r>
          </a:p>
          <a:p>
            <a:pPr marL="0" indent="0">
              <a:buNone/>
            </a:pPr>
            <a:r>
              <a:rPr lang="en-US" sz="1600" dirty="0"/>
              <a:t>Developed during the mid 1960's</a:t>
            </a:r>
          </a:p>
          <a:p>
            <a:pPr marL="0" indent="0">
              <a:buNone/>
            </a:pPr>
            <a:r>
              <a:rPr lang="en-US" sz="1600" dirty="0"/>
              <a:t>Applicable for:</a:t>
            </a:r>
          </a:p>
          <a:p>
            <a:pPr lvl="1"/>
            <a:r>
              <a:rPr lang="en-US" sz="1600" dirty="0"/>
              <a:t>frequency </a:t>
            </a:r>
            <a:r>
              <a:rPr lang="en-US" sz="1600" i="1" dirty="0"/>
              <a:t>f</a:t>
            </a:r>
            <a:r>
              <a:rPr lang="en-US" sz="1600" dirty="0"/>
              <a:t>: 150 MHz -  1920 MHz</a:t>
            </a:r>
          </a:p>
          <a:p>
            <a:pPr lvl="1"/>
            <a:r>
              <a:rPr lang="en-US" sz="1600" dirty="0"/>
              <a:t>distance </a:t>
            </a:r>
            <a:r>
              <a:rPr lang="en-US" sz="1600" i="1" dirty="0"/>
              <a:t>d</a:t>
            </a:r>
            <a:r>
              <a:rPr lang="en-US" sz="1600" dirty="0"/>
              <a:t>: 1 km  - 100 km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Free Space path loss is given by </a:t>
            </a:r>
          </a:p>
          <a:p>
            <a:pPr lvl="1"/>
            <a:r>
              <a:rPr lang="en-US" sz="1600" dirty="0"/>
              <a:t>  [L] = L</a:t>
            </a:r>
            <a:r>
              <a:rPr lang="en-US" sz="1600" baseline="-25000" dirty="0"/>
              <a:t>f </a:t>
            </a:r>
            <a:r>
              <a:rPr lang="en-US" sz="1600" dirty="0"/>
              <a:t>+ A</a:t>
            </a:r>
            <a:r>
              <a:rPr lang="en-US" sz="1600" baseline="-25000" dirty="0"/>
              <a:t>mu</a:t>
            </a:r>
            <a:r>
              <a:rPr lang="en-US" sz="1600" dirty="0"/>
              <a:t>(</a:t>
            </a:r>
            <a:r>
              <a:rPr lang="en-US" sz="1600" dirty="0" err="1"/>
              <a:t>f,d</a:t>
            </a:r>
            <a:r>
              <a:rPr lang="en-US" sz="1600" dirty="0"/>
              <a:t>) – G(</a:t>
            </a:r>
            <a:r>
              <a:rPr lang="en-US" sz="1600" dirty="0" err="1"/>
              <a:t>h</a:t>
            </a:r>
            <a:r>
              <a:rPr lang="en-US" sz="1600" baseline="-25000" dirty="0" err="1"/>
              <a:t>te</a:t>
            </a:r>
            <a:r>
              <a:rPr lang="en-US" sz="1600" dirty="0"/>
              <a:t>) – G(</a:t>
            </a:r>
            <a:r>
              <a:rPr lang="en-US" sz="1600" dirty="0" err="1"/>
              <a:t>h</a:t>
            </a:r>
            <a:r>
              <a:rPr lang="en-US" sz="1600" baseline="-25000" dirty="0" err="1"/>
              <a:t>re</a:t>
            </a:r>
            <a:r>
              <a:rPr lang="en-US" sz="1600" dirty="0"/>
              <a:t>) -</a:t>
            </a:r>
            <a:r>
              <a:rPr lang="en-US" sz="1600" dirty="0" err="1"/>
              <a:t>G</a:t>
            </a:r>
            <a:r>
              <a:rPr lang="en-US" sz="1600" baseline="-25000" dirty="0" err="1"/>
              <a:t>area</a:t>
            </a:r>
            <a:endParaRPr lang="en-US" sz="1600" baseline="-25000" dirty="0"/>
          </a:p>
          <a:p>
            <a:r>
              <a:rPr lang="en-US" sz="1600" dirty="0"/>
              <a:t>L</a:t>
            </a:r>
            <a:r>
              <a:rPr lang="en-US" sz="1600" baseline="-25000" dirty="0"/>
              <a:t>f</a:t>
            </a:r>
            <a:r>
              <a:rPr lang="en-US" sz="1600" dirty="0"/>
              <a:t> is the free space propagation loss</a:t>
            </a:r>
          </a:p>
          <a:p>
            <a:r>
              <a:rPr lang="en-US" sz="1600" dirty="0"/>
              <a:t>A</a:t>
            </a:r>
            <a:r>
              <a:rPr lang="en-US" sz="1600" baseline="-25000" dirty="0"/>
              <a:t>mu</a:t>
            </a:r>
            <a:r>
              <a:rPr lang="en-US" sz="1600" dirty="0"/>
              <a:t> is the median attenuation relative to free space</a:t>
            </a:r>
          </a:p>
          <a:p>
            <a:r>
              <a:rPr lang="en-US" sz="1600" dirty="0"/>
              <a:t>G(</a:t>
            </a:r>
            <a:r>
              <a:rPr lang="en-US" sz="1600" dirty="0" err="1"/>
              <a:t>h</a:t>
            </a:r>
            <a:r>
              <a:rPr lang="en-US" sz="1600" baseline="-25000" dirty="0" err="1"/>
              <a:t>te</a:t>
            </a:r>
            <a:r>
              <a:rPr lang="en-US" sz="1600" dirty="0"/>
              <a:t>)- Base station antenna height gain factor</a:t>
            </a:r>
          </a:p>
          <a:p>
            <a:r>
              <a:rPr lang="en-US" sz="1600" dirty="0"/>
              <a:t>G(</a:t>
            </a:r>
            <a:r>
              <a:rPr lang="en-US" sz="1600" dirty="0" err="1"/>
              <a:t>h</a:t>
            </a:r>
            <a:r>
              <a:rPr lang="en-US" sz="1600" baseline="-25000" dirty="0" err="1"/>
              <a:t>re</a:t>
            </a:r>
            <a:r>
              <a:rPr lang="en-US" sz="1600" dirty="0"/>
              <a:t>)- Mobile antenna height gain factor. </a:t>
            </a:r>
          </a:p>
          <a:p>
            <a:pPr marL="342900" lvl="1" indent="-342900">
              <a:buClr>
                <a:srgbClr val="101141"/>
              </a:buClr>
              <a:buNone/>
            </a:pPr>
            <a:r>
              <a:rPr lang="en-US" sz="1600" dirty="0" err="1"/>
              <a:t>G</a:t>
            </a:r>
            <a:r>
              <a:rPr lang="en-US" sz="1600" baseline="-25000" dirty="0" err="1"/>
              <a:t>area</a:t>
            </a:r>
            <a:r>
              <a:rPr lang="en-US" sz="1600" baseline="-25000" dirty="0"/>
              <a:t> </a:t>
            </a:r>
            <a:r>
              <a:rPr lang="en-US" sz="1600" dirty="0"/>
              <a:t>- Gain due to type of environment</a:t>
            </a:r>
            <a:endParaRPr lang="en-US" sz="1600" baseline="-25000" dirty="0"/>
          </a:p>
          <a:p>
            <a:pPr lvl="1">
              <a:buNone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This model is based only on the measured data.</a:t>
            </a:r>
          </a:p>
          <a:p>
            <a:pPr lvl="1">
              <a:buNone/>
            </a:pPr>
            <a:endParaRPr lang="en-US" sz="1050" dirty="0"/>
          </a:p>
          <a:p>
            <a:pPr lvl="1">
              <a:buNone/>
            </a:pPr>
            <a:endParaRPr lang="en-US" sz="1050" dirty="0"/>
          </a:p>
          <a:p>
            <a:pPr lvl="1">
              <a:buNone/>
            </a:pPr>
            <a:endParaRPr lang="en-US" sz="10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892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Okumura Model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340311" y="952299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G(</a:t>
            </a:r>
            <a:r>
              <a:rPr lang="en-US" dirty="0" err="1"/>
              <a:t>h</a:t>
            </a:r>
            <a:r>
              <a:rPr lang="en-US" baseline="-25000" dirty="0" err="1"/>
              <a:t>te</a:t>
            </a:r>
            <a:r>
              <a:rPr lang="en-US" dirty="0"/>
              <a:t>) –varies at rate 20dB/decade</a:t>
            </a:r>
          </a:p>
          <a:p>
            <a:pPr marL="0" indent="0">
              <a:buNone/>
            </a:pPr>
            <a:r>
              <a:rPr lang="en-US" dirty="0"/>
              <a:t>G(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)- varies at the rate 10dB/decade                   Heights &lt; 3m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G(</a:t>
            </a:r>
            <a:r>
              <a:rPr lang="en-US" dirty="0" err="1"/>
              <a:t>h</a:t>
            </a:r>
            <a:r>
              <a:rPr lang="en-US" baseline="-25000" dirty="0" err="1"/>
              <a:t>te</a:t>
            </a:r>
            <a:r>
              <a:rPr lang="en-US" dirty="0"/>
              <a:t>)= 20 log(</a:t>
            </a:r>
            <a:r>
              <a:rPr lang="en-US" dirty="0" err="1"/>
              <a:t>h</a:t>
            </a:r>
            <a:r>
              <a:rPr lang="en-US" baseline="-25000" dirty="0" err="1"/>
              <a:t>te</a:t>
            </a:r>
            <a:r>
              <a:rPr lang="en-US" dirty="0"/>
              <a:t>/200)            1000m&gt;</a:t>
            </a:r>
            <a:r>
              <a:rPr lang="en-US" dirty="0" err="1"/>
              <a:t>h</a:t>
            </a:r>
            <a:r>
              <a:rPr lang="en-US" baseline="-25000" dirty="0" err="1"/>
              <a:t>t</a:t>
            </a:r>
            <a:r>
              <a:rPr lang="en-US" dirty="0"/>
              <a:t>&gt;30m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G(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 )=10 log (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/3)               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≤ 3m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G(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) = 20log(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)/3)	    10m&gt;</a:t>
            </a:r>
            <a:r>
              <a:rPr lang="en-US" dirty="0" err="1"/>
              <a:t>h</a:t>
            </a:r>
            <a:r>
              <a:rPr lang="en-US" baseline="-25000" dirty="0" err="1"/>
              <a:t>te</a:t>
            </a:r>
            <a:r>
              <a:rPr lang="en-US" dirty="0"/>
              <a:t>&gt;3m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ight Brace 5"/>
          <p:cNvSpPr/>
          <p:nvPr/>
        </p:nvSpPr>
        <p:spPr>
          <a:xfrm>
            <a:off x="4663736" y="831542"/>
            <a:ext cx="304800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7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Hata</a:t>
            </a:r>
            <a:r>
              <a:rPr lang="en-US" dirty="0"/>
              <a:t> Model</a:t>
            </a:r>
          </a:p>
          <a:p>
            <a:endParaRPr lang="en-IN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91736" y="828012"/>
            <a:ext cx="82296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 err="1"/>
              <a:t>Hata</a:t>
            </a:r>
            <a:r>
              <a:rPr lang="en-US" dirty="0"/>
              <a:t> model is an empirical formulation of the graphical path loss data provided by Okumura.</a:t>
            </a:r>
          </a:p>
          <a:p>
            <a:r>
              <a:rPr lang="en-US" dirty="0"/>
              <a:t>It is valid from 150 MHz to 1500 </a:t>
            </a:r>
            <a:r>
              <a:rPr lang="en-US" dirty="0" err="1"/>
              <a:t>MHz.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fc - frequency (in MHz) from 150 MHz to 1500 </a:t>
            </a:r>
            <a:r>
              <a:rPr lang="en-US" dirty="0" err="1"/>
              <a:t>MHz.</a:t>
            </a:r>
            <a:endParaRPr lang="en-US" dirty="0"/>
          </a:p>
          <a:p>
            <a:r>
              <a:rPr lang="en-US" dirty="0" err="1"/>
              <a:t>h</a:t>
            </a:r>
            <a:r>
              <a:rPr lang="en-US" baseline="-25000" dirty="0" err="1"/>
              <a:t>te</a:t>
            </a:r>
            <a:r>
              <a:rPr lang="en-US" dirty="0"/>
              <a:t> –effective transmitter (base station) antenna height </a:t>
            </a:r>
          </a:p>
          <a:p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 - effective receiver (mobile) antenna height </a:t>
            </a:r>
          </a:p>
          <a:p>
            <a:r>
              <a:rPr lang="en-US" dirty="0"/>
              <a:t>d - T-R separation distance.</a:t>
            </a:r>
          </a:p>
          <a:p>
            <a:r>
              <a:rPr lang="en-US" dirty="0"/>
              <a:t>α</a:t>
            </a:r>
            <a:r>
              <a:rPr lang="en-US" baseline="-25000" dirty="0" err="1"/>
              <a:t>hre</a:t>
            </a:r>
            <a:r>
              <a:rPr lang="en-US" dirty="0"/>
              <a:t>- correction factor for effective mobile antenna height (Function of the size of the coverage area)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l="26354" t="56250" r="37921" b="35417"/>
          <a:stretch>
            <a:fillRect/>
          </a:stretch>
        </p:blipFill>
        <p:spPr bwMode="auto">
          <a:xfrm>
            <a:off x="381741" y="1917576"/>
            <a:ext cx="5568518" cy="84175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5057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Hata</a:t>
            </a:r>
            <a:r>
              <a:rPr lang="en-US" dirty="0"/>
              <a:t> Model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Small to medium size city, </a:t>
            </a:r>
          </a:p>
          <a:p>
            <a:pPr marL="0" indent="0">
              <a:buNone/>
            </a:pPr>
            <a:r>
              <a:rPr lang="en-US" dirty="0"/>
              <a:t>α</a:t>
            </a:r>
            <a:r>
              <a:rPr lang="en-US" baseline="-25000" dirty="0" err="1"/>
              <a:t>hre</a:t>
            </a:r>
            <a:r>
              <a:rPr lang="en-US" baseline="-25000" dirty="0"/>
              <a:t> </a:t>
            </a:r>
            <a:r>
              <a:rPr lang="en-US" dirty="0"/>
              <a:t>  = (1.1logf</a:t>
            </a:r>
            <a:r>
              <a:rPr lang="en-US" baseline="-25000" dirty="0"/>
              <a:t>c</a:t>
            </a:r>
            <a:r>
              <a:rPr lang="en-US" dirty="0"/>
              <a:t>-0.7)</a:t>
            </a:r>
            <a:r>
              <a:rPr lang="en-US" dirty="0" err="1"/>
              <a:t>h</a:t>
            </a:r>
            <a:r>
              <a:rPr lang="en-US" baseline="-25000" dirty="0" err="1"/>
              <a:t>re</a:t>
            </a:r>
            <a:r>
              <a:rPr lang="en-US" dirty="0"/>
              <a:t> – (1.56logf</a:t>
            </a:r>
            <a:r>
              <a:rPr lang="en-US" baseline="-25000" dirty="0"/>
              <a:t>c</a:t>
            </a:r>
            <a:r>
              <a:rPr lang="en-US" dirty="0"/>
              <a:t>-0.8) dB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Large Cities,</a:t>
            </a:r>
          </a:p>
          <a:p>
            <a:pPr marL="0" indent="0">
              <a:buNone/>
            </a:pPr>
            <a:r>
              <a:rPr lang="en-US" dirty="0"/>
              <a:t>α</a:t>
            </a:r>
            <a:r>
              <a:rPr lang="en-US" baseline="-25000" dirty="0" err="1"/>
              <a:t>hre</a:t>
            </a:r>
            <a:r>
              <a:rPr lang="en-US" baseline="-25000" dirty="0"/>
              <a:t> </a:t>
            </a:r>
            <a:r>
              <a:rPr lang="en-US" dirty="0"/>
              <a:t>= 8.29(log 1.54h</a:t>
            </a:r>
            <a:r>
              <a:rPr lang="en-US" baseline="-25000" dirty="0"/>
              <a:t>re</a:t>
            </a:r>
            <a:r>
              <a:rPr lang="en-US" dirty="0"/>
              <a:t>)2 – 1.1 dB      f</a:t>
            </a:r>
            <a:r>
              <a:rPr lang="en-US" baseline="-25000" dirty="0"/>
              <a:t>c </a:t>
            </a:r>
            <a:r>
              <a:rPr lang="en-US" dirty="0"/>
              <a:t>≤ 300Mz</a:t>
            </a:r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dirty="0"/>
              <a:t>α</a:t>
            </a:r>
            <a:r>
              <a:rPr lang="en-US" baseline="-25000" dirty="0" err="1"/>
              <a:t>hre</a:t>
            </a:r>
            <a:r>
              <a:rPr lang="en-US" baseline="-25000" dirty="0"/>
              <a:t> </a:t>
            </a:r>
            <a:r>
              <a:rPr lang="en-US" dirty="0"/>
              <a:t>= 3.2(log11.75h</a:t>
            </a:r>
            <a:r>
              <a:rPr lang="en-US" baseline="-25000" dirty="0"/>
              <a:t>re</a:t>
            </a:r>
            <a:r>
              <a:rPr lang="en-US" dirty="0"/>
              <a:t>)2- 4.97dB        f</a:t>
            </a:r>
            <a:r>
              <a:rPr lang="en-US" baseline="-25000" dirty="0"/>
              <a:t>c</a:t>
            </a:r>
            <a:r>
              <a:rPr lang="en-US" dirty="0"/>
              <a:t>&gt;300Mhz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predictions of HATA model compare closely with </a:t>
            </a:r>
            <a:r>
              <a:rPr lang="en-US" dirty="0" err="1"/>
              <a:t>okumura</a:t>
            </a:r>
            <a:r>
              <a:rPr lang="en-US" dirty="0"/>
              <a:t> model as long as d exceeds 1KM</a:t>
            </a:r>
          </a:p>
          <a:p>
            <a:endParaRPr lang="en-US" baseline="-25000" dirty="0"/>
          </a:p>
          <a:p>
            <a:pPr marL="0" indent="0">
              <a:buNone/>
            </a:pPr>
            <a:r>
              <a:rPr lang="en-US" dirty="0"/>
              <a:t>Model is suited for large cell mobile systems but not personal communication systems which have cells of radius 1Km.</a:t>
            </a:r>
          </a:p>
          <a:p>
            <a:pPr marL="0" indent="0">
              <a:buNone/>
            </a:pPr>
            <a:r>
              <a:rPr lang="en-US" baseline="-25000" dirty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73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Indoor Propagation Losses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Partition Losses</a:t>
            </a:r>
          </a:p>
          <a:p>
            <a:pPr>
              <a:buFontTx/>
              <a:buChar char="-"/>
            </a:pPr>
            <a:r>
              <a:rPr lang="en-US" dirty="0"/>
              <a:t>Partitions that are formed as a part of the building structure are called hard partitions.</a:t>
            </a:r>
          </a:p>
          <a:p>
            <a:pPr>
              <a:buFontTx/>
              <a:buChar char="-"/>
            </a:pPr>
            <a:r>
              <a:rPr lang="en-US" dirty="0"/>
              <a:t>Partitions that may be moved are called soft partitions.</a:t>
            </a:r>
          </a:p>
          <a:p>
            <a:pPr marL="0" indent="0"/>
            <a:endParaRPr lang="en-US" dirty="0"/>
          </a:p>
          <a:p>
            <a:pPr marL="0" indent="0">
              <a:buNone/>
            </a:pPr>
            <a:r>
              <a:rPr lang="en-US" dirty="0"/>
              <a:t>Partitions vary in their physical and electrical characteristics and hence variations in loss depending on the material 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	</a:t>
            </a:r>
            <a:r>
              <a:rPr lang="en-US" dirty="0" err="1"/>
              <a:t>Alluminum</a:t>
            </a:r>
            <a:r>
              <a:rPr lang="en-US" dirty="0"/>
              <a:t> sliding  20.4dB at 815 MHz</a:t>
            </a:r>
          </a:p>
          <a:p>
            <a:r>
              <a:rPr lang="en-US" dirty="0"/>
              <a:t>	Concrete wall – 13dB at 1300Mhz</a:t>
            </a:r>
          </a:p>
          <a:p>
            <a:r>
              <a:rPr lang="en-US" dirty="0"/>
              <a:t>	Heavy textile inventory- 8-11dB at 1300Mz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62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Losses between the floors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The losses between the floors of a building are determined </a:t>
            </a:r>
          </a:p>
          <a:p>
            <a:pPr marL="0" indent="0">
              <a:buNone/>
            </a:pPr>
            <a:r>
              <a:rPr lang="en-US" dirty="0"/>
              <a:t>	 -	Materials of the building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Indoor Propagation Losses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17" t="54166" r="30674" b="10417"/>
          <a:stretch/>
        </p:blipFill>
        <p:spPr>
          <a:xfrm>
            <a:off x="1003176" y="1826046"/>
            <a:ext cx="6286870" cy="309787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3176" y="1826046"/>
            <a:ext cx="702334" cy="321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064328" y="4465593"/>
            <a:ext cx="1939631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3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Log Distance Path Loss Model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Indoor propagation loss obey the distance power law equation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PL(dB)= PL(d</a:t>
            </a:r>
            <a:r>
              <a:rPr lang="en-US" baseline="-25000" dirty="0"/>
              <a:t>0</a:t>
            </a:r>
            <a:r>
              <a:rPr lang="en-US" dirty="0"/>
              <a:t>) +10nlog(d/d</a:t>
            </a:r>
            <a:r>
              <a:rPr lang="en-US" baseline="-25000" dirty="0"/>
              <a:t>0</a:t>
            </a:r>
            <a:r>
              <a:rPr lang="en-US" dirty="0"/>
              <a:t>) +x</a:t>
            </a:r>
            <a:r>
              <a:rPr lang="el-GR" baseline="-25000" dirty="0"/>
              <a:t>σ</a:t>
            </a:r>
            <a:endParaRPr lang="en-US" baseline="-25000" dirty="0"/>
          </a:p>
          <a:p>
            <a:endParaRPr lang="en-US" baseline="-25000" dirty="0"/>
          </a:p>
          <a:p>
            <a:pPr marL="0" indent="0">
              <a:buNone/>
            </a:pPr>
            <a:r>
              <a:rPr lang="en-US" dirty="0"/>
              <a:t>n – depends on surrounding and building type. 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l-GR" baseline="-25000" dirty="0"/>
              <a:t>σ </a:t>
            </a:r>
            <a:r>
              <a:rPr lang="en-US" baseline="-25000" dirty="0"/>
              <a:t>: </a:t>
            </a:r>
            <a:r>
              <a:rPr lang="en-US" dirty="0"/>
              <a:t>Normal random variable in dB having standard deviation of </a:t>
            </a:r>
            <a:r>
              <a:rPr lang="el-GR" dirty="0"/>
              <a:t>σ</a:t>
            </a:r>
            <a:r>
              <a:rPr lang="en-US" dirty="0"/>
              <a:t>. </a:t>
            </a:r>
          </a:p>
          <a:p>
            <a:endParaRPr lang="en-IN" baseline="-25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21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Log Distance Path Loss Model</a:t>
            </a:r>
            <a:endParaRPr lang="en-IN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 rotWithShape="1">
          <a:blip r:embed="rId2"/>
          <a:srcRect l="29176" t="32670" r="31069" b="15151"/>
          <a:stretch/>
        </p:blipFill>
        <p:spPr bwMode="auto">
          <a:xfrm>
            <a:off x="767602" y="956930"/>
            <a:ext cx="6015802" cy="405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67602" y="956930"/>
            <a:ext cx="650232" cy="183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068620" y="4552328"/>
            <a:ext cx="1939631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03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Longley rice model  is the terrain model suitable in the range of frequency 400MHz to 100GHz</a:t>
            </a:r>
          </a:p>
          <a:p>
            <a:r>
              <a:rPr lang="en-US" dirty="0"/>
              <a:t>Various Parametric models like Okumura model and </a:t>
            </a:r>
            <a:r>
              <a:rPr lang="en-US" dirty="0" err="1"/>
              <a:t>Hata</a:t>
            </a:r>
            <a:r>
              <a:rPr lang="en-US" dirty="0"/>
              <a:t> model for urban areas. </a:t>
            </a:r>
          </a:p>
          <a:p>
            <a:r>
              <a:rPr lang="en-US" dirty="0"/>
              <a:t>Indoor propagation losses like partition loss, floor loss depends on the material used, their physical and electrical characteristics.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3720</TotalTime>
  <Words>812</Words>
  <Application>Microsoft Office PowerPoint</Application>
  <PresentationFormat>On-screen Show (16:9)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296</cp:revision>
  <dcterms:created xsi:type="dcterms:W3CDTF">2015-06-09T08:31:04Z</dcterms:created>
  <dcterms:modified xsi:type="dcterms:W3CDTF">2025-04-17T13:04:34Z</dcterms:modified>
</cp:coreProperties>
</file>