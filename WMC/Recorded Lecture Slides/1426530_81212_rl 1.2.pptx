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4"/>
  </p:notesMasterIdLst>
  <p:handoutMasterIdLst>
    <p:handoutMasterId r:id="rId15"/>
  </p:handoutMasterIdLst>
  <p:sldIdLst>
    <p:sldId id="407" r:id="rId2"/>
    <p:sldId id="409" r:id="rId3"/>
    <p:sldId id="410" r:id="rId4"/>
    <p:sldId id="411" r:id="rId5"/>
    <p:sldId id="412" r:id="rId6"/>
    <p:sldId id="413" r:id="rId7"/>
    <p:sldId id="414" r:id="rId8"/>
    <p:sldId id="415" r:id="rId9"/>
    <p:sldId id="416" r:id="rId10"/>
    <p:sldId id="417" r:id="rId11"/>
    <p:sldId id="418" r:id="rId12"/>
    <p:sldId id="391" r:id="rId13"/>
  </p:sldIdLst>
  <p:sldSz cx="9144000" cy="5143500" type="screen16x9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1562" autoAdjust="0"/>
  </p:normalViewPr>
  <p:slideViewPr>
    <p:cSldViewPr snapToGrid="0">
      <p:cViewPr varScale="1">
        <p:scale>
          <a:sx n="94" d="100"/>
          <a:sy n="94" d="100"/>
        </p:scale>
        <p:origin x="1123" y="77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84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94F4B-DBDD-4BF7-B613-78EDB047F2F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1AD7E-7F9D-4576-9772-0B1B702F1F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078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2289B-64AB-40F4-866F-7386DC470D15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8DE6F-CB63-4507-A312-B89798DB40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682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38DE6F-CB63-4507-A312-B89798DB40F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673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245444" y="116706"/>
            <a:ext cx="6537960" cy="5829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 b="1" spc="225" baseline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name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4320" y="754380"/>
            <a:ext cx="8503920" cy="4114800"/>
          </a:xfrm>
          <a:prstGeom prst="rect">
            <a:avLst/>
          </a:prstGeom>
        </p:spPr>
        <p:txBody>
          <a:bodyPr lIns="0" rIns="0"/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85801"/>
            <a:ext cx="7010400" cy="34289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19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b="1" kern="1200">
          <a:solidFill>
            <a:schemeClr val="tx1"/>
          </a:solidFill>
          <a:effectLst/>
          <a:latin typeface="Arial" pitchFamily="34" charset="0"/>
          <a:ea typeface="+mn-ea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Wireless Communication </a:t>
            </a:r>
          </a:p>
          <a:p>
            <a:endParaRPr lang="en-IN" dirty="0"/>
          </a:p>
        </p:txBody>
      </p:sp>
      <p:sp>
        <p:nvSpPr>
          <p:cNvPr id="4" name="Content Placeholder 1"/>
          <p:cNvSpPr txBox="1">
            <a:spLocks/>
          </p:cNvSpPr>
          <p:nvPr/>
        </p:nvSpPr>
        <p:spPr bwMode="auto">
          <a:xfrm>
            <a:off x="77804" y="2789055"/>
            <a:ext cx="5090097" cy="5397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 b="1" kern="120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Easily generated, Omni-directionally travel long distances, easily penetrate buildings</a:t>
            </a: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4752654" y="2331855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1"/>
          <p:cNvSpPr txBox="1">
            <a:spLocks/>
          </p:cNvSpPr>
          <p:nvPr/>
        </p:nvSpPr>
        <p:spPr bwMode="auto">
          <a:xfrm>
            <a:off x="77804" y="3558703"/>
            <a:ext cx="6705600" cy="5839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prstClr val="black"/>
                </a:solidFill>
              </a:rPr>
              <a:t>Used for long distance communication, high SNR, point to point- line of sight</a:t>
            </a:r>
          </a:p>
          <a:p>
            <a:endParaRPr lang="en-US" sz="1800" dirty="0">
              <a:solidFill>
                <a:prstClr val="black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5878530" y="2331855"/>
            <a:ext cx="0" cy="1219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/>
          <p:cNvSpPr txBox="1">
            <a:spLocks/>
          </p:cNvSpPr>
          <p:nvPr/>
        </p:nvSpPr>
        <p:spPr bwMode="auto">
          <a:xfrm>
            <a:off x="1399854" y="4319027"/>
            <a:ext cx="6705600" cy="7603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prstClr val="black"/>
                </a:solidFill>
              </a:rPr>
              <a:t>Short range communication, unable to pass through solid objects</a:t>
            </a:r>
          </a:p>
          <a:p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7097730" y="2331855"/>
            <a:ext cx="0" cy="1979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http://ecomputernotes.com/images/Types-of-Transmission-Media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43" y="707284"/>
            <a:ext cx="6895753" cy="16245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70683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Types of wireless communication</a:t>
            </a:r>
          </a:p>
          <a:p>
            <a:endParaRPr lang="en-IN" dirty="0"/>
          </a:p>
        </p:txBody>
      </p:sp>
      <p:sp>
        <p:nvSpPr>
          <p:cNvPr id="5" name="Text Box 1029"/>
          <p:cNvSpPr txBox="1">
            <a:spLocks noChangeArrowheads="1"/>
          </p:cNvSpPr>
          <p:nvPr/>
        </p:nvSpPr>
        <p:spPr bwMode="auto">
          <a:xfrm>
            <a:off x="1065944" y="3865895"/>
            <a:ext cx="1219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prstClr val="black"/>
                </a:solidFill>
              </a:rPr>
              <a:t>cellular</a:t>
            </a:r>
          </a:p>
        </p:txBody>
      </p:sp>
      <p:sp>
        <p:nvSpPr>
          <p:cNvPr id="6" name="Text Box 1031"/>
          <p:cNvSpPr txBox="1">
            <a:spLocks noChangeArrowheads="1"/>
          </p:cNvSpPr>
          <p:nvPr/>
        </p:nvSpPr>
        <p:spPr bwMode="auto">
          <a:xfrm>
            <a:off x="3020602" y="3751653"/>
            <a:ext cx="2667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prstClr val="black"/>
                </a:solidFill>
              </a:rPr>
              <a:t>wireless computer network</a:t>
            </a:r>
          </a:p>
        </p:txBody>
      </p:sp>
      <p:sp>
        <p:nvSpPr>
          <p:cNvPr id="7" name="Text Box 1032"/>
          <p:cNvSpPr txBox="1">
            <a:spLocks noChangeArrowheads="1"/>
          </p:cNvSpPr>
          <p:nvPr/>
        </p:nvSpPr>
        <p:spPr bwMode="auto">
          <a:xfrm>
            <a:off x="5389652" y="3751653"/>
            <a:ext cx="1752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prstClr val="black"/>
                </a:solidFill>
              </a:rPr>
              <a:t>radio service</a:t>
            </a:r>
          </a:p>
        </p:txBody>
      </p:sp>
      <p:sp>
        <p:nvSpPr>
          <p:cNvPr id="8" name="Text Box 1029"/>
          <p:cNvSpPr txBox="1">
            <a:spLocks noChangeArrowheads="1"/>
          </p:cNvSpPr>
          <p:nvPr/>
        </p:nvSpPr>
        <p:spPr bwMode="auto">
          <a:xfrm>
            <a:off x="1065944" y="3865895"/>
            <a:ext cx="1219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prstClr val="black"/>
                </a:solidFill>
              </a:rPr>
              <a:t>cellular</a:t>
            </a:r>
          </a:p>
        </p:txBody>
      </p:sp>
      <p:sp>
        <p:nvSpPr>
          <p:cNvPr id="9" name="Text Box 1031"/>
          <p:cNvSpPr txBox="1">
            <a:spLocks noChangeArrowheads="1"/>
          </p:cNvSpPr>
          <p:nvPr/>
        </p:nvSpPr>
        <p:spPr bwMode="auto">
          <a:xfrm>
            <a:off x="3020602" y="3751653"/>
            <a:ext cx="2667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prstClr val="black"/>
                </a:solidFill>
              </a:rPr>
              <a:t>wireless computer network</a:t>
            </a:r>
          </a:p>
        </p:txBody>
      </p:sp>
      <p:sp>
        <p:nvSpPr>
          <p:cNvPr id="10" name="Text Box 1032"/>
          <p:cNvSpPr txBox="1">
            <a:spLocks noChangeArrowheads="1"/>
          </p:cNvSpPr>
          <p:nvPr/>
        </p:nvSpPr>
        <p:spPr bwMode="auto">
          <a:xfrm>
            <a:off x="5389652" y="3751653"/>
            <a:ext cx="1752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prstClr val="black"/>
                </a:solidFill>
              </a:rPr>
              <a:t>radio service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020602" y="1180377"/>
            <a:ext cx="1970405" cy="567055"/>
          </a:xfrm>
          <a:prstGeom prst="rect">
            <a:avLst/>
          </a:prstGeom>
          <a:solidFill>
            <a:srgbClr val="FFC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Wireless communication</a:t>
            </a: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001302" y="2799627"/>
            <a:ext cx="1457325" cy="438150"/>
          </a:xfrm>
          <a:prstGeom prst="rect">
            <a:avLst/>
          </a:prstGeom>
          <a:solidFill>
            <a:srgbClr val="FFC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Point to Point communication</a:t>
            </a: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105057" y="2856777"/>
            <a:ext cx="1885950" cy="461806"/>
          </a:xfrm>
          <a:prstGeom prst="rect">
            <a:avLst/>
          </a:prstGeom>
          <a:solidFill>
            <a:srgbClr val="FFC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Multipoint Communication</a:t>
            </a: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5544727" y="2856777"/>
            <a:ext cx="1752600" cy="461806"/>
          </a:xfrm>
          <a:prstGeom prst="rect">
            <a:avLst/>
          </a:prstGeom>
          <a:solidFill>
            <a:srgbClr val="FFC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Broadcast communication</a:t>
            </a:r>
            <a:endParaRPr lang="en-IN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3811177" y="1761402"/>
            <a:ext cx="0" cy="352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543592" y="2151927"/>
            <a:ext cx="4905375" cy="28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525177" y="2161452"/>
            <a:ext cx="19050" cy="638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421027" y="2200187"/>
            <a:ext cx="19050" cy="638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830227" y="2200187"/>
            <a:ext cx="19050" cy="638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755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Wireless Systems: Range</a:t>
            </a:r>
          </a:p>
          <a:p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520456" y="1435395"/>
            <a:ext cx="5645888" cy="637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77926" y="1031358"/>
            <a:ext cx="56352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1m  10m    100m    1Km      10Km     100Km            1000Km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626781" y="1924493"/>
            <a:ext cx="4710224" cy="125464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1648047" y="2015292"/>
            <a:ext cx="3838353" cy="104044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1626781" y="2179675"/>
            <a:ext cx="3423684" cy="716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1648047" y="2298745"/>
            <a:ext cx="2232837" cy="50824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1648047" y="2402958"/>
            <a:ext cx="1690576" cy="3083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1648047" y="2488019"/>
            <a:ext cx="754911" cy="12115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Arrow Connector 12"/>
          <p:cNvCxnSpPr>
            <a:stCxn id="12" idx="1"/>
          </p:cNvCxnSpPr>
          <p:nvPr/>
        </p:nvCxnSpPr>
        <p:spPr>
          <a:xfrm>
            <a:off x="1758601" y="2505761"/>
            <a:ext cx="4885" cy="673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51857" y="3200400"/>
            <a:ext cx="1151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Bluetooth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493335" y="2548594"/>
            <a:ext cx="0" cy="907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27407" y="3463270"/>
            <a:ext cx="1151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WLAN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3514424" y="2548594"/>
            <a:ext cx="52799" cy="14513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63072" y="3972805"/>
            <a:ext cx="1504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Mobile telephony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615543" y="2505761"/>
            <a:ext cx="21771" cy="1674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74925" y="4191566"/>
            <a:ext cx="1151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MW Radio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5214257" y="2609170"/>
            <a:ext cx="43543" cy="1897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77332" y="4474048"/>
            <a:ext cx="1151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SW Radio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6096000" y="2505761"/>
            <a:ext cx="32657" cy="2181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9312" y="4759483"/>
            <a:ext cx="1151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Satellite Links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262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Example of Mobile Radio Systems</a:t>
            </a:r>
            <a:endParaRPr lang="en-US" dirty="0"/>
          </a:p>
          <a:p>
            <a:endParaRPr lang="en-IN" dirty="0"/>
          </a:p>
        </p:txBody>
      </p:sp>
      <p:sp>
        <p:nvSpPr>
          <p:cNvPr id="4" name="Content Placeholder 1"/>
          <p:cNvSpPr txBox="1">
            <a:spLocks/>
          </p:cNvSpPr>
          <p:nvPr/>
        </p:nvSpPr>
        <p:spPr bwMode="auto">
          <a:xfrm>
            <a:off x="106808" y="89813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rmAutofit/>
          </a:bodyPr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 b="1" kern="120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>
                <a:solidFill>
                  <a:srgbClr val="0070C0"/>
                </a:solidFill>
              </a:rPr>
              <a:t>Examples</a:t>
            </a:r>
          </a:p>
          <a:p>
            <a:pPr lvl="1"/>
            <a:r>
              <a:rPr lang="en-US" altLang="zh-TW" sz="1800" dirty="0">
                <a:solidFill>
                  <a:srgbClr val="0070C0"/>
                </a:solidFill>
              </a:rPr>
              <a:t>Cordless phone</a:t>
            </a:r>
          </a:p>
          <a:p>
            <a:pPr lvl="1"/>
            <a:r>
              <a:rPr lang="en-US" altLang="zh-TW" sz="1800" dirty="0">
                <a:solidFill>
                  <a:srgbClr val="0070C0"/>
                </a:solidFill>
              </a:rPr>
              <a:t>Remote controller</a:t>
            </a:r>
          </a:p>
          <a:p>
            <a:pPr lvl="1"/>
            <a:r>
              <a:rPr lang="en-US" altLang="zh-TW" sz="1800" dirty="0">
                <a:solidFill>
                  <a:srgbClr val="0070C0"/>
                </a:solidFill>
              </a:rPr>
              <a:t>Hand-held walkie-talkies</a:t>
            </a:r>
          </a:p>
          <a:p>
            <a:pPr lvl="1"/>
            <a:r>
              <a:rPr lang="en-US" altLang="zh-TW" sz="1800" dirty="0">
                <a:solidFill>
                  <a:srgbClr val="0070C0"/>
                </a:solidFill>
              </a:rPr>
              <a:t>Pagers</a:t>
            </a:r>
          </a:p>
          <a:p>
            <a:pPr lvl="1"/>
            <a:r>
              <a:rPr lang="en-US" altLang="zh-TW" sz="1800" dirty="0">
                <a:solidFill>
                  <a:srgbClr val="0070C0"/>
                </a:solidFill>
              </a:rPr>
              <a:t>Cellular telephone</a:t>
            </a:r>
          </a:p>
          <a:p>
            <a:pPr lvl="1"/>
            <a:r>
              <a:rPr lang="en-US" altLang="zh-TW" sz="1800" dirty="0">
                <a:solidFill>
                  <a:srgbClr val="0070C0"/>
                </a:solidFill>
              </a:rPr>
              <a:t>Wireless LAN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5" name="Picture 2" descr="http://s3.amazonaws.com/rapgenius/lrg_Cordless_Phone_no_basestation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95390" y="1225323"/>
            <a:ext cx="912260" cy="912260"/>
          </a:xfrm>
          <a:prstGeom prst="rect">
            <a:avLst/>
          </a:prstGeom>
          <a:noFill/>
        </p:spPr>
      </p:pic>
      <p:pic>
        <p:nvPicPr>
          <p:cNvPr id="6" name="Picture 6" descr="http://upload.wikimedia.org/wikipedia/commons/5/51/Toshiba_Remote_Control_CT-986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84543" y="1165087"/>
            <a:ext cx="614689" cy="593338"/>
          </a:xfrm>
          <a:prstGeom prst="rect">
            <a:avLst/>
          </a:prstGeom>
          <a:noFill/>
        </p:spPr>
      </p:pic>
      <p:pic>
        <p:nvPicPr>
          <p:cNvPr id="7" name="Picture 8" descr="http://www.walkie-talkie-radio.co.uk/images/kirisun-pt558-walkie-talki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86600" y="2318518"/>
            <a:ext cx="556044" cy="1061538"/>
          </a:xfrm>
          <a:prstGeom prst="rect">
            <a:avLst/>
          </a:prstGeom>
          <a:noFill/>
        </p:spPr>
      </p:pic>
      <p:pic>
        <p:nvPicPr>
          <p:cNvPr id="8" name="Picture 10" descr="http://onpage.com/wp-content/uploads/2014/07/pager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72680" y="2080141"/>
            <a:ext cx="790502" cy="580140"/>
          </a:xfrm>
          <a:prstGeom prst="rect">
            <a:avLst/>
          </a:prstGeom>
          <a:noFill/>
        </p:spPr>
      </p:pic>
      <p:pic>
        <p:nvPicPr>
          <p:cNvPr id="9" name="Picture 12" descr="http://lifestyle.iloveindia.com/lounge/images/how-to-use-your-cell-phone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15146" y="1096852"/>
            <a:ext cx="912260" cy="729808"/>
          </a:xfrm>
          <a:prstGeom prst="rect">
            <a:avLst/>
          </a:prstGeom>
          <a:noFill/>
        </p:spPr>
      </p:pic>
      <p:pic>
        <p:nvPicPr>
          <p:cNvPr id="10" name="Picture 14" descr="https://conceptdraw.com/a863c3/p1/preview/640/pict--wlan-diagram-ultra-high-performance-wlans-wireless-network-diagram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078507" y="2686419"/>
            <a:ext cx="2189424" cy="19461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8987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Wireless communication systems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1052623" y="1275907"/>
            <a:ext cx="1531089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Information to be transmitted</a:t>
            </a:r>
            <a:endParaRPr lang="en-IN" sz="1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852902" y="1309528"/>
            <a:ext cx="154526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coding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555147" y="1309528"/>
            <a:ext cx="154526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Modulator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379029" y="1261914"/>
            <a:ext cx="1545607" cy="3833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Transmitter</a:t>
            </a:r>
            <a:endParaRPr lang="en-IN" dirty="0"/>
          </a:p>
        </p:txBody>
      </p:sp>
      <p:cxnSp>
        <p:nvCxnSpPr>
          <p:cNvPr id="11" name="Straight Connector 10"/>
          <p:cNvCxnSpPr>
            <a:stCxn id="7" idx="3"/>
          </p:cNvCxnSpPr>
          <p:nvPr/>
        </p:nvCxnSpPr>
        <p:spPr>
          <a:xfrm>
            <a:off x="7924636" y="1453577"/>
            <a:ext cx="432555" cy="69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8357191" y="1063256"/>
            <a:ext cx="10632" cy="397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84558" y="618440"/>
            <a:ext cx="132552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Antenna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7517642" y="3100383"/>
            <a:ext cx="116915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Antenna</a:t>
            </a:r>
            <a:endParaRPr lang="en-IN" dirty="0"/>
          </a:p>
        </p:txBody>
      </p:sp>
      <p:cxnSp>
        <p:nvCxnSpPr>
          <p:cNvPr id="23" name="Straight Arrow Connector 22"/>
          <p:cNvCxnSpPr>
            <a:stCxn id="3" idx="3"/>
            <a:endCxn id="5" idx="1"/>
          </p:cNvCxnSpPr>
          <p:nvPr/>
        </p:nvCxnSpPr>
        <p:spPr>
          <a:xfrm flipV="1">
            <a:off x="2583712" y="1494194"/>
            <a:ext cx="269190" cy="74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5" idx="3"/>
            <a:endCxn id="6" idx="1"/>
          </p:cNvCxnSpPr>
          <p:nvPr/>
        </p:nvCxnSpPr>
        <p:spPr>
          <a:xfrm>
            <a:off x="4398168" y="1494194"/>
            <a:ext cx="1569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6" idx="3"/>
            <a:endCxn id="7" idx="1"/>
          </p:cNvCxnSpPr>
          <p:nvPr/>
        </p:nvCxnSpPr>
        <p:spPr>
          <a:xfrm flipV="1">
            <a:off x="6100413" y="1453577"/>
            <a:ext cx="278616" cy="40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7152003" y="3810000"/>
            <a:ext cx="1138272" cy="10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06225" y="3529921"/>
            <a:ext cx="1545607" cy="3833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Receiver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3674643" y="3543914"/>
            <a:ext cx="154526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DeModulator</a:t>
            </a:r>
            <a:endParaRPr lang="en-IN" dirty="0"/>
          </a:p>
        </p:txBody>
      </p:sp>
      <p:cxnSp>
        <p:nvCxnSpPr>
          <p:cNvPr id="37" name="Straight Arrow Connector 36"/>
          <p:cNvCxnSpPr>
            <a:stCxn id="34" idx="1"/>
            <a:endCxn id="35" idx="3"/>
          </p:cNvCxnSpPr>
          <p:nvPr/>
        </p:nvCxnSpPr>
        <p:spPr>
          <a:xfrm flipH="1">
            <a:off x="5219909" y="3721584"/>
            <a:ext cx="386316" cy="6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818167" y="3543914"/>
            <a:ext cx="154526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decoding</a:t>
            </a:r>
            <a:endParaRPr lang="en-IN" dirty="0"/>
          </a:p>
        </p:txBody>
      </p:sp>
      <p:cxnSp>
        <p:nvCxnSpPr>
          <p:cNvPr id="40" name="Straight Arrow Connector 39"/>
          <p:cNvCxnSpPr>
            <a:endCxn id="38" idx="3"/>
          </p:cNvCxnSpPr>
          <p:nvPr/>
        </p:nvCxnSpPr>
        <p:spPr>
          <a:xfrm flipH="1">
            <a:off x="3363433" y="3721583"/>
            <a:ext cx="310869" cy="6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72560" y="3429195"/>
            <a:ext cx="1241358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Information Received</a:t>
            </a:r>
            <a:endParaRPr lang="en-IN" sz="1600" b="1" dirty="0"/>
          </a:p>
        </p:txBody>
      </p:sp>
      <p:cxnSp>
        <p:nvCxnSpPr>
          <p:cNvPr id="43" name="Straight Arrow Connector 42"/>
          <p:cNvCxnSpPr>
            <a:stCxn id="38" idx="1"/>
          </p:cNvCxnSpPr>
          <p:nvPr/>
        </p:nvCxnSpPr>
        <p:spPr>
          <a:xfrm flipH="1" flipV="1">
            <a:off x="1533337" y="3721582"/>
            <a:ext cx="284830" cy="6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5" idx="2"/>
          </p:cNvCxnSpPr>
          <p:nvPr/>
        </p:nvCxnSpPr>
        <p:spPr>
          <a:xfrm>
            <a:off x="8102221" y="3469715"/>
            <a:ext cx="0" cy="351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endCxn id="6" idx="2"/>
          </p:cNvCxnSpPr>
          <p:nvPr/>
        </p:nvCxnSpPr>
        <p:spPr>
          <a:xfrm flipV="1">
            <a:off x="5316279" y="1678860"/>
            <a:ext cx="11501" cy="447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555148" y="2119516"/>
            <a:ext cx="154526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carrier</a:t>
            </a:r>
            <a:endParaRPr lang="en-IN" dirty="0"/>
          </a:p>
        </p:txBody>
      </p:sp>
      <p:sp>
        <p:nvSpPr>
          <p:cNvPr id="61" name="TextBox 60"/>
          <p:cNvSpPr txBox="1"/>
          <p:nvPr/>
        </p:nvSpPr>
        <p:spPr>
          <a:xfrm>
            <a:off x="3704024" y="4361451"/>
            <a:ext cx="154526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carrier</a:t>
            </a:r>
            <a:endParaRPr lang="en-IN" dirty="0"/>
          </a:p>
        </p:txBody>
      </p:sp>
      <p:cxnSp>
        <p:nvCxnSpPr>
          <p:cNvPr id="62" name="Straight Arrow Connector 61"/>
          <p:cNvCxnSpPr/>
          <p:nvPr/>
        </p:nvCxnSpPr>
        <p:spPr>
          <a:xfrm flipV="1">
            <a:off x="4398168" y="3913799"/>
            <a:ext cx="11501" cy="447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57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45444" y="116706"/>
            <a:ext cx="7624560" cy="582930"/>
          </a:xfrm>
        </p:spPr>
        <p:txBody>
          <a:bodyPr/>
          <a:lstStyle/>
          <a:p>
            <a:endParaRPr lang="en-IN" dirty="0"/>
          </a:p>
          <a:p>
            <a:r>
              <a:rPr lang="en-IN" dirty="0"/>
              <a:t>Wireless Communication System Definitions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Base Station:  A fixed station in a mobile radio system used for radio communication with mobile stations</a:t>
            </a:r>
          </a:p>
          <a:p>
            <a:pPr marL="0" indent="0"/>
            <a:endParaRPr lang="en-IN" dirty="0"/>
          </a:p>
          <a:p>
            <a:r>
              <a:rPr lang="en-IN" dirty="0"/>
              <a:t>Control Channel : Radio channels used for transmission of call setup, call request, call initiation, and other beacon or control purposes. </a:t>
            </a:r>
          </a:p>
          <a:p>
            <a:pPr marL="0" indent="0"/>
            <a:endParaRPr lang="en-IN" dirty="0"/>
          </a:p>
          <a:p>
            <a:r>
              <a:rPr lang="en-IN" dirty="0"/>
              <a:t>Subscriber : A user who pays subscription charges for using a mobile communications system. </a:t>
            </a:r>
          </a:p>
          <a:p>
            <a:pPr marL="0" indent="0"/>
            <a:endParaRPr lang="en-IN" dirty="0"/>
          </a:p>
          <a:p>
            <a:r>
              <a:rPr lang="en-IN" dirty="0"/>
              <a:t>Transceiver : A device capable of simultaneously transmitting and receiving radio signals.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470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74320" y="121577"/>
            <a:ext cx="8199913" cy="582930"/>
          </a:xfrm>
        </p:spPr>
        <p:txBody>
          <a:bodyPr/>
          <a:lstStyle/>
          <a:p>
            <a:endParaRPr lang="en-IN" dirty="0"/>
          </a:p>
          <a:p>
            <a:r>
              <a:rPr lang="en-IN" dirty="0"/>
              <a:t>Wireless Communication System Definitions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Handoff: The process of transferring a mobile station from one channel or base station to another. </a:t>
            </a:r>
          </a:p>
          <a:p>
            <a:pPr marL="0" indent="0"/>
            <a:endParaRPr lang="en-IN" dirty="0"/>
          </a:p>
          <a:p>
            <a:r>
              <a:rPr lang="en-IN" dirty="0"/>
              <a:t>Mobile Station : A station in the cellular radio service intended for use while in motion at unspecified locations. </a:t>
            </a:r>
          </a:p>
          <a:p>
            <a:pPr marL="0" indent="0"/>
            <a:endParaRPr lang="en-IN" dirty="0"/>
          </a:p>
          <a:p>
            <a:r>
              <a:rPr lang="en-IN" dirty="0"/>
              <a:t>Mobile Switching </a:t>
            </a:r>
            <a:r>
              <a:rPr lang="en-IN" dirty="0" err="1"/>
              <a:t>Center</a:t>
            </a:r>
            <a:r>
              <a:rPr lang="en-IN" dirty="0"/>
              <a:t> : coordinates the routing of calls in a large </a:t>
            </a:r>
            <a:r>
              <a:rPr lang="en-IN" dirty="0" err="1"/>
              <a:t>Center</a:t>
            </a:r>
            <a:r>
              <a:rPr lang="en-IN" dirty="0"/>
              <a:t> service area. An MSC is also called a mobile telephone switching office (MTSO).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1647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Forward and Reverse Channel</a:t>
            </a:r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807300" y="3986194"/>
            <a:ext cx="4575412" cy="60593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Radio channel used for transmission of information from the mobile to base stations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83691" y="821189"/>
            <a:ext cx="4585648" cy="60593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Radio channel used for transmission of information from the base station to the mobile.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61" name="Picture 13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92" y="1596945"/>
            <a:ext cx="2965228" cy="2219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ight Arrow 2"/>
          <p:cNvSpPr/>
          <p:nvPr/>
        </p:nvSpPr>
        <p:spPr>
          <a:xfrm>
            <a:off x="3264195" y="1860698"/>
            <a:ext cx="2573079" cy="2551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Arrow 6"/>
          <p:cNvSpPr/>
          <p:nvPr/>
        </p:nvSpPr>
        <p:spPr>
          <a:xfrm rot="10800000">
            <a:off x="3264195" y="2892056"/>
            <a:ext cx="2541182" cy="2658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3455581" y="1427124"/>
            <a:ext cx="209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Forward Channel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3336384" y="3373057"/>
            <a:ext cx="209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Reverse Channel</a:t>
            </a:r>
            <a:endParaRPr lang="en-IN" dirty="0"/>
          </a:p>
        </p:txBody>
      </p:sp>
      <p:pic>
        <p:nvPicPr>
          <p:cNvPr id="2063" name="Picture 15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121" y="1860699"/>
            <a:ext cx="1259158" cy="129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92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45444" y="116706"/>
            <a:ext cx="8364300" cy="58293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Classification of Mobile Radio Transmission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TW" b="1" dirty="0"/>
              <a:t>Classification of mobile radio transmission system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Content Placeholder 4" descr="fig10_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801" y="1298913"/>
            <a:ext cx="6600701" cy="3259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6371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Forms of Full Duplexing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1"/>
          <p:cNvSpPr txBox="1">
            <a:spLocks/>
          </p:cNvSpPr>
          <p:nvPr/>
        </p:nvSpPr>
        <p:spPr bwMode="auto">
          <a:xfrm>
            <a:off x="683659" y="427037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 b="1" kern="120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endParaRPr kumimoji="1" lang="en-US" altLang="zh-TW" sz="2000" dirty="0">
              <a:solidFill>
                <a:srgbClr val="0070C0"/>
              </a:solidFill>
            </a:endParaRPr>
          </a:p>
          <a:p>
            <a:pPr marL="0" indent="0"/>
            <a:r>
              <a:rPr kumimoji="1" lang="en-US" altLang="zh-TW" sz="2000" dirty="0">
                <a:solidFill>
                  <a:srgbClr val="0070C0"/>
                </a:solidFill>
              </a:rPr>
              <a:t>Two forms of Full Duplexing </a:t>
            </a:r>
          </a:p>
          <a:p>
            <a:pPr>
              <a:buFontTx/>
              <a:buChar char="•"/>
            </a:pPr>
            <a:r>
              <a:rPr kumimoji="1" lang="en-US" altLang="zh-TW" sz="2000" dirty="0">
                <a:solidFill>
                  <a:srgbClr val="0070C0"/>
                </a:solidFill>
              </a:rPr>
              <a:t>Frequency division duplexing </a:t>
            </a:r>
            <a:r>
              <a:rPr kumimoji="1" lang="en-US" altLang="zh-TW" sz="2000" dirty="0"/>
              <a:t>uses two radio channel</a:t>
            </a:r>
          </a:p>
          <a:p>
            <a:pPr lvl="1">
              <a:buFontTx/>
              <a:buChar char="–"/>
            </a:pPr>
            <a:r>
              <a:rPr kumimoji="1" lang="en-US" altLang="zh-TW" sz="2000" b="0" dirty="0"/>
              <a:t>Forward channel: base station to mobile user</a:t>
            </a:r>
          </a:p>
          <a:p>
            <a:pPr lvl="1">
              <a:buFontTx/>
              <a:buChar char="–"/>
            </a:pPr>
            <a:r>
              <a:rPr kumimoji="1" lang="en-US" altLang="zh-TW" sz="2000" b="0" dirty="0"/>
              <a:t>Reverse channel: mobile user to base station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155004" y="2267164"/>
            <a:ext cx="0" cy="1981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155004" y="4248364"/>
            <a:ext cx="381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55004" y="2648164"/>
            <a:ext cx="35814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Base Station(</a:t>
            </a:r>
            <a:r>
              <a:rPr lang="en-US" dirty="0" err="1"/>
              <a:t>Tx</a:t>
            </a:r>
            <a:r>
              <a:rPr lang="en-US" dirty="0"/>
              <a:t>), Mobile Station(Rx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172064" y="3732467"/>
            <a:ext cx="35814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Mobile station (</a:t>
            </a:r>
            <a:r>
              <a:rPr lang="en-US" dirty="0" err="1"/>
              <a:t>tx</a:t>
            </a:r>
            <a:r>
              <a:rPr lang="en-US" dirty="0"/>
              <a:t>), Base station(Rx)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3450404" y="4363529"/>
            <a:ext cx="1827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(</a:t>
            </a:r>
            <a:r>
              <a:rPr lang="en-US" dirty="0" err="1"/>
              <a:t>ms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 rot="-5400000">
            <a:off x="871842" y="3149866"/>
            <a:ext cx="182766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Frequency(</a:t>
            </a:r>
            <a:r>
              <a:rPr lang="en-US" dirty="0" err="1"/>
              <a:t>Mhz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3337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Forms of Full Duplexing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1"/>
          <p:cNvSpPr txBox="1">
            <a:spLocks/>
          </p:cNvSpPr>
          <p:nvPr/>
        </p:nvSpPr>
        <p:spPr bwMode="auto">
          <a:xfrm>
            <a:off x="297129" y="970231"/>
            <a:ext cx="8229600" cy="932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 b="1" kern="120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b="1" dirty="0">
                <a:solidFill>
                  <a:srgbClr val="0070C0"/>
                </a:solidFill>
              </a:rPr>
              <a:t>Time division duplexing</a:t>
            </a:r>
            <a:r>
              <a:rPr kumimoji="1" lang="en-US" altLang="zh-TW" b="1" dirty="0"/>
              <a:t> shares a single radio channel in time.</a:t>
            </a:r>
          </a:p>
          <a:p>
            <a:r>
              <a:rPr kumimoji="1" lang="en-US" altLang="zh-TW" b="1" dirty="0"/>
              <a:t>Receives for half the frame and transmits for half the frame. </a:t>
            </a:r>
          </a:p>
          <a:p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118312" y="2173823"/>
            <a:ext cx="0" cy="1981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118312" y="4155023"/>
            <a:ext cx="381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32168" y="2900144"/>
            <a:ext cx="1606479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Base Station(</a:t>
            </a:r>
            <a:r>
              <a:rPr lang="en-US" dirty="0" err="1"/>
              <a:t>Tx</a:t>
            </a:r>
            <a:r>
              <a:rPr lang="en-US" dirty="0"/>
              <a:t>), Mobile Station(Rx)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3887972" y="2900144"/>
            <a:ext cx="1524000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Mobile station (</a:t>
            </a:r>
            <a:r>
              <a:rPr lang="en-US" dirty="0" err="1"/>
              <a:t>tx</a:t>
            </a:r>
            <a:r>
              <a:rPr lang="en-US" dirty="0"/>
              <a:t>), Base station(Rx)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3413712" y="4270188"/>
            <a:ext cx="1827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(</a:t>
            </a:r>
            <a:r>
              <a:rPr lang="en-US" dirty="0" err="1"/>
              <a:t>ms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 rot="-5400000">
            <a:off x="835150" y="3056525"/>
            <a:ext cx="182766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Frequency(</a:t>
            </a:r>
            <a:r>
              <a:rPr lang="en-US" dirty="0" err="1"/>
              <a:t>Mhz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778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Point to point communication, multipoint communication, broadcast communication are some of the types of wireless communication.</a:t>
            </a:r>
          </a:p>
          <a:p>
            <a:r>
              <a:rPr lang="en-US" dirty="0"/>
              <a:t>In wireless communication system, the data is modulated before the transmission and demodulated at the receiver.</a:t>
            </a:r>
          </a:p>
          <a:p>
            <a:r>
              <a:rPr lang="en-US" dirty="0"/>
              <a:t>In cellular communication, reverse channel is used for communication from mobile to base station and forward channel for communication between the base station to Mobile station.</a:t>
            </a:r>
          </a:p>
          <a:p>
            <a:r>
              <a:rPr lang="en-US" dirty="0"/>
              <a:t>Simplex, half duplex and full duplex are various ways of mobile radio transmission</a:t>
            </a:r>
          </a:p>
          <a:p>
            <a:r>
              <a:rPr lang="en-US" dirty="0"/>
              <a:t>Frequency division duplexing and time division duplexing are the forms of full duplex.</a:t>
            </a:r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16&quot;&gt;&lt;object type=&quot;3&quot; unique_id=&quot;10017&quot;&gt;&lt;property id=&quot;20148&quot; value=&quot;5&quot;/&gt;&lt;property id=&quot;20300&quot; value=&quot;Slide 1&quot;/&gt;&lt;property id=&quot;20307&quot; value=&quot;381&quot;/&gt;&lt;/object&gt;&lt;object type=&quot;3&quot; unique_id=&quot;10051&quot;&gt;&lt;property id=&quot;20148&quot; value=&quot;5&quot;/&gt;&lt;property id=&quot;20300&quot; value=&quot;Slide 2&quot;/&gt;&lt;property id=&quot;20307&quot; value=&quot;386&quot;/&gt;&lt;/object&gt;&lt;object type=&quot;3&quot; unique_id=&quot;10052&quot;&gt;&lt;property id=&quot;20148&quot; value=&quot;5&quot;/&gt;&lt;property id=&quot;20300&quot; value=&quot;Slide 3&quot;/&gt;&lt;property id=&quot;20307&quot; value=&quot;387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ITS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bits.thmx</Template>
  <TotalTime>3687</TotalTime>
  <Words>523</Words>
  <Application>Microsoft Office PowerPoint</Application>
  <PresentationFormat>On-screen Show (16:9)</PresentationFormat>
  <Paragraphs>100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BITS_PPT_template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</dc:creator>
  <cp:lastModifiedBy>Abid AK</cp:lastModifiedBy>
  <cp:revision>264</cp:revision>
  <dcterms:created xsi:type="dcterms:W3CDTF">2015-06-09T08:31:04Z</dcterms:created>
  <dcterms:modified xsi:type="dcterms:W3CDTF">2025-04-17T12:44:03Z</dcterms:modified>
</cp:coreProperties>
</file>