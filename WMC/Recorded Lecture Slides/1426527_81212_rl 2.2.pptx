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8"/>
  </p:notesMasterIdLst>
  <p:handoutMasterIdLst>
    <p:handoutMasterId r:id="rId9"/>
  </p:handoutMasterIdLst>
  <p:sldIdLst>
    <p:sldId id="392" r:id="rId2"/>
    <p:sldId id="393" r:id="rId3"/>
    <p:sldId id="394" r:id="rId4"/>
    <p:sldId id="395" r:id="rId5"/>
    <p:sldId id="397" r:id="rId6"/>
    <p:sldId id="391" r:id="rId7"/>
  </p:sldIdLst>
  <p:sldSz cx="9144000" cy="5143500" type="screen16x9"/>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434" autoAdjust="0"/>
  </p:normalViewPr>
  <p:slideViewPr>
    <p:cSldViewPr snapToGrid="0">
      <p:cViewPr varScale="1">
        <p:scale>
          <a:sx n="97" d="100"/>
          <a:sy n="97" d="100"/>
        </p:scale>
        <p:origin x="1027" y="72"/>
      </p:cViewPr>
      <p:guideLst>
        <p:guide orient="horz" pos="2160"/>
        <p:guide pos="2880"/>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55" d="100"/>
          <a:sy n="55" d="100"/>
        </p:scale>
        <p:origin x="-284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394F4B-DBDD-4BF7-B613-78EDB047F2F9}" type="datetimeFigureOut">
              <a:rPr lang="en-US" smtClean="0"/>
              <a:pPr/>
              <a:t>4/17/2025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01AD7E-7F9D-4576-9772-0B1B702F1F55}" type="slidenum">
              <a:rPr lang="en-US" smtClean="0"/>
              <a:pPr/>
              <a:t>‹#›</a:t>
            </a:fld>
            <a:endParaRPr lang="en-US"/>
          </a:p>
        </p:txBody>
      </p:sp>
    </p:spTree>
    <p:extLst>
      <p:ext uri="{BB962C8B-B14F-4D97-AF65-F5344CB8AC3E}">
        <p14:creationId xmlns:p14="http://schemas.microsoft.com/office/powerpoint/2010/main" val="16355078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2289B-64AB-40F4-866F-7386DC470D15}" type="datetimeFigureOut">
              <a:rPr lang="en-US" smtClean="0"/>
              <a:pPr/>
              <a:t>4/17/2025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38DE6F-CB63-4507-A312-B89798DB40FF}" type="slidenum">
              <a:rPr lang="en-US" smtClean="0"/>
              <a:pPr/>
              <a:t>‹#›</a:t>
            </a:fld>
            <a:endParaRPr lang="en-US"/>
          </a:p>
        </p:txBody>
      </p:sp>
    </p:spTree>
    <p:extLst>
      <p:ext uri="{BB962C8B-B14F-4D97-AF65-F5344CB8AC3E}">
        <p14:creationId xmlns:p14="http://schemas.microsoft.com/office/powerpoint/2010/main" val="20625682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16"/>
          <p:cNvSpPr>
            <a:spLocks noGrp="1"/>
          </p:cNvSpPr>
          <p:nvPr>
            <p:ph sz="quarter" idx="10" hasCustomPrompt="1"/>
          </p:nvPr>
        </p:nvSpPr>
        <p:spPr>
          <a:xfrm>
            <a:off x="245444" y="116706"/>
            <a:ext cx="6537960" cy="582930"/>
          </a:xfrm>
          <a:prstGeom prst="rect">
            <a:avLst/>
          </a:prstGeom>
        </p:spPr>
        <p:txBody>
          <a:bodyPr lIns="0" tIns="0" rIns="0" bIns="0" anchor="ctr">
            <a:noAutofit/>
          </a:bodyPr>
          <a:lstStyle>
            <a:lvl1pPr marL="0" indent="0" algn="l">
              <a:lnSpc>
                <a:spcPct val="100000"/>
              </a:lnSpc>
              <a:spcBef>
                <a:spcPts val="0"/>
              </a:spcBef>
              <a:buNone/>
              <a:defRPr sz="2200" b="1" spc="225" baseline="0">
                <a:solidFill>
                  <a:srgbClr val="FF0000"/>
                </a:solidFill>
                <a:effectLst/>
                <a:latin typeface="Arial" pitchFamily="34" charset="0"/>
                <a:cs typeface="Arial" pitchFamily="34" charset="0"/>
              </a:defRPr>
            </a:lvl1pPr>
          </a:lstStyle>
          <a:p>
            <a:pPr lvl="0"/>
            <a:r>
              <a:rPr lang="en-US" dirty="0"/>
              <a:t>Topic name here</a:t>
            </a:r>
          </a:p>
        </p:txBody>
      </p:sp>
      <p:sp>
        <p:nvSpPr>
          <p:cNvPr id="4" name="Content Placeholder 2"/>
          <p:cNvSpPr>
            <a:spLocks noGrp="1"/>
          </p:cNvSpPr>
          <p:nvPr>
            <p:ph idx="1"/>
          </p:nvPr>
        </p:nvSpPr>
        <p:spPr>
          <a:xfrm>
            <a:off x="274320" y="754380"/>
            <a:ext cx="8503920" cy="4114800"/>
          </a:xfrm>
          <a:prstGeom prst="rect">
            <a:avLst/>
          </a:prstGeom>
        </p:spPr>
        <p:txBody>
          <a:bodyPr lIns="0" rIns="0"/>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dirty="0"/>
              <a:t>Click to edit Master text styles</a:t>
            </a:r>
          </a:p>
        </p:txBody>
      </p:sp>
      <p:grpSp>
        <p:nvGrpSpPr>
          <p:cNvPr id="5" name="Group 4"/>
          <p:cNvGrpSpPr/>
          <p:nvPr userDrawn="1"/>
        </p:nvGrpSpPr>
        <p:grpSpPr>
          <a:xfrm>
            <a:off x="0" y="685801"/>
            <a:ext cx="7010400" cy="34289"/>
            <a:chOff x="1905000" y="6553200"/>
            <a:chExt cx="7010400" cy="45719"/>
          </a:xfrm>
        </p:grpSpPr>
        <p:sp>
          <p:nvSpPr>
            <p:cNvPr id="6" name="Rectangle 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8" name="Rectangle 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endParaRPr lang="en-IN" dirty="0"/>
          </a:p>
        </p:txBody>
      </p:sp>
    </p:spTree>
    <p:extLst>
      <p:ext uri="{BB962C8B-B14F-4D97-AF65-F5344CB8AC3E}">
        <p14:creationId xmlns:p14="http://schemas.microsoft.com/office/powerpoint/2010/main" val="3118195196"/>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dt="0"/>
  <p:txStyles>
    <p:titleStyle>
      <a:lvl1pPr algn="ctr" rtl="0" eaLnBrk="1" fontAlgn="base" hangingPunct="1">
        <a:spcBef>
          <a:spcPct val="0"/>
        </a:spcBef>
        <a:spcAft>
          <a:spcPct val="0"/>
        </a:spcAft>
        <a:defRPr sz="3300" kern="1200">
          <a:solidFill>
            <a:schemeClr val="tx1"/>
          </a:solidFill>
          <a:latin typeface="Arial" pitchFamily="34" charset="0"/>
          <a:ea typeface="+mj-ea"/>
          <a:cs typeface="Arial" pitchFamily="34" charset="0"/>
        </a:defRPr>
      </a:lvl1pPr>
      <a:lvl2pPr algn="ctr" rtl="0" eaLnBrk="1" fontAlgn="base" hangingPunct="1">
        <a:spcBef>
          <a:spcPct val="0"/>
        </a:spcBef>
        <a:spcAft>
          <a:spcPct val="0"/>
        </a:spcAft>
        <a:defRPr sz="3300">
          <a:solidFill>
            <a:schemeClr val="tx1"/>
          </a:solidFill>
          <a:latin typeface="Calibri" pitchFamily="34" charset="0"/>
        </a:defRPr>
      </a:lvl2pPr>
      <a:lvl3pPr algn="ctr" rtl="0" eaLnBrk="1" fontAlgn="base" hangingPunct="1">
        <a:spcBef>
          <a:spcPct val="0"/>
        </a:spcBef>
        <a:spcAft>
          <a:spcPct val="0"/>
        </a:spcAft>
        <a:defRPr sz="3300">
          <a:solidFill>
            <a:schemeClr val="tx1"/>
          </a:solidFill>
          <a:latin typeface="Calibri" pitchFamily="34" charset="0"/>
        </a:defRPr>
      </a:lvl3pPr>
      <a:lvl4pPr algn="ctr" rtl="0" eaLnBrk="1" fontAlgn="base" hangingPunct="1">
        <a:spcBef>
          <a:spcPct val="0"/>
        </a:spcBef>
        <a:spcAft>
          <a:spcPct val="0"/>
        </a:spcAft>
        <a:defRPr sz="3300">
          <a:solidFill>
            <a:schemeClr val="tx1"/>
          </a:solidFill>
          <a:latin typeface="Calibri" pitchFamily="34" charset="0"/>
        </a:defRPr>
      </a:lvl4pPr>
      <a:lvl5pPr algn="ctr" rtl="0" eaLnBrk="1" fontAlgn="base" hangingPunct="1">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Font typeface="Arial" panose="020B0604020202020204" pitchFamily="34" charset="0"/>
        <a:buChar char="–"/>
        <a:defRPr sz="2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Channel Assignment Strategies</a:t>
            </a:r>
          </a:p>
        </p:txBody>
      </p:sp>
      <p:sp>
        <p:nvSpPr>
          <p:cNvPr id="3" name="Content Placeholder 2"/>
          <p:cNvSpPr>
            <a:spLocks noGrp="1"/>
          </p:cNvSpPr>
          <p:nvPr>
            <p:ph idx="1"/>
          </p:nvPr>
        </p:nvSpPr>
        <p:spPr/>
        <p:txBody>
          <a:bodyPr/>
          <a:lstStyle/>
          <a:p>
            <a:r>
              <a:rPr lang="en-US" dirty="0"/>
              <a:t>For efficient utilization of the radio spectrum, a frequency reuse was adopted with the objectives of increasing capacity of the cellular system and minimizing interference . </a:t>
            </a:r>
          </a:p>
          <a:p>
            <a:endParaRPr lang="en-US" dirty="0">
              <a:solidFill>
                <a:srgbClr val="FF0000"/>
              </a:solidFill>
            </a:endParaRPr>
          </a:p>
          <a:p>
            <a:pPr marL="0" indent="0">
              <a:buNone/>
            </a:pPr>
            <a:r>
              <a:rPr lang="en-US" dirty="0">
                <a:solidFill>
                  <a:srgbClr val="FF0000"/>
                </a:solidFill>
              </a:rPr>
              <a:t>Two approaches :</a:t>
            </a:r>
          </a:p>
          <a:p>
            <a:endParaRPr lang="en-US" dirty="0">
              <a:solidFill>
                <a:srgbClr val="FF0000"/>
              </a:solidFill>
            </a:endParaRPr>
          </a:p>
          <a:p>
            <a:r>
              <a:rPr lang="en-US" dirty="0">
                <a:solidFill>
                  <a:srgbClr val="FF0000"/>
                </a:solidFill>
              </a:rPr>
              <a:t>Fixed</a:t>
            </a:r>
            <a:r>
              <a:rPr lang="en-US" dirty="0"/>
              <a:t>  Channel assignment</a:t>
            </a:r>
          </a:p>
          <a:p>
            <a:endParaRPr lang="en-US" dirty="0">
              <a:solidFill>
                <a:srgbClr val="FF0000"/>
              </a:solidFill>
            </a:endParaRPr>
          </a:p>
          <a:p>
            <a:r>
              <a:rPr lang="en-US" dirty="0">
                <a:solidFill>
                  <a:srgbClr val="FF0000"/>
                </a:solidFill>
              </a:rPr>
              <a:t>Dynamic</a:t>
            </a:r>
            <a:r>
              <a:rPr lang="en-US" dirty="0"/>
              <a:t> channel assignment</a:t>
            </a:r>
          </a:p>
          <a:p>
            <a:endParaRPr lang="en-IN" dirty="0"/>
          </a:p>
        </p:txBody>
      </p:sp>
    </p:spTree>
    <p:extLst>
      <p:ext uri="{BB962C8B-B14F-4D97-AF65-F5344CB8AC3E}">
        <p14:creationId xmlns:p14="http://schemas.microsoft.com/office/powerpoint/2010/main" val="3532326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Fixed Channel Assignment</a:t>
            </a:r>
            <a:endParaRPr lang="en-IN" dirty="0"/>
          </a:p>
        </p:txBody>
      </p:sp>
      <p:sp>
        <p:nvSpPr>
          <p:cNvPr id="3" name="Content Placeholder 2"/>
          <p:cNvSpPr>
            <a:spLocks noGrp="1"/>
          </p:cNvSpPr>
          <p:nvPr>
            <p:ph idx="1"/>
          </p:nvPr>
        </p:nvSpPr>
        <p:spPr/>
        <p:txBody>
          <a:bodyPr/>
          <a:lstStyle/>
          <a:p>
            <a:r>
              <a:rPr lang="en-US" dirty="0"/>
              <a:t>Each cell is allocated a predetermined set of voice channels. </a:t>
            </a:r>
          </a:p>
          <a:p>
            <a:r>
              <a:rPr lang="en-US" dirty="0"/>
              <a:t>Any call attempt within the cell can only be served by the unused channels in that particular cell. </a:t>
            </a:r>
          </a:p>
          <a:p>
            <a:r>
              <a:rPr lang="en-US" dirty="0"/>
              <a:t>If all the channels in that cell are occupied, the call is blocked and the subscriber does not receive service.</a:t>
            </a:r>
          </a:p>
          <a:p>
            <a:r>
              <a:rPr lang="en-US" dirty="0"/>
              <a:t>Many Variations in the fixed channel assignment. </a:t>
            </a:r>
          </a:p>
          <a:p>
            <a:pPr marL="0" indent="0">
              <a:buNone/>
            </a:pPr>
            <a:r>
              <a:rPr lang="en-US" dirty="0"/>
              <a:t>	- </a:t>
            </a:r>
            <a:r>
              <a:rPr lang="en-US" dirty="0">
                <a:solidFill>
                  <a:srgbClr val="FF0000"/>
                </a:solidFill>
              </a:rPr>
              <a:t>Borrowing strategy</a:t>
            </a:r>
          </a:p>
          <a:p>
            <a:pPr marL="0" indent="0">
              <a:buNone/>
            </a:pPr>
            <a:r>
              <a:rPr lang="en-US" dirty="0"/>
              <a:t>	- Cells borrow channels from neighboring cells </a:t>
            </a:r>
          </a:p>
          <a:p>
            <a:pPr marL="0" indent="0">
              <a:buNone/>
            </a:pPr>
            <a:r>
              <a:rPr lang="en-US" dirty="0"/>
              <a:t>	- MSC supervise the borrowing activity</a:t>
            </a:r>
          </a:p>
          <a:p>
            <a:pPr marL="0" indent="0" algn="l">
              <a:buNone/>
            </a:pPr>
            <a:r>
              <a:rPr lang="en-US" dirty="0"/>
              <a:t>	- Borrowing of a channel does not interfere with any of the calls in the donor  </a:t>
            </a:r>
          </a:p>
          <a:p>
            <a:pPr marL="0" indent="0" algn="l">
              <a:buNone/>
            </a:pPr>
            <a:r>
              <a:rPr lang="en-US" dirty="0"/>
              <a:t>             cell </a:t>
            </a:r>
            <a:endParaRPr lang="en-IN" dirty="0"/>
          </a:p>
          <a:p>
            <a:endParaRPr lang="en-IN" dirty="0"/>
          </a:p>
        </p:txBody>
      </p:sp>
    </p:spTree>
    <p:extLst>
      <p:ext uri="{BB962C8B-B14F-4D97-AF65-F5344CB8AC3E}">
        <p14:creationId xmlns:p14="http://schemas.microsoft.com/office/powerpoint/2010/main" val="188856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Dynamic Channel Assignment</a:t>
            </a:r>
            <a:endParaRPr lang="en-IN" dirty="0"/>
          </a:p>
        </p:txBody>
      </p:sp>
      <p:sp>
        <p:nvSpPr>
          <p:cNvPr id="3" name="Content Placeholder 2"/>
          <p:cNvSpPr>
            <a:spLocks noGrp="1"/>
          </p:cNvSpPr>
          <p:nvPr>
            <p:ph idx="1"/>
          </p:nvPr>
        </p:nvSpPr>
        <p:spPr/>
        <p:txBody>
          <a:bodyPr/>
          <a:lstStyle/>
          <a:p>
            <a:r>
              <a:rPr lang="en-US" dirty="0"/>
              <a:t>Voice channels are not allocated to different cells permanently. </a:t>
            </a:r>
          </a:p>
          <a:p>
            <a:r>
              <a:rPr lang="en-US" dirty="0"/>
              <a:t>Each time a call request is made, the serving base station requests a channel from the MSC. </a:t>
            </a:r>
          </a:p>
          <a:p>
            <a:r>
              <a:rPr lang="en-US" dirty="0"/>
              <a:t>The switch then allocates a channel to the requested cell following an algorithm that takes into account the likelihood of fixture blocking within the cell, the frequency of use of the candidate channel, the reuse distance of the channel.</a:t>
            </a:r>
          </a:p>
          <a:p>
            <a:r>
              <a:rPr lang="en-US" dirty="0"/>
              <a:t>Advantage of increased channel utilization and decreased probability of blocked call.</a:t>
            </a:r>
          </a:p>
          <a:p>
            <a:r>
              <a:rPr lang="en-US" dirty="0"/>
              <a:t>MSC continuously collect the data on real time occupancy, traffic distribution , radio signal strength indications(RSSI)of all channels.  </a:t>
            </a:r>
          </a:p>
          <a:p>
            <a:r>
              <a:rPr lang="en-US" dirty="0"/>
              <a:t>Disadvantage: Increases the computational load , storage on the MSC.</a:t>
            </a:r>
          </a:p>
          <a:p>
            <a:pPr marL="0" indent="0"/>
            <a:endParaRPr lang="en-US" dirty="0"/>
          </a:p>
          <a:p>
            <a:pPr marL="0" indent="0"/>
            <a:endParaRPr lang="en-IN" dirty="0"/>
          </a:p>
          <a:p>
            <a:pPr marL="0" indent="0"/>
            <a:endParaRPr lang="en-IN" dirty="0"/>
          </a:p>
          <a:p>
            <a:endParaRPr lang="en-IN" dirty="0"/>
          </a:p>
        </p:txBody>
      </p:sp>
      <p:sp>
        <p:nvSpPr>
          <p:cNvPr id="4" name="Rectangle 3"/>
          <p:cNvSpPr/>
          <p:nvPr/>
        </p:nvSpPr>
        <p:spPr>
          <a:xfrm>
            <a:off x="7320337" y="4684514"/>
            <a:ext cx="1823663" cy="369332"/>
          </a:xfrm>
          <a:prstGeom prst="rect">
            <a:avLst/>
          </a:prstGeom>
        </p:spPr>
        <p:txBody>
          <a:bodyPr wrap="square">
            <a:spAutoFit/>
          </a:bodyPr>
          <a:lstStyle/>
          <a:p>
            <a:r>
              <a:rPr lang="en-IN" sz="900" dirty="0"/>
              <a:t>Courtesy to Theodore S. Rappaport       </a:t>
            </a:r>
          </a:p>
          <a:p>
            <a:r>
              <a:rPr lang="en-IN" sz="900" dirty="0"/>
              <a:t>©2002, 1996 Prentice Hall PTR</a:t>
            </a:r>
          </a:p>
        </p:txBody>
      </p:sp>
    </p:spTree>
    <p:extLst>
      <p:ext uri="{BB962C8B-B14F-4D97-AF65-F5344CB8AC3E}">
        <p14:creationId xmlns:p14="http://schemas.microsoft.com/office/powerpoint/2010/main" val="2302301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Handoff In a Cellular Network</a:t>
            </a:r>
          </a:p>
        </p:txBody>
      </p:sp>
      <p:sp>
        <p:nvSpPr>
          <p:cNvPr id="3" name="Content Placeholder 2"/>
          <p:cNvSpPr>
            <a:spLocks noGrp="1"/>
          </p:cNvSpPr>
          <p:nvPr>
            <p:ph idx="1"/>
          </p:nvPr>
        </p:nvSpPr>
        <p:spPr/>
        <p:txBody>
          <a:bodyPr/>
          <a:lstStyle/>
          <a:p>
            <a:r>
              <a:rPr lang="en-US" dirty="0"/>
              <a:t>Handoff is the transition for any given user of signal transmission from one base station to a geographically adjacent base station as the user moves around.</a:t>
            </a:r>
          </a:p>
          <a:p>
            <a:endParaRPr lang="en-US" dirty="0"/>
          </a:p>
          <a:p>
            <a:r>
              <a:rPr lang="en-US" dirty="0"/>
              <a:t>Handover, in which the source and the target are different cells (even if they are on the same cell site) is called </a:t>
            </a:r>
            <a:r>
              <a:rPr lang="en-US" i="1" dirty="0">
                <a:solidFill>
                  <a:srgbClr val="FF0000"/>
                </a:solidFill>
              </a:rPr>
              <a:t>inter-cell</a:t>
            </a:r>
            <a:r>
              <a:rPr lang="en-US" dirty="0">
                <a:solidFill>
                  <a:srgbClr val="FF0000"/>
                </a:solidFill>
              </a:rPr>
              <a:t> </a:t>
            </a:r>
            <a:r>
              <a:rPr lang="en-US" dirty="0"/>
              <a:t>handover. </a:t>
            </a:r>
          </a:p>
          <a:p>
            <a:endParaRPr lang="en-US" dirty="0"/>
          </a:p>
          <a:p>
            <a:r>
              <a:rPr lang="en-US" dirty="0"/>
              <a:t>Source and target are one and the same cell- </a:t>
            </a:r>
            <a:r>
              <a:rPr lang="en-US" dirty="0">
                <a:solidFill>
                  <a:srgbClr val="FF0000"/>
                </a:solidFill>
              </a:rPr>
              <a:t>Intra-cell </a:t>
            </a:r>
            <a:r>
              <a:rPr lang="en-US" dirty="0"/>
              <a:t>Handover</a:t>
            </a:r>
          </a:p>
          <a:p>
            <a:pPr marL="0" indent="0">
              <a:buNone/>
            </a:pPr>
            <a:r>
              <a:rPr lang="en-US" dirty="0"/>
              <a:t>	- Interference in the channel causes the change of channel with in the cell.</a:t>
            </a:r>
            <a:endParaRPr lang="en-IN" dirty="0"/>
          </a:p>
          <a:p>
            <a:endParaRPr lang="en-IN" dirty="0"/>
          </a:p>
          <a:p>
            <a:endParaRPr lang="en-US" dirty="0"/>
          </a:p>
          <a:p>
            <a:endParaRPr lang="en-IN" dirty="0"/>
          </a:p>
        </p:txBody>
      </p:sp>
    </p:spTree>
    <p:extLst>
      <p:ext uri="{BB962C8B-B14F-4D97-AF65-F5344CB8AC3E}">
        <p14:creationId xmlns:p14="http://schemas.microsoft.com/office/powerpoint/2010/main" val="1584988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Purpose of Handoff </a:t>
            </a:r>
          </a:p>
        </p:txBody>
      </p:sp>
      <p:sp>
        <p:nvSpPr>
          <p:cNvPr id="3" name="Content Placeholder 2"/>
          <p:cNvSpPr>
            <a:spLocks noGrp="1"/>
          </p:cNvSpPr>
          <p:nvPr>
            <p:ph idx="1"/>
          </p:nvPr>
        </p:nvSpPr>
        <p:spPr/>
        <p:txBody>
          <a:bodyPr/>
          <a:lstStyle/>
          <a:p>
            <a:r>
              <a:rPr lang="en-US" dirty="0"/>
              <a:t>In telecommunications there may be different reasons why a handover might be conducted:</a:t>
            </a:r>
            <a:endParaRPr lang="en-IN" dirty="0"/>
          </a:p>
          <a:p>
            <a:endParaRPr lang="en-US" dirty="0"/>
          </a:p>
          <a:p>
            <a:r>
              <a:rPr lang="en-US" dirty="0"/>
              <a:t>When the user  is moving away from the area covered by one cell and entering the area covered by another cell.</a:t>
            </a:r>
          </a:p>
          <a:p>
            <a:endParaRPr lang="en-US" dirty="0"/>
          </a:p>
          <a:p>
            <a:r>
              <a:rPr lang="en-US" dirty="0"/>
              <a:t>In non-CDMA networks when the channel used by the phone becomes interfered by another phone using the same channel in a different cell, the call is transferred to a different channel in the same cell or to a different channel in another cell in order to avoid the interference</a:t>
            </a:r>
          </a:p>
          <a:p>
            <a:endParaRPr lang="en-US" dirty="0"/>
          </a:p>
          <a:p>
            <a:r>
              <a:rPr lang="en-US" dirty="0"/>
              <a:t>In CDMA networks a handover may be induced in order to reduce the interference to a smaller neighboring cell . </a:t>
            </a:r>
          </a:p>
          <a:p>
            <a:endParaRPr lang="en-IN" dirty="0"/>
          </a:p>
        </p:txBody>
      </p:sp>
    </p:spTree>
    <p:extLst>
      <p:ext uri="{BB962C8B-B14F-4D97-AF65-F5344CB8AC3E}">
        <p14:creationId xmlns:p14="http://schemas.microsoft.com/office/powerpoint/2010/main" val="665809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r>
              <a:rPr lang="en-IN" dirty="0"/>
              <a:t>Channel assignment strategies involved two approaches namely fixed channel and dynamic channel assignment.</a:t>
            </a:r>
          </a:p>
          <a:p>
            <a:r>
              <a:rPr lang="en-US" dirty="0"/>
              <a:t>Variations in the fixed channel assignment strategy called borrowing strategy where the channel is borrowed from the neighboring cell.</a:t>
            </a:r>
            <a:endParaRPr lang="en-IN" dirty="0"/>
          </a:p>
          <a:p>
            <a:r>
              <a:rPr lang="en-US" dirty="0"/>
              <a:t>Handoff is the transition for any given user of signal transmission from one base station to a geographically adjacent base station as the user moves around.</a:t>
            </a:r>
          </a:p>
          <a:p>
            <a:r>
              <a:rPr lang="en-IN" dirty="0"/>
              <a:t>Purpose of handoff is </a:t>
            </a:r>
            <a:r>
              <a:rPr lang="en-US" dirty="0"/>
              <a:t> induced in order to reduce the interference to a smaller neighboring cell . </a:t>
            </a:r>
          </a:p>
          <a:p>
            <a:endParaRPr lang="en-IN" dirty="0"/>
          </a:p>
          <a:p>
            <a:endParaRPr lang="en-IN" dirty="0"/>
          </a:p>
          <a:p>
            <a:endParaRPr lang="en-IN" dirty="0"/>
          </a:p>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16&quot;&gt;&lt;object type=&quot;3&quot; unique_id=&quot;10017&quot;&gt;&lt;property id=&quot;20148&quot; value=&quot;5&quot;/&gt;&lt;property id=&quot;20300&quot; value=&quot;Slide 1&quot;/&gt;&lt;property id=&quot;20307&quot; value=&quot;381&quot;/&gt;&lt;/object&gt;&lt;object type=&quot;3&quot; unique_id=&quot;10051&quot;&gt;&lt;property id=&quot;20148&quot; value=&quot;5&quot;/&gt;&lt;property id=&quot;20300&quot; value=&quot;Slide 2&quot;/&gt;&lt;property id=&quot;20307&quot; value=&quot;386&quot;/&gt;&lt;/object&gt;&lt;object type=&quot;3&quot; unique_id=&quot;10052&quot;&gt;&lt;property id=&quot;20148&quot; value=&quot;5&quot;/&gt;&lt;property id=&quot;20300&quot; value=&quot;Slide 3&quot;/&gt;&lt;property id=&quot;20307&quot; value=&quot;387&quot;/&gt;&lt;/object&gt;&lt;/object&gt;&lt;object type=&quot;8&quot; unique_id=&quot;10026&quot;&gt;&lt;/object&gt;&lt;/object&gt;&lt;/database&gt;"/>
  <p:tag name="SECTOMILLISECCONVERTED" val="1"/>
</p:tagLst>
</file>

<file path=ppt/theme/theme1.xml><?xml version="1.0" encoding="utf-8"?>
<a:theme xmlns:a="http://schemas.openxmlformats.org/drawingml/2006/main" name="BITS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bits.thmx</Template>
  <TotalTime>3509</TotalTime>
  <Words>550</Words>
  <Application>Microsoft Office PowerPoint</Application>
  <PresentationFormat>On-screen Show (16:9)</PresentationFormat>
  <Paragraphs>52</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BITS_PPT_template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Abid AK</cp:lastModifiedBy>
  <cp:revision>220</cp:revision>
  <dcterms:created xsi:type="dcterms:W3CDTF">2015-06-09T08:31:04Z</dcterms:created>
  <dcterms:modified xsi:type="dcterms:W3CDTF">2025-04-17T12:50:25Z</dcterms:modified>
</cp:coreProperties>
</file>