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5" r:id="rId1"/>
  </p:sldMasterIdLst>
  <p:notesMasterIdLst>
    <p:notesMasterId r:id="rId12"/>
  </p:notesMasterIdLst>
  <p:handoutMasterIdLst>
    <p:handoutMasterId r:id="rId13"/>
  </p:handoutMasterIdLst>
  <p:sldIdLst>
    <p:sldId id="425" r:id="rId2"/>
    <p:sldId id="426" r:id="rId3"/>
    <p:sldId id="427" r:id="rId4"/>
    <p:sldId id="428" r:id="rId5"/>
    <p:sldId id="429" r:id="rId6"/>
    <p:sldId id="430" r:id="rId7"/>
    <p:sldId id="431" r:id="rId8"/>
    <p:sldId id="432" r:id="rId9"/>
    <p:sldId id="433" r:id="rId10"/>
    <p:sldId id="391" r:id="rId11"/>
  </p:sldIdLst>
  <p:sldSz cx="9144000" cy="5143500" type="screen16x9"/>
  <p:notesSz cx="6858000" cy="9144000"/>
  <p:custDataLst>
    <p:tags r:id="rId1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56" autoAdjust="0"/>
    <p:restoredTop sz="94434" autoAdjust="0"/>
  </p:normalViewPr>
  <p:slideViewPr>
    <p:cSldViewPr snapToGrid="0">
      <p:cViewPr varScale="1">
        <p:scale>
          <a:sx n="97" d="100"/>
          <a:sy n="97" d="100"/>
        </p:scale>
        <p:origin x="1027" y="72"/>
      </p:cViewPr>
      <p:guideLst>
        <p:guide orient="horz" pos="2160"/>
        <p:guide pos="2880"/>
        <p:guide orient="horz" pos="16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55" d="100"/>
          <a:sy n="55" d="100"/>
        </p:scale>
        <p:origin x="-2844" y="-10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394F4B-DBDD-4BF7-B613-78EDB047F2F9}" type="datetimeFigureOut">
              <a:rPr lang="en-US" smtClean="0"/>
              <a:pPr/>
              <a:t>4/17/2025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01AD7E-7F9D-4576-9772-0B1B702F1F5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50782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42289B-64AB-40F4-866F-7386DC470D15}" type="datetimeFigureOut">
              <a:rPr lang="en-US" smtClean="0"/>
              <a:pPr/>
              <a:t>4/17/2025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38DE6F-CB63-4507-A312-B89798DB40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56821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16"/>
          <p:cNvSpPr>
            <a:spLocks noGrp="1"/>
          </p:cNvSpPr>
          <p:nvPr>
            <p:ph sz="quarter" idx="10" hasCustomPrompt="1"/>
          </p:nvPr>
        </p:nvSpPr>
        <p:spPr>
          <a:xfrm>
            <a:off x="245444" y="116706"/>
            <a:ext cx="6537960" cy="58293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200" b="1" spc="225" baseline="0">
                <a:solidFill>
                  <a:srgbClr val="FF0000"/>
                </a:solidFill>
                <a:effectLst/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Topic name here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274320" y="754380"/>
            <a:ext cx="8503920" cy="4114800"/>
          </a:xfrm>
          <a:prstGeom prst="rect">
            <a:avLst/>
          </a:prstGeom>
        </p:spPr>
        <p:txBody>
          <a:bodyPr lIns="0" rIns="0"/>
          <a:lstStyle>
            <a:lvl1pPr marL="255985" marR="0" indent="-255985" algn="just" defTabSz="685800" rtl="0" eaLnBrk="1" fontAlgn="auto" latinLnBrk="0" hangingPunct="1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FF0000"/>
              </a:buClr>
              <a:buSzTx/>
              <a:buFont typeface="Arial" pitchFamily="34" charset="0"/>
              <a:buChar char="•"/>
              <a:tabLst/>
              <a:defRPr sz="1800">
                <a:latin typeface="Arial" pitchFamily="34" charset="0"/>
                <a:cs typeface="Arial" pitchFamily="34" charset="0"/>
              </a:defRPr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2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0" y="685801"/>
            <a:ext cx="7010400" cy="34289"/>
            <a:chOff x="1905000" y="6553200"/>
            <a:chExt cx="7010400" cy="45719"/>
          </a:xfrm>
        </p:grpSpPr>
        <p:sp>
          <p:nvSpPr>
            <p:cNvPr id="6" name="Rectangle 5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800" dirty="0">
                <a:solidFill>
                  <a:srgbClr val="FFFFFF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800" dirty="0">
                <a:solidFill>
                  <a:srgbClr val="FFFFFF"/>
                </a:solidFill>
              </a:endParaRPr>
            </a:p>
          </p:txBody>
        </p:sp>
        <p:sp>
          <p:nvSpPr>
            <p:cNvPr id="8" name="Rectangle 7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800" dirty="0">
                <a:solidFill>
                  <a:srgbClr val="FFFFFF"/>
                </a:solidFill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200152"/>
            <a:ext cx="8229600" cy="3394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8195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5pPr>
      <a:lvl6pPr marL="3429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6pPr>
      <a:lvl7pPr marL="6858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7pPr>
      <a:lvl8pPr marL="10287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8pPr>
      <a:lvl9pPr marL="13716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200" b="1" kern="1200">
          <a:solidFill>
            <a:schemeClr val="tx1"/>
          </a:solidFill>
          <a:effectLst/>
          <a:latin typeface="Arial" pitchFamily="34" charset="0"/>
          <a:ea typeface="+mn-ea"/>
          <a:cs typeface="Arial" pitchFamily="34" charset="0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Cellular Concept</a:t>
            </a:r>
          </a:p>
          <a:p>
            <a:endParaRPr lang="en-IN" dirty="0"/>
          </a:p>
        </p:txBody>
      </p:sp>
      <p:sp>
        <p:nvSpPr>
          <p:cNvPr id="5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/>
              <a:t>Why not a large Radio tower and Large Service area?</a:t>
            </a:r>
          </a:p>
          <a:p>
            <a:pPr>
              <a:buFont typeface="Arial" pitchFamily="34" charset="0"/>
              <a:buChar char="•"/>
            </a:pPr>
            <a:endParaRPr lang="en-US" dirty="0"/>
          </a:p>
          <a:p>
            <a:pPr marL="974725" lvl="2" indent="-855663">
              <a:buNone/>
            </a:pPr>
            <a:endParaRPr lang="en-US" dirty="0"/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2"/>
          <a:srcRect t="18750" r="66398" b="7292"/>
          <a:stretch>
            <a:fillRect/>
          </a:stretch>
        </p:blipFill>
        <p:spPr bwMode="auto">
          <a:xfrm>
            <a:off x="421240" y="1366788"/>
            <a:ext cx="2874517" cy="35571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Rectangle 6"/>
          <p:cNvSpPr/>
          <p:nvPr/>
        </p:nvSpPr>
        <p:spPr>
          <a:xfrm>
            <a:off x="3808973" y="1152503"/>
            <a:ext cx="4876800" cy="39857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15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The design objective of early mobile radio systems was to achieve a large coverage area by using a single, high powered </a:t>
            </a:r>
            <a:r>
              <a:rPr lang="en-US" sz="2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transmitter with an antenna mounted on a tall tower. 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</a:p>
          <a:p>
            <a:pPr marL="285750" indent="-285750">
              <a:lnSpc>
                <a:spcPct val="115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Good coverage, but it was not possible  to reuse those same frequencies throughout the system </a:t>
            </a:r>
          </a:p>
          <a:p>
            <a:pPr marL="285750" indent="-285750">
              <a:lnSpc>
                <a:spcPct val="115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Limitation in the Number of simultaneous users. </a:t>
            </a:r>
          </a:p>
          <a:p>
            <a:pPr marL="285750" indent="-285750">
              <a:lnSpc>
                <a:spcPct val="115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Mobile Handsets would have greater power requirements.</a:t>
            </a:r>
            <a:endParaRPr lang="en-IN" sz="14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5184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Cellular Concept </a:t>
            </a:r>
          </a:p>
          <a:p>
            <a:endParaRPr lang="en-IN" dirty="0"/>
          </a:p>
        </p:txBody>
      </p:sp>
      <p:sp>
        <p:nvSpPr>
          <p:cNvPr id="4" name="Content Placeholder 3"/>
          <p:cNvSpPr txBox="1">
            <a:spLocks noGrp="1"/>
          </p:cNvSpPr>
          <p:nvPr>
            <p:ph idx="1"/>
          </p:nvPr>
        </p:nvSpPr>
        <p:spPr>
          <a:xfrm>
            <a:off x="274320" y="754380"/>
            <a:ext cx="8503920" cy="10797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Major break through in solving the problem of spectral congestion and limited capacity</a:t>
            </a:r>
          </a:p>
          <a:p>
            <a:endParaRPr lang="en-IN" sz="2000" dirty="0"/>
          </a:p>
        </p:txBody>
      </p:sp>
      <p:sp>
        <p:nvSpPr>
          <p:cNvPr id="5" name="Rectangle 4"/>
          <p:cNvSpPr/>
          <p:nvPr/>
        </p:nvSpPr>
        <p:spPr>
          <a:xfrm>
            <a:off x="165243" y="1357848"/>
            <a:ext cx="45720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Cellular concept- </a:t>
            </a:r>
            <a:r>
              <a:rPr lang="en-US" sz="2400" dirty="0"/>
              <a:t>small cells with frequency reuse</a:t>
            </a:r>
          </a:p>
          <a:p>
            <a:r>
              <a:rPr lang="en-US" sz="2400" dirty="0"/>
              <a:t>	</a:t>
            </a:r>
            <a:r>
              <a:rPr lang="en-US" sz="2400" b="1" dirty="0">
                <a:solidFill>
                  <a:srgbClr val="FF0000"/>
                </a:solidFill>
              </a:rPr>
              <a:t>Advantages:</a:t>
            </a:r>
          </a:p>
          <a:p>
            <a:pPr lvl="2">
              <a:buFont typeface="Wingdings" pitchFamily="2" charset="2"/>
              <a:buChar char="§"/>
            </a:pPr>
            <a:r>
              <a:rPr lang="en-US" sz="2400" dirty="0"/>
              <a:t>Low power handsets</a:t>
            </a:r>
          </a:p>
          <a:p>
            <a:pPr lvl="2">
              <a:buFont typeface="Wingdings" pitchFamily="2" charset="2"/>
              <a:buChar char="§"/>
            </a:pPr>
            <a:r>
              <a:rPr lang="en-US" sz="2400" dirty="0"/>
              <a:t>Increases system capacity with frequency reuse.</a:t>
            </a:r>
          </a:p>
          <a:p>
            <a:pPr marL="347663" lvl="2">
              <a:buNone/>
            </a:pPr>
            <a:r>
              <a:rPr lang="en-US" sz="2400" dirty="0"/>
              <a:t>    </a:t>
            </a:r>
            <a:r>
              <a:rPr lang="en-US" sz="2400" b="1" dirty="0">
                <a:solidFill>
                  <a:srgbClr val="FF0000"/>
                </a:solidFill>
              </a:rPr>
              <a:t>Drawbacks</a:t>
            </a:r>
          </a:p>
          <a:p>
            <a:pPr marL="347663" lvl="2">
              <a:buFont typeface="Arial" pitchFamily="34" charset="0"/>
              <a:buChar char="•"/>
            </a:pPr>
            <a:r>
              <a:rPr lang="en-US" sz="2400" dirty="0"/>
              <a:t>  Cost of the cells</a:t>
            </a:r>
          </a:p>
          <a:p>
            <a:pPr marL="347663" lvl="2">
              <a:buFont typeface="Arial" pitchFamily="34" charset="0"/>
              <a:buChar char="•"/>
            </a:pPr>
            <a:r>
              <a:rPr lang="en-US" sz="2400" dirty="0"/>
              <a:t>Handoffs between the cells must be provided.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84915" y="1880753"/>
            <a:ext cx="23064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Adjacent Channels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95580" y="4675380"/>
            <a:ext cx="2667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Co- Channels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7607" y="3095968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18542" y="3304165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08306" y="3000207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44869" y="2771427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80795" y="2924880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24038" y="3344809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27843" y="3476302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7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 rotWithShape="1">
          <a:blip r:embed="rId2"/>
          <a:srcRect l="36353" t="24873" r="37007" b="30941"/>
          <a:stretch/>
        </p:blipFill>
        <p:spPr>
          <a:xfrm>
            <a:off x="4824788" y="2266446"/>
            <a:ext cx="2110910" cy="1968456"/>
          </a:xfrm>
          <a:prstGeom prst="rect">
            <a:avLst/>
          </a:prstGeom>
        </p:spPr>
      </p:pic>
      <p:cxnSp>
        <p:nvCxnSpPr>
          <p:cNvPr id="7" name="Straight Arrow Connector 6"/>
          <p:cNvCxnSpPr>
            <a:endCxn id="9" idx="1"/>
          </p:cNvCxnSpPr>
          <p:nvPr/>
        </p:nvCxnSpPr>
        <p:spPr>
          <a:xfrm flipV="1">
            <a:off x="6270942" y="2080808"/>
            <a:ext cx="613973" cy="4980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endCxn id="9" idx="1"/>
          </p:cNvCxnSpPr>
          <p:nvPr/>
        </p:nvCxnSpPr>
        <p:spPr>
          <a:xfrm flipV="1">
            <a:off x="6423342" y="2080808"/>
            <a:ext cx="461573" cy="8223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5485595" y="3845634"/>
            <a:ext cx="311674" cy="8297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H="1">
            <a:off x="5727843" y="3970281"/>
            <a:ext cx="600490" cy="6969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6979105" y="4225976"/>
            <a:ext cx="1916130" cy="458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8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Courtesy to Theodore S. Rappaport       </a:t>
            </a:r>
            <a:endParaRPr lang="en-IN" sz="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8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©2002, 1996 Prentice Hall PTR</a:t>
            </a:r>
            <a:endParaRPr lang="en-IN" sz="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97141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Cellular Systems – Basic Concepts</a:t>
            </a:r>
          </a:p>
          <a:p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74320" y="754380"/>
            <a:ext cx="8503920" cy="341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Each base station is allocated a portion of the total number of channels .</a:t>
            </a: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Neighboring base stations are assigned different groups of channels so that the interference between base stations is minimized. </a:t>
            </a: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 switching technique called Handoff  enables a call to proceed uninterrupted when user moves from one cell to another.</a:t>
            </a:r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Cell size can be reduced if the transmitted power is reduced. (Transmitted power is a factor which will decide how big the cell size should be)</a:t>
            </a: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endParaRPr lang="en-IN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07892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Choosing Shape for a Cell</a:t>
            </a:r>
          </a:p>
          <a:p>
            <a:endParaRPr lang="en-IN" dirty="0"/>
          </a:p>
        </p:txBody>
      </p:sp>
      <p:pic>
        <p:nvPicPr>
          <p:cNvPr id="4" name="Picture 4" descr="CirclePacking"/>
          <p:cNvPicPr>
            <a:picLocks noChangeAspect="1" noChangeArrowheads="1"/>
          </p:cNvPicPr>
          <p:nvPr/>
        </p:nvPicPr>
        <p:blipFill>
          <a:blip r:embed="rId2"/>
          <a:srcRect r="51363" b="14400"/>
          <a:stretch>
            <a:fillRect/>
          </a:stretch>
        </p:blipFill>
        <p:spPr bwMode="auto">
          <a:xfrm>
            <a:off x="533401" y="1752600"/>
            <a:ext cx="2623002" cy="2431075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>
          <a:xfrm>
            <a:off x="648984" y="1235805"/>
            <a:ext cx="2032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Circle Shape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2261078" y="3565132"/>
            <a:ext cx="92542" cy="9596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H="1">
            <a:off x="1540341" y="3567344"/>
            <a:ext cx="10497" cy="10236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550838" y="4293934"/>
            <a:ext cx="17143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Gaps</a:t>
            </a:r>
          </a:p>
        </p:txBody>
      </p:sp>
      <p:pic>
        <p:nvPicPr>
          <p:cNvPr id="9" name="Picture 8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959"/>
          <a:stretch/>
        </p:blipFill>
        <p:spPr bwMode="auto">
          <a:xfrm>
            <a:off x="3514424" y="1906025"/>
            <a:ext cx="3405173" cy="8543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275504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Choosing Shape for a Cell</a:t>
            </a:r>
          </a:p>
          <a:p>
            <a:endParaRPr lang="en-IN" dirty="0"/>
          </a:p>
        </p:txBody>
      </p:sp>
      <p:pic>
        <p:nvPicPr>
          <p:cNvPr id="4" name="Picture 2" descr="https://upload.wikimedia.org/wikipedia/commons/thumb/e/ee/Frequency_reuse.svg/279px-Frequency_reuse.svg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39450" y="1362783"/>
            <a:ext cx="2667347" cy="215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3255195" y="1205545"/>
            <a:ext cx="5323726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Hexagon has the largest area 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Approximates  the shape of circle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It has been universally adopted 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It also permits easy and manageable analysis of a cellular system. 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23818" y="3946183"/>
            <a:ext cx="2667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</a:rPr>
              <a:t>Hexagon Shape</a:t>
            </a:r>
          </a:p>
        </p:txBody>
      </p:sp>
      <p:sp>
        <p:nvSpPr>
          <p:cNvPr id="7" name="Rectangle 6"/>
          <p:cNvSpPr/>
          <p:nvPr/>
        </p:nvSpPr>
        <p:spPr>
          <a:xfrm>
            <a:off x="6979105" y="4225976"/>
            <a:ext cx="1916130" cy="458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8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Courtesy to Theodore S. Rappaport       </a:t>
            </a:r>
            <a:endParaRPr lang="en-IN" sz="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8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©2002, 1996 Prentice Hall PTR</a:t>
            </a:r>
            <a:endParaRPr lang="en-IN" sz="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9138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Frequency Reuse</a:t>
            </a:r>
          </a:p>
          <a:p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3514424" y="539623"/>
            <a:ext cx="5257800" cy="44008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285750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285750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Cellular radio systems rely on reuse of the channels through out the coverage area.</a:t>
            </a:r>
            <a:endParaRPr lang="en-IN" sz="140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514350" indent="-285750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Each base station is allocated a group of radio channels to be used with in the small geographic area of its cell.</a:t>
            </a:r>
            <a:endParaRPr lang="en-IN" sz="140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514350" indent="-285750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Neighboring base stations are given different channel allocation.</a:t>
            </a:r>
            <a:endParaRPr lang="en-IN" sz="140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514350" indent="-285750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The same group of frequencies is re used to cover another cell separated by a large distance to minimize co-channel interference . </a:t>
            </a:r>
            <a:endParaRPr lang="en-IN" sz="14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2976" y="3664660"/>
            <a:ext cx="31970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Illustration of Cellular Frequency </a:t>
            </a:r>
          </a:p>
          <a:p>
            <a:r>
              <a:rPr lang="en-US" sz="1600" dirty="0"/>
              <a:t>Reuse concept.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l="36353" t="24873" r="37007" b="30941"/>
          <a:stretch/>
        </p:blipFill>
        <p:spPr>
          <a:xfrm>
            <a:off x="696051" y="1245833"/>
            <a:ext cx="2110910" cy="196845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856094" y="4549965"/>
            <a:ext cx="1916130" cy="458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8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Courtesy to Theodore S. Rappaport       </a:t>
            </a:r>
            <a:endParaRPr lang="en-IN" sz="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8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©2002, 1996 Prentice Hall PTR</a:t>
            </a:r>
            <a:endParaRPr lang="en-IN" sz="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77401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>
          <a:xfrm>
            <a:off x="274320" y="250270"/>
            <a:ext cx="6537960" cy="582930"/>
          </a:xfrm>
        </p:spPr>
        <p:txBody>
          <a:bodyPr/>
          <a:lstStyle/>
          <a:p>
            <a:r>
              <a:rPr lang="en-US" dirty="0"/>
              <a:t>Cellular Capacity</a:t>
            </a:r>
          </a:p>
          <a:p>
            <a:endParaRPr lang="en-IN" dirty="0"/>
          </a:p>
        </p:txBody>
      </p:sp>
      <p:sp>
        <p:nvSpPr>
          <p:cNvPr id="4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Let T = Total number of Duplex channels.</a:t>
            </a:r>
          </a:p>
          <a:p>
            <a:pPr marL="0" indent="0">
              <a:buNone/>
            </a:pPr>
            <a:r>
              <a:rPr lang="en-US" dirty="0"/>
              <a:t>  K cells = Size of each cluster</a:t>
            </a:r>
          </a:p>
          <a:p>
            <a:pPr marL="0" indent="0">
              <a:buNone/>
            </a:pPr>
            <a:r>
              <a:rPr lang="en-US" dirty="0"/>
              <a:t> N= T/k = number of channels per cell.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For a specific geographic area, if clusters are replicated M times , then the total number of channels</a:t>
            </a:r>
          </a:p>
          <a:p>
            <a:pPr marL="0" indent="0">
              <a:buNone/>
            </a:pPr>
            <a:r>
              <a:rPr lang="en-US" dirty="0"/>
              <a:t>        - System capacity = M x T (Proportional to M)</a:t>
            </a:r>
          </a:p>
          <a:p>
            <a:pPr marL="0" indent="0">
              <a:buNone/>
            </a:pPr>
            <a:r>
              <a:rPr lang="en-US" dirty="0"/>
              <a:t>         - K depends on how much interference can be 	tolerated by base stations while maintaining a 	sufficient quality of communication</a:t>
            </a:r>
          </a:p>
          <a:p>
            <a:pPr marL="0" indent="0">
              <a:buNone/>
            </a:pPr>
            <a:r>
              <a:rPr lang="en-US" dirty="0"/>
              <a:t>	     - If the cluster size is reduced, more clusters are required to cover a given area and hence more capacity.</a:t>
            </a:r>
            <a:endParaRPr lang="en-IN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67432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Co-channel cells in a cellular system</a:t>
            </a:r>
          </a:p>
          <a:p>
            <a:endParaRPr lang="en-IN" dirty="0"/>
          </a:p>
        </p:txBody>
      </p:sp>
      <p:pic>
        <p:nvPicPr>
          <p:cNvPr id="4" name="Picture 8" descr="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lum bright="-20000" contrast="40000"/>
          </a:blip>
          <a:srcRect/>
          <a:stretch>
            <a:fillRect/>
          </a:stretch>
        </p:blipFill>
        <p:spPr>
          <a:xfrm>
            <a:off x="3256215" y="1442432"/>
            <a:ext cx="2770942" cy="2667231"/>
          </a:xfrm>
          <a:noFill/>
        </p:spPr>
      </p:pic>
      <p:sp>
        <p:nvSpPr>
          <p:cNvPr id="5" name="Rectangle 4"/>
          <p:cNvSpPr/>
          <p:nvPr/>
        </p:nvSpPr>
        <p:spPr>
          <a:xfrm>
            <a:off x="3011592" y="4236433"/>
            <a:ext cx="45591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Method of co-channel cells in a cellular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77428" y="1374921"/>
            <a:ext cx="21087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K= i</a:t>
            </a:r>
            <a:r>
              <a:rPr lang="en-US" sz="2000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+ij+j</a:t>
            </a:r>
            <a:r>
              <a:rPr lang="en-US" sz="2000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pic>
        <p:nvPicPr>
          <p:cNvPr id="7" name="Picture 6" descr="Cellular Concepts                             (Co-Channel Cells)•   To find co-channel neighbors of a cell, move i cells p..."/>
          <p:cNvPicPr/>
          <p:nvPr/>
        </p:nvPicPr>
        <p:blipFill>
          <a:blip r:embed="rId3"/>
          <a:srcRect l="43730" t="60021" r="36207" b="29958"/>
          <a:stretch>
            <a:fillRect/>
          </a:stretch>
        </p:blipFill>
        <p:spPr bwMode="auto">
          <a:xfrm>
            <a:off x="1781301" y="1901801"/>
            <a:ext cx="1328791" cy="468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5741989" y="1338870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</a:t>
            </a:r>
            <a:r>
              <a:rPr lang="en-US" dirty="0"/>
              <a:t>=3 and j=2</a:t>
            </a:r>
          </a:p>
        </p:txBody>
      </p:sp>
      <p:sp>
        <p:nvSpPr>
          <p:cNvPr id="9" name="Rectangle 8"/>
          <p:cNvSpPr/>
          <p:nvPr/>
        </p:nvSpPr>
        <p:spPr>
          <a:xfrm>
            <a:off x="6783404" y="4605765"/>
            <a:ext cx="1916130" cy="458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8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Courtesy to Theodore S. Rappaport       </a:t>
            </a:r>
            <a:endParaRPr lang="en-IN" sz="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8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©2002, 1996 Prentice Hall PTR</a:t>
            </a:r>
            <a:endParaRPr lang="en-IN" sz="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55440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Problems</a:t>
            </a:r>
          </a:p>
          <a:p>
            <a:endParaRPr lang="en-IN" dirty="0"/>
          </a:p>
        </p:txBody>
      </p:sp>
      <p:sp>
        <p:nvSpPr>
          <p:cNvPr id="4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2000" dirty="0"/>
              <a:t>Spectrum allocated to wireless system- 40Mhz</a:t>
            </a:r>
          </a:p>
          <a:p>
            <a:pPr marL="0" indent="0">
              <a:buNone/>
            </a:pPr>
            <a:r>
              <a:rPr lang="en-US" sz="2000" dirty="0"/>
              <a:t>Simplex channel bandwidth for voice and control channel -25Khz</a:t>
            </a:r>
          </a:p>
          <a:p>
            <a:pPr marL="0" indent="0">
              <a:buNone/>
            </a:pPr>
            <a:r>
              <a:rPr lang="en-US" sz="2000" dirty="0"/>
              <a:t>Cluster size =4</a:t>
            </a:r>
          </a:p>
          <a:p>
            <a:pPr marL="0" indent="0">
              <a:buNone/>
            </a:pPr>
            <a:r>
              <a:rPr lang="en-US" sz="2000" dirty="0"/>
              <a:t>Bandwidth allocated for control channel = 1Mhz</a:t>
            </a:r>
          </a:p>
          <a:p>
            <a:pPr marL="0" indent="0">
              <a:buNone/>
            </a:pPr>
            <a:r>
              <a:rPr lang="en-US" sz="2000" dirty="0"/>
              <a:t>Number of channels per cell ?</a:t>
            </a:r>
          </a:p>
          <a:p>
            <a:pPr marL="0" indent="0">
              <a:buNone/>
            </a:pPr>
            <a:r>
              <a:rPr lang="en-US" sz="2000" dirty="0"/>
              <a:t>Number of control and voice channels in each cell?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Solution.</a:t>
            </a:r>
          </a:p>
          <a:p>
            <a:pPr marL="0" indent="0">
              <a:buNone/>
            </a:pPr>
            <a:r>
              <a:rPr lang="en-US" sz="2000" dirty="0"/>
              <a:t>Channel bandwidth = 25KHz * 2 simplex channels = 50KHz duplex channels.</a:t>
            </a:r>
          </a:p>
          <a:p>
            <a:pPr marL="0" indent="0">
              <a:buNone/>
            </a:pPr>
            <a:r>
              <a:rPr lang="en-US" sz="2000" dirty="0"/>
              <a:t>No. of available channels = 40000/50 = 800</a:t>
            </a:r>
          </a:p>
          <a:p>
            <a:pPr marL="0" indent="0">
              <a:buNone/>
            </a:pPr>
            <a:r>
              <a:rPr lang="en-US" sz="2000" dirty="0"/>
              <a:t>For N = 4, total number of channels available per cell = 800/4= 200.</a:t>
            </a:r>
          </a:p>
          <a:p>
            <a:pPr marL="0" indent="0">
              <a:buNone/>
            </a:pPr>
            <a:r>
              <a:rPr lang="en-US" sz="2000" dirty="0"/>
              <a:t> 1MHz – control channels.</a:t>
            </a:r>
          </a:p>
          <a:p>
            <a:pPr marL="0" indent="0">
              <a:buNone/>
            </a:pPr>
            <a:r>
              <a:rPr lang="en-US" sz="2000" dirty="0"/>
              <a:t>There fore 1000/50 = 20 control channels out of 800 channels are available.</a:t>
            </a:r>
          </a:p>
          <a:p>
            <a:pPr marL="0" indent="0">
              <a:buNone/>
            </a:pPr>
            <a:r>
              <a:rPr lang="en-US" sz="2000" dirty="0"/>
              <a:t>For N=4, we can have 5 control channels and 195 voice channels.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0396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0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0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20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20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20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20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2000" fill="hold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2000" fill="hold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2000" fill="hold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2000" fill="hold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  <a:p>
            <a:r>
              <a:rPr lang="en-IN" dirty="0"/>
              <a:t>Cellular concept increases the system capacity with frequency re-use.</a:t>
            </a:r>
          </a:p>
          <a:p>
            <a:r>
              <a:rPr lang="en-IN" dirty="0"/>
              <a:t>Hexagonal cell is the shape considered for the cell as it is close to circle and has large area compared to other shapes.</a:t>
            </a:r>
          </a:p>
          <a:p>
            <a:r>
              <a:rPr lang="en-IN" dirty="0"/>
              <a:t>Method of placing the co-channel cells in a geographical area to reduce the co-channel interference.</a:t>
            </a:r>
          </a:p>
          <a:p>
            <a:endParaRPr lang="en-IN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  <a:p>
            <a:endParaRPr lang="en-US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8.0&quot;&gt;&lt;object type=&quot;1&quot; unique_id=&quot;10001&quot;&gt;&lt;object type=&quot;2&quot; unique_id=&quot;10016&quot;&gt;&lt;object type=&quot;3&quot; unique_id=&quot;10017&quot;&gt;&lt;property id=&quot;20148&quot; value=&quot;5&quot;/&gt;&lt;property id=&quot;20300&quot; value=&quot;Slide 1&quot;/&gt;&lt;property id=&quot;20307&quot; value=&quot;381&quot;/&gt;&lt;/object&gt;&lt;object type=&quot;3&quot; unique_id=&quot;10051&quot;&gt;&lt;property id=&quot;20148&quot; value=&quot;5&quot;/&gt;&lt;property id=&quot;20300&quot; value=&quot;Slide 2&quot;/&gt;&lt;property id=&quot;20307&quot; value=&quot;386&quot;/&gt;&lt;/object&gt;&lt;object type=&quot;3&quot; unique_id=&quot;10052&quot;&gt;&lt;property id=&quot;20148&quot; value=&quot;5&quot;/&gt;&lt;property id=&quot;20300&quot; value=&quot;Slide 3&quot;/&gt;&lt;property id=&quot;20307&quot; value=&quot;387&quot;/&gt;&lt;/object&gt;&lt;/object&gt;&lt;object type=&quot;8&quot; unique_id=&quot;10026&quot;&gt;&lt;/object&gt;&lt;/object&gt;&lt;/database&gt;"/>
  <p:tag name="SECTOMILLISECCONVERTED" val="1"/>
</p:tagLst>
</file>

<file path=ppt/theme/theme1.xml><?xml version="1.0" encoding="utf-8"?>
<a:theme xmlns:a="http://schemas.openxmlformats.org/drawingml/2006/main" name="BITS_PPT_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bits.thmx</Template>
  <TotalTime>3623</TotalTime>
  <Words>712</Words>
  <Application>Microsoft Office PowerPoint</Application>
  <PresentationFormat>On-screen Show (16:9)</PresentationFormat>
  <Paragraphs>99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Wingdings</vt:lpstr>
      <vt:lpstr>BITS_PPT_template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Anil</dc:creator>
  <cp:lastModifiedBy>Abid AK</cp:lastModifiedBy>
  <cp:revision>248</cp:revision>
  <dcterms:created xsi:type="dcterms:W3CDTF">2015-06-09T08:31:04Z</dcterms:created>
  <dcterms:modified xsi:type="dcterms:W3CDTF">2025-04-17T12:50:00Z</dcterms:modified>
</cp:coreProperties>
</file>