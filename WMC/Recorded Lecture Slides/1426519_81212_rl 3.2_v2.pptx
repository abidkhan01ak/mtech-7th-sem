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6"/>
  </p:notesMasterIdLst>
  <p:handoutMasterIdLst>
    <p:handoutMasterId r:id="rId17"/>
  </p:handoutMasterIdLst>
  <p:sldIdLst>
    <p:sldId id="402" r:id="rId2"/>
    <p:sldId id="403" r:id="rId3"/>
    <p:sldId id="404" r:id="rId4"/>
    <p:sldId id="405" r:id="rId5"/>
    <p:sldId id="406" r:id="rId6"/>
    <p:sldId id="407" r:id="rId7"/>
    <p:sldId id="408" r:id="rId8"/>
    <p:sldId id="409" r:id="rId9"/>
    <p:sldId id="410" r:id="rId10"/>
    <p:sldId id="411" r:id="rId11"/>
    <p:sldId id="412" r:id="rId12"/>
    <p:sldId id="413" r:id="rId13"/>
    <p:sldId id="414" r:id="rId14"/>
    <p:sldId id="391" r:id="rId15"/>
  </p:sldIdLst>
  <p:sldSz cx="9144000" cy="5143500" type="screen16x9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434" autoAdjust="0"/>
  </p:normalViewPr>
  <p:slideViewPr>
    <p:cSldViewPr snapToGrid="0">
      <p:cViewPr varScale="1">
        <p:scale>
          <a:sx n="97" d="100"/>
          <a:sy n="97" d="100"/>
        </p:scale>
        <p:origin x="1027" y="7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Fresnel Zone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Fresnel zones are concentric ellipses  centered on the direct transmission path.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zone surrounding the RF </a:t>
            </a:r>
            <a:r>
              <a:rPr lang="en-US" dirty="0" err="1"/>
              <a:t>LoS</a:t>
            </a:r>
            <a:r>
              <a:rPr lang="en-US" dirty="0"/>
              <a:t> is said to be the Fresnel zone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985" y="1515435"/>
            <a:ext cx="1778893" cy="177889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00230" y="1551976"/>
            <a:ext cx="1778893" cy="1778893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2296741" y="1891427"/>
            <a:ext cx="6199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4631152" y="1884703"/>
            <a:ext cx="6942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166585" y="1711125"/>
            <a:ext cx="1215793" cy="34715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2844047" y="1779390"/>
            <a:ext cx="257279" cy="23314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50333" y="1774853"/>
            <a:ext cx="257279" cy="233145"/>
          </a:xfrm>
          <a:prstGeom prst="rect">
            <a:avLst/>
          </a:prstGeom>
        </p:spPr>
      </p:pic>
      <p:cxnSp>
        <p:nvCxnSpPr>
          <p:cNvPr id="15" name="Straight Arrow Connector 14"/>
          <p:cNvCxnSpPr>
            <a:stCxn id="13" idx="0"/>
          </p:cNvCxnSpPr>
          <p:nvPr/>
        </p:nvCxnSpPr>
        <p:spPr>
          <a:xfrm flipV="1">
            <a:off x="3089259" y="1891425"/>
            <a:ext cx="1373141" cy="453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317230" y="1626741"/>
            <a:ext cx="926180" cy="325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tx1"/>
                </a:solidFill>
              </a:rPr>
              <a:t>Fresnel Zone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13546" y="1403524"/>
            <a:ext cx="1344131" cy="325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Line of Sight (LOS)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7962" y="1989885"/>
            <a:ext cx="1344131" cy="325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Line of Sight 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4034435" y="1921245"/>
            <a:ext cx="347943" cy="1868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391" y="2213315"/>
            <a:ext cx="1125471" cy="112547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268" y="2751128"/>
            <a:ext cx="577751" cy="57775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64" y="2539850"/>
            <a:ext cx="794127" cy="79412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352" y="2759371"/>
            <a:ext cx="577751" cy="57775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741" y="2758212"/>
            <a:ext cx="577751" cy="57775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731" y="2918487"/>
            <a:ext cx="416916" cy="41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1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Fresnel Zone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171" y="1503451"/>
            <a:ext cx="1778893" cy="17788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00027" y="1500604"/>
            <a:ext cx="1818282" cy="1818282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2535927" y="1879443"/>
            <a:ext cx="6199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4870338" y="1872719"/>
            <a:ext cx="6942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05771" y="1699141"/>
            <a:ext cx="1215793" cy="34715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3083233" y="1767406"/>
            <a:ext cx="257279" cy="2331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89519" y="1762869"/>
            <a:ext cx="257279" cy="233145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stCxn id="11" idx="0"/>
          </p:cNvCxnSpPr>
          <p:nvPr/>
        </p:nvCxnSpPr>
        <p:spPr>
          <a:xfrm flipV="1">
            <a:off x="3328445" y="1879441"/>
            <a:ext cx="1373141" cy="453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56416" y="1614757"/>
            <a:ext cx="926180" cy="325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chemeClr val="tx1"/>
                </a:solidFill>
              </a:rPr>
              <a:t>Fresnel Zone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2271" y="1370776"/>
            <a:ext cx="1788876" cy="325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Non Line of Sight (NLOS)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87148" y="1977901"/>
            <a:ext cx="1344131" cy="325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</a:rPr>
              <a:t>Line of Sight 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4273621" y="1909261"/>
            <a:ext cx="347943" cy="1868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577" y="1829033"/>
            <a:ext cx="1125471" cy="149776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454" y="2739144"/>
            <a:ext cx="577751" cy="57775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350" y="2354502"/>
            <a:ext cx="967492" cy="96749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538" y="2747387"/>
            <a:ext cx="577751" cy="577751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927" y="2746228"/>
            <a:ext cx="577751" cy="57775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276" y="2886413"/>
            <a:ext cx="416916" cy="4169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85022" y="4473151"/>
            <a:ext cx="452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Fig: Fresnel Zone obstructed by Obstacle </a:t>
            </a:r>
            <a:endParaRPr lang="en-IN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2126751" y="3421294"/>
            <a:ext cx="10274" cy="441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20656" y="3323979"/>
            <a:ext cx="0" cy="49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987148" y="3323979"/>
            <a:ext cx="0" cy="498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137025" y="3616503"/>
            <a:ext cx="1850123" cy="10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987148" y="3616503"/>
            <a:ext cx="2033508" cy="10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709971" y="3701537"/>
            <a:ext cx="559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d1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4753508" y="3674352"/>
            <a:ext cx="559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485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116004"/>
            <a:ext cx="6537960" cy="582930"/>
          </a:xfrm>
        </p:spPr>
        <p:txBody>
          <a:bodyPr/>
          <a:lstStyle/>
          <a:p>
            <a:r>
              <a:rPr lang="en-IN" dirty="0"/>
              <a:t>Fresnel Zone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09" t="27904" r="63880" b="44378"/>
          <a:stretch/>
        </p:blipFill>
        <p:spPr>
          <a:xfrm>
            <a:off x="425302" y="1690577"/>
            <a:ext cx="4359349" cy="25305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6623" y="1048315"/>
            <a:ext cx="4267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first Fresnel zone is the region where the  transmission energy is the most intense.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obstruction in the Fresnel zone should be as little as 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planning</a:t>
            </a:r>
            <a:r>
              <a:rPr lang="en-IN" dirty="0"/>
              <a:t> a new link try to maintain good clearance between two stations, avoiding obstruct the first Fresnel zone.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At least  55% of the first Fresnel zone should be kept clear so that the loss is not much.</a:t>
            </a:r>
          </a:p>
        </p:txBody>
      </p:sp>
      <p:sp>
        <p:nvSpPr>
          <p:cNvPr id="3" name="Rectangle 2"/>
          <p:cNvSpPr/>
          <p:nvPr/>
        </p:nvSpPr>
        <p:spPr>
          <a:xfrm>
            <a:off x="3466181" y="3611879"/>
            <a:ext cx="1619255" cy="852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15365" y="3611880"/>
            <a:ext cx="1619255" cy="8527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342508" y="3061699"/>
            <a:ext cx="1200792" cy="1263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7709" y="2784418"/>
            <a:ext cx="1818282" cy="181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5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113001"/>
            <a:ext cx="6537960" cy="582930"/>
          </a:xfrm>
        </p:spPr>
        <p:txBody>
          <a:bodyPr/>
          <a:lstStyle/>
          <a:p>
            <a:r>
              <a:rPr lang="en-IN" dirty="0"/>
              <a:t>Fresnel Zone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general equation for calculating the Fresnel zone radius at any point P in between the endpoints of the link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</a:t>
            </a:r>
            <a:r>
              <a:rPr lang="en-US" baseline="-25000" dirty="0"/>
              <a:t>n</a:t>
            </a:r>
            <a:r>
              <a:rPr lang="en-US" dirty="0"/>
              <a:t> = The nth Fresnel Zone radius in </a:t>
            </a:r>
            <a:r>
              <a:rPr lang="en-US" dirty="0" err="1"/>
              <a:t>metres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</a:t>
            </a:r>
            <a:r>
              <a:rPr lang="en-US" baseline="-25000" dirty="0"/>
              <a:t>1</a:t>
            </a:r>
            <a:r>
              <a:rPr lang="en-US" dirty="0"/>
              <a:t> = The distance of P from one end in </a:t>
            </a:r>
            <a:r>
              <a:rPr lang="en-US" dirty="0" err="1"/>
              <a:t>metres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</a:t>
            </a:r>
            <a:r>
              <a:rPr lang="en-US" baseline="-25000" dirty="0"/>
              <a:t>2</a:t>
            </a:r>
            <a:r>
              <a:rPr lang="en-US" dirty="0"/>
              <a:t> = The distance of P from the other end in </a:t>
            </a:r>
            <a:r>
              <a:rPr lang="en-US" dirty="0" err="1"/>
              <a:t>metres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λ</a:t>
            </a:r>
            <a:r>
              <a:rPr lang="en-US" dirty="0"/>
              <a:t>= The wavelength of the transmitted signal in </a:t>
            </a:r>
            <a:r>
              <a:rPr lang="en-US" dirty="0" err="1"/>
              <a:t>metres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4" descr="F_n = \sqrt{\frac{n \lambda d_1 d_2}{d_1 + d_2}} 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9002" y="1671148"/>
            <a:ext cx="1604454" cy="6723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988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Problems</a:t>
            </a:r>
          </a:p>
          <a:p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Frequency of the transmitted signal =900Mhz</a:t>
            </a:r>
          </a:p>
          <a:p>
            <a:pPr marL="0" indent="0">
              <a:buNone/>
            </a:pPr>
            <a:r>
              <a:rPr lang="en-US" dirty="0"/>
              <a:t>Distance from transmitter to point P= 1Km</a:t>
            </a:r>
          </a:p>
          <a:p>
            <a:pPr marL="0" indent="0">
              <a:buNone/>
            </a:pPr>
            <a:r>
              <a:rPr lang="en-US" dirty="0"/>
              <a:t>Distance from receiver to Point P =2 Km</a:t>
            </a:r>
          </a:p>
          <a:p>
            <a:pPr marL="0" indent="0">
              <a:buNone/>
            </a:pPr>
            <a:r>
              <a:rPr lang="en-US" dirty="0"/>
              <a:t>Radius of point P of 3</a:t>
            </a:r>
            <a:r>
              <a:rPr lang="en-US" baseline="30000" dirty="0"/>
              <a:t>rd</a:t>
            </a:r>
            <a:r>
              <a:rPr lang="en-US" dirty="0"/>
              <a:t> Fresnel zone?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Solution:</a:t>
            </a:r>
          </a:p>
          <a:p>
            <a:endParaRPr lang="en-IN" dirty="0"/>
          </a:p>
        </p:txBody>
      </p:sp>
      <p:pic>
        <p:nvPicPr>
          <p:cNvPr id="5" name="Picture 4" descr="F_n = \sqrt{\frac{n \lambda d_1 d_2}{d_1 + d_2}} 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2409" y="3153704"/>
            <a:ext cx="1604454" cy="672343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150706" y="4099389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1.5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20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Knife Edge Diffraction Model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23782" y="1180191"/>
            <a:ext cx="4422242" cy="2702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213828" y="2104746"/>
            <a:ext cx="3581400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Estimating signal attenuation due to knife edge diffraction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81637" y="4654193"/>
            <a:ext cx="1962364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891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Knife Edge Diffraction Model</a:t>
            </a:r>
          </a:p>
          <a:p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 that there’s an obstruction of height h at a distance of </a:t>
            </a:r>
            <a:r>
              <a:rPr lang="en-US" i="1" dirty="0"/>
              <a:t>d1 from the transmitter and d2 from the receiver. The path</a:t>
            </a:r>
          </a:p>
          <a:p>
            <a:pPr marL="0" indent="0">
              <a:buNone/>
            </a:pPr>
            <a:r>
              <a:rPr lang="en-US" dirty="0"/>
              <a:t>Difference between direct path and the diffracted path 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 l="36378" t="35936" r="32051" b="56078"/>
          <a:stretch>
            <a:fillRect/>
          </a:stretch>
        </p:blipFill>
        <p:spPr bwMode="auto">
          <a:xfrm>
            <a:off x="1473693" y="2085513"/>
            <a:ext cx="3270682" cy="59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 l="31571" t="55022" r="26923" b="26732"/>
          <a:stretch>
            <a:fillRect/>
          </a:stretch>
        </p:blipFill>
        <p:spPr bwMode="auto">
          <a:xfrm>
            <a:off x="437266" y="2989647"/>
            <a:ext cx="4690878" cy="1176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91090" y="1856912"/>
            <a:ext cx="3719987" cy="254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5535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sz="quarter" idx="10"/>
          </p:nvPr>
        </p:nvSpPr>
        <p:spPr>
          <a:xfrm>
            <a:off x="272955" y="126298"/>
            <a:ext cx="6537960" cy="58293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Knife Edge Diffraction Model</a:t>
            </a:r>
          </a:p>
          <a:p>
            <a:endParaRPr lang="en-IN" dirty="0"/>
          </a:p>
        </p:txBody>
      </p:sp>
      <p:pic>
        <p:nvPicPr>
          <p:cNvPr id="5" name="Content Placeholder 4"/>
          <p:cNvPicPr>
            <a:picLocks/>
          </p:cNvPicPr>
          <p:nvPr/>
        </p:nvPicPr>
        <p:blipFill>
          <a:blip r:embed="rId2"/>
          <a:srcRect l="18269" t="73789" r="32692" b="8547"/>
          <a:stretch>
            <a:fillRect/>
          </a:stretch>
        </p:blipFill>
        <p:spPr bwMode="auto">
          <a:xfrm>
            <a:off x="272955" y="857729"/>
            <a:ext cx="6195134" cy="1062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72955" y="2019334"/>
            <a:ext cx="82514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dirty="0"/>
              <a:t>Tan </a:t>
            </a:r>
            <a:r>
              <a:rPr lang="el-GR" dirty="0"/>
              <a:t>α</a:t>
            </a:r>
            <a:r>
              <a:rPr lang="en-US" dirty="0"/>
              <a:t> = tan </a:t>
            </a:r>
            <a:r>
              <a:rPr lang="el-GR" dirty="0"/>
              <a:t>β</a:t>
            </a:r>
            <a:r>
              <a:rPr lang="en-US" dirty="0"/>
              <a:t> + tan </a:t>
            </a:r>
            <a:r>
              <a:rPr lang="el-GR" dirty="0"/>
              <a:t>γ</a:t>
            </a:r>
            <a:endParaRPr lang="en-US" dirty="0"/>
          </a:p>
          <a:p>
            <a:r>
              <a:rPr lang="en-US" dirty="0"/>
              <a:t>Tan </a:t>
            </a:r>
            <a:r>
              <a:rPr lang="el-GR" dirty="0"/>
              <a:t>α</a:t>
            </a:r>
            <a:r>
              <a:rPr lang="en-US" dirty="0"/>
              <a:t> ≈ </a:t>
            </a:r>
            <a:r>
              <a:rPr lang="el-GR" dirty="0"/>
              <a:t>α</a:t>
            </a:r>
            <a:endParaRPr lang="en-US" dirty="0"/>
          </a:p>
          <a:p>
            <a:r>
              <a:rPr lang="el-GR" dirty="0"/>
              <a:t>α </a:t>
            </a:r>
            <a:r>
              <a:rPr lang="en-US" dirty="0"/>
              <a:t>= </a:t>
            </a:r>
            <a:r>
              <a:rPr lang="pt-BR" i="1" dirty="0"/>
              <a:t>h/d1 + h/d2 = h(d1 + d2)/d1d2.</a:t>
            </a:r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3"/>
          <a:srcRect l="36218" t="72365" r="32532" b="18233"/>
          <a:stretch>
            <a:fillRect/>
          </a:stretch>
        </p:blipFill>
        <p:spPr bwMode="auto">
          <a:xfrm>
            <a:off x="0" y="4350870"/>
            <a:ext cx="5189738" cy="648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143523" y="3957346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 is the </a:t>
            </a:r>
            <a:r>
              <a:rPr lang="en-US" dirty="0" err="1"/>
              <a:t>fresnel</a:t>
            </a:r>
            <a:r>
              <a:rPr lang="en-US" dirty="0"/>
              <a:t> diffraction parameter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98667" y="1944256"/>
            <a:ext cx="4332303" cy="2390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5797119" y="4305705"/>
            <a:ext cx="1139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dirty="0"/>
              <a:t>φ</a:t>
            </a:r>
            <a:r>
              <a:rPr lang="en-US" dirty="0"/>
              <a:t>= </a:t>
            </a:r>
            <a:r>
              <a:rPr lang="el-GR" dirty="0"/>
              <a:t>π</a:t>
            </a:r>
            <a:r>
              <a:rPr lang="en-US" dirty="0"/>
              <a:t>v</a:t>
            </a:r>
            <a:r>
              <a:rPr lang="en-US" baseline="30000" dirty="0"/>
              <a:t>2</a:t>
            </a:r>
            <a:r>
              <a:rPr lang="en-US" dirty="0"/>
              <a:t>/2</a:t>
            </a:r>
          </a:p>
        </p:txBody>
      </p:sp>
    </p:spTree>
    <p:extLst>
      <p:ext uri="{BB962C8B-B14F-4D97-AF65-F5344CB8AC3E}">
        <p14:creationId xmlns:p14="http://schemas.microsoft.com/office/powerpoint/2010/main" val="3831862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rcRect l="28365" t="36467" r="30449" b="23932"/>
          <a:stretch>
            <a:fillRect/>
          </a:stretch>
        </p:blipFill>
        <p:spPr bwMode="auto">
          <a:xfrm>
            <a:off x="355972" y="1074198"/>
            <a:ext cx="6427432" cy="3497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Knife Edge Diffraction Model</a:t>
            </a:r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181637" y="4654193"/>
            <a:ext cx="1962364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469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Multiple knife-edge diffraction</a:t>
            </a:r>
            <a:endParaRPr lang="en-US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+mj-lt"/>
              </a:rPr>
              <a:t>Multiple Knife-edge diffraction : For the presence of two knife edges, replace it by an equivalent knife edge.</a:t>
            </a:r>
          </a:p>
          <a:p>
            <a:endParaRPr lang="en-US" dirty="0"/>
          </a:p>
        </p:txBody>
      </p:sp>
      <p:pic>
        <p:nvPicPr>
          <p:cNvPr id="6" name="Picture 6" descr="F4_15"/>
          <p:cNvPicPr>
            <a:picLocks noChangeAspect="1" noChangeArrowheads="1"/>
          </p:cNvPicPr>
          <p:nvPr/>
        </p:nvPicPr>
        <p:blipFill rotWithShape="1">
          <a:blip r:embed="rId2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0"/>
          <a:stretch/>
        </p:blipFill>
        <p:spPr bwMode="auto">
          <a:xfrm>
            <a:off x="245444" y="1794692"/>
            <a:ext cx="6081204" cy="2165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7181637" y="4654193"/>
            <a:ext cx="1962364" cy="458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Courtesy to Theodore S. Rappaport       </a:t>
            </a:r>
            <a:endParaRPr lang="en-IN" sz="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©2002, 1996 Prentice Hall PTR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848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</a:t>
            </a:r>
          </a:p>
          <a:p>
            <a:endParaRPr lang="en-IN" dirty="0"/>
          </a:p>
        </p:txBody>
      </p:sp>
      <p:sp>
        <p:nvSpPr>
          <p:cNvPr id="4" name="Content Placeholder 1"/>
          <p:cNvSpPr txBox="1">
            <a:spLocks/>
          </p:cNvSpPr>
          <p:nvPr/>
        </p:nvSpPr>
        <p:spPr bwMode="auto">
          <a:xfrm>
            <a:off x="171635" y="82801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 b="1" kern="120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Compute the diffraction parameter for h=25m. Assume wavelength as 1/3m, d1= 2 km, d2=2km. Identify the </a:t>
            </a:r>
            <a:r>
              <a:rPr lang="en-US" dirty="0" err="1"/>
              <a:t>fresnel</a:t>
            </a:r>
            <a:r>
              <a:rPr lang="en-US" dirty="0"/>
              <a:t> zone within which the tip of the obstruction lies.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Solution: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	      </a:t>
            </a:r>
          </a:p>
          <a:p>
            <a:pPr marL="0" indent="0">
              <a:buNone/>
            </a:pPr>
            <a:r>
              <a:rPr lang="en-US" dirty="0"/>
              <a:t>                             </a:t>
            </a:r>
            <a:r>
              <a:rPr lang="el-GR" dirty="0"/>
              <a:t>Δ</a:t>
            </a:r>
            <a:r>
              <a:rPr lang="en-US" dirty="0"/>
              <a:t>=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</a:p>
          <a:p>
            <a:pPr marL="0" indent="0">
              <a:buNone/>
            </a:pPr>
            <a:r>
              <a:rPr lang="en-US" dirty="0"/>
              <a:t> 		</a:t>
            </a:r>
            <a:r>
              <a:rPr lang="el-GR" sz="1600" dirty="0"/>
              <a:t>Δ</a:t>
            </a:r>
            <a:r>
              <a:rPr lang="en-US" sz="1600" dirty="0"/>
              <a:t>= n</a:t>
            </a:r>
            <a:r>
              <a:rPr lang="el-GR" sz="1600" dirty="0"/>
              <a:t>λ</a:t>
            </a:r>
            <a:r>
              <a:rPr lang="en-US" sz="1600" dirty="0"/>
              <a:t>/2. Therefore n= 2</a:t>
            </a:r>
            <a:r>
              <a:rPr lang="el-GR" sz="1600" dirty="0"/>
              <a:t> Δ </a:t>
            </a:r>
            <a:r>
              <a:rPr lang="en-US" sz="1600" dirty="0"/>
              <a:t>/</a:t>
            </a:r>
            <a:r>
              <a:rPr lang="el-GR" sz="1600" dirty="0"/>
              <a:t> λ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dirty="0"/>
              <a:t>		       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rcRect l="36218" t="72365" r="48492" b="18233"/>
          <a:stretch>
            <a:fillRect/>
          </a:stretch>
        </p:blipFill>
        <p:spPr bwMode="auto">
          <a:xfrm>
            <a:off x="1660516" y="2073205"/>
            <a:ext cx="2339961" cy="898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 l="54817" t="65000" r="26923" b="26732"/>
          <a:stretch>
            <a:fillRect/>
          </a:stretch>
        </p:blipFill>
        <p:spPr bwMode="auto">
          <a:xfrm>
            <a:off x="2290439" y="2971516"/>
            <a:ext cx="2254928" cy="64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29691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9" y="754380"/>
            <a:ext cx="8938517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Frequency of signal =1000Mhz, </a:t>
            </a:r>
            <a:r>
              <a:rPr lang="en-US" dirty="0" err="1"/>
              <a:t>ht</a:t>
            </a:r>
            <a:r>
              <a:rPr lang="en-US" dirty="0"/>
              <a:t> = 50m, </a:t>
            </a:r>
            <a:r>
              <a:rPr lang="en-US" dirty="0" err="1"/>
              <a:t>hr</a:t>
            </a:r>
            <a:r>
              <a:rPr lang="en-US" dirty="0"/>
              <a:t>= 25m, Knife edge= 125 m</a:t>
            </a:r>
          </a:p>
          <a:p>
            <a:pPr marL="0" indent="0">
              <a:buNone/>
            </a:pPr>
            <a:r>
              <a:rPr lang="en-US" dirty="0"/>
              <a:t>Distance from transmitter to obstacle= 15km, Distance from receiver to obstacle = 2Km</a:t>
            </a:r>
          </a:p>
          <a:p>
            <a:pPr marL="0" indent="0">
              <a:buNone/>
            </a:pPr>
            <a:r>
              <a:rPr lang="en-US" dirty="0"/>
              <a:t>Loss due to diffraction parameter </a:t>
            </a:r>
          </a:p>
          <a:p>
            <a:pPr marL="0" indent="0">
              <a:buNone/>
            </a:pPr>
            <a:r>
              <a:rPr lang="en-US" dirty="0"/>
              <a:t>Solution: </a:t>
            </a:r>
          </a:p>
          <a:p>
            <a:pPr marL="514350" indent="-514350">
              <a:buAutoNum type="romanLcParenR"/>
            </a:pPr>
            <a:r>
              <a:rPr lang="en-US" dirty="0"/>
              <a:t>Find wavelength from frequency given.</a:t>
            </a:r>
          </a:p>
          <a:p>
            <a:pPr marL="514350" indent="-514350">
              <a:buAutoNum type="romanLcParenR"/>
            </a:pPr>
            <a:r>
              <a:rPr lang="en-US" dirty="0"/>
              <a:t>Redraw the geometry. </a:t>
            </a:r>
          </a:p>
          <a:p>
            <a:pPr marL="0" indent="0">
              <a:buNone/>
            </a:pPr>
            <a:r>
              <a:rPr lang="en-US" dirty="0"/>
              <a:t>Find </a:t>
            </a:r>
            <a:r>
              <a:rPr lang="el-GR" dirty="0"/>
              <a:t>β</a:t>
            </a:r>
            <a:r>
              <a:rPr lang="en-US" dirty="0"/>
              <a:t> and </a:t>
            </a:r>
            <a:r>
              <a:rPr lang="el-GR" dirty="0"/>
              <a:t>γ</a:t>
            </a:r>
            <a:r>
              <a:rPr lang="en-US" dirty="0"/>
              <a:t> values . </a:t>
            </a:r>
            <a:r>
              <a:rPr lang="el-GR" dirty="0"/>
              <a:t>α</a:t>
            </a:r>
            <a:r>
              <a:rPr lang="en-US" dirty="0"/>
              <a:t> =</a:t>
            </a:r>
            <a:r>
              <a:rPr lang="el-GR" dirty="0"/>
              <a:t>β</a:t>
            </a:r>
            <a:r>
              <a:rPr lang="en-US" dirty="0"/>
              <a:t> + </a:t>
            </a:r>
            <a:r>
              <a:rPr lang="el-GR" dirty="0"/>
              <a:t>γ</a:t>
            </a:r>
            <a:r>
              <a:rPr lang="en-US" dirty="0"/>
              <a:t> in radians.</a:t>
            </a:r>
          </a:p>
          <a:p>
            <a:pPr marL="0" indent="0">
              <a:buNone/>
            </a:pPr>
            <a:r>
              <a:rPr lang="el-GR" dirty="0"/>
              <a:t>β</a:t>
            </a:r>
            <a:r>
              <a:rPr lang="en-US" dirty="0"/>
              <a:t> = tan</a:t>
            </a:r>
            <a:r>
              <a:rPr lang="en-US" baseline="30000" dirty="0"/>
              <a:t>-1</a:t>
            </a:r>
            <a:r>
              <a:rPr lang="en-US" dirty="0"/>
              <a:t>((100-25)/15000) </a:t>
            </a:r>
          </a:p>
          <a:p>
            <a:pPr marL="0" indent="0">
              <a:buNone/>
            </a:pPr>
            <a:r>
              <a:rPr lang="el-GR" dirty="0"/>
              <a:t>γ</a:t>
            </a:r>
            <a:r>
              <a:rPr lang="en-US" dirty="0"/>
              <a:t>= tan</a:t>
            </a:r>
            <a:r>
              <a:rPr lang="en-US" baseline="30000" dirty="0"/>
              <a:t>-1 </a:t>
            </a:r>
            <a:r>
              <a:rPr lang="en-US" dirty="0"/>
              <a:t>(75/2000)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383871" y="4869180"/>
            <a:ext cx="3657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383871" y="3573780"/>
            <a:ext cx="0" cy="129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212671" y="2583180"/>
            <a:ext cx="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3383871" y="1838604"/>
            <a:ext cx="3200400" cy="17351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212671" y="2583180"/>
            <a:ext cx="1828800" cy="228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383870" y="3506624"/>
            <a:ext cx="2590802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94902" y="3383281"/>
            <a:ext cx="761999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2850471" y="4030980"/>
            <a:ext cx="761999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25m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638400" y="4678680"/>
            <a:ext cx="761999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R</a:t>
            </a:r>
            <a:endParaRPr lang="en-IN" dirty="0"/>
          </a:p>
        </p:txBody>
      </p:sp>
      <p:sp>
        <p:nvSpPr>
          <p:cNvPr id="13" name="TextBox 12"/>
          <p:cNvSpPr txBox="1"/>
          <p:nvPr/>
        </p:nvSpPr>
        <p:spPr>
          <a:xfrm>
            <a:off x="4449193" y="3019704"/>
            <a:ext cx="761999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13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equation of V to find the diffraction parameter.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With the value of V, find the diffraction loss.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 l="36218" t="72365" r="32532" b="18233"/>
          <a:stretch>
            <a:fillRect/>
          </a:stretch>
        </p:blipFill>
        <p:spPr bwMode="auto">
          <a:xfrm>
            <a:off x="488272" y="1227338"/>
            <a:ext cx="4974488" cy="663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7580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Fresnel zones are concentric ellipses  centered on the direct transmission path.</a:t>
            </a:r>
          </a:p>
          <a:p>
            <a:r>
              <a:rPr lang="en-US" dirty="0"/>
              <a:t>Estimating the signal attenuation in case of knife edge diffraction. </a:t>
            </a:r>
          </a:p>
          <a:p>
            <a:r>
              <a:rPr lang="en-US" dirty="0"/>
              <a:t>In Hilly area, propagation path may have multiple obstacles. The total diffraction loss is due to all the obstacles. </a:t>
            </a:r>
            <a:r>
              <a:rPr lang="en-US" dirty="0" err="1"/>
              <a:t>Bullington</a:t>
            </a:r>
            <a:r>
              <a:rPr lang="en-US" dirty="0"/>
              <a:t> suggested a single equivalent obstacle to compute the same.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3797</TotalTime>
  <Words>624</Words>
  <Application>Microsoft Office PowerPoint</Application>
  <PresentationFormat>On-screen Show (16:9)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285</cp:revision>
  <dcterms:created xsi:type="dcterms:W3CDTF">2015-06-09T08:31:04Z</dcterms:created>
  <dcterms:modified xsi:type="dcterms:W3CDTF">2025-04-17T13:03:24Z</dcterms:modified>
</cp:coreProperties>
</file>