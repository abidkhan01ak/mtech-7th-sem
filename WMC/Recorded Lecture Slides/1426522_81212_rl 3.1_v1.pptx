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5" r:id="rId1"/>
  </p:sldMasterIdLst>
  <p:notesMasterIdLst>
    <p:notesMasterId r:id="rId10"/>
  </p:notesMasterIdLst>
  <p:handoutMasterIdLst>
    <p:handoutMasterId r:id="rId11"/>
  </p:handoutMasterIdLst>
  <p:sldIdLst>
    <p:sldId id="393" r:id="rId2"/>
    <p:sldId id="399" r:id="rId3"/>
    <p:sldId id="394" r:id="rId4"/>
    <p:sldId id="395" r:id="rId5"/>
    <p:sldId id="396" r:id="rId6"/>
    <p:sldId id="397" r:id="rId7"/>
    <p:sldId id="398" r:id="rId8"/>
    <p:sldId id="391" r:id="rId9"/>
  </p:sldIdLst>
  <p:sldSz cx="9144000" cy="5143500" type="screen16x9"/>
  <p:notesSz cx="6858000" cy="9144000"/>
  <p:custDataLst>
    <p:tags r:id="rId12"/>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guide id="3" orient="horz" pos="162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956" autoAdjust="0"/>
    <p:restoredTop sz="94434" autoAdjust="0"/>
  </p:normalViewPr>
  <p:slideViewPr>
    <p:cSldViewPr snapToGrid="0">
      <p:cViewPr varScale="1">
        <p:scale>
          <a:sx n="97" d="100"/>
          <a:sy n="97" d="100"/>
        </p:scale>
        <p:origin x="1027" y="72"/>
      </p:cViewPr>
      <p:guideLst>
        <p:guide orient="horz" pos="2160"/>
        <p:guide pos="2880"/>
        <p:guide orient="horz" pos="1620"/>
      </p:guideLst>
    </p:cSldViewPr>
  </p:slideViewPr>
  <p:outlineViewPr>
    <p:cViewPr>
      <p:scale>
        <a:sx n="33" d="100"/>
        <a:sy n="33" d="100"/>
      </p:scale>
      <p:origin x="0" y="0"/>
    </p:cViewPr>
  </p:outlineViewPr>
  <p:notesTextViewPr>
    <p:cViewPr>
      <p:scale>
        <a:sx n="1" d="1"/>
        <a:sy n="1" d="1"/>
      </p:scale>
      <p:origin x="0" y="0"/>
    </p:cViewPr>
  </p:notesTextViewPr>
  <p:sorterViewPr>
    <p:cViewPr>
      <p:scale>
        <a:sx n="66" d="100"/>
        <a:sy n="66" d="100"/>
      </p:scale>
      <p:origin x="0" y="0"/>
    </p:cViewPr>
  </p:sorterViewPr>
  <p:notesViewPr>
    <p:cSldViewPr snapToGrid="0">
      <p:cViewPr varScale="1">
        <p:scale>
          <a:sx n="55" d="100"/>
          <a:sy n="55" d="100"/>
        </p:scale>
        <p:origin x="-2844" y="-102"/>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gs" Target="tags/tag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handoutMaster" Target="handoutMasters/handoutMaster1.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D3394F4B-DBDD-4BF7-B613-78EDB047F2F9}" type="datetimeFigureOut">
              <a:rPr lang="en-US" smtClean="0"/>
              <a:pPr/>
              <a:t>4/17/2025</a:t>
            </a:fld>
            <a:endParaRPr lang="en-US"/>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201AD7E-7F9D-4576-9772-0B1B702F1F55}" type="slidenum">
              <a:rPr lang="en-US" smtClean="0"/>
              <a:pPr/>
              <a:t>‹#›</a:t>
            </a:fld>
            <a:endParaRPr lang="en-US"/>
          </a:p>
        </p:txBody>
      </p:sp>
    </p:spTree>
    <p:extLst>
      <p:ext uri="{BB962C8B-B14F-4D97-AF65-F5344CB8AC3E}">
        <p14:creationId xmlns:p14="http://schemas.microsoft.com/office/powerpoint/2010/main" val="1635507823"/>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F42289B-64AB-40F4-866F-7386DC470D15}" type="datetimeFigureOut">
              <a:rPr lang="en-US" smtClean="0"/>
              <a:pPr/>
              <a:t>4/17/2025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E38DE6F-CB63-4507-A312-B89798DB40FF}" type="slidenum">
              <a:rPr lang="en-US" smtClean="0"/>
              <a:pPr/>
              <a:t>‹#›</a:t>
            </a:fld>
            <a:endParaRPr lang="en-US"/>
          </a:p>
        </p:txBody>
      </p:sp>
    </p:spTree>
    <p:extLst>
      <p:ext uri="{BB962C8B-B14F-4D97-AF65-F5344CB8AC3E}">
        <p14:creationId xmlns:p14="http://schemas.microsoft.com/office/powerpoint/2010/main" val="2062568214"/>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EE38DE6F-CB63-4507-A312-B89798DB40FF}" type="slidenum">
              <a:rPr lang="en-US" smtClean="0"/>
              <a:pPr/>
              <a:t>6</a:t>
            </a:fld>
            <a:endParaRPr lang="en-US"/>
          </a:p>
        </p:txBody>
      </p:sp>
    </p:spTree>
    <p:extLst>
      <p:ext uri="{BB962C8B-B14F-4D97-AF65-F5344CB8AC3E}">
        <p14:creationId xmlns:p14="http://schemas.microsoft.com/office/powerpoint/2010/main" val="84761937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3" name="Content Placeholder 16"/>
          <p:cNvSpPr>
            <a:spLocks noGrp="1"/>
          </p:cNvSpPr>
          <p:nvPr>
            <p:ph sz="quarter" idx="10" hasCustomPrompt="1"/>
          </p:nvPr>
        </p:nvSpPr>
        <p:spPr>
          <a:xfrm>
            <a:off x="245444" y="116706"/>
            <a:ext cx="6537960" cy="582930"/>
          </a:xfrm>
          <a:prstGeom prst="rect">
            <a:avLst/>
          </a:prstGeom>
        </p:spPr>
        <p:txBody>
          <a:bodyPr lIns="0" tIns="0" rIns="0" bIns="0" anchor="ctr">
            <a:noAutofit/>
          </a:bodyPr>
          <a:lstStyle>
            <a:lvl1pPr marL="0" indent="0" algn="l">
              <a:lnSpc>
                <a:spcPct val="100000"/>
              </a:lnSpc>
              <a:spcBef>
                <a:spcPts val="0"/>
              </a:spcBef>
              <a:buNone/>
              <a:defRPr sz="2200" b="1" spc="225" baseline="0">
                <a:solidFill>
                  <a:srgbClr val="FF0000"/>
                </a:solidFill>
                <a:effectLst/>
                <a:latin typeface="Arial" pitchFamily="34" charset="0"/>
                <a:cs typeface="Arial" pitchFamily="34" charset="0"/>
              </a:defRPr>
            </a:lvl1pPr>
          </a:lstStyle>
          <a:p>
            <a:pPr lvl="0"/>
            <a:r>
              <a:rPr lang="en-US" dirty="0"/>
              <a:t>Topic name here</a:t>
            </a:r>
          </a:p>
        </p:txBody>
      </p:sp>
      <p:sp>
        <p:nvSpPr>
          <p:cNvPr id="4" name="Content Placeholder 2"/>
          <p:cNvSpPr>
            <a:spLocks noGrp="1"/>
          </p:cNvSpPr>
          <p:nvPr>
            <p:ph idx="1"/>
          </p:nvPr>
        </p:nvSpPr>
        <p:spPr>
          <a:xfrm>
            <a:off x="274320" y="754380"/>
            <a:ext cx="8503920" cy="4114800"/>
          </a:xfrm>
          <a:prstGeom prst="rect">
            <a:avLst/>
          </a:prstGeom>
        </p:spPr>
        <p:txBody>
          <a:bodyPr lIns="0" rIns="0"/>
          <a:lstStyle>
            <a:lvl1pPr marL="255985" marR="0" indent="-255985" algn="just" defTabSz="685800" rtl="0" eaLnBrk="1" fontAlgn="auto" latinLnBrk="0" hangingPunct="1">
              <a:lnSpc>
                <a:spcPct val="100000"/>
              </a:lnSpc>
              <a:spcBef>
                <a:spcPts val="450"/>
              </a:spcBef>
              <a:spcAft>
                <a:spcPts val="0"/>
              </a:spcAft>
              <a:buClr>
                <a:srgbClr val="FF0000"/>
              </a:buClr>
              <a:buSzTx/>
              <a:buFont typeface="Arial" pitchFamily="34" charset="0"/>
              <a:buChar char="•"/>
              <a:tabLst/>
              <a:defRPr sz="1800">
                <a:latin typeface="Arial" pitchFamily="34" charset="0"/>
                <a:cs typeface="Arial" pitchFamily="34" charset="0"/>
              </a:defRPr>
            </a:lvl1pPr>
            <a:lvl2pPr marL="557213" marR="0" indent="-214313" algn="l" defTabSz="685800" rtl="0" eaLnBrk="1" fontAlgn="auto" latinLnBrk="0" hangingPunct="1">
              <a:lnSpc>
                <a:spcPct val="100000"/>
              </a:lnSpc>
              <a:spcBef>
                <a:spcPct val="20000"/>
              </a:spcBef>
              <a:spcAft>
                <a:spcPts val="0"/>
              </a:spcAft>
              <a:buClrTx/>
              <a:buSzTx/>
              <a:buFont typeface="Arial" pitchFamily="34" charset="0"/>
              <a:buChar char="–"/>
              <a:tabLst/>
              <a:defRPr sz="1200">
                <a:latin typeface="Arial" pitchFamily="34" charset="0"/>
                <a:cs typeface="Arial" pitchFamily="34" charset="0"/>
              </a:defRPr>
            </a:lvl2pPr>
          </a:lstStyle>
          <a:p>
            <a:pPr lvl="0"/>
            <a:r>
              <a:rPr lang="en-US" dirty="0"/>
              <a:t>Click to edit Master text styles</a:t>
            </a:r>
          </a:p>
        </p:txBody>
      </p:sp>
      <p:grpSp>
        <p:nvGrpSpPr>
          <p:cNvPr id="5" name="Group 4"/>
          <p:cNvGrpSpPr/>
          <p:nvPr userDrawn="1"/>
        </p:nvGrpSpPr>
        <p:grpSpPr>
          <a:xfrm>
            <a:off x="0" y="685801"/>
            <a:ext cx="7010400" cy="34289"/>
            <a:chOff x="1905000" y="6553200"/>
            <a:chExt cx="7010400" cy="45719"/>
          </a:xfrm>
        </p:grpSpPr>
        <p:sp>
          <p:nvSpPr>
            <p:cNvPr id="6" name="Rectangle 5"/>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eaLnBrk="0" fontAlgn="base" hangingPunct="0">
                <a:spcBef>
                  <a:spcPct val="0"/>
                </a:spcBef>
                <a:spcAft>
                  <a:spcPct val="0"/>
                </a:spcAft>
              </a:pPr>
              <a:endParaRPr lang="en-US" sz="1800" dirty="0">
                <a:solidFill>
                  <a:srgbClr val="FFFFFF"/>
                </a:solidFill>
              </a:endParaRPr>
            </a:p>
          </p:txBody>
        </p:sp>
        <p:sp>
          <p:nvSpPr>
            <p:cNvPr id="7" name="Rectangle 6"/>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eaLnBrk="0" fontAlgn="base" hangingPunct="0">
                <a:spcBef>
                  <a:spcPct val="0"/>
                </a:spcBef>
                <a:spcAft>
                  <a:spcPct val="0"/>
                </a:spcAft>
              </a:pPr>
              <a:endParaRPr lang="en-US" sz="1800" dirty="0">
                <a:solidFill>
                  <a:srgbClr val="FFFFFF"/>
                </a:solidFill>
              </a:endParaRPr>
            </a:p>
          </p:txBody>
        </p:sp>
        <p:sp>
          <p:nvSpPr>
            <p:cNvPr id="8" name="Rectangle 7"/>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eaLnBrk="0" fontAlgn="base" hangingPunct="0">
                <a:spcBef>
                  <a:spcPct val="0"/>
                </a:spcBef>
                <a:spcAft>
                  <a:spcPct val="0"/>
                </a:spcAft>
              </a:pPr>
              <a:endParaRPr lang="en-US" sz="1800" dirty="0">
                <a:solidFill>
                  <a:srgbClr val="FFFFFF"/>
                </a:solidFill>
              </a:endParaRPr>
            </a:p>
          </p:txBody>
        </p:sp>
      </p:gr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_Custom Layout">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7" name="Text Placeholder 2"/>
          <p:cNvSpPr>
            <a:spLocks noGrp="1"/>
          </p:cNvSpPr>
          <p:nvPr>
            <p:ph type="body" idx="1"/>
          </p:nvPr>
        </p:nvSpPr>
        <p:spPr bwMode="auto">
          <a:xfrm>
            <a:off x="457200" y="1200152"/>
            <a:ext cx="8229600" cy="339447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dirty="0"/>
              <a:t>Click to edit Master text styles</a:t>
            </a:r>
          </a:p>
          <a:p>
            <a:pPr lvl="1"/>
            <a:r>
              <a:rPr lang="en-US" altLang="en-US" dirty="0"/>
              <a:t>Second level</a:t>
            </a:r>
          </a:p>
          <a:p>
            <a:pPr lvl="2"/>
            <a:r>
              <a:rPr lang="en-US" altLang="en-US" dirty="0"/>
              <a:t>Third level</a:t>
            </a:r>
          </a:p>
          <a:p>
            <a:pPr lvl="3"/>
            <a:r>
              <a:rPr lang="en-US" altLang="en-US" dirty="0"/>
              <a:t>Fourth level</a:t>
            </a:r>
          </a:p>
          <a:p>
            <a:pPr lvl="4"/>
            <a:r>
              <a:rPr lang="en-US" altLang="en-US" dirty="0"/>
              <a:t>Fifth level</a:t>
            </a:r>
          </a:p>
        </p:txBody>
      </p:sp>
      <p:sp>
        <p:nvSpPr>
          <p:cNvPr id="2" name="Title Placeholder 1"/>
          <p:cNvSpPr>
            <a:spLocks noGrp="1"/>
          </p:cNvSpPr>
          <p:nvPr>
            <p:ph type="title"/>
          </p:nvPr>
        </p:nvSpPr>
        <p:spPr>
          <a:xfrm>
            <a:off x="628650" y="274638"/>
            <a:ext cx="7886700" cy="993775"/>
          </a:xfrm>
          <a:prstGeom prst="rect">
            <a:avLst/>
          </a:prstGeom>
        </p:spPr>
        <p:txBody>
          <a:bodyPr vert="horz" lIns="91440" tIns="45720" rIns="91440" bIns="45720" rtlCol="0" anchor="ctr">
            <a:normAutofit/>
          </a:bodyPr>
          <a:lstStyle/>
          <a:p>
            <a:r>
              <a:rPr lang="en-US" dirty="0"/>
              <a:t>Click to edit Master title style</a:t>
            </a:r>
            <a:endParaRPr lang="en-IN" dirty="0"/>
          </a:p>
        </p:txBody>
      </p:sp>
    </p:spTree>
    <p:extLst>
      <p:ext uri="{BB962C8B-B14F-4D97-AF65-F5344CB8AC3E}">
        <p14:creationId xmlns:p14="http://schemas.microsoft.com/office/powerpoint/2010/main" val="3118195196"/>
      </p:ext>
    </p:extLst>
  </p:cSld>
  <p:clrMap bg1="lt1" tx1="dk1" bg2="lt2" tx2="dk2" accent1="accent1" accent2="accent2" accent3="accent3" accent4="accent4" accent5="accent5" accent6="accent6" hlink="hlink" folHlink="folHlink"/>
  <p:sldLayoutIdLst>
    <p:sldLayoutId id="2147483682" r:id="rId1"/>
    <p:sldLayoutId id="2147483683" r:id="rId2"/>
  </p:sldLayoutIdLst>
  <p:hf hdr="0" dt="0"/>
  <p:txStyles>
    <p:titleStyle>
      <a:lvl1pPr algn="ctr" rtl="0" eaLnBrk="1" fontAlgn="base" hangingPunct="1">
        <a:spcBef>
          <a:spcPct val="0"/>
        </a:spcBef>
        <a:spcAft>
          <a:spcPct val="0"/>
        </a:spcAft>
        <a:defRPr sz="3300" kern="1200">
          <a:solidFill>
            <a:schemeClr val="tx1"/>
          </a:solidFill>
          <a:latin typeface="Arial" pitchFamily="34" charset="0"/>
          <a:ea typeface="+mj-ea"/>
          <a:cs typeface="Arial" pitchFamily="34" charset="0"/>
        </a:defRPr>
      </a:lvl1pPr>
      <a:lvl2pPr algn="ctr" rtl="0" eaLnBrk="1" fontAlgn="base" hangingPunct="1">
        <a:spcBef>
          <a:spcPct val="0"/>
        </a:spcBef>
        <a:spcAft>
          <a:spcPct val="0"/>
        </a:spcAft>
        <a:defRPr sz="3300">
          <a:solidFill>
            <a:schemeClr val="tx1"/>
          </a:solidFill>
          <a:latin typeface="Calibri" pitchFamily="34" charset="0"/>
        </a:defRPr>
      </a:lvl2pPr>
      <a:lvl3pPr algn="ctr" rtl="0" eaLnBrk="1" fontAlgn="base" hangingPunct="1">
        <a:spcBef>
          <a:spcPct val="0"/>
        </a:spcBef>
        <a:spcAft>
          <a:spcPct val="0"/>
        </a:spcAft>
        <a:defRPr sz="3300">
          <a:solidFill>
            <a:schemeClr val="tx1"/>
          </a:solidFill>
          <a:latin typeface="Calibri" pitchFamily="34" charset="0"/>
        </a:defRPr>
      </a:lvl3pPr>
      <a:lvl4pPr algn="ctr" rtl="0" eaLnBrk="1" fontAlgn="base" hangingPunct="1">
        <a:spcBef>
          <a:spcPct val="0"/>
        </a:spcBef>
        <a:spcAft>
          <a:spcPct val="0"/>
        </a:spcAft>
        <a:defRPr sz="3300">
          <a:solidFill>
            <a:schemeClr val="tx1"/>
          </a:solidFill>
          <a:latin typeface="Calibri" pitchFamily="34" charset="0"/>
        </a:defRPr>
      </a:lvl4pPr>
      <a:lvl5pPr algn="ctr" rtl="0" eaLnBrk="1" fontAlgn="base" hangingPunct="1">
        <a:spcBef>
          <a:spcPct val="0"/>
        </a:spcBef>
        <a:spcAft>
          <a:spcPct val="0"/>
        </a:spcAft>
        <a:defRPr sz="3300">
          <a:solidFill>
            <a:schemeClr val="tx1"/>
          </a:solidFill>
          <a:latin typeface="Calibri" pitchFamily="34" charset="0"/>
        </a:defRPr>
      </a:lvl5pPr>
      <a:lvl6pPr marL="342900" algn="ctr" rtl="0" eaLnBrk="1" fontAlgn="base" hangingPunct="1">
        <a:spcBef>
          <a:spcPct val="0"/>
        </a:spcBef>
        <a:spcAft>
          <a:spcPct val="0"/>
        </a:spcAft>
        <a:defRPr sz="3300">
          <a:solidFill>
            <a:schemeClr val="tx1"/>
          </a:solidFill>
          <a:latin typeface="Calibri" pitchFamily="34" charset="0"/>
        </a:defRPr>
      </a:lvl6pPr>
      <a:lvl7pPr marL="685800" algn="ctr" rtl="0" eaLnBrk="1" fontAlgn="base" hangingPunct="1">
        <a:spcBef>
          <a:spcPct val="0"/>
        </a:spcBef>
        <a:spcAft>
          <a:spcPct val="0"/>
        </a:spcAft>
        <a:defRPr sz="3300">
          <a:solidFill>
            <a:schemeClr val="tx1"/>
          </a:solidFill>
          <a:latin typeface="Calibri" pitchFamily="34" charset="0"/>
        </a:defRPr>
      </a:lvl7pPr>
      <a:lvl8pPr marL="1028700" algn="ctr" rtl="0" eaLnBrk="1" fontAlgn="base" hangingPunct="1">
        <a:spcBef>
          <a:spcPct val="0"/>
        </a:spcBef>
        <a:spcAft>
          <a:spcPct val="0"/>
        </a:spcAft>
        <a:defRPr sz="3300">
          <a:solidFill>
            <a:schemeClr val="tx1"/>
          </a:solidFill>
          <a:latin typeface="Calibri" pitchFamily="34" charset="0"/>
        </a:defRPr>
      </a:lvl8pPr>
      <a:lvl9pPr marL="1371600" algn="ctr" rtl="0" eaLnBrk="1" fontAlgn="base" hangingPunct="1">
        <a:spcBef>
          <a:spcPct val="0"/>
        </a:spcBef>
        <a:spcAft>
          <a:spcPct val="0"/>
        </a:spcAft>
        <a:defRPr sz="3300">
          <a:solidFill>
            <a:schemeClr val="tx1"/>
          </a:solidFill>
          <a:latin typeface="Calibri" pitchFamily="34" charset="0"/>
        </a:defRPr>
      </a:lvl9pPr>
    </p:titleStyle>
    <p:bodyStyle>
      <a:lvl1pPr marL="257175" indent="-257175" algn="l" rtl="0" eaLnBrk="1" fontAlgn="base" hangingPunct="1">
        <a:spcBef>
          <a:spcPct val="20000"/>
        </a:spcBef>
        <a:spcAft>
          <a:spcPct val="0"/>
        </a:spcAft>
        <a:buFont typeface="Arial" panose="020B0604020202020204" pitchFamily="34" charset="0"/>
        <a:buChar char="•"/>
        <a:defRPr sz="2400" kern="1200">
          <a:solidFill>
            <a:schemeClr val="tx1"/>
          </a:solidFill>
          <a:latin typeface="Arial" pitchFamily="34" charset="0"/>
          <a:ea typeface="+mn-ea"/>
          <a:cs typeface="Arial" pitchFamily="34" charset="0"/>
        </a:defRPr>
      </a:lvl1pPr>
      <a:lvl2pPr marL="557213" indent="-214313" algn="l" rtl="0" eaLnBrk="1" fontAlgn="base" hangingPunct="1">
        <a:spcBef>
          <a:spcPct val="20000"/>
        </a:spcBef>
        <a:spcAft>
          <a:spcPct val="0"/>
        </a:spcAft>
        <a:buFont typeface="Arial" panose="020B0604020202020204" pitchFamily="34" charset="0"/>
        <a:buChar char="–"/>
        <a:defRPr sz="2200" b="1" kern="1200">
          <a:solidFill>
            <a:schemeClr val="tx1"/>
          </a:solidFill>
          <a:effectLst/>
          <a:latin typeface="Arial" pitchFamily="34" charset="0"/>
          <a:ea typeface="+mn-ea"/>
          <a:cs typeface="Arial" pitchFamily="34" charset="0"/>
        </a:defRPr>
      </a:lvl2pPr>
      <a:lvl3pPr marL="857250" indent="-171450" algn="l" rtl="0" eaLnBrk="1" fontAlgn="base" hangingPunct="1">
        <a:spcBef>
          <a:spcPct val="20000"/>
        </a:spcBef>
        <a:spcAft>
          <a:spcPct val="0"/>
        </a:spcAft>
        <a:buFont typeface="Arial" panose="020B0604020202020204" pitchFamily="34" charset="0"/>
        <a:buChar char="•"/>
        <a:defRPr sz="1800" kern="1200">
          <a:solidFill>
            <a:schemeClr val="tx1"/>
          </a:solidFill>
          <a:latin typeface="Arial" pitchFamily="34" charset="0"/>
          <a:ea typeface="+mn-ea"/>
          <a:cs typeface="Arial" pitchFamily="34" charset="0"/>
        </a:defRPr>
      </a:lvl3pPr>
      <a:lvl4pPr marL="1200150" indent="-171450" algn="l" rtl="0" eaLnBrk="1" fontAlgn="base" hangingPunct="1">
        <a:spcBef>
          <a:spcPct val="20000"/>
        </a:spcBef>
        <a:spcAft>
          <a:spcPct val="0"/>
        </a:spcAft>
        <a:buFont typeface="Arial" panose="020B0604020202020204" pitchFamily="34" charset="0"/>
        <a:buChar char="–"/>
        <a:defRPr sz="1500" kern="1200">
          <a:solidFill>
            <a:schemeClr val="tx1"/>
          </a:solidFill>
          <a:latin typeface="Arial" pitchFamily="34" charset="0"/>
          <a:ea typeface="+mn-ea"/>
          <a:cs typeface="Arial" pitchFamily="34" charset="0"/>
        </a:defRPr>
      </a:lvl4pPr>
      <a:lvl5pPr marL="1543050" indent="-171450" algn="l" rtl="0" eaLnBrk="1" fontAlgn="base" hangingPunct="1">
        <a:spcBef>
          <a:spcPct val="20000"/>
        </a:spcBef>
        <a:spcAft>
          <a:spcPct val="0"/>
        </a:spcAft>
        <a:buFont typeface="Arial" panose="020B0604020202020204" pitchFamily="34" charset="0"/>
        <a:buChar char="»"/>
        <a:defRPr sz="1500" kern="1200">
          <a:solidFill>
            <a:schemeClr val="tx1"/>
          </a:solidFill>
          <a:latin typeface="Arial" pitchFamily="34" charset="0"/>
          <a:ea typeface="+mn-ea"/>
          <a:cs typeface="Arial" pitchFamily="34" charset="0"/>
        </a:defRPr>
      </a:lvl5pPr>
      <a:lvl6pPr marL="18859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6pPr>
      <a:lvl7pPr marL="22288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7pPr>
      <a:lvl8pPr marL="25717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8pPr>
      <a:lvl9pPr marL="29146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Layout" Target="../slideLayouts/slideLayout1.xml"/><Relationship Id="rId4" Type="http://schemas.openxmlformats.org/officeDocument/2006/relationships/image" Target="../media/image3.jpeg"/></Relationships>
</file>

<file path=ppt/slides/_rels/slide2.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1.xml"/><Relationship Id="rId4" Type="http://schemas.openxmlformats.org/officeDocument/2006/relationships/image" Target="../media/image8.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2"/>
          <p:cNvSpPr>
            <a:spLocks noGrp="1"/>
          </p:cNvSpPr>
          <p:nvPr>
            <p:ph sz="quarter" idx="10"/>
          </p:nvPr>
        </p:nvSpPr>
        <p:spPr/>
        <p:txBody>
          <a:bodyPr/>
          <a:lstStyle/>
          <a:p>
            <a:r>
              <a:rPr lang="en-US" dirty="0"/>
              <a:t>Radio Wave Propagation</a:t>
            </a:r>
          </a:p>
        </p:txBody>
      </p:sp>
      <p:sp>
        <p:nvSpPr>
          <p:cNvPr id="5" name="Content Placeholder 1"/>
          <p:cNvSpPr>
            <a:spLocks noGrp="1"/>
          </p:cNvSpPr>
          <p:nvPr>
            <p:ph idx="1"/>
          </p:nvPr>
        </p:nvSpPr>
        <p:spPr/>
        <p:txBody>
          <a:bodyPr/>
          <a:lstStyle/>
          <a:p>
            <a:r>
              <a:rPr lang="en-US" sz="1800" b="1" dirty="0">
                <a:solidFill>
                  <a:srgbClr val="FF0000"/>
                </a:solidFill>
              </a:rPr>
              <a:t>Radio waves</a:t>
            </a:r>
            <a:r>
              <a:rPr lang="en-US" sz="1800" dirty="0"/>
              <a:t> are a type of electromagnetic radiation with wavelengths in the Radio  spectrum (3 kHz to 300GHz) </a:t>
            </a:r>
            <a:endParaRPr lang="en-IN" sz="1800" dirty="0"/>
          </a:p>
          <a:p>
            <a:pPr marL="0" lvl="0" indent="0">
              <a:buNone/>
            </a:pPr>
            <a:endParaRPr lang="en-US" sz="1800" dirty="0"/>
          </a:p>
          <a:p>
            <a:pPr lvl="0"/>
            <a:endParaRPr lang="en-US" dirty="0"/>
          </a:p>
          <a:p>
            <a:endParaRPr lang="en-US" dirty="0"/>
          </a:p>
        </p:txBody>
      </p:sp>
      <p:pic>
        <p:nvPicPr>
          <p:cNvPr id="6" name="Picture 2" descr="https://www.sumitomoelectric.com/media/Sumitomo/Markets/Broadcasting.jpg"/>
          <p:cNvPicPr>
            <a:picLocks noChangeAspect="1" noChangeArrowheads="1"/>
          </p:cNvPicPr>
          <p:nvPr/>
        </p:nvPicPr>
        <p:blipFill>
          <a:blip r:embed="rId2"/>
          <a:srcRect/>
          <a:stretch>
            <a:fillRect/>
          </a:stretch>
        </p:blipFill>
        <p:spPr bwMode="auto">
          <a:xfrm>
            <a:off x="967665" y="1487418"/>
            <a:ext cx="2570085" cy="1709665"/>
          </a:xfrm>
          <a:prstGeom prst="rect">
            <a:avLst/>
          </a:prstGeom>
          <a:noFill/>
        </p:spPr>
      </p:pic>
      <p:pic>
        <p:nvPicPr>
          <p:cNvPr id="7" name="Picture 10" descr="Israeli military radar is typical of the type of radar used for air traffic control. The antenna rotates at a steady rate, sweeping the local airspace with a narrow vertical fan-shaped beam, to detect aircraft at all altitudes."/>
          <p:cNvPicPr>
            <a:picLocks noChangeAspect="1" noChangeArrowheads="1"/>
          </p:cNvPicPr>
          <p:nvPr/>
        </p:nvPicPr>
        <p:blipFill>
          <a:blip r:embed="rId3"/>
          <a:srcRect/>
          <a:stretch>
            <a:fillRect/>
          </a:stretch>
        </p:blipFill>
        <p:spPr bwMode="auto">
          <a:xfrm>
            <a:off x="5393770" y="1469836"/>
            <a:ext cx="2678837" cy="1652899"/>
          </a:xfrm>
          <a:prstGeom prst="rect">
            <a:avLst/>
          </a:prstGeom>
          <a:noFill/>
        </p:spPr>
      </p:pic>
      <p:pic>
        <p:nvPicPr>
          <p:cNvPr id="8" name="Picture 12" descr="navigation"/>
          <p:cNvPicPr>
            <a:picLocks noChangeAspect="1" noChangeArrowheads="1"/>
          </p:cNvPicPr>
          <p:nvPr/>
        </p:nvPicPr>
        <p:blipFill>
          <a:blip r:embed="rId4"/>
          <a:srcRect t="17021"/>
          <a:stretch>
            <a:fillRect/>
          </a:stretch>
        </p:blipFill>
        <p:spPr bwMode="auto">
          <a:xfrm>
            <a:off x="3556233" y="3268629"/>
            <a:ext cx="2572441" cy="1649182"/>
          </a:xfrm>
          <a:prstGeom prst="rect">
            <a:avLst/>
          </a:prstGeom>
          <a:noFill/>
        </p:spPr>
      </p:pic>
      <p:sp>
        <p:nvSpPr>
          <p:cNvPr id="9" name="TextBox 8"/>
          <p:cNvSpPr txBox="1"/>
          <p:nvPr/>
        </p:nvSpPr>
        <p:spPr>
          <a:xfrm>
            <a:off x="176665" y="3197083"/>
            <a:ext cx="1371600" cy="369332"/>
          </a:xfrm>
          <a:prstGeom prst="rect">
            <a:avLst/>
          </a:prstGeom>
          <a:noFill/>
        </p:spPr>
        <p:txBody>
          <a:bodyPr wrap="square" rtlCol="0">
            <a:spAutoFit/>
          </a:bodyPr>
          <a:lstStyle/>
          <a:p>
            <a:r>
              <a:rPr lang="en-US" dirty="0">
                <a:solidFill>
                  <a:srgbClr val="FF0000"/>
                </a:solidFill>
              </a:rPr>
              <a:t>Broadcast</a:t>
            </a:r>
          </a:p>
        </p:txBody>
      </p:sp>
      <p:sp>
        <p:nvSpPr>
          <p:cNvPr id="10" name="TextBox 9"/>
          <p:cNvSpPr txBox="1"/>
          <p:nvPr/>
        </p:nvSpPr>
        <p:spPr>
          <a:xfrm>
            <a:off x="7732451" y="3177479"/>
            <a:ext cx="818686" cy="369332"/>
          </a:xfrm>
          <a:prstGeom prst="rect">
            <a:avLst/>
          </a:prstGeom>
          <a:noFill/>
        </p:spPr>
        <p:txBody>
          <a:bodyPr wrap="none" rtlCol="0">
            <a:spAutoFit/>
          </a:bodyPr>
          <a:lstStyle/>
          <a:p>
            <a:r>
              <a:rPr lang="en-US" dirty="0">
                <a:solidFill>
                  <a:srgbClr val="FF0000"/>
                </a:solidFill>
              </a:rPr>
              <a:t>Radars</a:t>
            </a:r>
          </a:p>
        </p:txBody>
      </p:sp>
      <p:sp>
        <p:nvSpPr>
          <p:cNvPr id="11" name="TextBox 10"/>
          <p:cNvSpPr txBox="1"/>
          <p:nvPr/>
        </p:nvSpPr>
        <p:spPr>
          <a:xfrm>
            <a:off x="6128674" y="4205796"/>
            <a:ext cx="1676400" cy="381000"/>
          </a:xfrm>
          <a:prstGeom prst="rect">
            <a:avLst/>
          </a:prstGeom>
          <a:noFill/>
        </p:spPr>
        <p:txBody>
          <a:bodyPr wrap="square" rtlCol="0">
            <a:spAutoFit/>
          </a:bodyPr>
          <a:lstStyle/>
          <a:p>
            <a:r>
              <a:rPr lang="en-US" dirty="0">
                <a:solidFill>
                  <a:srgbClr val="FF0000"/>
                </a:solidFill>
              </a:rPr>
              <a:t>Navigation</a:t>
            </a:r>
          </a:p>
        </p:txBody>
      </p:sp>
    </p:spTree>
    <p:extLst>
      <p:ext uri="{BB962C8B-B14F-4D97-AF65-F5344CB8AC3E}">
        <p14:creationId xmlns:p14="http://schemas.microsoft.com/office/powerpoint/2010/main" val="27606614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 calcmode="lin" valueType="num">
                                      <p:cBhvr additive="base">
                                        <p:cTn id="7" dur="1000" fill="hold"/>
                                        <p:tgtEl>
                                          <p:spTgt spid="5">
                                            <p:txEl>
                                              <p:pRg st="0" end="0"/>
                                            </p:txEl>
                                          </p:spTgt>
                                        </p:tgtEl>
                                        <p:attrNameLst>
                                          <p:attrName>ppt_x</p:attrName>
                                        </p:attrNameLst>
                                      </p:cBhvr>
                                      <p:tavLst>
                                        <p:tav tm="0">
                                          <p:val>
                                            <p:strVal val="#ppt_x"/>
                                          </p:val>
                                        </p:tav>
                                        <p:tav tm="100000">
                                          <p:val>
                                            <p:strVal val="#ppt_x"/>
                                          </p:val>
                                        </p:tav>
                                      </p:tavLst>
                                    </p:anim>
                                    <p:anim calcmode="lin" valueType="num">
                                      <p:cBhvr additive="base">
                                        <p:cTn id="8" dur="1000" fill="hold"/>
                                        <p:tgtEl>
                                          <p:spTgt spid="5">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6"/>
                                        </p:tgtEl>
                                        <p:attrNameLst>
                                          <p:attrName>style.visibility</p:attrName>
                                        </p:attrNameLst>
                                      </p:cBhvr>
                                      <p:to>
                                        <p:strVal val="visible"/>
                                      </p:to>
                                    </p:set>
                                    <p:anim calcmode="lin" valueType="num">
                                      <p:cBhvr additive="base">
                                        <p:cTn id="13" dur="500" fill="hold"/>
                                        <p:tgtEl>
                                          <p:spTgt spid="6"/>
                                        </p:tgtEl>
                                        <p:attrNameLst>
                                          <p:attrName>ppt_x</p:attrName>
                                        </p:attrNameLst>
                                      </p:cBhvr>
                                      <p:tavLst>
                                        <p:tav tm="0">
                                          <p:val>
                                            <p:strVal val="#ppt_x"/>
                                          </p:val>
                                        </p:tav>
                                        <p:tav tm="100000">
                                          <p:val>
                                            <p:strVal val="#ppt_x"/>
                                          </p:val>
                                        </p:tav>
                                      </p:tavLst>
                                    </p:anim>
                                    <p:anim calcmode="lin" valueType="num">
                                      <p:cBhvr additive="base">
                                        <p:cTn id="14"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9"/>
                                        </p:tgtEl>
                                        <p:attrNameLst>
                                          <p:attrName>style.visibility</p:attrName>
                                        </p:attrNameLst>
                                      </p:cBhvr>
                                      <p:to>
                                        <p:strVal val="visible"/>
                                      </p:to>
                                    </p:set>
                                    <p:anim calcmode="lin" valueType="num">
                                      <p:cBhvr additive="base">
                                        <p:cTn id="19" dur="500" fill="hold"/>
                                        <p:tgtEl>
                                          <p:spTgt spid="9"/>
                                        </p:tgtEl>
                                        <p:attrNameLst>
                                          <p:attrName>ppt_x</p:attrName>
                                        </p:attrNameLst>
                                      </p:cBhvr>
                                      <p:tavLst>
                                        <p:tav tm="0">
                                          <p:val>
                                            <p:strVal val="#ppt_x"/>
                                          </p:val>
                                        </p:tav>
                                        <p:tav tm="100000">
                                          <p:val>
                                            <p:strVal val="#ppt_x"/>
                                          </p:val>
                                        </p:tav>
                                      </p:tavLst>
                                    </p:anim>
                                    <p:anim calcmode="lin" valueType="num">
                                      <p:cBhvr additive="base">
                                        <p:cTn id="20" dur="500" fill="hold"/>
                                        <p:tgtEl>
                                          <p:spTgt spid="9"/>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7"/>
                                        </p:tgtEl>
                                        <p:attrNameLst>
                                          <p:attrName>style.visibility</p:attrName>
                                        </p:attrNameLst>
                                      </p:cBhvr>
                                      <p:to>
                                        <p:strVal val="visible"/>
                                      </p:to>
                                    </p:set>
                                    <p:anim calcmode="lin" valueType="num">
                                      <p:cBhvr additive="base">
                                        <p:cTn id="25" dur="500" fill="hold"/>
                                        <p:tgtEl>
                                          <p:spTgt spid="7"/>
                                        </p:tgtEl>
                                        <p:attrNameLst>
                                          <p:attrName>ppt_x</p:attrName>
                                        </p:attrNameLst>
                                      </p:cBhvr>
                                      <p:tavLst>
                                        <p:tav tm="0">
                                          <p:val>
                                            <p:strVal val="#ppt_x"/>
                                          </p:val>
                                        </p:tav>
                                        <p:tav tm="100000">
                                          <p:val>
                                            <p:strVal val="#ppt_x"/>
                                          </p:val>
                                        </p:tav>
                                      </p:tavLst>
                                    </p:anim>
                                    <p:anim calcmode="lin" valueType="num">
                                      <p:cBhvr additive="base">
                                        <p:cTn id="26" dur="500" fill="hold"/>
                                        <p:tgtEl>
                                          <p:spTgt spid="7"/>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10"/>
                                        </p:tgtEl>
                                        <p:attrNameLst>
                                          <p:attrName>style.visibility</p:attrName>
                                        </p:attrNameLst>
                                      </p:cBhvr>
                                      <p:to>
                                        <p:strVal val="visible"/>
                                      </p:to>
                                    </p:set>
                                    <p:anim calcmode="lin" valueType="num">
                                      <p:cBhvr additive="base">
                                        <p:cTn id="31" dur="500" fill="hold"/>
                                        <p:tgtEl>
                                          <p:spTgt spid="10"/>
                                        </p:tgtEl>
                                        <p:attrNameLst>
                                          <p:attrName>ppt_x</p:attrName>
                                        </p:attrNameLst>
                                      </p:cBhvr>
                                      <p:tavLst>
                                        <p:tav tm="0">
                                          <p:val>
                                            <p:strVal val="#ppt_x"/>
                                          </p:val>
                                        </p:tav>
                                        <p:tav tm="100000">
                                          <p:val>
                                            <p:strVal val="#ppt_x"/>
                                          </p:val>
                                        </p:tav>
                                      </p:tavLst>
                                    </p:anim>
                                    <p:anim calcmode="lin" valueType="num">
                                      <p:cBhvr additive="base">
                                        <p:cTn id="32"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nodeType="clickEffect">
                                  <p:stCondLst>
                                    <p:cond delay="0"/>
                                  </p:stCondLst>
                                  <p:childTnLst>
                                    <p:set>
                                      <p:cBhvr>
                                        <p:cTn id="36" dur="1" fill="hold">
                                          <p:stCondLst>
                                            <p:cond delay="0"/>
                                          </p:stCondLst>
                                        </p:cTn>
                                        <p:tgtEl>
                                          <p:spTgt spid="8"/>
                                        </p:tgtEl>
                                        <p:attrNameLst>
                                          <p:attrName>style.visibility</p:attrName>
                                        </p:attrNameLst>
                                      </p:cBhvr>
                                      <p:to>
                                        <p:strVal val="visible"/>
                                      </p:to>
                                    </p:set>
                                    <p:anim calcmode="lin" valueType="num">
                                      <p:cBhvr additive="base">
                                        <p:cTn id="37" dur="500" fill="hold"/>
                                        <p:tgtEl>
                                          <p:spTgt spid="8"/>
                                        </p:tgtEl>
                                        <p:attrNameLst>
                                          <p:attrName>ppt_x</p:attrName>
                                        </p:attrNameLst>
                                      </p:cBhvr>
                                      <p:tavLst>
                                        <p:tav tm="0">
                                          <p:val>
                                            <p:strVal val="#ppt_x"/>
                                          </p:val>
                                        </p:tav>
                                        <p:tav tm="100000">
                                          <p:val>
                                            <p:strVal val="#ppt_x"/>
                                          </p:val>
                                        </p:tav>
                                      </p:tavLst>
                                    </p:anim>
                                    <p:anim calcmode="lin" valueType="num">
                                      <p:cBhvr additive="base">
                                        <p:cTn id="38" dur="500" fill="hold"/>
                                        <p:tgtEl>
                                          <p:spTgt spid="8"/>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grpId="0" nodeType="clickEffect">
                                  <p:stCondLst>
                                    <p:cond delay="0"/>
                                  </p:stCondLst>
                                  <p:childTnLst>
                                    <p:set>
                                      <p:cBhvr>
                                        <p:cTn id="42" dur="1" fill="hold">
                                          <p:stCondLst>
                                            <p:cond delay="0"/>
                                          </p:stCondLst>
                                        </p:cTn>
                                        <p:tgtEl>
                                          <p:spTgt spid="11"/>
                                        </p:tgtEl>
                                        <p:attrNameLst>
                                          <p:attrName>style.visibility</p:attrName>
                                        </p:attrNameLst>
                                      </p:cBhvr>
                                      <p:to>
                                        <p:strVal val="visible"/>
                                      </p:to>
                                    </p:set>
                                    <p:anim calcmode="lin" valueType="num">
                                      <p:cBhvr additive="base">
                                        <p:cTn id="43" dur="500" fill="hold"/>
                                        <p:tgtEl>
                                          <p:spTgt spid="11"/>
                                        </p:tgtEl>
                                        <p:attrNameLst>
                                          <p:attrName>ppt_x</p:attrName>
                                        </p:attrNameLst>
                                      </p:cBhvr>
                                      <p:tavLst>
                                        <p:tav tm="0">
                                          <p:val>
                                            <p:strVal val="#ppt_x"/>
                                          </p:val>
                                        </p:tav>
                                        <p:tav tm="100000">
                                          <p:val>
                                            <p:strVal val="#ppt_x"/>
                                          </p:val>
                                        </p:tav>
                                      </p:tavLst>
                                    </p:anim>
                                    <p:anim calcmode="lin" valueType="num">
                                      <p:cBhvr additive="base">
                                        <p:cTn id="44" dur="500" fill="hold"/>
                                        <p:tgtEl>
                                          <p:spTgt spid="1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0" grpId="0"/>
      <p:bldP spid="11"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quarter" idx="10"/>
          </p:nvPr>
        </p:nvSpPr>
        <p:spPr/>
        <p:txBody>
          <a:bodyPr/>
          <a:lstStyle/>
          <a:p>
            <a:endParaRPr lang="en-US" dirty="0"/>
          </a:p>
          <a:p>
            <a:r>
              <a:rPr lang="en-US" dirty="0"/>
              <a:t>Electromagnetic Spectrum</a:t>
            </a:r>
          </a:p>
          <a:p>
            <a:endParaRPr lang="en-IN" dirty="0"/>
          </a:p>
        </p:txBody>
      </p:sp>
      <p:pic>
        <p:nvPicPr>
          <p:cNvPr id="4" name="Picture 2" descr="https://classconnection.s3.amazonaws.com/255/flashcards/4013255/jpg/electromagneticspectrum-141B490BAC872789434.jpg"/>
          <p:cNvPicPr>
            <a:picLocks noGrp="1" noChangeAspect="1" noChangeArrowheads="1"/>
          </p:cNvPicPr>
          <p:nvPr>
            <p:ph idx="1"/>
          </p:nvPr>
        </p:nvPicPr>
        <p:blipFill>
          <a:blip r:embed="rId2"/>
          <a:srcRect/>
          <a:stretch>
            <a:fillRect/>
          </a:stretch>
        </p:blipFill>
        <p:spPr bwMode="auto">
          <a:xfrm>
            <a:off x="274638" y="928077"/>
            <a:ext cx="8504237" cy="3766772"/>
          </a:xfrm>
          <a:prstGeom prst="rect">
            <a:avLst/>
          </a:prstGeom>
          <a:noFill/>
        </p:spPr>
      </p:pic>
    </p:spTree>
    <p:extLst>
      <p:ext uri="{BB962C8B-B14F-4D97-AF65-F5344CB8AC3E}">
        <p14:creationId xmlns:p14="http://schemas.microsoft.com/office/powerpoint/2010/main" val="175582916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quarter" idx="10"/>
          </p:nvPr>
        </p:nvSpPr>
        <p:spPr>
          <a:xfrm>
            <a:off x="212551" y="221961"/>
            <a:ext cx="8694371" cy="582930"/>
          </a:xfrm>
        </p:spPr>
        <p:txBody>
          <a:bodyPr/>
          <a:lstStyle/>
          <a:p>
            <a:r>
              <a:rPr lang="en-US" dirty="0"/>
              <a:t>ITU(International Telecommunication Union) Radio Bands</a:t>
            </a:r>
          </a:p>
          <a:p>
            <a:endParaRPr lang="en-IN" dirty="0"/>
          </a:p>
        </p:txBody>
      </p:sp>
      <p:pic>
        <p:nvPicPr>
          <p:cNvPr id="5" name="Picture 2"/>
          <p:cNvPicPr>
            <a:picLocks noGrp="1" noChangeAspect="1" noChangeArrowheads="1"/>
          </p:cNvPicPr>
          <p:nvPr>
            <p:ph idx="1"/>
          </p:nvPr>
        </p:nvPicPr>
        <p:blipFill>
          <a:blip r:embed="rId2"/>
          <a:srcRect l="26515" t="22857" r="23485" b="28571"/>
          <a:stretch>
            <a:fillRect/>
          </a:stretch>
        </p:blipFill>
        <p:spPr bwMode="auto">
          <a:xfrm>
            <a:off x="701337" y="1034893"/>
            <a:ext cx="7078208" cy="3865893"/>
          </a:xfrm>
          <a:prstGeom prst="rect">
            <a:avLst/>
          </a:prstGeom>
          <a:noFill/>
          <a:ln w="9525">
            <a:noFill/>
            <a:miter lim="800000"/>
            <a:headEnd/>
            <a:tailEnd/>
          </a:ln>
          <a:effectLst/>
        </p:spPr>
      </p:pic>
    </p:spTree>
    <p:extLst>
      <p:ext uri="{BB962C8B-B14F-4D97-AF65-F5344CB8AC3E}">
        <p14:creationId xmlns:p14="http://schemas.microsoft.com/office/powerpoint/2010/main" val="182348202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quarter" idx="10"/>
          </p:nvPr>
        </p:nvSpPr>
        <p:spPr>
          <a:xfrm>
            <a:off x="245443" y="116706"/>
            <a:ext cx="7318331" cy="582930"/>
          </a:xfrm>
        </p:spPr>
        <p:txBody>
          <a:bodyPr/>
          <a:lstStyle/>
          <a:p>
            <a:endParaRPr lang="en-US" dirty="0"/>
          </a:p>
          <a:p>
            <a:r>
              <a:rPr lang="en-US" dirty="0"/>
              <a:t>Introduction- Mobile Radio Propagation Path</a:t>
            </a:r>
          </a:p>
          <a:p>
            <a:endParaRPr lang="en-IN" dirty="0"/>
          </a:p>
        </p:txBody>
      </p:sp>
      <p:sp>
        <p:nvSpPr>
          <p:cNvPr id="4" name="Content Placeholder 1"/>
          <p:cNvSpPr txBox="1">
            <a:spLocks/>
          </p:cNvSpPr>
          <p:nvPr/>
        </p:nvSpPr>
        <p:spPr bwMode="auto">
          <a:xfrm>
            <a:off x="245443" y="699636"/>
            <a:ext cx="8229600" cy="498316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vert="horz" wrap="square" lIns="0" tIns="45720" rIns="0" bIns="45720" numCol="1" anchor="t" anchorCtr="0" compatLnSpc="1">
            <a:prstTxWarp prst="textNoShape">
              <a:avLst/>
            </a:prstTxWarp>
            <a:normAutofit/>
          </a:bodyPr>
          <a:lstStyle>
            <a:lvl1pPr marL="255985" marR="0" indent="-255985" algn="just" defTabSz="685800" rtl="0" eaLnBrk="1" fontAlgn="auto" latinLnBrk="0" hangingPunct="1">
              <a:lnSpc>
                <a:spcPct val="100000"/>
              </a:lnSpc>
              <a:spcBef>
                <a:spcPts val="450"/>
              </a:spcBef>
              <a:spcAft>
                <a:spcPts val="0"/>
              </a:spcAft>
              <a:buClr>
                <a:srgbClr val="FF0000"/>
              </a:buClr>
              <a:buSzTx/>
              <a:buFont typeface="Arial" pitchFamily="34" charset="0"/>
              <a:buChar char="•"/>
              <a:tabLst/>
              <a:defRPr sz="1800" kern="1200">
                <a:solidFill>
                  <a:schemeClr val="tx1"/>
                </a:solidFill>
                <a:latin typeface="Arial" pitchFamily="34" charset="0"/>
                <a:ea typeface="+mn-ea"/>
                <a:cs typeface="Arial" pitchFamily="34" charset="0"/>
              </a:defRPr>
            </a:lvl1pPr>
            <a:lvl2pPr marL="557213" marR="0" indent="-214313" algn="l" defTabSz="685800" rtl="0" eaLnBrk="1" fontAlgn="auto" latinLnBrk="0" hangingPunct="1">
              <a:lnSpc>
                <a:spcPct val="100000"/>
              </a:lnSpc>
              <a:spcBef>
                <a:spcPct val="20000"/>
              </a:spcBef>
              <a:spcAft>
                <a:spcPts val="0"/>
              </a:spcAft>
              <a:buClrTx/>
              <a:buSzTx/>
              <a:buFont typeface="Arial" pitchFamily="34" charset="0"/>
              <a:buChar char="–"/>
              <a:tabLst/>
              <a:defRPr sz="1200" b="1" kern="1200">
                <a:solidFill>
                  <a:schemeClr val="tx1"/>
                </a:solidFill>
                <a:effectLst/>
                <a:latin typeface="Arial" pitchFamily="34" charset="0"/>
                <a:ea typeface="+mn-ea"/>
                <a:cs typeface="Arial" pitchFamily="34" charset="0"/>
              </a:defRPr>
            </a:lvl2pPr>
            <a:lvl3pPr marL="857250" indent="-171450" algn="l" rtl="0" eaLnBrk="1" fontAlgn="base" hangingPunct="1">
              <a:spcBef>
                <a:spcPct val="20000"/>
              </a:spcBef>
              <a:spcAft>
                <a:spcPct val="0"/>
              </a:spcAft>
              <a:buFont typeface="Arial" panose="020B0604020202020204" pitchFamily="34" charset="0"/>
              <a:buChar char="•"/>
              <a:defRPr sz="1800" kern="1200">
                <a:solidFill>
                  <a:schemeClr val="tx1"/>
                </a:solidFill>
                <a:latin typeface="Arial" pitchFamily="34" charset="0"/>
                <a:ea typeface="+mn-ea"/>
                <a:cs typeface="Arial" pitchFamily="34" charset="0"/>
              </a:defRPr>
            </a:lvl3pPr>
            <a:lvl4pPr marL="1200150" indent="-171450" algn="l" rtl="0" eaLnBrk="1" fontAlgn="base" hangingPunct="1">
              <a:spcBef>
                <a:spcPct val="20000"/>
              </a:spcBef>
              <a:spcAft>
                <a:spcPct val="0"/>
              </a:spcAft>
              <a:buFont typeface="Arial" panose="020B0604020202020204" pitchFamily="34" charset="0"/>
              <a:buChar char="–"/>
              <a:defRPr sz="1500" kern="1200">
                <a:solidFill>
                  <a:schemeClr val="tx1"/>
                </a:solidFill>
                <a:latin typeface="Arial" pitchFamily="34" charset="0"/>
                <a:ea typeface="+mn-ea"/>
                <a:cs typeface="Arial" pitchFamily="34" charset="0"/>
              </a:defRPr>
            </a:lvl4pPr>
            <a:lvl5pPr marL="1543050" indent="-171450" algn="l" rtl="0" eaLnBrk="1" fontAlgn="base" hangingPunct="1">
              <a:spcBef>
                <a:spcPct val="20000"/>
              </a:spcBef>
              <a:spcAft>
                <a:spcPct val="0"/>
              </a:spcAft>
              <a:buFont typeface="Arial" panose="020B0604020202020204" pitchFamily="34" charset="0"/>
              <a:buChar char="»"/>
              <a:defRPr sz="1500" kern="1200">
                <a:solidFill>
                  <a:schemeClr val="tx1"/>
                </a:solidFill>
                <a:latin typeface="Arial" pitchFamily="34" charset="0"/>
                <a:ea typeface="+mn-ea"/>
                <a:cs typeface="Arial" pitchFamily="34" charset="0"/>
              </a:defRPr>
            </a:lvl5pPr>
            <a:lvl6pPr marL="18859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6pPr>
            <a:lvl7pPr marL="22288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7pPr>
            <a:lvl8pPr marL="25717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8pPr>
            <a:lvl9pPr marL="29146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9pPr>
          </a:lstStyle>
          <a:p>
            <a:pPr>
              <a:buFont typeface="Wingdings" pitchFamily="2" charset="2"/>
              <a:buChar char="q"/>
            </a:pPr>
            <a:r>
              <a:rPr lang="en-US" dirty="0"/>
              <a:t>The Wireless Transmission Path may be </a:t>
            </a:r>
          </a:p>
          <a:p>
            <a:endParaRPr lang="en-US" dirty="0"/>
          </a:p>
          <a:p>
            <a:pPr>
              <a:buFont typeface="Wingdings" pitchFamily="2" charset="2"/>
              <a:buChar char="§"/>
            </a:pPr>
            <a:endParaRPr lang="en-US" dirty="0"/>
          </a:p>
          <a:p>
            <a:pPr>
              <a:buFont typeface="Wingdings" pitchFamily="2" charset="2"/>
              <a:buChar char="§"/>
            </a:pPr>
            <a:endParaRPr lang="en-US" dirty="0"/>
          </a:p>
          <a:p>
            <a:pPr>
              <a:buFont typeface="Wingdings" pitchFamily="2" charset="2"/>
              <a:buChar char="§"/>
            </a:pPr>
            <a:endParaRPr lang="en-US" dirty="0"/>
          </a:p>
          <a:p>
            <a:pPr>
              <a:buFont typeface="Wingdings" pitchFamily="2" charset="2"/>
              <a:buChar char="§"/>
            </a:pPr>
            <a:endParaRPr lang="en-US" dirty="0"/>
          </a:p>
          <a:p>
            <a:endParaRPr lang="en-US" dirty="0"/>
          </a:p>
          <a:p>
            <a:r>
              <a:rPr lang="en-US" dirty="0"/>
              <a:t>           </a:t>
            </a:r>
          </a:p>
          <a:p>
            <a:endParaRPr lang="en-US" dirty="0"/>
          </a:p>
          <a:p>
            <a:endParaRPr lang="en-US" dirty="0"/>
          </a:p>
          <a:p>
            <a:endParaRPr lang="en-US" dirty="0"/>
          </a:p>
          <a:p>
            <a:r>
              <a:rPr lang="en-US" dirty="0"/>
              <a:t>Radio Channels are random and time varying.</a:t>
            </a:r>
          </a:p>
          <a:p>
            <a:endParaRPr lang="en-US" dirty="0"/>
          </a:p>
          <a:p>
            <a:endParaRPr lang="en-US" dirty="0"/>
          </a:p>
        </p:txBody>
      </p:sp>
      <p:sp>
        <p:nvSpPr>
          <p:cNvPr id="7" name="TextBox 6"/>
          <p:cNvSpPr txBox="1"/>
          <p:nvPr/>
        </p:nvSpPr>
        <p:spPr>
          <a:xfrm>
            <a:off x="434773" y="3032918"/>
            <a:ext cx="4212859" cy="1877437"/>
          </a:xfrm>
          <a:prstGeom prst="rect">
            <a:avLst/>
          </a:prstGeom>
          <a:noFill/>
        </p:spPr>
        <p:txBody>
          <a:bodyPr wrap="square" rtlCol="0">
            <a:spAutoFit/>
          </a:bodyPr>
          <a:lstStyle/>
          <a:p>
            <a:pPr lvl="0"/>
            <a:r>
              <a:rPr lang="en-US" sz="1600" dirty="0"/>
              <a:t>Direct  and unobstructed path between a transmitting  device and a receiving or reflecting device. Microwaves are propagated in this manner and repeaters can be utilized to extend their range.</a:t>
            </a:r>
            <a:endParaRPr lang="en-IN" sz="1600" dirty="0"/>
          </a:p>
          <a:p>
            <a:endParaRPr lang="en-IN" dirty="0"/>
          </a:p>
          <a:p>
            <a:endParaRPr lang="en-IN" dirty="0"/>
          </a:p>
        </p:txBody>
      </p:sp>
      <p:sp>
        <p:nvSpPr>
          <p:cNvPr id="8" name="TextBox 7"/>
          <p:cNvSpPr txBox="1"/>
          <p:nvPr/>
        </p:nvSpPr>
        <p:spPr>
          <a:xfrm>
            <a:off x="5037139" y="3109118"/>
            <a:ext cx="4377519" cy="584775"/>
          </a:xfrm>
          <a:prstGeom prst="rect">
            <a:avLst/>
          </a:prstGeom>
          <a:noFill/>
        </p:spPr>
        <p:txBody>
          <a:bodyPr wrap="square" rtlCol="0">
            <a:spAutoFit/>
          </a:bodyPr>
          <a:lstStyle/>
          <a:p>
            <a:r>
              <a:rPr lang="en-US" sz="1600" dirty="0"/>
              <a:t>communication path is obstructed by buildings, foliage, hills etc.</a:t>
            </a:r>
            <a:endParaRPr lang="en-IN" sz="1600" dirty="0"/>
          </a:p>
        </p:txBody>
      </p:sp>
      <p:pic>
        <p:nvPicPr>
          <p:cNvPr id="3" name="Picture 2"/>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983039" y="1217484"/>
            <a:ext cx="1778893" cy="1778893"/>
          </a:xfrm>
          <a:prstGeom prst="rect">
            <a:avLst/>
          </a:prstGeom>
        </p:spPr>
      </p:pic>
      <p:pic>
        <p:nvPicPr>
          <p:cNvPr id="9" name="Picture 8"/>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flipH="1">
            <a:off x="-271716" y="1254025"/>
            <a:ext cx="1778893" cy="1778893"/>
          </a:xfrm>
          <a:prstGeom prst="rect">
            <a:avLst/>
          </a:prstGeom>
        </p:spPr>
      </p:pic>
      <p:cxnSp>
        <p:nvCxnSpPr>
          <p:cNvPr id="11" name="Straight Connector 10"/>
          <p:cNvCxnSpPr/>
          <p:nvPr/>
        </p:nvCxnSpPr>
        <p:spPr>
          <a:xfrm>
            <a:off x="724795" y="1593476"/>
            <a:ext cx="619911"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3" name="Straight Connector 12"/>
          <p:cNvCxnSpPr/>
          <p:nvPr/>
        </p:nvCxnSpPr>
        <p:spPr>
          <a:xfrm flipH="1">
            <a:off x="3059206" y="1586752"/>
            <a:ext cx="694231" cy="0"/>
          </a:xfrm>
          <a:prstGeom prst="line">
            <a:avLst/>
          </a:prstGeom>
        </p:spPr>
        <p:style>
          <a:lnRef idx="1">
            <a:schemeClr val="accent1"/>
          </a:lnRef>
          <a:fillRef idx="0">
            <a:schemeClr val="accent1"/>
          </a:fillRef>
          <a:effectRef idx="0">
            <a:schemeClr val="accent1"/>
          </a:effectRef>
          <a:fontRef idx="minor">
            <a:schemeClr val="tx1"/>
          </a:fontRef>
        </p:style>
      </p:cxnSp>
      <p:sp>
        <p:nvSpPr>
          <p:cNvPr id="14" name="Oval 13"/>
          <p:cNvSpPr/>
          <p:nvPr/>
        </p:nvSpPr>
        <p:spPr>
          <a:xfrm>
            <a:off x="1594639" y="1413174"/>
            <a:ext cx="1215793" cy="347156"/>
          </a:xfrm>
          <a:prstGeom prst="ellipse">
            <a:avLst/>
          </a:prstGeom>
        </p:spPr>
        <p:style>
          <a:lnRef idx="1">
            <a:schemeClr val="dk1"/>
          </a:lnRef>
          <a:fillRef idx="2">
            <a:schemeClr val="dk1"/>
          </a:fillRef>
          <a:effectRef idx="1">
            <a:schemeClr val="dk1"/>
          </a:effectRef>
          <a:fontRef idx="minor">
            <a:schemeClr val="dk1"/>
          </a:fontRef>
        </p:style>
        <p:txBody>
          <a:bodyPr rtlCol="0" anchor="ctr"/>
          <a:lstStyle/>
          <a:p>
            <a:pPr algn="ctr"/>
            <a:endParaRPr lang="en-IN" dirty="0"/>
          </a:p>
        </p:txBody>
      </p:sp>
      <p:pic>
        <p:nvPicPr>
          <p:cNvPr id="15" name="Picture 1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rot="5400000" flipH="1">
            <a:off x="1272101" y="1481439"/>
            <a:ext cx="257279" cy="233145"/>
          </a:xfrm>
          <a:prstGeom prst="rect">
            <a:avLst/>
          </a:prstGeom>
        </p:spPr>
      </p:pic>
      <p:pic>
        <p:nvPicPr>
          <p:cNvPr id="16" name="Picture 15"/>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rot="16200000">
            <a:off x="2878387" y="1476902"/>
            <a:ext cx="257279" cy="233145"/>
          </a:xfrm>
          <a:prstGeom prst="rect">
            <a:avLst/>
          </a:prstGeom>
        </p:spPr>
      </p:pic>
      <p:cxnSp>
        <p:nvCxnSpPr>
          <p:cNvPr id="18" name="Straight Arrow Connector 17"/>
          <p:cNvCxnSpPr>
            <a:stCxn id="15" idx="0"/>
          </p:cNvCxnSpPr>
          <p:nvPr/>
        </p:nvCxnSpPr>
        <p:spPr>
          <a:xfrm flipV="1">
            <a:off x="1517313" y="1593474"/>
            <a:ext cx="1373141" cy="4537"/>
          </a:xfrm>
          <a:prstGeom prst="straightConnector1">
            <a:avLst/>
          </a:prstGeom>
          <a:ln>
            <a:solidFill>
              <a:schemeClr val="tx1"/>
            </a:solidFill>
            <a:prstDash val="dash"/>
            <a:headEnd type="stealth"/>
            <a:tailEnd type="stealth"/>
          </a:ln>
        </p:spPr>
        <p:style>
          <a:lnRef idx="1">
            <a:schemeClr val="accent1"/>
          </a:lnRef>
          <a:fillRef idx="0">
            <a:schemeClr val="accent1"/>
          </a:fillRef>
          <a:effectRef idx="0">
            <a:schemeClr val="accent1"/>
          </a:effectRef>
          <a:fontRef idx="minor">
            <a:schemeClr val="tx1"/>
          </a:fontRef>
        </p:style>
      </p:cxnSp>
      <p:sp>
        <p:nvSpPr>
          <p:cNvPr id="19" name="Rectangle 18"/>
          <p:cNvSpPr/>
          <p:nvPr/>
        </p:nvSpPr>
        <p:spPr>
          <a:xfrm>
            <a:off x="1745284" y="1328790"/>
            <a:ext cx="926180" cy="32558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000" b="1" dirty="0">
                <a:solidFill>
                  <a:schemeClr val="tx1"/>
                </a:solidFill>
              </a:rPr>
              <a:t>Fresnel Zone</a:t>
            </a:r>
          </a:p>
        </p:txBody>
      </p:sp>
      <p:sp>
        <p:nvSpPr>
          <p:cNvPr id="20" name="Rectangle 19"/>
          <p:cNvSpPr/>
          <p:nvPr/>
        </p:nvSpPr>
        <p:spPr>
          <a:xfrm>
            <a:off x="1541600" y="1105573"/>
            <a:ext cx="1344131" cy="32558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200" b="1" dirty="0">
                <a:solidFill>
                  <a:schemeClr val="tx1"/>
                </a:solidFill>
              </a:rPr>
              <a:t>Line of Sight (LOS)</a:t>
            </a:r>
          </a:p>
        </p:txBody>
      </p:sp>
      <p:sp>
        <p:nvSpPr>
          <p:cNvPr id="21" name="Rectangle 20"/>
          <p:cNvSpPr/>
          <p:nvPr/>
        </p:nvSpPr>
        <p:spPr>
          <a:xfrm>
            <a:off x="2176016" y="1691934"/>
            <a:ext cx="1344131" cy="32558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900" dirty="0">
                <a:solidFill>
                  <a:schemeClr val="tx1"/>
                </a:solidFill>
              </a:rPr>
              <a:t>Line of Sight </a:t>
            </a:r>
          </a:p>
        </p:txBody>
      </p:sp>
      <p:cxnSp>
        <p:nvCxnSpPr>
          <p:cNvPr id="23" name="Straight Arrow Connector 22"/>
          <p:cNvCxnSpPr/>
          <p:nvPr/>
        </p:nvCxnSpPr>
        <p:spPr>
          <a:xfrm flipH="1" flipV="1">
            <a:off x="2462489" y="1623294"/>
            <a:ext cx="347943" cy="18689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pic>
        <p:nvPicPr>
          <p:cNvPr id="24" name="Picture 23"/>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648445" y="1915364"/>
            <a:ext cx="1125471" cy="1125471"/>
          </a:xfrm>
          <a:prstGeom prst="rect">
            <a:avLst/>
          </a:prstGeom>
        </p:spPr>
      </p:pic>
      <p:pic>
        <p:nvPicPr>
          <p:cNvPr id="25" name="Picture 24"/>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855322" y="2453177"/>
            <a:ext cx="577751" cy="577751"/>
          </a:xfrm>
          <a:prstGeom prst="rect">
            <a:avLst/>
          </a:prstGeom>
        </p:spPr>
      </p:pic>
      <p:pic>
        <p:nvPicPr>
          <p:cNvPr id="26" name="Picture 25"/>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122218" y="2241899"/>
            <a:ext cx="794127" cy="794127"/>
          </a:xfrm>
          <a:prstGeom prst="rect">
            <a:avLst/>
          </a:prstGeom>
        </p:spPr>
      </p:pic>
      <p:pic>
        <p:nvPicPr>
          <p:cNvPr id="27" name="Picture 26"/>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3071406" y="2461420"/>
            <a:ext cx="577751" cy="577751"/>
          </a:xfrm>
          <a:prstGeom prst="rect">
            <a:avLst/>
          </a:prstGeom>
        </p:spPr>
      </p:pic>
      <p:pic>
        <p:nvPicPr>
          <p:cNvPr id="28" name="Picture 27"/>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2660795" y="2460261"/>
            <a:ext cx="577751" cy="577751"/>
          </a:xfrm>
          <a:prstGeom prst="rect">
            <a:avLst/>
          </a:prstGeom>
        </p:spPr>
      </p:pic>
      <p:pic>
        <p:nvPicPr>
          <p:cNvPr id="29" name="Picture 28"/>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2370785" y="2620536"/>
            <a:ext cx="416916" cy="416916"/>
          </a:xfrm>
          <a:prstGeom prst="rect">
            <a:avLst/>
          </a:prstGeom>
        </p:spPr>
      </p:pic>
      <p:pic>
        <p:nvPicPr>
          <p:cNvPr id="30" name="Picture 29"/>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7814774" y="1328790"/>
            <a:ext cx="1778893" cy="1778893"/>
          </a:xfrm>
          <a:prstGeom prst="rect">
            <a:avLst/>
          </a:prstGeom>
        </p:spPr>
      </p:pic>
      <p:pic>
        <p:nvPicPr>
          <p:cNvPr id="31" name="Picture 30"/>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flipH="1">
            <a:off x="4560019" y="1365331"/>
            <a:ext cx="1778893" cy="1778893"/>
          </a:xfrm>
          <a:prstGeom prst="rect">
            <a:avLst/>
          </a:prstGeom>
        </p:spPr>
      </p:pic>
      <p:cxnSp>
        <p:nvCxnSpPr>
          <p:cNvPr id="32" name="Straight Connector 31"/>
          <p:cNvCxnSpPr/>
          <p:nvPr/>
        </p:nvCxnSpPr>
        <p:spPr>
          <a:xfrm>
            <a:off x="5556530" y="1704782"/>
            <a:ext cx="619911"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33" name="Straight Connector 32"/>
          <p:cNvCxnSpPr/>
          <p:nvPr/>
        </p:nvCxnSpPr>
        <p:spPr>
          <a:xfrm flipH="1">
            <a:off x="7890941" y="1698058"/>
            <a:ext cx="694231" cy="0"/>
          </a:xfrm>
          <a:prstGeom prst="line">
            <a:avLst/>
          </a:prstGeom>
        </p:spPr>
        <p:style>
          <a:lnRef idx="1">
            <a:schemeClr val="accent1"/>
          </a:lnRef>
          <a:fillRef idx="0">
            <a:schemeClr val="accent1"/>
          </a:fillRef>
          <a:effectRef idx="0">
            <a:schemeClr val="accent1"/>
          </a:effectRef>
          <a:fontRef idx="minor">
            <a:schemeClr val="tx1"/>
          </a:fontRef>
        </p:style>
      </p:cxnSp>
      <p:sp>
        <p:nvSpPr>
          <p:cNvPr id="34" name="Oval 33"/>
          <p:cNvSpPr/>
          <p:nvPr/>
        </p:nvSpPr>
        <p:spPr>
          <a:xfrm>
            <a:off x="6426374" y="1524480"/>
            <a:ext cx="1215793" cy="347156"/>
          </a:xfrm>
          <a:prstGeom prst="ellipse">
            <a:avLst/>
          </a:prstGeom>
        </p:spPr>
        <p:style>
          <a:lnRef idx="1">
            <a:schemeClr val="dk1"/>
          </a:lnRef>
          <a:fillRef idx="2">
            <a:schemeClr val="dk1"/>
          </a:fillRef>
          <a:effectRef idx="1">
            <a:schemeClr val="dk1"/>
          </a:effectRef>
          <a:fontRef idx="minor">
            <a:schemeClr val="dk1"/>
          </a:fontRef>
        </p:style>
        <p:txBody>
          <a:bodyPr rtlCol="0" anchor="ctr"/>
          <a:lstStyle/>
          <a:p>
            <a:pPr algn="ctr"/>
            <a:endParaRPr lang="en-IN" dirty="0"/>
          </a:p>
        </p:txBody>
      </p:sp>
      <p:pic>
        <p:nvPicPr>
          <p:cNvPr id="35" name="Picture 3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rot="5400000" flipH="1">
            <a:off x="6103836" y="1592745"/>
            <a:ext cx="257279" cy="233145"/>
          </a:xfrm>
          <a:prstGeom prst="rect">
            <a:avLst/>
          </a:prstGeom>
        </p:spPr>
      </p:pic>
      <p:pic>
        <p:nvPicPr>
          <p:cNvPr id="36" name="Picture 35"/>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rot="16200000">
            <a:off x="7710122" y="1588208"/>
            <a:ext cx="257279" cy="233145"/>
          </a:xfrm>
          <a:prstGeom prst="rect">
            <a:avLst/>
          </a:prstGeom>
        </p:spPr>
      </p:pic>
      <p:cxnSp>
        <p:nvCxnSpPr>
          <p:cNvPr id="37" name="Straight Arrow Connector 36"/>
          <p:cNvCxnSpPr>
            <a:stCxn id="35" idx="0"/>
          </p:cNvCxnSpPr>
          <p:nvPr/>
        </p:nvCxnSpPr>
        <p:spPr>
          <a:xfrm flipV="1">
            <a:off x="6349048" y="1704780"/>
            <a:ext cx="1373141" cy="4537"/>
          </a:xfrm>
          <a:prstGeom prst="straightConnector1">
            <a:avLst/>
          </a:prstGeom>
          <a:ln>
            <a:solidFill>
              <a:schemeClr val="tx1"/>
            </a:solidFill>
            <a:prstDash val="dash"/>
            <a:headEnd type="stealth"/>
            <a:tailEnd type="stealth"/>
          </a:ln>
        </p:spPr>
        <p:style>
          <a:lnRef idx="1">
            <a:schemeClr val="accent1"/>
          </a:lnRef>
          <a:fillRef idx="0">
            <a:schemeClr val="accent1"/>
          </a:fillRef>
          <a:effectRef idx="0">
            <a:schemeClr val="accent1"/>
          </a:effectRef>
          <a:fontRef idx="minor">
            <a:schemeClr val="tx1"/>
          </a:fontRef>
        </p:style>
      </p:cxnSp>
      <p:sp>
        <p:nvSpPr>
          <p:cNvPr id="38" name="Rectangle 37"/>
          <p:cNvSpPr/>
          <p:nvPr/>
        </p:nvSpPr>
        <p:spPr>
          <a:xfrm>
            <a:off x="6577019" y="1440096"/>
            <a:ext cx="926180" cy="32558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000" b="1" dirty="0">
                <a:solidFill>
                  <a:schemeClr val="tx1"/>
                </a:solidFill>
              </a:rPr>
              <a:t>Fresnel Zone</a:t>
            </a:r>
          </a:p>
        </p:txBody>
      </p:sp>
      <p:sp>
        <p:nvSpPr>
          <p:cNvPr id="39" name="Rectangle 38"/>
          <p:cNvSpPr/>
          <p:nvPr/>
        </p:nvSpPr>
        <p:spPr>
          <a:xfrm>
            <a:off x="6142874" y="1196115"/>
            <a:ext cx="1788876" cy="32558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200" b="1" dirty="0">
                <a:solidFill>
                  <a:schemeClr val="tx1"/>
                </a:solidFill>
              </a:rPr>
              <a:t>Non Line of Sight (NLOS)</a:t>
            </a:r>
          </a:p>
        </p:txBody>
      </p:sp>
      <p:sp>
        <p:nvSpPr>
          <p:cNvPr id="40" name="Rectangle 39"/>
          <p:cNvSpPr/>
          <p:nvPr/>
        </p:nvSpPr>
        <p:spPr>
          <a:xfrm>
            <a:off x="7007751" y="1803240"/>
            <a:ext cx="1344131" cy="32558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900" dirty="0">
                <a:solidFill>
                  <a:schemeClr val="tx1"/>
                </a:solidFill>
              </a:rPr>
              <a:t>Line of Sight </a:t>
            </a:r>
          </a:p>
        </p:txBody>
      </p:sp>
      <p:cxnSp>
        <p:nvCxnSpPr>
          <p:cNvPr id="41" name="Straight Arrow Connector 40"/>
          <p:cNvCxnSpPr/>
          <p:nvPr/>
        </p:nvCxnSpPr>
        <p:spPr>
          <a:xfrm flipH="1" flipV="1">
            <a:off x="7294224" y="1734600"/>
            <a:ext cx="347943" cy="18689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pic>
        <p:nvPicPr>
          <p:cNvPr id="42" name="Picture 41"/>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480180" y="1654372"/>
            <a:ext cx="1125471" cy="1497769"/>
          </a:xfrm>
          <a:prstGeom prst="rect">
            <a:avLst/>
          </a:prstGeom>
        </p:spPr>
      </p:pic>
      <p:pic>
        <p:nvPicPr>
          <p:cNvPr id="43" name="Picture 42"/>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5687057" y="2564483"/>
            <a:ext cx="577751" cy="577751"/>
          </a:xfrm>
          <a:prstGeom prst="rect">
            <a:avLst/>
          </a:prstGeom>
        </p:spPr>
      </p:pic>
      <p:pic>
        <p:nvPicPr>
          <p:cNvPr id="44" name="Picture 43"/>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5953953" y="2179841"/>
            <a:ext cx="967492" cy="967492"/>
          </a:xfrm>
          <a:prstGeom prst="rect">
            <a:avLst/>
          </a:prstGeom>
        </p:spPr>
      </p:pic>
      <p:pic>
        <p:nvPicPr>
          <p:cNvPr id="45" name="Picture 44"/>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903141" y="2572726"/>
            <a:ext cx="577751" cy="577751"/>
          </a:xfrm>
          <a:prstGeom prst="rect">
            <a:avLst/>
          </a:prstGeom>
        </p:spPr>
      </p:pic>
      <p:pic>
        <p:nvPicPr>
          <p:cNvPr id="46" name="Picture 45"/>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492530" y="2571567"/>
            <a:ext cx="577751" cy="577751"/>
          </a:xfrm>
          <a:prstGeom prst="rect">
            <a:avLst/>
          </a:prstGeom>
        </p:spPr>
      </p:pic>
      <p:pic>
        <p:nvPicPr>
          <p:cNvPr id="47" name="Picture 46"/>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169879" y="2711752"/>
            <a:ext cx="416916" cy="416916"/>
          </a:xfrm>
          <a:prstGeom prst="rect">
            <a:avLst/>
          </a:prstGeom>
        </p:spPr>
      </p:pic>
    </p:spTree>
    <p:extLst>
      <p:ext uri="{BB962C8B-B14F-4D97-AF65-F5344CB8AC3E}">
        <p14:creationId xmlns:p14="http://schemas.microsoft.com/office/powerpoint/2010/main" val="11734673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7"/>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8"/>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4">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quarter" idx="10"/>
          </p:nvPr>
        </p:nvSpPr>
        <p:spPr/>
        <p:txBody>
          <a:bodyPr/>
          <a:lstStyle/>
          <a:p>
            <a:endParaRPr lang="en-US" dirty="0"/>
          </a:p>
          <a:p>
            <a:r>
              <a:rPr lang="en-US" dirty="0"/>
              <a:t>Basics of Propagation </a:t>
            </a:r>
          </a:p>
          <a:p>
            <a:endParaRPr lang="en-IN" dirty="0"/>
          </a:p>
        </p:txBody>
      </p:sp>
      <p:sp>
        <p:nvSpPr>
          <p:cNvPr id="4" name="Content Placeholder 1"/>
          <p:cNvSpPr>
            <a:spLocks noGrp="1"/>
          </p:cNvSpPr>
          <p:nvPr>
            <p:ph idx="1"/>
          </p:nvPr>
        </p:nvSpPr>
        <p:spPr/>
        <p:txBody>
          <a:bodyPr/>
          <a:lstStyle/>
          <a:p>
            <a:pPr>
              <a:buFont typeface="Arial" pitchFamily="34" charset="0"/>
              <a:buChar char="•"/>
            </a:pPr>
            <a:endParaRPr lang="en-US" dirty="0"/>
          </a:p>
          <a:p>
            <a:pPr>
              <a:buFont typeface="Arial" pitchFamily="34" charset="0"/>
              <a:buChar char="•"/>
            </a:pPr>
            <a:r>
              <a:rPr lang="en-US" dirty="0"/>
              <a:t>When electrons moves they create electromagnetic waves that can propagate through space.</a:t>
            </a:r>
          </a:p>
          <a:p>
            <a:pPr>
              <a:buFont typeface="Arial" pitchFamily="34" charset="0"/>
              <a:buChar char="•"/>
            </a:pPr>
            <a:endParaRPr lang="en-US" dirty="0"/>
          </a:p>
          <a:p>
            <a:pPr>
              <a:buFont typeface="Arial" pitchFamily="34" charset="0"/>
              <a:buChar char="•"/>
            </a:pPr>
            <a:r>
              <a:rPr lang="en-US" dirty="0"/>
              <a:t>By attaching an antenna of appropriate size to an electrical circuit, the electromagnetic waves can be broadcast efficiently and received by receiver some distance away.</a:t>
            </a:r>
          </a:p>
          <a:p>
            <a:pPr>
              <a:buFont typeface="Arial" pitchFamily="34" charset="0"/>
              <a:buChar char="•"/>
            </a:pPr>
            <a:endParaRPr lang="en-US" dirty="0"/>
          </a:p>
          <a:p>
            <a:pPr>
              <a:buFont typeface="Arial" pitchFamily="34" charset="0"/>
              <a:buChar char="•"/>
            </a:pPr>
            <a:r>
              <a:rPr lang="en-US" dirty="0"/>
              <a:t>Information can be sent by modulating the Amplitude, Frequency or phase of the waves.</a:t>
            </a:r>
          </a:p>
        </p:txBody>
      </p:sp>
    </p:spTree>
    <p:extLst>
      <p:ext uri="{BB962C8B-B14F-4D97-AF65-F5344CB8AC3E}">
        <p14:creationId xmlns:p14="http://schemas.microsoft.com/office/powerpoint/2010/main" val="363535298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quarter" idx="10"/>
          </p:nvPr>
        </p:nvSpPr>
        <p:spPr>
          <a:xfrm>
            <a:off x="274320" y="240994"/>
            <a:ext cx="6537960" cy="582930"/>
          </a:xfrm>
        </p:spPr>
        <p:txBody>
          <a:bodyPr/>
          <a:lstStyle/>
          <a:p>
            <a:r>
              <a:rPr lang="en-US" dirty="0"/>
              <a:t>Properties of Radio waves</a:t>
            </a:r>
          </a:p>
          <a:p>
            <a:endParaRPr lang="en-IN" dirty="0"/>
          </a:p>
        </p:txBody>
      </p:sp>
      <p:sp>
        <p:nvSpPr>
          <p:cNvPr id="4" name="Content Placeholder 1"/>
          <p:cNvSpPr>
            <a:spLocks noGrp="1"/>
          </p:cNvSpPr>
          <p:nvPr>
            <p:ph idx="1"/>
          </p:nvPr>
        </p:nvSpPr>
        <p:spPr/>
        <p:txBody>
          <a:bodyPr>
            <a:normAutofit fontScale="92500" lnSpcReduction="20000"/>
          </a:bodyPr>
          <a:lstStyle/>
          <a:p>
            <a:pPr>
              <a:buFont typeface="Arial" pitchFamily="34" charset="0"/>
              <a:buChar char="•"/>
            </a:pPr>
            <a:r>
              <a:rPr lang="en-US" dirty="0"/>
              <a:t>Easy to generate.</a:t>
            </a:r>
          </a:p>
          <a:p>
            <a:pPr marL="0" indent="0"/>
            <a:r>
              <a:rPr lang="en-US" dirty="0"/>
              <a:t>	- When electrons moves they create electromagnetic waves that can propagate through space. By attaching an antenna of appropriate size to an electrical circuit, the electromagnetic waves can be broadcast efficiently and received by receiver some distance away</a:t>
            </a:r>
          </a:p>
          <a:p>
            <a:endParaRPr lang="en-US" dirty="0"/>
          </a:p>
          <a:p>
            <a:pPr>
              <a:buFont typeface="Arial" pitchFamily="34" charset="0"/>
              <a:buChar char="•"/>
            </a:pPr>
            <a:r>
              <a:rPr lang="en-US" dirty="0"/>
              <a:t>Can travel Long distances.</a:t>
            </a:r>
          </a:p>
          <a:p>
            <a:endParaRPr lang="en-US" dirty="0"/>
          </a:p>
          <a:p>
            <a:pPr>
              <a:buFont typeface="Arial" pitchFamily="34" charset="0"/>
              <a:buChar char="•"/>
            </a:pPr>
            <a:r>
              <a:rPr lang="en-US" dirty="0"/>
              <a:t>Can penetrate buildings.</a:t>
            </a:r>
          </a:p>
          <a:p>
            <a:endParaRPr lang="en-US" dirty="0"/>
          </a:p>
          <a:p>
            <a:pPr>
              <a:buFont typeface="Arial" pitchFamily="34" charset="0"/>
              <a:buChar char="•"/>
            </a:pPr>
            <a:r>
              <a:rPr lang="en-US" dirty="0"/>
              <a:t>Used for both indoor and Outdoor Communications.</a:t>
            </a:r>
          </a:p>
          <a:p>
            <a:endParaRPr lang="en-US" dirty="0"/>
          </a:p>
          <a:p>
            <a:pPr>
              <a:buFont typeface="Arial" pitchFamily="34" charset="0"/>
              <a:buChar char="•"/>
            </a:pPr>
            <a:r>
              <a:rPr lang="en-US" dirty="0"/>
              <a:t>They are </a:t>
            </a:r>
            <a:r>
              <a:rPr lang="en-US" dirty="0" err="1"/>
              <a:t>omni</a:t>
            </a:r>
            <a:r>
              <a:rPr lang="en-US" dirty="0"/>
              <a:t> directional</a:t>
            </a:r>
          </a:p>
          <a:p>
            <a:endParaRPr lang="en-US" dirty="0"/>
          </a:p>
          <a:p>
            <a:pPr>
              <a:buFont typeface="Arial" pitchFamily="34" charset="0"/>
              <a:buChar char="•"/>
            </a:pPr>
            <a:r>
              <a:rPr lang="en-US" dirty="0"/>
              <a:t>Can be narrowly focused at high frequency(greater than 100MHz) using parabolic antennas. </a:t>
            </a:r>
          </a:p>
          <a:p>
            <a:endParaRPr lang="en-US" dirty="0"/>
          </a:p>
        </p:txBody>
      </p:sp>
    </p:spTree>
    <p:extLst>
      <p:ext uri="{BB962C8B-B14F-4D97-AF65-F5344CB8AC3E}">
        <p14:creationId xmlns:p14="http://schemas.microsoft.com/office/powerpoint/2010/main" val="9029789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4">
                                            <p:txEl>
                                              <p:pRg st="5" end="5"/>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4">
                                            <p:txEl>
                                              <p:pRg st="7" end="7"/>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4">
                                            <p:txEl>
                                              <p:pRg st="9" end="9"/>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4">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2"/>
          <p:cNvSpPr>
            <a:spLocks noGrp="1"/>
          </p:cNvSpPr>
          <p:nvPr>
            <p:ph sz="quarter" idx="10"/>
          </p:nvPr>
        </p:nvSpPr>
        <p:spPr>
          <a:xfrm>
            <a:off x="266330" y="133164"/>
            <a:ext cx="6517074" cy="566471"/>
          </a:xfrm>
        </p:spPr>
        <p:txBody>
          <a:bodyPr/>
          <a:lstStyle/>
          <a:p>
            <a:r>
              <a:rPr lang="en-US" sz="2400" dirty="0"/>
              <a:t>Properties of Radio waves</a:t>
            </a:r>
          </a:p>
        </p:txBody>
      </p:sp>
      <p:sp>
        <p:nvSpPr>
          <p:cNvPr id="6" name="Content Placeholder 1"/>
          <p:cNvSpPr>
            <a:spLocks noGrp="1"/>
          </p:cNvSpPr>
          <p:nvPr>
            <p:ph idx="1"/>
          </p:nvPr>
        </p:nvSpPr>
        <p:spPr/>
        <p:txBody>
          <a:bodyPr>
            <a:normAutofit/>
          </a:bodyPr>
          <a:lstStyle/>
          <a:p>
            <a:pPr>
              <a:buFont typeface="Arial" pitchFamily="34" charset="0"/>
              <a:buChar char="•"/>
            </a:pPr>
            <a:r>
              <a:rPr lang="en-US" sz="2000" dirty="0">
                <a:solidFill>
                  <a:schemeClr val="tx2">
                    <a:lumMod val="60000"/>
                    <a:lumOff val="40000"/>
                  </a:schemeClr>
                </a:solidFill>
              </a:rPr>
              <a:t>Frequency dependence</a:t>
            </a:r>
          </a:p>
          <a:p>
            <a:pPr marL="0" lvl="2" indent="0">
              <a:buClr>
                <a:srgbClr val="101141"/>
              </a:buClr>
              <a:buNone/>
            </a:pPr>
            <a:r>
              <a:rPr lang="en-US" sz="2800" dirty="0">
                <a:solidFill>
                  <a:schemeClr val="tx2">
                    <a:lumMod val="60000"/>
                    <a:lumOff val="40000"/>
                  </a:schemeClr>
                </a:solidFill>
              </a:rPr>
              <a:t>	- </a:t>
            </a:r>
            <a:r>
              <a:rPr lang="en-US" dirty="0"/>
              <a:t>radio waves behave more like light at higher frequencies. Difficult  in Passing obstacles. Absorbed by Rain.</a:t>
            </a:r>
          </a:p>
          <a:p>
            <a:pPr marL="0" lvl="2" indent="0">
              <a:buClr>
                <a:srgbClr val="101141"/>
              </a:buClr>
              <a:buNone/>
            </a:pPr>
            <a:r>
              <a:rPr lang="en-US" sz="2800" dirty="0"/>
              <a:t>	- </a:t>
            </a:r>
            <a:r>
              <a:rPr lang="en-US" dirty="0"/>
              <a:t>At lower frequencies ,it  can pass obstacles but the power falls sharply with distance from Source. </a:t>
            </a:r>
            <a:endParaRPr lang="en-IN" dirty="0"/>
          </a:p>
          <a:p>
            <a:pPr marL="0" lvl="2" indent="0">
              <a:buClr>
                <a:srgbClr val="101141"/>
              </a:buClr>
              <a:buNone/>
            </a:pPr>
            <a:endParaRPr lang="en-IN" sz="2800" dirty="0"/>
          </a:p>
          <a:p>
            <a:pPr marL="228600" lvl="2"/>
            <a:r>
              <a:rPr lang="en-US" sz="2000" dirty="0">
                <a:solidFill>
                  <a:schemeClr val="tx2">
                    <a:lumMod val="60000"/>
                    <a:lumOff val="40000"/>
                  </a:schemeClr>
                </a:solidFill>
              </a:rPr>
              <a:t>Subject to interference from other Radio wave sources</a:t>
            </a:r>
            <a:r>
              <a:rPr lang="en-US" sz="2800" dirty="0">
                <a:solidFill>
                  <a:schemeClr val="tx2">
                    <a:lumMod val="60000"/>
                    <a:lumOff val="40000"/>
                  </a:schemeClr>
                </a:solidFill>
              </a:rPr>
              <a:t>.</a:t>
            </a:r>
            <a:r>
              <a:rPr lang="en-US" sz="2800" dirty="0"/>
              <a:t>	</a:t>
            </a:r>
          </a:p>
        </p:txBody>
      </p:sp>
    </p:spTree>
    <p:extLst>
      <p:ext uri="{BB962C8B-B14F-4D97-AF65-F5344CB8AC3E}">
        <p14:creationId xmlns:p14="http://schemas.microsoft.com/office/powerpoint/2010/main" val="9093700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anim calcmode="lin" valueType="num">
                                      <p:cBhvr additive="base">
                                        <p:cTn id="7" dur="2000" fill="hold"/>
                                        <p:tgtEl>
                                          <p:spTgt spid="6">
                                            <p:txEl>
                                              <p:pRg st="0" end="0"/>
                                            </p:txEl>
                                          </p:spTgt>
                                        </p:tgtEl>
                                        <p:attrNameLst>
                                          <p:attrName>ppt_x</p:attrName>
                                        </p:attrNameLst>
                                      </p:cBhvr>
                                      <p:tavLst>
                                        <p:tav tm="0">
                                          <p:val>
                                            <p:strVal val="#ppt_x"/>
                                          </p:val>
                                        </p:tav>
                                        <p:tav tm="100000">
                                          <p:val>
                                            <p:strVal val="#ppt_x"/>
                                          </p:val>
                                        </p:tav>
                                      </p:tavLst>
                                    </p:anim>
                                    <p:anim calcmode="lin" valueType="num">
                                      <p:cBhvr additive="base">
                                        <p:cTn id="8" dur="2000" fill="hold"/>
                                        <p:tgtEl>
                                          <p:spTgt spid="6">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6">
                                            <p:txEl>
                                              <p:pRg st="1" end="1"/>
                                            </p:txEl>
                                          </p:spTgt>
                                        </p:tgtEl>
                                        <p:attrNameLst>
                                          <p:attrName>style.visibility</p:attrName>
                                        </p:attrNameLst>
                                      </p:cBhvr>
                                      <p:to>
                                        <p:strVal val="visible"/>
                                      </p:to>
                                    </p:set>
                                    <p:anim calcmode="lin" valueType="num">
                                      <p:cBhvr additive="base">
                                        <p:cTn id="13" dur="2000" fill="hold"/>
                                        <p:tgtEl>
                                          <p:spTgt spid="6">
                                            <p:txEl>
                                              <p:pRg st="1" end="1"/>
                                            </p:txEl>
                                          </p:spTgt>
                                        </p:tgtEl>
                                        <p:attrNameLst>
                                          <p:attrName>ppt_x</p:attrName>
                                        </p:attrNameLst>
                                      </p:cBhvr>
                                      <p:tavLst>
                                        <p:tav tm="0">
                                          <p:val>
                                            <p:strVal val="#ppt_x"/>
                                          </p:val>
                                        </p:tav>
                                        <p:tav tm="100000">
                                          <p:val>
                                            <p:strVal val="#ppt_x"/>
                                          </p:val>
                                        </p:tav>
                                      </p:tavLst>
                                    </p:anim>
                                    <p:anim calcmode="lin" valueType="num">
                                      <p:cBhvr additive="base">
                                        <p:cTn id="14" dur="2000" fill="hold"/>
                                        <p:tgtEl>
                                          <p:spTgt spid="6">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6">
                                            <p:txEl>
                                              <p:pRg st="2" end="2"/>
                                            </p:txEl>
                                          </p:spTgt>
                                        </p:tgtEl>
                                        <p:attrNameLst>
                                          <p:attrName>style.visibility</p:attrName>
                                        </p:attrNameLst>
                                      </p:cBhvr>
                                      <p:to>
                                        <p:strVal val="visible"/>
                                      </p:to>
                                    </p:set>
                                    <p:anim calcmode="lin" valueType="num">
                                      <p:cBhvr additive="base">
                                        <p:cTn id="19" dur="2000" fill="hold"/>
                                        <p:tgtEl>
                                          <p:spTgt spid="6">
                                            <p:txEl>
                                              <p:pRg st="2" end="2"/>
                                            </p:txEl>
                                          </p:spTgt>
                                        </p:tgtEl>
                                        <p:attrNameLst>
                                          <p:attrName>ppt_x</p:attrName>
                                        </p:attrNameLst>
                                      </p:cBhvr>
                                      <p:tavLst>
                                        <p:tav tm="0">
                                          <p:val>
                                            <p:strVal val="#ppt_x"/>
                                          </p:val>
                                        </p:tav>
                                        <p:tav tm="100000">
                                          <p:val>
                                            <p:strVal val="#ppt_x"/>
                                          </p:val>
                                        </p:tav>
                                      </p:tavLst>
                                    </p:anim>
                                    <p:anim calcmode="lin" valueType="num">
                                      <p:cBhvr additive="base">
                                        <p:cTn id="20" dur="2000" fill="hold"/>
                                        <p:tgtEl>
                                          <p:spTgt spid="6">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6">
                                            <p:txEl>
                                              <p:pRg st="4" end="4"/>
                                            </p:txEl>
                                          </p:spTgt>
                                        </p:tgtEl>
                                        <p:attrNameLst>
                                          <p:attrName>style.visibility</p:attrName>
                                        </p:attrNameLst>
                                      </p:cBhvr>
                                      <p:to>
                                        <p:strVal val="visible"/>
                                      </p:to>
                                    </p:set>
                                    <p:anim calcmode="lin" valueType="num">
                                      <p:cBhvr additive="base">
                                        <p:cTn id="25" dur="2000" fill="hold"/>
                                        <p:tgtEl>
                                          <p:spTgt spid="6">
                                            <p:txEl>
                                              <p:pRg st="4" end="4"/>
                                            </p:txEl>
                                          </p:spTgt>
                                        </p:tgtEl>
                                        <p:attrNameLst>
                                          <p:attrName>ppt_x</p:attrName>
                                        </p:attrNameLst>
                                      </p:cBhvr>
                                      <p:tavLst>
                                        <p:tav tm="0">
                                          <p:val>
                                            <p:strVal val="#ppt_x"/>
                                          </p:val>
                                        </p:tav>
                                        <p:tav tm="100000">
                                          <p:val>
                                            <p:strVal val="#ppt_x"/>
                                          </p:val>
                                        </p:tav>
                                      </p:tavLst>
                                    </p:anim>
                                    <p:anim calcmode="lin" valueType="num">
                                      <p:cBhvr additive="base">
                                        <p:cTn id="26" dur="2000" fill="hold"/>
                                        <p:tgtEl>
                                          <p:spTgt spid="6">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quarter" idx="10"/>
          </p:nvPr>
        </p:nvSpPr>
        <p:spPr/>
        <p:txBody>
          <a:bodyPr/>
          <a:lstStyle/>
          <a:p>
            <a:r>
              <a:rPr lang="en-US" dirty="0"/>
              <a:t>Summary</a:t>
            </a:r>
          </a:p>
        </p:txBody>
      </p:sp>
      <p:sp>
        <p:nvSpPr>
          <p:cNvPr id="3" name="Content Placeholder 2"/>
          <p:cNvSpPr>
            <a:spLocks noGrp="1"/>
          </p:cNvSpPr>
          <p:nvPr>
            <p:ph idx="1"/>
          </p:nvPr>
        </p:nvSpPr>
        <p:spPr/>
        <p:txBody>
          <a:bodyPr/>
          <a:lstStyle/>
          <a:p>
            <a:endParaRPr lang="en-US" dirty="0"/>
          </a:p>
          <a:p>
            <a:r>
              <a:rPr lang="en-IN" dirty="0"/>
              <a:t>Radio waves are electromagnetic radiation in the frequency range (3KHz to 300KHz)</a:t>
            </a:r>
          </a:p>
          <a:p>
            <a:r>
              <a:rPr lang="en-IN" dirty="0"/>
              <a:t>Radio waves are used in Broadcast, Navigation, cellular systems, Radars etc.</a:t>
            </a:r>
          </a:p>
          <a:p>
            <a:r>
              <a:rPr lang="en-IN" dirty="0"/>
              <a:t>ITU has divided the radio spectrum into various frequency bands to avoid interference and effective use of radio spectrum.</a:t>
            </a:r>
          </a:p>
          <a:p>
            <a:r>
              <a:rPr lang="en-US" dirty="0"/>
              <a:t>Radio waves generation is easy, it can penetrate buildings, travel long distances  etc.</a:t>
            </a:r>
            <a:endParaRPr lang="en-IN" dirty="0"/>
          </a:p>
          <a:p>
            <a:pPr marL="0" indent="0">
              <a:buNone/>
            </a:pPr>
            <a:endParaRPr lang="en-IN" dirty="0"/>
          </a:p>
          <a:p>
            <a:endParaRPr lang="en-IN" dirty="0"/>
          </a:p>
          <a:p>
            <a:endParaRPr lang="en-US" dirty="0"/>
          </a:p>
        </p:txBody>
      </p:sp>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MMPROD_NEXTUNIQUEID" val="10009"/>
  <p:tag name="MMPROD_UIDATA" val="&lt;database version=&quot;8.0&quot;&gt;&lt;object type=&quot;1&quot; unique_id=&quot;10001&quot;&gt;&lt;object type=&quot;2&quot; unique_id=&quot;10016&quot;&gt;&lt;object type=&quot;3&quot; unique_id=&quot;10017&quot;&gt;&lt;property id=&quot;20148&quot; value=&quot;5&quot;/&gt;&lt;property id=&quot;20300&quot; value=&quot;Slide 1&quot;/&gt;&lt;property id=&quot;20307&quot; value=&quot;381&quot;/&gt;&lt;/object&gt;&lt;object type=&quot;3&quot; unique_id=&quot;10051&quot;&gt;&lt;property id=&quot;20148&quot; value=&quot;5&quot;/&gt;&lt;property id=&quot;20300&quot; value=&quot;Slide 2&quot;/&gt;&lt;property id=&quot;20307&quot; value=&quot;386&quot;/&gt;&lt;/object&gt;&lt;object type=&quot;3&quot; unique_id=&quot;10052&quot;&gt;&lt;property id=&quot;20148&quot; value=&quot;5&quot;/&gt;&lt;property id=&quot;20300&quot; value=&quot;Slide 3&quot;/&gt;&lt;property id=&quot;20307&quot; value=&quot;387&quot;/&gt;&lt;/object&gt;&lt;/object&gt;&lt;object type=&quot;8&quot; unique_id=&quot;10026&quot;&gt;&lt;/object&gt;&lt;/object&gt;&lt;/database&gt;"/>
  <p:tag name="SECTOMILLISECCONVERTED" val="1"/>
</p:tagLst>
</file>

<file path=ppt/theme/theme1.xml><?xml version="1.0" encoding="utf-8"?>
<a:theme xmlns:a="http://schemas.openxmlformats.org/drawingml/2006/main" name="BITS_PPT_templat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bits.thmx</Template>
  <TotalTime>3622</TotalTime>
  <Words>391</Words>
  <Application>Microsoft Office PowerPoint</Application>
  <PresentationFormat>On-screen Show (16:9)</PresentationFormat>
  <Paragraphs>66</Paragraphs>
  <Slides>8</Slides>
  <Notes>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8</vt:i4>
      </vt:variant>
    </vt:vector>
  </HeadingPairs>
  <TitlesOfParts>
    <vt:vector size="12" baseType="lpstr">
      <vt:lpstr>Arial</vt:lpstr>
      <vt:lpstr>Calibri</vt:lpstr>
      <vt:lpstr>Wingdings</vt:lpstr>
      <vt:lpstr>BITS_PPT_template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Anil</dc:creator>
  <cp:lastModifiedBy>Abid AK</cp:lastModifiedBy>
  <cp:revision>243</cp:revision>
  <dcterms:created xsi:type="dcterms:W3CDTF">2015-06-09T08:31:04Z</dcterms:created>
  <dcterms:modified xsi:type="dcterms:W3CDTF">2025-04-17T13:01:18Z</dcterms:modified>
</cp:coreProperties>
</file>