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</p:sldMasterIdLst>
  <p:notesMasterIdLst>
    <p:notesMasterId r:id="rId12"/>
  </p:notesMasterIdLst>
  <p:handoutMasterIdLst>
    <p:handoutMasterId r:id="rId13"/>
  </p:handoutMasterIdLst>
  <p:sldIdLst>
    <p:sldId id="400" r:id="rId2"/>
    <p:sldId id="401" r:id="rId3"/>
    <p:sldId id="402" r:id="rId4"/>
    <p:sldId id="403" r:id="rId5"/>
    <p:sldId id="404" r:id="rId6"/>
    <p:sldId id="405" r:id="rId7"/>
    <p:sldId id="406" r:id="rId8"/>
    <p:sldId id="407" r:id="rId9"/>
    <p:sldId id="408" r:id="rId10"/>
    <p:sldId id="391" r:id="rId11"/>
  </p:sldIdLst>
  <p:sldSz cx="9144000" cy="5143500" type="screen16x9"/>
  <p:notesSz cx="6858000" cy="9144000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56" autoAdjust="0"/>
    <p:restoredTop sz="94434" autoAdjust="0"/>
  </p:normalViewPr>
  <p:slideViewPr>
    <p:cSldViewPr snapToGrid="0">
      <p:cViewPr varScale="1">
        <p:scale>
          <a:sx n="97" d="100"/>
          <a:sy n="97" d="100"/>
        </p:scale>
        <p:origin x="1027" y="72"/>
      </p:cViewPr>
      <p:guideLst>
        <p:guide orient="horz" pos="2160"/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-2844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394F4B-DBDD-4BF7-B613-78EDB047F2F9}" type="datetimeFigureOut">
              <a:rPr lang="en-US" smtClean="0"/>
              <a:pPr/>
              <a:t>4/17/2025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01AD7E-7F9D-4576-9772-0B1B702F1F5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50782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42289B-64AB-40F4-866F-7386DC470D15}" type="datetimeFigureOut">
              <a:rPr lang="en-US" smtClean="0"/>
              <a:pPr/>
              <a:t>4/17/2025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38DE6F-CB63-4507-A312-B89798DB40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56821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38DE6F-CB63-4507-A312-B89798DB40F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1256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6"/>
          <p:cNvSpPr>
            <a:spLocks noGrp="1"/>
          </p:cNvSpPr>
          <p:nvPr>
            <p:ph sz="quarter" idx="10" hasCustomPrompt="1"/>
          </p:nvPr>
        </p:nvSpPr>
        <p:spPr>
          <a:xfrm>
            <a:off x="245444" y="116706"/>
            <a:ext cx="6537960" cy="5829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200" b="1" spc="225" baseline="0">
                <a:solidFill>
                  <a:srgbClr val="FF0000"/>
                </a:solidFill>
                <a:effectLst/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Topic name here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274320" y="754380"/>
            <a:ext cx="8503920" cy="4114800"/>
          </a:xfrm>
          <a:prstGeom prst="rect">
            <a:avLst/>
          </a:prstGeom>
        </p:spPr>
        <p:txBody>
          <a:bodyPr lIns="0" rIns="0"/>
          <a:lstStyle>
            <a:lvl1pPr marL="255985" marR="0" indent="-255985" algn="just" defTabSz="6858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FF0000"/>
              </a:buClr>
              <a:buSzTx/>
              <a:buFont typeface="Arial" pitchFamily="34" charset="0"/>
              <a:buChar char="•"/>
              <a:tabLst/>
              <a:defRPr sz="1800">
                <a:latin typeface="Arial" pitchFamily="34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0" y="685801"/>
            <a:ext cx="7010400" cy="34289"/>
            <a:chOff x="1905000" y="6553200"/>
            <a:chExt cx="7010400" cy="45719"/>
          </a:xfrm>
        </p:grpSpPr>
        <p:sp>
          <p:nvSpPr>
            <p:cNvPr id="6" name="Rectangle 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00152"/>
            <a:ext cx="8229600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8195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200" b="1" kern="1200">
          <a:solidFill>
            <a:schemeClr val="tx1"/>
          </a:solidFill>
          <a:effectLst/>
          <a:latin typeface="Arial" pitchFamily="34" charset="0"/>
          <a:ea typeface="+mn-ea"/>
          <a:cs typeface="Arial" pitchFamily="34" charset="0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Co-Channel Interference and System Capacity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The interference between signals from Co channel cells is called Co-channel Interference.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To reduce co-channel interference, co-channel cells must be physically separated by a minimum distance to provide sufficient isolation.</a:t>
            </a:r>
          </a:p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186218" y="1870478"/>
            <a:ext cx="23064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Adjacent Channels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6883" y="4665105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Co- Channels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8910" y="3085693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19845" y="329389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09609" y="2989932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46172" y="2761152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2098" y="2914605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5341" y="3334534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29146" y="3466027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7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 rotWithShape="1">
          <a:blip r:embed="rId2"/>
          <a:srcRect l="36353" t="24873" r="37007" b="30941"/>
          <a:stretch/>
        </p:blipFill>
        <p:spPr>
          <a:xfrm>
            <a:off x="1126091" y="2256171"/>
            <a:ext cx="2110910" cy="1968456"/>
          </a:xfrm>
          <a:prstGeom prst="rect">
            <a:avLst/>
          </a:prstGeom>
        </p:spPr>
      </p:pic>
      <p:cxnSp>
        <p:nvCxnSpPr>
          <p:cNvPr id="23" name="Straight Arrow Connector 22"/>
          <p:cNvCxnSpPr>
            <a:endCxn id="13" idx="1"/>
          </p:cNvCxnSpPr>
          <p:nvPr/>
        </p:nvCxnSpPr>
        <p:spPr>
          <a:xfrm flipV="1">
            <a:off x="2572245" y="2070533"/>
            <a:ext cx="613973" cy="4980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endCxn id="13" idx="1"/>
          </p:cNvCxnSpPr>
          <p:nvPr/>
        </p:nvCxnSpPr>
        <p:spPr>
          <a:xfrm flipV="1">
            <a:off x="2724645" y="2070533"/>
            <a:ext cx="461573" cy="8223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1786898" y="3835359"/>
            <a:ext cx="311674" cy="829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>
            <a:off x="2029146" y="3960006"/>
            <a:ext cx="600490" cy="6969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3323505" y="4576106"/>
            <a:ext cx="1916130" cy="458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Courtesy to Theodore S. Rappaport       </a:t>
            </a:r>
            <a:endParaRPr lang="en-IN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©2002, 1996 Prentice Hall PTR</a:t>
            </a:r>
            <a:endParaRPr lang="en-IN" sz="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1205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Co-Channel Interference and System Capacity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dirty="0"/>
                  <a:t>The co-channel interference ratio -  It is the function of the radius of the cell (R ) and the distance between centers of the nearest co-channel cells(D). </a:t>
                </a:r>
              </a:p>
              <a:p>
                <a:pPr marL="0" indent="0">
                  <a:buNone/>
                </a:pPr>
                <a:r>
                  <a:rPr lang="en-US" dirty="0"/>
                  <a:t>The parameter </a:t>
                </a:r>
                <a:r>
                  <a:rPr lang="en-US" i="1" dirty="0">
                    <a:solidFill>
                      <a:schemeClr val="accent1"/>
                    </a:solidFill>
                  </a:rPr>
                  <a:t>Q</a:t>
                </a:r>
                <a:r>
                  <a:rPr lang="en-US" dirty="0"/>
                  <a:t> is called the </a:t>
                </a:r>
                <a:r>
                  <a:rPr lang="en-US" i="1" dirty="0">
                    <a:solidFill>
                      <a:schemeClr val="accent1"/>
                    </a:solidFill>
                  </a:rPr>
                  <a:t>co-channel reuse ratio </a:t>
                </a:r>
                <a:r>
                  <a:rPr lang="en-US" dirty="0"/>
                  <a:t>is related to the cluster size.</a:t>
                </a:r>
              </a:p>
              <a:p>
                <a:pPr marL="0" indent="0">
                  <a:buNone/>
                </a:pPr>
                <a:r>
                  <a:rPr lang="en-US" dirty="0"/>
                  <a:t>For a hexagonal geometry </a:t>
                </a:r>
              </a:p>
              <a:p>
                <a:pPr marL="0" indent="0">
                  <a:buNone/>
                </a:pPr>
                <a:r>
                  <a:rPr lang="en-US" dirty="0"/>
                  <a:t>        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𝑄</m:t>
                    </m:r>
                    <m:r>
                      <a:rPr lang="en-US" i="1" dirty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/>
                          </a:rPr>
                          <m:t>𝐷</m:t>
                        </m:r>
                      </m:num>
                      <m:den>
                        <m:r>
                          <a:rPr lang="en-US" i="1" dirty="0">
                            <a:latin typeface="Cambria Math"/>
                          </a:rPr>
                          <m:t>𝑅</m:t>
                        </m:r>
                      </m:den>
                    </m:f>
                    <m:r>
                      <a:rPr lang="en-US" i="1" dirty="0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 dirty="0">
                            <a:latin typeface="Cambria Math"/>
                          </a:rPr>
                          <m:t>3</m:t>
                        </m:r>
                        <m:r>
                          <a:rPr lang="en-US" i="1" dirty="0">
                            <a:latin typeface="Cambria Math"/>
                          </a:rPr>
                          <m:t>𝑁</m:t>
                        </m:r>
                      </m:e>
                    </m:rad>
                    <m:r>
                      <a:rPr lang="en-US" i="1" dirty="0">
                        <a:latin typeface="Cambria Math"/>
                      </a:rPr>
                      <m:t> 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Smaller Q – Larger capacity</a:t>
                </a:r>
              </a:p>
              <a:p>
                <a:pPr marL="0" indent="0">
                  <a:buNone/>
                </a:pPr>
                <a:r>
                  <a:rPr lang="en-US" dirty="0"/>
                  <a:t>Larger Q – less co-channel interference </a:t>
                </a:r>
              </a:p>
              <a:p>
                <a:pPr marL="0" indent="0">
                  <a:buNone/>
                </a:pPr>
                <a:r>
                  <a:rPr lang="en-US" dirty="0"/>
                  <a:t>                  Improves transmission quality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649" t="-889" r="-164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1453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Co-Channel Interference and System Capacity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i0 - number of co-channel interfering cells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average power received at a distance d from the transmitting antenna is 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	</a:t>
            </a:r>
          </a:p>
        </p:txBody>
      </p:sp>
      <p:pic>
        <p:nvPicPr>
          <p:cNvPr id="6" name="Picture 5"/>
          <p:cNvPicPr/>
          <p:nvPr/>
        </p:nvPicPr>
        <p:blipFill rotWithShape="1">
          <a:blip r:embed="rId2"/>
          <a:srcRect l="41381" t="42266" r="44992" b="51822"/>
          <a:stretch/>
        </p:blipFill>
        <p:spPr bwMode="auto">
          <a:xfrm>
            <a:off x="1643865" y="1330505"/>
            <a:ext cx="2511933" cy="47774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9"/>
          <p:cNvPicPr>
            <a:picLocks noChangeAspect="1" noChangeArrowheads="1"/>
          </p:cNvPicPr>
          <p:nvPr/>
        </p:nvPicPr>
        <p:blipFill>
          <a:blip r:embed="rId3"/>
          <a:srcRect l="35139" t="62500" r="38507" b="31250"/>
          <a:stretch>
            <a:fillRect/>
          </a:stretch>
        </p:blipFill>
        <p:spPr bwMode="auto">
          <a:xfrm>
            <a:off x="1376737" y="2986047"/>
            <a:ext cx="3184034" cy="5261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Straight Arrow Connector 7"/>
          <p:cNvCxnSpPr/>
          <p:nvPr/>
        </p:nvCxnSpPr>
        <p:spPr>
          <a:xfrm>
            <a:off x="2810360" y="3335470"/>
            <a:ext cx="76200" cy="6597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160468" y="4109015"/>
            <a:ext cx="4731623" cy="64633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Power received at a reference point in the far field region of an antenna at a distance d0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3912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Calculation of SIR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For a hexagonal cluster of cells</a:t>
                </a:r>
              </a:p>
              <a:p>
                <a:endParaRPr lang="en-US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𝑆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𝐼</m:t>
                          </m:r>
                        </m:den>
                      </m:f>
                      <m:r>
                        <a:rPr lang="en-US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6</m:t>
                          </m:r>
                        </m:den>
                      </m:f>
                      <m:r>
                        <a:rPr lang="en-US" i="1">
                          <a:latin typeface="Cambria Math"/>
                        </a:rPr>
                        <m:t>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𝐷</m:t>
                              </m:r>
                            </m:e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𝑅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6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ad>
                                <m:radPr>
                                  <m:deg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3</m:t>
                                  </m:r>
                                  <m:r>
                                    <a:rPr lang="en-US" i="1">
                                      <a:latin typeface="Cambria Math"/>
                                    </a:rPr>
                                    <m:t>𝑁</m:t>
                                  </m:r>
                                </m:e>
                              </m:rad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chemeClr val="accent1"/>
                    </a:solidFill>
                  </a:rPr>
                  <a:t>Example designs:</a:t>
                </a:r>
              </a:p>
              <a:p>
                <a:pPr marL="0" indent="0">
                  <a:buNone/>
                </a:pPr>
                <a:r>
                  <a:rPr lang="en-US" dirty="0"/>
                  <a:t>Design parameters (1):</a:t>
                </a:r>
              </a:p>
              <a:p>
                <a:pPr lvl="1">
                  <a:buFont typeface="Wingdings" pitchFamily="2" charset="2"/>
                  <a:buChar char="ü"/>
                </a:pPr>
                <a:r>
                  <a:rPr lang="en-US" sz="1600" b="0" dirty="0"/>
                  <a:t>Desired signal to interference ratio is 15dB </a:t>
                </a:r>
              </a:p>
              <a:p>
                <a:pPr lvl="1">
                  <a:buFont typeface="Wingdings" pitchFamily="2" charset="2"/>
                  <a:buChar char="ü"/>
                </a:pPr>
                <a:r>
                  <a:rPr lang="en-US" sz="1600" b="0" dirty="0"/>
                  <a:t>Path loss exponent n = 4</a:t>
                </a:r>
              </a:p>
              <a:p>
                <a:pPr lvl="1">
                  <a:buFont typeface="Wingdings" pitchFamily="2" charset="2"/>
                  <a:buChar char="ü"/>
                </a:pPr>
                <a:r>
                  <a:rPr lang="en-US" sz="1600" b="0" dirty="0"/>
                  <a:t>What is frequency reuse factor?</a:t>
                </a:r>
              </a:p>
              <a:p>
                <a:endParaRPr lang="en-IN" sz="1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792" t="-8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4" descr="http://jan.ucc.nau.edu/~ee53x-c/samples/mod1cagraphic3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7344" y="1949796"/>
            <a:ext cx="1672119" cy="1723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32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Calculation of SIR</a:t>
            </a:r>
            <a:endParaRPr lang="en-IN" dirty="0"/>
          </a:p>
          <a:p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First try N=4,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/>
                          </a:rPr>
                          <m:t>𝐷</m:t>
                        </m:r>
                      </m:num>
                      <m:den>
                        <m:r>
                          <a:rPr lang="en-US" i="1" dirty="0">
                            <a:latin typeface="Cambria Math"/>
                          </a:rPr>
                          <m:t>𝑅</m:t>
                        </m:r>
                      </m:den>
                    </m:f>
                    <m:r>
                      <a:rPr lang="en-US" i="1" dirty="0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 dirty="0">
                            <a:latin typeface="Cambria Math"/>
                          </a:rPr>
                          <m:t>3</m:t>
                        </m:r>
                        <m:r>
                          <a:rPr lang="en-US" i="1" dirty="0">
                            <a:latin typeface="Cambria Math"/>
                          </a:rPr>
                          <m:t>𝑁</m:t>
                        </m:r>
                      </m:e>
                    </m:rad>
                    <m:r>
                      <a:rPr lang="en-US" i="1" dirty="0">
                        <a:latin typeface="Cambria Math"/>
                      </a:rPr>
                      <m:t> </m:t>
                    </m:r>
                  </m:oMath>
                </a14:m>
                <a:endParaRPr lang="en-US" dirty="0"/>
              </a:p>
              <a:p>
                <a:pPr lvl="1"/>
                <a:r>
                  <a:rPr lang="en-US" sz="1800" b="0" dirty="0"/>
                  <a:t>D/R = 3.46 =&gt; S/I = 1/6 (3.46)^4 = 24.0 = 13.8 dB</a:t>
                </a:r>
              </a:p>
              <a:p>
                <a:pPr lvl="1"/>
                <a:r>
                  <a:rPr lang="en-US" sz="1800" b="0" dirty="0"/>
                  <a:t>Since this is </a:t>
                </a:r>
                <a:r>
                  <a:rPr lang="en-US" sz="1800" b="0" i="1" dirty="0">
                    <a:solidFill>
                      <a:schemeClr val="accent1"/>
                    </a:solidFill>
                  </a:rPr>
                  <a:t>lesser</a:t>
                </a:r>
                <a:r>
                  <a:rPr lang="en-US" sz="1800" b="0" dirty="0"/>
                  <a:t> than the minimum required S/I (15dB)</a:t>
                </a:r>
              </a:p>
              <a:p>
                <a:pPr lvl="1"/>
                <a:r>
                  <a:rPr lang="en-US" sz="1800" b="0" dirty="0"/>
                  <a:t>Move to the next higher reuse distance. </a:t>
                </a:r>
              </a:p>
              <a:p>
                <a:pPr lvl="1"/>
                <a:endParaRPr lang="en-US" sz="1800" b="0" dirty="0"/>
              </a:p>
              <a:p>
                <a:pPr>
                  <a:buFont typeface="Arial" pitchFamily="34" charset="0"/>
                  <a:buChar char="•"/>
                </a:pPr>
                <a:r>
                  <a:rPr lang="en-US" dirty="0"/>
                  <a:t>Next try N=7,</a:t>
                </a:r>
              </a:p>
              <a:p>
                <a:pPr lvl="1"/>
                <a:r>
                  <a:rPr lang="en-US" sz="1800" b="0" dirty="0"/>
                  <a:t>D/R = 4.58 =&gt; S/I = 1/6 (4.58)^4 = 73.5 = 18.66 dB</a:t>
                </a:r>
              </a:p>
              <a:p>
                <a:pPr lvl="1"/>
                <a:r>
                  <a:rPr lang="en-US" sz="1800" b="0" dirty="0"/>
                  <a:t>This is </a:t>
                </a:r>
                <a:r>
                  <a:rPr lang="en-US" sz="1800" b="0" i="1" dirty="0">
                    <a:solidFill>
                      <a:schemeClr val="accent1"/>
                    </a:solidFill>
                  </a:rPr>
                  <a:t>greater</a:t>
                </a:r>
                <a:r>
                  <a:rPr lang="en-US" sz="1800" b="0" dirty="0"/>
                  <a:t> than the minimum required S/I (15dB)</a:t>
                </a:r>
              </a:p>
              <a:p>
                <a:pPr lvl="1"/>
                <a:r>
                  <a:rPr lang="en-US" sz="1800" b="0" dirty="0"/>
                  <a:t>Hence, </a:t>
                </a:r>
                <a:r>
                  <a:rPr lang="en-US" sz="1800" b="0" dirty="0">
                    <a:solidFill>
                      <a:schemeClr val="accent1"/>
                    </a:solidFill>
                  </a:rPr>
                  <a:t>frequency reuse factor = 1/N = 1/7 </a:t>
                </a:r>
              </a:p>
              <a:p>
                <a:pPr lvl="1"/>
                <a:endParaRPr lang="en-US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4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9573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Adjacent Channel interference (ACI)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ACI results from signals that are </a:t>
            </a:r>
            <a:r>
              <a:rPr lang="en-US" dirty="0">
                <a:solidFill>
                  <a:schemeClr val="accent1"/>
                </a:solidFill>
              </a:rPr>
              <a:t>adjacent</a:t>
            </a:r>
            <a:r>
              <a:rPr lang="en-US" dirty="0"/>
              <a:t> in the frequency to the desired signal.</a:t>
            </a:r>
          </a:p>
          <a:p>
            <a:endParaRPr lang="en-US" dirty="0"/>
          </a:p>
          <a:p>
            <a:r>
              <a:rPr lang="en-US" dirty="0"/>
              <a:t>This results from </a:t>
            </a:r>
            <a:r>
              <a:rPr lang="en-US" dirty="0">
                <a:solidFill>
                  <a:schemeClr val="accent1"/>
                </a:solidFill>
              </a:rPr>
              <a:t>imperfect receiver filters </a:t>
            </a:r>
            <a:r>
              <a:rPr lang="en-US" dirty="0"/>
              <a:t>that allow nearby frequencies to leak in.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0752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sz="2400" dirty="0"/>
              <a:t>Adjacent Channel interference (ACI)</a:t>
            </a:r>
            <a:endParaRPr lang="en-IN" sz="2400" dirty="0"/>
          </a:p>
        </p:txBody>
      </p:sp>
      <p:sp>
        <p:nvSpPr>
          <p:cNvPr id="4" name="Content Placeholder 1"/>
          <p:cNvSpPr>
            <a:spLocks noGrp="1"/>
          </p:cNvSpPr>
          <p:nvPr>
            <p:ph idx="1"/>
          </p:nvPr>
        </p:nvSpPr>
        <p:spPr>
          <a:xfrm>
            <a:off x="-192641" y="2919898"/>
            <a:ext cx="7459037" cy="1464702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endParaRPr lang="en-US" dirty="0">
              <a:latin typeface="+mj-lt"/>
            </a:endParaRPr>
          </a:p>
          <a:p>
            <a:pPr marL="0" indent="0">
              <a:buNone/>
            </a:pPr>
            <a:endParaRPr lang="en-US" dirty="0">
              <a:latin typeface="+mj-lt"/>
            </a:endParaRPr>
          </a:p>
          <a:p>
            <a:pPr>
              <a:buFont typeface="Arial" pitchFamily="34" charset="0"/>
              <a:buChar char="•"/>
            </a:pPr>
            <a:endParaRPr lang="en-US" dirty="0">
              <a:latin typeface="+mj-lt"/>
            </a:endParaRPr>
          </a:p>
          <a:p>
            <a:pPr>
              <a:buFont typeface="Arial" pitchFamily="34" charset="0"/>
              <a:buChar char="•"/>
            </a:pPr>
            <a:endParaRPr lang="en-US" dirty="0">
              <a:latin typeface="+mj-lt"/>
            </a:endParaRPr>
          </a:p>
          <a:p>
            <a:pPr>
              <a:buFont typeface="Arial" pitchFamily="34" charset="0"/>
              <a:buChar char="•"/>
            </a:pPr>
            <a:endParaRPr lang="en-US" dirty="0">
              <a:latin typeface="+mj-lt"/>
            </a:endParaRPr>
          </a:p>
          <a:p>
            <a:pPr>
              <a:buFont typeface="Arial" pitchFamily="34" charset="0"/>
              <a:buChar char="•"/>
            </a:pPr>
            <a:endParaRPr lang="en-US" dirty="0">
              <a:latin typeface="+mj-lt"/>
            </a:endParaRPr>
          </a:p>
          <a:p>
            <a:pPr>
              <a:buFont typeface="Arial" pitchFamily="34" charset="0"/>
              <a:buChar char="•"/>
            </a:pPr>
            <a:endParaRPr lang="en-US" dirty="0">
              <a:latin typeface="+mj-lt"/>
            </a:endParaRPr>
          </a:p>
          <a:p>
            <a:pPr>
              <a:buFont typeface="Arial" pitchFamily="34" charset="0"/>
              <a:buChar char="•"/>
            </a:pPr>
            <a:r>
              <a:rPr lang="en-US" dirty="0">
                <a:latin typeface="+mj-lt"/>
              </a:rPr>
              <a:t>To overcome ACI, the </a:t>
            </a:r>
            <a:r>
              <a:rPr lang="en-US" dirty="0">
                <a:solidFill>
                  <a:schemeClr val="accent1"/>
                </a:solidFill>
                <a:latin typeface="+mj-lt"/>
              </a:rPr>
              <a:t>frequency separation </a:t>
            </a:r>
            <a:r>
              <a:rPr lang="en-US" dirty="0">
                <a:latin typeface="+mj-lt"/>
              </a:rPr>
              <a:t>between each channel in cell should be made as large as possible.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18" r="60036"/>
          <a:stretch/>
        </p:blipFill>
        <p:spPr bwMode="auto">
          <a:xfrm>
            <a:off x="3000054" y="1516295"/>
            <a:ext cx="482885" cy="153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6" name="Group 5"/>
          <p:cNvGrpSpPr/>
          <p:nvPr/>
        </p:nvGrpSpPr>
        <p:grpSpPr>
          <a:xfrm>
            <a:off x="1631878" y="2843698"/>
            <a:ext cx="4953000" cy="521732"/>
            <a:chOff x="1981200" y="3962400"/>
            <a:chExt cx="4953000" cy="521732"/>
          </a:xfrm>
        </p:grpSpPr>
        <p:sp>
          <p:nvSpPr>
            <p:cNvPr id="7" name="TextBox 6"/>
            <p:cNvSpPr txBox="1"/>
            <p:nvPr/>
          </p:nvSpPr>
          <p:spPr>
            <a:xfrm>
              <a:off x="3276600" y="4114800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rgbClr val="FF0000"/>
                  </a:solidFill>
                  <a:cs typeface="Arial" charset="0"/>
                </a:rPr>
                <a:t>BS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715000" y="4038600"/>
              <a:ext cx="1219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rgbClr val="FF0000"/>
                  </a:solidFill>
                  <a:cs typeface="Arial" charset="0"/>
                </a:rPr>
                <a:t>Subscriber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981200" y="3962400"/>
              <a:ext cx="1219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rgbClr val="FF0000"/>
                  </a:solidFill>
                  <a:cs typeface="Arial" charset="0"/>
                </a:rPr>
                <a:t>Interferer</a:t>
              </a:r>
            </a:p>
          </p:txBody>
        </p:sp>
      </p:grpSp>
      <p:pic>
        <p:nvPicPr>
          <p:cNvPr id="1026" name="Picture 2" descr="Image result for mobile image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3341" y="2283057"/>
            <a:ext cx="512897" cy="546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lated image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1791" y="2198995"/>
            <a:ext cx="427346" cy="644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Arrow Connector 9"/>
          <p:cNvCxnSpPr/>
          <p:nvPr/>
        </p:nvCxnSpPr>
        <p:spPr>
          <a:xfrm flipV="1">
            <a:off x="2157573" y="1921267"/>
            <a:ext cx="769705" cy="277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3631915" y="1964933"/>
            <a:ext cx="1597631" cy="7327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1"/>
          <p:cNvSpPr txBox="1">
            <a:spLocks/>
          </p:cNvSpPr>
          <p:nvPr/>
        </p:nvSpPr>
        <p:spPr bwMode="auto">
          <a:xfrm>
            <a:off x="277402" y="729465"/>
            <a:ext cx="8500838" cy="4139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marL="255985" marR="0" indent="-255985" algn="just" defTabSz="6858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FF0000"/>
              </a:buClr>
              <a:buSzTx/>
              <a:buFont typeface="Arial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 b="1" kern="120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5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  <a:latin typeface="+mj-lt"/>
              </a:rPr>
              <a:t>Near far effect:  </a:t>
            </a:r>
            <a:r>
              <a:rPr lang="en-US" dirty="0">
                <a:latin typeface="+mj-lt"/>
              </a:rPr>
              <a:t>An interferer close to the BS radiates in the adjacent channel while the subscriber is far away from the BS.</a:t>
            </a:r>
          </a:p>
          <a:p>
            <a:endParaRPr lang="en-US" dirty="0">
              <a:latin typeface="+mj-lt"/>
            </a:endParaRPr>
          </a:p>
          <a:p>
            <a:pPr marL="0" indent="0">
              <a:buFont typeface="Arial" pitchFamily="34" charset="0"/>
              <a:buNone/>
            </a:pPr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To overcome ACI, the </a:t>
            </a:r>
            <a:r>
              <a:rPr lang="en-US" dirty="0">
                <a:solidFill>
                  <a:schemeClr val="accent1"/>
                </a:solidFill>
                <a:latin typeface="+mj-lt"/>
              </a:rPr>
              <a:t>frequency separation </a:t>
            </a:r>
            <a:r>
              <a:rPr lang="en-US" dirty="0">
                <a:latin typeface="+mj-lt"/>
              </a:rPr>
              <a:t>between each channel in cell should be made as large as possible.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6848" y="1672482"/>
            <a:ext cx="26901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Overpowered by strong signals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395574" y="1744895"/>
            <a:ext cx="23887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Block entire cell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979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sz="2400" dirty="0"/>
              <a:t>Adjacent Channel interference (ACI)</a:t>
            </a:r>
            <a:endParaRPr lang="en-I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If a subscriber is at a distance d1 and the interferer is at a distance d2, then the signal to interference ratio is given by </a:t>
                </a:r>
              </a:p>
              <a:p>
                <a:pPr marL="0" indent="0"/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accent1"/>
                    </a:solidFill>
                  </a:rPr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/>
                          </a:rPr>
                          <m:t>𝑆</m:t>
                        </m:r>
                      </m:num>
                      <m:den>
                        <m:r>
                          <a:rPr lang="en-US" sz="2000" i="1">
                            <a:latin typeface="Cambria Math"/>
                          </a:rPr>
                          <m:t>𝐼</m:t>
                        </m:r>
                      </m:den>
                    </m:f>
                    <m:r>
                      <a:rPr lang="en-US" sz="2000" i="1">
                        <a:latin typeface="Cambria Math"/>
                      </a:rPr>
                      <m:t>= 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latin typeface="Cambria Math"/>
                                  </a:rPr>
                                  <m:t>𝑑</m:t>
                                </m:r>
                                <m:r>
                                  <a:rPr lang="en-US" sz="2000" i="1">
                                    <a:latin typeface="Cambria Math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000" i="1">
                                    <a:latin typeface="Cambria Math"/>
                                  </a:rPr>
                                  <m:t>𝑑</m:t>
                                </m:r>
                                <m:r>
                                  <a:rPr lang="en-US" sz="2000" i="1">
                                    <a:latin typeface="Cambria Math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000" i="1">
                            <a:latin typeface="Cambria Math"/>
                          </a:rPr>
                          <m:t>−</m:t>
                        </m:r>
                        <m:r>
                          <a:rPr lang="en-US" sz="2000" i="1"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endParaRPr lang="en-US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accent1"/>
                    </a:solidFill>
                  </a:rPr>
                  <a:t>Example:</a:t>
                </a:r>
              </a:p>
              <a:p>
                <a:pPr>
                  <a:buFont typeface="Wingdings" pitchFamily="2" charset="2"/>
                  <a:buChar char="ü"/>
                </a:pPr>
                <a:r>
                  <a:rPr lang="en-US" dirty="0"/>
                  <a:t>Suppose the subscriber is at a distance of 1000 m from the base station </a:t>
                </a:r>
              </a:p>
              <a:p>
                <a:pPr>
                  <a:buFont typeface="Wingdings" pitchFamily="2" charset="2"/>
                  <a:buChar char="ü"/>
                </a:pPr>
                <a:r>
                  <a:rPr lang="en-US" dirty="0"/>
                  <a:t>Another mobile which is using an adjacent channel is at a distance of only 100 m from the base station. </a:t>
                </a:r>
              </a:p>
              <a:p>
                <a:pPr>
                  <a:buFont typeface="Wingdings" pitchFamily="2" charset="2"/>
                  <a:buChar char="ü"/>
                </a:pPr>
                <a:r>
                  <a:rPr lang="en-US" dirty="0"/>
                  <a:t>Path loss exponent n = 3.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649" t="-889" r="-164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8539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IN" dirty="0"/>
          </a:p>
          <a:p>
            <a:r>
              <a:rPr lang="en-IN" dirty="0"/>
              <a:t>Power control</a:t>
            </a:r>
          </a:p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Reduction of interference is possible by having the power level transmitted by user are under constant control by the serving base station.</a:t>
            </a:r>
          </a:p>
          <a:p>
            <a:endParaRPr lang="en-IN" dirty="0"/>
          </a:p>
          <a:p>
            <a:r>
              <a:rPr lang="en-IN" dirty="0"/>
              <a:t>Power control improves long life of battery for the user</a:t>
            </a:r>
          </a:p>
          <a:p>
            <a:endParaRPr lang="en-IN" dirty="0"/>
          </a:p>
          <a:p>
            <a:r>
              <a:rPr lang="en-IN" dirty="0"/>
              <a:t>Reduces the reverse channel S/I in the system.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2075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r>
              <a:rPr lang="en-US" dirty="0"/>
              <a:t>co-channel cells must be physically separated by a minimum distance to provide sufficient isolation and avoid co-channel interference. </a:t>
            </a:r>
          </a:p>
          <a:p>
            <a:r>
              <a:rPr lang="en-US" dirty="0"/>
              <a:t>Imperfect receiver filters and also the near far effect are the cause for the adjacent channel interference.</a:t>
            </a:r>
          </a:p>
          <a:p>
            <a:r>
              <a:rPr lang="en-US" dirty="0"/>
              <a:t>Power control improves battery life and also  help in reducing the reverse channel S/I ratio.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  <a:p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8.0&quot;&gt;&lt;object type=&quot;1&quot; unique_id=&quot;10001&quot;&gt;&lt;object type=&quot;2&quot; unique_id=&quot;10016&quot;&gt;&lt;object type=&quot;3&quot; unique_id=&quot;10017&quot;&gt;&lt;property id=&quot;20148&quot; value=&quot;5&quot;/&gt;&lt;property id=&quot;20300&quot; value=&quot;Slide 1&quot;/&gt;&lt;property id=&quot;20307&quot; value=&quot;381&quot;/&gt;&lt;/object&gt;&lt;object type=&quot;3&quot; unique_id=&quot;10051&quot;&gt;&lt;property id=&quot;20148&quot; value=&quot;5&quot;/&gt;&lt;property id=&quot;20300&quot; value=&quot;Slide 2&quot;/&gt;&lt;property id=&quot;20307&quot; value=&quot;386&quot;/&gt;&lt;/object&gt;&lt;object type=&quot;3&quot; unique_id=&quot;10052&quot;&gt;&lt;property id=&quot;20148&quot; value=&quot;5&quot;/&gt;&lt;property id=&quot;20300&quot; value=&quot;Slide 3&quot;/&gt;&lt;property id=&quot;20307&quot; value=&quot;387&quot;/&gt;&lt;/object&gt;&lt;/object&gt;&lt;object type=&quot;8&quot; unique_id=&quot;10026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BITS_PPT_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bits.thmx</Template>
  <TotalTime>3575</TotalTime>
  <Words>630</Words>
  <Application>Microsoft Office PowerPoint</Application>
  <PresentationFormat>On-screen Show (16:9)</PresentationFormat>
  <Paragraphs>105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 Math</vt:lpstr>
      <vt:lpstr>Wingdings</vt:lpstr>
      <vt:lpstr>BITS_PPT_template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Anil</dc:creator>
  <cp:lastModifiedBy>Abid AK</cp:lastModifiedBy>
  <cp:revision>234</cp:revision>
  <dcterms:created xsi:type="dcterms:W3CDTF">2015-06-09T08:31:04Z</dcterms:created>
  <dcterms:modified xsi:type="dcterms:W3CDTF">2025-04-17T12:51:39Z</dcterms:modified>
</cp:coreProperties>
</file>