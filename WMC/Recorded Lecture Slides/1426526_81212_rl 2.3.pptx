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11"/>
  </p:notesMasterIdLst>
  <p:handoutMasterIdLst>
    <p:handoutMasterId r:id="rId12"/>
  </p:handoutMasterIdLst>
  <p:sldIdLst>
    <p:sldId id="392" r:id="rId2"/>
    <p:sldId id="393" r:id="rId3"/>
    <p:sldId id="394" r:id="rId4"/>
    <p:sldId id="395" r:id="rId5"/>
    <p:sldId id="396" r:id="rId6"/>
    <p:sldId id="397" r:id="rId7"/>
    <p:sldId id="398" r:id="rId8"/>
    <p:sldId id="399" r:id="rId9"/>
    <p:sldId id="391" r:id="rId10"/>
  </p:sldIdLst>
  <p:sldSz cx="9144000" cy="5143500" type="screen16x9"/>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4434" autoAdjust="0"/>
  </p:normalViewPr>
  <p:slideViewPr>
    <p:cSldViewPr snapToGrid="0">
      <p:cViewPr varScale="1">
        <p:scale>
          <a:sx n="97" d="100"/>
          <a:sy n="97" d="100"/>
        </p:scale>
        <p:origin x="1027" y="72"/>
      </p:cViewPr>
      <p:guideLst>
        <p:guide orient="horz" pos="2160"/>
        <p:guide pos="2880"/>
        <p:guide orient="horz" pos="162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55" d="100"/>
          <a:sy n="55" d="100"/>
        </p:scale>
        <p:origin x="-284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394F4B-DBDD-4BF7-B613-78EDB047F2F9}" type="datetimeFigureOut">
              <a:rPr lang="en-US" smtClean="0"/>
              <a:pPr/>
              <a:t>4/17/2025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01AD7E-7F9D-4576-9772-0B1B702F1F55}" type="slidenum">
              <a:rPr lang="en-US" smtClean="0"/>
              <a:pPr/>
              <a:t>‹#›</a:t>
            </a:fld>
            <a:endParaRPr lang="en-US"/>
          </a:p>
        </p:txBody>
      </p:sp>
    </p:spTree>
    <p:extLst>
      <p:ext uri="{BB962C8B-B14F-4D97-AF65-F5344CB8AC3E}">
        <p14:creationId xmlns:p14="http://schemas.microsoft.com/office/powerpoint/2010/main" val="16355078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2289B-64AB-40F4-866F-7386DC470D15}" type="datetimeFigureOut">
              <a:rPr lang="en-US" smtClean="0"/>
              <a:pPr/>
              <a:t>4/17/2025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38DE6F-CB63-4507-A312-B89798DB40FF}" type="slidenum">
              <a:rPr lang="en-US" smtClean="0"/>
              <a:pPr/>
              <a:t>‹#›</a:t>
            </a:fld>
            <a:endParaRPr lang="en-US"/>
          </a:p>
        </p:txBody>
      </p:sp>
    </p:spTree>
    <p:extLst>
      <p:ext uri="{BB962C8B-B14F-4D97-AF65-F5344CB8AC3E}">
        <p14:creationId xmlns:p14="http://schemas.microsoft.com/office/powerpoint/2010/main" val="20625682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16"/>
          <p:cNvSpPr>
            <a:spLocks noGrp="1"/>
          </p:cNvSpPr>
          <p:nvPr>
            <p:ph sz="quarter" idx="10" hasCustomPrompt="1"/>
          </p:nvPr>
        </p:nvSpPr>
        <p:spPr>
          <a:xfrm>
            <a:off x="245444" y="116706"/>
            <a:ext cx="6537960" cy="582930"/>
          </a:xfrm>
          <a:prstGeom prst="rect">
            <a:avLst/>
          </a:prstGeom>
        </p:spPr>
        <p:txBody>
          <a:bodyPr lIns="0" tIns="0" rIns="0" bIns="0" anchor="ctr">
            <a:noAutofit/>
          </a:bodyPr>
          <a:lstStyle>
            <a:lvl1pPr marL="0" indent="0" algn="l">
              <a:lnSpc>
                <a:spcPct val="100000"/>
              </a:lnSpc>
              <a:spcBef>
                <a:spcPts val="0"/>
              </a:spcBef>
              <a:buNone/>
              <a:defRPr sz="2200" b="1" spc="225" baseline="0">
                <a:solidFill>
                  <a:srgbClr val="FF0000"/>
                </a:solidFill>
                <a:effectLst/>
                <a:latin typeface="Arial" pitchFamily="34" charset="0"/>
                <a:cs typeface="Arial" pitchFamily="34" charset="0"/>
              </a:defRPr>
            </a:lvl1pPr>
          </a:lstStyle>
          <a:p>
            <a:pPr lvl="0"/>
            <a:r>
              <a:rPr lang="en-US" dirty="0"/>
              <a:t>Topic name here</a:t>
            </a:r>
          </a:p>
        </p:txBody>
      </p:sp>
      <p:sp>
        <p:nvSpPr>
          <p:cNvPr id="4" name="Content Placeholder 2"/>
          <p:cNvSpPr>
            <a:spLocks noGrp="1"/>
          </p:cNvSpPr>
          <p:nvPr>
            <p:ph idx="1"/>
          </p:nvPr>
        </p:nvSpPr>
        <p:spPr>
          <a:xfrm>
            <a:off x="274320" y="754380"/>
            <a:ext cx="8503920" cy="4114800"/>
          </a:xfrm>
          <a:prstGeom prst="rect">
            <a:avLst/>
          </a:prstGeom>
        </p:spPr>
        <p:txBody>
          <a:bodyPr lIns="0" rIns="0"/>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dirty="0"/>
              <a:t>Click to edit Master text styles</a:t>
            </a:r>
          </a:p>
        </p:txBody>
      </p:sp>
      <p:grpSp>
        <p:nvGrpSpPr>
          <p:cNvPr id="5" name="Group 4"/>
          <p:cNvGrpSpPr/>
          <p:nvPr userDrawn="1"/>
        </p:nvGrpSpPr>
        <p:grpSpPr>
          <a:xfrm>
            <a:off x="0" y="685801"/>
            <a:ext cx="7010400" cy="34289"/>
            <a:chOff x="1905000" y="6553200"/>
            <a:chExt cx="7010400" cy="45719"/>
          </a:xfrm>
        </p:grpSpPr>
        <p:sp>
          <p:nvSpPr>
            <p:cNvPr id="6" name="Rectangle 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8" name="Rectangle 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dirty="0"/>
              <a:t>Click to edit Master title style</a:t>
            </a:r>
            <a:endParaRPr lang="en-IN" dirty="0"/>
          </a:p>
        </p:txBody>
      </p:sp>
    </p:spTree>
    <p:extLst>
      <p:ext uri="{BB962C8B-B14F-4D97-AF65-F5344CB8AC3E}">
        <p14:creationId xmlns:p14="http://schemas.microsoft.com/office/powerpoint/2010/main" val="3118195196"/>
      </p:ext>
    </p:extLst>
  </p:cSld>
  <p:clrMap bg1="lt1" tx1="dk1" bg2="lt2" tx2="dk2" accent1="accent1" accent2="accent2" accent3="accent3" accent4="accent4" accent5="accent5" accent6="accent6" hlink="hlink" folHlink="folHlink"/>
  <p:sldLayoutIdLst>
    <p:sldLayoutId id="2147483682" r:id="rId1"/>
    <p:sldLayoutId id="2147483683" r:id="rId2"/>
  </p:sldLayoutIdLst>
  <p:hf hdr="0" dt="0"/>
  <p:txStyles>
    <p:titleStyle>
      <a:lvl1pPr algn="ctr" rtl="0" eaLnBrk="1" fontAlgn="base" hangingPunct="1">
        <a:spcBef>
          <a:spcPct val="0"/>
        </a:spcBef>
        <a:spcAft>
          <a:spcPct val="0"/>
        </a:spcAft>
        <a:defRPr sz="3300" kern="1200">
          <a:solidFill>
            <a:schemeClr val="tx1"/>
          </a:solidFill>
          <a:latin typeface="Arial" pitchFamily="34" charset="0"/>
          <a:ea typeface="+mj-ea"/>
          <a:cs typeface="Arial" pitchFamily="34" charset="0"/>
        </a:defRPr>
      </a:lvl1pPr>
      <a:lvl2pPr algn="ctr" rtl="0" eaLnBrk="1" fontAlgn="base" hangingPunct="1">
        <a:spcBef>
          <a:spcPct val="0"/>
        </a:spcBef>
        <a:spcAft>
          <a:spcPct val="0"/>
        </a:spcAft>
        <a:defRPr sz="3300">
          <a:solidFill>
            <a:schemeClr val="tx1"/>
          </a:solidFill>
          <a:latin typeface="Calibri" pitchFamily="34" charset="0"/>
        </a:defRPr>
      </a:lvl2pPr>
      <a:lvl3pPr algn="ctr" rtl="0" eaLnBrk="1" fontAlgn="base" hangingPunct="1">
        <a:spcBef>
          <a:spcPct val="0"/>
        </a:spcBef>
        <a:spcAft>
          <a:spcPct val="0"/>
        </a:spcAft>
        <a:defRPr sz="3300">
          <a:solidFill>
            <a:schemeClr val="tx1"/>
          </a:solidFill>
          <a:latin typeface="Calibri" pitchFamily="34" charset="0"/>
        </a:defRPr>
      </a:lvl3pPr>
      <a:lvl4pPr algn="ctr" rtl="0" eaLnBrk="1" fontAlgn="base" hangingPunct="1">
        <a:spcBef>
          <a:spcPct val="0"/>
        </a:spcBef>
        <a:spcAft>
          <a:spcPct val="0"/>
        </a:spcAft>
        <a:defRPr sz="3300">
          <a:solidFill>
            <a:schemeClr val="tx1"/>
          </a:solidFill>
          <a:latin typeface="Calibri" pitchFamily="34" charset="0"/>
        </a:defRPr>
      </a:lvl4pPr>
      <a:lvl5pPr algn="ctr" rtl="0" eaLnBrk="1" fontAlgn="base" hangingPunct="1">
        <a:spcBef>
          <a:spcPct val="0"/>
        </a:spcBef>
        <a:spcAft>
          <a:spcPct val="0"/>
        </a:spcAft>
        <a:defRPr sz="3300">
          <a:solidFill>
            <a:schemeClr val="tx1"/>
          </a:solidFill>
          <a:latin typeface="Calibri" pitchFamily="34" charset="0"/>
        </a:defRPr>
      </a:lvl5pPr>
      <a:lvl6pPr marL="342900" algn="ctr" rtl="0" eaLnBrk="1" fontAlgn="base" hangingPunct="1">
        <a:spcBef>
          <a:spcPct val="0"/>
        </a:spcBef>
        <a:spcAft>
          <a:spcPct val="0"/>
        </a:spcAft>
        <a:defRPr sz="3300">
          <a:solidFill>
            <a:schemeClr val="tx1"/>
          </a:solidFill>
          <a:latin typeface="Calibri" pitchFamily="34" charset="0"/>
        </a:defRPr>
      </a:lvl6pPr>
      <a:lvl7pPr marL="685800" algn="ctr" rtl="0" eaLnBrk="1" fontAlgn="base" hangingPunct="1">
        <a:spcBef>
          <a:spcPct val="0"/>
        </a:spcBef>
        <a:spcAft>
          <a:spcPct val="0"/>
        </a:spcAft>
        <a:defRPr sz="3300">
          <a:solidFill>
            <a:schemeClr val="tx1"/>
          </a:solidFill>
          <a:latin typeface="Calibri" pitchFamily="34" charset="0"/>
        </a:defRPr>
      </a:lvl7pPr>
      <a:lvl8pPr marL="1028700" algn="ctr" rtl="0" eaLnBrk="1" fontAlgn="base" hangingPunct="1">
        <a:spcBef>
          <a:spcPct val="0"/>
        </a:spcBef>
        <a:spcAft>
          <a:spcPct val="0"/>
        </a:spcAft>
        <a:defRPr sz="3300">
          <a:solidFill>
            <a:schemeClr val="tx1"/>
          </a:solidFill>
          <a:latin typeface="Calibri" pitchFamily="34" charset="0"/>
        </a:defRPr>
      </a:lvl8pPr>
      <a:lvl9pPr marL="1371600" algn="ctr" rtl="0" eaLnBrk="1" fontAlgn="base" hangingPunct="1">
        <a:spcBef>
          <a:spcPct val="0"/>
        </a:spcBef>
        <a:spcAft>
          <a:spcPct val="0"/>
        </a:spcAft>
        <a:defRPr sz="3300">
          <a:solidFill>
            <a:schemeClr val="tx1"/>
          </a:solidFill>
          <a:latin typeface="Calibri" pitchFamily="34" charset="0"/>
        </a:defRPr>
      </a:lvl9pPr>
    </p:titleStyle>
    <p:bodyStyle>
      <a:lvl1pPr marL="257175" indent="-257175" algn="l" rtl="0" eaLnBrk="1" fontAlgn="base" hangingPunct="1">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Font typeface="Arial" panose="020B0604020202020204" pitchFamily="34" charset="0"/>
        <a:buChar char="–"/>
        <a:defRPr sz="2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Strategies</a:t>
            </a:r>
          </a:p>
        </p:txBody>
      </p:sp>
      <p:pic>
        <p:nvPicPr>
          <p:cNvPr id="4" name="Picture 2"/>
          <p:cNvPicPr>
            <a:picLocks noGrp="1" noChangeAspect="1" noChangeArrowheads="1"/>
          </p:cNvPicPr>
          <p:nvPr>
            <p:ph idx="1"/>
          </p:nvPr>
        </p:nvPicPr>
        <p:blipFill>
          <a:blip r:embed="rId2"/>
          <a:srcRect l="24597" t="11250" r="23280" b="6250"/>
          <a:stretch>
            <a:fillRect/>
          </a:stretch>
        </p:blipFill>
        <p:spPr bwMode="auto">
          <a:xfrm>
            <a:off x="2214779" y="747485"/>
            <a:ext cx="4623955" cy="4114800"/>
          </a:xfrm>
          <a:prstGeom prst="rect">
            <a:avLst/>
          </a:prstGeom>
          <a:noFill/>
          <a:ln w="9525">
            <a:noFill/>
            <a:miter lim="800000"/>
            <a:headEnd/>
            <a:tailEnd/>
          </a:ln>
          <a:effectLst/>
        </p:spPr>
      </p:pic>
      <p:pic>
        <p:nvPicPr>
          <p:cNvPr id="5" name="Picture 4" descr="Handoff Strategies•   When a mobile moves from one cell to the next during a call the MSC    automatically transfers the c..."/>
          <p:cNvPicPr/>
          <p:nvPr/>
        </p:nvPicPr>
        <p:blipFill>
          <a:blip r:embed="rId3"/>
          <a:srcRect l="25397" t="82359" r="58730" b="12892"/>
          <a:stretch>
            <a:fillRect/>
          </a:stretch>
        </p:blipFill>
        <p:spPr bwMode="auto">
          <a:xfrm>
            <a:off x="6783404" y="4342543"/>
            <a:ext cx="1848492" cy="363021"/>
          </a:xfrm>
          <a:prstGeom prst="rect">
            <a:avLst/>
          </a:prstGeom>
          <a:noFill/>
          <a:ln w="9525">
            <a:noFill/>
            <a:miter lim="800000"/>
            <a:headEnd/>
            <a:tailEnd/>
          </a:ln>
        </p:spPr>
      </p:pic>
      <p:sp>
        <p:nvSpPr>
          <p:cNvPr id="3" name="Rectangle 2"/>
          <p:cNvSpPr/>
          <p:nvPr/>
        </p:nvSpPr>
        <p:spPr>
          <a:xfrm>
            <a:off x="7073758" y="4804946"/>
            <a:ext cx="1731196" cy="338554"/>
          </a:xfrm>
          <a:prstGeom prst="rect">
            <a:avLst/>
          </a:prstGeom>
        </p:spPr>
        <p:txBody>
          <a:bodyPr wrap="square">
            <a:spAutoFit/>
          </a:bodyPr>
          <a:lstStyle/>
          <a:p>
            <a:r>
              <a:rPr lang="en-IN" sz="800" dirty="0"/>
              <a:t>Courtesy to Theodore S. Rappaport       </a:t>
            </a:r>
          </a:p>
          <a:p>
            <a:r>
              <a:rPr lang="en-IN" sz="800" dirty="0"/>
              <a:t>©2002, 1996 Prentice Hall PTR</a:t>
            </a:r>
          </a:p>
        </p:txBody>
      </p:sp>
      <p:sp>
        <p:nvSpPr>
          <p:cNvPr id="6" name="TextBox 5"/>
          <p:cNvSpPr txBox="1"/>
          <p:nvPr/>
        </p:nvSpPr>
        <p:spPr>
          <a:xfrm>
            <a:off x="1027415" y="4435614"/>
            <a:ext cx="2845942" cy="369332"/>
          </a:xfrm>
          <a:prstGeom prst="rect">
            <a:avLst/>
          </a:prstGeom>
          <a:noFill/>
        </p:spPr>
        <p:txBody>
          <a:bodyPr wrap="square" rtlCol="0">
            <a:spAutoFit/>
          </a:bodyPr>
          <a:lstStyle/>
          <a:p>
            <a:r>
              <a:rPr lang="en-US" dirty="0"/>
              <a:t>Fig: Handoff Strategies</a:t>
            </a:r>
            <a:endParaRPr lang="en-IN" dirty="0"/>
          </a:p>
        </p:txBody>
      </p:sp>
    </p:spTree>
    <p:extLst>
      <p:ext uri="{BB962C8B-B14F-4D97-AF65-F5344CB8AC3E}">
        <p14:creationId xmlns:p14="http://schemas.microsoft.com/office/powerpoint/2010/main" val="1711982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Strategies contd..</a:t>
            </a:r>
          </a:p>
        </p:txBody>
      </p:sp>
      <p:sp>
        <p:nvSpPr>
          <p:cNvPr id="3" name="Content Placeholder 2"/>
          <p:cNvSpPr>
            <a:spLocks noGrp="1"/>
          </p:cNvSpPr>
          <p:nvPr>
            <p:ph idx="1"/>
          </p:nvPr>
        </p:nvSpPr>
        <p:spPr/>
        <p:txBody>
          <a:bodyPr/>
          <a:lstStyle/>
          <a:p>
            <a:endParaRPr lang="en-US" dirty="0"/>
          </a:p>
          <a:p>
            <a:r>
              <a:rPr lang="en-US" dirty="0"/>
              <a:t>In deciding when to handoff, it is important to ensure that the drop in the measured signal level is not due to momentary fading and that the mobile is actually moving away from the serving base station.</a:t>
            </a:r>
          </a:p>
          <a:p>
            <a:pPr marL="0" indent="0">
              <a:buNone/>
            </a:pPr>
            <a:endParaRPr lang="en-US" dirty="0"/>
          </a:p>
          <a:p>
            <a:r>
              <a:rPr lang="en-US" dirty="0"/>
              <a:t> In order to ensure this, the base station monitors the signal level for a certain period of time before a handoff is initiated. </a:t>
            </a:r>
          </a:p>
          <a:p>
            <a:pPr marL="0" indent="0">
              <a:buNone/>
            </a:pPr>
            <a:endParaRPr lang="en-US" dirty="0"/>
          </a:p>
          <a:p>
            <a:r>
              <a:rPr lang="en-US" dirty="0"/>
              <a:t>Running average measurement of signal strength should be optimized so that unnecessary handoffs are avoided, while ensuring that necessary handoffs are completed before a call is terminated due to poor signal level.</a:t>
            </a:r>
            <a:endParaRPr lang="en-IN" dirty="0"/>
          </a:p>
          <a:p>
            <a:endParaRPr lang="en-IN" dirty="0"/>
          </a:p>
          <a:p>
            <a:endParaRPr lang="en-IN" dirty="0"/>
          </a:p>
        </p:txBody>
      </p:sp>
    </p:spTree>
    <p:extLst>
      <p:ext uri="{BB962C8B-B14F-4D97-AF65-F5344CB8AC3E}">
        <p14:creationId xmlns:p14="http://schemas.microsoft.com/office/powerpoint/2010/main" val="2492051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Strategies</a:t>
            </a:r>
          </a:p>
        </p:txBody>
      </p:sp>
      <p:sp>
        <p:nvSpPr>
          <p:cNvPr id="3" name="Content Placeholder 2"/>
          <p:cNvSpPr>
            <a:spLocks noGrp="1"/>
          </p:cNvSpPr>
          <p:nvPr>
            <p:ph idx="1"/>
          </p:nvPr>
        </p:nvSpPr>
        <p:spPr/>
        <p:txBody>
          <a:bodyPr/>
          <a:lstStyle/>
          <a:p>
            <a:endParaRPr lang="en-IN" dirty="0"/>
          </a:p>
          <a:p>
            <a:r>
              <a:rPr lang="en-IN" dirty="0"/>
              <a:t>Dwell Time: Time over which a call may be maintained with in a cell, with out Handoff.</a:t>
            </a:r>
          </a:p>
          <a:p>
            <a:endParaRPr lang="en-IN" dirty="0"/>
          </a:p>
          <a:p>
            <a:r>
              <a:rPr lang="en-IN" dirty="0"/>
              <a:t>First generation </a:t>
            </a:r>
            <a:r>
              <a:rPr lang="en-IN" dirty="0" err="1"/>
              <a:t>analog</a:t>
            </a:r>
            <a:r>
              <a:rPr lang="en-IN" dirty="0"/>
              <a:t> cellular systems</a:t>
            </a:r>
          </a:p>
          <a:p>
            <a:pPr>
              <a:buFontTx/>
              <a:buChar char="-"/>
            </a:pPr>
            <a:r>
              <a:rPr lang="en-IN" dirty="0"/>
              <a:t>Base stations monitors the signal strength of all mobile users</a:t>
            </a:r>
          </a:p>
          <a:p>
            <a:pPr>
              <a:buFontTx/>
              <a:buChar char="-"/>
            </a:pPr>
            <a:r>
              <a:rPr lang="en-IN" dirty="0"/>
              <a:t>MSC decides Handoff</a:t>
            </a:r>
          </a:p>
          <a:p>
            <a:endParaRPr lang="en-IN" dirty="0"/>
          </a:p>
        </p:txBody>
      </p:sp>
    </p:spTree>
    <p:extLst>
      <p:ext uri="{BB962C8B-B14F-4D97-AF65-F5344CB8AC3E}">
        <p14:creationId xmlns:p14="http://schemas.microsoft.com/office/powerpoint/2010/main" val="1775082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Strategies</a:t>
            </a:r>
          </a:p>
        </p:txBody>
      </p:sp>
      <p:sp>
        <p:nvSpPr>
          <p:cNvPr id="3" name="Content Placeholder 2"/>
          <p:cNvSpPr>
            <a:spLocks noGrp="1"/>
          </p:cNvSpPr>
          <p:nvPr>
            <p:ph idx="1"/>
          </p:nvPr>
        </p:nvSpPr>
        <p:spPr/>
        <p:txBody>
          <a:bodyPr/>
          <a:lstStyle/>
          <a:p>
            <a:endParaRPr lang="en-IN" dirty="0"/>
          </a:p>
          <a:p>
            <a:r>
              <a:rPr lang="en-IN" dirty="0"/>
              <a:t>Present cellular systems</a:t>
            </a:r>
          </a:p>
          <a:p>
            <a:pPr>
              <a:buFontTx/>
              <a:buChar char="-"/>
            </a:pPr>
            <a:r>
              <a:rPr lang="en-IN" dirty="0"/>
              <a:t>Mobile assist handoff (MAHO)</a:t>
            </a:r>
          </a:p>
          <a:p>
            <a:pPr>
              <a:buFontTx/>
              <a:buChar char="-"/>
            </a:pPr>
            <a:r>
              <a:rPr lang="en-IN" dirty="0"/>
              <a:t>Mobile measures received power from neighbouring base station and reports to the serving base station.</a:t>
            </a:r>
          </a:p>
          <a:p>
            <a:pPr>
              <a:buFontTx/>
              <a:buChar char="-"/>
            </a:pPr>
            <a:r>
              <a:rPr lang="en-IN" dirty="0"/>
              <a:t>Handover is fast </a:t>
            </a:r>
          </a:p>
          <a:p>
            <a:pPr>
              <a:buFontTx/>
              <a:buChar char="-"/>
            </a:pPr>
            <a:r>
              <a:rPr lang="en-IN" dirty="0"/>
              <a:t>Computation load on MSC is reduced.</a:t>
            </a:r>
          </a:p>
          <a:p>
            <a:pPr>
              <a:buFontTx/>
              <a:buChar char="-"/>
            </a:pPr>
            <a:endParaRPr lang="en-IN" dirty="0"/>
          </a:p>
          <a:p>
            <a:endParaRPr lang="en-IN" dirty="0"/>
          </a:p>
        </p:txBody>
      </p:sp>
    </p:spTree>
    <p:extLst>
      <p:ext uri="{BB962C8B-B14F-4D97-AF65-F5344CB8AC3E}">
        <p14:creationId xmlns:p14="http://schemas.microsoft.com/office/powerpoint/2010/main" val="3122181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Prioritizing Handoffs</a:t>
            </a:r>
          </a:p>
        </p:txBody>
      </p:sp>
      <p:sp>
        <p:nvSpPr>
          <p:cNvPr id="3" name="Content Placeholder 2"/>
          <p:cNvSpPr>
            <a:spLocks noGrp="1"/>
          </p:cNvSpPr>
          <p:nvPr>
            <p:ph idx="1"/>
          </p:nvPr>
        </p:nvSpPr>
        <p:spPr/>
        <p:txBody>
          <a:bodyPr/>
          <a:lstStyle/>
          <a:p>
            <a:pPr marL="0" indent="0">
              <a:buNone/>
            </a:pPr>
            <a:r>
              <a:rPr lang="en-IN" dirty="0"/>
              <a:t>2 methods for giving priority to Handoff</a:t>
            </a:r>
          </a:p>
          <a:p>
            <a:endParaRPr lang="en-IN" dirty="0"/>
          </a:p>
          <a:p>
            <a:r>
              <a:rPr lang="en-IN" dirty="0"/>
              <a:t>Guard channel concept</a:t>
            </a:r>
          </a:p>
          <a:p>
            <a:endParaRPr lang="en-IN" dirty="0"/>
          </a:p>
          <a:p>
            <a:r>
              <a:rPr lang="en-IN" dirty="0"/>
              <a:t>Queuing of handoff</a:t>
            </a:r>
          </a:p>
          <a:p>
            <a:pPr marL="0" indent="0">
              <a:buNone/>
            </a:pPr>
            <a:endParaRPr lang="en-IN" dirty="0"/>
          </a:p>
        </p:txBody>
      </p:sp>
    </p:spTree>
    <p:extLst>
      <p:ext uri="{BB962C8B-B14F-4D97-AF65-F5344CB8AC3E}">
        <p14:creationId xmlns:p14="http://schemas.microsoft.com/office/powerpoint/2010/main" val="1528033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Prioritizing Handoffs</a:t>
            </a:r>
          </a:p>
        </p:txBody>
      </p:sp>
      <p:sp>
        <p:nvSpPr>
          <p:cNvPr id="3" name="Content Placeholder 2"/>
          <p:cNvSpPr>
            <a:spLocks noGrp="1"/>
          </p:cNvSpPr>
          <p:nvPr>
            <p:ph idx="1"/>
          </p:nvPr>
        </p:nvSpPr>
        <p:spPr/>
        <p:txBody>
          <a:bodyPr/>
          <a:lstStyle/>
          <a:p>
            <a:pPr marL="0" indent="0">
              <a:buNone/>
            </a:pPr>
            <a:r>
              <a:rPr lang="en-US" dirty="0">
                <a:solidFill>
                  <a:srgbClr val="FF0000"/>
                </a:solidFill>
              </a:rPr>
              <a:t>Guard channel -</a:t>
            </a:r>
            <a:r>
              <a:rPr lang="en-US" dirty="0"/>
              <a:t>Fraction of the total available channels in a cell is reserved exclusively for handoff requests from ongoing calls which may be handed off into the cell.</a:t>
            </a:r>
          </a:p>
          <a:p>
            <a:pPr marL="0" indent="0"/>
            <a:endParaRPr lang="en-US" dirty="0"/>
          </a:p>
          <a:p>
            <a:pPr marL="0" indent="0">
              <a:buNone/>
            </a:pPr>
            <a:r>
              <a:rPr lang="en-US" dirty="0">
                <a:solidFill>
                  <a:srgbClr val="FF0000"/>
                </a:solidFill>
              </a:rPr>
              <a:t>Advantage: </a:t>
            </a:r>
          </a:p>
          <a:p>
            <a:pPr marL="0" indent="0">
              <a:buNone/>
            </a:pPr>
            <a:r>
              <a:rPr lang="en-US" dirty="0"/>
              <a:t>Efficient spectrum utilization when dynamic channel assignment strategies are used which minimizes the number of required guard channels by efficient demand based allocation.</a:t>
            </a:r>
          </a:p>
          <a:p>
            <a:pPr marL="0" indent="0"/>
            <a:endParaRPr lang="en-US" dirty="0"/>
          </a:p>
          <a:p>
            <a:pPr marL="0" indent="0">
              <a:buNone/>
            </a:pPr>
            <a:r>
              <a:rPr lang="en-US" dirty="0">
                <a:solidFill>
                  <a:srgbClr val="FF0000"/>
                </a:solidFill>
              </a:rPr>
              <a:t>Disadvantage: </a:t>
            </a:r>
          </a:p>
          <a:p>
            <a:pPr marL="0" indent="0">
              <a:buNone/>
            </a:pPr>
            <a:r>
              <a:rPr lang="en-US" dirty="0"/>
              <a:t>Reduction in the total traffic carried.</a:t>
            </a:r>
          </a:p>
          <a:p>
            <a:pPr marL="0" indent="0">
              <a:buNone/>
            </a:pPr>
            <a:r>
              <a:rPr lang="en-US" dirty="0"/>
              <a:t>Fewer channels are allocated to originating calls.</a:t>
            </a:r>
          </a:p>
          <a:p>
            <a:pPr marL="0" indent="0"/>
            <a:endParaRPr lang="en-US" dirty="0"/>
          </a:p>
          <a:p>
            <a:pPr marL="0" indent="0">
              <a:buNone/>
            </a:pPr>
            <a:endParaRPr lang="en-US" dirty="0"/>
          </a:p>
          <a:p>
            <a:endParaRPr lang="en-IN" dirty="0"/>
          </a:p>
        </p:txBody>
      </p:sp>
    </p:spTree>
    <p:extLst>
      <p:ext uri="{BB962C8B-B14F-4D97-AF65-F5344CB8AC3E}">
        <p14:creationId xmlns:p14="http://schemas.microsoft.com/office/powerpoint/2010/main" val="2005449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Prioritizing Handoffs</a:t>
            </a:r>
          </a:p>
        </p:txBody>
      </p:sp>
      <p:sp>
        <p:nvSpPr>
          <p:cNvPr id="3" name="Content Placeholder 2"/>
          <p:cNvSpPr>
            <a:spLocks noGrp="1"/>
          </p:cNvSpPr>
          <p:nvPr>
            <p:ph idx="1"/>
          </p:nvPr>
        </p:nvSpPr>
        <p:spPr/>
        <p:txBody>
          <a:bodyPr/>
          <a:lstStyle/>
          <a:p>
            <a:pPr marL="0" indent="0">
              <a:buNone/>
            </a:pPr>
            <a:r>
              <a:rPr lang="en-US" dirty="0">
                <a:solidFill>
                  <a:srgbClr val="FF0000"/>
                </a:solidFill>
              </a:rPr>
              <a:t>Queuing of handoff </a:t>
            </a:r>
          </a:p>
          <a:p>
            <a:r>
              <a:rPr lang="en-US" dirty="0"/>
              <a:t>Decrease the probability of forced termination of a call due to lack of available channels.</a:t>
            </a:r>
          </a:p>
          <a:p>
            <a:r>
              <a:rPr lang="en-US" dirty="0"/>
              <a:t>Queuing of handoffs is possible due to a finite time interval between the time the received signal level drops below the handoff threshold and the time the call is terminated due to insufficient signal level.</a:t>
            </a:r>
          </a:p>
          <a:p>
            <a:r>
              <a:rPr lang="en-US" dirty="0"/>
              <a:t>Time delay and the size of the queue depends on the traffic  of the particular service area. </a:t>
            </a:r>
          </a:p>
          <a:p>
            <a:r>
              <a:rPr lang="en-US" dirty="0"/>
              <a:t>Queuing does not guarantee a zero probability of forced termination.</a:t>
            </a:r>
            <a:endParaRPr lang="en-IN" dirty="0"/>
          </a:p>
          <a:p>
            <a:endParaRPr lang="en-US" dirty="0">
              <a:solidFill>
                <a:srgbClr val="FF0000"/>
              </a:solidFill>
            </a:endParaRPr>
          </a:p>
          <a:p>
            <a:endParaRPr lang="en-IN" dirty="0"/>
          </a:p>
        </p:txBody>
      </p:sp>
    </p:spTree>
    <p:extLst>
      <p:ext uri="{BB962C8B-B14F-4D97-AF65-F5344CB8AC3E}">
        <p14:creationId xmlns:p14="http://schemas.microsoft.com/office/powerpoint/2010/main" val="1858480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Types of Handoff</a:t>
            </a:r>
          </a:p>
        </p:txBody>
      </p:sp>
      <p:sp>
        <p:nvSpPr>
          <p:cNvPr id="3" name="Content Placeholder 2"/>
          <p:cNvSpPr>
            <a:spLocks noGrp="1"/>
          </p:cNvSpPr>
          <p:nvPr>
            <p:ph idx="1"/>
          </p:nvPr>
        </p:nvSpPr>
        <p:spPr/>
        <p:txBody>
          <a:bodyPr/>
          <a:lstStyle/>
          <a:p>
            <a:pPr marL="0" indent="0">
              <a:buNone/>
            </a:pPr>
            <a:r>
              <a:rPr lang="en-US" u="sng" dirty="0">
                <a:solidFill>
                  <a:schemeClr val="tx2">
                    <a:lumMod val="60000"/>
                    <a:lumOff val="40000"/>
                  </a:schemeClr>
                </a:solidFill>
              </a:rPr>
              <a:t>Hard Handoff </a:t>
            </a:r>
            <a:r>
              <a:rPr lang="en-US" dirty="0"/>
              <a:t>- Channel in the source cell is released and only then the channel in the target cell is engaged</a:t>
            </a:r>
          </a:p>
          <a:p>
            <a:pPr marL="0" indent="0">
              <a:buNone/>
            </a:pPr>
            <a:r>
              <a:rPr lang="en-US" dirty="0"/>
              <a:t>	-  It is a </a:t>
            </a:r>
            <a:r>
              <a:rPr lang="en-US" i="1" dirty="0"/>
              <a:t>break-before-make</a:t>
            </a:r>
            <a:r>
              <a:rPr lang="en-US" dirty="0"/>
              <a:t>.</a:t>
            </a:r>
          </a:p>
          <a:p>
            <a:pPr marL="0" indent="0">
              <a:buNone/>
            </a:pPr>
            <a:r>
              <a:rPr lang="en-US" dirty="0"/>
              <a:t>	</a:t>
            </a:r>
          </a:p>
          <a:p>
            <a:pPr marL="0" indent="0">
              <a:buNone/>
            </a:pPr>
            <a:r>
              <a:rPr lang="en-US" u="sng" dirty="0">
                <a:solidFill>
                  <a:schemeClr val="tx2">
                    <a:lumMod val="60000"/>
                    <a:lumOff val="40000"/>
                  </a:schemeClr>
                </a:solidFill>
              </a:rPr>
              <a:t>Soft Handoff</a:t>
            </a:r>
            <a:r>
              <a:rPr lang="en-US" dirty="0"/>
              <a:t>	- one in which the channel in the source cell is retained and used for a while in parallel with the channel in the target cell</a:t>
            </a:r>
          </a:p>
          <a:p>
            <a:pPr marL="0" indent="0">
              <a:buNone/>
            </a:pPr>
            <a:r>
              <a:rPr lang="en-US" dirty="0"/>
              <a:t>   -It is a </a:t>
            </a:r>
            <a:r>
              <a:rPr lang="en-US" i="1" dirty="0"/>
              <a:t>make-before-break</a:t>
            </a:r>
            <a:r>
              <a:rPr lang="en-US" dirty="0"/>
              <a:t>.</a:t>
            </a:r>
          </a:p>
          <a:p>
            <a:endParaRPr lang="en-IN" dirty="0"/>
          </a:p>
        </p:txBody>
      </p:sp>
    </p:spTree>
    <p:extLst>
      <p:ext uri="{BB962C8B-B14F-4D97-AF65-F5344CB8AC3E}">
        <p14:creationId xmlns:p14="http://schemas.microsoft.com/office/powerpoint/2010/main" val="2177440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IN" dirty="0"/>
          </a:p>
          <a:p>
            <a:r>
              <a:rPr lang="en-US" dirty="0"/>
              <a:t>Handoff is necessary to keep call in progress as the mobile is moving from one cell to another cell. </a:t>
            </a:r>
          </a:p>
          <a:p>
            <a:r>
              <a:rPr lang="en-US" dirty="0"/>
              <a:t>Prioritizing the handoff is required so that fraction of the total available channels in a cell is reserved exclusively for handoff requests from ongoing calls which may be handed off into the cell.</a:t>
            </a:r>
          </a:p>
          <a:p>
            <a:r>
              <a:rPr lang="en-US" dirty="0"/>
              <a:t>Various ways of handoff like soft and hard handoff are implemented to provide handoff service.</a:t>
            </a:r>
          </a:p>
          <a:p>
            <a:endParaRPr lang="en-US" dirty="0"/>
          </a:p>
          <a:p>
            <a:endParaRPr lang="en-IN" dirty="0"/>
          </a:p>
          <a:p>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16&quot;&gt;&lt;object type=&quot;3&quot; unique_id=&quot;10017&quot;&gt;&lt;property id=&quot;20148&quot; value=&quot;5&quot;/&gt;&lt;property id=&quot;20300&quot; value=&quot;Slide 1&quot;/&gt;&lt;property id=&quot;20307&quot; value=&quot;381&quot;/&gt;&lt;/object&gt;&lt;object type=&quot;3&quot; unique_id=&quot;10051&quot;&gt;&lt;property id=&quot;20148&quot; value=&quot;5&quot;/&gt;&lt;property id=&quot;20300&quot; value=&quot;Slide 2&quot;/&gt;&lt;property id=&quot;20307&quot; value=&quot;386&quot;/&gt;&lt;/object&gt;&lt;object type=&quot;3&quot; unique_id=&quot;10052&quot;&gt;&lt;property id=&quot;20148&quot; value=&quot;5&quot;/&gt;&lt;property id=&quot;20300&quot; value=&quot;Slide 3&quot;/&gt;&lt;property id=&quot;20307&quot; value=&quot;387&quot;/&gt;&lt;/object&gt;&lt;/object&gt;&lt;object type=&quot;8&quot; unique_id=&quot;10026&quot;&gt;&lt;/object&gt;&lt;/object&gt;&lt;/database&gt;"/>
  <p:tag name="SECTOMILLISECCONVERTED" val="1"/>
</p:tagLst>
</file>

<file path=ppt/theme/theme1.xml><?xml version="1.0" encoding="utf-8"?>
<a:theme xmlns:a="http://schemas.openxmlformats.org/drawingml/2006/main" name="BITS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bits.thmx</Template>
  <TotalTime>3539</TotalTime>
  <Words>514</Words>
  <Application>Microsoft Office PowerPoint</Application>
  <PresentationFormat>On-screen Show (16:9)</PresentationFormat>
  <Paragraphs>59</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BITS_PPT_template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Anil</dc:creator>
  <cp:lastModifiedBy>Abid AK</cp:lastModifiedBy>
  <cp:revision>225</cp:revision>
  <dcterms:created xsi:type="dcterms:W3CDTF">2015-06-09T08:31:04Z</dcterms:created>
  <dcterms:modified xsi:type="dcterms:W3CDTF">2025-04-17T12:50:58Z</dcterms:modified>
</cp:coreProperties>
</file>